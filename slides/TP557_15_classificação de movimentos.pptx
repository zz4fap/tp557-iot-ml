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4"/>
  </p:notesMasterIdLst>
  <p:handoutMasterIdLst>
    <p:handoutMasterId r:id="rId55"/>
  </p:handoutMasterIdLst>
  <p:sldIdLst>
    <p:sldId id="256" r:id="rId3"/>
    <p:sldId id="583" r:id="rId4"/>
    <p:sldId id="591" r:id="rId5"/>
    <p:sldId id="635" r:id="rId6"/>
    <p:sldId id="586" r:id="rId7"/>
    <p:sldId id="587" r:id="rId8"/>
    <p:sldId id="588" r:id="rId9"/>
    <p:sldId id="589" r:id="rId10"/>
    <p:sldId id="590" r:id="rId11"/>
    <p:sldId id="585" r:id="rId12"/>
    <p:sldId id="592" r:id="rId13"/>
    <p:sldId id="599" r:id="rId14"/>
    <p:sldId id="636" r:id="rId15"/>
    <p:sldId id="637" r:id="rId16"/>
    <p:sldId id="601" r:id="rId17"/>
    <p:sldId id="604" r:id="rId18"/>
    <p:sldId id="606" r:id="rId19"/>
    <p:sldId id="638" r:id="rId20"/>
    <p:sldId id="603" r:id="rId21"/>
    <p:sldId id="639" r:id="rId22"/>
    <p:sldId id="608" r:id="rId23"/>
    <p:sldId id="610" r:id="rId24"/>
    <p:sldId id="611" r:id="rId25"/>
    <p:sldId id="616" r:id="rId26"/>
    <p:sldId id="614" r:id="rId27"/>
    <p:sldId id="613" r:id="rId28"/>
    <p:sldId id="615" r:id="rId29"/>
    <p:sldId id="617" r:id="rId30"/>
    <p:sldId id="621" r:id="rId31"/>
    <p:sldId id="622" r:id="rId32"/>
    <p:sldId id="618" r:id="rId33"/>
    <p:sldId id="623" r:id="rId34"/>
    <p:sldId id="624" r:id="rId35"/>
    <p:sldId id="625" r:id="rId36"/>
    <p:sldId id="627" r:id="rId37"/>
    <p:sldId id="628" r:id="rId38"/>
    <p:sldId id="629" r:id="rId39"/>
    <p:sldId id="630" r:id="rId40"/>
    <p:sldId id="631" r:id="rId41"/>
    <p:sldId id="632" r:id="rId42"/>
    <p:sldId id="633" r:id="rId43"/>
    <p:sldId id="634" r:id="rId44"/>
    <p:sldId id="584" r:id="rId45"/>
    <p:sldId id="626" r:id="rId46"/>
    <p:sldId id="640" r:id="rId47"/>
    <p:sldId id="641" r:id="rId48"/>
    <p:sldId id="642" r:id="rId49"/>
    <p:sldId id="643" r:id="rId50"/>
    <p:sldId id="644" r:id="rId51"/>
    <p:sldId id="645" r:id="rId52"/>
    <p:sldId id="646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80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4/06/2025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94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390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253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18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C1C89-D12E-6B27-77CC-4F8D73A7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E45E163-C3E8-9DE5-9F79-ED77B40D5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03A9879-36D8-9095-E28D-304CEEE97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Descreve a frequência com que valores extremos (outliers) ocorrem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medida da falta de simetria de uma determinada distribuição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231E36-4744-6263-7124-870EEDCB5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64063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7D811-7C28-E8AA-024C-AC952773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457F321-82EF-D184-FECE-0A2585EF5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F22A65-E078-CE74-D622-483551866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90C21E-B00E-15C1-E075-E113AD497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22504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A3083-D3E5-5D66-9B5E-F887480B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A5EE9-B4BA-16A4-CD48-5A034E479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D4E637-8D52-7A5D-A14C-B31D637A3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344F4E-919F-8AC8-5C98-DC15DF446E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72930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2C2A-541B-1FAA-5341-082085D9B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A798B3-DA5E-7F2E-2AF3-A609DC46B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492A223-311C-0BBD-5574-A959E0CB0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60653B-7219-9A49-8D69-090E71611B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8500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C64B-0EDD-C27D-3CA5-86927665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A38B545-ED16-5AD3-30F3-CCF484896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9E52EA-C649-0003-9CFE-BDAE27775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1B816D-10C6-C3CC-79CA-F6D50BC8F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67049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174F0-259E-36CA-B31F-7DD99DA1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95BB5A-F3DF-1E1F-77A0-12E0A99AE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E9239C3-3E42-3EC3-52D6-2AFC8D14F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E43F356-05AC-C3A4-2BF2-6F275A741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9234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C2725-3C7D-534A-781E-C4E802715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0FA960-E1C1-3A02-AA79-ECBED0F0A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11C66A-C52D-7F1D-1959-12ADB89C7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1EA73E-838E-8A89-B9F2-368CF255E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396152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49C2E-1E74-8ABE-CE3D-152B6AC54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AD732D-B589-BD59-4869-9EA84DADA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FE21AE-4D9D-3FFF-6A17-E6729D776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8847690-3AB2-40F7-8459-F3D82AECBB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649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docs.edgeimpulse.com/docs/edge-impulse-studio/processing-blocks/spectral-features" TargetMode="External"/><Relationship Id="rId4" Type="http://schemas.openxmlformats.org/officeDocument/2006/relationships/image" Target="../media/image1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150704" y="1873560"/>
            <a:ext cx="2196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Queda de dispositivos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10420879" y="2012222"/>
            <a:ext cx="1212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Controle logístico</a:t>
            </a:r>
          </a:p>
        </p:txBody>
      </p:sp>
      <p:sp>
        <p:nvSpPr>
          <p:cNvPr id="13" name="CaixaDeTexto 12"/>
          <p:cNvSpPr txBox="1"/>
          <p:nvPr/>
        </p:nvSpPr>
        <p:spPr>
          <a:xfrm>
            <a:off x="10287001" y="4315001"/>
            <a:ext cx="180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Monitoramento de animais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3428999" y="6397991"/>
            <a:ext cx="4910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Exercícios físicos, movimento de cadeira de rodas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5" name="Picture 2" descr="im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6" t="18390" r="4421" b="28079"/>
          <a:stretch/>
        </p:blipFill>
        <p:spPr bwMode="auto">
          <a:xfrm>
            <a:off x="1467283" y="3017006"/>
            <a:ext cx="8269971" cy="270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2310443" y="2125165"/>
            <a:ext cx="75636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Um acelerômetro é um dispositivo usado para medir forças de aceleração. </a:t>
            </a:r>
          </a:p>
          <a:p>
            <a:r>
              <a:rPr lang="pt-BR" dirty="0"/>
              <a:t>O </a:t>
            </a:r>
            <a:r>
              <a:rPr lang="pt-BR" b="1" dirty="0"/>
              <a:t>LSM9DS1</a:t>
            </a:r>
            <a:r>
              <a:rPr lang="pt-BR" dirty="0"/>
              <a:t> mede a aceleração em 3 eixos. </a:t>
            </a:r>
          </a:p>
        </p:txBody>
      </p:sp>
    </p:spTree>
    <p:extLst>
      <p:ext uri="{BB962C8B-B14F-4D97-AF65-F5344CB8AC3E}">
        <p14:creationId xmlns:p14="http://schemas.microsoft.com/office/powerpoint/2010/main" val="16652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em nenhum eixo.</a:t>
            </a:r>
          </a:p>
        </p:txBody>
      </p:sp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73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x,y,z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amostra coletada com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800" b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889" y="2678909"/>
            <a:ext cx="10703505" cy="254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Série temporal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: cada amostra tem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correlação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</a:t>
            </a:r>
            <a:r>
              <a:rPr lang="pt-BR" sz="2000" b="1" i="1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processar janelas que capturem pelo menos um ciclo de movimento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, por exemplo, 2 segundos.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rede devemos usar?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Redes com memória, para que elas se lembrem do passado!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Redes baseadas em camadas do tipo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Long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Short-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Term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Memory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(LSTM) e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Gated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Recurrent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Units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(GRU), por exemplo.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93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todos os atributos de entrada e </a:t>
            </a:r>
            <a:r>
              <a:rPr lang="pt-BR" sz="2400" b="1" i="1" dirty="0">
                <a:solidFill>
                  <a:schemeClr val="accent6"/>
                </a:solidFill>
              </a:rPr>
              <a:t>compreender os dados de cada janela</a:t>
            </a:r>
            <a:r>
              <a:rPr lang="pt-BR" sz="2400" b="1" i="1" dirty="0">
                <a:solidFill>
                  <a:srgbClr val="7030A0"/>
                </a:solidFill>
              </a:rPr>
              <a:t>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7612164" y="2376438"/>
            <a:ext cx="43985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</a:t>
            </a:r>
            <a:r>
              <a:rPr lang="pt-BR" sz="2400" b="1" i="1" dirty="0">
                <a:solidFill>
                  <a:srgbClr val="FF0000"/>
                </a:solidFill>
              </a:rPr>
              <a:t>extração de atributos de forma automática</a:t>
            </a:r>
            <a:r>
              <a:rPr lang="pt-BR" sz="2400" b="1" i="1" dirty="0">
                <a:solidFill>
                  <a:srgbClr val="0070C0"/>
                </a:solidFill>
              </a:rPr>
              <a:t>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</a:t>
            </a:r>
            <a:r>
              <a:rPr lang="pt-BR" sz="2400" b="1" i="1" dirty="0">
                <a:solidFill>
                  <a:srgbClr val="7030A0"/>
                </a:solidFill>
              </a:rPr>
              <a:t>extrair alguns atributos manualmente</a:t>
            </a:r>
            <a:r>
              <a:rPr lang="pt-BR" sz="2400" b="1" i="1" dirty="0">
                <a:solidFill>
                  <a:srgbClr val="0070C0"/>
                </a:solidFill>
              </a:rPr>
              <a:t>.</a:t>
            </a:r>
            <a:endParaRPr lang="pt-BR" sz="2400" dirty="0">
              <a:solidFill>
                <a:srgbClr val="FF0000"/>
              </a:solidFill>
            </a:endParaRPr>
          </a:p>
        </p:txBody>
      </p:sp>
      <p:pic>
        <p:nvPicPr>
          <p:cNvPr id="1028" name="Picture 4" descr="deep learning - What does end-to-end training mean? - Artificial  Intelligence Stack Exchang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" y="1501016"/>
            <a:ext cx="7610938" cy="4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62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7686565" y="3884411"/>
            <a:ext cx="3906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Etapa do pré-processamento usando o bloco “</a:t>
            </a:r>
            <a:r>
              <a:rPr lang="pt-BR" sz="2400" b="1" i="1" dirty="0" err="1">
                <a:solidFill>
                  <a:srgbClr val="0070C0"/>
                </a:solidFill>
              </a:rPr>
              <a:t>spectral</a:t>
            </a:r>
            <a:r>
              <a:rPr lang="pt-BR" sz="2400" b="1" i="1" dirty="0">
                <a:solidFill>
                  <a:srgbClr val="0070C0"/>
                </a:solidFill>
              </a:rPr>
              <a:t> features”</a:t>
            </a:r>
          </a:p>
        </p:txBody>
      </p:sp>
      <p:pic>
        <p:nvPicPr>
          <p:cNvPr id="5" name="Imagem 3">
            <a:extLst>
              <a:ext uri="{FF2B5EF4-FFF2-40B4-BE49-F238E27FC236}">
                <a16:creationId xmlns:a16="http://schemas.microsoft.com/office/drawing/2014/main" id="{9EE6FB7D-5479-EDE4-4185-EB57802F9A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0" t="65608" r="47753" b="14571"/>
          <a:stretch>
            <a:fillRect/>
          </a:stretch>
        </p:blipFill>
        <p:spPr>
          <a:xfrm>
            <a:off x="1229710" y="4231268"/>
            <a:ext cx="4399503" cy="1156138"/>
          </a:xfrm>
          <a:prstGeom prst="rect">
            <a:avLst/>
          </a:prstGeom>
        </p:spPr>
      </p:pic>
      <p:pic>
        <p:nvPicPr>
          <p:cNvPr id="9" name="Imagem 5">
            <a:extLst>
              <a:ext uri="{FF2B5EF4-FFF2-40B4-BE49-F238E27FC236}">
                <a16:creationId xmlns:a16="http://schemas.microsoft.com/office/drawing/2014/main" id="{EC627ECC-A86A-11B8-F8A6-9342084E7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0" y="1469988"/>
            <a:ext cx="9206398" cy="2414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B2BAE9-26A9-ABA3-F88B-98F2C95AA654}"/>
              </a:ext>
            </a:extLst>
          </p:cNvPr>
          <p:cNvSpPr txBox="1"/>
          <p:nvPr/>
        </p:nvSpPr>
        <p:spPr>
          <a:xfrm>
            <a:off x="3312753" y="1665227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 [s]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33F25D-38B2-E8A2-1C04-FC7DDE8C3517}"/>
              </a:ext>
            </a:extLst>
          </p:cNvPr>
          <p:cNvCxnSpPr/>
          <p:nvPr/>
        </p:nvCxnSpPr>
        <p:spPr>
          <a:xfrm flipH="1">
            <a:off x="2427890" y="2995448"/>
            <a:ext cx="567558" cy="11666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13F063-32D2-A789-E262-8642FC3417C2}"/>
              </a:ext>
            </a:extLst>
          </p:cNvPr>
          <p:cNvSpPr/>
          <p:nvPr/>
        </p:nvSpPr>
        <p:spPr>
          <a:xfrm>
            <a:off x="3972910" y="4231268"/>
            <a:ext cx="1082566" cy="107034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3C3D9-E1E0-104E-97E4-48B383F95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A4651-E5A2-79EF-A583-7E930C9CF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D516248-A18E-E930-9EE0-A83ECCA056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4B25509-DC20-A3DE-289A-C485916C85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A5DAC06-C9C7-83C9-6EEB-7B7A802661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1BA8130-FE2B-4688-0751-0DD3C18C2DE1}"/>
              </a:ext>
            </a:extLst>
          </p:cNvPr>
          <p:cNvSpPr txBox="1"/>
          <p:nvPr/>
        </p:nvSpPr>
        <p:spPr>
          <a:xfrm>
            <a:off x="318945" y="4084108"/>
            <a:ext cx="6220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Filtra-se os sinais dos 3 eixos,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Calcula-se o valor RMS, </a:t>
            </a:r>
            <a:r>
              <a:rPr lang="en-US" sz="2400" b="1" i="1" dirty="0">
                <a:solidFill>
                  <a:schemeClr val="accent6"/>
                </a:solidFill>
              </a:rPr>
              <a:t>Skewness</a:t>
            </a:r>
            <a:r>
              <a:rPr lang="pt-BR" sz="2400" b="1" i="1" dirty="0">
                <a:solidFill>
                  <a:schemeClr val="accent6"/>
                </a:solidFill>
              </a:rPr>
              <a:t> e </a:t>
            </a:r>
            <a:r>
              <a:rPr lang="pt-BR" sz="2400" b="1" i="1" dirty="0" err="1">
                <a:solidFill>
                  <a:schemeClr val="accent6"/>
                </a:solidFill>
              </a:rPr>
              <a:t>Kurtosis</a:t>
            </a:r>
            <a:r>
              <a:rPr lang="pt-BR" sz="2400" b="1" i="1" dirty="0">
                <a:solidFill>
                  <a:schemeClr val="accent6"/>
                </a:solidFill>
              </a:rPr>
              <a:t> de cada um dos eixos (</a:t>
            </a:r>
            <a:r>
              <a:rPr lang="pt-BR" sz="2400" b="1" i="1" dirty="0" err="1">
                <a:solidFill>
                  <a:schemeClr val="accent6"/>
                </a:solidFill>
              </a:rPr>
              <a:t>x,y</a:t>
            </a:r>
            <a:r>
              <a:rPr lang="pt-BR" sz="2400" b="1" i="1" dirty="0">
                <a:solidFill>
                  <a:schemeClr val="accent6"/>
                </a:solidFill>
              </a:rPr>
              <a:t> e z).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AB520F-AC7B-3171-8C59-30015A4E3E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32" t="11081"/>
          <a:stretch>
            <a:fillRect/>
          </a:stretch>
        </p:blipFill>
        <p:spPr>
          <a:xfrm>
            <a:off x="6756651" y="4637653"/>
            <a:ext cx="3478806" cy="7217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05CE6-5919-00D6-E817-1219F766F07D}"/>
              </a:ext>
            </a:extLst>
          </p:cNvPr>
          <p:cNvSpPr txBox="1"/>
          <p:nvPr/>
        </p:nvSpPr>
        <p:spPr>
          <a:xfrm>
            <a:off x="10412513" y="4453440"/>
            <a:ext cx="1802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Descreve a frequência com que valores extremos (outliers) ocorrem</a:t>
            </a:r>
            <a:endParaRPr lang="pt-BR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70B3C7-E9D3-4144-8680-788F24B0C004}"/>
              </a:ext>
            </a:extLst>
          </p:cNvPr>
          <p:cNvSpPr txBox="1"/>
          <p:nvPr/>
        </p:nvSpPr>
        <p:spPr>
          <a:xfrm>
            <a:off x="10401061" y="3530600"/>
            <a:ext cx="1802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Estimativa do desvio padrão</a:t>
            </a:r>
            <a:endParaRPr lang="pt-BR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A64D0FF-029A-60BD-5A96-133E5118E7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096" y="5359363"/>
            <a:ext cx="2354938" cy="7424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9F38FF2-78D3-07F0-F673-2FD981898417}"/>
              </a:ext>
            </a:extLst>
          </p:cNvPr>
          <p:cNvSpPr txBox="1"/>
          <p:nvPr/>
        </p:nvSpPr>
        <p:spPr>
          <a:xfrm>
            <a:off x="10412513" y="5407399"/>
            <a:ext cx="16795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1200" b="0" i="0">
                <a:effectLst/>
              </a:defRPr>
            </a:lvl1pPr>
          </a:lstStyle>
          <a:p>
            <a:r>
              <a:rPr lang="pt-BR" dirty="0"/>
              <a:t>Mede a falta de simetria de uma distribuição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1D33C8-159D-A195-E520-9AB996254E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7600" y="2135152"/>
            <a:ext cx="392386" cy="5814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3E4691A-6B00-5D95-93C4-05F305EA9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8289" y="2203108"/>
            <a:ext cx="1261242" cy="5814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D70845E-8753-B00F-0F11-0C746FDCF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9474" y="2745990"/>
            <a:ext cx="2985559" cy="4650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1AFBF9A-476A-83F2-60E6-FC1AA34A5C22}"/>
              </a:ext>
            </a:extLst>
          </p:cNvPr>
          <p:cNvSpPr txBox="1"/>
          <p:nvPr/>
        </p:nvSpPr>
        <p:spPr>
          <a:xfrm>
            <a:off x="2273277" y="5730564"/>
            <a:ext cx="2622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 de 9 features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692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rcRect b="43919"/>
          <a:stretch>
            <a:fillRect/>
          </a:stretch>
        </p:blipFill>
        <p:spPr>
          <a:xfrm>
            <a:off x="111015" y="1081087"/>
            <a:ext cx="8343900" cy="2633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D8EDFF-D55C-5CB9-6450-777121412E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3323" y="4370437"/>
            <a:ext cx="3818512" cy="46503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F4E21CF-AD65-A0E3-81B4-481B99A498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01" t="54163" r="3794" b="28334"/>
          <a:stretch>
            <a:fillRect/>
          </a:stretch>
        </p:blipFill>
        <p:spPr bwMode="auto">
          <a:xfrm>
            <a:off x="480316" y="4006316"/>
            <a:ext cx="3913007" cy="1886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FEC3B41-7355-71C0-A033-8F58E527F5CC}"/>
              </a:ext>
            </a:extLst>
          </p:cNvPr>
          <p:cNvCxnSpPr/>
          <p:nvPr/>
        </p:nvCxnSpPr>
        <p:spPr>
          <a:xfrm>
            <a:off x="2415799" y="3714532"/>
            <a:ext cx="0" cy="4475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837291F-F4E8-9F91-9E7C-C2B04DBBB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847" y="1816398"/>
            <a:ext cx="1289270" cy="58141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5566185" y="1940932"/>
            <a:ext cx="61454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r>
              <a:rPr lang="pt-BR" sz="2400" b="1" i="1" dirty="0">
                <a:solidFill>
                  <a:srgbClr val="0070C0"/>
                </a:solidFill>
              </a:rPr>
              <a:t>Calcular a FFT dos sinais do 3 eixos para extrair as frequências dos sinais.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Aplica-se FFT à </a:t>
            </a:r>
            <a:r>
              <a:rPr lang="pt-BR" sz="2400" b="1" i="1" dirty="0" err="1">
                <a:solidFill>
                  <a:schemeClr val="accent6"/>
                </a:solidFill>
              </a:rPr>
              <a:t>subframes</a:t>
            </a:r>
            <a:r>
              <a:rPr lang="pt-BR" sz="2400" b="1" i="1" dirty="0">
                <a:solidFill>
                  <a:schemeClr val="accent6"/>
                </a:solidFill>
              </a:rPr>
              <a:t> da janela,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Descarta-se a parte espelhada da FFT, os </a:t>
            </a:r>
            <a:r>
              <a:rPr lang="pt-BR" sz="2400" b="1" i="1" dirty="0" err="1">
                <a:solidFill>
                  <a:schemeClr val="accent6"/>
                </a:solidFill>
              </a:rPr>
              <a:t>bins</a:t>
            </a:r>
            <a:r>
              <a:rPr lang="pt-BR" sz="2400" b="1" i="1" dirty="0">
                <a:solidFill>
                  <a:schemeClr val="accent6"/>
                </a:solidFill>
              </a:rPr>
              <a:t> acima da frequência de corte do filtro e o bin representando a parte DC (média do sinal),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Aplica log na base 10 a cada bin,</a:t>
            </a:r>
            <a:endParaRPr lang="pt-BR" sz="2400" b="1" i="1" dirty="0">
              <a:solidFill>
                <a:srgbClr val="0070C0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Escolhe-se o bin com maior valor entre dos frames.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571301-AB41-57CA-D5BE-7CC1F9819E20}"/>
              </a:ext>
            </a:extLst>
          </p:cNvPr>
          <p:cNvSpPr txBox="1"/>
          <p:nvPr/>
        </p:nvSpPr>
        <p:spPr>
          <a:xfrm>
            <a:off x="3473160" y="6095916"/>
            <a:ext cx="33909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 de 12 features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C640C58-7CA5-1B1F-C7E9-736BACD90B0C}"/>
              </a:ext>
            </a:extLst>
          </p:cNvPr>
          <p:cNvSpPr/>
          <p:nvPr/>
        </p:nvSpPr>
        <p:spPr>
          <a:xfrm>
            <a:off x="3300249" y="4241778"/>
            <a:ext cx="1082566" cy="107034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4CF9BA-FC25-6068-28AB-913EFDDE2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2924" y="3327400"/>
            <a:ext cx="4298731" cy="29788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C7BF99-EC4C-8208-EFF5-A045BF924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414" y="3140443"/>
            <a:ext cx="1203262" cy="50489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5061535" y="4176786"/>
            <a:ext cx="3258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ao invés de 375 a rede neural terá 21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>
                <a:solidFill>
                  <a:srgbClr val="7030A0"/>
                </a:solidFill>
              </a:rPr>
              <a:t>ms</a:t>
            </a:r>
            <a:r>
              <a:rPr lang="pt-BR" sz="2400" b="1" dirty="0">
                <a:solidFill>
                  <a:srgbClr val="7030A0"/>
                </a:solidFill>
              </a:rPr>
              <a:t>].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D14AA95-5BDA-85C1-3DDD-E461EF672E97}"/>
              </a:ext>
            </a:extLst>
          </p:cNvPr>
          <p:cNvSpPr/>
          <p:nvPr/>
        </p:nvSpPr>
        <p:spPr>
          <a:xfrm>
            <a:off x="3521382" y="4487917"/>
            <a:ext cx="1166232" cy="12249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0CCBA9-4A33-C71D-3F0A-C33E106D5F8B}"/>
              </a:ext>
            </a:extLst>
          </p:cNvPr>
          <p:cNvSpPr/>
          <p:nvPr/>
        </p:nvSpPr>
        <p:spPr>
          <a:xfrm>
            <a:off x="5128363" y="4296359"/>
            <a:ext cx="1418897" cy="40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>
                <a:ln>
                  <a:solidFill>
                    <a:schemeClr val="bg1"/>
                  </a:solidFill>
                </a:ln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 features</a:t>
            </a:r>
            <a:endParaRPr lang="en-US" sz="1600" b="1" dirty="0">
              <a:ln>
                <a:solidFill>
                  <a:schemeClr val="bg1"/>
                </a:solidFill>
              </a:ln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31A0B1F-3402-995C-026F-A62D18311D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210" y="4737720"/>
            <a:ext cx="850990" cy="9751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F834E90-82B0-4C1B-DD15-AB1A76BE6802}"/>
              </a:ext>
            </a:extLst>
          </p:cNvPr>
          <p:cNvSpPr txBox="1"/>
          <p:nvPr/>
        </p:nvSpPr>
        <p:spPr>
          <a:xfrm>
            <a:off x="5332018" y="4701189"/>
            <a:ext cx="88492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RMS</a:t>
            </a:r>
          </a:p>
          <a:p>
            <a:r>
              <a:rPr lang="pt-BR" sz="1400" dirty="0" err="1"/>
              <a:t>Skewness</a:t>
            </a:r>
            <a:endParaRPr lang="pt-BR" sz="1400" dirty="0"/>
          </a:p>
          <a:p>
            <a:r>
              <a:rPr lang="pt-BR" sz="1400" dirty="0" err="1"/>
              <a:t>Kurtosis</a:t>
            </a:r>
            <a:endParaRPr lang="pt-BR" sz="1400" dirty="0"/>
          </a:p>
          <a:p>
            <a:r>
              <a:rPr lang="pt-BR" sz="1400" dirty="0"/>
              <a:t>FFT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/>
              <a:t>Referências</a:t>
            </a:r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725F-4C29-A255-7164-563E74E3A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08D0EF-AE78-466E-BB53-06672B371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7957" y="2667000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Anexo I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137419-0E34-0326-41B5-54D3D5D3B7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E765A50-7361-D910-74BB-3FD9F6D99F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9681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D1A6A-6BC5-6F5C-3349-3C912C361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1F347D-56C5-5A70-14E8-58886B4D7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5B7084F-EF6E-BDE1-FF2E-A1EE5D9F9B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06B69B4-97C5-F6BD-ADF1-556BE24EFA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6702DBE-CEC8-0C9D-395C-E336479CFAC3}"/>
              </a:ext>
            </a:extLst>
          </p:cNvPr>
          <p:cNvSpPr txBox="1"/>
          <p:nvPr/>
        </p:nvSpPr>
        <p:spPr>
          <a:xfrm>
            <a:off x="7686565" y="3884411"/>
            <a:ext cx="3906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Etapa do pré-processamento usando o bloco “</a:t>
            </a:r>
            <a:r>
              <a:rPr lang="pt-BR" sz="2400" b="1" i="1" dirty="0" err="1">
                <a:solidFill>
                  <a:srgbClr val="0070C0"/>
                </a:solidFill>
              </a:rPr>
              <a:t>spectral</a:t>
            </a:r>
            <a:r>
              <a:rPr lang="pt-BR" sz="2400" b="1" i="1" dirty="0">
                <a:solidFill>
                  <a:srgbClr val="0070C0"/>
                </a:solidFill>
              </a:rPr>
              <a:t> </a:t>
            </a:r>
            <a:r>
              <a:rPr lang="pt-BR" sz="2400" b="1" i="1" dirty="0" err="1">
                <a:solidFill>
                  <a:srgbClr val="0070C0"/>
                </a:solidFill>
              </a:rPr>
              <a:t>analysis</a:t>
            </a:r>
            <a:r>
              <a:rPr lang="pt-BR" sz="2400" b="1" i="1" dirty="0">
                <a:solidFill>
                  <a:srgbClr val="0070C0"/>
                </a:solidFill>
              </a:rPr>
              <a:t>”</a:t>
            </a:r>
          </a:p>
        </p:txBody>
      </p:sp>
      <p:pic>
        <p:nvPicPr>
          <p:cNvPr id="5" name="Imagem 3">
            <a:extLst>
              <a:ext uri="{FF2B5EF4-FFF2-40B4-BE49-F238E27FC236}">
                <a16:creationId xmlns:a16="http://schemas.microsoft.com/office/drawing/2014/main" id="{0FA1D2E0-3942-9877-E1D9-B83FFFE478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00" t="65608" r="47753" b="14571"/>
          <a:stretch>
            <a:fillRect/>
          </a:stretch>
        </p:blipFill>
        <p:spPr>
          <a:xfrm>
            <a:off x="1229710" y="4231268"/>
            <a:ext cx="4399503" cy="1156138"/>
          </a:xfrm>
          <a:prstGeom prst="rect">
            <a:avLst/>
          </a:prstGeom>
        </p:spPr>
      </p:pic>
      <p:pic>
        <p:nvPicPr>
          <p:cNvPr id="9" name="Imagem 5">
            <a:extLst>
              <a:ext uri="{FF2B5EF4-FFF2-40B4-BE49-F238E27FC236}">
                <a16:creationId xmlns:a16="http://schemas.microsoft.com/office/drawing/2014/main" id="{B35E7460-DEE4-34E9-203D-DE342978C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90" y="1469988"/>
            <a:ext cx="9206398" cy="2414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B1720DC-6ADF-B7C5-43B8-DF377650FA5E}"/>
              </a:ext>
            </a:extLst>
          </p:cNvPr>
          <p:cNvSpPr txBox="1"/>
          <p:nvPr/>
        </p:nvSpPr>
        <p:spPr>
          <a:xfrm>
            <a:off x="3312753" y="1665227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 [s]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ECF302-F249-2D29-A471-95FCF5456574}"/>
              </a:ext>
            </a:extLst>
          </p:cNvPr>
          <p:cNvCxnSpPr/>
          <p:nvPr/>
        </p:nvCxnSpPr>
        <p:spPr>
          <a:xfrm flipH="1">
            <a:off x="2427890" y="2995448"/>
            <a:ext cx="567558" cy="11666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AC56DF9-06F7-885F-6835-06A221D53E73}"/>
              </a:ext>
            </a:extLst>
          </p:cNvPr>
          <p:cNvSpPr txBox="1"/>
          <p:nvPr/>
        </p:nvSpPr>
        <p:spPr>
          <a:xfrm>
            <a:off x="2427890" y="634568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 O bloco foi substituído pelo “</a:t>
            </a:r>
            <a:r>
              <a:rPr lang="pt-BR" sz="1200" dirty="0" err="1"/>
              <a:t>Spectral</a:t>
            </a:r>
            <a:r>
              <a:rPr lang="pt-BR" sz="1200" dirty="0"/>
              <a:t> features” na versão mais recente</a:t>
            </a:r>
            <a:br>
              <a:rPr lang="pt-BR" sz="1200" dirty="0"/>
            </a:br>
            <a:r>
              <a:rPr lang="pt-BR" sz="1200" dirty="0">
                <a:hlinkClick r:id="rId5"/>
              </a:rPr>
              <a:t>https://docs.edgeimpulse.com/docs/edge-impulse-studio/processing-blocks/spectral-features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24392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CA901-BF35-78FD-593E-1D482C3F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F18051-78A2-673C-7A4D-89056A3EC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DC58B8A-69D6-E735-AE7B-5D0FDAF326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4B670D1-8BF6-9AD4-269B-CBFEA59EA8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69B1C74-3B06-FA2C-60F2-CAE2666E3F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BB68AA6-193A-291D-6FD9-8B4C7FF03F9A}"/>
              </a:ext>
            </a:extLst>
          </p:cNvPr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0114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C90BA-B22C-5851-E28D-C0E116BE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4EE808-6159-8F78-4738-5AE9DF81A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6576843-9CC6-B374-2E48-C0C637E4ED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5EDECDD-1B2D-C21F-F49B-DF8A88DFA8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6B381AD-E535-C1EF-73B9-C5B486D05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9443097-16E2-C6C5-8722-89E23C8B34CA}"/>
              </a:ext>
            </a:extLst>
          </p:cNvPr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9743FE9-0393-B68B-FFEE-092B382A1574}"/>
              </a:ext>
            </a:extLst>
          </p:cNvPr>
          <p:cNvSpPr txBox="1"/>
          <p:nvPr/>
        </p:nvSpPr>
        <p:spPr>
          <a:xfrm>
            <a:off x="3980164" y="5799410"/>
            <a:ext cx="4231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00B0F0"/>
                </a:solidFill>
              </a:rPr>
              <a:t>Extrair as frequências dos sinais</a:t>
            </a:r>
          </a:p>
        </p:txBody>
      </p:sp>
    </p:spTree>
    <p:extLst>
      <p:ext uri="{BB962C8B-B14F-4D97-AF65-F5344CB8AC3E}">
        <p14:creationId xmlns:p14="http://schemas.microsoft.com/office/powerpoint/2010/main" val="1502056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FE2F7-BA0C-A273-3DE4-2A4173261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B7ED98-8558-B78A-0D24-C227D5B28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53CB6E4-AB56-1F0F-6677-528C6882C0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092F562-182E-F3E6-7028-59AABCD2C5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3AD3440-E113-2D43-382D-4E3D9DD0D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AA5DF66-34D6-D2E2-8682-46FDE748F138}"/>
              </a:ext>
            </a:extLst>
          </p:cNvPr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Método de </a:t>
            </a:r>
            <a:r>
              <a:rPr lang="pt-BR" sz="2400" b="1" i="1" dirty="0" err="1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Welch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: 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2908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0862-0ECA-3571-2339-4C67B089F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3ABCA-DCBB-63A3-1CA1-C88CE0FAE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50D7A8D-260B-D07E-E607-09BCED8BB8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AA62CE6-1E19-5161-335A-B3BA212A15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DFCA36F-6676-7431-02DE-651130B928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892547B-635B-ADD0-5722-CD202EFB75E7}"/>
              </a:ext>
            </a:extLst>
          </p:cNvPr>
          <p:cNvSpPr txBox="1"/>
          <p:nvPr/>
        </p:nvSpPr>
        <p:spPr>
          <a:xfrm>
            <a:off x="9222828" y="3860240"/>
            <a:ext cx="24436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ao invés de 375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1081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5505-1AC4-27CE-0E96-057335642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17ADB-943C-95CC-785F-B13650383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D6B4538-C28D-BD1C-5D13-8B9C2E49C7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0649B49-1831-D7D8-41E1-85345FE265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85F0EB-A7A7-93DA-BAFB-DD51D0BF695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D00FCCDB-8B0F-C254-86B2-DD06F971C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C964216-1B25-9041-9095-8146204DDEDA}"/>
              </a:ext>
            </a:extLst>
          </p:cNvPr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C87D6C1-EA12-739D-46D3-8CBB01E6373D}"/>
              </a:ext>
            </a:extLst>
          </p:cNvPr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>
                <a:solidFill>
                  <a:srgbClr val="7030A0"/>
                </a:solidFill>
              </a:rPr>
              <a:t>ms</a:t>
            </a:r>
            <a:r>
              <a:rPr lang="pt-BR" sz="2400" b="1" dirty="0">
                <a:solidFill>
                  <a:srgbClr val="7030A0"/>
                </a:solidFill>
              </a:rPr>
              <a:t>].</a:t>
            </a:r>
          </a:p>
        </p:txBody>
      </p:sp>
    </p:spTree>
    <p:extLst>
      <p:ext uri="{BB962C8B-B14F-4D97-AF65-F5344CB8AC3E}">
        <p14:creationId xmlns:p14="http://schemas.microsoft.com/office/powerpoint/2010/main" val="9428202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16199</TotalTime>
  <Words>1703</Words>
  <Application>Microsoft Office PowerPoint</Application>
  <PresentationFormat>Widescreen</PresentationFormat>
  <Paragraphs>261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  <vt:lpstr>Anexo I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2441</cp:revision>
  <dcterms:created xsi:type="dcterms:W3CDTF">2020-01-20T13:50:05Z</dcterms:created>
  <dcterms:modified xsi:type="dcterms:W3CDTF">2025-06-04T18:24:42Z</dcterms:modified>
</cp:coreProperties>
</file>