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1"/>
  </p:notesMasterIdLst>
  <p:handoutMasterIdLst>
    <p:handoutMasterId r:id="rId32"/>
  </p:handoutMasterIdLst>
  <p:sldIdLst>
    <p:sldId id="256" r:id="rId3"/>
    <p:sldId id="583" r:id="rId4"/>
    <p:sldId id="591" r:id="rId5"/>
    <p:sldId id="586" r:id="rId6"/>
    <p:sldId id="587" r:id="rId7"/>
    <p:sldId id="588" r:id="rId8"/>
    <p:sldId id="589" r:id="rId9"/>
    <p:sldId id="590" r:id="rId10"/>
    <p:sldId id="585" r:id="rId11"/>
    <p:sldId id="592" r:id="rId12"/>
    <p:sldId id="599" r:id="rId13"/>
    <p:sldId id="601" r:id="rId14"/>
    <p:sldId id="604" r:id="rId15"/>
    <p:sldId id="606" r:id="rId16"/>
    <p:sldId id="607" r:id="rId17"/>
    <p:sldId id="603" r:id="rId18"/>
    <p:sldId id="608" r:id="rId19"/>
    <p:sldId id="609" r:id="rId20"/>
    <p:sldId id="610" r:id="rId21"/>
    <p:sldId id="611" r:id="rId22"/>
    <p:sldId id="616" r:id="rId23"/>
    <p:sldId id="614" r:id="rId24"/>
    <p:sldId id="613" r:id="rId25"/>
    <p:sldId id="605" r:id="rId26"/>
    <p:sldId id="615" r:id="rId27"/>
    <p:sldId id="612" r:id="rId28"/>
    <p:sldId id="600" r:id="rId29"/>
    <p:sldId id="584" r:id="rId3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61" d="100"/>
          <a:sy n="61" d="100"/>
        </p:scale>
        <p:origin x="1332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20/04/2025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 smtClean="0">
              <a:solidFill>
                <a:srgbClr val="FF0000"/>
              </a:solidFill>
            </a:endParaRPr>
          </a:p>
          <a:p>
            <a:r>
              <a:rPr lang="pt-BR" dirty="0" smtClean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 smtClean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99809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3532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7304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819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77662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são gerados dados com o celular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Link no meu </a:t>
            </a:r>
            <a:r>
              <a:rPr lang="pt-BR" sz="1200" dirty="0" err="1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https://studio.edgeimpulse.com/public/298808/live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1959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88447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3859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3254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07115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4633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9452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2346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0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56868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70607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11530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6342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04923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65279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16272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Motion </a:t>
            </a:r>
            <a:r>
              <a:rPr lang="pt-BR" b="1" i="1" dirty="0" err="1"/>
              <a:t>Classification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2" descr="Mockup Celular - iPhone Mockup | Maker Mockup">
            <a:extLst>
              <a:ext uri="{FF2B5EF4-FFF2-40B4-BE49-F238E27FC236}">
                <a16:creationId xmlns:a16="http://schemas.microsoft.com/office/drawing/2014/main" xmlns="" id="{FC87A0DC-550D-BB34-6B8D-21472B93880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42" y="1225197"/>
            <a:ext cx="285750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tebook Samsung Book 4GB, 15.6'', Intel Celeron, 500 GB, Windows 10 Home,  Cinza - Samsung Book - Magazine Luiza">
            <a:extLst>
              <a:ext uri="{FF2B5EF4-FFF2-40B4-BE49-F238E27FC236}">
                <a16:creationId xmlns:a16="http://schemas.microsoft.com/office/drawing/2014/main" xmlns="" id="{846ECC3C-0F71-81E5-1C69-59A8D9A2C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584" y="1374422"/>
            <a:ext cx="2290939" cy="2290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lar monitora vacas para melhorar produtividade de leite - 12/05/2023 -  Tec - Folha">
            <a:extLst>
              <a:ext uri="{FF2B5EF4-FFF2-40B4-BE49-F238E27FC236}">
                <a16:creationId xmlns:a16="http://schemas.microsoft.com/office/drawing/2014/main" xmlns="" id="{219B56EB-C5FB-216B-A62B-12BD558A4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1504" y="3632200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xmlns="" id="{EEB34E5E-7F0E-7162-8BAF-B92B4B06B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5675" y="1374422"/>
            <a:ext cx="2885204" cy="1921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xmlns="" id="{240919DB-71EF-5F88-F569-C5D883B2B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6344" y="4315001"/>
            <a:ext cx="3073257" cy="2120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xmlns="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parado no porto: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xmlns="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008" y="1939749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6382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sendo erguido:</a:t>
            </a:r>
          </a:p>
        </p:txBody>
      </p:sp>
      <p:pic>
        <p:nvPicPr>
          <p:cNvPr id="2050" name="Picture 2" descr="Free PSD blue cargo container on transparent background">
            <a:extLst>
              <a:ext uri="{FF2B5EF4-FFF2-40B4-BE49-F238E27FC236}">
                <a16:creationId xmlns:a16="http://schemas.microsoft.com/office/drawing/2014/main" xmlns="" id="{A98A15EA-A147-6CDF-C2F6-87AAFC6C4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430" y="1825978"/>
            <a:ext cx="4200525" cy="420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z.</a:t>
            </a:r>
          </a:p>
        </p:txBody>
      </p:sp>
    </p:spTree>
    <p:extLst>
      <p:ext uri="{BB962C8B-B14F-4D97-AF65-F5344CB8AC3E}">
        <p14:creationId xmlns:p14="http://schemas.microsoft.com/office/powerpoint/2010/main" val="2879072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oceano:</a:t>
            </a:r>
          </a:p>
        </p:txBody>
      </p:sp>
      <p:pic>
        <p:nvPicPr>
          <p:cNvPr id="3074" name="Picture 2" descr="Free photo aerial view of cargo ship with cargo container on sea">
            <a:extLst>
              <a:ext uri="{FF2B5EF4-FFF2-40B4-BE49-F238E27FC236}">
                <a16:creationId xmlns:a16="http://schemas.microsoft.com/office/drawing/2014/main" xmlns="" id="{6D87BA9E-F12B-B77C-65AD-AFA156B8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3075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7CAF6758-F677-FD03-7446-3A59B85054CD}"/>
              </a:ext>
            </a:extLst>
          </p:cNvPr>
          <p:cNvSpPr txBox="1"/>
          <p:nvPr/>
        </p:nvSpPr>
        <p:spPr>
          <a:xfrm>
            <a:off x="1580443" y="5961919"/>
            <a:ext cx="7699023" cy="407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Char char="•"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em várias direções devido às correntes marítimas.</a:t>
            </a:r>
          </a:p>
        </p:txBody>
      </p:sp>
    </p:spTree>
    <p:extLst>
      <p:ext uri="{BB962C8B-B14F-4D97-AF65-F5344CB8AC3E}">
        <p14:creationId xmlns:p14="http://schemas.microsoft.com/office/powerpoint/2010/main" val="3789364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caminhão: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C63B75BA-F777-3A50-CB3A-A642F3CCAB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3197" y="1920109"/>
            <a:ext cx="3985605" cy="301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578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coletado por acelerômetro: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xmlns="" id="{C7DAF8C7-0817-CFEF-006D-3A402E043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079" y="2053471"/>
            <a:ext cx="5105842" cy="275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38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Aplicação: Classificação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 4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erguido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mar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</p:txBody>
      </p:sp>
    </p:spTree>
    <p:extLst>
      <p:ext uri="{BB962C8B-B14F-4D97-AF65-F5344CB8AC3E}">
        <p14:creationId xmlns:p14="http://schemas.microsoft.com/office/powerpoint/2010/main" val="4197704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smtClean="0">
                <a:ea typeface="Calibri" panose="020F0502020204030204" pitchFamily="34" charset="0"/>
                <a:cs typeface="Arial" panose="020B0604020202020204" pitchFamily="34" charset="0"/>
              </a:rPr>
              <a:t>Exemplo de 10 segundos de dados coletados por um acelerômetro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com frequência de leitura de 62.5 Hz, i.e. 62.5 amostras por segundo</a:t>
            </a:r>
            <a:r>
              <a:rPr lang="pt-BR" sz="1800" dirty="0" smtClean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 smtClean="0">
                <a:ea typeface="Calibri" panose="020F0502020204030204" pitchFamily="34" charset="0"/>
                <a:cs typeface="Arial" panose="020B0604020202020204" pitchFamily="34" charset="0"/>
              </a:rPr>
              <a:t>Que tipo de dado é este?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1" y="2668970"/>
            <a:ext cx="9711958" cy="2312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9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smtClean="0">
                <a:ea typeface="Calibri" panose="020F0502020204030204" pitchFamily="34" charset="0"/>
                <a:cs typeface="Arial" panose="020B0604020202020204" pitchFamily="34" charset="0"/>
              </a:rPr>
              <a:t>Série temporal: cada amostra tem correlação com as anteriores e posteriores.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smtClean="0">
                <a:ea typeface="Calibri" panose="020F0502020204030204" pitchFamily="34" charset="0"/>
                <a:cs typeface="Arial" panose="020B0604020202020204" pitchFamily="34" charset="0"/>
              </a:rPr>
              <a:t>Assim, por serem séries temporais, vamos processar janelas que capturem pelo menos um ciclo de movimento, por exemplo, 2 </a:t>
            </a:r>
            <a:r>
              <a:rPr lang="pt-BR" sz="1734" smtClean="0">
                <a:ea typeface="Calibri" panose="020F0502020204030204" pitchFamily="34" charset="0"/>
                <a:cs typeface="Arial" panose="020B0604020202020204" pitchFamily="34" charset="0"/>
              </a:rPr>
              <a:t>segundos.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00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330966" y="4099034"/>
            <a:ext cx="241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 smtClean="0">
                <a:solidFill>
                  <a:srgbClr val="7030A0"/>
                </a:solidFill>
              </a:rPr>
              <a:t>375 atributos de entrada!</a:t>
            </a:r>
            <a:endParaRPr lang="pt-BR" sz="2400" b="1" i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31519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 smtClean="0">
                <a:solidFill>
                  <a:srgbClr val="7030A0"/>
                </a:solidFill>
              </a:rPr>
              <a:t>Precisamos de uma rede complexa (e.g., LSTM) para processar todas os atributos de entrada e compreender cada janela.</a:t>
            </a:r>
            <a:endParaRPr lang="pt-BR" sz="24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1697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 smtClean="0">
                <a:solidFill>
                  <a:srgbClr val="0070C0"/>
                </a:solidFill>
              </a:rPr>
              <a:t>A consequência é que o modelo consome </a:t>
            </a:r>
            <a:r>
              <a:rPr lang="pt-BR" sz="2400" b="1" i="1" dirty="0">
                <a:solidFill>
                  <a:srgbClr val="0070C0"/>
                </a:solidFill>
              </a:rPr>
              <a:t>mais </a:t>
            </a:r>
            <a:r>
              <a:rPr lang="pt-BR" sz="2400" b="1" i="1" dirty="0" smtClean="0">
                <a:solidFill>
                  <a:srgbClr val="0070C0"/>
                </a:solidFill>
              </a:rPr>
              <a:t>memória e pode não operar em tempo real.</a:t>
            </a:r>
          </a:p>
          <a:p>
            <a:pPr algn="ctr"/>
            <a:endParaRPr lang="pt-BR" sz="2400" b="1" i="1" dirty="0">
              <a:solidFill>
                <a:srgbClr val="0070C0"/>
              </a:solidFill>
            </a:endParaRPr>
          </a:p>
          <a:p>
            <a:pPr algn="ctr"/>
            <a:r>
              <a:rPr lang="pt-BR" sz="2400" b="1" i="1" dirty="0" smtClean="0">
                <a:solidFill>
                  <a:srgbClr val="FF0000"/>
                </a:solidFill>
              </a:rPr>
              <a:t>O que podemos fazer?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4434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6558456" y="3830565"/>
            <a:ext cx="52656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 smtClean="0">
                <a:solidFill>
                  <a:srgbClr val="0070C0"/>
                </a:solidFill>
              </a:rPr>
              <a:t>Ao invés de termos uma rede muito complexa que faça a extração de atributos de forma automática, vamos</a:t>
            </a:r>
          </a:p>
          <a:p>
            <a:pPr algn="ctr"/>
            <a:r>
              <a:rPr lang="pt-BR" sz="2400" b="1" i="1" dirty="0" err="1">
                <a:solidFill>
                  <a:srgbClr val="0070C0"/>
                </a:solidFill>
              </a:rPr>
              <a:t>p</a:t>
            </a:r>
            <a:r>
              <a:rPr lang="pt-BR" sz="2400" b="1" i="1" dirty="0" err="1" smtClean="0">
                <a:solidFill>
                  <a:srgbClr val="0070C0"/>
                </a:solidFill>
              </a:rPr>
              <a:t>ré</a:t>
            </a:r>
            <a:r>
              <a:rPr lang="pt-BR" sz="2400" b="1" i="1" dirty="0" smtClean="0">
                <a:solidFill>
                  <a:srgbClr val="0070C0"/>
                </a:solidFill>
              </a:rPr>
              <a:t>-processar os dados e extrair alguns atributos manualmente.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38645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693" t="3836" r="5346" b="43789"/>
          <a:stretch/>
        </p:blipFill>
        <p:spPr>
          <a:xfrm>
            <a:off x="141890" y="1371600"/>
            <a:ext cx="10093567" cy="3200400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3864336" y="4998508"/>
            <a:ext cx="48697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pt-BR" sz="2400" b="1" i="1" dirty="0" smtClean="0">
                <a:solidFill>
                  <a:srgbClr val="0070C0"/>
                </a:solidFill>
              </a:rPr>
              <a:t>Etapa do pré-processamento:</a:t>
            </a:r>
          </a:p>
          <a:p>
            <a:pPr algn="ctr"/>
            <a:r>
              <a:rPr lang="pt-BR" sz="2400" b="1" i="1" dirty="0" smtClean="0">
                <a:solidFill>
                  <a:srgbClr val="0070C0"/>
                </a:solidFill>
              </a:rPr>
              <a:t>Calcular o valor RMS de cada um dos eixos.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90962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15" y="1081087"/>
            <a:ext cx="8343900" cy="469582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6400800" y="1943140"/>
            <a:ext cx="4869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 smtClean="0">
                <a:solidFill>
                  <a:srgbClr val="0070C0"/>
                </a:solidFill>
              </a:rPr>
              <a:t>2. Etapa do pré-processamento:</a:t>
            </a:r>
          </a:p>
          <a:p>
            <a:pPr algn="ctr"/>
            <a:r>
              <a:rPr lang="pt-BR" sz="2400" b="1" i="1" dirty="0" smtClean="0">
                <a:solidFill>
                  <a:srgbClr val="0070C0"/>
                </a:solidFill>
              </a:rPr>
              <a:t>Calcular a FFT dos sinais do 3 eixos.</a:t>
            </a:r>
            <a:br>
              <a:rPr lang="pt-BR" sz="2400" b="1" i="1" dirty="0" smtClean="0">
                <a:solidFill>
                  <a:srgbClr val="0070C0"/>
                </a:solidFill>
              </a:rPr>
            </a:br>
            <a:r>
              <a:rPr lang="pt-BR" sz="2400" b="1" i="1" dirty="0" smtClean="0">
                <a:solidFill>
                  <a:srgbClr val="00B050"/>
                </a:solidFill>
              </a:rPr>
              <a:t>Usamos como atributos de entrada: 3 valores de pico e suas respectivas frequências para cada eixo.</a:t>
            </a:r>
          </a:p>
          <a:p>
            <a:pPr algn="ctr"/>
            <a:r>
              <a:rPr lang="pt-BR" sz="2400" b="1" i="1" dirty="0" smtClean="0">
                <a:solidFill>
                  <a:srgbClr val="00B050"/>
                </a:solidFill>
              </a:rPr>
              <a:t>Totalizando 18 atributos.</a:t>
            </a:r>
            <a:endParaRPr lang="pt-BR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5668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4" y="1655704"/>
            <a:ext cx="7023975" cy="395299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7472855" y="2614765"/>
            <a:ext cx="43512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3</a:t>
            </a:r>
            <a:r>
              <a:rPr lang="pt-BR" sz="2400" b="1" i="1" dirty="0" smtClean="0">
                <a:solidFill>
                  <a:srgbClr val="0070C0"/>
                </a:solidFill>
              </a:rPr>
              <a:t>. Etapa do pré-processamento: Densidade espectral de potência.</a:t>
            </a:r>
          </a:p>
          <a:p>
            <a:pPr algn="ctr"/>
            <a:r>
              <a:rPr lang="pt-BR" sz="24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Divide-se a largura de banda em 4 e calcula-se a densidade de potência para cada região. Assim, temos 4 regiões * </a:t>
            </a:r>
            <a:r>
              <a:rPr lang="pt-BR" sz="24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3 </a:t>
            </a:r>
            <a:r>
              <a:rPr lang="pt-BR" sz="24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eixos = </a:t>
            </a:r>
            <a:r>
              <a:rPr lang="pt-BR" sz="24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12 </a:t>
            </a:r>
            <a:r>
              <a:rPr lang="pt-BR" sz="24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atributos.</a:t>
            </a:r>
            <a:endParaRPr lang="pt-BR" sz="2400" b="1" i="1" dirty="0" smtClean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8076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372" r="1567" b="2679"/>
          <a:stretch/>
        </p:blipFill>
        <p:spPr>
          <a:xfrm>
            <a:off x="0" y="1072055"/>
            <a:ext cx="9733115" cy="50134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9222828" y="3860240"/>
            <a:ext cx="24436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 smtClean="0">
                <a:solidFill>
                  <a:srgbClr val="0070C0"/>
                </a:solidFill>
              </a:rPr>
              <a:t>Portanto, a rede neural terá 33 atributos de entrada.</a:t>
            </a:r>
            <a:endParaRPr lang="pt-BR" sz="2400" b="1" i="1" dirty="0" smtClean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0230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895" r="2323" b="14580"/>
          <a:stretch/>
        </p:blipFill>
        <p:spPr>
          <a:xfrm>
            <a:off x="0" y="1213945"/>
            <a:ext cx="10256726" cy="4556234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7517" y="4724582"/>
            <a:ext cx="1560786" cy="809115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8907517" y="4635653"/>
            <a:ext cx="28226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 smtClean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 smtClean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 smtClean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 smtClean="0"/>
              <a:t>Caminhão</a:t>
            </a:r>
            <a:endParaRPr lang="pt-BR" sz="1600" b="1" dirty="0"/>
          </a:p>
        </p:txBody>
      </p:sp>
    </p:spTree>
    <p:extLst>
      <p:ext uri="{BB962C8B-B14F-4D97-AF65-F5344CB8AC3E}">
        <p14:creationId xmlns:p14="http://schemas.microsoft.com/office/powerpoint/2010/main" val="1381615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692" y="1860823"/>
            <a:ext cx="9803416" cy="2190915"/>
          </a:xfrm>
          <a:prstGeom prst="rect">
            <a:avLst/>
          </a:prstGeom>
        </p:spPr>
      </p:pic>
      <p:sp>
        <p:nvSpPr>
          <p:cNvPr id="6" name="Retângulo 5"/>
          <p:cNvSpPr/>
          <p:nvPr/>
        </p:nvSpPr>
        <p:spPr>
          <a:xfrm>
            <a:off x="3453840" y="4811681"/>
            <a:ext cx="5284332" cy="37555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 smtClean="0">
                <a:ea typeface="Calibri" panose="020F0502020204030204" pitchFamily="34" charset="0"/>
                <a:cs typeface="Arial" panose="020B0604020202020204" pitchFamily="34" charset="0"/>
              </a:rPr>
              <a:t>Vamos usar o Edge Impulse para criar essa aplicação.</a:t>
            </a:r>
          </a:p>
        </p:txBody>
      </p:sp>
    </p:spTree>
    <p:extLst>
      <p:ext uri="{BB962C8B-B14F-4D97-AF65-F5344CB8AC3E}">
        <p14:creationId xmlns:p14="http://schemas.microsoft.com/office/powerpoint/2010/main" val="1603406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6197600" y="3697637"/>
            <a:ext cx="4966138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criar a base </a:t>
            </a: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de </a:t>
            </a:r>
            <a:r>
              <a:rPr lang="pt-BR" sz="28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dados no </a:t>
            </a:r>
            <a:r>
              <a:rPr lang="pt-BR" sz="2800" b="1" i="1" dirty="0" err="1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8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 com o acelerômetro do celular.</a:t>
            </a:r>
            <a:endParaRPr lang="pt-BR" sz="2800" b="1" i="1" dirty="0">
              <a:solidFill>
                <a:srgbClr val="00B05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" y="1425217"/>
            <a:ext cx="4552950" cy="346710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8722" y="1483963"/>
            <a:ext cx="3171825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709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10" name="Grupo 9"/>
          <p:cNvGrpSpPr/>
          <p:nvPr/>
        </p:nvGrpSpPr>
        <p:grpSpPr>
          <a:xfrm>
            <a:off x="304800" y="2356626"/>
            <a:ext cx="11582400" cy="1830297"/>
            <a:chOff x="304800" y="2877817"/>
            <a:chExt cx="11582400" cy="1830297"/>
          </a:xfrm>
        </p:grpSpPr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4800" y="2877817"/>
              <a:ext cx="10494579" cy="1830297"/>
            </a:xfrm>
            <a:prstGeom prst="rect">
              <a:avLst/>
            </a:prstGeom>
          </p:spPr>
        </p:pic>
        <p:sp>
          <p:nvSpPr>
            <p:cNvPr id="6" name="CaixaDeTexto 5"/>
            <p:cNvSpPr txBox="1"/>
            <p:nvPr/>
          </p:nvSpPr>
          <p:spPr>
            <a:xfrm>
              <a:off x="9616965" y="3365936"/>
              <a:ext cx="2270235" cy="107721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 smtClean="0"/>
                <a:t>Parado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 smtClean="0"/>
                <a:t>Sendo erguido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 smtClean="0"/>
                <a:t>Mar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 smtClean="0"/>
                <a:t>Caminhão</a:t>
              </a:r>
              <a:endParaRPr lang="pt-BR" sz="1600" b="1" dirty="0"/>
            </a:p>
          </p:txBody>
        </p:sp>
      </p:grpSp>
      <p:sp>
        <p:nvSpPr>
          <p:cNvPr id="9" name="Retângulo 8"/>
          <p:cNvSpPr/>
          <p:nvPr/>
        </p:nvSpPr>
        <p:spPr>
          <a:xfrm>
            <a:off x="3192517" y="4584077"/>
            <a:ext cx="5295462" cy="10143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ctr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Na sequência projetamos, treinamos e testamos o modelo.</a:t>
            </a:r>
            <a:endParaRPr lang="pt-BR" sz="2800" b="1" i="1" dirty="0">
              <a:solidFill>
                <a:srgbClr val="00B05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1988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585661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41497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95895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590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classificação de movimento para movimentação de uma cadeira de rodas com 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</a:rPr>
              <a:t>uso </a:t>
            </a:r>
            <a:r>
              <a:rPr lang="pt-BR" sz="2000" smtClean="0">
                <a:ea typeface="Calibri" panose="020F0502020204030204" pitchFamily="34" charset="0"/>
                <a:cs typeface="Arial" panose="020B0604020202020204" pitchFamily="34" charset="0"/>
              </a:rPr>
              <a:t>do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movimento da cabeça, treinar pelo menos três movimentos no Edge Impulse.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805DE0C9-CC2B-9A66-2836-0B5BA9411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3929" y="3567797"/>
            <a:ext cx="7886460" cy="242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15845</TotalTime>
  <Words>497</Words>
  <Application>Microsoft Office PowerPoint</Application>
  <PresentationFormat>Widescreen</PresentationFormat>
  <Paragraphs>126</Paragraphs>
  <Slides>28</Slides>
  <Notes>25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Apresentação do PowerPoint</vt:lpstr>
      <vt:lpstr>Motion Classification</vt:lpstr>
      <vt:lpstr>Apresentação do PowerPoint</vt:lpstr>
      <vt:lpstr>Apresentação do PowerPoint</vt:lpstr>
      <vt:lpstr>Edge Impulse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2379</cp:revision>
  <dcterms:created xsi:type="dcterms:W3CDTF">2020-01-20T13:50:05Z</dcterms:created>
  <dcterms:modified xsi:type="dcterms:W3CDTF">2025-04-21T01:48:17Z</dcterms:modified>
</cp:coreProperties>
</file>