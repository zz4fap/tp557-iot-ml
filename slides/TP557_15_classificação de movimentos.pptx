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9"/>
  </p:notesMasterIdLst>
  <p:handoutMasterIdLst>
    <p:handoutMasterId r:id="rId40"/>
  </p:handoutMasterIdLst>
  <p:sldIdLst>
    <p:sldId id="256" r:id="rId3"/>
    <p:sldId id="583" r:id="rId4"/>
    <p:sldId id="591" r:id="rId5"/>
    <p:sldId id="586" r:id="rId6"/>
    <p:sldId id="587" r:id="rId7"/>
    <p:sldId id="588" r:id="rId8"/>
    <p:sldId id="589" r:id="rId9"/>
    <p:sldId id="590" r:id="rId10"/>
    <p:sldId id="585" r:id="rId11"/>
    <p:sldId id="592" r:id="rId12"/>
    <p:sldId id="599" r:id="rId13"/>
    <p:sldId id="601" r:id="rId14"/>
    <p:sldId id="604" r:id="rId15"/>
    <p:sldId id="606" r:id="rId16"/>
    <p:sldId id="607" r:id="rId17"/>
    <p:sldId id="603" r:id="rId18"/>
    <p:sldId id="608" r:id="rId19"/>
    <p:sldId id="609" r:id="rId20"/>
    <p:sldId id="610" r:id="rId21"/>
    <p:sldId id="611" r:id="rId22"/>
    <p:sldId id="616" r:id="rId23"/>
    <p:sldId id="614" r:id="rId24"/>
    <p:sldId id="613" r:id="rId25"/>
    <p:sldId id="615" r:id="rId26"/>
    <p:sldId id="617" r:id="rId27"/>
    <p:sldId id="621" r:id="rId28"/>
    <p:sldId id="622" r:id="rId29"/>
    <p:sldId id="618" r:id="rId30"/>
    <p:sldId id="623" r:id="rId31"/>
    <p:sldId id="624" r:id="rId32"/>
    <p:sldId id="625" r:id="rId33"/>
    <p:sldId id="627" r:id="rId34"/>
    <p:sldId id="628" r:id="rId35"/>
    <p:sldId id="629" r:id="rId36"/>
    <p:sldId id="584" r:id="rId37"/>
    <p:sldId id="626" r:id="rId3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2567" autoAdjust="0"/>
  </p:normalViewPr>
  <p:slideViewPr>
    <p:cSldViewPr snapToGrid="0">
      <p:cViewPr varScale="1">
        <p:scale>
          <a:sx n="91" d="100"/>
          <a:sy n="91" d="100"/>
        </p:scale>
        <p:origin x="167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23/05/2025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jrovai/UNIFEI-IESTI01-TinyML-2022.1/blob/main/00_Curse_Folder/2_Applications_Deploy/Class_19/IESTI01_TinyML_class_19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Mjrovai/UNIFEI-IESTI01-TinyML-2022.1/blob/main/00_Curse_Folder/2_Applications_Deploy/Class_20/IESTI01_TinyML_class_20.pdf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>
                <a:solidFill>
                  <a:srgbClr val="FF0000"/>
                </a:solidFill>
                <a:hlinkClick r:id="rId3"/>
              </a:rPr>
              <a:t>https://github.com/Mjrovai/UNIFEI-IESTI01-TinyML-2022.1/blob/main/00_Curse_Folder/2_Applications_Deploy/Class_19/IESTI01_TinyML_class_19.pdf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>
                <a:solidFill>
                  <a:srgbClr val="FF0000"/>
                </a:solidFill>
                <a:hlinkClick r:id="rId4"/>
              </a:rPr>
              <a:t>https://github.com/Mjrovai/UNIFEI-IESTI01-TinyML-2022.1/blob/main/00_Curse_Folder/2_Applications_Deploy/Class_20/IESTI01_TinyML_class_20.pdf</a:t>
            </a:r>
            <a:endParaRPr lang="pt-BR" dirty="0">
              <a:solidFill>
                <a:srgbClr val="FF0000"/>
              </a:solidFill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99809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63532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7304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5819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77662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são gerados dados com o celular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Link no meu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https://studio.edgeimpulse.com/public/298808/live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91959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88447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13859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3254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07115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4633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59452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23468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204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56868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70607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11530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Referencias</a:t>
            </a:r>
          </a:p>
          <a:p>
            <a:r>
              <a:rPr lang="pt-BR" dirty="0"/>
              <a:t>[1]</a:t>
            </a:r>
            <a:r>
              <a:rPr lang="pt-BR" baseline="0" dirty="0"/>
              <a:t> https://github.com/Mjrovai/UNIFEI-IESTI01-TinyML/blob/main/00_Curse_Folder/2_Applications_Deploy/Class_20/EI_Studio-Spectral_Analysis-Updated_March-23.pdf</a:t>
            </a:r>
          </a:p>
          <a:p>
            <a:r>
              <a:rPr lang="pt-BR" baseline="0" dirty="0"/>
              <a:t>[2] https://colab.research.google.com/github/Mjrovai/TinyML4D/blob/main/SciTinyM-2023/Edge_Impulse-Spectral_Analysis_Block/Edge_Impulse_Spectral_Analysis_Block_V3.ipynb#scrollTo=09cf0268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6342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04923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65279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16272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8894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011868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676063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76688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40334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703569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86706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61BF9-F54A-1B0F-EE69-B5551D502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DB39AAC-FDEB-3D1A-DDD4-25CE9357F3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5182E01-5367-476F-0ED9-DA19C84F07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E34AB70-7CEB-A581-5E5A-1DAEE5A72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1550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0BE52-DE05-5694-A691-017DC5958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32F6667-9234-132D-52FF-EDA2CD6EE8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180FC65-EC03-910B-EAEE-9F6A420E3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D30845-8209-8C5B-9D69-209AB0295E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774956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DE323-B388-AEB5-6259-3DB4792D1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84F0570-8145-7D7D-CA44-0169957C53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AA7BF6B-2C34-4D57-710B-243AF68BEB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7329F7F-634E-79DC-EA99-0E58B9FB46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204756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6514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olab.research.google.com/github/Mjrovai/TinyML4D/blob/main/SciTinyM-2023/Edge_Impulse-Spectral_Analysis_Block/Edge_Impulse_Spectral_Analysis_Block_V3.ipynb#scrollTo=09cf0268" TargetMode="External"/><Relationship Id="rId4" Type="http://schemas.openxmlformats.org/officeDocument/2006/relationships/hyperlink" Target="https://github.com/Mjrovai/UNIFEI-IESTI01-TinyML/blob/main/00_Curse_Folder/2_Applications_Deploy/Class_20/EI_Studio-Spectral_Analysis-Updated_March-23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Motion </a:t>
            </a:r>
            <a:r>
              <a:rPr lang="pt-BR" b="1" i="1" dirty="0" err="1"/>
              <a:t>Classification</a:t>
            </a:r>
            <a:endParaRPr lang="pt-BR" b="1" i="1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2" descr="Mockup Celular - iPhone Mockup | Maker Mockup">
            <a:extLst>
              <a:ext uri="{FF2B5EF4-FFF2-40B4-BE49-F238E27FC236}">
                <a16:creationId xmlns:a16="http://schemas.microsoft.com/office/drawing/2014/main" id="{FC87A0DC-550D-BB34-6B8D-21472B93880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942" y="1225197"/>
            <a:ext cx="285750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tebook Samsung Book 4GB, 15.6'', Intel Celeron, 500 GB, Windows 10 Home,  Cinza - Samsung Book - Magazine Luiza">
            <a:extLst>
              <a:ext uri="{FF2B5EF4-FFF2-40B4-BE49-F238E27FC236}">
                <a16:creationId xmlns:a16="http://schemas.microsoft.com/office/drawing/2014/main" id="{846ECC3C-0F71-81E5-1C69-59A8D9A2C0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584" y="1374422"/>
            <a:ext cx="2290939" cy="2290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lar monitora vacas para melhorar produtividade de leite - 12/05/2023 -  Tec - Folha">
            <a:extLst>
              <a:ext uri="{FF2B5EF4-FFF2-40B4-BE49-F238E27FC236}">
                <a16:creationId xmlns:a16="http://schemas.microsoft.com/office/drawing/2014/main" id="{219B56EB-C5FB-216B-A62B-12BD558A4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1504" y="3632200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EEB34E5E-7F0E-7162-8BAF-B92B4B06B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5675" y="1374422"/>
            <a:ext cx="2885204" cy="1921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240919DB-71EF-5F88-F569-C5D883B2B4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6344" y="4315001"/>
            <a:ext cx="3073257" cy="2120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parado no porto: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008" y="1939749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6382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sendo erguido:</a:t>
            </a:r>
          </a:p>
        </p:txBody>
      </p:sp>
      <p:pic>
        <p:nvPicPr>
          <p:cNvPr id="2050" name="Picture 2" descr="Free PSD blue cargo container on transparent background">
            <a:extLst>
              <a:ext uri="{FF2B5EF4-FFF2-40B4-BE49-F238E27FC236}">
                <a16:creationId xmlns:a16="http://schemas.microsoft.com/office/drawing/2014/main" id="{A98A15EA-A147-6CDF-C2F6-87AAFC6C4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430" y="1825978"/>
            <a:ext cx="4200525" cy="420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42657F2C-3A0E-77BB-E339-41D96ABE7E97}"/>
              </a:ext>
            </a:extLst>
          </p:cNvPr>
          <p:cNvSpPr txBox="1"/>
          <p:nvPr/>
        </p:nvSpPr>
        <p:spPr>
          <a:xfrm>
            <a:off x="2596445" y="6187441"/>
            <a:ext cx="6096000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z.</a:t>
            </a:r>
          </a:p>
        </p:txBody>
      </p:sp>
    </p:spTree>
    <p:extLst>
      <p:ext uri="{BB962C8B-B14F-4D97-AF65-F5344CB8AC3E}">
        <p14:creationId xmlns:p14="http://schemas.microsoft.com/office/powerpoint/2010/main" val="2879072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oceano:</a:t>
            </a:r>
          </a:p>
        </p:txBody>
      </p:sp>
      <p:pic>
        <p:nvPicPr>
          <p:cNvPr id="3074" name="Picture 2" descr="Free photo aerial view of cargo ship with cargo container on sea">
            <a:extLst>
              <a:ext uri="{FF2B5EF4-FFF2-40B4-BE49-F238E27FC236}">
                <a16:creationId xmlns:a16="http://schemas.microsoft.com/office/drawing/2014/main" id="{6D87BA9E-F12B-B77C-65AD-AFA156B87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3075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CAF6758-F677-FD03-7446-3A59B85054CD}"/>
              </a:ext>
            </a:extLst>
          </p:cNvPr>
          <p:cNvSpPr txBox="1"/>
          <p:nvPr/>
        </p:nvSpPr>
        <p:spPr>
          <a:xfrm>
            <a:off x="1580443" y="5961919"/>
            <a:ext cx="7699023" cy="407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Char char="•"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em várias direções devido às correntes marítimas.</a:t>
            </a:r>
          </a:p>
        </p:txBody>
      </p:sp>
    </p:spTree>
    <p:extLst>
      <p:ext uri="{BB962C8B-B14F-4D97-AF65-F5344CB8AC3E}">
        <p14:creationId xmlns:p14="http://schemas.microsoft.com/office/powerpoint/2010/main" val="3789364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caminhão: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63B75BA-F777-3A50-CB3A-A642F3CCAB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3197" y="1920109"/>
            <a:ext cx="3985605" cy="301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578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dado coletado por acelerômetro: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7DAF8C7-0817-CFEF-006D-3A402E043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079" y="2053471"/>
            <a:ext cx="5105842" cy="275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388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Aplicação: Classificação de 4 estados do container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</p:txBody>
      </p:sp>
    </p:spTree>
    <p:extLst>
      <p:ext uri="{BB962C8B-B14F-4D97-AF65-F5344CB8AC3E}">
        <p14:creationId xmlns:p14="http://schemas.microsoft.com/office/powerpoint/2010/main" val="4197704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Exemplo de 10 segundos de dados coletados por um acelerômetro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com frequência de leitura de 62.5 Hz, i.e. 62.5 amostras por segundo.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Que tipo de dado é este?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1" y="2668970"/>
            <a:ext cx="9711958" cy="2312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993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Série temporal: cada amostra tem correlação com as anteriores e posteriores.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Assim, por serem séries temporais, vamos processar janelas que capturem pelo menos um ciclo de movimento, por exemplo, 2 </a:t>
            </a:r>
            <a:r>
              <a:rPr lang="pt-BR" sz="1734">
                <a:ea typeface="Calibri" panose="020F0502020204030204" pitchFamily="34" charset="0"/>
                <a:cs typeface="Arial" panose="020B0604020202020204" pitchFamily="34" charset="0"/>
              </a:rPr>
              <a:t>segundos.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7004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330966" y="4099034"/>
            <a:ext cx="241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7030A0"/>
                </a:solidFill>
              </a:rPr>
              <a:t>375 atributos de entrada!</a:t>
            </a:r>
          </a:p>
        </p:txBody>
      </p:sp>
    </p:spTree>
    <p:extLst>
      <p:ext uri="{BB962C8B-B14F-4D97-AF65-F5344CB8AC3E}">
        <p14:creationId xmlns:p14="http://schemas.microsoft.com/office/powerpoint/2010/main" val="1463151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7030A0"/>
                </a:solidFill>
              </a:rPr>
              <a:t>Precisamos de uma rede complexa (e.g., LSTM) para processar todas os atributos de entrada e compreender cada janela.</a:t>
            </a:r>
            <a:endParaRPr lang="pt-BR" sz="24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1697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0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A consequência é que o modelo consome mais memória e pode não operar em tempo real.</a:t>
            </a:r>
          </a:p>
          <a:p>
            <a:pPr algn="ctr"/>
            <a:endParaRPr lang="pt-BR" sz="2400" b="1" i="1" dirty="0">
              <a:solidFill>
                <a:srgbClr val="0070C0"/>
              </a:solidFill>
            </a:endParaRPr>
          </a:p>
          <a:p>
            <a:pPr algn="ctr"/>
            <a:r>
              <a:rPr lang="pt-BR" sz="2400" b="1" i="1" dirty="0">
                <a:solidFill>
                  <a:srgbClr val="FF0000"/>
                </a:solidFill>
              </a:rPr>
              <a:t>O que podemos fazer?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44346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0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6558456" y="3830565"/>
            <a:ext cx="52656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Ao invés de termos uma rede muito complexa que faça a extração de atributos de forma automática, vamos</a:t>
            </a:r>
          </a:p>
          <a:p>
            <a:pPr algn="ctr"/>
            <a:r>
              <a:rPr lang="pt-BR" sz="2400" b="1" i="1" dirty="0" err="1">
                <a:solidFill>
                  <a:srgbClr val="0070C0"/>
                </a:solidFill>
              </a:rPr>
              <a:t>pré</a:t>
            </a:r>
            <a:r>
              <a:rPr lang="pt-BR" sz="2400" b="1" i="1" dirty="0">
                <a:solidFill>
                  <a:srgbClr val="0070C0"/>
                </a:solidFill>
              </a:rPr>
              <a:t>-processar os dados e extrair alguns atributos manualmente.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38645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1693" t="3836" r="5346" b="43789"/>
          <a:stretch/>
        </p:blipFill>
        <p:spPr>
          <a:xfrm>
            <a:off x="141890" y="1371600"/>
            <a:ext cx="10093567" cy="3200400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3864336" y="4998508"/>
            <a:ext cx="48697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pt-BR" sz="2400" b="1" i="1" dirty="0">
                <a:solidFill>
                  <a:srgbClr val="0070C0"/>
                </a:solidFill>
              </a:rPr>
              <a:t>Etapa do pré-processamento:</a:t>
            </a:r>
          </a:p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Calcular o valor RMS de cada um dos eixos.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90962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15" y="1081087"/>
            <a:ext cx="8343900" cy="469582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6400800" y="1943140"/>
            <a:ext cx="486972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2. Etapa do pré-processamento:</a:t>
            </a:r>
          </a:p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Calcular a FFT dos sinais do 3 eixos.</a:t>
            </a:r>
            <a:br>
              <a:rPr lang="pt-BR" sz="2400" b="1" i="1" dirty="0">
                <a:solidFill>
                  <a:srgbClr val="0070C0"/>
                </a:solidFill>
              </a:rPr>
            </a:br>
            <a:r>
              <a:rPr lang="pt-BR" sz="2400" b="1" i="1" dirty="0">
                <a:solidFill>
                  <a:srgbClr val="00B050"/>
                </a:solidFill>
              </a:rPr>
              <a:t>Usamos como atributos de entrada: 3 valores de pico e suas respectivas frequências para cada eixo.</a:t>
            </a:r>
          </a:p>
          <a:p>
            <a:pPr algn="ctr"/>
            <a:r>
              <a:rPr lang="pt-BR" sz="2400" b="1" i="1" dirty="0">
                <a:solidFill>
                  <a:srgbClr val="00B050"/>
                </a:solidFill>
              </a:rPr>
              <a:t>Totalizando 18 atributos.</a:t>
            </a:r>
            <a:endParaRPr lang="pt-BR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56689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54" y="1655704"/>
            <a:ext cx="7023975" cy="395299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7472855" y="2614765"/>
            <a:ext cx="43512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3. Etapa do pré-processamento: Densidade espectral de potência.</a:t>
            </a:r>
          </a:p>
          <a:p>
            <a:pPr algn="ctr"/>
            <a:r>
              <a:rPr lang="pt-BR" sz="24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Divide-se a largura de banda em 4 e calcula-se a densidade de potência para cada região. Assim, temos 4 regiões * 3 eixos = 12 atributos.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80766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372" r="1567" b="2679"/>
          <a:stretch/>
        </p:blipFill>
        <p:spPr>
          <a:xfrm>
            <a:off x="0" y="1072055"/>
            <a:ext cx="9733115" cy="50134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9222828" y="3860240"/>
            <a:ext cx="24436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Portanto, a rede neural terá 33 atributos de entrada.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02308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895" r="2323" b="14580"/>
          <a:stretch/>
        </p:blipFill>
        <p:spPr>
          <a:xfrm>
            <a:off x="0" y="1213945"/>
            <a:ext cx="10256726" cy="4556234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7517" y="4724582"/>
            <a:ext cx="1560786" cy="809115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8907517" y="4635653"/>
            <a:ext cx="282268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Caminhão</a:t>
            </a:r>
          </a:p>
        </p:txBody>
      </p:sp>
    </p:spTree>
    <p:extLst>
      <p:ext uri="{BB962C8B-B14F-4D97-AF65-F5344CB8AC3E}">
        <p14:creationId xmlns:p14="http://schemas.microsoft.com/office/powerpoint/2010/main" val="13816156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692" y="1860823"/>
            <a:ext cx="9803416" cy="2190915"/>
          </a:xfrm>
          <a:prstGeom prst="rect">
            <a:avLst/>
          </a:prstGeom>
        </p:spPr>
      </p:pic>
      <p:sp>
        <p:nvSpPr>
          <p:cNvPr id="6" name="Retângulo 5"/>
          <p:cNvSpPr/>
          <p:nvPr/>
        </p:nvSpPr>
        <p:spPr>
          <a:xfrm>
            <a:off x="2172804" y="4427792"/>
            <a:ext cx="7643191" cy="134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usar o Edge Impulse para criar essa aplicação.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Com ele, vamos desde a coleta de dados, passando pelo pré-processamento, até a inferência no dispositivo.</a:t>
            </a:r>
          </a:p>
        </p:txBody>
      </p:sp>
      <p:sp>
        <p:nvSpPr>
          <p:cNvPr id="8" name="Retângulo 7"/>
          <p:cNvSpPr/>
          <p:nvPr/>
        </p:nvSpPr>
        <p:spPr>
          <a:xfrm>
            <a:off x="3511330" y="6065695"/>
            <a:ext cx="4966138" cy="619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just">
              <a:lnSpc>
                <a:spcPct val="107000"/>
              </a:lnSpc>
              <a:spcAft>
                <a:spcPts val="533"/>
              </a:spcAft>
            </a:pP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OBS.: O Edge Impulse faz toda a análise espectral (i.e., o pré-processamento) de forma automática.</a:t>
            </a:r>
          </a:p>
        </p:txBody>
      </p:sp>
    </p:spTree>
    <p:extLst>
      <p:ext uri="{BB962C8B-B14F-4D97-AF65-F5344CB8AC3E}">
        <p14:creationId xmlns:p14="http://schemas.microsoft.com/office/powerpoint/2010/main" val="16034060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6565348" y="3718682"/>
            <a:ext cx="4966138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criar a base de dados no Edge Impulse com o acelerômetro do celular.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65" y="1436536"/>
            <a:ext cx="5618421" cy="4278463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5957" y="1436536"/>
            <a:ext cx="3171825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709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10" name="Grupo 9"/>
          <p:cNvGrpSpPr/>
          <p:nvPr/>
        </p:nvGrpSpPr>
        <p:grpSpPr>
          <a:xfrm>
            <a:off x="304800" y="2356626"/>
            <a:ext cx="11582400" cy="1830297"/>
            <a:chOff x="304800" y="2877817"/>
            <a:chExt cx="11582400" cy="1830297"/>
          </a:xfrm>
        </p:grpSpPr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4800" y="2877817"/>
              <a:ext cx="10494579" cy="1830297"/>
            </a:xfrm>
            <a:prstGeom prst="rect">
              <a:avLst/>
            </a:prstGeom>
          </p:spPr>
        </p:pic>
        <p:sp>
          <p:nvSpPr>
            <p:cNvPr id="6" name="CaixaDeTexto 5"/>
            <p:cNvSpPr txBox="1"/>
            <p:nvPr/>
          </p:nvSpPr>
          <p:spPr>
            <a:xfrm>
              <a:off x="9616965" y="3365936"/>
              <a:ext cx="2270235" cy="107721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Parado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Sendo erguido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Mar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Caminhão</a:t>
              </a:r>
            </a:p>
          </p:txBody>
        </p:sp>
      </p:grpSp>
      <p:sp>
        <p:nvSpPr>
          <p:cNvPr id="9" name="Retângulo 8"/>
          <p:cNvSpPr/>
          <p:nvPr/>
        </p:nvSpPr>
        <p:spPr>
          <a:xfrm>
            <a:off x="3192517" y="4584077"/>
            <a:ext cx="5295462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ctr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Na sequência projetaremos, treinaremos e testaremos o modelo.</a:t>
            </a:r>
          </a:p>
        </p:txBody>
      </p:sp>
    </p:spTree>
    <p:extLst>
      <p:ext uri="{BB962C8B-B14F-4D97-AF65-F5344CB8AC3E}">
        <p14:creationId xmlns:p14="http://schemas.microsoft.com/office/powerpoint/2010/main" val="20319880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18750" t="10580" r="2418" b="10290"/>
          <a:stretch/>
        </p:blipFill>
        <p:spPr>
          <a:xfrm>
            <a:off x="954157" y="1599871"/>
            <a:ext cx="8309113" cy="4691599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2206488" y="989584"/>
            <a:ext cx="5114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Passos para criação do classificador via Edge Impulse</a:t>
            </a:r>
          </a:p>
        </p:txBody>
      </p:sp>
    </p:spTree>
    <p:extLst>
      <p:ext uri="{BB962C8B-B14F-4D97-AF65-F5344CB8AC3E}">
        <p14:creationId xmlns:p14="http://schemas.microsoft.com/office/powerpoint/2010/main" val="1641497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4"/>
          <a:srcRect l="11087" t="2899" b="2174"/>
          <a:stretch/>
        </p:blipFill>
        <p:spPr>
          <a:xfrm>
            <a:off x="1729408" y="1386706"/>
            <a:ext cx="7478123" cy="4490988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2206488" y="989584"/>
            <a:ext cx="4873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1. Conectando o dispositivo para coleta dos dados</a:t>
            </a:r>
          </a:p>
        </p:txBody>
      </p:sp>
    </p:spTree>
    <p:extLst>
      <p:ext uri="{BB962C8B-B14F-4D97-AF65-F5344CB8AC3E}">
        <p14:creationId xmlns:p14="http://schemas.microsoft.com/office/powerpoint/2010/main" val="32942657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CaixaDeTexto 7"/>
          <p:cNvSpPr txBox="1"/>
          <p:nvPr/>
        </p:nvSpPr>
        <p:spPr>
          <a:xfrm>
            <a:off x="2206488" y="989584"/>
            <a:ext cx="2014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2. Coleta dos dados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3478" r="1685" b="3914"/>
          <a:stretch/>
        </p:blipFill>
        <p:spPr>
          <a:xfrm>
            <a:off x="1192696" y="1513993"/>
            <a:ext cx="8666921" cy="4638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483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457" t="13479" r="5598" b="6232"/>
          <a:stretch/>
        </p:blipFill>
        <p:spPr>
          <a:xfrm>
            <a:off x="1162877" y="1726317"/>
            <a:ext cx="8100391" cy="4306734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3. Criar um impulse</a:t>
            </a:r>
          </a:p>
        </p:txBody>
      </p:sp>
      <p:sp>
        <p:nvSpPr>
          <p:cNvPr id="8" name="CaixaDeTexto 7"/>
          <p:cNvSpPr txBox="1"/>
          <p:nvPr/>
        </p:nvSpPr>
        <p:spPr>
          <a:xfrm>
            <a:off x="7827922" y="5005528"/>
            <a:ext cx="2270235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Caminhão</a:t>
            </a:r>
          </a:p>
        </p:txBody>
      </p:sp>
    </p:spTree>
    <p:extLst>
      <p:ext uri="{BB962C8B-B14F-4D97-AF65-F5344CB8AC3E}">
        <p14:creationId xmlns:p14="http://schemas.microsoft.com/office/powerpoint/2010/main" val="22508192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t="2899" r="12282" b="5652"/>
          <a:stretch/>
        </p:blipFill>
        <p:spPr>
          <a:xfrm>
            <a:off x="1341782" y="1600541"/>
            <a:ext cx="7643191" cy="4482206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3238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4. Pré-processamento dos dados</a:t>
            </a:r>
          </a:p>
        </p:txBody>
      </p:sp>
    </p:spTree>
    <p:extLst>
      <p:ext uri="{BB962C8B-B14F-4D97-AF65-F5344CB8AC3E}">
        <p14:creationId xmlns:p14="http://schemas.microsoft.com/office/powerpoint/2010/main" val="28756214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148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5. Projetar um modelo, treiná-lo e avaliar o resultado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t="2754" r="11223" b="5362"/>
          <a:stretch/>
        </p:blipFill>
        <p:spPr>
          <a:xfrm>
            <a:off x="875022" y="1403408"/>
            <a:ext cx="8467761" cy="4929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3483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013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6. Avaliar a capacidade de generalização do modelo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2609" r="13180" b="5652"/>
          <a:stretch/>
        </p:blipFill>
        <p:spPr>
          <a:xfrm>
            <a:off x="1073426" y="1358916"/>
            <a:ext cx="8209722" cy="4935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6745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698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7. Converter o modelo, fazer o </a:t>
            </a:r>
            <a:r>
              <a:rPr lang="pt-BR" dirty="0" err="1"/>
              <a:t>deploy</a:t>
            </a:r>
            <a:r>
              <a:rPr lang="pt-BR" dirty="0"/>
              <a:t> e realizar inferências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63" y="2429247"/>
            <a:ext cx="3568522" cy="2405905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8785" y="2404563"/>
            <a:ext cx="2227215" cy="2455274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200" y="2285559"/>
            <a:ext cx="5689499" cy="269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5479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EC5E17-9C5B-F834-50C3-1134723EF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4F848A-34E6-1C1C-AED1-51DD66C1D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3A5285D-7A67-471D-2E36-2B08517654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B770A70B-B268-D8D4-8AE9-E112A4C91D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354EEB1-E944-E116-9EE9-653EFCB4E72F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F69231-2866-FF08-E524-556A4C805A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928" y="1358916"/>
            <a:ext cx="7575615" cy="5337013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64276B45-B639-0112-4833-6DB223B08125}"/>
              </a:ext>
            </a:extLst>
          </p:cNvPr>
          <p:cNvSpPr/>
          <p:nvPr/>
        </p:nvSpPr>
        <p:spPr>
          <a:xfrm>
            <a:off x="1270382" y="4477406"/>
            <a:ext cx="315310" cy="23122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C28F66-518D-0A9D-0DE3-F59BFD1E7042}"/>
              </a:ext>
            </a:extLst>
          </p:cNvPr>
          <p:cNvSpPr/>
          <p:nvPr/>
        </p:nvSpPr>
        <p:spPr>
          <a:xfrm>
            <a:off x="4281211" y="2820273"/>
            <a:ext cx="1481959" cy="7838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4284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2B3B50-641C-D39E-5D35-0E2C2E3B6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2FA6A6-CC6F-86A5-7700-8E6273742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239EB79-C393-5E15-891F-C0AE56E85D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E9DA7DB3-4A01-304C-C577-BB14A98B6A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53E708E-20B4-4655-47E7-F9A1DB0F6FB6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569EB4-95DE-4760-AA8E-06523C9C11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508" y="1358916"/>
            <a:ext cx="9387840" cy="47653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5FE6851-7214-3CC7-EB40-5618BF764637}"/>
              </a:ext>
            </a:extLst>
          </p:cNvPr>
          <p:cNvSpPr/>
          <p:nvPr/>
        </p:nvSpPr>
        <p:spPr>
          <a:xfrm>
            <a:off x="5133878" y="4227755"/>
            <a:ext cx="2504051" cy="4625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1796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DADA96-DA73-2CD2-1D6A-3ADC276E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F78C56-71B2-0D23-BB3C-017243F59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77EF25F-171D-8898-E9DD-63F407A7BB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50E8242-FC8C-4525-943B-2980C27619C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8FD4278-E860-C7D8-5F10-07B285CEDD0E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18F9CB-CE59-6D8F-A37E-EB555C6759AC}"/>
              </a:ext>
            </a:extLst>
          </p:cNvPr>
          <p:cNvSpPr/>
          <p:nvPr/>
        </p:nvSpPr>
        <p:spPr>
          <a:xfrm>
            <a:off x="5133878" y="4227755"/>
            <a:ext cx="2504051" cy="4625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4741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b="1" dirty="0">
                <a:ea typeface="Calibri" panose="020F0502020204030204" pitchFamily="34" charset="0"/>
                <a:cs typeface="Arial" panose="020B0604020202020204" pitchFamily="34" charset="0"/>
              </a:rPr>
              <a:t>Trabalho: Movendo uma cadeira de rodas com a cabeça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classificação de movimento para movimentação de uma cadeira de rodas com uso do movimento da cabeça, treinar pelo menos três movimentos no Edge Impulse.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05DE0C9-CC2B-9A66-2836-0B5BA9411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5390" y="3232009"/>
            <a:ext cx="7886460" cy="242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Spectral</a:t>
            </a:r>
            <a:r>
              <a:rPr lang="pt-BR" dirty="0"/>
              <a:t> </a:t>
            </a:r>
            <a:r>
              <a:rPr lang="pt-BR" dirty="0" err="1"/>
              <a:t>Analysis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1433313" cy="433041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000"/>
              <a:t>Referências</a:t>
            </a:r>
            <a:endParaRPr lang="pt-BR" sz="2000" dirty="0"/>
          </a:p>
          <a:p>
            <a:pPr marL="0" indent="0">
              <a:buNone/>
            </a:pPr>
            <a:r>
              <a:rPr lang="pt-BR" sz="2000" dirty="0"/>
              <a:t>[1] </a:t>
            </a:r>
            <a:r>
              <a:rPr lang="pt-BR" sz="2000" dirty="0">
                <a:hlinkClick r:id="rId4"/>
              </a:rPr>
              <a:t>https://github.com/Mjrovai/UNIFEI-IESTI01-TinyML/blob/main/00_Curse_Folder/2_Applications_Deploy/Class_20/EI_Studio-Spectral_Analysis-Updated_March-23.pdf</a:t>
            </a:r>
            <a:endParaRPr lang="pt-BR" sz="2000" dirty="0"/>
          </a:p>
          <a:p>
            <a:pPr marL="0" indent="0">
              <a:buNone/>
            </a:pPr>
            <a:r>
              <a:rPr lang="pt-BR" sz="2000" dirty="0"/>
              <a:t>[2] </a:t>
            </a:r>
            <a:r>
              <a:rPr lang="pt-BR" sz="2000" dirty="0">
                <a:hlinkClick r:id="rId5"/>
              </a:rPr>
              <a:t>https://colab.research.google.com/github/Mjrovai/TinyML4D/blob/main/SciTinyM-2023/Edge_Impulse-Spectral_Analysis_Block/Edge_Impulse_Spectral_Analysis_Block_V3.ipynb#scrollTo=09cf0268</a:t>
            </a:r>
            <a:endParaRPr lang="pt-BR" sz="2000" dirty="0"/>
          </a:p>
          <a:p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4232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15998</TotalTime>
  <Words>1025</Words>
  <Application>Microsoft Office PowerPoint</Application>
  <PresentationFormat>Widescreen</PresentationFormat>
  <Paragraphs>170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Edge Impulse</vt:lpstr>
      <vt:lpstr>Spectral Analysis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2398</cp:revision>
  <dcterms:created xsi:type="dcterms:W3CDTF">2020-01-20T13:50:05Z</dcterms:created>
  <dcterms:modified xsi:type="dcterms:W3CDTF">2025-05-23T11:35:53Z</dcterms:modified>
</cp:coreProperties>
</file>