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0"/>
  </p:notesMasterIdLst>
  <p:handoutMasterIdLst>
    <p:handoutMasterId r:id="rId21"/>
  </p:handoutMasterIdLst>
  <p:sldIdLst>
    <p:sldId id="256" r:id="rId3"/>
    <p:sldId id="583" r:id="rId4"/>
    <p:sldId id="591" r:id="rId5"/>
    <p:sldId id="586" r:id="rId6"/>
    <p:sldId id="587" r:id="rId7"/>
    <p:sldId id="588" r:id="rId8"/>
    <p:sldId id="589" r:id="rId9"/>
    <p:sldId id="590" r:id="rId10"/>
    <p:sldId id="585" r:id="rId11"/>
    <p:sldId id="592" r:id="rId12"/>
    <p:sldId id="593" r:id="rId13"/>
    <p:sldId id="594" r:id="rId14"/>
    <p:sldId id="595" r:id="rId15"/>
    <p:sldId id="596" r:id="rId16"/>
    <p:sldId id="597" r:id="rId17"/>
    <p:sldId id="598" r:id="rId18"/>
    <p:sldId id="584" r:id="rId1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82567" autoAdjust="0"/>
  </p:normalViewPr>
  <p:slideViewPr>
    <p:cSldViewPr snapToGrid="0">
      <p:cViewPr varScale="1">
        <p:scale>
          <a:sx n="96" d="100"/>
          <a:sy n="96" d="100"/>
        </p:scale>
        <p:origin x="1476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20/04/2025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jrovai/UNIFEI-IESTI01-TinyML-2022.1/blob/main/00_Curse_Folder/2_Applications_Deploy/Class_19/IESTI01_TinyML_class_19.pdf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github.com/Mjrovai/UNIFEI-IESTI01-TinyML-2022.1/blob/main/00_Curse_Folder/2_Applications_Deploy/Class_20/IESTI01_TinyML_class_20.pdf" TargetMode="Externa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>
                <a:solidFill>
                  <a:srgbClr val="FF0000"/>
                </a:solidFill>
                <a:hlinkClick r:id="rId3"/>
              </a:rPr>
              <a:t>https://github.com/Mjrovai/UNIFEI-IESTI01-TinyML-2022.1/blob/main/00_Curse_Folder/2_Applications_Deploy/Class_19/IESTI01_TinyML_class_19.pdf</a:t>
            </a:r>
            <a:endParaRPr lang="pt-BR" dirty="0" smtClean="0">
              <a:solidFill>
                <a:srgbClr val="FF0000"/>
              </a:solidFill>
            </a:endParaRPr>
          </a:p>
          <a:p>
            <a:r>
              <a:rPr lang="pt-BR" dirty="0" smtClean="0">
                <a:solidFill>
                  <a:srgbClr val="FF0000"/>
                </a:solidFill>
                <a:hlinkClick r:id="rId4"/>
              </a:rPr>
              <a:t>https://github.com/Mjrovai/UNIFEI-IESTI01-TinyML-2022.1/blob/main/00_Curse_Folder/2_Applications_Deploy/Class_20/IESTI01_TinyML_class_20.pdf</a:t>
            </a:r>
            <a:endParaRPr lang="pt-BR" dirty="0" smtClean="0">
              <a:solidFill>
                <a:srgbClr val="FF0000"/>
              </a:solidFill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60460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99809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63532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7304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58193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77662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 smtClean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Aqui são gerados dados com o celular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 smtClean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Link no meu </a:t>
            </a:r>
            <a:r>
              <a:rPr lang="pt-BR" sz="1200" dirty="0" err="1" smtClean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 smtClean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 smtClean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https://studio.edgeimpulse.com/public/298808/live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91959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88447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12718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98175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84103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18137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69510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02747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jp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Motion </a:t>
            </a:r>
            <a:r>
              <a:rPr lang="pt-BR" b="1" i="1" dirty="0" err="1"/>
              <a:t>Classification</a:t>
            </a:r>
            <a:endParaRPr lang="pt-BR" b="1" i="1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xmlns="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2" descr="Mockup Celular - iPhone Mockup | Maker Mockup">
            <a:extLst>
              <a:ext uri="{FF2B5EF4-FFF2-40B4-BE49-F238E27FC236}">
                <a16:creationId xmlns:a16="http://schemas.microsoft.com/office/drawing/2014/main" xmlns="" id="{FC87A0DC-550D-BB34-6B8D-21472B93880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942" y="1225197"/>
            <a:ext cx="2857500" cy="356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otebook Samsung Book 4GB, 15.6'', Intel Celeron, 500 GB, Windows 10 Home,  Cinza - Samsung Book - Magazine Luiza">
            <a:extLst>
              <a:ext uri="{FF2B5EF4-FFF2-40B4-BE49-F238E27FC236}">
                <a16:creationId xmlns:a16="http://schemas.microsoft.com/office/drawing/2014/main" xmlns="" id="{846ECC3C-0F71-81E5-1C69-59A8D9A2C0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3584" y="1374422"/>
            <a:ext cx="2290939" cy="2290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lar monitora vacas para melhorar produtividade de leite - 12/05/2023 -  Tec - Folha">
            <a:extLst>
              <a:ext uri="{FF2B5EF4-FFF2-40B4-BE49-F238E27FC236}">
                <a16:creationId xmlns:a16="http://schemas.microsoft.com/office/drawing/2014/main" xmlns="" id="{219B56EB-C5FB-216B-A62B-12BD558A49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1504" y="3632200"/>
            <a:ext cx="2619375" cy="174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xmlns="" id="{EEB34E5E-7F0E-7162-8BAF-B92B4B06BA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5675" y="1374422"/>
            <a:ext cx="2885204" cy="1921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xmlns="" id="{240919DB-71EF-5F88-F569-C5D883B2B48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56344" y="4315001"/>
            <a:ext cx="3073257" cy="2120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xmlns="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2141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0979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parado no porto: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xmlns="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6008" y="1939749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6382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sendo erguido:</a:t>
            </a:r>
          </a:p>
        </p:txBody>
      </p:sp>
      <p:pic>
        <p:nvPicPr>
          <p:cNvPr id="2050" name="Picture 2" descr="Free PSD blue cargo container on transparent background">
            <a:extLst>
              <a:ext uri="{FF2B5EF4-FFF2-40B4-BE49-F238E27FC236}">
                <a16:creationId xmlns:a16="http://schemas.microsoft.com/office/drawing/2014/main" xmlns="" id="{A98A15EA-A147-6CDF-C2F6-87AAFC6C4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1430" y="1825978"/>
            <a:ext cx="4200525" cy="4200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42657F2C-3A0E-77BB-E339-41D96ABE7E97}"/>
              </a:ext>
            </a:extLst>
          </p:cNvPr>
          <p:cNvSpPr txBox="1"/>
          <p:nvPr/>
        </p:nvSpPr>
        <p:spPr>
          <a:xfrm>
            <a:off x="2596445" y="6187441"/>
            <a:ext cx="6096000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z.</a:t>
            </a:r>
          </a:p>
        </p:txBody>
      </p:sp>
    </p:spTree>
    <p:extLst>
      <p:ext uri="{BB962C8B-B14F-4D97-AF65-F5344CB8AC3E}">
        <p14:creationId xmlns:p14="http://schemas.microsoft.com/office/powerpoint/2010/main" val="2879072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transportado no oceano:</a:t>
            </a:r>
          </a:p>
        </p:txBody>
      </p:sp>
      <p:pic>
        <p:nvPicPr>
          <p:cNvPr id="3074" name="Picture 2" descr="Free photo aerial view of cargo ship with cargo container on sea">
            <a:extLst>
              <a:ext uri="{FF2B5EF4-FFF2-40B4-BE49-F238E27FC236}">
                <a16:creationId xmlns:a16="http://schemas.microsoft.com/office/drawing/2014/main" xmlns="" id="{6D87BA9E-F12B-B77C-65AD-AFA156B879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3075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7CAF6758-F677-FD03-7446-3A59B85054CD}"/>
              </a:ext>
            </a:extLst>
          </p:cNvPr>
          <p:cNvSpPr txBox="1"/>
          <p:nvPr/>
        </p:nvSpPr>
        <p:spPr>
          <a:xfrm>
            <a:off x="1580443" y="5961919"/>
            <a:ext cx="7699023" cy="4070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  <a:buFont typeface="Arial" panose="020B0604020202020204" pitchFamily="34" charset="0"/>
              <a:buChar char="•"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em várias direções devido às correntes marítimas.</a:t>
            </a:r>
          </a:p>
        </p:txBody>
      </p:sp>
    </p:spTree>
    <p:extLst>
      <p:ext uri="{BB962C8B-B14F-4D97-AF65-F5344CB8AC3E}">
        <p14:creationId xmlns:p14="http://schemas.microsoft.com/office/powerpoint/2010/main" val="37893640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transportado no caminhão: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x.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C63B75BA-F777-3A50-CB3A-A642F3CCAB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3197" y="1920109"/>
            <a:ext cx="3985605" cy="3017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5783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dado coletado por acelerômetro: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x.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xmlns="" id="{C7DAF8C7-0817-CFEF-006D-3A402E0434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079" y="2053471"/>
            <a:ext cx="5105842" cy="275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0388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uma base de dados com uso do celular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Classificação de 4 estados do container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Parado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Sendo erguido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mar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caminhão</a:t>
            </a:r>
          </a:p>
        </p:txBody>
      </p:sp>
    </p:spTree>
    <p:extLst>
      <p:ext uri="{BB962C8B-B14F-4D97-AF65-F5344CB8AC3E}">
        <p14:creationId xmlns:p14="http://schemas.microsoft.com/office/powerpoint/2010/main" val="4197704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dado recebido com frequência de leitura de 62.5 Hz;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xmlns="" id="{41EE8F3B-F21B-EBDD-8836-71298D219C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044700"/>
            <a:ext cx="6429375" cy="297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9993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dado recebido com frequência de leitura de 62.5 Hz;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Tempo de janela de 2 segundos. Possibilidade de pegar pelo menos 2 ciclos completos.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2*62,5=125 dados por eixo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375 valores de entrada.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226A6266-4F96-A9EE-A327-C4A981C953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165" y="2344202"/>
            <a:ext cx="3132091" cy="1775614"/>
          </a:xfrm>
          <a:prstGeom prst="rect">
            <a:avLst/>
          </a:prstGeom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xmlns="" id="{CBE89270-4C86-1A06-BB71-909DD12DB6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8058" y="2238375"/>
            <a:ext cx="6429375" cy="2381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66483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dado recebido com frequência de leitura de 62.5 Hz;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375 valores de entrada.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Rede neural mais complexa.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convolucional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Custo energético mais alto para embarcado.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xmlns="" id="{07870545-4F2D-B338-1639-8D24A15221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0566" y="2238375"/>
            <a:ext cx="5416867" cy="2006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914586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dado recebido com frequência de leitura de 62.5 Hz;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Solução: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Pré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processamento dos dados.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Valores RMS das três curvas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3876BA1F-0314-9771-20B7-DAEE6955ED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1833" y="3055444"/>
            <a:ext cx="4943475" cy="1524000"/>
          </a:xfrm>
          <a:prstGeom prst="rect">
            <a:avLst/>
          </a:prstGeom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xmlns="" id="{CF338048-EB3D-C9A4-2D47-CD7735A5E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458" y="2904419"/>
            <a:ext cx="6429375" cy="2381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83669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dado recebido com frequência de leitura de 62.5 Hz;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Solução: Pré-processamento dos dados.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Calculo da FFT das curvas: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Pegar a frequência e a amplitude da fundamental mais duas harmônicas por eixo: 9 valores de amplitude e 9 frequências: 18 valores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xmlns="" id="{E34DDF80-3AF4-098B-D371-5E05913D72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4442" y="3530600"/>
            <a:ext cx="3676474" cy="2911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2625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dado recebido com frequência de leitura de 62.5 Hz;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Solução: Pré-processamento dos dados.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Calcular a densidade espectral de potência (PSD) : 4 regiões* 3 eixos= 12 valores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AA943D34-6194-3573-A1F3-15277F0951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7229" y="2440094"/>
            <a:ext cx="3827171" cy="3731492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xmlns="" id="{25B0EB0A-63CF-B662-F66B-F677CAAE52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2904874"/>
            <a:ext cx="5113867" cy="2614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12078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Para este exemplo ficamos com uma rede neural com: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33 entradas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Camadas densas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4 saídas:  Parado, sendo erguido, no mar, no caminhão.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90595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classificação de movimento para movimentação de uma cadeira de rodas com uso de movimento da cabeça, treinar pelo menos três movimentos no Edge Impulse.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xmlns="" id="{805DE0C9-CC2B-9A66-2836-0B5BA9411A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3929" y="3567797"/>
            <a:ext cx="7886460" cy="2426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15632</TotalTime>
  <Words>421</Words>
  <Application>Microsoft Office PowerPoint</Application>
  <PresentationFormat>Widescreen</PresentationFormat>
  <Paragraphs>118</Paragraphs>
  <Slides>17</Slides>
  <Notes>17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Tema do Office</vt:lpstr>
      <vt:lpstr>1_Tema do Office</vt:lpstr>
      <vt:lpstr>TP557 - Tópicos avançados em IoT e Machine Learning: 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Edge Impulse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2346</cp:revision>
  <dcterms:created xsi:type="dcterms:W3CDTF">2020-01-20T13:50:05Z</dcterms:created>
  <dcterms:modified xsi:type="dcterms:W3CDTF">2025-04-20T15:10:48Z</dcterms:modified>
</cp:coreProperties>
</file>