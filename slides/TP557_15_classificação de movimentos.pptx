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4"/>
  </p:notesMasterIdLst>
  <p:handoutMasterIdLst>
    <p:handoutMasterId r:id="rId55"/>
  </p:handoutMasterIdLst>
  <p:sldIdLst>
    <p:sldId id="256" r:id="rId3"/>
    <p:sldId id="583" r:id="rId4"/>
    <p:sldId id="591" r:id="rId5"/>
    <p:sldId id="635" r:id="rId6"/>
    <p:sldId id="586" r:id="rId7"/>
    <p:sldId id="587" r:id="rId8"/>
    <p:sldId id="588" r:id="rId9"/>
    <p:sldId id="589" r:id="rId10"/>
    <p:sldId id="590" r:id="rId11"/>
    <p:sldId id="585" r:id="rId12"/>
    <p:sldId id="592" r:id="rId13"/>
    <p:sldId id="599" r:id="rId14"/>
    <p:sldId id="636" r:id="rId15"/>
    <p:sldId id="637" r:id="rId16"/>
    <p:sldId id="601" r:id="rId17"/>
    <p:sldId id="604" r:id="rId18"/>
    <p:sldId id="606" r:id="rId19"/>
    <p:sldId id="638" r:id="rId20"/>
    <p:sldId id="603" r:id="rId21"/>
    <p:sldId id="639" r:id="rId22"/>
    <p:sldId id="608" r:id="rId23"/>
    <p:sldId id="610" r:id="rId24"/>
    <p:sldId id="611" r:id="rId25"/>
    <p:sldId id="616" r:id="rId26"/>
    <p:sldId id="614" r:id="rId27"/>
    <p:sldId id="613" r:id="rId28"/>
    <p:sldId id="615" r:id="rId29"/>
    <p:sldId id="617" r:id="rId30"/>
    <p:sldId id="621" r:id="rId31"/>
    <p:sldId id="622" r:id="rId32"/>
    <p:sldId id="618" r:id="rId33"/>
    <p:sldId id="623" r:id="rId34"/>
    <p:sldId id="624" r:id="rId35"/>
    <p:sldId id="625" r:id="rId36"/>
    <p:sldId id="627" r:id="rId37"/>
    <p:sldId id="628" r:id="rId38"/>
    <p:sldId id="629" r:id="rId39"/>
    <p:sldId id="630" r:id="rId40"/>
    <p:sldId id="631" r:id="rId41"/>
    <p:sldId id="632" r:id="rId42"/>
    <p:sldId id="633" r:id="rId43"/>
    <p:sldId id="634" r:id="rId44"/>
    <p:sldId id="584" r:id="rId45"/>
    <p:sldId id="626" r:id="rId46"/>
    <p:sldId id="640" r:id="rId47"/>
    <p:sldId id="641" r:id="rId48"/>
    <p:sldId id="642" r:id="rId49"/>
    <p:sldId id="643" r:id="rId50"/>
    <p:sldId id="644" r:id="rId51"/>
    <p:sldId id="645" r:id="rId52"/>
    <p:sldId id="646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4/06/2025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jrovai/UNIFEI-IESTI01-TinyML-2022.1/blob/main/00_Curse_Folder/2_Applications_Deploy/Class_19/IESTI01_TinyML_class_19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github.com/Mjrovai/UNIFEI-IESTI01-TinyML-2022.1/blob/main/00_Curse_Folder/2_Applications_Deploy/Class_20/IESTI01_TinyML_class_20.pdf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>
                <a:solidFill>
                  <a:srgbClr val="FF0000"/>
                </a:solidFill>
                <a:hlinkClick r:id="rId3"/>
              </a:rPr>
              <a:t>https://github.com/Mjrovai/UNIFEI-IESTI01-TinyML-2022.1/blob/main/00_Curse_Folder/2_Applications_Deploy/Class_19/IESTI01_TinyML_class_19.pdf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>
                <a:solidFill>
                  <a:srgbClr val="FF0000"/>
                </a:solidFill>
                <a:hlinkClick r:id="rId4"/>
              </a:rPr>
              <a:t>https://github.com/Mjrovai/UNIFEI-IESTI01-TinyML-2022.1/blob/main/00_Curse_Folder/2_Applications_Deploy/Class_20/IESTI01_TinyML_class_20.pdf</a:t>
            </a:r>
            <a:endParaRPr lang="pt-BR" dirty="0">
              <a:solidFill>
                <a:srgbClr val="FF0000"/>
              </a:solidFill>
            </a:endParaRP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9488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99809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6353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7304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8193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7766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são gerados dados com o celular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Link no meu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https://studio.edgeimpulse.com/public/298808/live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195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8844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3859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3901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Movimentos humanos (como caminhar, correr ou gestos) são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dinâmicos e sequenciais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Uma única amostra captura apenas um instante, sem revelar a evolução do movimento (e.g., aceleração inicial vs. desaceleração). Janelas temporais permitem analisar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tendências, periodicidades e transições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ao longo do tempo, essenciais para distinguir atividades similares.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2533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3254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07115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4633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91843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23468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EC1C89-D12E-6B27-77CC-4F8D73A7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E45E163-C3E8-9DE5-9F79-ED77B40D55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403A9879-36D8-9095-E28D-304CEEE97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Descreve a frequência com que valores extremos (outliers) ocorrem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medida da falta de simetria de uma determinada distribuição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07231E36-4744-6263-7124-870EEDCB5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64063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04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0607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11530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  <a:p>
            <a:r>
              <a:rPr lang="pt-BR" dirty="0"/>
              <a:t>[1]</a:t>
            </a:r>
            <a:r>
              <a:rPr lang="pt-BR" baseline="0" dirty="0"/>
              <a:t> https://github.com/Mjrovai/UNIFEI-IESTI01-TinyML/blob/main/00_Curse_Folder/2_Applications_Deploy/Class_20/EI_Studio-Spectral_Analysis-Updated_March-23.pdf</a:t>
            </a:r>
          </a:p>
          <a:p>
            <a:r>
              <a:rPr lang="pt-BR" baseline="0" dirty="0"/>
              <a:t>[2] https://colab.research.google.com/github/Mjrovai/TinyML4D/blob/main/SciTinyM-2023/Edge_Impulse-Spectral_Analysis_Block/Edge_Impulse_Spectral_Analysis_Block_V3.ipynb#scrollTo=09cf0268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634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04923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65279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16272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889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0118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7606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6688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40334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70356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8670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F61BF9-F54A-1B0F-EE69-B5551D502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DB39AAC-FDEB-3D1A-DDD4-25CE9357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5182E01-5367-476F-0ED9-DA19C84F0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DE34AB70-7CEB-A581-5E5A-1DAEE5A72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1550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A0BE52-DE05-5694-A691-017DC595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632F6667-9234-132D-52FF-EDA2CD6EE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9180FC65-EC03-910B-EAEE-9F6A420E3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9D30845-8209-8C5B-9D69-209AB0295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77495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CDE323-B388-AEB5-6259-3DB4792D1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84F0570-8145-7D7D-CA44-0169957C5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AA7BF6B-2C34-4D57-710B-243AF68BE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7329F7F-634E-79DC-EA99-0E58B9FB4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20475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B0C4F9-7444-8C63-0E30-55D9AA661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0861F10B-4431-2118-1C7B-CDDEC29AE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7A15B89-E3FC-4F5C-1A44-F8EEB2C8E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59FA2686-1ECE-8D62-EF3F-72F740A70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774997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C8A004-0DFD-6481-C4DC-442D5CC8B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8CBA664-10B1-21B2-5C8D-97A62CB07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09E81696-55D4-B940-4A05-E60FAD1D4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28EBD7C-869A-9BA1-9AC6-A18588FC3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8943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6535583-97C1-719E-B6FC-2E5AFC13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D1F9D3A-11BF-15EC-0CF5-07B608B6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623D173-520F-2F8B-D9E8-86FC4231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BE8CD7DF-17BE-A0B0-D5A2-7353E8D9B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80243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D258B-8B22-09AF-3398-87F2403C9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7CB1A2C-B5E1-2D2F-CDB2-88782CF1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B9C85CE0-950A-411C-1311-7EAEE9BD93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3C6A19D-93F4-016F-54C0-E6927B2244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28753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5411131-0911-C6FC-56CC-DD615878B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FD81BC7-6E87-7368-97A2-858E9E212E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AD5F9DF-443A-D887-8EFF-04037260B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67B980C-58AD-592F-6BF9-3F8893D23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8844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65142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07D811-7C28-E8AA-024C-AC9527739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9457F321-82EF-D184-FECE-0A2585EF5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8F22A65-E078-CE74-D622-483551866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6B90C21E-B00E-15C1-E075-E113AD497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22504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C3A3083-D3E5-5D66-9B5E-F887480B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468A5EE9-B4BA-16A4-CD48-5A034E479A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C3D4E637-8D52-7A5D-A14C-B31D637A3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B6344F4E-919F-8AC8-5C98-DC15DF446E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729300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132C2A-541B-1FAA-5341-082085D9B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BA798B3-DA5E-7F2E-2AF3-A609DC46B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E492A223-311C-0BBD-5574-A959E0CB0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460653B-7219-9A49-8D69-090E71611B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385008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53DC64B-0EDD-C27D-3CA5-86927665A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A38B545-ED16-5AD3-30F3-CCF484896A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59E52EA-C649-0003-9CFE-BDAE27775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041B816D-10C6-C3CC-79CA-F6D50BC8FE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670496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2D174F0-259E-36CA-B31F-7DD99DA17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8295BB5A-F3DF-1E1F-77A0-12E0A99AE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2E9239C3-3E42-3EC3-52D6-2AFC8D14F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E43F356-05AC-C3A4-2BF2-6F275A741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9234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9C2725-3C7D-534A-781E-C4E802715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70FA960-E1C1-3A02-AA79-ECBED0F0A7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9511C66A-C52D-7F1D-1959-12ADB89C7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91EA73E-838E-8A89-B9F2-368CF255E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396152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9549C2E-1E74-8ABE-CE3D-152B6AC54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6AD732D-B589-BD59-4869-9EA84DADA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ADFE21AE-4D9D-3FFF-6A17-E6729D776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E8847690-3AB2-40F7-8459-F3D82AECBB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649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04/06/2025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ocs.edgeimpulse.com/docs/edge-impulse-studio/processing-blocks/spectral-features" TargetMode="External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.png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Mjrovai/TinyML4D/blob/main/SciTinyM-2023/Edge_Impulse-Spectral_Analysis_Block/Edge_Impulse_Spectral_Analysis_Block_V3.ipynb#scrollTo=09cf0268" TargetMode="External"/><Relationship Id="rId4" Type="http://schemas.openxmlformats.org/officeDocument/2006/relationships/hyperlink" Target="https://github.com/Mjrovai/UNIFEI-IESTI01-TinyML/blob/main/00_Curse_Folder/2_Applications_Deploy/Class_20/EI_Studio-Spectral_Analysis-Updated_March-23.pdf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docs.edgeimpulse.com/docs/edge-impulse-studio/processing-blocks/spectral-features" TargetMode="External"/><Relationship Id="rId4" Type="http://schemas.openxmlformats.org/officeDocument/2006/relationships/image" Target="../media/image1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Motion </a:t>
            </a:r>
            <a:r>
              <a:rPr lang="pt-BR" b="1" i="1" dirty="0" err="1"/>
              <a:t>Classification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5" name="Picture 2" descr="Mockup Celular - iPhone Mockup | Maker Mockup">
            <a:extLst>
              <a:ext uri="{FF2B5EF4-FFF2-40B4-BE49-F238E27FC236}">
                <a16:creationId xmlns:a16="http://schemas.microsoft.com/office/drawing/2014/main" xmlns="" id="{FC87A0DC-550D-BB34-6B8D-21472B93880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942" y="1225197"/>
            <a:ext cx="285750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book Samsung Book 4GB, 15.6'', Intel Celeron, 500 GB, Windows 10 Home,  Cinza - Samsung Book - Magazine Luiza">
            <a:extLst>
              <a:ext uri="{FF2B5EF4-FFF2-40B4-BE49-F238E27FC236}">
                <a16:creationId xmlns:a16="http://schemas.microsoft.com/office/drawing/2014/main" xmlns="" id="{846ECC3C-0F71-81E5-1C69-59A8D9A2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584" y="1374422"/>
            <a:ext cx="2290939" cy="2290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lar monitora vacas para melhorar produtividade de leite - 12/05/2023 -  Tec - Folha">
            <a:extLst>
              <a:ext uri="{FF2B5EF4-FFF2-40B4-BE49-F238E27FC236}">
                <a16:creationId xmlns:a16="http://schemas.microsoft.com/office/drawing/2014/main" xmlns="" id="{219B56EB-C5FB-216B-A62B-12BD558A4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1504" y="3632200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EEB34E5E-7F0E-7162-8BAF-B92B4B06B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5675" y="1374422"/>
            <a:ext cx="2885204" cy="1921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240919DB-71EF-5F88-F569-C5D883B2B4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2424" y="3901058"/>
            <a:ext cx="3073257" cy="2120547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3584442" y="1550557"/>
            <a:ext cx="17560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Rastreamento e queda </a:t>
            </a:r>
            <a:r>
              <a:rPr lang="pt-BR" dirty="0"/>
              <a:t>de dispositivos</a:t>
            </a:r>
          </a:p>
        </p:txBody>
      </p:sp>
      <p:sp>
        <p:nvSpPr>
          <p:cNvPr id="9" name="CaixaDeTexto 8"/>
          <p:cNvSpPr txBox="1"/>
          <p:nvPr/>
        </p:nvSpPr>
        <p:spPr>
          <a:xfrm>
            <a:off x="10420879" y="2012222"/>
            <a:ext cx="1212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Controle logístico</a:t>
            </a:r>
          </a:p>
        </p:txBody>
      </p:sp>
      <p:sp>
        <p:nvSpPr>
          <p:cNvPr id="13" name="CaixaDeTexto 12"/>
          <p:cNvSpPr txBox="1"/>
          <p:nvPr/>
        </p:nvSpPr>
        <p:spPr>
          <a:xfrm>
            <a:off x="10420879" y="4315001"/>
            <a:ext cx="1771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Monitoramento de animais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3349110" y="6021605"/>
            <a:ext cx="4579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Exercícios físicos, </a:t>
            </a:r>
            <a:r>
              <a:rPr lang="pt-BR" dirty="0" smtClean="0"/>
              <a:t>movimentar </a:t>
            </a:r>
            <a:r>
              <a:rPr lang="pt-BR" dirty="0"/>
              <a:t>de cadeira de </a:t>
            </a:r>
            <a:r>
              <a:rPr lang="pt-BR" dirty="0" smtClean="0"/>
              <a:t>rodas, interação com máquinas, etc.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 usando um acelerômetro.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 usando um acelerômetro.</a:t>
            </a:r>
          </a:p>
        </p:txBody>
      </p:sp>
      <p:pic>
        <p:nvPicPr>
          <p:cNvPr id="5" name="Picture 2" descr="im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6" t="18390" r="4421" b="28079"/>
          <a:stretch/>
        </p:blipFill>
        <p:spPr bwMode="auto">
          <a:xfrm>
            <a:off x="1467283" y="3017006"/>
            <a:ext cx="8269971" cy="270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tângulo 5"/>
          <p:cNvSpPr/>
          <p:nvPr/>
        </p:nvSpPr>
        <p:spPr>
          <a:xfrm>
            <a:off x="2310443" y="2125165"/>
            <a:ext cx="75636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Um acelerômetro é um dispositivo usado para medir </a:t>
            </a:r>
            <a:r>
              <a:rPr lang="pt-BR" b="1" i="1" dirty="0">
                <a:solidFill>
                  <a:srgbClr val="FF0000"/>
                </a:solidFill>
              </a:rPr>
              <a:t>forças de aceleração</a:t>
            </a:r>
            <a:r>
              <a:rPr lang="pt-BR" dirty="0"/>
              <a:t>. </a:t>
            </a:r>
          </a:p>
          <a:p>
            <a:r>
              <a:rPr lang="pt-BR" dirty="0"/>
              <a:t>O </a:t>
            </a:r>
            <a:r>
              <a:rPr lang="pt-BR" b="1" dirty="0"/>
              <a:t>LSM9DS1</a:t>
            </a:r>
            <a:r>
              <a:rPr lang="pt-BR" dirty="0"/>
              <a:t> mede a aceleração em 3 eixos. </a:t>
            </a:r>
          </a:p>
        </p:txBody>
      </p:sp>
    </p:spTree>
    <p:extLst>
      <p:ext uri="{BB962C8B-B14F-4D97-AF65-F5344CB8AC3E}">
        <p14:creationId xmlns:p14="http://schemas.microsoft.com/office/powerpoint/2010/main" val="16652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parado no porto: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008" y="1939749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em nenhum eixo.</a:t>
            </a:r>
          </a:p>
        </p:txBody>
      </p:sp>
    </p:spTree>
    <p:extLst>
      <p:ext uri="{BB962C8B-B14F-4D97-AF65-F5344CB8AC3E}">
        <p14:creationId xmlns:p14="http://schemas.microsoft.com/office/powerpoint/2010/main" val="231638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sendo erguido:</a:t>
            </a:r>
          </a:p>
        </p:txBody>
      </p:sp>
      <p:pic>
        <p:nvPicPr>
          <p:cNvPr id="2050" name="Picture 2" descr="Free PSD blue cargo container on transparent background">
            <a:extLst>
              <a:ext uri="{FF2B5EF4-FFF2-40B4-BE49-F238E27FC236}">
                <a16:creationId xmlns:a16="http://schemas.microsoft.com/office/drawing/2014/main" xmlns="" id="{A98A15EA-A147-6CDF-C2F6-87AAFC6C4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430" y="1825978"/>
            <a:ext cx="4200525" cy="420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2657F2C-3A0E-77BB-E339-41D96ABE7E97}"/>
              </a:ext>
            </a:extLst>
          </p:cNvPr>
          <p:cNvSpPr txBox="1"/>
          <p:nvPr/>
        </p:nvSpPr>
        <p:spPr>
          <a:xfrm>
            <a:off x="2596445" y="6187441"/>
            <a:ext cx="6096000" cy="375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z.</a:t>
            </a:r>
          </a:p>
        </p:txBody>
      </p:sp>
    </p:spTree>
    <p:extLst>
      <p:ext uri="{BB962C8B-B14F-4D97-AF65-F5344CB8AC3E}">
        <p14:creationId xmlns:p14="http://schemas.microsoft.com/office/powerpoint/2010/main" val="2879072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oceano:</a:t>
            </a:r>
          </a:p>
        </p:txBody>
      </p:sp>
      <p:pic>
        <p:nvPicPr>
          <p:cNvPr id="3074" name="Picture 2" descr="Free photo aerial view of cargo ship with cargo container on sea">
            <a:extLst>
              <a:ext uri="{FF2B5EF4-FFF2-40B4-BE49-F238E27FC236}">
                <a16:creationId xmlns:a16="http://schemas.microsoft.com/office/drawing/2014/main" xmlns="" id="{6D87BA9E-F12B-B77C-65AD-AFA156B8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3075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CAF6758-F677-FD03-7446-3A59B85054CD}"/>
              </a:ext>
            </a:extLst>
          </p:cNvPr>
          <p:cNvSpPr txBox="1"/>
          <p:nvPr/>
        </p:nvSpPr>
        <p:spPr>
          <a:xfrm>
            <a:off x="1580443" y="5961919"/>
            <a:ext cx="7699023" cy="736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Char char="•"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em várias direções (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x,y,z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 devido às correntes marítimas.</a:t>
            </a:r>
          </a:p>
        </p:txBody>
      </p:sp>
    </p:spTree>
    <p:extLst>
      <p:ext uri="{BB962C8B-B14F-4D97-AF65-F5344CB8AC3E}">
        <p14:creationId xmlns:p14="http://schemas.microsoft.com/office/powerpoint/2010/main" val="378936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transportado no caminhão: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C63B75BA-F777-3A50-CB3A-A642F3CCAB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3197" y="1920109"/>
            <a:ext cx="3985605" cy="30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57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amostra coletada com acelerômetro: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no eixo x.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xmlns="" id="{C7DAF8C7-0817-CFEF-006D-3A402E0434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079" y="2053471"/>
            <a:ext cx="5105842" cy="275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38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Aplicação: Classificação de 4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</p:txBody>
      </p:sp>
    </p:spTree>
    <p:extLst>
      <p:ext uri="{BB962C8B-B14F-4D97-AF65-F5344CB8AC3E}">
        <p14:creationId xmlns:p14="http://schemas.microsoft.com/office/powerpoint/2010/main" val="4197704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Exemplo de 10 segundos de dados coletados por um acelerômetro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com frequência de leitura de 62.5 Hz, i.e. 62.5 amostras por segundo.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dado é este?</a:t>
            </a:r>
            <a:endParaRPr lang="pt-BR" sz="1800" b="1" dirty="0">
              <a:solidFill>
                <a:srgbClr val="00B050"/>
              </a:solidFill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889" y="2678909"/>
            <a:ext cx="10703505" cy="254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993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Série temporal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: cada amostra tem </a:t>
            </a:r>
            <a:r>
              <a:rPr lang="pt-BR" sz="1734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correlação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com as </a:t>
            </a:r>
            <a:r>
              <a:rPr lang="pt-BR" sz="1734" b="1" i="1" dirty="0">
                <a:solidFill>
                  <a:srgbClr val="00B0F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anteriores e posteriores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Assim, por serem séries temporais, vamos </a:t>
            </a:r>
            <a:r>
              <a:rPr lang="pt-BR" sz="2000" b="1" i="1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processar janelas que capturem pelo </a:t>
            </a:r>
            <a:r>
              <a:rPr lang="pt-BR" sz="2000" b="1" i="1" dirty="0" smtClean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um ou dois ciclos </a:t>
            </a:r>
            <a:r>
              <a:rPr lang="pt-BR" sz="2000" b="1" i="1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de movimento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, por exemplo, 2 segundos.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700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Que tipo de rede devemos usar?</a:t>
            </a:r>
            <a:endParaRPr lang="pt-BR" sz="1734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61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330419"/>
          </a:xfrm>
        </p:spPr>
        <p:txBody>
          <a:bodyPr>
            <a:noAutofit/>
          </a:bodyPr>
          <a:lstStyle/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Redes com memória, para que elas se lembrem do passado!</a:t>
            </a:r>
          </a:p>
          <a:p>
            <a:pPr marL="438158" indent="-285750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Redes baseadas em camadas do tipo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Long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Short-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Term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Memory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(LSTM) e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Gated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Recurrent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1600" dirty="0" err="1">
                <a:ea typeface="Calibri" panose="020F0502020204030204" pitchFamily="34" charset="0"/>
                <a:cs typeface="Arial" panose="020B0604020202020204" pitchFamily="34" charset="0"/>
              </a:rPr>
              <a:t>Units</a:t>
            </a: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 (GRU), por exemplo.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103" y="2323388"/>
            <a:ext cx="9206398" cy="2414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393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330966" y="4099034"/>
            <a:ext cx="24121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375 atributos de entrada!</a:t>
            </a:r>
          </a:p>
        </p:txBody>
      </p:sp>
    </p:spTree>
    <p:extLst>
      <p:ext uri="{BB962C8B-B14F-4D97-AF65-F5344CB8AC3E}">
        <p14:creationId xmlns:p14="http://schemas.microsoft.com/office/powerpoint/2010/main" val="1463151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78827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7030A0"/>
                </a:solidFill>
              </a:rPr>
              <a:t>Precisamos de uma rede complexa (e.g., LSTM) para processar todos os atributos de entrada e </a:t>
            </a:r>
            <a:r>
              <a:rPr lang="pt-BR" sz="2400" b="1" i="1" dirty="0">
                <a:solidFill>
                  <a:schemeClr val="accent6"/>
                </a:solidFill>
              </a:rPr>
              <a:t>compreender os dados de cada janela</a:t>
            </a:r>
            <a:r>
              <a:rPr lang="pt-BR" sz="2400" b="1" i="1" dirty="0">
                <a:solidFill>
                  <a:srgbClr val="7030A0"/>
                </a:solidFill>
              </a:rPr>
              <a:t>.</a:t>
            </a:r>
            <a:endParaRPr lang="pt-BR" sz="2400" b="1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169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l="1037" t="1338"/>
          <a:stretch/>
        </p:blipFill>
        <p:spPr>
          <a:xfrm>
            <a:off x="0" y="1333707"/>
            <a:ext cx="10279117" cy="464687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7078717" y="3657145"/>
            <a:ext cx="386255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 consequência é que o modelo consome mais memória e pode não operar em tempo real.</a:t>
            </a:r>
          </a:p>
          <a:p>
            <a:pPr algn="ctr"/>
            <a:endParaRPr lang="pt-BR" sz="2400" b="1" i="1" dirty="0">
              <a:solidFill>
                <a:srgbClr val="0070C0"/>
              </a:solidFill>
            </a:endParaRPr>
          </a:p>
          <a:p>
            <a:pPr algn="ctr"/>
            <a:r>
              <a:rPr lang="pt-BR" sz="2400" b="1" i="1" dirty="0">
                <a:solidFill>
                  <a:srgbClr val="FF0000"/>
                </a:solidFill>
              </a:rPr>
              <a:t>O que podemos fazer?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434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7612164" y="2376438"/>
            <a:ext cx="43985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Ao invés de termos uma rede muito complexa que faça a </a:t>
            </a:r>
            <a:r>
              <a:rPr lang="pt-BR" sz="2400" b="1" i="1" dirty="0">
                <a:solidFill>
                  <a:srgbClr val="FF0000"/>
                </a:solidFill>
              </a:rPr>
              <a:t>extração de atributos de forma automática</a:t>
            </a:r>
            <a:r>
              <a:rPr lang="pt-BR" sz="2400" b="1" i="1" dirty="0">
                <a:solidFill>
                  <a:srgbClr val="0070C0"/>
                </a:solidFill>
              </a:rPr>
              <a:t>, vamos</a:t>
            </a:r>
          </a:p>
          <a:p>
            <a:pPr algn="ctr"/>
            <a:r>
              <a:rPr lang="pt-BR" sz="2400" b="1" i="1" dirty="0" err="1">
                <a:solidFill>
                  <a:srgbClr val="0070C0"/>
                </a:solidFill>
              </a:rPr>
              <a:t>pré</a:t>
            </a:r>
            <a:r>
              <a:rPr lang="pt-BR" sz="2400" b="1" i="1" dirty="0">
                <a:solidFill>
                  <a:srgbClr val="0070C0"/>
                </a:solidFill>
              </a:rPr>
              <a:t>-processar os dados e </a:t>
            </a:r>
            <a:r>
              <a:rPr lang="pt-BR" sz="2400" b="1" i="1" dirty="0">
                <a:solidFill>
                  <a:srgbClr val="7030A0"/>
                </a:solidFill>
              </a:rPr>
              <a:t>extrair alguns atributos manualmente</a:t>
            </a:r>
            <a:r>
              <a:rPr lang="pt-BR" sz="2400" b="1" i="1" dirty="0">
                <a:solidFill>
                  <a:srgbClr val="0070C0"/>
                </a:solidFill>
              </a:rPr>
              <a:t>.</a:t>
            </a:r>
            <a:endParaRPr lang="pt-BR" sz="2400" dirty="0">
              <a:solidFill>
                <a:srgbClr val="FF0000"/>
              </a:solidFill>
            </a:endParaRPr>
          </a:p>
        </p:txBody>
      </p:sp>
      <p:pic>
        <p:nvPicPr>
          <p:cNvPr id="1028" name="Picture 4" descr="deep learning - What does end-to-end training mean? - Artificial  Intelligence Stack Exchang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" y="1501016"/>
            <a:ext cx="7610938" cy="40591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2562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7686565" y="3884411"/>
            <a:ext cx="3906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Etapa do pré-processamento usando o bloco “</a:t>
            </a:r>
            <a:r>
              <a:rPr lang="pt-BR" sz="2400" b="1" i="1" dirty="0" err="1">
                <a:solidFill>
                  <a:srgbClr val="0070C0"/>
                </a:solidFill>
              </a:rPr>
              <a:t>spectral</a:t>
            </a:r>
            <a:r>
              <a:rPr lang="pt-BR" sz="2400" b="1" i="1" dirty="0">
                <a:solidFill>
                  <a:srgbClr val="0070C0"/>
                </a:solidFill>
              </a:rPr>
              <a:t> </a:t>
            </a:r>
            <a:r>
              <a:rPr lang="pt-BR" sz="2400" b="1" i="1" dirty="0" err="1" smtClean="0">
                <a:solidFill>
                  <a:srgbClr val="0070C0"/>
                </a:solidFill>
              </a:rPr>
              <a:t>features</a:t>
            </a:r>
            <a:r>
              <a:rPr lang="pt-BR" sz="2400" b="1" i="1" smtClean="0">
                <a:solidFill>
                  <a:srgbClr val="0070C0"/>
                </a:solidFill>
              </a:rPr>
              <a:t>*”</a:t>
            </a:r>
            <a:endParaRPr lang="pt-BR" sz="2400" b="1" i="1" dirty="0">
              <a:solidFill>
                <a:srgbClr val="0070C0"/>
              </a:solidFill>
            </a:endParaRPr>
          </a:p>
        </p:txBody>
      </p:sp>
      <p:pic>
        <p:nvPicPr>
          <p:cNvPr id="5" name="Imagem 3">
            <a:extLst>
              <a:ext uri="{FF2B5EF4-FFF2-40B4-BE49-F238E27FC236}">
                <a16:creationId xmlns:a16="http://schemas.microsoft.com/office/drawing/2014/main" xmlns="" id="{9EE6FB7D-5479-EDE4-4185-EB57802F9A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0" t="65608" r="47753" b="14571"/>
          <a:stretch>
            <a:fillRect/>
          </a:stretch>
        </p:blipFill>
        <p:spPr>
          <a:xfrm>
            <a:off x="1229710" y="4231268"/>
            <a:ext cx="4399503" cy="1156138"/>
          </a:xfrm>
          <a:prstGeom prst="rect">
            <a:avLst/>
          </a:prstGeom>
        </p:spPr>
      </p:pic>
      <p:pic>
        <p:nvPicPr>
          <p:cNvPr id="9" name="Imagem 5">
            <a:extLst>
              <a:ext uri="{FF2B5EF4-FFF2-40B4-BE49-F238E27FC236}">
                <a16:creationId xmlns:a16="http://schemas.microsoft.com/office/drawing/2014/main" xmlns="" id="{EC627ECC-A86A-11B8-F8A6-9342084E7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0" y="1469988"/>
            <a:ext cx="9206398" cy="24144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FB2BAE9-26A9-ABA3-F88B-98F2C95AA654}"/>
              </a:ext>
            </a:extLst>
          </p:cNvPr>
          <p:cNvSpPr txBox="1"/>
          <p:nvPr/>
        </p:nvSpPr>
        <p:spPr>
          <a:xfrm>
            <a:off x="3312753" y="1665227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 [s]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xmlns="" id="{3133F25D-38B2-E8A2-1C04-FC7DDE8C3517}"/>
              </a:ext>
            </a:extLst>
          </p:cNvPr>
          <p:cNvCxnSpPr/>
          <p:nvPr/>
        </p:nvCxnSpPr>
        <p:spPr>
          <a:xfrm flipH="1">
            <a:off x="2427890" y="2995448"/>
            <a:ext cx="567558" cy="11666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xmlns="" id="{4813F063-32D2-A789-E262-8642FC3417C2}"/>
              </a:ext>
            </a:extLst>
          </p:cNvPr>
          <p:cNvSpPr/>
          <p:nvPr/>
        </p:nvSpPr>
        <p:spPr>
          <a:xfrm>
            <a:off x="3972910" y="4231268"/>
            <a:ext cx="1082566" cy="107034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xmlns="" id="{1AC56DF9-06F7-885F-6835-06A221D53E73}"/>
              </a:ext>
            </a:extLst>
          </p:cNvPr>
          <p:cNvSpPr txBox="1"/>
          <p:nvPr/>
        </p:nvSpPr>
        <p:spPr>
          <a:xfrm>
            <a:off x="2427890" y="634568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 smtClean="0"/>
              <a:t>*</a:t>
            </a:r>
            <a:r>
              <a:rPr lang="pt-BR" sz="1200" dirty="0" smtClean="0">
                <a:hlinkClick r:id="rId6"/>
              </a:rPr>
              <a:t>https</a:t>
            </a:r>
            <a:r>
              <a:rPr lang="pt-BR" sz="1200" dirty="0">
                <a:hlinkClick r:id="rId6"/>
              </a:rPr>
              <a:t>://docs.edgeimpulse.com/docs/edge-impulse-studio/processing-blocks/spectral-features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839096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C33C3D9-E1E0-104E-97E4-48B383F95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2A4651-E5A2-79EF-A583-7E930C9CF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2D516248-A18E-E930-9EE0-A83ECCA056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4B25509-DC20-A3DE-289A-C485916C85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9A5DAC06-C9C7-83C9-6EEB-7B7A802661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B1BA8130-FE2B-4688-0751-0DD3C18C2DE1}"/>
              </a:ext>
            </a:extLst>
          </p:cNvPr>
          <p:cNvSpPr txBox="1"/>
          <p:nvPr/>
        </p:nvSpPr>
        <p:spPr>
          <a:xfrm>
            <a:off x="318945" y="4084108"/>
            <a:ext cx="6220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Filtra-se os sinais dos 3 eixos,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Calcula-se o valor RMS, </a:t>
            </a:r>
            <a:r>
              <a:rPr lang="en-US" sz="2400" b="1" i="1" dirty="0">
                <a:solidFill>
                  <a:schemeClr val="accent6"/>
                </a:solidFill>
              </a:rPr>
              <a:t>Skewness</a:t>
            </a:r>
            <a:r>
              <a:rPr lang="pt-BR" sz="2400" b="1" i="1" dirty="0">
                <a:solidFill>
                  <a:schemeClr val="accent6"/>
                </a:solidFill>
              </a:rPr>
              <a:t> e </a:t>
            </a:r>
            <a:r>
              <a:rPr lang="pt-BR" sz="2400" b="1" i="1" dirty="0" err="1">
                <a:solidFill>
                  <a:schemeClr val="accent6"/>
                </a:solidFill>
              </a:rPr>
              <a:t>Kurtosis</a:t>
            </a:r>
            <a:r>
              <a:rPr lang="pt-BR" sz="2400" b="1" i="1" dirty="0">
                <a:solidFill>
                  <a:schemeClr val="accent6"/>
                </a:solidFill>
              </a:rPr>
              <a:t> de cada um dos eixos (</a:t>
            </a:r>
            <a:r>
              <a:rPr lang="pt-BR" sz="2400" b="1" i="1" dirty="0" err="1">
                <a:solidFill>
                  <a:schemeClr val="accent6"/>
                </a:solidFill>
              </a:rPr>
              <a:t>x,y</a:t>
            </a:r>
            <a:r>
              <a:rPr lang="pt-BR" sz="2400" b="1" i="1" dirty="0">
                <a:solidFill>
                  <a:schemeClr val="accent6"/>
                </a:solidFill>
              </a:rPr>
              <a:t> e z).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89AB520F-AC7B-3171-8C59-30015A4E3E2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32" t="11081"/>
          <a:stretch>
            <a:fillRect/>
          </a:stretch>
        </p:blipFill>
        <p:spPr>
          <a:xfrm>
            <a:off x="6756651" y="4637653"/>
            <a:ext cx="3478806" cy="7217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9F605CE6-5919-00D6-E817-1219F766F07D}"/>
              </a:ext>
            </a:extLst>
          </p:cNvPr>
          <p:cNvSpPr txBox="1"/>
          <p:nvPr/>
        </p:nvSpPr>
        <p:spPr>
          <a:xfrm>
            <a:off x="10412513" y="4453440"/>
            <a:ext cx="18025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Descreve a frequência com que valores extremos (outliers) ocorrem</a:t>
            </a:r>
            <a:endParaRPr lang="pt-BR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C570B3C7-E9D3-4144-8680-788F24B0C004}"/>
              </a:ext>
            </a:extLst>
          </p:cNvPr>
          <p:cNvSpPr txBox="1"/>
          <p:nvPr/>
        </p:nvSpPr>
        <p:spPr>
          <a:xfrm>
            <a:off x="10401061" y="3530600"/>
            <a:ext cx="18025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Estimativa do desvio padrão</a:t>
            </a:r>
            <a:endParaRPr lang="pt-BR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8A64D0FF-029A-60BD-5A96-133E5118E7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0096" y="5359363"/>
            <a:ext cx="2354938" cy="7424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D9F38FF2-78D3-07F0-F673-2FD981898417}"/>
              </a:ext>
            </a:extLst>
          </p:cNvPr>
          <p:cNvSpPr txBox="1"/>
          <p:nvPr/>
        </p:nvSpPr>
        <p:spPr>
          <a:xfrm>
            <a:off x="10412513" y="5407399"/>
            <a:ext cx="16795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1200" b="0" i="0">
                <a:effectLst/>
              </a:defRPr>
            </a:lvl1pPr>
          </a:lstStyle>
          <a:p>
            <a:r>
              <a:rPr lang="pt-BR" dirty="0"/>
              <a:t>Mede a falta de simetria de uma distribuição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EC1D33C8-159D-A195-E520-9AB996254E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7600" y="2135152"/>
            <a:ext cx="392386" cy="58141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23E4691A-6B00-5D95-93C4-05F305EA9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8289" y="2203108"/>
            <a:ext cx="1261242" cy="58141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xmlns="" id="{0D70845E-8753-B00F-0F11-0C746FDCF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9474" y="2745990"/>
            <a:ext cx="2985559" cy="4650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F1AFBF9A-476A-83F2-60E6-FC1AA34A5C22}"/>
              </a:ext>
            </a:extLst>
          </p:cNvPr>
          <p:cNvSpPr txBox="1"/>
          <p:nvPr/>
        </p:nvSpPr>
        <p:spPr>
          <a:xfrm>
            <a:off x="2273277" y="5730564"/>
            <a:ext cx="2622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 de 9 features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692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rcRect b="43919"/>
          <a:stretch>
            <a:fillRect/>
          </a:stretch>
        </p:blipFill>
        <p:spPr>
          <a:xfrm>
            <a:off x="111015" y="1081087"/>
            <a:ext cx="8343900" cy="26334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C0D8EDFF-D55C-5CB9-6450-777121412E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3323" y="4370437"/>
            <a:ext cx="3818512" cy="46503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xmlns="" id="{9F4E21CF-AD65-A0E3-81B4-481B99A498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01" t="54163" r="3794" b="28334"/>
          <a:stretch>
            <a:fillRect/>
          </a:stretch>
        </p:blipFill>
        <p:spPr bwMode="auto">
          <a:xfrm>
            <a:off x="480316" y="4006316"/>
            <a:ext cx="3913007" cy="1886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xmlns="" id="{6FEC3B41-7355-71C0-A033-8F58E527F5CC}"/>
              </a:ext>
            </a:extLst>
          </p:cNvPr>
          <p:cNvCxnSpPr/>
          <p:nvPr/>
        </p:nvCxnSpPr>
        <p:spPr>
          <a:xfrm>
            <a:off x="2415799" y="3714532"/>
            <a:ext cx="0" cy="4475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B837291F-F4E8-9F91-9E7C-C2B04DBBB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7847" y="1816398"/>
            <a:ext cx="1289270" cy="581411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5566185" y="1940932"/>
            <a:ext cx="614549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r>
              <a:rPr lang="pt-BR" sz="2400" b="1" i="1" dirty="0">
                <a:solidFill>
                  <a:srgbClr val="0070C0"/>
                </a:solidFill>
              </a:rPr>
              <a:t>Calcular a FFT dos sinais do 3 eixos para extrair as frequências dos sinais.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Aplica-se FFT à </a:t>
            </a:r>
            <a:r>
              <a:rPr lang="pt-BR" sz="2400" b="1" i="1" dirty="0" err="1">
                <a:solidFill>
                  <a:schemeClr val="accent6"/>
                </a:solidFill>
              </a:rPr>
              <a:t>subframes</a:t>
            </a:r>
            <a:r>
              <a:rPr lang="pt-BR" sz="2400" b="1" i="1" dirty="0">
                <a:solidFill>
                  <a:schemeClr val="accent6"/>
                </a:solidFill>
              </a:rPr>
              <a:t> da janela,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Descarta-se a parte espelhada da FFT, os </a:t>
            </a:r>
            <a:r>
              <a:rPr lang="pt-BR" sz="2400" b="1" i="1" dirty="0" err="1">
                <a:solidFill>
                  <a:schemeClr val="accent6"/>
                </a:solidFill>
              </a:rPr>
              <a:t>bins</a:t>
            </a:r>
            <a:r>
              <a:rPr lang="pt-BR" sz="2400" b="1" i="1" dirty="0">
                <a:solidFill>
                  <a:schemeClr val="accent6"/>
                </a:solidFill>
              </a:rPr>
              <a:t> acima da frequência de corte do filtro e o bin representando a parte DC (média do sinal),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Aplica log na base 10 a cada bin,</a:t>
            </a:r>
            <a:endParaRPr lang="pt-BR" sz="2400" b="1" i="1" dirty="0">
              <a:solidFill>
                <a:srgbClr val="0070C0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b="1" i="1" dirty="0">
                <a:solidFill>
                  <a:schemeClr val="accent6"/>
                </a:solidFill>
              </a:rPr>
              <a:t>Escolhe-se o bin com maior valor entre dos frames.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E6571301-AB41-57CA-D5BE-7CC1F9819E20}"/>
              </a:ext>
            </a:extLst>
          </p:cNvPr>
          <p:cNvSpPr txBox="1"/>
          <p:nvPr/>
        </p:nvSpPr>
        <p:spPr>
          <a:xfrm>
            <a:off x="1989561" y="6027003"/>
            <a:ext cx="66493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i="1" dirty="0" smtClean="0">
                <a:solidFill>
                  <a:srgbClr val="00B050"/>
                </a:solidFill>
              </a:rPr>
              <a:t>Com uma FFT de 16 pontos e um filtro com corte em 15.625 Hz, temos um total </a:t>
            </a:r>
            <a:r>
              <a:rPr lang="pt-BR" sz="2400" b="1" i="1" dirty="0">
                <a:solidFill>
                  <a:srgbClr val="00B050"/>
                </a:solidFill>
              </a:rPr>
              <a:t>de 12 features</a:t>
            </a:r>
            <a:endParaRPr lang="pt-BR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6689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xmlns="" id="{8C640C58-7CA5-1B1F-C7E9-736BACD90B0C}"/>
              </a:ext>
            </a:extLst>
          </p:cNvPr>
          <p:cNvSpPr/>
          <p:nvPr/>
        </p:nvSpPr>
        <p:spPr>
          <a:xfrm>
            <a:off x="3300249" y="4241778"/>
            <a:ext cx="1082566" cy="107034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374CF9BA-FC25-6068-28AB-913EFDDE2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2924" y="3327400"/>
            <a:ext cx="4298731" cy="29788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FC7BF99-EC4C-8208-EFF5-A045BF924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5414" y="3140443"/>
            <a:ext cx="1203262" cy="504895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5061535" y="4176786"/>
            <a:ext cx="325820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ao invés de 375 a rede neural terá 21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2308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7162028" y="3632200"/>
            <a:ext cx="4649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7030A0"/>
                </a:solidFill>
              </a:rPr>
              <a:t>A janela de 2 [s] desliza de 80 [</a:t>
            </a:r>
            <a:r>
              <a:rPr lang="pt-BR" sz="2400" b="1" dirty="0" err="1">
                <a:solidFill>
                  <a:srgbClr val="7030A0"/>
                </a:solidFill>
              </a:rPr>
              <a:t>ms</a:t>
            </a:r>
            <a:r>
              <a:rPr lang="pt-BR" sz="2400" b="1" dirty="0">
                <a:solidFill>
                  <a:srgbClr val="7030A0"/>
                </a:solidFill>
              </a:rPr>
              <a:t>].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xmlns="" id="{5D14AA95-5BDA-85C1-3DDD-E461EF672E97}"/>
              </a:ext>
            </a:extLst>
          </p:cNvPr>
          <p:cNvSpPr/>
          <p:nvPr/>
        </p:nvSpPr>
        <p:spPr>
          <a:xfrm>
            <a:off x="3521382" y="4487917"/>
            <a:ext cx="1166232" cy="12249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4E0CCBA9-4A33-C71D-3F0A-C33E106D5F8B}"/>
              </a:ext>
            </a:extLst>
          </p:cNvPr>
          <p:cNvSpPr/>
          <p:nvPr/>
        </p:nvSpPr>
        <p:spPr>
          <a:xfrm>
            <a:off x="5128363" y="4296359"/>
            <a:ext cx="1418897" cy="40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>
                <a:ln>
                  <a:solidFill>
                    <a:schemeClr val="bg1"/>
                  </a:solidFill>
                </a:ln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 features</a:t>
            </a:r>
            <a:endParaRPr lang="en-US" sz="1600" b="1" dirty="0">
              <a:ln>
                <a:solidFill>
                  <a:schemeClr val="bg1"/>
                </a:solidFill>
              </a:ln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F31A0B1F-3402-995C-026F-A62D18311D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210" y="4737720"/>
            <a:ext cx="850990" cy="9751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CF834E90-82B0-4C1B-DD15-AB1A76BE6802}"/>
              </a:ext>
            </a:extLst>
          </p:cNvPr>
          <p:cNvSpPr txBox="1"/>
          <p:nvPr/>
        </p:nvSpPr>
        <p:spPr>
          <a:xfrm>
            <a:off x="5332018" y="4701189"/>
            <a:ext cx="88492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RMS</a:t>
            </a:r>
          </a:p>
          <a:p>
            <a:r>
              <a:rPr lang="pt-BR" sz="1400" dirty="0" err="1"/>
              <a:t>Skewness</a:t>
            </a:r>
            <a:endParaRPr lang="pt-BR" sz="1400" dirty="0"/>
          </a:p>
          <a:p>
            <a:r>
              <a:rPr lang="pt-BR" sz="1400" dirty="0" err="1"/>
              <a:t>Kurtosis</a:t>
            </a:r>
            <a:endParaRPr lang="pt-BR" sz="1400" dirty="0"/>
          </a:p>
          <a:p>
            <a:r>
              <a:rPr lang="pt-BR" sz="1400" dirty="0"/>
              <a:t>FFT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81615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692" y="1860823"/>
            <a:ext cx="9803416" cy="2190915"/>
          </a:xfrm>
          <a:prstGeom prst="rect">
            <a:avLst/>
          </a:prstGeom>
        </p:spPr>
      </p:pic>
      <p:sp>
        <p:nvSpPr>
          <p:cNvPr id="6" name="Retângulo 5"/>
          <p:cNvSpPr/>
          <p:nvPr/>
        </p:nvSpPr>
        <p:spPr>
          <a:xfrm>
            <a:off x="2172804" y="4427792"/>
            <a:ext cx="7643191" cy="134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usar o Edge Impulse para criar essa aplicação.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4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 ele, vamos desde a coleta de dados, passando pelo pré-processamento, até a inferência no dispositivo.</a:t>
            </a:r>
          </a:p>
        </p:txBody>
      </p:sp>
      <p:sp>
        <p:nvSpPr>
          <p:cNvPr id="8" name="Retângulo 7"/>
          <p:cNvSpPr/>
          <p:nvPr/>
        </p:nvSpPr>
        <p:spPr>
          <a:xfrm>
            <a:off x="3511330" y="6065695"/>
            <a:ext cx="4966138" cy="619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just">
              <a:lnSpc>
                <a:spcPct val="107000"/>
              </a:lnSpc>
              <a:spcAft>
                <a:spcPts val="533"/>
              </a:spcAft>
            </a:pPr>
            <a:r>
              <a:rPr lang="pt-BR" sz="1600" dirty="0">
                <a:ea typeface="Calibri" panose="020F0502020204030204" pitchFamily="34" charset="0"/>
                <a:cs typeface="Arial" panose="020B0604020202020204" pitchFamily="34" charset="0"/>
              </a:rPr>
              <a:t>OBS.: O Edge Impulse faz toda a análise espectral (i.e., o pré-processamento) de forma automática.</a:t>
            </a:r>
          </a:p>
        </p:txBody>
      </p:sp>
    </p:spTree>
    <p:extLst>
      <p:ext uri="{BB962C8B-B14F-4D97-AF65-F5344CB8AC3E}">
        <p14:creationId xmlns:p14="http://schemas.microsoft.com/office/powerpoint/2010/main" val="16034060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6565348" y="3718682"/>
            <a:ext cx="4966138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Vamos criar a base de dados no Edge Impulse com o acelerômetro do celular.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65" y="1436536"/>
            <a:ext cx="5618421" cy="427846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5957" y="1436536"/>
            <a:ext cx="3171825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70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0" name="Grupo 9"/>
          <p:cNvGrpSpPr/>
          <p:nvPr/>
        </p:nvGrpSpPr>
        <p:grpSpPr>
          <a:xfrm>
            <a:off x="304800" y="2356626"/>
            <a:ext cx="11582400" cy="1830297"/>
            <a:chOff x="304800" y="2877817"/>
            <a:chExt cx="11582400" cy="1830297"/>
          </a:xfrm>
        </p:grpSpPr>
        <p:pic>
          <p:nvPicPr>
            <p:cNvPr id="4" name="Imagem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800" y="2877817"/>
              <a:ext cx="10494579" cy="1830297"/>
            </a:xfrm>
            <a:prstGeom prst="rect">
              <a:avLst/>
            </a:prstGeom>
          </p:spPr>
        </p:pic>
        <p:sp>
          <p:nvSpPr>
            <p:cNvPr id="6" name="CaixaDeTexto 5"/>
            <p:cNvSpPr txBox="1"/>
            <p:nvPr/>
          </p:nvSpPr>
          <p:spPr>
            <a:xfrm>
              <a:off x="9616965" y="3365936"/>
              <a:ext cx="2270235" cy="107721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Parado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Sendo erguido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Mar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600" b="1" dirty="0"/>
                <a:t>Caminhão</a:t>
              </a:r>
            </a:p>
          </p:txBody>
        </p:sp>
      </p:grpSp>
      <p:sp>
        <p:nvSpPr>
          <p:cNvPr id="9" name="Retângulo 8"/>
          <p:cNvSpPr/>
          <p:nvPr/>
        </p:nvSpPr>
        <p:spPr>
          <a:xfrm>
            <a:off x="3192517" y="4584077"/>
            <a:ext cx="5295462" cy="14754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8" algn="ctr">
              <a:lnSpc>
                <a:spcPct val="107000"/>
              </a:lnSpc>
              <a:spcAft>
                <a:spcPts val="533"/>
              </a:spcAft>
            </a:pP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Na </a:t>
            </a:r>
            <a:r>
              <a:rPr lang="pt-BR" sz="2800" b="1" i="1" dirty="0" smtClean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sequência, </a:t>
            </a:r>
            <a:r>
              <a:rPr lang="pt-BR" sz="28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projetaremos, treinaremos e testaremos o modelo.</a:t>
            </a: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xmlns="" id="{4E0CCBA9-4A33-C71D-3F0A-C33E106D5F8B}"/>
              </a:ext>
            </a:extLst>
          </p:cNvPr>
          <p:cNvSpPr/>
          <p:nvPr/>
        </p:nvSpPr>
        <p:spPr>
          <a:xfrm>
            <a:off x="304800" y="2439915"/>
            <a:ext cx="1418897" cy="4048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b="1" dirty="0">
                <a:ln>
                  <a:solidFill>
                    <a:schemeClr val="bg1"/>
                  </a:solidFill>
                </a:ln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21 features</a:t>
            </a:r>
            <a:endParaRPr lang="en-US" sz="1600" b="1" dirty="0">
              <a:ln>
                <a:solidFill>
                  <a:schemeClr val="bg1"/>
                </a:solidFill>
              </a:ln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xmlns="" id="{CF834E90-82B0-4C1B-DD15-AB1A76BE6802}"/>
              </a:ext>
            </a:extLst>
          </p:cNvPr>
          <p:cNvSpPr txBox="1"/>
          <p:nvPr/>
        </p:nvSpPr>
        <p:spPr>
          <a:xfrm>
            <a:off x="508455" y="2844745"/>
            <a:ext cx="884922" cy="95410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pt-BR" sz="1400" dirty="0"/>
              <a:t>RMS</a:t>
            </a:r>
          </a:p>
          <a:p>
            <a:r>
              <a:rPr lang="pt-BR" sz="1400" dirty="0" err="1"/>
              <a:t>Skewness</a:t>
            </a:r>
            <a:endParaRPr lang="pt-BR" sz="1400" dirty="0"/>
          </a:p>
          <a:p>
            <a:r>
              <a:rPr lang="pt-BR" sz="1400" dirty="0" err="1"/>
              <a:t>Kurtosis</a:t>
            </a:r>
            <a:endParaRPr lang="pt-BR" sz="1400" dirty="0"/>
          </a:p>
          <a:p>
            <a:r>
              <a:rPr lang="pt-BR" sz="1400" dirty="0"/>
              <a:t>FFT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319880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18750" t="10580" r="2418" b="10290"/>
          <a:stretch/>
        </p:blipFill>
        <p:spPr>
          <a:xfrm>
            <a:off x="954157" y="1599871"/>
            <a:ext cx="8309113" cy="4691599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2206488" y="989584"/>
            <a:ext cx="5114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Passos para criação do classificador via Edge Impulse</a:t>
            </a:r>
          </a:p>
        </p:txBody>
      </p:sp>
    </p:spTree>
    <p:extLst>
      <p:ext uri="{BB962C8B-B14F-4D97-AF65-F5344CB8AC3E}">
        <p14:creationId xmlns:p14="http://schemas.microsoft.com/office/powerpoint/2010/main" val="164149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4"/>
          <a:srcRect l="11087" t="2899" b="2174"/>
          <a:stretch/>
        </p:blipFill>
        <p:spPr>
          <a:xfrm>
            <a:off x="1729408" y="1386706"/>
            <a:ext cx="7478123" cy="4490988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2206488" y="989584"/>
            <a:ext cx="4873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1. Conectando o dispositivo para coleta dos dados</a:t>
            </a:r>
          </a:p>
        </p:txBody>
      </p:sp>
    </p:spTree>
    <p:extLst>
      <p:ext uri="{BB962C8B-B14F-4D97-AF65-F5344CB8AC3E}">
        <p14:creationId xmlns:p14="http://schemas.microsoft.com/office/powerpoint/2010/main" val="3294265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CaixaDeTexto 7"/>
          <p:cNvSpPr txBox="1"/>
          <p:nvPr/>
        </p:nvSpPr>
        <p:spPr>
          <a:xfrm>
            <a:off x="2206488" y="989584"/>
            <a:ext cx="2014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2. Coleta dos dados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3478" r="1685" b="3914"/>
          <a:stretch/>
        </p:blipFill>
        <p:spPr>
          <a:xfrm>
            <a:off x="1192696" y="1513993"/>
            <a:ext cx="8666921" cy="463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48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457" t="13479" r="5598" b="6232"/>
          <a:stretch/>
        </p:blipFill>
        <p:spPr>
          <a:xfrm>
            <a:off x="1162877" y="1726317"/>
            <a:ext cx="8100391" cy="4306734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201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3. Criar um impulse</a:t>
            </a:r>
          </a:p>
        </p:txBody>
      </p:sp>
      <p:sp>
        <p:nvSpPr>
          <p:cNvPr id="8" name="CaixaDeTexto 7"/>
          <p:cNvSpPr txBox="1"/>
          <p:nvPr/>
        </p:nvSpPr>
        <p:spPr>
          <a:xfrm>
            <a:off x="7827922" y="5005528"/>
            <a:ext cx="2270235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200" b="1" dirty="0"/>
              <a:t>Caminhão</a:t>
            </a:r>
          </a:p>
        </p:txBody>
      </p:sp>
      <p:sp>
        <p:nvSpPr>
          <p:cNvPr id="9" name="Rectangle: Rounded Corners 4">
            <a:extLst>
              <a:ext uri="{FF2B5EF4-FFF2-40B4-BE49-F238E27FC236}">
                <a16:creationId xmlns:a16="http://schemas.microsoft.com/office/drawing/2014/main" xmlns="" id="{8C640C58-7CA5-1B1F-C7E9-736BACD90B0C}"/>
              </a:ext>
            </a:extLst>
          </p:cNvPr>
          <p:cNvSpPr/>
          <p:nvPr/>
        </p:nvSpPr>
        <p:spPr>
          <a:xfrm>
            <a:off x="3804746" y="4962704"/>
            <a:ext cx="1082566" cy="1070347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/>
              <a:t>Spectral</a:t>
            </a:r>
            <a:endParaRPr lang="pt-BR" dirty="0"/>
          </a:p>
          <a:p>
            <a:pPr algn="ctr"/>
            <a:r>
              <a:rPr lang="pt-BR" dirty="0"/>
              <a:t>features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192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t="2899" r="12282" b="5652"/>
          <a:stretch/>
        </p:blipFill>
        <p:spPr>
          <a:xfrm>
            <a:off x="1341782" y="1600541"/>
            <a:ext cx="7643191" cy="4482206"/>
          </a:xfrm>
          <a:prstGeom prst="rect">
            <a:avLst/>
          </a:prstGeom>
        </p:spPr>
      </p:pic>
      <p:sp>
        <p:nvSpPr>
          <p:cNvPr id="6" name="CaixaDeTexto 5"/>
          <p:cNvSpPr txBox="1"/>
          <p:nvPr/>
        </p:nvSpPr>
        <p:spPr>
          <a:xfrm>
            <a:off x="2206488" y="989584"/>
            <a:ext cx="323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4. Pré-processamento dos dados</a:t>
            </a:r>
          </a:p>
        </p:txBody>
      </p:sp>
    </p:spTree>
    <p:extLst>
      <p:ext uri="{BB962C8B-B14F-4D97-AF65-F5344CB8AC3E}">
        <p14:creationId xmlns:p14="http://schemas.microsoft.com/office/powerpoint/2010/main" val="2875621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148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5. Projetar um modelo, treiná-lo e avaliar o resultado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t="2754" r="11223" b="5362"/>
          <a:stretch/>
        </p:blipFill>
        <p:spPr>
          <a:xfrm>
            <a:off x="875022" y="1403408"/>
            <a:ext cx="8467761" cy="4929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3483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013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6. Avaliar a capacidade de generalização do modelo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4"/>
          <a:srcRect l="978" t="2609" r="13180" b="5652"/>
          <a:stretch/>
        </p:blipFill>
        <p:spPr>
          <a:xfrm>
            <a:off x="1073426" y="1358916"/>
            <a:ext cx="8209722" cy="493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674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/>
          <p:cNvSpPr txBox="1"/>
          <p:nvPr/>
        </p:nvSpPr>
        <p:spPr>
          <a:xfrm>
            <a:off x="2206488" y="989584"/>
            <a:ext cx="5698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7. Converter o modelo, fazer o </a:t>
            </a:r>
            <a:r>
              <a:rPr lang="pt-BR" dirty="0" err="1"/>
              <a:t>deploy</a:t>
            </a:r>
            <a:r>
              <a:rPr lang="pt-BR" dirty="0"/>
              <a:t> e realizar inferências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63" y="2429247"/>
            <a:ext cx="3568522" cy="2405905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785" y="2404563"/>
            <a:ext cx="2227215" cy="245527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9200" y="2285559"/>
            <a:ext cx="5689499" cy="269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5479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FCEC5E17-9C5B-F834-50C3-1134723E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4F848A-34E6-1C1C-AED1-51DD66C1D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3A5285D-7A67-471D-2E36-2B08517654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770A70B-B268-D8D4-8AE9-E112A4C91D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D354EEB1-E944-E116-9EE9-653EFCB4E72F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F69231-2866-FF08-E524-556A4C805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8928" y="1358916"/>
            <a:ext cx="7575615" cy="533701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xmlns="" id="{64276B45-B639-0112-4833-6DB223B08125}"/>
              </a:ext>
            </a:extLst>
          </p:cNvPr>
          <p:cNvSpPr/>
          <p:nvPr/>
        </p:nvSpPr>
        <p:spPr>
          <a:xfrm>
            <a:off x="1270382" y="4477406"/>
            <a:ext cx="315310" cy="23122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01C28F66-518D-0A9D-0DE3-F59BFD1E7042}"/>
              </a:ext>
            </a:extLst>
          </p:cNvPr>
          <p:cNvSpPr/>
          <p:nvPr/>
        </p:nvSpPr>
        <p:spPr>
          <a:xfrm>
            <a:off x="4281211" y="2820273"/>
            <a:ext cx="1481959" cy="7838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428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3C2B3B50-641C-D39E-5D35-0E2C2E3B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A2FA6A6-CC6F-86A5-7700-8E6273742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239EB79-C393-5E15-891F-C0AE56E85D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9DA7DB3-4A01-304C-C577-BB14A98B6A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B53E708E-20B4-4655-47E7-F9A1DB0F6FB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C569EB4-95DE-4760-AA8E-06523C9C11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508" y="1358916"/>
            <a:ext cx="9387840" cy="47653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05FE6851-7214-3CC7-EB40-5618BF764637}"/>
              </a:ext>
            </a:extLst>
          </p:cNvPr>
          <p:cNvSpPr/>
          <p:nvPr/>
        </p:nvSpPr>
        <p:spPr>
          <a:xfrm>
            <a:off x="5133878" y="4227755"/>
            <a:ext cx="2504051" cy="4625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1796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A4DADA96-DA73-2CD2-1D6A-3ADC276E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F78C56-71B2-0D23-BB3C-017243F5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77EF25F-171D-8898-E9DD-63F407A7BB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50E8242-FC8C-4525-943B-2980C27619C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88FD4278-E860-C7D8-5F10-07B285CEDD0E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2A5CA263-0E23-0B42-C3DF-C7FAA4DDF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952" y="1437773"/>
            <a:ext cx="8304030" cy="466873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F118F9CB-CE59-6D8F-A37E-EB555C6759AC}"/>
              </a:ext>
            </a:extLst>
          </p:cNvPr>
          <p:cNvSpPr/>
          <p:nvPr/>
        </p:nvSpPr>
        <p:spPr>
          <a:xfrm>
            <a:off x="4088524" y="1741214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474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79424A6-3D35-1C9B-5272-C70A237F5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942C1A-85B1-1839-A772-7C6A1A047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A712374-64B6-060D-FC8C-33374DAAC4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C25FC0B-6DF5-02C0-B681-98E351CBBB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5497CEC-6D2C-F93C-6467-85D5DB578587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58B75B9E-3749-627C-BF96-D3D9B93E4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072" y="1358917"/>
            <a:ext cx="8434812" cy="47422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1FB107BA-3083-06CB-92CB-A7C685FF32D0}"/>
              </a:ext>
            </a:extLst>
          </p:cNvPr>
          <p:cNvSpPr/>
          <p:nvPr/>
        </p:nvSpPr>
        <p:spPr>
          <a:xfrm>
            <a:off x="2764221" y="2561021"/>
            <a:ext cx="2210676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6208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4864F69-23ED-E5B5-845B-DDB5C40B7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37F0A9-E046-41F1-C71F-46F8DAE3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CEA513A-B79A-2CE2-6511-F5C8237EB7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84B88CE-F6EF-F32E-B263-70EE0BF4A8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93C04AC-5866-8EA8-A6EC-4BD39C5C5856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24FE912D-4A25-B612-D137-E8EE17130C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731" y="1481401"/>
            <a:ext cx="8334703" cy="468598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FD28ED91-6161-7C61-DF93-E760EFA0C4AA}"/>
              </a:ext>
            </a:extLst>
          </p:cNvPr>
          <p:cNvSpPr/>
          <p:nvPr/>
        </p:nvSpPr>
        <p:spPr>
          <a:xfrm>
            <a:off x="6400800" y="3621192"/>
            <a:ext cx="1765738" cy="203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864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34794073-9196-424F-F7B0-BF301D771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5EBEEDB-AFAD-5AED-852F-79A49DFE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BC0E396-72AF-77BC-ED14-432C96B79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99BCAFB7-A306-C9ED-3A4D-D284C17D54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F3B622E3-0EC3-F7D0-2080-FD9C5C0138E0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6CDE2220-F585-6298-386A-30DE19E292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8179" y="1403408"/>
            <a:ext cx="8313430" cy="4674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70E6C035-3538-D71F-EFE6-089DA86A5DF4}"/>
              </a:ext>
            </a:extLst>
          </p:cNvPr>
          <p:cNvSpPr/>
          <p:nvPr/>
        </p:nvSpPr>
        <p:spPr>
          <a:xfrm>
            <a:off x="1198179" y="1715632"/>
            <a:ext cx="2543504" cy="2392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6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0CAC065A-5C37-D25D-F2DA-B71AFD08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80B7A91-C5BA-9FF9-E497-0941A195D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405533E9-EE15-D1D5-2ACE-5E5A1D2557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438CE793-3637-4B0C-9B87-7EBD06892F1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677F500F-66C5-CA27-2171-F80165B6C641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01F71849-7BE9-7D99-1F29-870EAB32F6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978" y="1403408"/>
            <a:ext cx="8100190" cy="455413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939E6E91-E277-B6E1-8402-17CE2A894540}"/>
              </a:ext>
            </a:extLst>
          </p:cNvPr>
          <p:cNvSpPr/>
          <p:nvPr/>
        </p:nvSpPr>
        <p:spPr>
          <a:xfrm>
            <a:off x="6537436" y="4952817"/>
            <a:ext cx="3065732" cy="6386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7938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D061EBB-1D6A-A83F-630E-B5983584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6CE4E54-D72A-2D58-E835-D464E7F2A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4B08894-F76B-8B31-7E66-9973A71F6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4344071-C5C8-4DDB-FE2C-3AC6AEB710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51DBF995-AB95-22CA-713C-D26BD332057B}"/>
              </a:ext>
            </a:extLst>
          </p:cNvPr>
          <p:cNvSpPr txBox="1"/>
          <p:nvPr/>
        </p:nvSpPr>
        <p:spPr>
          <a:xfrm>
            <a:off x="2206488" y="989584"/>
            <a:ext cx="4409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8. Executando no Arduino nano-33 BLE </a:t>
            </a:r>
            <a:r>
              <a:rPr lang="pt-BR" dirty="0" err="1"/>
              <a:t>sense</a:t>
            </a:r>
            <a:endParaRPr lang="pt-B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F7D230B-C416-0797-60DD-BD63476E4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937" y="1403408"/>
            <a:ext cx="8282151" cy="46564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4717B127-B55C-9CF1-0604-612000FA9691}"/>
              </a:ext>
            </a:extLst>
          </p:cNvPr>
          <p:cNvSpPr/>
          <p:nvPr/>
        </p:nvSpPr>
        <p:spPr>
          <a:xfrm>
            <a:off x="2806262" y="2385849"/>
            <a:ext cx="1534510" cy="1786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4464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b="1" dirty="0">
                <a:ea typeface="Calibri" panose="020F0502020204030204" pitchFamily="34" charset="0"/>
                <a:cs typeface="Arial" panose="020B0604020202020204" pitchFamily="34" charset="0"/>
              </a:rPr>
              <a:t>Trabalho: Movendo uma cadeira de rodas com a cabeça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classificação de movimento para movimentação de uma cadeira de rodas com uso do movimento da cabeça, treinar pelo menos três movimentos no Edge Impulse.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Exemplo: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805DE0C9-CC2B-9A66-2836-0B5BA9411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390" y="3232009"/>
            <a:ext cx="7886460" cy="2426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Spectral</a:t>
            </a:r>
            <a:r>
              <a:rPr lang="pt-BR" dirty="0"/>
              <a:t> </a:t>
            </a:r>
            <a:r>
              <a:rPr lang="pt-BR" dirty="0" err="1"/>
              <a:t>Analysis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433313" cy="43304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dirty="0"/>
              <a:t>Referências</a:t>
            </a:r>
          </a:p>
          <a:p>
            <a:pPr marL="0" indent="0">
              <a:buNone/>
            </a:pPr>
            <a:r>
              <a:rPr lang="pt-BR" sz="2000" dirty="0"/>
              <a:t>[1] </a:t>
            </a:r>
            <a:r>
              <a:rPr lang="pt-BR" sz="2000" dirty="0">
                <a:hlinkClick r:id="rId4"/>
              </a:rPr>
              <a:t>https://github.com/Mjrovai/UNIFEI-IESTI01-TinyML/blob/main/00_Curse_Folder/2_Applications_Deploy/Class_20/EI_Studio-Spectral_Analysis-Updated_March-23.pdf</a:t>
            </a:r>
            <a:endParaRPr lang="pt-BR" sz="2000" dirty="0"/>
          </a:p>
          <a:p>
            <a:pPr marL="0" indent="0">
              <a:buNone/>
            </a:pPr>
            <a:r>
              <a:rPr lang="pt-BR" sz="2000" dirty="0"/>
              <a:t>[2] </a:t>
            </a:r>
            <a:r>
              <a:rPr lang="pt-BR" sz="2000" dirty="0">
                <a:hlinkClick r:id="rId5"/>
              </a:rPr>
              <a:t>https://colab.research.google.com/github/Mjrovai/TinyML4D/blob/main/SciTinyM-2023/Edge_Impulse-Spectral_Analysis_Block/Edge_Impulse_Spectral_Analysis_Block_V3.ipynb#scrollTo=09cf0268</a:t>
            </a:r>
            <a:endParaRPr lang="pt-BR" sz="2000" dirty="0"/>
          </a:p>
          <a:p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4232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299725F-4C29-A255-7164-563E74E3A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408D0EF-AE78-466E-BB53-06672B371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7957" y="2667000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Anexo I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C137419-0E34-0326-41B5-54D3D5D3B7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9E765A50-7361-D910-74BB-3FD9F6D99F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96815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2D1A6A-6BC5-6F5C-3349-3C912C361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91F347D-56C5-5A70-14E8-58886B4D7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85B7084F-EF6E-BDE1-FF2E-A1EE5D9F9B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06B69B4-97C5-F6BD-ADF1-556BE24EFA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96702DBE-CEC8-0C9D-395C-E336479CFAC3}"/>
              </a:ext>
            </a:extLst>
          </p:cNvPr>
          <p:cNvSpPr txBox="1"/>
          <p:nvPr/>
        </p:nvSpPr>
        <p:spPr>
          <a:xfrm>
            <a:off x="7686565" y="3884411"/>
            <a:ext cx="39063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Etapa do pré-processamento usando o bloco “</a:t>
            </a:r>
            <a:r>
              <a:rPr lang="pt-BR" sz="2400" b="1" i="1" dirty="0" err="1">
                <a:solidFill>
                  <a:srgbClr val="0070C0"/>
                </a:solidFill>
              </a:rPr>
              <a:t>spectral</a:t>
            </a:r>
            <a:r>
              <a:rPr lang="pt-BR" sz="2400" b="1" i="1" dirty="0">
                <a:solidFill>
                  <a:srgbClr val="0070C0"/>
                </a:solidFill>
              </a:rPr>
              <a:t> </a:t>
            </a:r>
            <a:r>
              <a:rPr lang="pt-BR" sz="2400" b="1" i="1" dirty="0" err="1">
                <a:solidFill>
                  <a:srgbClr val="0070C0"/>
                </a:solidFill>
              </a:rPr>
              <a:t>analysis</a:t>
            </a:r>
            <a:r>
              <a:rPr lang="pt-BR" sz="2400" b="1" i="1" dirty="0">
                <a:solidFill>
                  <a:srgbClr val="0070C0"/>
                </a:solidFill>
              </a:rPr>
              <a:t>”</a:t>
            </a:r>
          </a:p>
        </p:txBody>
      </p:sp>
      <p:pic>
        <p:nvPicPr>
          <p:cNvPr id="5" name="Imagem 3">
            <a:extLst>
              <a:ext uri="{FF2B5EF4-FFF2-40B4-BE49-F238E27FC236}">
                <a16:creationId xmlns:a16="http://schemas.microsoft.com/office/drawing/2014/main" xmlns="" id="{0FA1D2E0-3942-9877-E1D9-B83FFFE4786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00" t="65608" r="47753" b="14571"/>
          <a:stretch>
            <a:fillRect/>
          </a:stretch>
        </p:blipFill>
        <p:spPr>
          <a:xfrm>
            <a:off x="1229710" y="4231268"/>
            <a:ext cx="4399503" cy="1156138"/>
          </a:xfrm>
          <a:prstGeom prst="rect">
            <a:avLst/>
          </a:prstGeom>
        </p:spPr>
      </p:pic>
      <p:pic>
        <p:nvPicPr>
          <p:cNvPr id="9" name="Imagem 5">
            <a:extLst>
              <a:ext uri="{FF2B5EF4-FFF2-40B4-BE49-F238E27FC236}">
                <a16:creationId xmlns:a16="http://schemas.microsoft.com/office/drawing/2014/main" xmlns="" id="{B35E7460-DEE4-34E9-203D-DE342978C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090" y="1469988"/>
            <a:ext cx="9206398" cy="241442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B1720DC-6ADF-B7C5-43B8-DF377650FA5E}"/>
              </a:ext>
            </a:extLst>
          </p:cNvPr>
          <p:cNvSpPr txBox="1"/>
          <p:nvPr/>
        </p:nvSpPr>
        <p:spPr>
          <a:xfrm>
            <a:off x="3312753" y="1665227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 [s]</a:t>
            </a:r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xmlns="" id="{13ECF302-F249-2D29-A471-95FCF5456574}"/>
              </a:ext>
            </a:extLst>
          </p:cNvPr>
          <p:cNvCxnSpPr/>
          <p:nvPr/>
        </p:nvCxnSpPr>
        <p:spPr>
          <a:xfrm flipH="1">
            <a:off x="2427890" y="2995448"/>
            <a:ext cx="567558" cy="11666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AC56DF9-06F7-885F-6835-06A221D53E73}"/>
              </a:ext>
            </a:extLst>
          </p:cNvPr>
          <p:cNvSpPr txBox="1"/>
          <p:nvPr/>
        </p:nvSpPr>
        <p:spPr>
          <a:xfrm>
            <a:off x="2427890" y="634568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 O bloco foi substituído pelo “</a:t>
            </a:r>
            <a:r>
              <a:rPr lang="pt-BR" sz="1200" dirty="0" err="1"/>
              <a:t>Spectral</a:t>
            </a:r>
            <a:r>
              <a:rPr lang="pt-BR" sz="1200" dirty="0"/>
              <a:t> features” na versão mais recente</a:t>
            </a:r>
            <a:br>
              <a:rPr lang="pt-BR" sz="1200" dirty="0"/>
            </a:br>
            <a:r>
              <a:rPr lang="pt-BR" sz="1200" dirty="0">
                <a:hlinkClick r:id="rId5"/>
              </a:rPr>
              <a:t>https://docs.edgeimpulse.com/docs/edge-impulse-studio/processing-blocks/spectral-features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243929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E0CA901-BF35-78FD-593E-1D482C3F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5F18051-78A2-673C-7A4D-89056A3EC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BDC58B8A-69D6-E735-AE7B-5D0FDAF326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4B670D1-8BF6-9AD4-269B-CBFEA59EA8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869B1C74-3B06-FA2C-60F2-CAE2666E3F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93" t="3836" r="5346" b="43789"/>
          <a:stretch/>
        </p:blipFill>
        <p:spPr>
          <a:xfrm>
            <a:off x="141890" y="1371600"/>
            <a:ext cx="10093567" cy="32004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BB68AA6-193A-291D-6FD9-8B4C7FF03F9A}"/>
              </a:ext>
            </a:extLst>
          </p:cNvPr>
          <p:cNvSpPr txBox="1"/>
          <p:nvPr/>
        </p:nvSpPr>
        <p:spPr>
          <a:xfrm>
            <a:off x="3864336" y="4998508"/>
            <a:ext cx="48697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ctr">
              <a:buAutoNum type="arabicPeriod"/>
            </a:pPr>
            <a:r>
              <a:rPr lang="pt-BR" sz="2400" b="1" i="1" dirty="0">
                <a:solidFill>
                  <a:srgbClr val="0070C0"/>
                </a:solidFill>
              </a:rPr>
              <a:t>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o valor RMS de cada um dos eixos.</a:t>
            </a:r>
            <a:endParaRPr lang="pt-BR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0114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AC90BA-B22C-5851-E28D-C0E116BE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F4EE808-6159-8F78-4738-5AE9DF81A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6576843-9CC6-B374-2E48-C0C637E4ED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95EDECDD-1B2D-C21F-F49B-DF8A88DFA8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6B381AD-E535-C1EF-73B9-C5B486D05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15" y="1081087"/>
            <a:ext cx="8343900" cy="4695825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29443097-16E2-C6C5-8722-89E23C8B34CA}"/>
              </a:ext>
            </a:extLst>
          </p:cNvPr>
          <p:cNvSpPr txBox="1"/>
          <p:nvPr/>
        </p:nvSpPr>
        <p:spPr>
          <a:xfrm>
            <a:off x="6400800" y="1943140"/>
            <a:ext cx="48697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2. Etapa do pré-processamento:</a:t>
            </a:r>
          </a:p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Calcular a FFT dos sinais do 3 eixos.</a:t>
            </a:r>
            <a:br>
              <a:rPr lang="pt-BR" sz="2400" b="1" i="1" dirty="0">
                <a:solidFill>
                  <a:srgbClr val="0070C0"/>
                </a:solidFill>
              </a:rPr>
            </a:br>
            <a:r>
              <a:rPr lang="pt-BR" sz="2400" b="1" i="1" dirty="0">
                <a:solidFill>
                  <a:srgbClr val="00B050"/>
                </a:solidFill>
              </a:rPr>
              <a:t>Usamos como atributos de entrada: 3 valores de pico e suas respectivas frequências para cada eixo.</a:t>
            </a:r>
          </a:p>
          <a:p>
            <a:pPr algn="ctr"/>
            <a:r>
              <a:rPr lang="pt-BR" sz="2400" b="1" i="1" dirty="0">
                <a:solidFill>
                  <a:srgbClr val="00B050"/>
                </a:solidFill>
              </a:rPr>
              <a:t>Totalizando 18 atributos.</a:t>
            </a:r>
            <a:endParaRPr lang="pt-BR" sz="2400" dirty="0">
              <a:solidFill>
                <a:srgbClr val="00B05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B9743FE9-0393-B68B-FFEE-092B382A1574}"/>
              </a:ext>
            </a:extLst>
          </p:cNvPr>
          <p:cNvSpPr txBox="1"/>
          <p:nvPr/>
        </p:nvSpPr>
        <p:spPr>
          <a:xfrm>
            <a:off x="3980164" y="5799410"/>
            <a:ext cx="4231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00B0F0"/>
                </a:solidFill>
              </a:rPr>
              <a:t>Extrair as frequências dos sinais</a:t>
            </a:r>
          </a:p>
        </p:txBody>
      </p:sp>
    </p:spTree>
    <p:extLst>
      <p:ext uri="{BB962C8B-B14F-4D97-AF65-F5344CB8AC3E}">
        <p14:creationId xmlns:p14="http://schemas.microsoft.com/office/powerpoint/2010/main" val="15020561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B0FE2F7-BA0C-A273-3DE4-2A4173261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0B7ED98-8558-B78A-0D24-C227D5B28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F53CB6E4-AB56-1F0F-6677-528C6882C0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092F562-182E-F3E6-7028-59AABCD2C5E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3AD3440-E113-2D43-382D-4E3D9DD0D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4" y="1655704"/>
            <a:ext cx="7023975" cy="395299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7AA5DF66-34D6-D2E2-8682-46FDE748F138}"/>
              </a:ext>
            </a:extLst>
          </p:cNvPr>
          <p:cNvSpPr txBox="1"/>
          <p:nvPr/>
        </p:nvSpPr>
        <p:spPr>
          <a:xfrm>
            <a:off x="7472855" y="2614765"/>
            <a:ext cx="43512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3. Etapa do pré-processamento: Densidade espectral de potência.</a:t>
            </a:r>
          </a:p>
          <a:p>
            <a:pPr algn="ctr"/>
            <a:r>
              <a:rPr lang="pt-BR" sz="2400" b="1" i="1" dirty="0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Método de </a:t>
            </a:r>
            <a:r>
              <a:rPr lang="pt-BR" sz="2400" b="1" i="1" dirty="0" err="1">
                <a:solidFill>
                  <a:schemeClr val="accent6"/>
                </a:solidFill>
                <a:ea typeface="Calibri" panose="020F0502020204030204" pitchFamily="34" charset="0"/>
                <a:cs typeface="Arial" panose="020B0604020202020204" pitchFamily="34" charset="0"/>
              </a:rPr>
              <a:t>Welch</a:t>
            </a:r>
            <a:r>
              <a:rPr lang="pt-BR" sz="2400" b="1" i="1" dirty="0">
                <a:solidFill>
                  <a:srgbClr val="00B05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: Divide-se a largura de banda em 4 e calcula-se a densidade de potência para cada região. Assim, temos 4 regiões * 3 eixos = 12 atributos.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2908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130862-0ECA-3571-2339-4C67B089F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D83ABCA-DCBB-63A3-1CA1-C88CE0FAE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50D7A8D-260B-D07E-E607-09BCED8BB86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4AA62CE6-1E19-5161-335A-B3BA212A15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0DFCA36F-6676-7431-02DE-651130B928B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27" t="11372" r="1567" b="2679"/>
          <a:stretch/>
        </p:blipFill>
        <p:spPr>
          <a:xfrm>
            <a:off x="0" y="1072055"/>
            <a:ext cx="9733115" cy="5013435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C892547B-635B-ADD0-5722-CD202EFB75E7}"/>
              </a:ext>
            </a:extLst>
          </p:cNvPr>
          <p:cNvSpPr txBox="1"/>
          <p:nvPr/>
        </p:nvSpPr>
        <p:spPr>
          <a:xfrm>
            <a:off x="9222828" y="3860240"/>
            <a:ext cx="244365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>
                <a:solidFill>
                  <a:srgbClr val="0070C0"/>
                </a:solidFill>
              </a:rPr>
              <a:t>Portanto, ao invés de 375 a rede neural terá 33 atributos de entrada.</a:t>
            </a:r>
            <a:endParaRPr lang="pt-BR" sz="2400" b="1" i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11081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4A95505-1AC4-27CE-0E96-057335642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417ADB-943C-95CC-785F-B13650383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Motion </a:t>
            </a:r>
            <a:r>
              <a:rPr lang="pt-BR" dirty="0" err="1"/>
              <a:t>Classification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8D6B4538-C28D-BD1C-5D13-8B9C2E49C7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0649B49-1831-D7D8-41E1-85345FE265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F85F0EB-A7A7-93DA-BAFB-DD51D0BF695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527" t="11895" r="2323" b="14580"/>
          <a:stretch/>
        </p:blipFill>
        <p:spPr>
          <a:xfrm>
            <a:off x="0" y="1213945"/>
            <a:ext cx="10256726" cy="4556234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00FCCDB-8B0F-C254-86B2-DD06F971CF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7517" y="4724582"/>
            <a:ext cx="1560786" cy="80911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0C964216-1B25-9041-9095-8146204DDEDA}"/>
              </a:ext>
            </a:extLst>
          </p:cNvPr>
          <p:cNvSpPr txBox="1"/>
          <p:nvPr/>
        </p:nvSpPr>
        <p:spPr>
          <a:xfrm>
            <a:off x="8907517" y="4635653"/>
            <a:ext cx="282268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Parado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Sendo erguido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Mar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b="1" dirty="0"/>
              <a:t>Caminhão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AC87D6C1-EA12-739D-46D3-8CBB01E6373D}"/>
              </a:ext>
            </a:extLst>
          </p:cNvPr>
          <p:cNvSpPr txBox="1"/>
          <p:nvPr/>
        </p:nvSpPr>
        <p:spPr>
          <a:xfrm>
            <a:off x="7162028" y="3632200"/>
            <a:ext cx="46499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b="1" dirty="0">
                <a:solidFill>
                  <a:srgbClr val="7030A0"/>
                </a:solidFill>
              </a:rPr>
              <a:t>A janela de 2 [s] desliza de 80 [</a:t>
            </a:r>
            <a:r>
              <a:rPr lang="pt-BR" sz="2400" b="1" dirty="0" err="1">
                <a:solidFill>
                  <a:srgbClr val="7030A0"/>
                </a:solidFill>
              </a:rPr>
              <a:t>ms</a:t>
            </a:r>
            <a:r>
              <a:rPr lang="pt-BR" sz="2400" b="1" dirty="0">
                <a:solidFill>
                  <a:srgbClr val="7030A0"/>
                </a:solidFill>
              </a:rPr>
              <a:t>].</a:t>
            </a:r>
          </a:p>
        </p:txBody>
      </p:sp>
    </p:spTree>
    <p:extLst>
      <p:ext uri="{BB962C8B-B14F-4D97-AF65-F5344CB8AC3E}">
        <p14:creationId xmlns:p14="http://schemas.microsoft.com/office/powerpoint/2010/main" val="9428202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16216</TotalTime>
  <Words>1217</Words>
  <Application>Microsoft Office PowerPoint</Application>
  <PresentationFormat>Widescreen</PresentationFormat>
  <Paragraphs>269</Paragraphs>
  <Slides>51</Slides>
  <Notes>51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  <vt:lpstr>Edge Impulse</vt:lpstr>
      <vt:lpstr>Spectral Analysis</vt:lpstr>
      <vt:lpstr>Anexo I</vt:lpstr>
      <vt:lpstr>Motion Classification</vt:lpstr>
      <vt:lpstr>Motion Classification</vt:lpstr>
      <vt:lpstr>Motion Classification</vt:lpstr>
      <vt:lpstr>Motion Classification</vt:lpstr>
      <vt:lpstr>Motion Classification</vt:lpstr>
      <vt:lpstr>Motion Classification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2450</cp:revision>
  <dcterms:created xsi:type="dcterms:W3CDTF">2020-01-20T13:50:05Z</dcterms:created>
  <dcterms:modified xsi:type="dcterms:W3CDTF">2025-06-05T02:43:29Z</dcterms:modified>
</cp:coreProperties>
</file>