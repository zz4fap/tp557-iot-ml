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6"/>
  </p:notesMasterIdLst>
  <p:handoutMasterIdLst>
    <p:handoutMasterId r:id="rId37"/>
  </p:handoutMasterIdLst>
  <p:sldIdLst>
    <p:sldId id="256" r:id="rId3"/>
    <p:sldId id="583" r:id="rId4"/>
    <p:sldId id="591" r:id="rId5"/>
    <p:sldId id="586" r:id="rId6"/>
    <p:sldId id="587" r:id="rId7"/>
    <p:sldId id="588" r:id="rId8"/>
    <p:sldId id="589" r:id="rId9"/>
    <p:sldId id="590" r:id="rId10"/>
    <p:sldId id="585" r:id="rId11"/>
    <p:sldId id="592" r:id="rId12"/>
    <p:sldId id="599" r:id="rId13"/>
    <p:sldId id="601" r:id="rId14"/>
    <p:sldId id="604" r:id="rId15"/>
    <p:sldId id="606" r:id="rId16"/>
    <p:sldId id="607" r:id="rId17"/>
    <p:sldId id="603" r:id="rId18"/>
    <p:sldId id="608" r:id="rId19"/>
    <p:sldId id="609" r:id="rId20"/>
    <p:sldId id="610" r:id="rId21"/>
    <p:sldId id="611" r:id="rId22"/>
    <p:sldId id="616" r:id="rId23"/>
    <p:sldId id="614" r:id="rId24"/>
    <p:sldId id="613" r:id="rId25"/>
    <p:sldId id="615" r:id="rId26"/>
    <p:sldId id="617" r:id="rId27"/>
    <p:sldId id="621" r:id="rId28"/>
    <p:sldId id="622" r:id="rId29"/>
    <p:sldId id="618" r:id="rId30"/>
    <p:sldId id="623" r:id="rId31"/>
    <p:sldId id="624" r:id="rId32"/>
    <p:sldId id="625" r:id="rId33"/>
    <p:sldId id="584" r:id="rId34"/>
    <p:sldId id="626" r:id="rId35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82567" autoAdjust="0"/>
  </p:normalViewPr>
  <p:slideViewPr>
    <p:cSldViewPr snapToGrid="0">
      <p:cViewPr varScale="1">
        <p:scale>
          <a:sx n="96" d="100"/>
          <a:sy n="96" d="100"/>
        </p:scale>
        <p:origin x="1476" y="84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21/04/2025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jrovai/UNIFEI-IESTI01-TinyML-2022.1/blob/main/00_Curse_Folder/2_Applications_Deploy/Class_19/IESTI01_TinyML_class_19.pdf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github.com/Mjrovai/UNIFEI-IESTI01-TinyML-2022.1/blob/main/00_Curse_Folder/2_Applications_Deploy/Class_20/IESTI01_TinyML_class_20.pdf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33669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>
                <a:solidFill>
                  <a:srgbClr val="FF0000"/>
                </a:solidFill>
                <a:hlinkClick r:id="rId3"/>
              </a:rPr>
              <a:t>https://github.com/Mjrovai/UNIFEI-IESTI01-TinyML-2022.1/blob/main/00_Curse_Folder/2_Applications_Deploy/Class_19/IESTI01_TinyML_class_19.pdf</a:t>
            </a:r>
            <a:endParaRPr lang="pt-BR" dirty="0" smtClean="0">
              <a:solidFill>
                <a:srgbClr val="FF0000"/>
              </a:solidFill>
            </a:endParaRPr>
          </a:p>
          <a:p>
            <a:r>
              <a:rPr lang="pt-BR" dirty="0" smtClean="0">
                <a:solidFill>
                  <a:srgbClr val="FF0000"/>
                </a:solidFill>
                <a:hlinkClick r:id="rId4"/>
              </a:rPr>
              <a:t>https://github.com/Mjrovai/UNIFEI-IESTI01-TinyML-2022.1/blob/main/00_Curse_Folder/2_Applications_Deploy/Class_20/IESTI01_TinyML_class_20.pdf</a:t>
            </a:r>
            <a:endParaRPr lang="pt-BR" dirty="0" smtClean="0">
              <a:solidFill>
                <a:srgbClr val="FF0000"/>
              </a:solidFill>
            </a:endParaRP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60460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99809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63532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730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58193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77662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1200" dirty="0" smtClean="0">
                <a:solidFill>
                  <a:srgbClr val="FF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Aqui são gerados dados com o celular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1200" dirty="0" smtClean="0">
                <a:solidFill>
                  <a:srgbClr val="FF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Link no meu </a:t>
            </a:r>
            <a:r>
              <a:rPr lang="pt-BR" sz="1200" dirty="0" err="1" smtClean="0">
                <a:solidFill>
                  <a:srgbClr val="FF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edge</a:t>
            </a:r>
            <a:r>
              <a:rPr lang="pt-BR" sz="1200" dirty="0" smtClean="0">
                <a:solidFill>
                  <a:srgbClr val="FF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impulse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1200" dirty="0" smtClean="0">
                <a:solidFill>
                  <a:srgbClr val="FF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https://studio.edgeimpulse.com/public/298808/live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91959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88447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Movimentos humanos (como caminhar, correr ou gestos) são </a:t>
            </a:r>
            <a:r>
              <a:rPr lang="pt-B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dinâmicos e sequenciais</a:t>
            </a:r>
            <a:r>
              <a:rPr lang="pt-B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Uma única amostra captura apenas um instante, sem revelar a evolução do movimento (e.g., aceleração inicial vs. desaceleração). Janelas temporais permitem analisar </a:t>
            </a:r>
            <a:r>
              <a:rPr lang="pt-B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tendências, periodicidades e transições</a:t>
            </a:r>
            <a:r>
              <a:rPr lang="pt-B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ao longo do tempo, essenciais para distinguir atividades similares.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13859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3254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07115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4633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59452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23468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204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56868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70607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11530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Referencias</a:t>
            </a:r>
          </a:p>
          <a:p>
            <a:r>
              <a:rPr lang="pt-BR" dirty="0" smtClean="0"/>
              <a:t>[1]</a:t>
            </a:r>
            <a:r>
              <a:rPr lang="pt-BR" baseline="0" dirty="0" smtClean="0"/>
              <a:t> https://github.com/Mjrovai/UNIFEI-IESTI01-TinyML/blob/main/00_Curse_Folder/2_Applications_Deploy/Class_20/EI_Studio-Spectral_Analysis-Updated_March-23.pdf</a:t>
            </a:r>
          </a:p>
          <a:p>
            <a:r>
              <a:rPr lang="pt-BR" baseline="0" dirty="0" smtClean="0"/>
              <a:t>[2] https://colab.research.google.com/github/Mjrovai/TinyML4D/blob/main/SciTinyM-2023/Edge_Impulse-Spectral_Analysis_Block/Edge_Impulse_Spectral_Analysis_Block_V3.ipynb#scrollTo=09cf0268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6342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04923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6527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16272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889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01186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67606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76688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40334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70356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86706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229839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6514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xmlns="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xmlns="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xmlns="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xmlns="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xmlns="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xmlns="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xmlns="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xmlns="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xmlns="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xmlns="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603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039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663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3965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6299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554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9295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445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076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9017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558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xmlns="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110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colab.research.google.com/github/Mjrovai/TinyML4D/blob/main/SciTinyM-2023/Edge_Impulse-Spectral_Analysis_Block/Edge_Impulse_Spectral_Analysis_Block_V3.ipynb#scrollTo=09cf0268" TargetMode="External"/><Relationship Id="rId4" Type="http://schemas.openxmlformats.org/officeDocument/2006/relationships/hyperlink" Target="https://github.com/Mjrovai/UNIFEI-IESTI01-TinyML/blob/main/00_Curse_Folder/2_Applications_Deploy/Class_20/EI_Studio-Spectral_Analysis-Updated_March-23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3783" y="819807"/>
            <a:ext cx="9772072" cy="2690156"/>
          </a:xfrm>
        </p:spPr>
        <p:txBody>
          <a:bodyPr>
            <a:normAutofit/>
          </a:bodyPr>
          <a:lstStyle/>
          <a:p>
            <a:r>
              <a:rPr lang="pt-BR" sz="5400" dirty="0"/>
              <a:t>TP557 - Tópicos avançados em IoT e </a:t>
            </a:r>
            <a:r>
              <a:rPr lang="pt-BR" sz="5400" dirty="0" err="1"/>
              <a:t>Machine</a:t>
            </a:r>
            <a:r>
              <a:rPr lang="pt-BR" sz="5400" dirty="0"/>
              <a:t> Learning:</a:t>
            </a:r>
            <a:r>
              <a:rPr lang="pt-BR" dirty="0"/>
              <a:t/>
            </a:r>
            <a:br>
              <a:rPr lang="pt-BR" dirty="0"/>
            </a:br>
            <a:r>
              <a:rPr lang="pt-BR" b="1" i="1" dirty="0"/>
              <a:t>Motion </a:t>
            </a:r>
            <a:r>
              <a:rPr lang="pt-BR" b="1" i="1" dirty="0" err="1"/>
              <a:t>Classification</a:t>
            </a:r>
            <a:endParaRPr lang="pt-BR" b="1" i="1" dirty="0"/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xmlns="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6785107" y="3429000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oT Group">
            <a:extLst>
              <a:ext uri="{FF2B5EF4-FFF2-40B4-BE49-F238E27FC236}">
                <a16:creationId xmlns:a16="http://schemas.microsoft.com/office/drawing/2014/main" xmlns="" id="{AC034F57-E830-B6E7-6790-12FDBBDB29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3551" b="22561"/>
          <a:stretch/>
        </p:blipFill>
        <p:spPr bwMode="auto">
          <a:xfrm>
            <a:off x="2899985" y="3509963"/>
            <a:ext cx="2509138" cy="2009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2D82026D-D2EA-05D7-61F2-DEE04704DB7E}"/>
              </a:ext>
            </a:extLst>
          </p:cNvPr>
          <p:cNvSpPr txBox="1"/>
          <p:nvPr/>
        </p:nvSpPr>
        <p:spPr>
          <a:xfrm>
            <a:off x="8068201" y="59330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Samuel Baraldi Mafra</a:t>
            </a:r>
          </a:p>
          <a:p>
            <a:r>
              <a:rPr lang="pt-BR" dirty="0"/>
              <a:t>samuelbmafra@inatel.br</a:t>
            </a:r>
          </a:p>
        </p:txBody>
      </p:sp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Motion </a:t>
            </a:r>
            <a:r>
              <a:rPr lang="pt-BR" dirty="0" err="1"/>
              <a:t>Classification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5" name="Picture 2" descr="Mockup Celular - iPhone Mockup | Maker Mockup">
            <a:extLst>
              <a:ext uri="{FF2B5EF4-FFF2-40B4-BE49-F238E27FC236}">
                <a16:creationId xmlns:a16="http://schemas.microsoft.com/office/drawing/2014/main" xmlns="" id="{FC87A0DC-550D-BB34-6B8D-21472B93880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942" y="1225197"/>
            <a:ext cx="2857500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tebook Samsung Book 4GB, 15.6'', Intel Celeron, 500 GB, Windows 10 Home,  Cinza - Samsung Book - Magazine Luiza">
            <a:extLst>
              <a:ext uri="{FF2B5EF4-FFF2-40B4-BE49-F238E27FC236}">
                <a16:creationId xmlns:a16="http://schemas.microsoft.com/office/drawing/2014/main" xmlns="" id="{846ECC3C-0F71-81E5-1C69-59A8D9A2C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3584" y="1374422"/>
            <a:ext cx="2290939" cy="2290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olar monitora vacas para melhorar produtividade de leite - 12/05/2023 -  Tec - Folha">
            <a:extLst>
              <a:ext uri="{FF2B5EF4-FFF2-40B4-BE49-F238E27FC236}">
                <a16:creationId xmlns:a16="http://schemas.microsoft.com/office/drawing/2014/main" xmlns="" id="{219B56EB-C5FB-216B-A62B-12BD558A4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1504" y="3632200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Free photo industrial containers box for logistic import export business.">
            <a:extLst>
              <a:ext uri="{FF2B5EF4-FFF2-40B4-BE49-F238E27FC236}">
                <a16:creationId xmlns:a16="http://schemas.microsoft.com/office/drawing/2014/main" xmlns="" id="{EEB34E5E-7F0E-7162-8BAF-B92B4B06B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5675" y="1374422"/>
            <a:ext cx="2885204" cy="1921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xmlns="" id="{240919DB-71EF-5F88-F569-C5D883B2B4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56344" y="4315001"/>
            <a:ext cx="3073257" cy="2120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496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Motion </a:t>
            </a:r>
            <a:r>
              <a:rPr lang="pt-BR" dirty="0" err="1"/>
              <a:t>Classification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Movimentação de containers ao longo do ciclo logístico</a:t>
            </a:r>
          </a:p>
        </p:txBody>
      </p:sp>
      <p:pic>
        <p:nvPicPr>
          <p:cNvPr id="1026" name="Picture 2" descr="Free photo industrial containers box for logistic import export business.">
            <a:extLst>
              <a:ext uri="{FF2B5EF4-FFF2-40B4-BE49-F238E27FC236}">
                <a16:creationId xmlns:a16="http://schemas.microsoft.com/office/drawing/2014/main" xmlns="" id="{FDC07977-F662-66CB-7534-103E83976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2141" y="1819275"/>
            <a:ext cx="5962650" cy="397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0979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Motion </a:t>
            </a:r>
            <a:r>
              <a:rPr lang="pt-BR" dirty="0" err="1"/>
              <a:t>Classification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Container parado no porto:</a:t>
            </a:r>
          </a:p>
        </p:txBody>
      </p:sp>
      <p:pic>
        <p:nvPicPr>
          <p:cNvPr id="1026" name="Picture 2" descr="Free photo industrial containers box for logistic import export business.">
            <a:extLst>
              <a:ext uri="{FF2B5EF4-FFF2-40B4-BE49-F238E27FC236}">
                <a16:creationId xmlns:a16="http://schemas.microsoft.com/office/drawing/2014/main" xmlns="" id="{FDC07977-F662-66CB-7534-103E83976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6008" y="1939749"/>
            <a:ext cx="5962650" cy="397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6382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Motion </a:t>
            </a:r>
            <a:r>
              <a:rPr lang="pt-BR" dirty="0" err="1"/>
              <a:t>Classification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Container sendo erguido:</a:t>
            </a:r>
          </a:p>
        </p:txBody>
      </p:sp>
      <p:pic>
        <p:nvPicPr>
          <p:cNvPr id="2050" name="Picture 2" descr="Free PSD blue cargo container on transparent background">
            <a:extLst>
              <a:ext uri="{FF2B5EF4-FFF2-40B4-BE49-F238E27FC236}">
                <a16:creationId xmlns:a16="http://schemas.microsoft.com/office/drawing/2014/main" xmlns="" id="{A98A15EA-A147-6CDF-C2F6-87AAFC6C4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1430" y="1825978"/>
            <a:ext cx="4200525" cy="420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42657F2C-3A0E-77BB-E339-41D96ABE7E97}"/>
              </a:ext>
            </a:extLst>
          </p:cNvPr>
          <p:cNvSpPr txBox="1"/>
          <p:nvPr/>
        </p:nvSpPr>
        <p:spPr>
          <a:xfrm>
            <a:off x="2596445" y="6187441"/>
            <a:ext cx="60960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1800" dirty="0">
                <a:ea typeface="Calibri" panose="020F0502020204030204" pitchFamily="34" charset="0"/>
                <a:cs typeface="Arial" panose="020B0604020202020204" pitchFamily="34" charset="0"/>
              </a:rPr>
              <a:t>Movimentação no eixo z.</a:t>
            </a:r>
          </a:p>
        </p:txBody>
      </p:sp>
    </p:spTree>
    <p:extLst>
      <p:ext uri="{BB962C8B-B14F-4D97-AF65-F5344CB8AC3E}">
        <p14:creationId xmlns:p14="http://schemas.microsoft.com/office/powerpoint/2010/main" val="2879072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Motion </a:t>
            </a:r>
            <a:r>
              <a:rPr lang="pt-BR" dirty="0" err="1"/>
              <a:t>Classification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Container transportado no oceano:</a:t>
            </a:r>
          </a:p>
        </p:txBody>
      </p:sp>
      <p:pic>
        <p:nvPicPr>
          <p:cNvPr id="3074" name="Picture 2" descr="Free photo aerial view of cargo ship with cargo container on sea">
            <a:extLst>
              <a:ext uri="{FF2B5EF4-FFF2-40B4-BE49-F238E27FC236}">
                <a16:creationId xmlns:a16="http://schemas.microsoft.com/office/drawing/2014/main" xmlns="" id="{6D87BA9E-F12B-B77C-65AD-AFA156B87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3075" y="1819275"/>
            <a:ext cx="5962650" cy="397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7CAF6758-F677-FD03-7446-3A59B85054CD}"/>
              </a:ext>
            </a:extLst>
          </p:cNvPr>
          <p:cNvSpPr txBox="1"/>
          <p:nvPr/>
        </p:nvSpPr>
        <p:spPr>
          <a:xfrm>
            <a:off x="1580443" y="5961919"/>
            <a:ext cx="7699023" cy="40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Movimentação em várias direções devido às correntes marítimas.</a:t>
            </a:r>
          </a:p>
        </p:txBody>
      </p:sp>
    </p:spTree>
    <p:extLst>
      <p:ext uri="{BB962C8B-B14F-4D97-AF65-F5344CB8AC3E}">
        <p14:creationId xmlns:p14="http://schemas.microsoft.com/office/powerpoint/2010/main" val="3789364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Motion </a:t>
            </a:r>
            <a:r>
              <a:rPr lang="pt-BR" dirty="0" err="1"/>
              <a:t>Classification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Container transportado no caminhão: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Movimentação no eixo x.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xmlns="" id="{C63B75BA-F777-3A50-CB3A-A642F3CCAB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3197" y="1920109"/>
            <a:ext cx="3985605" cy="301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578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Motion </a:t>
            </a:r>
            <a:r>
              <a:rPr lang="pt-BR" dirty="0" err="1"/>
              <a:t>Classification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Exemplo de dado coletado por acelerômetro: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Movimentação no eixo x.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xmlns="" id="{C7DAF8C7-0817-CFEF-006D-3A402E043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079" y="2053471"/>
            <a:ext cx="5105842" cy="275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038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Motion </a:t>
            </a:r>
            <a:r>
              <a:rPr lang="pt-BR" dirty="0" err="1"/>
              <a:t>Classification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2000" dirty="0" smtClean="0">
                <a:ea typeface="Calibri" panose="020F0502020204030204" pitchFamily="34" charset="0"/>
                <a:cs typeface="Arial" panose="020B0604020202020204" pitchFamily="34" charset="0"/>
              </a:rPr>
              <a:t>Aplicação: Classificação 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de 4 estados do container 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Parado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Sendo </a:t>
            </a:r>
            <a:r>
              <a:rPr lang="pt-BR" sz="2000" dirty="0" smtClean="0">
                <a:ea typeface="Calibri" panose="020F0502020204030204" pitchFamily="34" charset="0"/>
                <a:cs typeface="Arial" panose="020B0604020202020204" pitchFamily="34" charset="0"/>
              </a:rPr>
              <a:t>erguido</a:t>
            </a: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No </a:t>
            </a:r>
            <a:r>
              <a:rPr lang="pt-BR" sz="2000" dirty="0" smtClean="0">
                <a:ea typeface="Calibri" panose="020F0502020204030204" pitchFamily="34" charset="0"/>
                <a:cs typeface="Arial" panose="020B0604020202020204" pitchFamily="34" charset="0"/>
              </a:rPr>
              <a:t>mar</a:t>
            </a: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No caminhão</a:t>
            </a:r>
          </a:p>
        </p:txBody>
      </p:sp>
    </p:spTree>
    <p:extLst>
      <p:ext uri="{BB962C8B-B14F-4D97-AF65-F5344CB8AC3E}">
        <p14:creationId xmlns:p14="http://schemas.microsoft.com/office/powerpoint/2010/main" val="4197704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Motion </a:t>
            </a:r>
            <a:r>
              <a:rPr lang="pt-BR" dirty="0" err="1"/>
              <a:t>Classification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38158" indent="-285750" algn="just">
              <a:lnSpc>
                <a:spcPct val="107000"/>
              </a:lnSpc>
              <a:spcAft>
                <a:spcPts val="533"/>
              </a:spcAft>
            </a:pPr>
            <a:r>
              <a:rPr lang="pt-BR" sz="1734" dirty="0" smtClean="0">
                <a:ea typeface="Calibri" panose="020F0502020204030204" pitchFamily="34" charset="0"/>
                <a:cs typeface="Arial" panose="020B0604020202020204" pitchFamily="34" charset="0"/>
              </a:rPr>
              <a:t>Exemplo de 10 segundos de dados coletados por um acelerômetro </a:t>
            </a:r>
            <a:r>
              <a:rPr lang="pt-BR" sz="1800" dirty="0">
                <a:ea typeface="Calibri" panose="020F0502020204030204" pitchFamily="34" charset="0"/>
                <a:cs typeface="Arial" panose="020B0604020202020204" pitchFamily="34" charset="0"/>
              </a:rPr>
              <a:t>com frequência de leitura de 62.5 Hz, i.e. 62.5 amostras por segundo</a:t>
            </a:r>
            <a:r>
              <a:rPr lang="pt-BR" sz="1800" dirty="0" smtClean="0"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438158" indent="-285750" algn="just">
              <a:lnSpc>
                <a:spcPct val="107000"/>
              </a:lnSpc>
              <a:spcAft>
                <a:spcPts val="533"/>
              </a:spcAft>
            </a:pPr>
            <a:r>
              <a:rPr lang="pt-BR" sz="1800" dirty="0" smtClean="0">
                <a:ea typeface="Calibri" panose="020F0502020204030204" pitchFamily="34" charset="0"/>
                <a:cs typeface="Arial" panose="020B0604020202020204" pitchFamily="34" charset="0"/>
              </a:rPr>
              <a:t>Que tipo de dado é este?</a:t>
            </a:r>
            <a:endParaRPr lang="pt-BR" sz="1734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421" y="2668970"/>
            <a:ext cx="9711958" cy="231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993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Motion </a:t>
            </a:r>
            <a:r>
              <a:rPr lang="pt-BR" dirty="0" err="1"/>
              <a:t>Classification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785131" cy="4330419"/>
          </a:xfrm>
        </p:spPr>
        <p:txBody>
          <a:bodyPr>
            <a:noAutofit/>
          </a:bodyPr>
          <a:lstStyle/>
          <a:p>
            <a:pPr marL="438158" indent="-285750" algn="just">
              <a:lnSpc>
                <a:spcPct val="107000"/>
              </a:lnSpc>
              <a:spcAft>
                <a:spcPts val="533"/>
              </a:spcAft>
            </a:pPr>
            <a:r>
              <a:rPr lang="pt-BR" sz="1734" dirty="0" smtClean="0">
                <a:ea typeface="Calibri" panose="020F0502020204030204" pitchFamily="34" charset="0"/>
                <a:cs typeface="Arial" panose="020B0604020202020204" pitchFamily="34" charset="0"/>
              </a:rPr>
              <a:t>Série temporal: cada amostra tem correlação com as anteriores e posteriores.</a:t>
            </a:r>
          </a:p>
          <a:p>
            <a:pPr marL="438158" indent="-285750" algn="just">
              <a:lnSpc>
                <a:spcPct val="107000"/>
              </a:lnSpc>
              <a:spcAft>
                <a:spcPts val="533"/>
              </a:spcAft>
            </a:pPr>
            <a:r>
              <a:rPr lang="pt-BR" sz="1734" dirty="0" smtClean="0">
                <a:ea typeface="Calibri" panose="020F0502020204030204" pitchFamily="34" charset="0"/>
                <a:cs typeface="Arial" panose="020B0604020202020204" pitchFamily="34" charset="0"/>
              </a:rPr>
              <a:t>Assim, por serem séries temporais, vamos processar janelas que capturem pelo menos um ciclo de movimento, por exemplo, 2 </a:t>
            </a:r>
            <a:r>
              <a:rPr lang="pt-BR" sz="1734" smtClean="0">
                <a:ea typeface="Calibri" panose="020F0502020204030204" pitchFamily="34" charset="0"/>
                <a:cs typeface="Arial" panose="020B0604020202020204" pitchFamily="34" charset="0"/>
              </a:rPr>
              <a:t>segundos.</a:t>
            </a:r>
            <a:endParaRPr lang="pt-BR" sz="1734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8103" y="2323388"/>
            <a:ext cx="9206398" cy="241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700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4"/>
          <a:srcRect l="1037" t="1338"/>
          <a:stretch/>
        </p:blipFill>
        <p:spPr>
          <a:xfrm>
            <a:off x="78827" y="1333707"/>
            <a:ext cx="10279117" cy="464687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Motion </a:t>
            </a:r>
            <a:r>
              <a:rPr lang="pt-BR" dirty="0" err="1"/>
              <a:t>Classification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7330966" y="4099034"/>
            <a:ext cx="24121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 smtClean="0">
                <a:solidFill>
                  <a:srgbClr val="7030A0"/>
                </a:solidFill>
              </a:rPr>
              <a:t>375 atributos de entrada!</a:t>
            </a:r>
            <a:endParaRPr lang="pt-BR" sz="2400" b="1" i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151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4"/>
          <a:srcRect l="1037" t="1338"/>
          <a:stretch/>
        </p:blipFill>
        <p:spPr>
          <a:xfrm>
            <a:off x="78827" y="1333707"/>
            <a:ext cx="10279117" cy="464687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Motion </a:t>
            </a:r>
            <a:r>
              <a:rPr lang="pt-BR" dirty="0" err="1"/>
              <a:t>Classification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7078717" y="3657145"/>
            <a:ext cx="386255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 smtClean="0">
                <a:solidFill>
                  <a:srgbClr val="7030A0"/>
                </a:solidFill>
              </a:rPr>
              <a:t>Precisamos de uma rede complexa (e.g., LSTM) para processar todas os atributos de entrada e compreender cada janela.</a:t>
            </a:r>
            <a:endParaRPr lang="pt-BR" sz="24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169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4"/>
          <a:srcRect l="1037" t="1338"/>
          <a:stretch/>
        </p:blipFill>
        <p:spPr>
          <a:xfrm>
            <a:off x="0" y="1333707"/>
            <a:ext cx="10279117" cy="464687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Motion </a:t>
            </a:r>
            <a:r>
              <a:rPr lang="pt-BR" dirty="0" err="1"/>
              <a:t>Classification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7078717" y="3657145"/>
            <a:ext cx="38625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 smtClean="0">
                <a:solidFill>
                  <a:srgbClr val="0070C0"/>
                </a:solidFill>
              </a:rPr>
              <a:t>A consequência é que o modelo consome </a:t>
            </a:r>
            <a:r>
              <a:rPr lang="pt-BR" sz="2400" b="1" i="1" dirty="0">
                <a:solidFill>
                  <a:srgbClr val="0070C0"/>
                </a:solidFill>
              </a:rPr>
              <a:t>mais </a:t>
            </a:r>
            <a:r>
              <a:rPr lang="pt-BR" sz="2400" b="1" i="1" dirty="0" smtClean="0">
                <a:solidFill>
                  <a:srgbClr val="0070C0"/>
                </a:solidFill>
              </a:rPr>
              <a:t>memória e pode não operar em tempo real.</a:t>
            </a:r>
          </a:p>
          <a:p>
            <a:pPr algn="ctr"/>
            <a:endParaRPr lang="pt-BR" sz="2400" b="1" i="1" dirty="0">
              <a:solidFill>
                <a:srgbClr val="0070C0"/>
              </a:solidFill>
            </a:endParaRPr>
          </a:p>
          <a:p>
            <a:pPr algn="ctr"/>
            <a:r>
              <a:rPr lang="pt-BR" sz="2400" b="1" i="1" dirty="0" smtClean="0">
                <a:solidFill>
                  <a:srgbClr val="FF0000"/>
                </a:solidFill>
              </a:rPr>
              <a:t>O que podemos fazer?</a:t>
            </a:r>
            <a:endParaRPr lang="pt-BR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4434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4"/>
          <a:srcRect l="1037" t="1338"/>
          <a:stretch/>
        </p:blipFill>
        <p:spPr>
          <a:xfrm>
            <a:off x="0" y="1333707"/>
            <a:ext cx="10279117" cy="464687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Motion </a:t>
            </a:r>
            <a:r>
              <a:rPr lang="pt-BR" dirty="0" err="1"/>
              <a:t>Classification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6558456" y="3830565"/>
            <a:ext cx="52656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 smtClean="0">
                <a:solidFill>
                  <a:srgbClr val="0070C0"/>
                </a:solidFill>
              </a:rPr>
              <a:t>Ao invés de termos uma rede muito complexa que faça a extração de atributos de forma automática, vamos</a:t>
            </a:r>
          </a:p>
          <a:p>
            <a:pPr algn="ctr"/>
            <a:r>
              <a:rPr lang="pt-BR" sz="2400" b="1" i="1" dirty="0" err="1">
                <a:solidFill>
                  <a:srgbClr val="0070C0"/>
                </a:solidFill>
              </a:rPr>
              <a:t>p</a:t>
            </a:r>
            <a:r>
              <a:rPr lang="pt-BR" sz="2400" b="1" i="1" dirty="0" err="1" smtClean="0">
                <a:solidFill>
                  <a:srgbClr val="0070C0"/>
                </a:solidFill>
              </a:rPr>
              <a:t>ré</a:t>
            </a:r>
            <a:r>
              <a:rPr lang="pt-BR" sz="2400" b="1" i="1" dirty="0" smtClean="0">
                <a:solidFill>
                  <a:srgbClr val="0070C0"/>
                </a:solidFill>
              </a:rPr>
              <a:t>-processar os dados e extrair alguns atributos manualmente.</a:t>
            </a:r>
            <a:endParaRPr lang="pt-BR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3864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Motion </a:t>
            </a:r>
            <a:r>
              <a:rPr lang="pt-BR" dirty="0" err="1"/>
              <a:t>Classification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4"/>
          <a:srcRect l="1693" t="3836" r="5346" b="43789"/>
          <a:stretch/>
        </p:blipFill>
        <p:spPr>
          <a:xfrm>
            <a:off x="141890" y="1371600"/>
            <a:ext cx="10093567" cy="3200400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3864336" y="4998508"/>
            <a:ext cx="48697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>
              <a:buAutoNum type="arabicPeriod"/>
            </a:pPr>
            <a:r>
              <a:rPr lang="pt-BR" sz="2400" b="1" i="1" dirty="0" smtClean="0">
                <a:solidFill>
                  <a:srgbClr val="0070C0"/>
                </a:solidFill>
              </a:rPr>
              <a:t>Etapa do pré-processamento:</a:t>
            </a:r>
          </a:p>
          <a:p>
            <a:pPr algn="ctr"/>
            <a:r>
              <a:rPr lang="pt-BR" sz="2400" b="1" i="1" dirty="0" smtClean="0">
                <a:solidFill>
                  <a:srgbClr val="0070C0"/>
                </a:solidFill>
              </a:rPr>
              <a:t>Calcular o valor RMS de cada um dos eixos.</a:t>
            </a:r>
            <a:endParaRPr lang="pt-BR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9096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Motion </a:t>
            </a:r>
            <a:r>
              <a:rPr lang="pt-BR" dirty="0" err="1"/>
              <a:t>Classification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15" y="1081087"/>
            <a:ext cx="8343900" cy="469582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6400800" y="1943140"/>
            <a:ext cx="48697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 smtClean="0">
                <a:solidFill>
                  <a:srgbClr val="0070C0"/>
                </a:solidFill>
              </a:rPr>
              <a:t>2. Etapa do pré-processamento:</a:t>
            </a:r>
          </a:p>
          <a:p>
            <a:pPr algn="ctr"/>
            <a:r>
              <a:rPr lang="pt-BR" sz="2400" b="1" i="1" dirty="0" smtClean="0">
                <a:solidFill>
                  <a:srgbClr val="0070C0"/>
                </a:solidFill>
              </a:rPr>
              <a:t>Calcular a FFT dos sinais do 3 eixos.</a:t>
            </a:r>
            <a:br>
              <a:rPr lang="pt-BR" sz="2400" b="1" i="1" dirty="0" smtClean="0">
                <a:solidFill>
                  <a:srgbClr val="0070C0"/>
                </a:solidFill>
              </a:rPr>
            </a:br>
            <a:r>
              <a:rPr lang="pt-BR" sz="2400" b="1" i="1" dirty="0" smtClean="0">
                <a:solidFill>
                  <a:srgbClr val="00B050"/>
                </a:solidFill>
              </a:rPr>
              <a:t>Usamos como atributos de entrada: 3 valores de pico e suas respectivas frequências para cada eixo.</a:t>
            </a:r>
          </a:p>
          <a:p>
            <a:pPr algn="ctr"/>
            <a:r>
              <a:rPr lang="pt-BR" sz="2400" b="1" i="1" dirty="0" smtClean="0">
                <a:solidFill>
                  <a:srgbClr val="00B050"/>
                </a:solidFill>
              </a:rPr>
              <a:t>Totalizando 18 atributos.</a:t>
            </a:r>
            <a:endParaRPr lang="pt-BR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5668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Motion </a:t>
            </a:r>
            <a:r>
              <a:rPr lang="pt-BR" dirty="0" err="1"/>
              <a:t>Classification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54" y="1655704"/>
            <a:ext cx="7023975" cy="395299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7472855" y="2614765"/>
            <a:ext cx="435128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rgbClr val="0070C0"/>
                </a:solidFill>
              </a:rPr>
              <a:t>3</a:t>
            </a:r>
            <a:r>
              <a:rPr lang="pt-BR" sz="2400" b="1" i="1" dirty="0" smtClean="0">
                <a:solidFill>
                  <a:srgbClr val="0070C0"/>
                </a:solidFill>
              </a:rPr>
              <a:t>. Etapa do pré-processamento: Densidade espectral de potência.</a:t>
            </a:r>
          </a:p>
          <a:p>
            <a:pPr algn="ctr"/>
            <a:r>
              <a:rPr lang="pt-BR" sz="2400" b="1" i="1" dirty="0" smtClean="0">
                <a:solidFill>
                  <a:srgbClr val="00B05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Divide-se a largura de banda em 4 e calcula-se a densidade de potência para cada região. Assim, temos 4 regiões * </a:t>
            </a:r>
            <a:r>
              <a:rPr lang="pt-BR" sz="2400" b="1" i="1" dirty="0">
                <a:solidFill>
                  <a:srgbClr val="00B05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3 </a:t>
            </a:r>
            <a:r>
              <a:rPr lang="pt-BR" sz="2400" b="1" i="1" dirty="0" smtClean="0">
                <a:solidFill>
                  <a:srgbClr val="00B05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eixos = </a:t>
            </a:r>
            <a:r>
              <a:rPr lang="pt-BR" sz="2400" b="1" i="1" dirty="0">
                <a:solidFill>
                  <a:srgbClr val="00B05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12 </a:t>
            </a:r>
            <a:r>
              <a:rPr lang="pt-BR" sz="2400" b="1" i="1" dirty="0" smtClean="0">
                <a:solidFill>
                  <a:srgbClr val="00B05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atributos.</a:t>
            </a:r>
            <a:endParaRPr lang="pt-BR" sz="2400" b="1" i="1" dirty="0" smtClean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8076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Motion </a:t>
            </a:r>
            <a:r>
              <a:rPr lang="pt-BR" dirty="0" err="1"/>
              <a:t>Classification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4"/>
          <a:srcRect l="4527" t="11372" r="1567" b="2679"/>
          <a:stretch/>
        </p:blipFill>
        <p:spPr>
          <a:xfrm>
            <a:off x="0" y="1072055"/>
            <a:ext cx="9733115" cy="50134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9222828" y="3860240"/>
            <a:ext cx="24436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 smtClean="0">
                <a:solidFill>
                  <a:srgbClr val="0070C0"/>
                </a:solidFill>
              </a:rPr>
              <a:t>Portanto, a rede neural terá 33 atributos de entrada.</a:t>
            </a:r>
            <a:endParaRPr lang="pt-BR" sz="2400" b="1" i="1" dirty="0" smtClean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0230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Motion </a:t>
            </a:r>
            <a:r>
              <a:rPr lang="pt-BR" dirty="0" err="1"/>
              <a:t>Classification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4"/>
          <a:srcRect l="4527" t="11895" r="2323" b="14580"/>
          <a:stretch/>
        </p:blipFill>
        <p:spPr>
          <a:xfrm>
            <a:off x="0" y="1213945"/>
            <a:ext cx="10256726" cy="4556234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7517" y="4724582"/>
            <a:ext cx="1560786" cy="809115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8907517" y="4635653"/>
            <a:ext cx="28226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 smtClean="0"/>
              <a:t>Parado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 smtClean="0"/>
              <a:t>Sendo erguido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 smtClean="0"/>
              <a:t>Mar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 smtClean="0"/>
              <a:t>Caminhão</a:t>
            </a:r>
            <a:endParaRPr lang="pt-BR" sz="1600" b="1" dirty="0"/>
          </a:p>
        </p:txBody>
      </p:sp>
    </p:spTree>
    <p:extLst>
      <p:ext uri="{BB962C8B-B14F-4D97-AF65-F5344CB8AC3E}">
        <p14:creationId xmlns:p14="http://schemas.microsoft.com/office/powerpoint/2010/main" val="1381615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Motion </a:t>
            </a:r>
            <a:r>
              <a:rPr lang="pt-BR" dirty="0" err="1"/>
              <a:t>Classification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692" y="1860823"/>
            <a:ext cx="9803416" cy="2190915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2172804" y="4427792"/>
            <a:ext cx="7643191" cy="134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400" b="1" i="1" dirty="0" smtClean="0">
                <a:solidFill>
                  <a:srgbClr val="7030A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Vamos usar o Edge Impulse para criar essa aplicação.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400" b="1" i="1" dirty="0" smtClean="0">
                <a:solidFill>
                  <a:srgbClr val="7030A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Com ele, vamos desde a coleta de dados, passando pelo pré-processamento, até a inferência no dispositivo.</a:t>
            </a:r>
          </a:p>
        </p:txBody>
      </p:sp>
      <p:sp>
        <p:nvSpPr>
          <p:cNvPr id="8" name="Retângulo 7"/>
          <p:cNvSpPr/>
          <p:nvPr/>
        </p:nvSpPr>
        <p:spPr>
          <a:xfrm>
            <a:off x="3511330" y="6065695"/>
            <a:ext cx="4966138" cy="619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8" algn="just">
              <a:lnSpc>
                <a:spcPct val="107000"/>
              </a:lnSpc>
              <a:spcAft>
                <a:spcPts val="533"/>
              </a:spcAft>
            </a:pPr>
            <a:r>
              <a:rPr lang="pt-BR" sz="1600" dirty="0" smtClean="0">
                <a:ea typeface="Calibri" panose="020F0502020204030204" pitchFamily="34" charset="0"/>
                <a:cs typeface="Arial" panose="020B0604020202020204" pitchFamily="34" charset="0"/>
              </a:rPr>
              <a:t>OBS.: O Edge Impulse faz toda a análise espectral (i.e., o pré-processamento) de forma automática.</a:t>
            </a:r>
          </a:p>
        </p:txBody>
      </p:sp>
    </p:spTree>
    <p:extLst>
      <p:ext uri="{BB962C8B-B14F-4D97-AF65-F5344CB8AC3E}">
        <p14:creationId xmlns:p14="http://schemas.microsoft.com/office/powerpoint/2010/main" val="1603406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Motion </a:t>
            </a:r>
            <a:r>
              <a:rPr lang="pt-BR" dirty="0" err="1"/>
              <a:t>Classification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6565348" y="3718682"/>
            <a:ext cx="4966138" cy="14754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800" b="1" i="1" dirty="0" smtClean="0">
                <a:solidFill>
                  <a:srgbClr val="00B05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Vamos criar a base </a:t>
            </a:r>
            <a:r>
              <a:rPr lang="pt-BR" sz="2800" b="1" i="1" dirty="0">
                <a:solidFill>
                  <a:srgbClr val="00B05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de </a:t>
            </a:r>
            <a:r>
              <a:rPr lang="pt-BR" sz="2800" b="1" i="1" dirty="0" smtClean="0">
                <a:solidFill>
                  <a:srgbClr val="00B05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dados no Edge </a:t>
            </a:r>
            <a:r>
              <a:rPr lang="pt-BR" sz="2800" b="1" i="1" dirty="0">
                <a:solidFill>
                  <a:srgbClr val="00B05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I</a:t>
            </a:r>
            <a:r>
              <a:rPr lang="pt-BR" sz="2800" b="1" i="1" dirty="0" smtClean="0">
                <a:solidFill>
                  <a:srgbClr val="00B05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mpulse com o acelerômetro do celular</a:t>
            </a:r>
            <a:r>
              <a:rPr lang="pt-BR" sz="2800" b="1" i="1" dirty="0">
                <a:solidFill>
                  <a:srgbClr val="00B05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pt-BR" sz="2800" b="1" i="1" dirty="0" smtClean="0">
              <a:solidFill>
                <a:srgbClr val="00B05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65" y="1436536"/>
            <a:ext cx="5618421" cy="4278463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5957" y="1436536"/>
            <a:ext cx="3171825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170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Motion </a:t>
            </a:r>
            <a:r>
              <a:rPr lang="pt-BR" dirty="0" err="1"/>
              <a:t>Classification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0" name="Grupo 9"/>
          <p:cNvGrpSpPr/>
          <p:nvPr/>
        </p:nvGrpSpPr>
        <p:grpSpPr>
          <a:xfrm>
            <a:off x="304800" y="2356626"/>
            <a:ext cx="11582400" cy="1830297"/>
            <a:chOff x="304800" y="2877817"/>
            <a:chExt cx="11582400" cy="1830297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800" y="2877817"/>
              <a:ext cx="10494579" cy="1830297"/>
            </a:xfrm>
            <a:prstGeom prst="rect">
              <a:avLst/>
            </a:prstGeom>
          </p:spPr>
        </p:pic>
        <p:sp>
          <p:nvSpPr>
            <p:cNvPr id="6" name="CaixaDeTexto 5"/>
            <p:cNvSpPr txBox="1"/>
            <p:nvPr/>
          </p:nvSpPr>
          <p:spPr>
            <a:xfrm>
              <a:off x="9616965" y="3365936"/>
              <a:ext cx="2270235" cy="107721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600" b="1" dirty="0" smtClean="0"/>
                <a:t>Parado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600" b="1" dirty="0" smtClean="0"/>
                <a:t>Sendo erguido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600" b="1" dirty="0" smtClean="0"/>
                <a:t>Mar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600" b="1" dirty="0" smtClean="0"/>
                <a:t>Caminhão</a:t>
              </a:r>
              <a:endParaRPr lang="pt-BR" sz="1600" b="1" dirty="0"/>
            </a:p>
          </p:txBody>
        </p:sp>
      </p:grpSp>
      <p:sp>
        <p:nvSpPr>
          <p:cNvPr id="9" name="Retângulo 8"/>
          <p:cNvSpPr/>
          <p:nvPr/>
        </p:nvSpPr>
        <p:spPr>
          <a:xfrm>
            <a:off x="3192517" y="4584077"/>
            <a:ext cx="5295462" cy="14754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8" algn="ctr">
              <a:lnSpc>
                <a:spcPct val="107000"/>
              </a:lnSpc>
              <a:spcAft>
                <a:spcPts val="533"/>
              </a:spcAft>
            </a:pPr>
            <a:r>
              <a:rPr lang="pt-BR" sz="2800" b="1" i="1" dirty="0" smtClean="0">
                <a:solidFill>
                  <a:srgbClr val="00B05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Na sequência projetaremos, treinaremos e testaremos o modelo.</a:t>
            </a:r>
            <a:endParaRPr lang="pt-BR" sz="2800" b="1" i="1" dirty="0">
              <a:solidFill>
                <a:srgbClr val="00B05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988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Motion </a:t>
            </a:r>
            <a:r>
              <a:rPr lang="pt-BR" dirty="0" err="1"/>
              <a:t>Classification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4"/>
          <a:srcRect l="18750" t="10580" r="2418" b="10290"/>
          <a:stretch/>
        </p:blipFill>
        <p:spPr>
          <a:xfrm>
            <a:off x="954157" y="1599871"/>
            <a:ext cx="8309113" cy="4691599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2206488" y="989584"/>
            <a:ext cx="5114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Passos para criação do classificador via Edge Impulse</a:t>
            </a:r>
          </a:p>
        </p:txBody>
      </p:sp>
    </p:spTree>
    <p:extLst>
      <p:ext uri="{BB962C8B-B14F-4D97-AF65-F5344CB8AC3E}">
        <p14:creationId xmlns:p14="http://schemas.microsoft.com/office/powerpoint/2010/main" val="164149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Motion </a:t>
            </a:r>
            <a:r>
              <a:rPr lang="pt-BR" dirty="0" err="1"/>
              <a:t>Classification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4"/>
          <a:srcRect l="11087" t="2899" b="2174"/>
          <a:stretch/>
        </p:blipFill>
        <p:spPr>
          <a:xfrm>
            <a:off x="1729408" y="1386706"/>
            <a:ext cx="7478123" cy="4490988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2206488" y="989584"/>
            <a:ext cx="4873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1. Conectando o dispositivo para coleta dos dados</a:t>
            </a:r>
          </a:p>
        </p:txBody>
      </p:sp>
    </p:spTree>
    <p:extLst>
      <p:ext uri="{BB962C8B-B14F-4D97-AF65-F5344CB8AC3E}">
        <p14:creationId xmlns:p14="http://schemas.microsoft.com/office/powerpoint/2010/main" val="3294265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Motion </a:t>
            </a:r>
            <a:r>
              <a:rPr lang="pt-BR" dirty="0" err="1"/>
              <a:t>Classification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2206488" y="989584"/>
            <a:ext cx="2014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2. Coleta dos dados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4"/>
          <a:srcRect l="978" t="3478" r="1685" b="3914"/>
          <a:stretch/>
        </p:blipFill>
        <p:spPr>
          <a:xfrm>
            <a:off x="1192696" y="1513993"/>
            <a:ext cx="8666921" cy="4638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648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Motion </a:t>
            </a:r>
            <a:r>
              <a:rPr lang="pt-BR" dirty="0" err="1"/>
              <a:t>Classification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4"/>
          <a:srcRect l="9457" t="13479" r="5598" b="6232"/>
          <a:stretch/>
        </p:blipFill>
        <p:spPr>
          <a:xfrm>
            <a:off x="1162877" y="1726317"/>
            <a:ext cx="8100391" cy="4306734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206488" y="989584"/>
            <a:ext cx="2010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  <a:r>
              <a:rPr lang="pt-BR" dirty="0" smtClean="0"/>
              <a:t>. Criar um impulse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7827922" y="5005528"/>
            <a:ext cx="2270235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b="1" dirty="0" smtClean="0"/>
              <a:t>Parado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b="1" dirty="0" smtClean="0"/>
              <a:t>Sendo erguido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b="1" dirty="0" smtClean="0"/>
              <a:t>Mar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b="1" dirty="0" smtClean="0"/>
              <a:t>Caminhão</a:t>
            </a:r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2250819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Motion </a:t>
            </a:r>
            <a:r>
              <a:rPr lang="pt-BR" dirty="0" err="1"/>
              <a:t>Classification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4"/>
          <a:srcRect t="2899" r="12282" b="5652"/>
          <a:stretch/>
        </p:blipFill>
        <p:spPr>
          <a:xfrm>
            <a:off x="1341782" y="1600541"/>
            <a:ext cx="7643191" cy="4482206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206488" y="989584"/>
            <a:ext cx="3238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4. Pré-processamento dos dados</a:t>
            </a:r>
          </a:p>
        </p:txBody>
      </p:sp>
    </p:spTree>
    <p:extLst>
      <p:ext uri="{BB962C8B-B14F-4D97-AF65-F5344CB8AC3E}">
        <p14:creationId xmlns:p14="http://schemas.microsoft.com/office/powerpoint/2010/main" val="2875621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Motion </a:t>
            </a:r>
            <a:r>
              <a:rPr lang="pt-BR" dirty="0" err="1"/>
              <a:t>Classification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2206488" y="989584"/>
            <a:ext cx="5148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  <a:r>
              <a:rPr lang="pt-BR" dirty="0" smtClean="0"/>
              <a:t>. Projetar um modelo, treiná-lo e avaliar o resultado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4"/>
          <a:srcRect t="2754" r="11223" b="5362"/>
          <a:stretch/>
        </p:blipFill>
        <p:spPr>
          <a:xfrm>
            <a:off x="875022" y="1403408"/>
            <a:ext cx="8467761" cy="4929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348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Motion </a:t>
            </a:r>
            <a:r>
              <a:rPr lang="pt-BR" dirty="0" err="1"/>
              <a:t>Classification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2206488" y="989584"/>
            <a:ext cx="5013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  <a:r>
              <a:rPr lang="pt-BR" dirty="0" smtClean="0"/>
              <a:t>. Avaliar a capacidade de generalização do modelo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4"/>
          <a:srcRect l="978" t="2609" r="13180" b="5652"/>
          <a:stretch/>
        </p:blipFill>
        <p:spPr>
          <a:xfrm>
            <a:off x="1073426" y="1358916"/>
            <a:ext cx="8209722" cy="493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674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Motion </a:t>
            </a:r>
            <a:r>
              <a:rPr lang="pt-BR" dirty="0" err="1"/>
              <a:t>Classification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2206488" y="989584"/>
            <a:ext cx="5698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7. Converter o modelo, fazer o </a:t>
            </a:r>
            <a:r>
              <a:rPr lang="pt-BR" dirty="0" err="1" smtClean="0"/>
              <a:t>deploy</a:t>
            </a:r>
            <a:r>
              <a:rPr lang="pt-BR" dirty="0" smtClean="0"/>
              <a:t> e realizar inferências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63" y="2429247"/>
            <a:ext cx="3568522" cy="240590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8785" y="2404563"/>
            <a:ext cx="2227215" cy="2455274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9200" y="2285559"/>
            <a:ext cx="5689499" cy="2693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547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Edge Impulse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2000" b="1" dirty="0" smtClean="0">
                <a:ea typeface="Calibri" panose="020F0502020204030204" pitchFamily="34" charset="0"/>
                <a:cs typeface="Arial" panose="020B0604020202020204" pitchFamily="34" charset="0"/>
              </a:rPr>
              <a:t>Trabalho: Movendo uma cadeira de rodas com a cabeça </a:t>
            </a:r>
            <a:endParaRPr lang="pt-BR" sz="2000" b="1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Criar um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dataset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para classificação de movimento para movimentação de uma cadeira de rodas com uso </a:t>
            </a:r>
            <a:r>
              <a:rPr lang="pt-BR" sz="2000" dirty="0" smtClean="0">
                <a:ea typeface="Calibri" panose="020F0502020204030204" pitchFamily="34" charset="0"/>
                <a:cs typeface="Arial" panose="020B0604020202020204" pitchFamily="34" charset="0"/>
              </a:rPr>
              <a:t>do 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movimento da cabeça, treinar pelo menos três movimentos no Edge Impulse</a:t>
            </a:r>
            <a:r>
              <a:rPr lang="pt-BR" sz="2000" dirty="0" smtClean="0"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Exemplo: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xmlns="" id="{805DE0C9-CC2B-9A66-2836-0B5BA9411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5390" y="3232009"/>
            <a:ext cx="7886460" cy="242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3665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 err="1" smtClean="0"/>
              <a:t>Spectral</a:t>
            </a:r>
            <a:r>
              <a:rPr lang="pt-BR" dirty="0" smtClean="0"/>
              <a:t> </a:t>
            </a:r>
            <a:r>
              <a:rPr lang="pt-BR" dirty="0" err="1" smtClean="0"/>
              <a:t>Analysis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11433313" cy="433041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000" smtClean="0"/>
              <a:t>Referências</a:t>
            </a:r>
            <a:endParaRPr lang="pt-BR" sz="2000" dirty="0"/>
          </a:p>
          <a:p>
            <a:pPr marL="0" indent="0">
              <a:buNone/>
            </a:pPr>
            <a:r>
              <a:rPr lang="pt-BR" sz="2000" dirty="0"/>
              <a:t>[1] </a:t>
            </a:r>
            <a:r>
              <a:rPr lang="pt-BR" sz="2000" dirty="0">
                <a:hlinkClick r:id="rId4"/>
              </a:rPr>
              <a:t>https://</a:t>
            </a:r>
            <a:r>
              <a:rPr lang="pt-BR" sz="2000" dirty="0" smtClean="0">
                <a:hlinkClick r:id="rId4"/>
              </a:rPr>
              <a:t>github.com/Mjrovai/UNIFEI-IESTI01-TinyML/blob/main/00_Curse_Folder/2_Applications_Deploy/Class_20/EI_Studio-Spectral_Analysis-Updated_March-23.pdf</a:t>
            </a:r>
            <a:endParaRPr lang="pt-BR" sz="2000" dirty="0"/>
          </a:p>
          <a:p>
            <a:pPr marL="0" indent="0">
              <a:buNone/>
            </a:pPr>
            <a:r>
              <a:rPr lang="pt-BR" sz="2000" dirty="0"/>
              <a:t>[2] </a:t>
            </a:r>
            <a:r>
              <a:rPr lang="pt-BR" sz="2000" dirty="0">
                <a:hlinkClick r:id="rId5"/>
              </a:rPr>
              <a:t>https://</a:t>
            </a:r>
            <a:r>
              <a:rPr lang="pt-BR" sz="2000" dirty="0" smtClean="0">
                <a:hlinkClick r:id="rId5"/>
              </a:rPr>
              <a:t>colab.research.google.com/github/Mjrovai/TinyML4D/blob/main/SciTinyM-2023/Edge_Impulse-Spectral_Analysis_Block/Edge_Impulse_Spectral_Analysis_Block_V3.ipynb#scrollTo=09cf0268</a:t>
            </a:r>
            <a:endParaRPr lang="pt-BR" sz="2000" dirty="0" smtClean="0"/>
          </a:p>
          <a:p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4232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Pós Modelo 1" id="{1890BCC5-262A-4203-9447-FAC66B7F6DAC}" vid="{D23E53B5-32D4-4E89-8BD3-27CFCC7177E3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15969</TotalTime>
  <Words>665</Words>
  <Application>Microsoft Office PowerPoint</Application>
  <PresentationFormat>Widescreen</PresentationFormat>
  <Paragraphs>161</Paragraphs>
  <Slides>33</Slides>
  <Notes>33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Tema do Office</vt:lpstr>
      <vt:lpstr>1_Tema do Office</vt:lpstr>
      <vt:lpstr>TP557 - Tópicos avançados em IoT e Machine Learning: Motion Classification</vt:lpstr>
      <vt:lpstr>Motion Classification</vt:lpstr>
      <vt:lpstr>Motion Classification</vt:lpstr>
      <vt:lpstr>Motion Classification</vt:lpstr>
      <vt:lpstr>Motion Classification</vt:lpstr>
      <vt:lpstr>Motion Classification</vt:lpstr>
      <vt:lpstr>Motion Classification</vt:lpstr>
      <vt:lpstr>Motion Classification</vt:lpstr>
      <vt:lpstr>Motion Classification</vt:lpstr>
      <vt:lpstr>Motion Classification</vt:lpstr>
      <vt:lpstr>Motion Classification</vt:lpstr>
      <vt:lpstr>Motion Classification</vt:lpstr>
      <vt:lpstr>Motion Classification</vt:lpstr>
      <vt:lpstr>Motion Classification</vt:lpstr>
      <vt:lpstr>Motion Classification</vt:lpstr>
      <vt:lpstr>Motion Classification</vt:lpstr>
      <vt:lpstr>Motion Classification</vt:lpstr>
      <vt:lpstr>Motion Classification</vt:lpstr>
      <vt:lpstr>Motion Classification</vt:lpstr>
      <vt:lpstr>Motion Classification</vt:lpstr>
      <vt:lpstr>Motion Classification</vt:lpstr>
      <vt:lpstr>Motion Classification</vt:lpstr>
      <vt:lpstr>Motion Classification</vt:lpstr>
      <vt:lpstr>Motion Classification</vt:lpstr>
      <vt:lpstr>Motion Classification</vt:lpstr>
      <vt:lpstr>Motion Classification</vt:lpstr>
      <vt:lpstr>Motion Classification</vt:lpstr>
      <vt:lpstr>Motion Classification</vt:lpstr>
      <vt:lpstr>Motion Classification</vt:lpstr>
      <vt:lpstr>Motion Classification</vt:lpstr>
      <vt:lpstr>Motion Classification</vt:lpstr>
      <vt:lpstr>Edge Impulse</vt:lpstr>
      <vt:lpstr>Spectral Analysis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Felipe Augusto Pereira de Figueiredo</cp:lastModifiedBy>
  <cp:revision>2392</cp:revision>
  <dcterms:created xsi:type="dcterms:W3CDTF">2020-01-20T13:50:05Z</dcterms:created>
  <dcterms:modified xsi:type="dcterms:W3CDTF">2025-04-21T20:31:44Z</dcterms:modified>
</cp:coreProperties>
</file>