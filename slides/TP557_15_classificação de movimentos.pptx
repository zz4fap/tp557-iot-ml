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7"/>
  </p:notesMasterIdLst>
  <p:handoutMasterIdLst>
    <p:handoutMasterId r:id="rId48"/>
  </p:handoutMasterIdLst>
  <p:sldIdLst>
    <p:sldId id="256" r:id="rId3"/>
    <p:sldId id="583" r:id="rId4"/>
    <p:sldId id="591" r:id="rId5"/>
    <p:sldId id="635" r:id="rId6"/>
    <p:sldId id="586" r:id="rId7"/>
    <p:sldId id="587" r:id="rId8"/>
    <p:sldId id="588" r:id="rId9"/>
    <p:sldId id="589" r:id="rId10"/>
    <p:sldId id="590" r:id="rId11"/>
    <p:sldId id="585" r:id="rId12"/>
    <p:sldId id="592" r:id="rId13"/>
    <p:sldId id="599" r:id="rId14"/>
    <p:sldId id="636" r:id="rId15"/>
    <p:sldId id="637" r:id="rId16"/>
    <p:sldId id="601" r:id="rId17"/>
    <p:sldId id="604" r:id="rId18"/>
    <p:sldId id="606" r:id="rId19"/>
    <p:sldId id="638" r:id="rId20"/>
    <p:sldId id="603" r:id="rId21"/>
    <p:sldId id="608" r:id="rId22"/>
    <p:sldId id="609" r:id="rId23"/>
    <p:sldId id="610" r:id="rId24"/>
    <p:sldId id="611" r:id="rId25"/>
    <p:sldId id="616" r:id="rId26"/>
    <p:sldId id="614" r:id="rId27"/>
    <p:sldId id="613" r:id="rId28"/>
    <p:sldId id="615" r:id="rId29"/>
    <p:sldId id="617" r:id="rId30"/>
    <p:sldId id="621" r:id="rId31"/>
    <p:sldId id="622" r:id="rId32"/>
    <p:sldId id="618" r:id="rId33"/>
    <p:sldId id="623" r:id="rId34"/>
    <p:sldId id="624" r:id="rId35"/>
    <p:sldId id="625" r:id="rId36"/>
    <p:sldId id="627" r:id="rId37"/>
    <p:sldId id="628" r:id="rId38"/>
    <p:sldId id="629" r:id="rId39"/>
    <p:sldId id="630" r:id="rId40"/>
    <p:sldId id="631" r:id="rId41"/>
    <p:sldId id="632" r:id="rId42"/>
    <p:sldId id="633" r:id="rId43"/>
    <p:sldId id="634" r:id="rId44"/>
    <p:sldId id="584" r:id="rId45"/>
    <p:sldId id="626" r:id="rId4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2567" autoAdjust="0"/>
  </p:normalViewPr>
  <p:slideViewPr>
    <p:cSldViewPr snapToGrid="0">
      <p:cViewPr varScale="1">
        <p:scale>
          <a:sx n="61" d="100"/>
          <a:sy n="61" d="100"/>
        </p:scale>
        <p:origin x="1332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6.xml"/><Relationship Id="rId51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2/06/2025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9488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3901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2533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7115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4633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1843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3468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4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56868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0607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1530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Referencias</a:t>
            </a:r>
          </a:p>
          <a:p>
            <a:r>
              <a:rPr lang="pt-BR" dirty="0"/>
              <a:t>[1]</a:t>
            </a:r>
            <a:r>
              <a:rPr lang="pt-BR" baseline="0" dirty="0"/>
              <a:t> https://github.com/Mjrovai/UNIFEI-IESTI01-TinyML/blob/main/00_Curse_Folder/2_Applications_Deploy/Class_20/EI_Studio-Spectral_Analysis-Updated_March-23.pdf</a:t>
            </a:r>
          </a:p>
          <a:p>
            <a:r>
              <a:rPr lang="pt-BR" baseline="0" dirty="0"/>
              <a:t>[2] https://colab.research.google.com/github/Mjrovai/TinyML4D/blob/main/SciTinyM-2023/Edge_Impulse-Spectral_Analysis_Block/Edge_Impulse_Spectral_Analysis_Block_V3.ipynb#scrollTo=09cf0268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6342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04923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279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272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889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01186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7606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66883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0334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0356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86706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0F61BF9-F54A-1B0F-EE69-B5551D502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8DB39AAC-FDEB-3D1A-DDD4-25CE9357F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85182E01-5367-476F-0ED9-DA19C84F0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DE34AB70-7CEB-A581-5E5A-1DAEE5A72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1550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2A0BE52-DE05-5694-A691-017DC595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632F6667-9234-132D-52FF-EDA2CD6EE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9180FC65-EC03-910B-EAEE-9F6A420E3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79D30845-8209-8C5B-9D69-209AB0295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774956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6CDE323-B388-AEB5-6259-3DB4792D1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584F0570-8145-7D7D-CA44-0169957C5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8AA7BF6B-2C34-4D57-710B-243AF68BE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27329F7F-634E-79DC-EA99-0E58B9FB4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20475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AB0C4F9-7444-8C63-0E30-55D9AA661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0861F10B-4431-2118-1C7B-CDDEC29AE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57A15B89-E3FC-4F5C-1A44-F8EEB2C8E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59FA2686-1ECE-8D62-EF3F-72F740A70B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774997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CC8A004-0DFD-6481-C4DC-442D5CC8B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88CBA664-10B1-21B2-5C8D-97A62CB07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09E81696-55D4-B940-4A05-E60FAD1D40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928EBD7C-869A-9BA1-9AC6-A18588FC3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88943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6535583-97C1-719E-B6FC-2E5AFC13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DD1F9D3A-11BF-15EC-0CF5-07B608B60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6623D173-520F-2F8B-D9E8-86FC42316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BE8CD7DF-17BE-A0B0-D5A2-7353E8D9B0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802434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BDD258B-8B22-09AF-3398-87F2403C9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27CB1A2C-B5E1-2D2F-CDB2-88782CF1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B9C85CE0-950A-411C-1311-7EAEE9BD93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33C6A19D-93F4-016F-54C0-E6927B2244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287535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5411131-0911-C6FC-56CC-DD615878B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CFD81BC7-6E87-7368-97A2-858E9E212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6AD5F9DF-443A-D887-8EFF-04037260B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267B980C-58AD-592F-6BF9-3F8893D23E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8844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514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Mjrovai/TinyML4D/blob/main/SciTinyM-2023/Edge_Impulse-Spectral_Analysis_Block/Edge_Impulse_Spectral_Analysis_Block_V3.ipynb#scrollTo=09cf0268" TargetMode="External"/><Relationship Id="rId4" Type="http://schemas.openxmlformats.org/officeDocument/2006/relationships/hyperlink" Target="https://github.com/Mjrovai/UNIFEI-IESTI01-TinyML/blob/main/00_Curse_Folder/2_Applications_Deploy/Class_20/EI_Studio-Spectral_Analysis-Updated_March-23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=""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="" xmlns:a16="http://schemas.microsoft.com/office/drawing/2014/main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="" xmlns:a16="http://schemas.microsoft.com/office/drawing/2014/main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="" xmlns:a16="http://schemas.microsoft.com/office/drawing/2014/main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="" xmlns:a16="http://schemas.microsoft.com/office/drawing/2014/main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="" xmlns:a16="http://schemas.microsoft.com/office/drawing/2014/main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3150704" y="1873560"/>
            <a:ext cx="2196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Queda de dispositivos</a:t>
            </a:r>
            <a:endParaRPr lang="pt-BR" dirty="0"/>
          </a:p>
        </p:txBody>
      </p:sp>
      <p:sp>
        <p:nvSpPr>
          <p:cNvPr id="9" name="CaixaDeTexto 8"/>
          <p:cNvSpPr txBox="1"/>
          <p:nvPr/>
        </p:nvSpPr>
        <p:spPr>
          <a:xfrm>
            <a:off x="10420879" y="2012222"/>
            <a:ext cx="12125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Controle logístico</a:t>
            </a:r>
            <a:endParaRPr lang="pt-BR" dirty="0"/>
          </a:p>
        </p:txBody>
      </p:sp>
      <p:sp>
        <p:nvSpPr>
          <p:cNvPr id="13" name="CaixaDeTexto 12"/>
          <p:cNvSpPr txBox="1"/>
          <p:nvPr/>
        </p:nvSpPr>
        <p:spPr>
          <a:xfrm>
            <a:off x="10287001" y="4315001"/>
            <a:ext cx="1808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Monitoramento de animais</a:t>
            </a:r>
            <a:endParaRPr lang="pt-BR" dirty="0"/>
          </a:p>
        </p:txBody>
      </p:sp>
      <p:sp>
        <p:nvSpPr>
          <p:cNvPr id="11" name="CaixaDeTexto 10"/>
          <p:cNvSpPr txBox="1"/>
          <p:nvPr/>
        </p:nvSpPr>
        <p:spPr>
          <a:xfrm>
            <a:off x="3428999" y="6397991"/>
            <a:ext cx="4910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Exercícios físicos, movimento de cadeira de rodas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logístico usando um acelerômetro.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=""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logístico usando um acelerômetro.</a:t>
            </a:r>
          </a:p>
        </p:txBody>
      </p:sp>
      <p:pic>
        <p:nvPicPr>
          <p:cNvPr id="5" name="Picture 2" descr="im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6" t="18390" r="4421" b="28079"/>
          <a:stretch/>
        </p:blipFill>
        <p:spPr bwMode="auto">
          <a:xfrm>
            <a:off x="1467283" y="3017006"/>
            <a:ext cx="8269971" cy="2708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2310443" y="2125165"/>
            <a:ext cx="75636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/>
              <a:t>Um acelerômetro é um dispositivo </a:t>
            </a:r>
            <a:r>
              <a:rPr lang="pt-BR" dirty="0" smtClean="0"/>
              <a:t>usado </a:t>
            </a:r>
            <a:r>
              <a:rPr lang="pt-BR" dirty="0"/>
              <a:t>para medir forças de </a:t>
            </a:r>
            <a:r>
              <a:rPr lang="pt-BR" dirty="0" smtClean="0"/>
              <a:t>aceleração. </a:t>
            </a:r>
          </a:p>
          <a:p>
            <a:r>
              <a:rPr lang="pt-BR" dirty="0" smtClean="0"/>
              <a:t>O </a:t>
            </a:r>
            <a:r>
              <a:rPr lang="pt-BR" b="1" dirty="0"/>
              <a:t>LSM9DS1</a:t>
            </a:r>
            <a:r>
              <a:rPr lang="pt-BR" dirty="0"/>
              <a:t> </a:t>
            </a:r>
            <a:r>
              <a:rPr lang="pt-BR" dirty="0" smtClean="0"/>
              <a:t>mede a aceleração em 3 eixos.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52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=""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=""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</a:t>
            </a:r>
            <a:r>
              <a:rPr lang="pt-BR" sz="1800" dirty="0" smtClean="0">
                <a:ea typeface="Calibri" panose="020F0502020204030204" pitchFamily="34" charset="0"/>
                <a:cs typeface="Arial" panose="020B0604020202020204" pitchFamily="34" charset="0"/>
              </a:rPr>
              <a:t>em nenhum eixo.</a:t>
            </a:r>
            <a:endParaRPr lang="pt-BR" sz="18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="" xmlns:a16="http://schemas.microsoft.com/office/drawing/2014/main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="" xmlns:a16="http://schemas.microsoft.com/office/drawing/2014/main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736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(</a:t>
            </a:r>
            <a:r>
              <a:rPr lang="pt-BR" sz="2000" dirty="0" err="1" smtClean="0">
                <a:ea typeface="Calibri" panose="020F0502020204030204" pitchFamily="34" charset="0"/>
                <a:cs typeface="Arial" panose="020B0604020202020204" pitchFamily="34" charset="0"/>
              </a:rPr>
              <a:t>x,y,z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) devido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amostra coletada com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="" xmlns:a16="http://schemas.microsoft.com/office/drawing/2014/main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Aplicação: Classificação 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800" b="1" dirty="0">
              <a:solidFill>
                <a:srgbClr val="00B05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889" y="2678909"/>
            <a:ext cx="10703505" cy="2549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Série temporal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: cada amostra tem </a:t>
            </a:r>
            <a:r>
              <a:rPr lang="pt-BR" sz="1734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correlação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com as anteriores e posteriores.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</a:t>
            </a:r>
            <a:r>
              <a:rPr lang="pt-BR" sz="2000" b="1" i="1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processar janelas que capturem pelo menos um ciclo de movimento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, por exemplo, 2 segundos.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Que tipo de rede devemos usar?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561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Redes com memória, para que elas se lembrem do passado!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Redes baseadas em camadas </a:t>
            </a:r>
            <a:r>
              <a:rPr lang="pt-BR" sz="1600" dirty="0" smtClean="0">
                <a:ea typeface="Calibri" panose="020F0502020204030204" pitchFamily="34" charset="0"/>
                <a:cs typeface="Arial" panose="020B0604020202020204" pitchFamily="34" charset="0"/>
              </a:rPr>
              <a:t>do tipo </a:t>
            </a:r>
            <a:r>
              <a:rPr lang="pt-BR" sz="1600" dirty="0" err="1" smtClean="0">
                <a:ea typeface="Calibri" panose="020F0502020204030204" pitchFamily="34" charset="0"/>
                <a:cs typeface="Arial" panose="020B0604020202020204" pitchFamily="34" charset="0"/>
              </a:rPr>
              <a:t>Long</a:t>
            </a:r>
            <a:r>
              <a:rPr lang="pt-BR" sz="1600" dirty="0" smtClean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Short-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Term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Memory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(LSTM) e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Gated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Recurrent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Units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(GRU), por exemplo</a:t>
            </a:r>
            <a:r>
              <a:rPr lang="pt-BR" sz="1600" dirty="0" smtClean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  <a:endParaRPr lang="pt-BR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393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330966" y="4099034"/>
            <a:ext cx="241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7030A0"/>
                </a:solidFill>
              </a:rPr>
              <a:t>375 </a:t>
            </a:r>
            <a:r>
              <a:rPr lang="pt-BR" sz="2400" b="1" i="1" dirty="0">
                <a:solidFill>
                  <a:srgbClr val="7030A0"/>
                </a:solidFill>
              </a:rPr>
              <a:t>atributos de entrada!</a:t>
            </a:r>
          </a:p>
        </p:txBody>
      </p:sp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Precisamos de uma rede complexa (e.g., LSTM) para processar </a:t>
            </a:r>
            <a:r>
              <a:rPr lang="pt-BR" sz="2400" b="1" i="1" dirty="0" smtClean="0">
                <a:solidFill>
                  <a:srgbClr val="7030A0"/>
                </a:solidFill>
              </a:rPr>
              <a:t>todos </a:t>
            </a:r>
            <a:r>
              <a:rPr lang="pt-BR" sz="2400" b="1" i="1" dirty="0">
                <a:solidFill>
                  <a:srgbClr val="7030A0"/>
                </a:solidFill>
              </a:rPr>
              <a:t>os atributos de entrada e </a:t>
            </a:r>
            <a:r>
              <a:rPr lang="pt-BR" sz="2400" b="1" i="1" dirty="0" smtClean="0">
                <a:solidFill>
                  <a:schemeClr val="accent6"/>
                </a:solidFill>
              </a:rPr>
              <a:t>compreender os dados de </a:t>
            </a:r>
            <a:r>
              <a:rPr lang="pt-BR" sz="2400" b="1" i="1" dirty="0">
                <a:solidFill>
                  <a:schemeClr val="accent6"/>
                </a:solidFill>
              </a:rPr>
              <a:t>cada janela</a:t>
            </a:r>
            <a:r>
              <a:rPr lang="pt-BR" sz="2400" b="1" i="1" dirty="0">
                <a:solidFill>
                  <a:srgbClr val="7030A0"/>
                </a:solidFill>
              </a:rPr>
              <a:t>.</a:t>
            </a:r>
            <a:endParaRPr lang="pt-BR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169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 consequência é que o modelo consome mais memória e pode não operar em tempo real.</a:t>
            </a:r>
          </a:p>
          <a:p>
            <a:pPr algn="ctr"/>
            <a:endParaRPr lang="pt-BR" sz="2400" b="1" i="1" dirty="0">
              <a:solidFill>
                <a:srgbClr val="0070C0"/>
              </a:solidFill>
            </a:endParaRPr>
          </a:p>
          <a:p>
            <a:pPr algn="ctr"/>
            <a:r>
              <a:rPr lang="pt-BR" sz="2400" b="1" i="1" dirty="0">
                <a:solidFill>
                  <a:srgbClr val="FF0000"/>
                </a:solidFill>
              </a:rPr>
              <a:t>O que podemos fazer?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434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7612164" y="2376438"/>
            <a:ext cx="439857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Ao invés de termos uma rede muito complexa que faça a </a:t>
            </a:r>
            <a:r>
              <a:rPr lang="pt-BR" sz="2400" b="1" i="1" dirty="0">
                <a:solidFill>
                  <a:srgbClr val="FF0000"/>
                </a:solidFill>
              </a:rPr>
              <a:t>extração de atributos de forma automática</a:t>
            </a:r>
            <a:r>
              <a:rPr lang="pt-BR" sz="2400" b="1" i="1" dirty="0">
                <a:solidFill>
                  <a:srgbClr val="0070C0"/>
                </a:solidFill>
              </a:rPr>
              <a:t>, vamos</a:t>
            </a:r>
          </a:p>
          <a:p>
            <a:pPr algn="ctr"/>
            <a:r>
              <a:rPr lang="pt-BR" sz="2400" b="1" i="1" dirty="0" err="1">
                <a:solidFill>
                  <a:srgbClr val="0070C0"/>
                </a:solidFill>
              </a:rPr>
              <a:t>pré</a:t>
            </a:r>
            <a:r>
              <a:rPr lang="pt-BR" sz="2400" b="1" i="1" dirty="0">
                <a:solidFill>
                  <a:srgbClr val="0070C0"/>
                </a:solidFill>
              </a:rPr>
              <a:t>-processar os dados e </a:t>
            </a:r>
            <a:r>
              <a:rPr lang="pt-BR" sz="2400" b="1" i="1" dirty="0">
                <a:solidFill>
                  <a:srgbClr val="7030A0"/>
                </a:solidFill>
              </a:rPr>
              <a:t>extrair alguns atributos manualmente</a:t>
            </a:r>
            <a:r>
              <a:rPr lang="pt-BR" sz="2400" b="1" i="1" dirty="0">
                <a:solidFill>
                  <a:srgbClr val="0070C0"/>
                </a:solidFill>
              </a:rPr>
              <a:t>.</a:t>
            </a:r>
            <a:endParaRPr lang="pt-BR" sz="2400" dirty="0">
              <a:solidFill>
                <a:srgbClr val="FF0000"/>
              </a:solidFill>
            </a:endParaRPr>
          </a:p>
        </p:txBody>
      </p:sp>
      <p:pic>
        <p:nvPicPr>
          <p:cNvPr id="1028" name="Picture 4" descr="deep learning - What does end-to-end training mean? - Artificial  Intelligence Stack Exchange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" y="1501016"/>
            <a:ext cx="7610938" cy="4059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2562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3864336" y="4998508"/>
            <a:ext cx="4869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o valor RMS de cada um dos eixos.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0962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15" y="1081087"/>
            <a:ext cx="8343900" cy="469582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6400800" y="1943140"/>
            <a:ext cx="4869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2. 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a FFT dos sinais do 3 eixos.</a:t>
            </a:r>
            <a:br>
              <a:rPr lang="pt-BR" sz="2400" b="1" i="1" dirty="0">
                <a:solidFill>
                  <a:srgbClr val="0070C0"/>
                </a:solidFill>
              </a:rPr>
            </a:br>
            <a:r>
              <a:rPr lang="pt-BR" sz="2400" b="1" i="1" dirty="0">
                <a:solidFill>
                  <a:srgbClr val="00B050"/>
                </a:solidFill>
              </a:rPr>
              <a:t>Usamos como atributos de entrada: 3 valores de pico e suas respectivas frequências para cada eixo.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Totalizando 18 atributos.</a:t>
            </a:r>
            <a:endParaRPr lang="pt-BR" sz="2400" dirty="0">
              <a:solidFill>
                <a:srgbClr val="00B050"/>
              </a:solidFill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3980164" y="5799410"/>
            <a:ext cx="4231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 smtClean="0">
                <a:solidFill>
                  <a:srgbClr val="00B0F0"/>
                </a:solidFill>
              </a:rPr>
              <a:t>Extrair as frequências dos sinais</a:t>
            </a:r>
            <a:endParaRPr lang="pt-BR" sz="24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668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4" y="1655704"/>
            <a:ext cx="7023975" cy="395299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7472855" y="2614765"/>
            <a:ext cx="4351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3. Etapa do pré-processamento: Densidade espectral de potência.</a:t>
            </a:r>
          </a:p>
          <a:p>
            <a:pPr algn="ctr"/>
            <a:r>
              <a:rPr lang="pt-BR" sz="2400" b="1" i="1" dirty="0" smtClean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Método de </a:t>
            </a:r>
            <a:r>
              <a:rPr lang="pt-BR" sz="2400" b="1" i="1" dirty="0" err="1" smtClean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Welch</a:t>
            </a:r>
            <a:r>
              <a:rPr lang="pt-BR" sz="24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: Divide-se </a:t>
            </a:r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 largura de banda em 4 e calcula-se a densidade de potência para cada região. Assim, temos 4 regiões * 3 eixos = 12 atributos.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076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222828" y="3860240"/>
            <a:ext cx="244365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Portanto, </a:t>
            </a:r>
            <a:r>
              <a:rPr lang="pt-BR" sz="2400" b="1" i="1" dirty="0" smtClean="0">
                <a:solidFill>
                  <a:srgbClr val="0070C0"/>
                </a:solidFill>
              </a:rPr>
              <a:t>ao invés de 375 a </a:t>
            </a:r>
            <a:r>
              <a:rPr lang="pt-BR" sz="2400" b="1" i="1" dirty="0">
                <a:solidFill>
                  <a:srgbClr val="0070C0"/>
                </a:solidFill>
              </a:rPr>
              <a:t>rede neural terá 33 atributos de entrada.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30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Caminhão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7162028" y="3632200"/>
            <a:ext cx="46499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 smtClean="0">
                <a:solidFill>
                  <a:srgbClr val="7030A0"/>
                </a:solidFill>
              </a:rPr>
              <a:t>A janela de 2 [s] desliza de 80 [</a:t>
            </a:r>
            <a:r>
              <a:rPr lang="pt-BR" sz="2400" b="1" dirty="0" err="1" smtClean="0">
                <a:solidFill>
                  <a:srgbClr val="7030A0"/>
                </a:solidFill>
              </a:rPr>
              <a:t>ms</a:t>
            </a:r>
            <a:r>
              <a:rPr lang="pt-BR" sz="2400" b="1" dirty="0" smtClean="0">
                <a:solidFill>
                  <a:srgbClr val="7030A0"/>
                </a:solidFill>
              </a:rPr>
              <a:t>].</a:t>
            </a:r>
            <a:endParaRPr lang="pt-BR" sz="24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1615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92" y="1860823"/>
            <a:ext cx="9803416" cy="2190915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2172804" y="4427792"/>
            <a:ext cx="7643191" cy="134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usar o Edge Impulse para criar essa aplicação.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 ele, vamos desde a coleta de dados, passando pelo pré-processamento, até a inferência no dispositivo.</a:t>
            </a:r>
          </a:p>
        </p:txBody>
      </p:sp>
      <p:sp>
        <p:nvSpPr>
          <p:cNvPr id="8" name="Retângulo 7"/>
          <p:cNvSpPr/>
          <p:nvPr/>
        </p:nvSpPr>
        <p:spPr>
          <a:xfrm>
            <a:off x="3511330" y="6065695"/>
            <a:ext cx="4966138" cy="619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OBS.: O Edge Impulse faz toda a análise espectral (i.e., o pré-processamento) de forma automática.</a:t>
            </a:r>
          </a:p>
        </p:txBody>
      </p:sp>
    </p:spTree>
    <p:extLst>
      <p:ext uri="{BB962C8B-B14F-4D97-AF65-F5344CB8AC3E}">
        <p14:creationId xmlns:p14="http://schemas.microsoft.com/office/powerpoint/2010/main" val="16034060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565348" y="3718682"/>
            <a:ext cx="4966138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criar a base de dados no Edge Impulse com o acelerômetro do celular.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65" y="1436536"/>
            <a:ext cx="5618421" cy="427846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5957" y="1436536"/>
            <a:ext cx="31718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70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304800" y="2356626"/>
            <a:ext cx="11582400" cy="1830297"/>
            <a:chOff x="304800" y="2877817"/>
            <a:chExt cx="11582400" cy="1830297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800" y="2877817"/>
              <a:ext cx="10494579" cy="1830297"/>
            </a:xfrm>
            <a:prstGeom prst="rect">
              <a:avLst/>
            </a:prstGeom>
          </p:spPr>
        </p:pic>
        <p:sp>
          <p:nvSpPr>
            <p:cNvPr id="6" name="CaixaDeTexto 5"/>
            <p:cNvSpPr txBox="1"/>
            <p:nvPr/>
          </p:nvSpPr>
          <p:spPr>
            <a:xfrm>
              <a:off x="9616965" y="3365936"/>
              <a:ext cx="2270235" cy="107721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Parado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Sendo erguido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Mar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Caminhão</a:t>
              </a:r>
            </a:p>
          </p:txBody>
        </p:sp>
      </p:grpSp>
      <p:sp>
        <p:nvSpPr>
          <p:cNvPr id="9" name="Retângulo 8"/>
          <p:cNvSpPr/>
          <p:nvPr/>
        </p:nvSpPr>
        <p:spPr>
          <a:xfrm>
            <a:off x="3192517" y="4584077"/>
            <a:ext cx="5295462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ctr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Na sequência projetaremos, treinaremos e testaremos o modelo.</a:t>
            </a:r>
          </a:p>
        </p:txBody>
      </p:sp>
    </p:spTree>
    <p:extLst>
      <p:ext uri="{BB962C8B-B14F-4D97-AF65-F5344CB8AC3E}">
        <p14:creationId xmlns:p14="http://schemas.microsoft.com/office/powerpoint/2010/main" val="20319880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8750" t="10580" r="2418" b="10290"/>
          <a:stretch/>
        </p:blipFill>
        <p:spPr>
          <a:xfrm>
            <a:off x="954157" y="1599871"/>
            <a:ext cx="8309113" cy="4691599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2206488" y="989584"/>
            <a:ext cx="511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Passos para criação do classificador via Edge Impulse</a:t>
            </a:r>
          </a:p>
        </p:txBody>
      </p:sp>
    </p:spTree>
    <p:extLst>
      <p:ext uri="{BB962C8B-B14F-4D97-AF65-F5344CB8AC3E}">
        <p14:creationId xmlns:p14="http://schemas.microsoft.com/office/powerpoint/2010/main" val="1641497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/>
          <a:srcRect l="11087" t="2899" b="2174"/>
          <a:stretch/>
        </p:blipFill>
        <p:spPr>
          <a:xfrm>
            <a:off x="1729408" y="1386706"/>
            <a:ext cx="7478123" cy="4490988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2206488" y="989584"/>
            <a:ext cx="4873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1. Conectando o dispositivo para coleta dos dados</a:t>
            </a:r>
          </a:p>
        </p:txBody>
      </p:sp>
    </p:spTree>
    <p:extLst>
      <p:ext uri="{BB962C8B-B14F-4D97-AF65-F5344CB8AC3E}">
        <p14:creationId xmlns:p14="http://schemas.microsoft.com/office/powerpoint/2010/main" val="32942657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2206488" y="989584"/>
            <a:ext cx="2014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2. Coleta dos dados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3478" r="1685" b="3914"/>
          <a:stretch/>
        </p:blipFill>
        <p:spPr>
          <a:xfrm>
            <a:off x="1192696" y="1513993"/>
            <a:ext cx="8666921" cy="46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483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457" t="13479" r="5598" b="6232"/>
          <a:stretch/>
        </p:blipFill>
        <p:spPr>
          <a:xfrm>
            <a:off x="1162877" y="1726317"/>
            <a:ext cx="8100391" cy="4306734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3. Criar um impulse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7827922" y="5005528"/>
            <a:ext cx="22702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22508192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t="2899" r="12282" b="5652"/>
          <a:stretch/>
        </p:blipFill>
        <p:spPr>
          <a:xfrm>
            <a:off x="1341782" y="1600541"/>
            <a:ext cx="7643191" cy="4482206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323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4. Pré-processamento dos dados</a:t>
            </a:r>
          </a:p>
        </p:txBody>
      </p:sp>
    </p:spTree>
    <p:extLst>
      <p:ext uri="{BB962C8B-B14F-4D97-AF65-F5344CB8AC3E}">
        <p14:creationId xmlns:p14="http://schemas.microsoft.com/office/powerpoint/2010/main" val="28756214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14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5. Projetar um modelo, treiná-lo e avaliar o resultado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t="2754" r="11223" b="5362"/>
          <a:stretch/>
        </p:blipFill>
        <p:spPr>
          <a:xfrm>
            <a:off x="875022" y="1403408"/>
            <a:ext cx="8467761" cy="492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3483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013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6. Avaliar a capacidade de generalização do modelo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2609" r="13180" b="5652"/>
          <a:stretch/>
        </p:blipFill>
        <p:spPr>
          <a:xfrm>
            <a:off x="1073426" y="1358916"/>
            <a:ext cx="8209722" cy="493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745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698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7. Converter o modelo, fazer o </a:t>
            </a:r>
            <a:r>
              <a:rPr lang="pt-BR" dirty="0" err="1"/>
              <a:t>deploy</a:t>
            </a:r>
            <a:r>
              <a:rPr lang="pt-BR" dirty="0"/>
              <a:t> e realizar inferências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63" y="2429247"/>
            <a:ext cx="3568522" cy="240590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785" y="2404563"/>
            <a:ext cx="2227215" cy="245527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2285559"/>
            <a:ext cx="5689499" cy="269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5479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FCEC5E17-9C5B-F834-50C3-1134723E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84F848A-34E6-1C1C-AED1-51DD66C1D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A3A5285D-7A67-471D-2E36-2B08517654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B770A70B-B268-D8D4-8AE9-E112A4C91D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D354EEB1-E944-E116-9EE9-653EFCB4E72F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AAF69231-2866-FF08-E524-556A4C805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928" y="1358916"/>
            <a:ext cx="7575615" cy="5337013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="" xmlns:a16="http://schemas.microsoft.com/office/drawing/2014/main" id="{64276B45-B639-0112-4833-6DB223B08125}"/>
              </a:ext>
            </a:extLst>
          </p:cNvPr>
          <p:cNvSpPr/>
          <p:nvPr/>
        </p:nvSpPr>
        <p:spPr>
          <a:xfrm>
            <a:off x="1270382" y="4477406"/>
            <a:ext cx="315310" cy="23122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01C28F66-518D-0A9D-0DE3-F59BFD1E7042}"/>
              </a:ext>
            </a:extLst>
          </p:cNvPr>
          <p:cNvSpPr/>
          <p:nvPr/>
        </p:nvSpPr>
        <p:spPr>
          <a:xfrm>
            <a:off x="4281211" y="2820273"/>
            <a:ext cx="1481959" cy="7838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4284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3C2B3B50-641C-D39E-5D35-0E2C2E3B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A2FA6A6-CC6F-86A5-7700-8E6273742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F239EB79-C393-5E15-891F-C0AE56E85D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E9DA7DB3-4A01-304C-C577-BB14A98B6A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B53E708E-20B4-4655-47E7-F9A1DB0F6FB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7C569EB4-95DE-4760-AA8E-06523C9C1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508" y="1358916"/>
            <a:ext cx="9387840" cy="47653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05FE6851-7214-3CC7-EB40-5618BF764637}"/>
              </a:ext>
            </a:extLst>
          </p:cNvPr>
          <p:cNvSpPr/>
          <p:nvPr/>
        </p:nvSpPr>
        <p:spPr>
          <a:xfrm>
            <a:off x="5133878" y="4227755"/>
            <a:ext cx="2504051" cy="462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1796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A4DADA96-DA73-2CD2-1D6A-3ADC276E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CF78C56-71B2-0D23-BB3C-017243F59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F77EF25F-171D-8898-E9DD-63F407A7BB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A50E8242-FC8C-4525-943B-2980C27619C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88FD4278-E860-C7D8-5F10-07B285CEDD0E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2A5CA263-0E23-0B42-C3DF-C7FAA4DDF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952" y="1437773"/>
            <a:ext cx="8304030" cy="466873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F118F9CB-CE59-6D8F-A37E-EB555C6759AC}"/>
              </a:ext>
            </a:extLst>
          </p:cNvPr>
          <p:cNvSpPr/>
          <p:nvPr/>
        </p:nvSpPr>
        <p:spPr>
          <a:xfrm>
            <a:off x="4088524" y="1741214"/>
            <a:ext cx="2210676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741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E79424A6-3D35-1C9B-5272-C70A237F5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A942C1A-85B1-1839-A772-7C6A1A047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AA712374-64B6-060D-FC8C-33374DAAC4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FC25FC0B-6DF5-02C0-B681-98E351CBBB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75497CEC-6D2C-F93C-6467-85D5DB578587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58B75B9E-3749-627C-BF96-D3D9B93E4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072" y="1358917"/>
            <a:ext cx="8434812" cy="47422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1FB107BA-3083-06CB-92CB-A7C685FF32D0}"/>
              </a:ext>
            </a:extLst>
          </p:cNvPr>
          <p:cNvSpPr/>
          <p:nvPr/>
        </p:nvSpPr>
        <p:spPr>
          <a:xfrm>
            <a:off x="2764221" y="2561021"/>
            <a:ext cx="2210676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6208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74864F69-23ED-E5B5-845B-DDB5C40B7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B37F0A9-E046-41F1-C71F-46F8DAE37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FCEA513A-B79A-2CE2-6511-F5C8237EB7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D84B88CE-F6EF-F32E-B263-70EE0BF4A8B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493C04AC-5866-8EA8-A6EC-4BD39C5C585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24FE912D-4A25-B612-D137-E8EE17130C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731" y="1481401"/>
            <a:ext cx="8334703" cy="468598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FD28ED91-6161-7C61-DF93-E760EFA0C4AA}"/>
              </a:ext>
            </a:extLst>
          </p:cNvPr>
          <p:cNvSpPr/>
          <p:nvPr/>
        </p:nvSpPr>
        <p:spPr>
          <a:xfrm>
            <a:off x="6400800" y="3621192"/>
            <a:ext cx="1765738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1864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34794073-9196-424F-F7B0-BF301D771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5EBEEDB-AFAD-5AED-852F-79A49DFE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BC0E396-72AF-77BC-ED14-432C96B79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99BCAFB7-A306-C9ED-3A4D-D284C17D54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F3B622E3-0EC3-F7D0-2080-FD9C5C0138E0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6CDE2220-F585-6298-386A-30DE19E292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8179" y="1403408"/>
            <a:ext cx="8313430" cy="467402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70E6C035-3538-D71F-EFE6-089DA86A5DF4}"/>
              </a:ext>
            </a:extLst>
          </p:cNvPr>
          <p:cNvSpPr/>
          <p:nvPr/>
        </p:nvSpPr>
        <p:spPr>
          <a:xfrm>
            <a:off x="1198179" y="1715632"/>
            <a:ext cx="2543504" cy="2392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68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0CAC065A-5C37-D25D-F2DA-B71AFD08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80B7A91-C5BA-9FF9-E497-0941A195D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405533E9-EE15-D1D5-2ACE-5E5A1D2557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438CE793-3637-4B0C-9B87-7EBD06892F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677F500F-66C5-CA27-2171-F80165B6C641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01F71849-7BE9-7D99-1F29-870EAB32F6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978" y="1403408"/>
            <a:ext cx="8100190" cy="45541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939E6E91-E277-B6E1-8402-17CE2A894540}"/>
              </a:ext>
            </a:extLst>
          </p:cNvPr>
          <p:cNvSpPr/>
          <p:nvPr/>
        </p:nvSpPr>
        <p:spPr>
          <a:xfrm>
            <a:off x="6537436" y="4952817"/>
            <a:ext cx="3065732" cy="6386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7938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BD061EBB-1D6A-A83F-630E-B5983584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6CE4E54-D72A-2D58-E835-D464E7F2A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E4B08894-F76B-8B31-7E66-9973A71F62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4344071-C5C8-4DDB-FE2C-3AC6AEB71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51DBF995-AB95-22CA-713C-D26BD332057B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7F7D230B-C416-0797-60DD-BD63476E4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937" y="1403408"/>
            <a:ext cx="8282151" cy="46564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4717B127-B55C-9CF1-0604-612000FA9691}"/>
              </a:ext>
            </a:extLst>
          </p:cNvPr>
          <p:cNvSpPr/>
          <p:nvPr/>
        </p:nvSpPr>
        <p:spPr>
          <a:xfrm>
            <a:off x="2806262" y="2385849"/>
            <a:ext cx="1534510" cy="1786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4464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dirty="0">
                <a:ea typeface="Calibri" panose="020F0502020204030204" pitchFamily="34" charset="0"/>
                <a:cs typeface="Arial" panose="020B0604020202020204" pitchFamily="34" charset="0"/>
              </a:rPr>
              <a:t>Trabalho: Movendo uma cadeira de rodas com a cabeça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do 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390" y="3232009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Spectral</a:t>
            </a:r>
            <a:r>
              <a:rPr lang="pt-BR" dirty="0"/>
              <a:t> </a:t>
            </a:r>
            <a:r>
              <a:rPr lang="pt-BR" dirty="0" err="1"/>
              <a:t>Analysis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1433313" cy="43304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dirty="0"/>
              <a:t>Referências</a:t>
            </a:r>
          </a:p>
          <a:p>
            <a:pPr marL="0" indent="0">
              <a:buNone/>
            </a:pPr>
            <a:r>
              <a:rPr lang="pt-BR" sz="2000" dirty="0"/>
              <a:t>[1] </a:t>
            </a:r>
            <a:r>
              <a:rPr lang="pt-BR" sz="2000" dirty="0">
                <a:hlinkClick r:id="rId4"/>
              </a:rPr>
              <a:t>https://github.com/Mjrovai/UNIFEI-IESTI01-TinyML/blob/main/00_Curse_Folder/2_Applications_Deploy/Class_20/EI_Studio-Spectral_Analysis-Updated_March-23.pdf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[2] </a:t>
            </a:r>
            <a:r>
              <a:rPr lang="pt-BR" sz="2000" dirty="0">
                <a:hlinkClick r:id="rId5"/>
              </a:rPr>
              <a:t>https://colab.research.google.com/github/Mjrovai/TinyML4D/blob/main/SciTinyM-2023/Edge_Impulse-Spectral_Analysis_Block/Edge_Impulse_Spectral_Analysis_Block_V3.ipynb#scrollTo=09cf0268</a:t>
            </a:r>
            <a:endParaRPr lang="pt-BR" sz="2000" dirty="0"/>
          </a:p>
          <a:p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4232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16116</TotalTime>
  <Words>914</Words>
  <Application>Microsoft Office PowerPoint</Application>
  <PresentationFormat>Widescreen</PresentationFormat>
  <Paragraphs>208</Paragraphs>
  <Slides>44</Slides>
  <Notes>44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44</vt:i4>
      </vt:variant>
    </vt:vector>
  </HeadingPairs>
  <TitlesOfParts>
    <vt:vector size="49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  <vt:lpstr>Spectral Analysis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2425</cp:revision>
  <dcterms:created xsi:type="dcterms:W3CDTF">2020-01-20T13:50:05Z</dcterms:created>
  <dcterms:modified xsi:type="dcterms:W3CDTF">2025-06-03T02:16:16Z</dcterms:modified>
</cp:coreProperties>
</file>