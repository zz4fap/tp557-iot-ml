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8"/>
  </p:notesMasterIdLst>
  <p:handoutMasterIdLst>
    <p:handoutMasterId r:id="rId49"/>
  </p:handoutMasterIdLst>
  <p:sldIdLst>
    <p:sldId id="256" r:id="rId3"/>
    <p:sldId id="583" r:id="rId4"/>
    <p:sldId id="591" r:id="rId5"/>
    <p:sldId id="635" r:id="rId6"/>
    <p:sldId id="586" r:id="rId7"/>
    <p:sldId id="587" r:id="rId8"/>
    <p:sldId id="588" r:id="rId9"/>
    <p:sldId id="589" r:id="rId10"/>
    <p:sldId id="590" r:id="rId11"/>
    <p:sldId id="585" r:id="rId12"/>
    <p:sldId id="592" r:id="rId13"/>
    <p:sldId id="599" r:id="rId14"/>
    <p:sldId id="636" r:id="rId15"/>
    <p:sldId id="637" r:id="rId16"/>
    <p:sldId id="601" r:id="rId17"/>
    <p:sldId id="604" r:id="rId18"/>
    <p:sldId id="606" r:id="rId19"/>
    <p:sldId id="638" r:id="rId20"/>
    <p:sldId id="603" r:id="rId21"/>
    <p:sldId id="639" r:id="rId22"/>
    <p:sldId id="608" r:id="rId23"/>
    <p:sldId id="609" r:id="rId24"/>
    <p:sldId id="610" r:id="rId25"/>
    <p:sldId id="611" r:id="rId26"/>
    <p:sldId id="616" r:id="rId27"/>
    <p:sldId id="614" r:id="rId28"/>
    <p:sldId id="613" r:id="rId29"/>
    <p:sldId id="615" r:id="rId30"/>
    <p:sldId id="617" r:id="rId31"/>
    <p:sldId id="621" r:id="rId32"/>
    <p:sldId id="622" r:id="rId33"/>
    <p:sldId id="618" r:id="rId34"/>
    <p:sldId id="623" r:id="rId35"/>
    <p:sldId id="624" r:id="rId36"/>
    <p:sldId id="625" r:id="rId37"/>
    <p:sldId id="627" r:id="rId38"/>
    <p:sldId id="628" r:id="rId39"/>
    <p:sldId id="629" r:id="rId40"/>
    <p:sldId id="630" r:id="rId41"/>
    <p:sldId id="631" r:id="rId42"/>
    <p:sldId id="632" r:id="rId43"/>
    <p:sldId id="633" r:id="rId44"/>
    <p:sldId id="634" r:id="rId45"/>
    <p:sldId id="584" r:id="rId46"/>
    <p:sldId id="626" r:id="rId4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4/06/2025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94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390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253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18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C1C89-D12E-6B27-77CC-4F8D73A7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E45E163-C3E8-9DE5-9F79-ED77B40D5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03A9879-36D8-9095-E28D-304CEEE97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231E36-4744-6263-7124-870EEDCB5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64063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0C4F9-7444-8C63-0E30-55D9AA661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61F10B-4431-2118-1C7B-CDDEC29AE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15B89-E3FC-4F5C-1A44-F8EEB2C8E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FA2686-1ECE-8D62-EF3F-72F740A70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7499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8A004-0DFD-6481-C4DC-442D5CC8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CBA664-10B1-21B2-5C8D-97A62CB07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E81696-55D4-B940-4A05-E60FAD1D4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8EBD7C-869A-9BA1-9AC6-A18588FC3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89432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35583-97C1-719E-B6FC-2E5AFC13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D1F9D3A-11BF-15EC-0CF5-07B608B6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623D173-520F-2F8B-D9E8-86FC4231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8CD7DF-17BE-A0B0-D5A2-7353E8D9B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243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D258B-8B22-09AF-3398-87F2403C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7CB1A2C-B5E1-2D2F-CDB2-88782CF1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C85CE0-950A-411C-1311-7EAEE9BD9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3C6A19D-93F4-016F-54C0-E6927B224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7535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1131-0911-C6FC-56CC-DD615878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D81BC7-6E87-7368-97A2-858E9E212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D5F9DF-443A-D887-8EFF-04037260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67B980C-58AD-592F-6BF9-3F8893D23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88442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ocs.edgeimpulse.com/docs/edge-impulse-studio/processing-blocks/spectral-features" TargetMode="Externa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150704" y="1873560"/>
            <a:ext cx="2196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Queda de dispositivos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10420879" y="2012222"/>
            <a:ext cx="1212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Controle logístico</a:t>
            </a:r>
          </a:p>
        </p:txBody>
      </p:sp>
      <p:sp>
        <p:nvSpPr>
          <p:cNvPr id="13" name="CaixaDeTexto 12"/>
          <p:cNvSpPr txBox="1"/>
          <p:nvPr/>
        </p:nvSpPr>
        <p:spPr>
          <a:xfrm>
            <a:off x="10287001" y="4315001"/>
            <a:ext cx="180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Monitoramento de animais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3428999" y="6397991"/>
            <a:ext cx="4910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Exercícios físicos, movimento de cadeira de rodas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 usando um acelerômetro.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 usando um acelerômetro.</a:t>
            </a:r>
          </a:p>
        </p:txBody>
      </p:sp>
      <p:pic>
        <p:nvPicPr>
          <p:cNvPr id="5" name="Picture 2" descr="im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6" t="18390" r="4421" b="28079"/>
          <a:stretch/>
        </p:blipFill>
        <p:spPr bwMode="auto">
          <a:xfrm>
            <a:off x="1467283" y="3017006"/>
            <a:ext cx="8269971" cy="270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2310443" y="2125165"/>
            <a:ext cx="75636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Um acelerômetro é um dispositivo usado para medir forças de aceleração. </a:t>
            </a:r>
          </a:p>
          <a:p>
            <a:r>
              <a:rPr lang="pt-BR" dirty="0"/>
              <a:t>O </a:t>
            </a:r>
            <a:r>
              <a:rPr lang="pt-BR" b="1" dirty="0"/>
              <a:t>LSM9DS1</a:t>
            </a:r>
            <a:r>
              <a:rPr lang="pt-BR" dirty="0"/>
              <a:t> mede a aceleração em 3 eixos. </a:t>
            </a:r>
          </a:p>
        </p:txBody>
      </p:sp>
    </p:spTree>
    <p:extLst>
      <p:ext uri="{BB962C8B-B14F-4D97-AF65-F5344CB8AC3E}">
        <p14:creationId xmlns:p14="http://schemas.microsoft.com/office/powerpoint/2010/main" val="16652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em nenhum eixo.</a:t>
            </a:r>
          </a:p>
        </p:txBody>
      </p:sp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736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(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x,y,z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amostra coletada com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800" b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889" y="2678909"/>
            <a:ext cx="10703505" cy="254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Série temporal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: cada amostra tem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correlação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</a:t>
            </a:r>
            <a:r>
              <a:rPr lang="pt-BR" sz="2000" b="1" i="1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processar janelas que capturem pelo menos um ciclo de movimento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, por exemplo, 2 segundos.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rede devemos usar?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61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Redes com memória, para que elas se lembrem do passado!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Redes baseadas em camadas do tipo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Long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Short-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Term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Memory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(LSTM) e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Gated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Recurrent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Units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(GRU), por exemplo.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93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todos os atributos de entrada e </a:t>
            </a:r>
            <a:r>
              <a:rPr lang="pt-BR" sz="2400" b="1" i="1" dirty="0">
                <a:solidFill>
                  <a:schemeClr val="accent6"/>
                </a:solidFill>
              </a:rPr>
              <a:t>compreender os dados de cada janela</a:t>
            </a:r>
            <a:r>
              <a:rPr lang="pt-BR" sz="2400" b="1" i="1" dirty="0">
                <a:solidFill>
                  <a:srgbClr val="7030A0"/>
                </a:solidFill>
              </a:rPr>
              <a:t>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7612164" y="2376438"/>
            <a:ext cx="43985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</a:t>
            </a:r>
            <a:r>
              <a:rPr lang="pt-BR" sz="2400" b="1" i="1" dirty="0">
                <a:solidFill>
                  <a:srgbClr val="FF0000"/>
                </a:solidFill>
              </a:rPr>
              <a:t>extração de atributos de forma automática</a:t>
            </a:r>
            <a:r>
              <a:rPr lang="pt-BR" sz="2400" b="1" i="1" dirty="0">
                <a:solidFill>
                  <a:srgbClr val="0070C0"/>
                </a:solidFill>
              </a:rPr>
              <a:t>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</a:t>
            </a:r>
            <a:r>
              <a:rPr lang="pt-BR" sz="2400" b="1" i="1" dirty="0">
                <a:solidFill>
                  <a:srgbClr val="7030A0"/>
                </a:solidFill>
              </a:rPr>
              <a:t>extrair alguns atributos manualmente</a:t>
            </a:r>
            <a:r>
              <a:rPr lang="pt-BR" sz="2400" b="1" i="1" dirty="0">
                <a:solidFill>
                  <a:srgbClr val="0070C0"/>
                </a:solidFill>
              </a:rPr>
              <a:t>.</a:t>
            </a:r>
            <a:endParaRPr lang="pt-BR" sz="2400" dirty="0">
              <a:solidFill>
                <a:srgbClr val="FF0000"/>
              </a:solidFill>
            </a:endParaRPr>
          </a:p>
        </p:txBody>
      </p:sp>
      <p:pic>
        <p:nvPicPr>
          <p:cNvPr id="1028" name="Picture 4" descr="deep learning - What does end-to-end training mean? - Artificial  Intelligence Stack Exchang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" y="1501016"/>
            <a:ext cx="7610938" cy="405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62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7686565" y="3884411"/>
            <a:ext cx="3906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 usando o bloco “</a:t>
            </a:r>
            <a:r>
              <a:rPr lang="pt-BR" sz="2400" b="1" i="1" dirty="0" err="1">
                <a:solidFill>
                  <a:srgbClr val="0070C0"/>
                </a:solidFill>
              </a:rPr>
              <a:t>spectral</a:t>
            </a:r>
            <a:r>
              <a:rPr lang="pt-BR" sz="2400" b="1" i="1" dirty="0">
                <a:solidFill>
                  <a:srgbClr val="0070C0"/>
                </a:solidFill>
              </a:rPr>
              <a:t> </a:t>
            </a:r>
            <a:r>
              <a:rPr lang="pt-BR" sz="2400" b="1" i="1" dirty="0" err="1">
                <a:solidFill>
                  <a:srgbClr val="0070C0"/>
                </a:solidFill>
              </a:rPr>
              <a:t>analysis</a:t>
            </a:r>
            <a:r>
              <a:rPr lang="pt-BR" sz="2400" b="1" i="1" dirty="0">
                <a:solidFill>
                  <a:srgbClr val="0070C0"/>
                </a:solidFill>
              </a:rPr>
              <a:t>”</a:t>
            </a:r>
          </a:p>
        </p:txBody>
      </p:sp>
      <p:pic>
        <p:nvPicPr>
          <p:cNvPr id="5" name="Imagem 3">
            <a:extLst>
              <a:ext uri="{FF2B5EF4-FFF2-40B4-BE49-F238E27FC236}">
                <a16:creationId xmlns:a16="http://schemas.microsoft.com/office/drawing/2014/main" id="{9EE6FB7D-5479-EDE4-4185-EB57802F9A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0" t="65608" r="47753" b="14571"/>
          <a:stretch>
            <a:fillRect/>
          </a:stretch>
        </p:blipFill>
        <p:spPr>
          <a:xfrm>
            <a:off x="1229710" y="4231268"/>
            <a:ext cx="4399503" cy="1156138"/>
          </a:xfrm>
          <a:prstGeom prst="rect">
            <a:avLst/>
          </a:prstGeom>
        </p:spPr>
      </p:pic>
      <p:pic>
        <p:nvPicPr>
          <p:cNvPr id="9" name="Imagem 5">
            <a:extLst>
              <a:ext uri="{FF2B5EF4-FFF2-40B4-BE49-F238E27FC236}">
                <a16:creationId xmlns:a16="http://schemas.microsoft.com/office/drawing/2014/main" id="{EC627ECC-A86A-11B8-F8A6-9342084E7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0" y="1469988"/>
            <a:ext cx="9206398" cy="24144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B2BAE9-26A9-ABA3-F88B-98F2C95AA654}"/>
              </a:ext>
            </a:extLst>
          </p:cNvPr>
          <p:cNvSpPr txBox="1"/>
          <p:nvPr/>
        </p:nvSpPr>
        <p:spPr>
          <a:xfrm>
            <a:off x="3312753" y="1665227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 [s]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33F25D-38B2-E8A2-1C04-FC7DDE8C3517}"/>
              </a:ext>
            </a:extLst>
          </p:cNvPr>
          <p:cNvCxnSpPr/>
          <p:nvPr/>
        </p:nvCxnSpPr>
        <p:spPr>
          <a:xfrm flipH="1">
            <a:off x="2427890" y="2995448"/>
            <a:ext cx="567558" cy="11666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F12AF58-2C85-DC5D-8AA6-BD08251DDB3E}"/>
              </a:ext>
            </a:extLst>
          </p:cNvPr>
          <p:cNvSpPr txBox="1"/>
          <p:nvPr/>
        </p:nvSpPr>
        <p:spPr>
          <a:xfrm>
            <a:off x="2427890" y="634568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 O bloco foi substituído pelo “</a:t>
            </a:r>
            <a:r>
              <a:rPr lang="pt-BR" sz="1200" dirty="0" err="1"/>
              <a:t>Spectral</a:t>
            </a:r>
            <a:r>
              <a:rPr lang="pt-BR" sz="1200" dirty="0"/>
              <a:t> features” na versão mais recente</a:t>
            </a:r>
            <a:br>
              <a:rPr lang="pt-BR" sz="1200" dirty="0"/>
            </a:br>
            <a:r>
              <a:rPr lang="pt-BR" sz="1200" dirty="0">
                <a:hlinkClick r:id="rId6"/>
              </a:rPr>
              <a:t>https://docs.edgeimpulse.com/docs/edge-impulse-studio/processing-blocks/spectral-features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3C3D9-E1E0-104E-97E4-48B383F95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A4651-E5A2-79EF-A583-7E930C9CF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2D516248-A18E-E930-9EE0-A83ECCA056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4B25509-DC20-A3DE-289A-C485916C85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A5DAC06-C9C7-83C9-6EEB-7B7A802661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1BA8130-FE2B-4688-0751-0DD3C18C2DE1}"/>
              </a:ext>
            </a:extLst>
          </p:cNvPr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692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3980164" y="5799410"/>
            <a:ext cx="4231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00B0F0"/>
                </a:solidFill>
              </a:rPr>
              <a:t>Extrair as frequências dos sinais</a:t>
            </a: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Método de </a:t>
            </a:r>
            <a:r>
              <a:rPr lang="pt-BR" sz="2400" b="1" i="1" dirty="0" err="1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Welch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: 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ao invés de 375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7162028" y="3632200"/>
            <a:ext cx="4649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7030A0"/>
                </a:solidFill>
              </a:rPr>
              <a:t>A janela de 2 [s] desliza de 80 [</a:t>
            </a:r>
            <a:r>
              <a:rPr lang="pt-BR" sz="2400" b="1" dirty="0" err="1">
                <a:solidFill>
                  <a:srgbClr val="7030A0"/>
                </a:solidFill>
              </a:rPr>
              <a:t>ms</a:t>
            </a:r>
            <a:r>
              <a:rPr lang="pt-BR" sz="2400" b="1" dirty="0">
                <a:solidFill>
                  <a:srgbClr val="7030A0"/>
                </a:solidFill>
              </a:rPr>
              <a:t>].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5CA263-0E23-0B42-C3DF-C7FAA4DDF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952" y="1437773"/>
            <a:ext cx="8304030" cy="46687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118F9CB-CE59-6D8F-A37E-EB555C6759AC}"/>
              </a:ext>
            </a:extLst>
          </p:cNvPr>
          <p:cNvSpPr/>
          <p:nvPr/>
        </p:nvSpPr>
        <p:spPr>
          <a:xfrm>
            <a:off x="4088524" y="1741214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424A6-3D35-1C9B-5272-C70A237F5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942C1A-85B1-1839-A772-7C6A1A04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A712374-64B6-060D-FC8C-33374DAAC4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25FC0B-6DF5-02C0-B681-98E351CBB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5497CEC-6D2C-F93C-6467-85D5DB578587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B75B9E-3749-627C-BF96-D3D9B93E4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072" y="1358917"/>
            <a:ext cx="8434812" cy="4742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FB107BA-3083-06CB-92CB-A7C685FF32D0}"/>
              </a:ext>
            </a:extLst>
          </p:cNvPr>
          <p:cNvSpPr/>
          <p:nvPr/>
        </p:nvSpPr>
        <p:spPr>
          <a:xfrm>
            <a:off x="2764221" y="2561021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08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64F69-23ED-E5B5-845B-DDB5C40B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7F0A9-E046-41F1-C71F-46F8DAE3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EA513A-B79A-2CE2-6511-F5C8237EB7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84B88CE-F6EF-F32E-B263-70EE0BF4A8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93C04AC-5866-8EA8-A6EC-4BD39C5C585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FE912D-4A25-B612-D137-E8EE17130C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31" y="1481401"/>
            <a:ext cx="8334703" cy="46859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28ED91-6161-7C61-DF93-E760EFA0C4AA}"/>
              </a:ext>
            </a:extLst>
          </p:cNvPr>
          <p:cNvSpPr/>
          <p:nvPr/>
        </p:nvSpPr>
        <p:spPr>
          <a:xfrm>
            <a:off x="6400800" y="3621192"/>
            <a:ext cx="1765738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64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94073-9196-424F-F7B0-BF301D77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EBEEDB-AFAD-5AED-852F-79A49DFE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BC0E396-72AF-77BC-ED14-432C96B79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9BCAFB7-A306-C9ED-3A4D-D284C17D54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3B622E3-0EC3-F7D0-2080-FD9C5C0138E0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DE2220-F585-6298-386A-30DE19E29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8179" y="1403408"/>
            <a:ext cx="8313430" cy="4674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E6C035-3538-D71F-EFE6-089DA86A5DF4}"/>
              </a:ext>
            </a:extLst>
          </p:cNvPr>
          <p:cNvSpPr/>
          <p:nvPr/>
        </p:nvSpPr>
        <p:spPr>
          <a:xfrm>
            <a:off x="1198179" y="1715632"/>
            <a:ext cx="2543504" cy="2392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68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AC065A-5C37-D25D-F2DA-B71AFD08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0B7A91-C5BA-9FF9-E497-0941A195D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05533E9-EE15-D1D5-2ACE-5E5A1D2557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38CE793-3637-4B0C-9B87-7EBD06892F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77F500F-66C5-CA27-2171-F80165B6C641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F71849-7BE9-7D99-1F29-870EAB32F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78" y="1403408"/>
            <a:ext cx="8100190" cy="45541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39E6E91-E277-B6E1-8402-17CE2A894540}"/>
              </a:ext>
            </a:extLst>
          </p:cNvPr>
          <p:cNvSpPr/>
          <p:nvPr/>
        </p:nvSpPr>
        <p:spPr>
          <a:xfrm>
            <a:off x="6537436" y="4952817"/>
            <a:ext cx="3065732" cy="6386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7938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61EBB-1D6A-A83F-630E-B5983584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CE4E54-D72A-2D58-E835-D464E7F2A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4B08894-F76B-8B31-7E66-9973A71F6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4344071-C5C8-4DDB-FE2C-3AC6AEB71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1DBF995-AB95-22CA-713C-D26BD332057B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7D230B-C416-0797-60DD-BD63476E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937" y="1403408"/>
            <a:ext cx="8282151" cy="46564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17B127-B55C-9CF1-0604-612000FA9691}"/>
              </a:ext>
            </a:extLst>
          </p:cNvPr>
          <p:cNvSpPr/>
          <p:nvPr/>
        </p:nvSpPr>
        <p:spPr>
          <a:xfrm>
            <a:off x="2806262" y="2385849"/>
            <a:ext cx="1534510" cy="1786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464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/>
              <a:t>Referências</a:t>
            </a:r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16152</TotalTime>
  <Words>1469</Words>
  <Application>Microsoft Office PowerPoint</Application>
  <PresentationFormat>Widescreen</PresentationFormat>
  <Paragraphs>213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2427</cp:revision>
  <dcterms:created xsi:type="dcterms:W3CDTF">2020-01-20T13:50:05Z</dcterms:created>
  <dcterms:modified xsi:type="dcterms:W3CDTF">2025-06-04T15:13:07Z</dcterms:modified>
</cp:coreProperties>
</file>