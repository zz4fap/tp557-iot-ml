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notesMasterIdLst>
    <p:notesMasterId r:id="rId47"/>
  </p:notesMasterIdLst>
  <p:handoutMasterIdLst>
    <p:handoutMasterId r:id="rId48"/>
  </p:handoutMasterIdLst>
  <p:sldIdLst>
    <p:sldId id="256" r:id="rId3"/>
    <p:sldId id="583" r:id="rId4"/>
    <p:sldId id="591" r:id="rId5"/>
    <p:sldId id="635" r:id="rId6"/>
    <p:sldId id="586" r:id="rId7"/>
    <p:sldId id="587" r:id="rId8"/>
    <p:sldId id="588" r:id="rId9"/>
    <p:sldId id="589" r:id="rId10"/>
    <p:sldId id="590" r:id="rId11"/>
    <p:sldId id="585" r:id="rId12"/>
    <p:sldId id="592" r:id="rId13"/>
    <p:sldId id="599" r:id="rId14"/>
    <p:sldId id="636" r:id="rId15"/>
    <p:sldId id="637" r:id="rId16"/>
    <p:sldId id="601" r:id="rId17"/>
    <p:sldId id="604" r:id="rId18"/>
    <p:sldId id="606" r:id="rId19"/>
    <p:sldId id="607" r:id="rId20"/>
    <p:sldId id="603" r:id="rId21"/>
    <p:sldId id="608" r:id="rId22"/>
    <p:sldId id="609" r:id="rId23"/>
    <p:sldId id="610" r:id="rId24"/>
    <p:sldId id="611" r:id="rId25"/>
    <p:sldId id="616" r:id="rId26"/>
    <p:sldId id="614" r:id="rId27"/>
    <p:sldId id="613" r:id="rId28"/>
    <p:sldId id="615" r:id="rId29"/>
    <p:sldId id="617" r:id="rId30"/>
    <p:sldId id="621" r:id="rId31"/>
    <p:sldId id="622" r:id="rId32"/>
    <p:sldId id="618" r:id="rId33"/>
    <p:sldId id="623" r:id="rId34"/>
    <p:sldId id="624" r:id="rId35"/>
    <p:sldId id="625" r:id="rId36"/>
    <p:sldId id="627" r:id="rId37"/>
    <p:sldId id="628" r:id="rId38"/>
    <p:sldId id="629" r:id="rId39"/>
    <p:sldId id="630" r:id="rId40"/>
    <p:sldId id="631" r:id="rId41"/>
    <p:sldId id="632" r:id="rId42"/>
    <p:sldId id="633" r:id="rId43"/>
    <p:sldId id="634" r:id="rId44"/>
    <p:sldId id="584" r:id="rId45"/>
    <p:sldId id="626" r:id="rId46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352" autoAdjust="0"/>
    <p:restoredTop sz="82567" autoAdjust="0"/>
  </p:normalViewPr>
  <p:slideViewPr>
    <p:cSldViewPr snapToGrid="0">
      <p:cViewPr varScale="1">
        <p:scale>
          <a:sx n="96" d="100"/>
          <a:sy n="96" d="100"/>
        </p:scale>
        <p:origin x="1476" y="84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notesMaster" Target="notesMasters/notesMaster1.xml"/><Relationship Id="rId50" Type="http://schemas.openxmlformats.org/officeDocument/2006/relationships/viewProps" Target="viewProp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slide" Target="slides/slide27.xml"/><Relationship Id="rId41" Type="http://schemas.openxmlformats.org/officeDocument/2006/relationships/slide" Target="slides/slide3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presProps" Target="presProp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tableStyles" Target="tableStyle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handoutMaster" Target="handoutMasters/handoutMaster1.xml"/><Relationship Id="rId8" Type="http://schemas.openxmlformats.org/officeDocument/2006/relationships/slide" Target="slides/slide6.xml"/><Relationship Id="rId51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2/06/2025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02/06/2025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Mjrovai/UNIFEI-IESTI01-TinyML-2022.1/blob/main/00_Curse_Folder/2_Applications_Deploy/Class_19/IESTI01_TinyML_class_19.pdf" TargetMode="External"/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s://github.com/Mjrovai/UNIFEI-IESTI01-TinyML-2022.1/blob/main/00_Curse_Folder/2_Applications_Deploy/Class_20/IESTI01_TinyML_class_20.pdf" TargetMode="External"/></Relationships>
</file>

<file path=ppt/notesSlides/_rels/notes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Mjrovai/UNIFEI-IESTI01-TinyML-2022.1/blob/main/00_Curse_Folder/2_Applications_Deploy/Class_19/IESTI01_TinyML_class_19.pdf" TargetMode="External"/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s://github.com/Mjrovai/UNIFEI-IESTI01-TinyML-2022.1/blob/main/00_Curse_Folder/2_Applications_Deploy/Class_20/IESTI01_TinyML_class_20.pdf" TargetMode="Externa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033669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>
                <a:solidFill>
                  <a:srgbClr val="FF0000"/>
                </a:solidFill>
                <a:hlinkClick r:id="rId3"/>
              </a:rPr>
              <a:t>https://github.com/Mjrovai/UNIFEI-IESTI01-TinyML-2022.1/blob/main/00_Curse_Folder/2_Applications_Deploy/Class_19/IESTI01_TinyML_class_19.pdf</a:t>
            </a:r>
            <a:endParaRPr lang="pt-BR" dirty="0">
              <a:solidFill>
                <a:srgbClr val="FF0000"/>
              </a:solidFill>
            </a:endParaRPr>
          </a:p>
          <a:p>
            <a:r>
              <a:rPr lang="pt-BR" dirty="0">
                <a:solidFill>
                  <a:srgbClr val="FF0000"/>
                </a:solidFill>
                <a:hlinkClick r:id="rId4"/>
              </a:rPr>
              <a:t>https://github.com/Mjrovai/UNIFEI-IESTI01-TinyML-2022.1/blob/main/00_Curse_Folder/2_Applications_Deploy/Class_20/IESTI01_TinyML_class_20.pdf</a:t>
            </a:r>
            <a:endParaRPr lang="pt-BR" dirty="0">
              <a:solidFill>
                <a:srgbClr val="FF0000"/>
              </a:solidFill>
            </a:endParaRP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1604602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>
                <a:solidFill>
                  <a:srgbClr val="FF0000"/>
                </a:solidFill>
                <a:hlinkClick r:id="rId3"/>
              </a:rPr>
              <a:t>https://github.com/Mjrovai/UNIFEI-IESTI01-TinyML-2022.1/blob/main/00_Curse_Folder/2_Applications_Deploy/Class_19/IESTI01_TinyML_class_19.pdf</a:t>
            </a:r>
            <a:endParaRPr lang="pt-BR" dirty="0">
              <a:solidFill>
                <a:srgbClr val="FF0000"/>
              </a:solidFill>
            </a:endParaRPr>
          </a:p>
          <a:p>
            <a:r>
              <a:rPr lang="pt-BR" dirty="0">
                <a:solidFill>
                  <a:srgbClr val="FF0000"/>
                </a:solidFill>
                <a:hlinkClick r:id="rId4"/>
              </a:rPr>
              <a:t>https://github.com/Mjrovai/UNIFEI-IESTI01-TinyML-2022.1/blob/main/00_Curse_Folder/2_Applications_Deploy/Class_20/IESTI01_TinyML_class_20.pdf</a:t>
            </a:r>
            <a:endParaRPr lang="pt-BR" dirty="0">
              <a:solidFill>
                <a:srgbClr val="FF0000"/>
              </a:solidFill>
            </a:endParaRP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3948804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2998092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3635324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873049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4581936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9776623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1200" dirty="0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Aqui são gerados dados com o celular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1200" dirty="0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Link no meu </a:t>
            </a:r>
            <a:r>
              <a:rPr lang="pt-BR" sz="1200" dirty="0" err="1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edge</a:t>
            </a:r>
            <a:r>
              <a:rPr lang="pt-BR" sz="1200" dirty="0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 impulse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1200" dirty="0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https://studio.edgeimpulse.com/public/298808/live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919595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1884474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Movimentos humanos (como caminhar, correr ou gestos) são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dinâmicos e sequenciais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Uma única amostra captura apenas um instante, sem revelar a evolução do movimento (e.g., aceleração inicial vs. desaceleração). Janelas temporais permitem analisar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tendências, periodicidades e transições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ao longo do tempo, essenciais para distinguir atividades similares.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8138599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Movimentos humanos (como caminhar, correr ou gestos) são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dinâmicos e sequenciais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Uma única amostra captura apenas um instante, sem revelar a evolução do movimento (e.g., aceleração inicial vs. desaceleração). Janelas temporais permitem analisar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tendências, periodicidades e transições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ao longo do tempo, essenciais para distinguir atividades similares.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6439015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Movimentos humanos (como caminhar, correr ou gestos) são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dinâmicos e sequenciais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Uma única amostra captura apenas um instante, sem revelar a evolução do movimento (e.g., aceleração inicial vs. desaceleração). Janelas temporais permitem analisar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tendências, periodicidades e transições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ao longo do tempo, essenciais para distinguir atividades similares.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0025331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332547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7071151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8946334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3594523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1234685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82048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5568689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4706070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3115300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Referencias</a:t>
            </a:r>
          </a:p>
          <a:p>
            <a:r>
              <a:rPr lang="pt-BR" dirty="0"/>
              <a:t>[1]</a:t>
            </a:r>
            <a:r>
              <a:rPr lang="pt-BR" baseline="0" dirty="0"/>
              <a:t> https://github.com/Mjrovai/UNIFEI-IESTI01-TinyML/blob/main/00_Curse_Folder/2_Applications_Deploy/Class_20/EI_Studio-Spectral_Analysis-Updated_March-23.pdf</a:t>
            </a:r>
          </a:p>
          <a:p>
            <a:r>
              <a:rPr lang="pt-BR" baseline="0" dirty="0"/>
              <a:t>[2] https://colab.research.google.com/github/Mjrovai/TinyML4D/blob/main/SciTinyM-2023/Edge_Impulse-Spectral_Analysis_Block/Edge_Impulse_Spectral_Analysis_Block_V3.ipynb#scrollTo=09cf0268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63426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80492303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36527954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4162723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9488942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00118688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66760635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27668836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64033482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97035694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28670659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F0F61BF9-F54A-1B0F-EE69-B5551D5022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xmlns="" id="{8DB39AAC-FDEB-3D1A-DDD4-25CE9357F3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xmlns="" id="{85182E01-5367-476F-0ED9-DA19C84F07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xmlns="" id="{DE34AB70-7CEB-A581-5E5A-1DAEE5A7223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43155036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32A0BE52-DE05-5694-A691-017DC5958B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xmlns="" id="{632F6667-9234-132D-52FF-EDA2CD6EE8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xmlns="" id="{9180FC65-EC03-910B-EAEE-9F6A420E3C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xmlns="" id="{79D30845-8209-8C5B-9D69-209AB0295E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87749567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16CDE323-B388-AEB5-6259-3DB4792D1B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xmlns="" id="{584F0570-8145-7D7D-CA44-0169957C53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xmlns="" id="{8AA7BF6B-2C34-4D57-710B-243AF68BEB2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xmlns="" id="{27329F7F-634E-79DC-EA99-0E58B9FB468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02047565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9AB0C4F9-7444-8C63-0E30-55D9AA6614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xmlns="" id="{0861F10B-4431-2118-1C7B-CDDEC29AE8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xmlns="" id="{57A15B89-E3FC-4F5C-1A44-F8EEB2C8E8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xmlns="" id="{59FA2686-1ECE-8D62-EF3F-72F740A70B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87749977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7CC8A004-0DFD-6481-C4DC-442D5CC8B6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xmlns="" id="{88CBA664-10B1-21B2-5C8D-97A62CB07F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xmlns="" id="{09E81696-55D4-B940-4A05-E60FAD1D40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xmlns="" id="{928EBD7C-869A-9BA1-9AC6-A18588FC366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18894324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06535583-97C1-719E-B6FC-2E5AFC13BA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xmlns="" id="{DD1F9D3A-11BF-15EC-0CF5-07B608B603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xmlns="" id="{6623D173-520F-2F8B-D9E8-86FC423166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xmlns="" id="{BE8CD7DF-17BE-A0B0-D5A2-7353E8D9B08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58024342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1BDD258B-8B22-09AF-3398-87F2403C9E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xmlns="" id="{27CB1A2C-B5E1-2D2F-CDB2-88782CF1ECC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xmlns="" id="{B9C85CE0-950A-411C-1311-7EAEE9BD93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xmlns="" id="{33C6A19D-93F4-016F-54C0-E6927B2244B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82875355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25411131-0911-C6FC-56CC-DD615878BC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xmlns="" id="{CFD81BC7-6E87-7368-97A2-858E9E212E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xmlns="" id="{6AD5F9DF-443A-D887-8EFF-04037260BC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xmlns="" id="{267B980C-58AD-592F-6BF9-3F8893D23EA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75884424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2298393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5651429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xmlns="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02/06/2025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02/06/2025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xmlns="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02/06/2025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xmlns="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02/06/2025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xmlns="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xmlns="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xmlns="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xmlns="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xmlns="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xmlns="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02/06/2025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xmlns="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xmlns="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xmlns="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02/06/2025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xmlns="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xmlns="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xmlns="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02/06/2025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xmlns="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xmlns="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xmlns="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xmlns="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02/06/2025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xmlns="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xmlns="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xmlns="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xmlns="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xmlns="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02/06/2025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xmlns="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xmlns="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xmlns="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02/06/2025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xmlns="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xmlns="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02/06/2025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420283"/>
            <a:ext cx="5181600" cy="980017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14400" y="2590800"/>
            <a:ext cx="4267200" cy="11684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0481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0963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91444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21926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52407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82889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13370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43852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pt-BR"/>
              <a:t>Clique para editar o estilo do subtítulo Mestre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6603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710391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1542" y="2937934"/>
            <a:ext cx="5181600" cy="908050"/>
          </a:xfrm>
        </p:spPr>
        <p:txBody>
          <a:bodyPr anchor="t"/>
          <a:lstStyle>
            <a:lvl1pPr algn="l">
              <a:defRPr sz="2667" b="1" cap="all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81542" y="1937809"/>
            <a:ext cx="5181600" cy="1000125"/>
          </a:xfrm>
        </p:spPr>
        <p:txBody>
          <a:bodyPr anchor="b"/>
          <a:lstStyle>
            <a:lvl1pPr marL="0" indent="0">
              <a:buNone/>
              <a:defRPr sz="1333">
                <a:solidFill>
                  <a:schemeClr val="tx1">
                    <a:tint val="75000"/>
                  </a:schemeClr>
                </a:solidFill>
              </a:defRPr>
            </a:lvl1pPr>
            <a:lvl2pPr marL="304815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2pPr>
            <a:lvl3pPr marL="609630" indent="0">
              <a:buNone/>
              <a:defRPr sz="1067">
                <a:solidFill>
                  <a:schemeClr val="tx1">
                    <a:tint val="75000"/>
                  </a:schemeClr>
                </a:solidFill>
              </a:defRPr>
            </a:lvl3pPr>
            <a:lvl4pPr marL="914446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4pPr>
            <a:lvl5pPr marL="1219261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5pPr>
            <a:lvl6pPr marL="1524076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6pPr>
            <a:lvl7pPr marL="1828891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7pPr>
            <a:lvl8pPr marL="2133707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8pPr>
            <a:lvl9pPr marL="2438522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666371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04800" y="1066800"/>
            <a:ext cx="2692400" cy="3017309"/>
          </a:xfrm>
        </p:spPr>
        <p:txBody>
          <a:bodyPr/>
          <a:lstStyle>
            <a:lvl1pPr>
              <a:defRPr sz="1867"/>
            </a:lvl1pPr>
            <a:lvl2pPr>
              <a:defRPr sz="1600"/>
            </a:lvl2pPr>
            <a:lvl3pPr>
              <a:defRPr sz="1333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98800" y="1066800"/>
            <a:ext cx="2692400" cy="3017309"/>
          </a:xfrm>
        </p:spPr>
        <p:txBody>
          <a:bodyPr/>
          <a:lstStyle>
            <a:lvl1pPr>
              <a:defRPr sz="1867"/>
            </a:lvl1pPr>
            <a:lvl2pPr>
              <a:defRPr sz="1600"/>
            </a:lvl2pPr>
            <a:lvl3pPr>
              <a:defRPr sz="1333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239650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023409"/>
            <a:ext cx="2693459" cy="426508"/>
          </a:xfrm>
        </p:spPr>
        <p:txBody>
          <a:bodyPr anchor="b"/>
          <a:lstStyle>
            <a:lvl1pPr marL="0" indent="0">
              <a:buNone/>
              <a:defRPr sz="1600" b="1"/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4800" y="1449917"/>
            <a:ext cx="2693459" cy="2634192"/>
          </a:xfrm>
        </p:spPr>
        <p:txBody>
          <a:bodyPr/>
          <a:lstStyle>
            <a:lvl1pPr>
              <a:defRPr sz="1600"/>
            </a:lvl1pPr>
            <a:lvl2pPr>
              <a:defRPr sz="1333"/>
            </a:lvl2pPr>
            <a:lvl3pPr>
              <a:defRPr sz="1200"/>
            </a:lvl3pPr>
            <a:lvl4pPr>
              <a:defRPr sz="1067"/>
            </a:lvl4pPr>
            <a:lvl5pPr>
              <a:defRPr sz="1067"/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096684" y="1023409"/>
            <a:ext cx="2694517" cy="426508"/>
          </a:xfrm>
        </p:spPr>
        <p:txBody>
          <a:bodyPr anchor="b"/>
          <a:lstStyle>
            <a:lvl1pPr marL="0" indent="0">
              <a:buNone/>
              <a:defRPr sz="1600" b="1"/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096684" y="1449917"/>
            <a:ext cx="2694517" cy="2634192"/>
          </a:xfrm>
        </p:spPr>
        <p:txBody>
          <a:bodyPr/>
          <a:lstStyle>
            <a:lvl1pPr>
              <a:defRPr sz="1600"/>
            </a:lvl1pPr>
            <a:lvl2pPr>
              <a:defRPr sz="1333"/>
            </a:lvl2pPr>
            <a:lvl3pPr>
              <a:defRPr sz="1200"/>
            </a:lvl3pPr>
            <a:lvl4pPr>
              <a:defRPr sz="1067"/>
            </a:lvl4pPr>
            <a:lvl5pPr>
              <a:defRPr sz="1067"/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262993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25548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692951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182033"/>
            <a:ext cx="2005542" cy="774700"/>
          </a:xfrm>
        </p:spPr>
        <p:txBody>
          <a:bodyPr anchor="b"/>
          <a:lstStyle>
            <a:lvl1pPr algn="l">
              <a:defRPr sz="1333" b="1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383367" y="182034"/>
            <a:ext cx="3407833" cy="3902075"/>
          </a:xfrm>
        </p:spPr>
        <p:txBody>
          <a:bodyPr/>
          <a:lstStyle>
            <a:lvl1pPr>
              <a:defRPr sz="2133"/>
            </a:lvl1pPr>
            <a:lvl2pPr>
              <a:defRPr sz="1867"/>
            </a:lvl2pPr>
            <a:lvl3pPr>
              <a:defRPr sz="1600"/>
            </a:lvl3pPr>
            <a:lvl4pPr>
              <a:defRPr sz="1333"/>
            </a:lvl4pPr>
            <a:lvl5pPr>
              <a:defRPr sz="1333"/>
            </a:lvl5pPr>
            <a:lvl6pPr>
              <a:defRPr sz="1333"/>
            </a:lvl6pPr>
            <a:lvl7pPr>
              <a:defRPr sz="1333"/>
            </a:lvl7pPr>
            <a:lvl8pPr>
              <a:defRPr sz="1333"/>
            </a:lvl8pPr>
            <a:lvl9pPr>
              <a:defRPr sz="1333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4800" y="956734"/>
            <a:ext cx="2005542" cy="3127375"/>
          </a:xfrm>
        </p:spPr>
        <p:txBody>
          <a:bodyPr/>
          <a:lstStyle>
            <a:lvl1pPr marL="0" indent="0">
              <a:buNone/>
              <a:defRPr sz="933"/>
            </a:lvl1pPr>
            <a:lvl2pPr marL="304815" indent="0">
              <a:buNone/>
              <a:defRPr sz="800"/>
            </a:lvl2pPr>
            <a:lvl3pPr marL="609630" indent="0">
              <a:buNone/>
              <a:defRPr sz="667"/>
            </a:lvl3pPr>
            <a:lvl4pPr marL="914446" indent="0">
              <a:buNone/>
              <a:defRPr sz="600"/>
            </a:lvl4pPr>
            <a:lvl5pPr marL="1219261" indent="0">
              <a:buNone/>
              <a:defRPr sz="600"/>
            </a:lvl5pPr>
            <a:lvl6pPr marL="1524076" indent="0">
              <a:buNone/>
              <a:defRPr sz="600"/>
            </a:lvl6pPr>
            <a:lvl7pPr marL="1828891" indent="0">
              <a:buNone/>
              <a:defRPr sz="600"/>
            </a:lvl7pPr>
            <a:lvl8pPr marL="2133707" indent="0">
              <a:buNone/>
              <a:defRPr sz="600"/>
            </a:lvl8pPr>
            <a:lvl9pPr marL="2438522" indent="0">
              <a:buNone/>
              <a:defRPr sz="6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744553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94859" y="3200400"/>
            <a:ext cx="3657600" cy="377825"/>
          </a:xfrm>
        </p:spPr>
        <p:txBody>
          <a:bodyPr anchor="b"/>
          <a:lstStyle>
            <a:lvl1pPr algn="l">
              <a:defRPr sz="1333" b="1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194859" y="408517"/>
            <a:ext cx="3657600" cy="2743200"/>
          </a:xfrm>
        </p:spPr>
        <p:txBody>
          <a:bodyPr/>
          <a:lstStyle>
            <a:lvl1pPr marL="0" indent="0">
              <a:buNone/>
              <a:defRPr sz="2133"/>
            </a:lvl1pPr>
            <a:lvl2pPr marL="304815" indent="0">
              <a:buNone/>
              <a:defRPr sz="1867"/>
            </a:lvl2pPr>
            <a:lvl3pPr marL="609630" indent="0">
              <a:buNone/>
              <a:defRPr sz="1600"/>
            </a:lvl3pPr>
            <a:lvl4pPr marL="914446" indent="0">
              <a:buNone/>
              <a:defRPr sz="1333"/>
            </a:lvl4pPr>
            <a:lvl5pPr marL="1219261" indent="0">
              <a:buNone/>
              <a:defRPr sz="1333"/>
            </a:lvl5pPr>
            <a:lvl6pPr marL="1524076" indent="0">
              <a:buNone/>
              <a:defRPr sz="1333"/>
            </a:lvl6pPr>
            <a:lvl7pPr marL="1828891" indent="0">
              <a:buNone/>
              <a:defRPr sz="1333"/>
            </a:lvl7pPr>
            <a:lvl8pPr marL="2133707" indent="0">
              <a:buNone/>
              <a:defRPr sz="1333"/>
            </a:lvl8pPr>
            <a:lvl9pPr marL="2438522" indent="0">
              <a:buNone/>
              <a:defRPr sz="1333"/>
            </a:lvl9pPr>
          </a:lstStyle>
          <a:p>
            <a:r>
              <a:rPr lang="pt-BR"/>
              <a:t>Clique no ícone para adicionar uma imagem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94859" y="3578225"/>
            <a:ext cx="3657600" cy="536575"/>
          </a:xfrm>
        </p:spPr>
        <p:txBody>
          <a:bodyPr/>
          <a:lstStyle>
            <a:lvl1pPr marL="0" indent="0">
              <a:buNone/>
              <a:defRPr sz="933"/>
            </a:lvl1pPr>
            <a:lvl2pPr marL="304815" indent="0">
              <a:buNone/>
              <a:defRPr sz="800"/>
            </a:lvl2pPr>
            <a:lvl3pPr marL="609630" indent="0">
              <a:buNone/>
              <a:defRPr sz="667"/>
            </a:lvl3pPr>
            <a:lvl4pPr marL="914446" indent="0">
              <a:buNone/>
              <a:defRPr sz="600"/>
            </a:lvl4pPr>
            <a:lvl5pPr marL="1219261" indent="0">
              <a:buNone/>
              <a:defRPr sz="600"/>
            </a:lvl5pPr>
            <a:lvl6pPr marL="1524076" indent="0">
              <a:buNone/>
              <a:defRPr sz="600"/>
            </a:lvl6pPr>
            <a:lvl7pPr marL="1828891" indent="0">
              <a:buNone/>
              <a:defRPr sz="600"/>
            </a:lvl7pPr>
            <a:lvl8pPr marL="2133707" indent="0">
              <a:buNone/>
              <a:defRPr sz="600"/>
            </a:lvl8pPr>
            <a:lvl9pPr marL="2438522" indent="0">
              <a:buNone/>
              <a:defRPr sz="6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770764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590170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419600" y="183092"/>
            <a:ext cx="1371600" cy="3901017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04800" y="183092"/>
            <a:ext cx="4013200" cy="3901017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55582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xmlns="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xmlns="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02/06/2025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04800" y="183092"/>
            <a:ext cx="5486400" cy="762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066800"/>
            <a:ext cx="5486400" cy="30173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04800" y="4237567"/>
            <a:ext cx="1422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6/2/2025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082800" y="4237567"/>
            <a:ext cx="1930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368800" y="4237567"/>
            <a:ext cx="1422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91102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609630" rtl="0" eaLnBrk="1" latinLnBrk="0" hangingPunct="1">
        <a:spcBef>
          <a:spcPct val="0"/>
        </a:spcBef>
        <a:buNone/>
        <a:defRPr sz="293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11" indent="-228611" algn="l" defTabSz="609630" rtl="0" eaLnBrk="1" latinLnBrk="0" hangingPunct="1">
        <a:spcBef>
          <a:spcPct val="20000"/>
        </a:spcBef>
        <a:buFont typeface="Arial" pitchFamily="34" charset="0"/>
        <a:buChar char="•"/>
        <a:defRPr sz="2133" kern="1200">
          <a:solidFill>
            <a:schemeClr val="tx1"/>
          </a:solidFill>
          <a:latin typeface="+mn-lt"/>
          <a:ea typeface="+mn-ea"/>
          <a:cs typeface="+mn-cs"/>
        </a:defRPr>
      </a:lvl1pPr>
      <a:lvl2pPr marL="495325" indent="-190510" algn="l" defTabSz="609630" rtl="0" eaLnBrk="1" latinLnBrk="0" hangingPunct="1">
        <a:spcBef>
          <a:spcPct val="20000"/>
        </a:spcBef>
        <a:buFont typeface="Arial" pitchFamily="34" charset="0"/>
        <a:buChar char="–"/>
        <a:defRPr sz="1867" kern="1200">
          <a:solidFill>
            <a:schemeClr val="tx1"/>
          </a:solidFill>
          <a:latin typeface="+mn-lt"/>
          <a:ea typeface="+mn-ea"/>
          <a:cs typeface="+mn-cs"/>
        </a:defRPr>
      </a:lvl2pPr>
      <a:lvl3pPr marL="762038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66853" indent="-152408" algn="l" defTabSz="609630" rtl="0" eaLnBrk="1" latinLnBrk="0" hangingPunct="1">
        <a:spcBef>
          <a:spcPct val="20000"/>
        </a:spcBef>
        <a:buFont typeface="Arial" pitchFamily="34" charset="0"/>
        <a:buChar char="–"/>
        <a:defRPr sz="1333" kern="1200">
          <a:solidFill>
            <a:schemeClr val="tx1"/>
          </a:solidFill>
          <a:latin typeface="+mn-lt"/>
          <a:ea typeface="+mn-ea"/>
          <a:cs typeface="+mn-cs"/>
        </a:defRPr>
      </a:lvl4pPr>
      <a:lvl5pPr marL="1371669" indent="-152408" algn="l" defTabSz="609630" rtl="0" eaLnBrk="1" latinLnBrk="0" hangingPunct="1">
        <a:spcBef>
          <a:spcPct val="20000"/>
        </a:spcBef>
        <a:buFont typeface="Arial" pitchFamily="34" charset="0"/>
        <a:buChar char="»"/>
        <a:defRPr sz="1333" kern="1200">
          <a:solidFill>
            <a:schemeClr val="tx1"/>
          </a:solidFill>
          <a:latin typeface="+mn-lt"/>
          <a:ea typeface="+mn-ea"/>
          <a:cs typeface="+mn-cs"/>
        </a:defRPr>
      </a:lvl5pPr>
      <a:lvl6pPr marL="1676484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6pPr>
      <a:lvl7pPr marL="1981299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7pPr>
      <a:lvl8pPr marL="2286114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8pPr>
      <a:lvl9pPr marL="2590930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1pPr>
      <a:lvl2pPr marL="304815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609630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46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219261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524076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828891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2133707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2438522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jpg"/><Relationship Id="rId7" Type="http://schemas.openxmlformats.org/officeDocument/2006/relationships/image" Target="../media/image8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7.jpeg"/><Relationship Id="rId5" Type="http://schemas.openxmlformats.org/officeDocument/2006/relationships/image" Target="../media/image6.jpeg"/><Relationship Id="rId4" Type="http://schemas.openxmlformats.org/officeDocument/2006/relationships/image" Target="../media/image5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8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8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1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2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7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7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7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8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9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0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1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4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7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8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9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0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1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2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3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4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8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9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40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41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42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43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44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45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46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3.xml"/><Relationship Id="rId5" Type="http://schemas.openxmlformats.org/officeDocument/2006/relationships/hyperlink" Target="https://colab.research.google.com/github/Mjrovai/TinyML4D/blob/main/SciTinyM-2023/Edge_Impulse-Spectral_Analysis_Block/Edge_Impulse_Spectral_Analysis_Block_V3.ipynb#scrollTo=09cf0268" TargetMode="External"/><Relationship Id="rId4" Type="http://schemas.openxmlformats.org/officeDocument/2006/relationships/hyperlink" Target="https://github.com/Mjrovai/UNIFEI-IESTI01-TinyML/blob/main/00_Curse_Folder/2_Applications_Deploy/Class_20/EI_Studio-Spectral_Analysis-Updated_March-23.pdf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63783" y="819807"/>
            <a:ext cx="9772072" cy="2690156"/>
          </a:xfrm>
        </p:spPr>
        <p:txBody>
          <a:bodyPr>
            <a:normAutofit/>
          </a:bodyPr>
          <a:lstStyle/>
          <a:p>
            <a:r>
              <a:rPr lang="pt-BR" sz="5400" dirty="0"/>
              <a:t>TP557 - Tópicos avançados em IoT e </a:t>
            </a:r>
            <a:r>
              <a:rPr lang="pt-BR" sz="5400" dirty="0" err="1"/>
              <a:t>Machine</a:t>
            </a:r>
            <a:r>
              <a:rPr lang="pt-BR" sz="5400" dirty="0"/>
              <a:t> Learning:</a:t>
            </a:r>
            <a:r>
              <a:rPr lang="pt-BR" dirty="0"/>
              <a:t/>
            </a:r>
            <a:br>
              <a:rPr lang="pt-BR" dirty="0"/>
            </a:br>
            <a:r>
              <a:rPr lang="pt-BR" b="1" i="1" dirty="0"/>
              <a:t>Motion </a:t>
            </a:r>
            <a:r>
              <a:rPr lang="pt-BR" b="1" i="1" dirty="0" err="1"/>
              <a:t>Classification</a:t>
            </a:r>
            <a:endParaRPr lang="pt-BR" b="1" i="1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xmlns="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xmlns="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6785107" y="3429000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IoT Group">
            <a:extLst>
              <a:ext uri="{FF2B5EF4-FFF2-40B4-BE49-F238E27FC236}">
                <a16:creationId xmlns:a16="http://schemas.microsoft.com/office/drawing/2014/main" xmlns="" id="{AC034F57-E830-B6E7-6790-12FDBBDB297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r="63551" b="22561"/>
          <a:stretch/>
        </p:blipFill>
        <p:spPr bwMode="auto">
          <a:xfrm>
            <a:off x="2899985" y="3509963"/>
            <a:ext cx="2509138" cy="20099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xmlns="" id="{2D82026D-D2EA-05D7-61F2-DEE04704DB7E}"/>
              </a:ext>
            </a:extLst>
          </p:cNvPr>
          <p:cNvSpPr txBox="1"/>
          <p:nvPr/>
        </p:nvSpPr>
        <p:spPr>
          <a:xfrm>
            <a:off x="8068201" y="59330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Samuel Baraldi Mafra</a:t>
            </a:r>
          </a:p>
          <a:p>
            <a:r>
              <a:rPr lang="pt-BR" dirty="0"/>
              <a:t>samuelbmafra@inatel.br</a:t>
            </a:r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5" name="Picture 2" descr="Mockup Celular - iPhone Mockup | Maker Mockup">
            <a:extLst>
              <a:ext uri="{FF2B5EF4-FFF2-40B4-BE49-F238E27FC236}">
                <a16:creationId xmlns:a16="http://schemas.microsoft.com/office/drawing/2014/main" xmlns="" id="{FC87A0DC-550D-BB34-6B8D-21472B938809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6942" y="1225197"/>
            <a:ext cx="2857500" cy="35623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Notebook Samsung Book 4GB, 15.6'', Intel Celeron, 500 GB, Windows 10 Home,  Cinza - Samsung Book - Magazine Luiza">
            <a:extLst>
              <a:ext uri="{FF2B5EF4-FFF2-40B4-BE49-F238E27FC236}">
                <a16:creationId xmlns:a16="http://schemas.microsoft.com/office/drawing/2014/main" xmlns="" id="{846ECC3C-0F71-81E5-1C69-59A8D9A2C0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93584" y="1374422"/>
            <a:ext cx="2290939" cy="22909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Colar monitora vacas para melhorar produtividade de leite - 12/05/2023 -  Tec - Folha">
            <a:extLst>
              <a:ext uri="{FF2B5EF4-FFF2-40B4-BE49-F238E27FC236}">
                <a16:creationId xmlns:a16="http://schemas.microsoft.com/office/drawing/2014/main" xmlns="" id="{219B56EB-C5FB-216B-A62B-12BD558A49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01504" y="3632200"/>
            <a:ext cx="2619375" cy="17430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2" descr="Free photo industrial containers box for logistic import export business.">
            <a:extLst>
              <a:ext uri="{FF2B5EF4-FFF2-40B4-BE49-F238E27FC236}">
                <a16:creationId xmlns:a16="http://schemas.microsoft.com/office/drawing/2014/main" xmlns="" id="{EEB34E5E-7F0E-7162-8BAF-B92B4B06BA4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35675" y="1374422"/>
            <a:ext cx="2885204" cy="19219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Imagem 9">
            <a:extLst>
              <a:ext uri="{FF2B5EF4-FFF2-40B4-BE49-F238E27FC236}">
                <a16:creationId xmlns:a16="http://schemas.microsoft.com/office/drawing/2014/main" xmlns="" id="{240919DB-71EF-5F88-F569-C5D883B2B48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156344" y="4315001"/>
            <a:ext cx="3073257" cy="2120547"/>
          </a:xfrm>
          <a:prstGeom prst="rect">
            <a:avLst/>
          </a:prstGeom>
        </p:spPr>
      </p:pic>
      <p:sp>
        <p:nvSpPr>
          <p:cNvPr id="8" name="CaixaDeTexto 7"/>
          <p:cNvSpPr txBox="1"/>
          <p:nvPr/>
        </p:nvSpPr>
        <p:spPr>
          <a:xfrm>
            <a:off x="3150704" y="1873560"/>
            <a:ext cx="219654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 smtClean="0"/>
              <a:t>Queda de dispositivos</a:t>
            </a:r>
            <a:endParaRPr lang="pt-BR" dirty="0"/>
          </a:p>
        </p:txBody>
      </p:sp>
      <p:sp>
        <p:nvSpPr>
          <p:cNvPr id="9" name="CaixaDeTexto 8"/>
          <p:cNvSpPr txBox="1"/>
          <p:nvPr/>
        </p:nvSpPr>
        <p:spPr>
          <a:xfrm>
            <a:off x="10420879" y="2012222"/>
            <a:ext cx="121257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 smtClean="0"/>
              <a:t>Controle logístico</a:t>
            </a:r>
            <a:endParaRPr lang="pt-BR" dirty="0"/>
          </a:p>
        </p:txBody>
      </p:sp>
      <p:sp>
        <p:nvSpPr>
          <p:cNvPr id="13" name="CaixaDeTexto 12"/>
          <p:cNvSpPr txBox="1"/>
          <p:nvPr/>
        </p:nvSpPr>
        <p:spPr>
          <a:xfrm>
            <a:off x="10287001" y="4315001"/>
            <a:ext cx="180892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 smtClean="0"/>
              <a:t>Monitoramento de animais</a:t>
            </a:r>
            <a:endParaRPr lang="pt-BR" dirty="0"/>
          </a:p>
        </p:txBody>
      </p:sp>
      <p:sp>
        <p:nvSpPr>
          <p:cNvPr id="11" name="CaixaDeTexto 10"/>
          <p:cNvSpPr txBox="1"/>
          <p:nvPr/>
        </p:nvSpPr>
        <p:spPr>
          <a:xfrm>
            <a:off x="3428999" y="6397991"/>
            <a:ext cx="49103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smtClean="0"/>
              <a:t>Exercícios físicos, movimento de cadeira de rodas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9824962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Movimentação de containers ao longo do ciclo </a:t>
            </a:r>
            <a:r>
              <a:rPr lang="pt-BR" sz="2000" dirty="0" smtClean="0">
                <a:ea typeface="Calibri" panose="020F0502020204030204" pitchFamily="34" charset="0"/>
                <a:cs typeface="Arial" panose="020B0604020202020204" pitchFamily="34" charset="0"/>
              </a:rPr>
              <a:t>logístico usando </a:t>
            </a:r>
            <a:r>
              <a:rPr lang="pt-BR" sz="2000" dirty="0" smtClean="0">
                <a:ea typeface="Calibri" panose="020F0502020204030204" pitchFamily="34" charset="0"/>
                <a:cs typeface="Arial" panose="020B0604020202020204" pitchFamily="34" charset="0"/>
              </a:rPr>
              <a:t>um </a:t>
            </a:r>
            <a:r>
              <a:rPr lang="pt-BR" sz="2000" dirty="0" smtClean="0">
                <a:ea typeface="Calibri" panose="020F0502020204030204" pitchFamily="34" charset="0"/>
                <a:cs typeface="Arial" panose="020B0604020202020204" pitchFamily="34" charset="0"/>
              </a:rPr>
              <a:t>acelerômetro.</a:t>
            </a:r>
          </a:p>
        </p:txBody>
      </p:sp>
      <p:pic>
        <p:nvPicPr>
          <p:cNvPr id="1026" name="Picture 2" descr="Free photo industrial containers box for logistic import export business.">
            <a:extLst>
              <a:ext uri="{FF2B5EF4-FFF2-40B4-BE49-F238E27FC236}">
                <a16:creationId xmlns:a16="http://schemas.microsoft.com/office/drawing/2014/main" xmlns="" id="{FDC07977-F662-66CB-7534-103E839769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42141" y="1819275"/>
            <a:ext cx="5962650" cy="39719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009793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Movimentação de containers ao longo do ciclo </a:t>
            </a:r>
            <a:r>
              <a:rPr lang="pt-BR" sz="2000" dirty="0" smtClean="0">
                <a:ea typeface="Calibri" panose="020F0502020204030204" pitchFamily="34" charset="0"/>
                <a:cs typeface="Arial" panose="020B0604020202020204" pitchFamily="34" charset="0"/>
              </a:rPr>
              <a:t>logístico usando </a:t>
            </a:r>
            <a:r>
              <a:rPr lang="pt-BR" sz="2000" dirty="0" smtClean="0">
                <a:ea typeface="Calibri" panose="020F0502020204030204" pitchFamily="34" charset="0"/>
                <a:cs typeface="Arial" panose="020B0604020202020204" pitchFamily="34" charset="0"/>
              </a:rPr>
              <a:t>um </a:t>
            </a:r>
            <a:r>
              <a:rPr lang="pt-BR" sz="2000" dirty="0" smtClean="0">
                <a:ea typeface="Calibri" panose="020F0502020204030204" pitchFamily="34" charset="0"/>
                <a:cs typeface="Arial" panose="020B0604020202020204" pitchFamily="34" charset="0"/>
              </a:rPr>
              <a:t>acelerômetro.</a:t>
            </a:r>
          </a:p>
        </p:txBody>
      </p:sp>
      <p:pic>
        <p:nvPicPr>
          <p:cNvPr id="5" name="Picture 2" descr="img"/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56" t="18390" r="4421" b="28079"/>
          <a:stretch/>
        </p:blipFill>
        <p:spPr bwMode="auto">
          <a:xfrm>
            <a:off x="1467283" y="3017006"/>
            <a:ext cx="8269971" cy="27089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tângulo 5"/>
          <p:cNvSpPr/>
          <p:nvPr/>
        </p:nvSpPr>
        <p:spPr>
          <a:xfrm>
            <a:off x="2310443" y="2125165"/>
            <a:ext cx="7563677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dirty="0"/>
              <a:t>Um acelerômetro é um dispositivo </a:t>
            </a:r>
            <a:r>
              <a:rPr lang="pt-BR" dirty="0" smtClean="0"/>
              <a:t>usado </a:t>
            </a:r>
            <a:r>
              <a:rPr lang="pt-BR" dirty="0"/>
              <a:t>para medir forças de </a:t>
            </a:r>
            <a:r>
              <a:rPr lang="pt-BR" dirty="0" smtClean="0"/>
              <a:t>aceleração. </a:t>
            </a:r>
          </a:p>
          <a:p>
            <a:r>
              <a:rPr lang="pt-BR" dirty="0" smtClean="0"/>
              <a:t>O </a:t>
            </a:r>
            <a:r>
              <a:rPr lang="pt-BR" b="1" dirty="0"/>
              <a:t>LSM9DS1</a:t>
            </a:r>
            <a:r>
              <a:rPr lang="pt-BR" dirty="0"/>
              <a:t> </a:t>
            </a:r>
            <a:r>
              <a:rPr lang="pt-BR" dirty="0" smtClean="0"/>
              <a:t>mede a aceleração em 3 eixos. 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6652091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Container parado no porto:</a:t>
            </a:r>
          </a:p>
        </p:txBody>
      </p:sp>
      <p:pic>
        <p:nvPicPr>
          <p:cNvPr id="1026" name="Picture 2" descr="Free photo industrial containers box for logistic import export business.">
            <a:extLst>
              <a:ext uri="{FF2B5EF4-FFF2-40B4-BE49-F238E27FC236}">
                <a16:creationId xmlns:a16="http://schemas.microsoft.com/office/drawing/2014/main" xmlns="" id="{FDC07977-F662-66CB-7534-103E839769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76008" y="1939749"/>
            <a:ext cx="5962650" cy="39719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CaixaDeTexto 7">
            <a:extLst>
              <a:ext uri="{FF2B5EF4-FFF2-40B4-BE49-F238E27FC236}">
                <a16:creationId xmlns:a16="http://schemas.microsoft.com/office/drawing/2014/main" xmlns="" id="{42657F2C-3A0E-77BB-E339-41D96ABE7E97}"/>
              </a:ext>
            </a:extLst>
          </p:cNvPr>
          <p:cNvSpPr txBox="1"/>
          <p:nvPr/>
        </p:nvSpPr>
        <p:spPr>
          <a:xfrm>
            <a:off x="2596445" y="6187441"/>
            <a:ext cx="6096000" cy="3886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1800" dirty="0">
                <a:ea typeface="Calibri" panose="020F0502020204030204" pitchFamily="34" charset="0"/>
                <a:cs typeface="Arial" panose="020B0604020202020204" pitchFamily="34" charset="0"/>
              </a:rPr>
              <a:t>Movimentação </a:t>
            </a:r>
            <a:r>
              <a:rPr lang="pt-BR" sz="1800" dirty="0" smtClean="0">
                <a:ea typeface="Calibri" panose="020F0502020204030204" pitchFamily="34" charset="0"/>
                <a:cs typeface="Arial" panose="020B0604020202020204" pitchFamily="34" charset="0"/>
              </a:rPr>
              <a:t>em nenhum eixo.</a:t>
            </a:r>
            <a:endParaRPr lang="pt-BR" sz="18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163826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Container sendo erguido:</a:t>
            </a:r>
          </a:p>
        </p:txBody>
      </p:sp>
      <p:pic>
        <p:nvPicPr>
          <p:cNvPr id="2050" name="Picture 2" descr="Free PSD blue cargo container on transparent background">
            <a:extLst>
              <a:ext uri="{FF2B5EF4-FFF2-40B4-BE49-F238E27FC236}">
                <a16:creationId xmlns:a16="http://schemas.microsoft.com/office/drawing/2014/main" xmlns="" id="{A98A15EA-A147-6CDF-C2F6-87AAFC6C49F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61430" y="1825978"/>
            <a:ext cx="4200525" cy="42005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xmlns="" id="{42657F2C-3A0E-77BB-E339-41D96ABE7E97}"/>
              </a:ext>
            </a:extLst>
          </p:cNvPr>
          <p:cNvSpPr txBox="1"/>
          <p:nvPr/>
        </p:nvSpPr>
        <p:spPr>
          <a:xfrm>
            <a:off x="2596445" y="6187441"/>
            <a:ext cx="6096000" cy="375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1800" dirty="0">
                <a:ea typeface="Calibri" panose="020F0502020204030204" pitchFamily="34" charset="0"/>
                <a:cs typeface="Arial" panose="020B0604020202020204" pitchFamily="34" charset="0"/>
              </a:rPr>
              <a:t>Movimentação no eixo z.</a:t>
            </a:r>
          </a:p>
        </p:txBody>
      </p:sp>
    </p:spTree>
    <p:extLst>
      <p:ext uri="{BB962C8B-B14F-4D97-AF65-F5344CB8AC3E}">
        <p14:creationId xmlns:p14="http://schemas.microsoft.com/office/powerpoint/2010/main" val="287907295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Container transportado no oceano:</a:t>
            </a:r>
          </a:p>
        </p:txBody>
      </p:sp>
      <p:pic>
        <p:nvPicPr>
          <p:cNvPr id="3074" name="Picture 2" descr="Free photo aerial view of cargo ship with cargo container on sea">
            <a:extLst>
              <a:ext uri="{FF2B5EF4-FFF2-40B4-BE49-F238E27FC236}">
                <a16:creationId xmlns:a16="http://schemas.microsoft.com/office/drawing/2014/main" xmlns="" id="{6D87BA9E-F12B-B77C-65AD-AFA156B8796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13075" y="1819275"/>
            <a:ext cx="5962650" cy="39719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xmlns="" id="{7CAF6758-F677-FD03-7446-3A59B85054CD}"/>
              </a:ext>
            </a:extLst>
          </p:cNvPr>
          <p:cNvSpPr txBox="1"/>
          <p:nvPr/>
        </p:nvSpPr>
        <p:spPr>
          <a:xfrm>
            <a:off x="1580443" y="5961919"/>
            <a:ext cx="7699023" cy="7363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  <a:buFont typeface="Arial" panose="020B0604020202020204" pitchFamily="34" charset="0"/>
              <a:buChar char="•"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Movimentação em várias direções </a:t>
            </a:r>
            <a:r>
              <a:rPr lang="pt-BR" sz="2000" dirty="0" smtClean="0">
                <a:ea typeface="Calibri" panose="020F0502020204030204" pitchFamily="34" charset="0"/>
                <a:cs typeface="Arial" panose="020B0604020202020204" pitchFamily="34" charset="0"/>
              </a:rPr>
              <a:t>(</a:t>
            </a:r>
            <a:r>
              <a:rPr lang="pt-BR" sz="2000" dirty="0" err="1" smtClean="0">
                <a:ea typeface="Calibri" panose="020F0502020204030204" pitchFamily="34" charset="0"/>
                <a:cs typeface="Arial" panose="020B0604020202020204" pitchFamily="34" charset="0"/>
              </a:rPr>
              <a:t>x,y,z</a:t>
            </a:r>
            <a:r>
              <a:rPr lang="pt-BR" sz="2000" dirty="0" smtClean="0">
                <a:ea typeface="Calibri" panose="020F0502020204030204" pitchFamily="34" charset="0"/>
                <a:cs typeface="Arial" panose="020B0604020202020204" pitchFamily="34" charset="0"/>
              </a:rPr>
              <a:t>) devido 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às correntes marítimas.</a:t>
            </a:r>
          </a:p>
        </p:txBody>
      </p:sp>
    </p:spTree>
    <p:extLst>
      <p:ext uri="{BB962C8B-B14F-4D97-AF65-F5344CB8AC3E}">
        <p14:creationId xmlns:p14="http://schemas.microsoft.com/office/powerpoint/2010/main" val="378936408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Container transportado no caminhão: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Movimentação no eixo x.</a:t>
            </a:r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xmlns="" id="{C63B75BA-F777-3A50-CB3A-A642F3CCAB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03197" y="1920109"/>
            <a:ext cx="3985605" cy="30177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85783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Exemplo de </a:t>
            </a:r>
            <a:r>
              <a:rPr lang="pt-BR" sz="2000" dirty="0" smtClean="0">
                <a:ea typeface="Calibri" panose="020F0502020204030204" pitchFamily="34" charset="0"/>
                <a:cs typeface="Arial" panose="020B0604020202020204" pitchFamily="34" charset="0"/>
              </a:rPr>
              <a:t>amostra coletada com 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acelerômetro: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Movimentação no eixo x.</a:t>
            </a:r>
          </a:p>
        </p:txBody>
      </p:sp>
      <p:pic>
        <p:nvPicPr>
          <p:cNvPr id="10" name="Imagem 9">
            <a:extLst>
              <a:ext uri="{FF2B5EF4-FFF2-40B4-BE49-F238E27FC236}">
                <a16:creationId xmlns:a16="http://schemas.microsoft.com/office/drawing/2014/main" xmlns="" id="{C7DAF8C7-0817-CFEF-006D-3A402E0434A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43079" y="2053471"/>
            <a:ext cx="5105842" cy="2751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703884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Aplicação: Classificação de 4 estados do container 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Parado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Sendo erguido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No mar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No caminhão</a:t>
            </a:r>
          </a:p>
        </p:txBody>
      </p:sp>
    </p:spTree>
    <p:extLst>
      <p:ext uri="{BB962C8B-B14F-4D97-AF65-F5344CB8AC3E}">
        <p14:creationId xmlns:p14="http://schemas.microsoft.com/office/powerpoint/2010/main" val="419770429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38158" indent="-285750" algn="just">
              <a:lnSpc>
                <a:spcPct val="107000"/>
              </a:lnSpc>
              <a:spcAft>
                <a:spcPts val="533"/>
              </a:spcAft>
            </a:pPr>
            <a:r>
              <a:rPr lang="pt-BR" sz="1734" dirty="0">
                <a:ea typeface="Calibri" panose="020F0502020204030204" pitchFamily="34" charset="0"/>
                <a:cs typeface="Arial" panose="020B0604020202020204" pitchFamily="34" charset="0"/>
              </a:rPr>
              <a:t>Exemplo de 10 segundos de dados coletados por um acelerômetro </a:t>
            </a:r>
            <a:r>
              <a:rPr lang="pt-BR" sz="1800" dirty="0">
                <a:ea typeface="Calibri" panose="020F0502020204030204" pitchFamily="34" charset="0"/>
                <a:cs typeface="Arial" panose="020B0604020202020204" pitchFamily="34" charset="0"/>
              </a:rPr>
              <a:t>com frequência de leitura de 62.5 Hz, i.e. 62.5 amostras por segundo.</a:t>
            </a:r>
          </a:p>
          <a:p>
            <a:pPr marL="438158" indent="-285750" algn="just">
              <a:lnSpc>
                <a:spcPct val="107000"/>
              </a:lnSpc>
              <a:spcAft>
                <a:spcPts val="533"/>
              </a:spcAft>
            </a:pPr>
            <a:r>
              <a:rPr lang="pt-BR" sz="2000" b="1" dirty="0">
                <a:solidFill>
                  <a:srgbClr val="00B05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Que tipo de dado é este?</a:t>
            </a:r>
            <a:endParaRPr lang="pt-BR" sz="1800" b="1" dirty="0">
              <a:solidFill>
                <a:srgbClr val="00B050"/>
              </a:solidFill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5" name="Imagem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889" y="2678909"/>
            <a:ext cx="10703505" cy="25490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999363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785131" cy="4330419"/>
          </a:xfrm>
        </p:spPr>
        <p:txBody>
          <a:bodyPr>
            <a:noAutofit/>
          </a:bodyPr>
          <a:lstStyle/>
          <a:p>
            <a:pPr marL="438158" indent="-285750" algn="just">
              <a:lnSpc>
                <a:spcPct val="107000"/>
              </a:lnSpc>
              <a:spcAft>
                <a:spcPts val="533"/>
              </a:spcAft>
            </a:pPr>
            <a:r>
              <a:rPr lang="pt-BR" sz="2000" b="1" dirty="0">
                <a:solidFill>
                  <a:srgbClr val="00B05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Série temporal</a:t>
            </a:r>
            <a:r>
              <a:rPr lang="pt-BR" sz="1734" dirty="0">
                <a:ea typeface="Calibri" panose="020F0502020204030204" pitchFamily="34" charset="0"/>
                <a:cs typeface="Arial" panose="020B0604020202020204" pitchFamily="34" charset="0"/>
              </a:rPr>
              <a:t>: cada amostra tem </a:t>
            </a:r>
            <a:r>
              <a:rPr lang="pt-BR" sz="1734" b="1" i="1" dirty="0">
                <a:solidFill>
                  <a:srgbClr val="7030A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correlação</a:t>
            </a:r>
            <a:r>
              <a:rPr lang="pt-BR" sz="1734" dirty="0">
                <a:ea typeface="Calibri" panose="020F0502020204030204" pitchFamily="34" charset="0"/>
                <a:cs typeface="Arial" panose="020B0604020202020204" pitchFamily="34" charset="0"/>
              </a:rPr>
              <a:t> com as anteriores e posteriores.</a:t>
            </a:r>
          </a:p>
          <a:p>
            <a:pPr marL="438158" indent="-285750" algn="just">
              <a:lnSpc>
                <a:spcPct val="107000"/>
              </a:lnSpc>
              <a:spcAft>
                <a:spcPts val="533"/>
              </a:spcAft>
            </a:pPr>
            <a:r>
              <a:rPr lang="pt-BR" sz="1734" dirty="0">
                <a:ea typeface="Calibri" panose="020F0502020204030204" pitchFamily="34" charset="0"/>
                <a:cs typeface="Arial" panose="020B0604020202020204" pitchFamily="34" charset="0"/>
              </a:rPr>
              <a:t>Assim, por serem séries temporais, vamos processar janelas que capturem pelo menos um ciclo de movimento, por exemplo, 2 segundos.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6" name="Imagem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48103" y="2323388"/>
            <a:ext cx="9206398" cy="24144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170044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785131" cy="4330419"/>
          </a:xfrm>
        </p:spPr>
        <p:txBody>
          <a:bodyPr>
            <a:noAutofit/>
          </a:bodyPr>
          <a:lstStyle/>
          <a:p>
            <a:pPr marL="438158" indent="-285750" algn="just">
              <a:lnSpc>
                <a:spcPct val="107000"/>
              </a:lnSpc>
              <a:spcAft>
                <a:spcPts val="533"/>
              </a:spcAft>
            </a:pPr>
            <a:r>
              <a:rPr lang="pt-BR" sz="2000" b="1" dirty="0" smtClean="0">
                <a:solidFill>
                  <a:srgbClr val="00B05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Que tipo de rede devemos usar?</a:t>
            </a:r>
            <a:endParaRPr lang="pt-BR" sz="1734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6" name="Imagem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48103" y="2323388"/>
            <a:ext cx="9206398" cy="24144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65612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785131" cy="4330419"/>
          </a:xfrm>
        </p:spPr>
        <p:txBody>
          <a:bodyPr>
            <a:noAutofit/>
          </a:bodyPr>
          <a:lstStyle/>
          <a:p>
            <a:pPr marL="438158" indent="-285750" algn="just">
              <a:lnSpc>
                <a:spcPct val="107000"/>
              </a:lnSpc>
              <a:spcAft>
                <a:spcPts val="533"/>
              </a:spcAft>
            </a:pPr>
            <a:r>
              <a:rPr lang="pt-BR" sz="2000" b="1" dirty="0" smtClean="0">
                <a:solidFill>
                  <a:srgbClr val="00B05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Redes com memória, para que elas se lembrem do passado!</a:t>
            </a:r>
          </a:p>
          <a:p>
            <a:pPr marL="438158" indent="-285750" algn="just">
              <a:lnSpc>
                <a:spcPct val="107000"/>
              </a:lnSpc>
              <a:spcAft>
                <a:spcPts val="533"/>
              </a:spcAft>
            </a:pPr>
            <a:r>
              <a:rPr lang="pt-BR" sz="1600" dirty="0">
                <a:ea typeface="Calibri" panose="020F0502020204030204" pitchFamily="34" charset="0"/>
                <a:cs typeface="Arial" panose="020B0604020202020204" pitchFamily="34" charset="0"/>
              </a:rPr>
              <a:t>Redes baseadas em camadas </a:t>
            </a:r>
            <a:r>
              <a:rPr lang="pt-BR" sz="1600" dirty="0" smtClean="0">
                <a:ea typeface="Calibri" panose="020F0502020204030204" pitchFamily="34" charset="0"/>
                <a:cs typeface="Arial" panose="020B0604020202020204" pitchFamily="34" charset="0"/>
              </a:rPr>
              <a:t>do tipo </a:t>
            </a:r>
            <a:r>
              <a:rPr lang="pt-BR" sz="1600" dirty="0" err="1" smtClean="0">
                <a:ea typeface="Calibri" panose="020F0502020204030204" pitchFamily="34" charset="0"/>
                <a:cs typeface="Arial" panose="020B0604020202020204" pitchFamily="34" charset="0"/>
              </a:rPr>
              <a:t>Long</a:t>
            </a:r>
            <a:r>
              <a:rPr lang="pt-BR" sz="1600" dirty="0" smtClean="0"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lang="pt-BR" sz="1600" dirty="0">
                <a:ea typeface="Calibri" panose="020F0502020204030204" pitchFamily="34" charset="0"/>
                <a:cs typeface="Arial" panose="020B0604020202020204" pitchFamily="34" charset="0"/>
              </a:rPr>
              <a:t>Short-</a:t>
            </a:r>
            <a:r>
              <a:rPr lang="pt-BR" sz="1600" dirty="0" err="1">
                <a:ea typeface="Calibri" panose="020F0502020204030204" pitchFamily="34" charset="0"/>
                <a:cs typeface="Arial" panose="020B0604020202020204" pitchFamily="34" charset="0"/>
              </a:rPr>
              <a:t>Term</a:t>
            </a:r>
            <a:r>
              <a:rPr lang="pt-BR" sz="1600" dirty="0"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lang="pt-BR" sz="1600" dirty="0" err="1">
                <a:ea typeface="Calibri" panose="020F0502020204030204" pitchFamily="34" charset="0"/>
                <a:cs typeface="Arial" panose="020B0604020202020204" pitchFamily="34" charset="0"/>
              </a:rPr>
              <a:t>Memory</a:t>
            </a:r>
            <a:r>
              <a:rPr lang="pt-BR" sz="1600" dirty="0"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lang="pt-BR" sz="1600" dirty="0">
                <a:ea typeface="Calibri" panose="020F0502020204030204" pitchFamily="34" charset="0"/>
                <a:cs typeface="Arial" panose="020B0604020202020204" pitchFamily="34" charset="0"/>
              </a:rPr>
              <a:t>(LSTM) e </a:t>
            </a:r>
            <a:r>
              <a:rPr lang="pt-BR" sz="1600" dirty="0" err="1">
                <a:ea typeface="Calibri" panose="020F0502020204030204" pitchFamily="34" charset="0"/>
                <a:cs typeface="Arial" panose="020B0604020202020204" pitchFamily="34" charset="0"/>
              </a:rPr>
              <a:t>Gated</a:t>
            </a:r>
            <a:r>
              <a:rPr lang="pt-BR" sz="1600" dirty="0"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lang="pt-BR" sz="1600" dirty="0" err="1">
                <a:ea typeface="Calibri" panose="020F0502020204030204" pitchFamily="34" charset="0"/>
                <a:cs typeface="Arial" panose="020B0604020202020204" pitchFamily="34" charset="0"/>
              </a:rPr>
              <a:t>Recurrent</a:t>
            </a:r>
            <a:r>
              <a:rPr lang="pt-BR" sz="1600" dirty="0"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lang="pt-BR" sz="1600" dirty="0" err="1">
                <a:ea typeface="Calibri" panose="020F0502020204030204" pitchFamily="34" charset="0"/>
                <a:cs typeface="Arial" panose="020B0604020202020204" pitchFamily="34" charset="0"/>
              </a:rPr>
              <a:t>Units</a:t>
            </a:r>
            <a:r>
              <a:rPr lang="pt-BR" sz="1600" dirty="0"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lang="pt-BR" sz="1600" dirty="0">
                <a:ea typeface="Calibri" panose="020F0502020204030204" pitchFamily="34" charset="0"/>
                <a:cs typeface="Arial" panose="020B0604020202020204" pitchFamily="34" charset="0"/>
              </a:rPr>
              <a:t>(GRU), por exemplo</a:t>
            </a:r>
            <a:r>
              <a:rPr lang="pt-BR" sz="1600" dirty="0" smtClean="0">
                <a:ea typeface="Calibri" panose="020F0502020204030204" pitchFamily="34" charset="0"/>
                <a:cs typeface="Arial" panose="020B0604020202020204" pitchFamily="34" charset="0"/>
              </a:rPr>
              <a:t>.</a:t>
            </a:r>
            <a:endParaRPr lang="pt-BR" sz="16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6" name="Imagem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48103" y="2323388"/>
            <a:ext cx="9206398" cy="24144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339349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/>
          <p:cNvPicPr>
            <a:picLocks noChangeAspect="1"/>
          </p:cNvPicPr>
          <p:nvPr/>
        </p:nvPicPr>
        <p:blipFill rotWithShape="1">
          <a:blip r:embed="rId4"/>
          <a:srcRect l="1037" t="1338"/>
          <a:stretch/>
        </p:blipFill>
        <p:spPr>
          <a:xfrm>
            <a:off x="78827" y="1333707"/>
            <a:ext cx="10279117" cy="4646876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CaixaDeTexto 3"/>
          <p:cNvSpPr txBox="1"/>
          <p:nvPr/>
        </p:nvSpPr>
        <p:spPr>
          <a:xfrm>
            <a:off x="7330966" y="4099034"/>
            <a:ext cx="241212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b="1" i="1" dirty="0">
                <a:solidFill>
                  <a:srgbClr val="7030A0"/>
                </a:solidFill>
              </a:rPr>
              <a:t>375 atributos de entrada!</a:t>
            </a:r>
          </a:p>
        </p:txBody>
      </p:sp>
    </p:spTree>
    <p:extLst>
      <p:ext uri="{BB962C8B-B14F-4D97-AF65-F5344CB8AC3E}">
        <p14:creationId xmlns:p14="http://schemas.microsoft.com/office/powerpoint/2010/main" val="146315192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/>
          <p:cNvPicPr>
            <a:picLocks noChangeAspect="1"/>
          </p:cNvPicPr>
          <p:nvPr/>
        </p:nvPicPr>
        <p:blipFill rotWithShape="1">
          <a:blip r:embed="rId4"/>
          <a:srcRect l="1037" t="1338"/>
          <a:stretch/>
        </p:blipFill>
        <p:spPr>
          <a:xfrm>
            <a:off x="78827" y="1333707"/>
            <a:ext cx="10279117" cy="4646876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CaixaDeTexto 3"/>
          <p:cNvSpPr txBox="1"/>
          <p:nvPr/>
        </p:nvSpPr>
        <p:spPr>
          <a:xfrm>
            <a:off x="7078717" y="3657145"/>
            <a:ext cx="3862551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b="1" i="1" dirty="0">
                <a:solidFill>
                  <a:srgbClr val="7030A0"/>
                </a:solidFill>
              </a:rPr>
              <a:t>Precisamos de uma rede complexa (e.g., LSTM) para processar </a:t>
            </a:r>
            <a:r>
              <a:rPr lang="pt-BR" sz="2400" b="1" i="1" dirty="0" smtClean="0">
                <a:solidFill>
                  <a:srgbClr val="7030A0"/>
                </a:solidFill>
              </a:rPr>
              <a:t>todos </a:t>
            </a:r>
            <a:r>
              <a:rPr lang="pt-BR" sz="2400" b="1" i="1" dirty="0">
                <a:solidFill>
                  <a:srgbClr val="7030A0"/>
                </a:solidFill>
              </a:rPr>
              <a:t>os atributos de entrada e </a:t>
            </a:r>
            <a:r>
              <a:rPr lang="pt-BR" sz="2400" b="1" i="1" dirty="0" smtClean="0">
                <a:solidFill>
                  <a:schemeClr val="accent6"/>
                </a:solidFill>
              </a:rPr>
              <a:t>compreender os dados de </a:t>
            </a:r>
            <a:r>
              <a:rPr lang="pt-BR" sz="2400" b="1" i="1" dirty="0">
                <a:solidFill>
                  <a:schemeClr val="accent6"/>
                </a:solidFill>
              </a:rPr>
              <a:t>cada janela</a:t>
            </a:r>
            <a:r>
              <a:rPr lang="pt-BR" sz="2400" b="1" i="1" dirty="0">
                <a:solidFill>
                  <a:srgbClr val="7030A0"/>
                </a:solidFill>
              </a:rPr>
              <a:t>.</a:t>
            </a:r>
            <a:endParaRPr lang="pt-BR" sz="2400" b="1" i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3716974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/>
          <p:cNvPicPr>
            <a:picLocks noChangeAspect="1"/>
          </p:cNvPicPr>
          <p:nvPr/>
        </p:nvPicPr>
        <p:blipFill rotWithShape="1">
          <a:blip r:embed="rId4"/>
          <a:srcRect l="1037" t="1338"/>
          <a:stretch/>
        </p:blipFill>
        <p:spPr>
          <a:xfrm>
            <a:off x="0" y="1333707"/>
            <a:ext cx="10279117" cy="4646876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CaixaDeTexto 3"/>
          <p:cNvSpPr txBox="1"/>
          <p:nvPr/>
        </p:nvSpPr>
        <p:spPr>
          <a:xfrm>
            <a:off x="7078717" y="3657145"/>
            <a:ext cx="3862551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b="1" i="1" dirty="0">
                <a:solidFill>
                  <a:srgbClr val="0070C0"/>
                </a:solidFill>
              </a:rPr>
              <a:t>A consequência é que o modelo consome mais memória e pode não operar em tempo real.</a:t>
            </a:r>
          </a:p>
          <a:p>
            <a:pPr algn="ctr"/>
            <a:endParaRPr lang="pt-BR" sz="2400" b="1" i="1" dirty="0">
              <a:solidFill>
                <a:srgbClr val="0070C0"/>
              </a:solidFill>
            </a:endParaRPr>
          </a:p>
          <a:p>
            <a:pPr algn="ctr"/>
            <a:r>
              <a:rPr lang="pt-BR" sz="2400" b="1" i="1" dirty="0">
                <a:solidFill>
                  <a:srgbClr val="FF0000"/>
                </a:solidFill>
              </a:rPr>
              <a:t>O que podemos fazer?</a:t>
            </a:r>
            <a:endParaRPr lang="pt-BR" sz="24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6443463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/>
          <p:cNvPicPr>
            <a:picLocks noChangeAspect="1"/>
          </p:cNvPicPr>
          <p:nvPr/>
        </p:nvPicPr>
        <p:blipFill rotWithShape="1">
          <a:blip r:embed="rId4"/>
          <a:srcRect l="1037" t="1338"/>
          <a:stretch/>
        </p:blipFill>
        <p:spPr>
          <a:xfrm>
            <a:off x="0" y="1333707"/>
            <a:ext cx="10279117" cy="4646876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CaixaDeTexto 3"/>
          <p:cNvSpPr txBox="1"/>
          <p:nvPr/>
        </p:nvSpPr>
        <p:spPr>
          <a:xfrm>
            <a:off x="6558456" y="3830565"/>
            <a:ext cx="5265682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b="1" i="1" dirty="0">
                <a:solidFill>
                  <a:srgbClr val="0070C0"/>
                </a:solidFill>
              </a:rPr>
              <a:t>Ao invés de termos uma rede muito complexa que faça a extração de atributos de forma automática, vamos</a:t>
            </a:r>
          </a:p>
          <a:p>
            <a:pPr algn="ctr"/>
            <a:r>
              <a:rPr lang="pt-BR" sz="2400" b="1" i="1" dirty="0" err="1">
                <a:solidFill>
                  <a:srgbClr val="0070C0"/>
                </a:solidFill>
              </a:rPr>
              <a:t>pré</a:t>
            </a:r>
            <a:r>
              <a:rPr lang="pt-BR" sz="2400" b="1" i="1" dirty="0">
                <a:solidFill>
                  <a:srgbClr val="0070C0"/>
                </a:solidFill>
              </a:rPr>
              <a:t>-processar os dados e extrair alguns atributos manualmente.</a:t>
            </a:r>
            <a:endParaRPr lang="pt-BR" sz="24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6386453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 rotWithShape="1">
          <a:blip r:embed="rId4"/>
          <a:srcRect l="1693" t="3836" r="5346" b="43789"/>
          <a:stretch/>
        </p:blipFill>
        <p:spPr>
          <a:xfrm>
            <a:off x="141890" y="1371600"/>
            <a:ext cx="10093567" cy="3200400"/>
          </a:xfrm>
          <a:prstGeom prst="rect">
            <a:avLst/>
          </a:prstGeom>
        </p:spPr>
      </p:pic>
      <p:sp>
        <p:nvSpPr>
          <p:cNvPr id="6" name="CaixaDeTexto 5"/>
          <p:cNvSpPr txBox="1"/>
          <p:nvPr/>
        </p:nvSpPr>
        <p:spPr>
          <a:xfrm>
            <a:off x="3864336" y="4998508"/>
            <a:ext cx="486972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 algn="ctr">
              <a:buAutoNum type="arabicPeriod"/>
            </a:pPr>
            <a:r>
              <a:rPr lang="pt-BR" sz="2400" b="1" i="1" dirty="0">
                <a:solidFill>
                  <a:srgbClr val="0070C0"/>
                </a:solidFill>
              </a:rPr>
              <a:t>Etapa do pré-processamento:</a:t>
            </a:r>
          </a:p>
          <a:p>
            <a:pPr algn="ctr"/>
            <a:r>
              <a:rPr lang="pt-BR" sz="2400" b="1" i="1" dirty="0">
                <a:solidFill>
                  <a:srgbClr val="0070C0"/>
                </a:solidFill>
              </a:rPr>
              <a:t>Calcular o valor RMS de cada um dos eixos.</a:t>
            </a:r>
            <a:endParaRPr lang="pt-BR" sz="24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3909621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015" y="1081087"/>
            <a:ext cx="8343900" cy="4695825"/>
          </a:xfrm>
          <a:prstGeom prst="rect">
            <a:avLst/>
          </a:prstGeom>
        </p:spPr>
      </p:pic>
      <p:sp>
        <p:nvSpPr>
          <p:cNvPr id="6" name="CaixaDeTexto 5"/>
          <p:cNvSpPr txBox="1"/>
          <p:nvPr/>
        </p:nvSpPr>
        <p:spPr>
          <a:xfrm>
            <a:off x="6400800" y="1943140"/>
            <a:ext cx="4869727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b="1" i="1" dirty="0">
                <a:solidFill>
                  <a:srgbClr val="0070C0"/>
                </a:solidFill>
              </a:rPr>
              <a:t>2. Etapa do pré-processamento:</a:t>
            </a:r>
          </a:p>
          <a:p>
            <a:pPr algn="ctr"/>
            <a:r>
              <a:rPr lang="pt-BR" sz="2400" b="1" i="1" dirty="0">
                <a:solidFill>
                  <a:srgbClr val="0070C0"/>
                </a:solidFill>
              </a:rPr>
              <a:t>Calcular a FFT dos sinais do 3 eixos.</a:t>
            </a:r>
            <a:br>
              <a:rPr lang="pt-BR" sz="2400" b="1" i="1" dirty="0">
                <a:solidFill>
                  <a:srgbClr val="0070C0"/>
                </a:solidFill>
              </a:rPr>
            </a:br>
            <a:r>
              <a:rPr lang="pt-BR" sz="2400" b="1" i="1" dirty="0">
                <a:solidFill>
                  <a:srgbClr val="00B050"/>
                </a:solidFill>
              </a:rPr>
              <a:t>Usamos como atributos de entrada: 3 valores de pico e suas respectivas frequências para cada eixo.</a:t>
            </a:r>
          </a:p>
          <a:p>
            <a:pPr algn="ctr"/>
            <a:r>
              <a:rPr lang="pt-BR" sz="2400" b="1" i="1" dirty="0">
                <a:solidFill>
                  <a:srgbClr val="00B050"/>
                </a:solidFill>
              </a:rPr>
              <a:t>Totalizando 18 atributos.</a:t>
            </a:r>
            <a:endParaRPr lang="pt-BR" sz="2400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7566895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454" y="1655704"/>
            <a:ext cx="7023975" cy="3952991"/>
          </a:xfrm>
          <a:prstGeom prst="rect">
            <a:avLst/>
          </a:prstGeom>
        </p:spPr>
      </p:pic>
      <p:sp>
        <p:nvSpPr>
          <p:cNvPr id="6" name="CaixaDeTexto 5"/>
          <p:cNvSpPr txBox="1"/>
          <p:nvPr/>
        </p:nvSpPr>
        <p:spPr>
          <a:xfrm>
            <a:off x="7472855" y="2614765"/>
            <a:ext cx="4351283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b="1" i="1" dirty="0">
                <a:solidFill>
                  <a:srgbClr val="0070C0"/>
                </a:solidFill>
              </a:rPr>
              <a:t>3. Etapa do pré-processamento: Densidade espectral de potência.</a:t>
            </a:r>
          </a:p>
          <a:p>
            <a:pPr algn="ctr"/>
            <a:r>
              <a:rPr lang="pt-BR" sz="2400" b="1" i="1" dirty="0">
                <a:solidFill>
                  <a:srgbClr val="00B05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Divide-se a largura de banda em 4 e calcula-se a densidade de potência para cada região. Assim, temos 4 regiões * 3 eixos = 12 atributos.</a:t>
            </a:r>
            <a:endParaRPr lang="pt-BR" sz="2400" b="1" i="1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1807668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 rotWithShape="1">
          <a:blip r:embed="rId4"/>
          <a:srcRect l="4527" t="11372" r="1567" b="2679"/>
          <a:stretch/>
        </p:blipFill>
        <p:spPr>
          <a:xfrm>
            <a:off x="0" y="1072055"/>
            <a:ext cx="9733115" cy="5013435"/>
          </a:xfrm>
          <a:prstGeom prst="rect">
            <a:avLst/>
          </a:prstGeom>
        </p:spPr>
      </p:pic>
      <p:sp>
        <p:nvSpPr>
          <p:cNvPr id="6" name="CaixaDeTexto 5"/>
          <p:cNvSpPr txBox="1"/>
          <p:nvPr/>
        </p:nvSpPr>
        <p:spPr>
          <a:xfrm>
            <a:off x="9222828" y="3860240"/>
            <a:ext cx="2443655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b="1" i="1" dirty="0">
                <a:solidFill>
                  <a:srgbClr val="0070C0"/>
                </a:solidFill>
              </a:rPr>
              <a:t>Portanto, a rede neural terá 33 atributos de entrada.</a:t>
            </a:r>
            <a:endParaRPr lang="pt-BR" sz="2400" b="1" i="1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7023083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 rotWithShape="1">
          <a:blip r:embed="rId4"/>
          <a:srcRect l="4527" t="11895" r="2323" b="14580"/>
          <a:stretch/>
        </p:blipFill>
        <p:spPr>
          <a:xfrm>
            <a:off x="0" y="1213945"/>
            <a:ext cx="10256726" cy="4556234"/>
          </a:xfrm>
          <a:prstGeom prst="rect">
            <a:avLst/>
          </a:prstGeom>
        </p:spPr>
      </p:pic>
      <p:pic>
        <p:nvPicPr>
          <p:cNvPr id="5" name="Imagem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07517" y="4724582"/>
            <a:ext cx="1560786" cy="809115"/>
          </a:xfrm>
          <a:prstGeom prst="rect">
            <a:avLst/>
          </a:prstGeom>
        </p:spPr>
      </p:pic>
      <p:sp>
        <p:nvSpPr>
          <p:cNvPr id="8" name="CaixaDeTexto 7"/>
          <p:cNvSpPr txBox="1"/>
          <p:nvPr/>
        </p:nvSpPr>
        <p:spPr>
          <a:xfrm>
            <a:off x="8907517" y="4635653"/>
            <a:ext cx="2822685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600" b="1" dirty="0"/>
              <a:t>Parado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600" b="1" dirty="0"/>
              <a:t>Sendo erguido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600" b="1" dirty="0"/>
              <a:t>Mar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600" b="1" dirty="0"/>
              <a:t>Caminhão</a:t>
            </a:r>
          </a:p>
        </p:txBody>
      </p:sp>
    </p:spTree>
    <p:extLst>
      <p:ext uri="{BB962C8B-B14F-4D97-AF65-F5344CB8AC3E}">
        <p14:creationId xmlns:p14="http://schemas.microsoft.com/office/powerpoint/2010/main" val="138161562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2692" y="1860823"/>
            <a:ext cx="9803416" cy="2190915"/>
          </a:xfrm>
          <a:prstGeom prst="rect">
            <a:avLst/>
          </a:prstGeom>
        </p:spPr>
      </p:pic>
      <p:sp>
        <p:nvSpPr>
          <p:cNvPr id="6" name="Retângulo 5"/>
          <p:cNvSpPr/>
          <p:nvPr/>
        </p:nvSpPr>
        <p:spPr>
          <a:xfrm>
            <a:off x="2172804" y="4427792"/>
            <a:ext cx="7643191" cy="134197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400" b="1" i="1" dirty="0">
                <a:solidFill>
                  <a:srgbClr val="7030A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Vamos usar o Edge Impulse para criar essa aplicação.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400" b="1" i="1" dirty="0">
                <a:solidFill>
                  <a:srgbClr val="7030A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Com ele, vamos desde a coleta de dados, passando pelo pré-processamento, até a inferência no dispositivo.</a:t>
            </a:r>
          </a:p>
        </p:txBody>
      </p:sp>
      <p:sp>
        <p:nvSpPr>
          <p:cNvPr id="8" name="Retângulo 7"/>
          <p:cNvSpPr/>
          <p:nvPr/>
        </p:nvSpPr>
        <p:spPr>
          <a:xfrm>
            <a:off x="3511330" y="6065695"/>
            <a:ext cx="4966138" cy="61927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52408" algn="just">
              <a:lnSpc>
                <a:spcPct val="107000"/>
              </a:lnSpc>
              <a:spcAft>
                <a:spcPts val="533"/>
              </a:spcAft>
            </a:pPr>
            <a:r>
              <a:rPr lang="pt-BR" sz="1600" dirty="0">
                <a:ea typeface="Calibri" panose="020F0502020204030204" pitchFamily="34" charset="0"/>
                <a:cs typeface="Arial" panose="020B0604020202020204" pitchFamily="34" charset="0"/>
              </a:rPr>
              <a:t>OBS.: O Edge Impulse faz toda a análise espectral (i.e., o pré-processamento) de forma automática.</a:t>
            </a:r>
          </a:p>
        </p:txBody>
      </p:sp>
    </p:spTree>
    <p:extLst>
      <p:ext uri="{BB962C8B-B14F-4D97-AF65-F5344CB8AC3E}">
        <p14:creationId xmlns:p14="http://schemas.microsoft.com/office/powerpoint/2010/main" val="160340604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Retângulo 4"/>
          <p:cNvSpPr/>
          <p:nvPr/>
        </p:nvSpPr>
        <p:spPr>
          <a:xfrm>
            <a:off x="6565348" y="3718682"/>
            <a:ext cx="4966138" cy="14754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800" b="1" i="1" dirty="0">
                <a:solidFill>
                  <a:srgbClr val="00B05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Vamos criar a base de dados no Edge Impulse com o acelerômetro do celular.</a:t>
            </a: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5265" y="1436536"/>
            <a:ext cx="5618421" cy="4278463"/>
          </a:xfrm>
          <a:prstGeom prst="rect">
            <a:avLst/>
          </a:prstGeom>
        </p:spPr>
      </p:pic>
      <p:pic>
        <p:nvPicPr>
          <p:cNvPr id="6" name="Imagem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65957" y="1436536"/>
            <a:ext cx="3171825" cy="167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917099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grpSp>
        <p:nvGrpSpPr>
          <p:cNvPr id="10" name="Grupo 9"/>
          <p:cNvGrpSpPr/>
          <p:nvPr/>
        </p:nvGrpSpPr>
        <p:grpSpPr>
          <a:xfrm>
            <a:off x="304800" y="2356626"/>
            <a:ext cx="11582400" cy="1830297"/>
            <a:chOff x="304800" y="2877817"/>
            <a:chExt cx="11582400" cy="1830297"/>
          </a:xfrm>
        </p:grpSpPr>
        <p:pic>
          <p:nvPicPr>
            <p:cNvPr id="4" name="Imagem 3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04800" y="2877817"/>
              <a:ext cx="10494579" cy="1830297"/>
            </a:xfrm>
            <a:prstGeom prst="rect">
              <a:avLst/>
            </a:prstGeom>
          </p:spPr>
        </p:pic>
        <p:sp>
          <p:nvSpPr>
            <p:cNvPr id="6" name="CaixaDeTexto 5"/>
            <p:cNvSpPr txBox="1"/>
            <p:nvPr/>
          </p:nvSpPr>
          <p:spPr>
            <a:xfrm>
              <a:off x="9616965" y="3365936"/>
              <a:ext cx="2270235" cy="1077218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pt-BR" sz="1600" b="1" dirty="0"/>
                <a:t>Parado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pt-BR" sz="1600" b="1" dirty="0"/>
                <a:t>Sendo erguido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pt-BR" sz="1600" b="1" dirty="0"/>
                <a:t>Mar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pt-BR" sz="1600" b="1" dirty="0"/>
                <a:t>Caminhão</a:t>
              </a:r>
            </a:p>
          </p:txBody>
        </p:sp>
      </p:grpSp>
      <p:sp>
        <p:nvSpPr>
          <p:cNvPr id="9" name="Retângulo 8"/>
          <p:cNvSpPr/>
          <p:nvPr/>
        </p:nvSpPr>
        <p:spPr>
          <a:xfrm>
            <a:off x="3192517" y="4584077"/>
            <a:ext cx="5295462" cy="14754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52408" algn="ctr">
              <a:lnSpc>
                <a:spcPct val="107000"/>
              </a:lnSpc>
              <a:spcAft>
                <a:spcPts val="533"/>
              </a:spcAft>
            </a:pPr>
            <a:r>
              <a:rPr lang="pt-BR" sz="2800" b="1" i="1" dirty="0">
                <a:solidFill>
                  <a:srgbClr val="00B05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Na sequência projetaremos, treinaremos e testaremos o modelo.</a:t>
            </a:r>
          </a:p>
        </p:txBody>
      </p:sp>
    </p:spTree>
    <p:extLst>
      <p:ext uri="{BB962C8B-B14F-4D97-AF65-F5344CB8AC3E}">
        <p14:creationId xmlns:p14="http://schemas.microsoft.com/office/powerpoint/2010/main" val="203198801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 rotWithShape="1">
          <a:blip r:embed="rId4"/>
          <a:srcRect l="18750" t="10580" r="2418" b="10290"/>
          <a:stretch/>
        </p:blipFill>
        <p:spPr>
          <a:xfrm>
            <a:off x="954157" y="1599871"/>
            <a:ext cx="8309113" cy="4691599"/>
          </a:xfrm>
          <a:prstGeom prst="rect">
            <a:avLst/>
          </a:prstGeom>
        </p:spPr>
      </p:pic>
      <p:sp>
        <p:nvSpPr>
          <p:cNvPr id="5" name="CaixaDeTexto 4"/>
          <p:cNvSpPr txBox="1"/>
          <p:nvPr/>
        </p:nvSpPr>
        <p:spPr>
          <a:xfrm>
            <a:off x="2206488" y="989584"/>
            <a:ext cx="51142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Passos para criação do classificador via Edge Impulse</a:t>
            </a:r>
          </a:p>
        </p:txBody>
      </p:sp>
    </p:spTree>
    <p:extLst>
      <p:ext uri="{BB962C8B-B14F-4D97-AF65-F5344CB8AC3E}">
        <p14:creationId xmlns:p14="http://schemas.microsoft.com/office/powerpoint/2010/main" val="16414974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6" name="Imagem 5"/>
          <p:cNvPicPr>
            <a:picLocks noChangeAspect="1"/>
          </p:cNvPicPr>
          <p:nvPr/>
        </p:nvPicPr>
        <p:blipFill rotWithShape="1">
          <a:blip r:embed="rId4"/>
          <a:srcRect l="11087" t="2899" b="2174"/>
          <a:stretch/>
        </p:blipFill>
        <p:spPr>
          <a:xfrm>
            <a:off x="1729408" y="1386706"/>
            <a:ext cx="7478123" cy="4490988"/>
          </a:xfrm>
          <a:prstGeom prst="rect">
            <a:avLst/>
          </a:prstGeom>
        </p:spPr>
      </p:pic>
      <p:sp>
        <p:nvSpPr>
          <p:cNvPr id="8" name="CaixaDeTexto 7"/>
          <p:cNvSpPr txBox="1"/>
          <p:nvPr/>
        </p:nvSpPr>
        <p:spPr>
          <a:xfrm>
            <a:off x="2206488" y="989584"/>
            <a:ext cx="48738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1. Conectando o dispositivo para coleta dos dados</a:t>
            </a:r>
          </a:p>
        </p:txBody>
      </p:sp>
    </p:spTree>
    <p:extLst>
      <p:ext uri="{BB962C8B-B14F-4D97-AF65-F5344CB8AC3E}">
        <p14:creationId xmlns:p14="http://schemas.microsoft.com/office/powerpoint/2010/main" val="329426576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8" name="CaixaDeTexto 7"/>
          <p:cNvSpPr txBox="1"/>
          <p:nvPr/>
        </p:nvSpPr>
        <p:spPr>
          <a:xfrm>
            <a:off x="2206488" y="989584"/>
            <a:ext cx="20144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2. Coleta dos dados</a:t>
            </a: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 rotWithShape="1">
          <a:blip r:embed="rId4"/>
          <a:srcRect l="978" t="3478" r="1685" b="3914"/>
          <a:stretch/>
        </p:blipFill>
        <p:spPr>
          <a:xfrm>
            <a:off x="1192696" y="1513993"/>
            <a:ext cx="8666921" cy="4638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264831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 rotWithShape="1">
          <a:blip r:embed="rId4"/>
          <a:srcRect l="9457" t="13479" r="5598" b="6232"/>
          <a:stretch/>
        </p:blipFill>
        <p:spPr>
          <a:xfrm>
            <a:off x="1162877" y="1726317"/>
            <a:ext cx="8100391" cy="4306734"/>
          </a:xfrm>
          <a:prstGeom prst="rect">
            <a:avLst/>
          </a:prstGeom>
        </p:spPr>
      </p:pic>
      <p:sp>
        <p:nvSpPr>
          <p:cNvPr id="6" name="CaixaDeTexto 5"/>
          <p:cNvSpPr txBox="1"/>
          <p:nvPr/>
        </p:nvSpPr>
        <p:spPr>
          <a:xfrm>
            <a:off x="2206488" y="989584"/>
            <a:ext cx="2010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3. Criar um impulse</a:t>
            </a:r>
          </a:p>
        </p:txBody>
      </p:sp>
      <p:sp>
        <p:nvSpPr>
          <p:cNvPr id="8" name="CaixaDeTexto 7"/>
          <p:cNvSpPr txBox="1"/>
          <p:nvPr/>
        </p:nvSpPr>
        <p:spPr>
          <a:xfrm>
            <a:off x="7827922" y="5005528"/>
            <a:ext cx="2270235" cy="83099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200" b="1" dirty="0"/>
              <a:t>Parado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200" b="1" dirty="0"/>
              <a:t>Sendo erguido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200" b="1" dirty="0"/>
              <a:t>Mar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200" b="1" dirty="0"/>
              <a:t>Caminhão</a:t>
            </a:r>
          </a:p>
        </p:txBody>
      </p:sp>
    </p:spTree>
    <p:extLst>
      <p:ext uri="{BB962C8B-B14F-4D97-AF65-F5344CB8AC3E}">
        <p14:creationId xmlns:p14="http://schemas.microsoft.com/office/powerpoint/2010/main" val="225081924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 rotWithShape="1">
          <a:blip r:embed="rId4"/>
          <a:srcRect t="2899" r="12282" b="5652"/>
          <a:stretch/>
        </p:blipFill>
        <p:spPr>
          <a:xfrm>
            <a:off x="1341782" y="1600541"/>
            <a:ext cx="7643191" cy="4482206"/>
          </a:xfrm>
          <a:prstGeom prst="rect">
            <a:avLst/>
          </a:prstGeom>
        </p:spPr>
      </p:pic>
      <p:sp>
        <p:nvSpPr>
          <p:cNvPr id="6" name="CaixaDeTexto 5"/>
          <p:cNvSpPr txBox="1"/>
          <p:nvPr/>
        </p:nvSpPr>
        <p:spPr>
          <a:xfrm>
            <a:off x="2206488" y="989584"/>
            <a:ext cx="32385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4. Pré-processamento dos dados</a:t>
            </a:r>
          </a:p>
        </p:txBody>
      </p:sp>
    </p:spTree>
    <p:extLst>
      <p:ext uri="{BB962C8B-B14F-4D97-AF65-F5344CB8AC3E}">
        <p14:creationId xmlns:p14="http://schemas.microsoft.com/office/powerpoint/2010/main" val="287562142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6" name="CaixaDeTexto 5"/>
          <p:cNvSpPr txBox="1"/>
          <p:nvPr/>
        </p:nvSpPr>
        <p:spPr>
          <a:xfrm>
            <a:off x="2206488" y="989584"/>
            <a:ext cx="51483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5. Projetar um modelo, treiná-lo e avaliar o resultado</a:t>
            </a:r>
          </a:p>
        </p:txBody>
      </p:sp>
      <p:pic>
        <p:nvPicPr>
          <p:cNvPr id="5" name="Imagem 4"/>
          <p:cNvPicPr>
            <a:picLocks noChangeAspect="1"/>
          </p:cNvPicPr>
          <p:nvPr/>
        </p:nvPicPr>
        <p:blipFill rotWithShape="1">
          <a:blip r:embed="rId4"/>
          <a:srcRect t="2754" r="11223" b="5362"/>
          <a:stretch/>
        </p:blipFill>
        <p:spPr>
          <a:xfrm>
            <a:off x="875022" y="1403408"/>
            <a:ext cx="8467761" cy="4929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634831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6" name="CaixaDeTexto 5"/>
          <p:cNvSpPr txBox="1"/>
          <p:nvPr/>
        </p:nvSpPr>
        <p:spPr>
          <a:xfrm>
            <a:off x="2206488" y="989584"/>
            <a:ext cx="50132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6. Avaliar a capacidade de generalização do modelo</a:t>
            </a: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 rotWithShape="1">
          <a:blip r:embed="rId4"/>
          <a:srcRect l="978" t="2609" r="13180" b="5652"/>
          <a:stretch/>
        </p:blipFill>
        <p:spPr>
          <a:xfrm>
            <a:off x="1073426" y="1358916"/>
            <a:ext cx="8209722" cy="49351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967455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6" name="CaixaDeTexto 5"/>
          <p:cNvSpPr txBox="1"/>
          <p:nvPr/>
        </p:nvSpPr>
        <p:spPr>
          <a:xfrm>
            <a:off x="2206488" y="989584"/>
            <a:ext cx="56984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7. Converter o modelo, fazer o </a:t>
            </a:r>
            <a:r>
              <a:rPr lang="pt-BR" dirty="0" err="1"/>
              <a:t>deploy</a:t>
            </a:r>
            <a:r>
              <a:rPr lang="pt-BR" dirty="0"/>
              <a:t> e realizar inferências</a:t>
            </a: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063" y="2429247"/>
            <a:ext cx="3568522" cy="2405905"/>
          </a:xfrm>
          <a:prstGeom prst="rect">
            <a:avLst/>
          </a:prstGeom>
        </p:spPr>
      </p:pic>
      <p:pic>
        <p:nvPicPr>
          <p:cNvPr id="5" name="Imagem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68785" y="2404563"/>
            <a:ext cx="2227215" cy="2455274"/>
          </a:xfrm>
          <a:prstGeom prst="rect">
            <a:avLst/>
          </a:prstGeom>
        </p:spPr>
      </p:pic>
      <p:pic>
        <p:nvPicPr>
          <p:cNvPr id="8" name="Imagem 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99200" y="2285559"/>
            <a:ext cx="5689499" cy="26932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754793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xmlns="" id="{FCEC5E17-9C5B-F834-50C3-1134723EFF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984F848A-34E6-1C1C-AED1-51DD66C1D0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A3A5285D-7A67-471D-2E36-2B085176541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B770A70B-B268-D8D4-8AE9-E112A4C91DA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xmlns="" id="{D354EEB1-E944-E116-9EE9-653EFCB4E72F}"/>
              </a:ext>
            </a:extLst>
          </p:cNvPr>
          <p:cNvSpPr txBox="1"/>
          <p:nvPr/>
        </p:nvSpPr>
        <p:spPr>
          <a:xfrm>
            <a:off x="2206488" y="989584"/>
            <a:ext cx="44093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8. Executando no Arduino nano-33 BLE </a:t>
            </a:r>
            <a:r>
              <a:rPr lang="pt-BR" dirty="0" err="1"/>
              <a:t>sense</a:t>
            </a:r>
            <a:endParaRPr lang="pt-BR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xmlns="" id="{AAF69231-2866-FF08-E524-556A4C805A4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38928" y="1358916"/>
            <a:ext cx="7575615" cy="5337013"/>
          </a:xfrm>
          <a:prstGeom prst="rect">
            <a:avLst/>
          </a:prstGeom>
        </p:spPr>
      </p:pic>
      <p:sp>
        <p:nvSpPr>
          <p:cNvPr id="10" name="Arrow: Right 9">
            <a:extLst>
              <a:ext uri="{FF2B5EF4-FFF2-40B4-BE49-F238E27FC236}">
                <a16:creationId xmlns:a16="http://schemas.microsoft.com/office/drawing/2014/main" xmlns="" id="{64276B45-B639-0112-4833-6DB223B08125}"/>
              </a:ext>
            </a:extLst>
          </p:cNvPr>
          <p:cNvSpPr/>
          <p:nvPr/>
        </p:nvSpPr>
        <p:spPr>
          <a:xfrm>
            <a:off x="1270382" y="4477406"/>
            <a:ext cx="315310" cy="231228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xmlns="" id="{01C28F66-518D-0A9D-0DE3-F59BFD1E7042}"/>
              </a:ext>
            </a:extLst>
          </p:cNvPr>
          <p:cNvSpPr/>
          <p:nvPr/>
        </p:nvSpPr>
        <p:spPr>
          <a:xfrm>
            <a:off x="4281211" y="2820273"/>
            <a:ext cx="1481959" cy="78389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142844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xmlns="" id="{3C2B3B50-641C-D39E-5D35-0E2C2E3B65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9A2FA6A6-CC6F-86A5-7700-8E62737420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F239EB79-C393-5E15-891F-C0AE56E85DC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E9DA7DB3-4A01-304C-C577-BB14A98B6AB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xmlns="" id="{B53E708E-20B4-4655-47E7-F9A1DB0F6FB6}"/>
              </a:ext>
            </a:extLst>
          </p:cNvPr>
          <p:cNvSpPr txBox="1"/>
          <p:nvPr/>
        </p:nvSpPr>
        <p:spPr>
          <a:xfrm>
            <a:off x="2206488" y="989584"/>
            <a:ext cx="44093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8. Executando no Arduino nano-33 BLE </a:t>
            </a:r>
            <a:r>
              <a:rPr lang="pt-BR" dirty="0" err="1"/>
              <a:t>sense</a:t>
            </a:r>
            <a:endParaRPr lang="pt-BR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xmlns="" id="{7C569EB4-95DE-4760-AA8E-06523C9C11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8508" y="1358916"/>
            <a:ext cx="9387840" cy="476537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xmlns="" id="{05FE6851-7214-3CC7-EB40-5618BF764637}"/>
              </a:ext>
            </a:extLst>
          </p:cNvPr>
          <p:cNvSpPr/>
          <p:nvPr/>
        </p:nvSpPr>
        <p:spPr>
          <a:xfrm>
            <a:off x="5133878" y="4227755"/>
            <a:ext cx="2504051" cy="46257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117967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xmlns="" id="{A4DADA96-DA73-2CD2-1D6A-3ADC276ECD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3CF78C56-71B2-0D23-BB3C-017243F595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F77EF25F-171D-8898-E9DD-63F407A7BB2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A50E8242-FC8C-4525-943B-2980C27619C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xmlns="" id="{88FD4278-E860-C7D8-5F10-07B285CEDD0E}"/>
              </a:ext>
            </a:extLst>
          </p:cNvPr>
          <p:cNvSpPr txBox="1"/>
          <p:nvPr/>
        </p:nvSpPr>
        <p:spPr>
          <a:xfrm>
            <a:off x="2206488" y="989584"/>
            <a:ext cx="44093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8. Executando no Arduino nano-33 BLE </a:t>
            </a:r>
            <a:r>
              <a:rPr lang="pt-BR" dirty="0" err="1"/>
              <a:t>sense</a:t>
            </a:r>
            <a:endParaRPr lang="pt-BR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xmlns="" id="{2A5CA263-0E23-0B42-C3DF-C7FAA4DDF99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74952" y="1437773"/>
            <a:ext cx="8304030" cy="4668737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xmlns="" id="{F118F9CB-CE59-6D8F-A37E-EB555C6759AC}"/>
              </a:ext>
            </a:extLst>
          </p:cNvPr>
          <p:cNvSpPr/>
          <p:nvPr/>
        </p:nvSpPr>
        <p:spPr>
          <a:xfrm>
            <a:off x="4088524" y="1741214"/>
            <a:ext cx="2210676" cy="2032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347416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xmlns="" id="{E79424A6-3D35-1C9B-5272-C70A237F58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DA942C1A-85B1-1839-A772-7C6A1A047E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AA712374-64B6-060D-FC8C-33374DAAC43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FC25FC0B-6DF5-02C0-B681-98E351CBBB2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xmlns="" id="{75497CEC-6D2C-F93C-6467-85D5DB578587}"/>
              </a:ext>
            </a:extLst>
          </p:cNvPr>
          <p:cNvSpPr txBox="1"/>
          <p:nvPr/>
        </p:nvSpPr>
        <p:spPr>
          <a:xfrm>
            <a:off x="2206488" y="989584"/>
            <a:ext cx="44093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8. Executando no Arduino nano-33 BLE </a:t>
            </a:r>
            <a:r>
              <a:rPr lang="pt-BR" dirty="0" err="1"/>
              <a:t>sense</a:t>
            </a:r>
            <a:endParaRPr lang="pt-BR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xmlns="" id="{58B75B9E-3749-627C-BF96-D3D9B93E465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8072" y="1358917"/>
            <a:ext cx="8434812" cy="4742266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xmlns="" id="{1FB107BA-3083-06CB-92CB-A7C685FF32D0}"/>
              </a:ext>
            </a:extLst>
          </p:cNvPr>
          <p:cNvSpPr/>
          <p:nvPr/>
        </p:nvSpPr>
        <p:spPr>
          <a:xfrm>
            <a:off x="2764221" y="2561021"/>
            <a:ext cx="2210676" cy="2032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562084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xmlns="" id="{74864F69-23ED-E5B5-845B-DDB5C40B7D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BB37F0A9-E046-41F1-C71F-46F8DAE378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FCEA513A-B79A-2CE2-6511-F5C8237EB75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D84B88CE-F6EF-F32E-B263-70EE0BF4A8B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xmlns="" id="{493C04AC-5866-8EA8-A6EC-4BD39C5C5856}"/>
              </a:ext>
            </a:extLst>
          </p:cNvPr>
          <p:cNvSpPr txBox="1"/>
          <p:nvPr/>
        </p:nvSpPr>
        <p:spPr>
          <a:xfrm>
            <a:off x="2206488" y="989584"/>
            <a:ext cx="44093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8. Executando no Arduino nano-33 BLE </a:t>
            </a:r>
            <a:r>
              <a:rPr lang="pt-BR" dirty="0" err="1"/>
              <a:t>sense</a:t>
            </a:r>
            <a:endParaRPr lang="pt-BR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xmlns="" id="{24FE912D-4A25-B612-D137-E8EE17130CD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50731" y="1481401"/>
            <a:ext cx="8334703" cy="4685982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xmlns="" id="{FD28ED91-6161-7C61-DF93-E760EFA0C4AA}"/>
              </a:ext>
            </a:extLst>
          </p:cNvPr>
          <p:cNvSpPr/>
          <p:nvPr/>
        </p:nvSpPr>
        <p:spPr>
          <a:xfrm>
            <a:off x="6400800" y="3621192"/>
            <a:ext cx="1765738" cy="2032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718645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xmlns="" id="{34794073-9196-424F-F7B0-BF301D771B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95EBEEDB-AFAD-5AED-852F-79A49DFEEA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BC0E396-72AF-77BC-ED14-432C96B79AD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99BCAFB7-A306-C9ED-3A4D-D284C17D54C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xmlns="" id="{F3B622E3-0EC3-F7D0-2080-FD9C5C0138E0}"/>
              </a:ext>
            </a:extLst>
          </p:cNvPr>
          <p:cNvSpPr txBox="1"/>
          <p:nvPr/>
        </p:nvSpPr>
        <p:spPr>
          <a:xfrm>
            <a:off x="2206488" y="989584"/>
            <a:ext cx="44093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8. Executando no Arduino nano-33 BLE </a:t>
            </a:r>
            <a:r>
              <a:rPr lang="pt-BR" dirty="0" err="1"/>
              <a:t>sense</a:t>
            </a:r>
            <a:endParaRPr lang="pt-BR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xmlns="" id="{6CDE2220-F585-6298-386A-30DE19E2927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98179" y="1403408"/>
            <a:ext cx="8313430" cy="4674022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xmlns="" id="{70E6C035-3538-D71F-EFE6-089DA86A5DF4}"/>
              </a:ext>
            </a:extLst>
          </p:cNvPr>
          <p:cNvSpPr/>
          <p:nvPr/>
        </p:nvSpPr>
        <p:spPr>
          <a:xfrm>
            <a:off x="1198179" y="1715632"/>
            <a:ext cx="2543504" cy="23929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341688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xmlns="" id="{0CAC065A-5C37-D25D-F2DA-B71AFD084F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80B7A91-C5BA-9FF9-E497-0941A195D0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405533E9-EE15-D1D5-2ACE-5E5A1D25573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438CE793-3637-4B0C-9B87-7EBD06892F1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xmlns="" id="{677F500F-66C5-CA27-2171-F80165B6C641}"/>
              </a:ext>
            </a:extLst>
          </p:cNvPr>
          <p:cNvSpPr txBox="1"/>
          <p:nvPr/>
        </p:nvSpPr>
        <p:spPr>
          <a:xfrm>
            <a:off x="2206488" y="989584"/>
            <a:ext cx="44093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8. Executando no Arduino nano-33 BLE </a:t>
            </a:r>
            <a:r>
              <a:rPr lang="pt-BR" dirty="0" err="1"/>
              <a:t>sense</a:t>
            </a:r>
            <a:endParaRPr lang="pt-BR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xmlns="" id="{01F71849-7BE9-7D99-1F29-870EAB32F6D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2978" y="1403408"/>
            <a:ext cx="8100190" cy="4554133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xmlns="" id="{939E6E91-E277-B6E1-8402-17CE2A894540}"/>
              </a:ext>
            </a:extLst>
          </p:cNvPr>
          <p:cNvSpPr/>
          <p:nvPr/>
        </p:nvSpPr>
        <p:spPr>
          <a:xfrm>
            <a:off x="6537436" y="4952817"/>
            <a:ext cx="3065732" cy="63868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479383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xmlns="" id="{BD061EBB-1D6A-A83F-630E-B598358461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66CE4E54-D72A-2D58-E835-D464E7F2A0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E4B08894-F76B-8B31-7E66-9973A71F628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4344071-C5C8-4DDB-FE2C-3AC6AEB7109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xmlns="" id="{51DBF995-AB95-22CA-713C-D26BD332057B}"/>
              </a:ext>
            </a:extLst>
          </p:cNvPr>
          <p:cNvSpPr txBox="1"/>
          <p:nvPr/>
        </p:nvSpPr>
        <p:spPr>
          <a:xfrm>
            <a:off x="2206488" y="989584"/>
            <a:ext cx="44093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8. Executando no Arduino nano-33 BLE </a:t>
            </a:r>
            <a:r>
              <a:rPr lang="pt-BR" dirty="0" err="1"/>
              <a:t>sense</a:t>
            </a:r>
            <a:endParaRPr lang="pt-BR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xmlns="" id="{7F7D230B-C416-0797-60DD-BD63476E44A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60937" y="1403408"/>
            <a:ext cx="8282151" cy="4656436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xmlns="" id="{4717B127-B55C-9CF1-0604-612000FA9691}"/>
              </a:ext>
            </a:extLst>
          </p:cNvPr>
          <p:cNvSpPr/>
          <p:nvPr/>
        </p:nvSpPr>
        <p:spPr>
          <a:xfrm>
            <a:off x="2806262" y="2385849"/>
            <a:ext cx="1534510" cy="17867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644649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Edge Impulse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b="1" dirty="0">
                <a:ea typeface="Calibri" panose="020F0502020204030204" pitchFamily="34" charset="0"/>
                <a:cs typeface="Arial" panose="020B0604020202020204" pitchFamily="34" charset="0"/>
              </a:rPr>
              <a:t>Trabalho: Movendo uma cadeira de rodas com a cabeça 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Criar um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dataset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para classificação de movimento para movimentação de uma cadeira de rodas com uso do movimento da cabeça, treinar pelo menos três movimentos no Edge Impulse.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Exemplo: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xmlns="" id="{805DE0C9-CC2B-9A66-2836-0B5BA9411A2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75390" y="3232009"/>
            <a:ext cx="7886460" cy="24266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736654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Spectral</a:t>
            </a:r>
            <a:r>
              <a:rPr lang="pt-BR" dirty="0"/>
              <a:t> </a:t>
            </a:r>
            <a:r>
              <a:rPr lang="pt-BR" dirty="0" err="1"/>
              <a:t>Analysis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11433313" cy="433041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pt-BR" sz="2000"/>
              <a:t>Referências</a:t>
            </a:r>
            <a:endParaRPr lang="pt-BR" sz="2000" dirty="0"/>
          </a:p>
          <a:p>
            <a:pPr marL="0" indent="0">
              <a:buNone/>
            </a:pPr>
            <a:r>
              <a:rPr lang="pt-BR" sz="2000" dirty="0"/>
              <a:t>[1] </a:t>
            </a:r>
            <a:r>
              <a:rPr lang="pt-BR" sz="2000" dirty="0">
                <a:hlinkClick r:id="rId4"/>
              </a:rPr>
              <a:t>https://github.com/Mjrovai/UNIFEI-IESTI01-TinyML/blob/main/00_Curse_Folder/2_Applications_Deploy/Class_20/EI_Studio-Spectral_Analysis-Updated_March-23.pdf</a:t>
            </a:r>
            <a:endParaRPr lang="pt-BR" sz="2000" dirty="0"/>
          </a:p>
          <a:p>
            <a:pPr marL="0" indent="0">
              <a:buNone/>
            </a:pPr>
            <a:r>
              <a:rPr lang="pt-BR" sz="2000" dirty="0"/>
              <a:t>[2] </a:t>
            </a:r>
            <a:r>
              <a:rPr lang="pt-BR" sz="2000" dirty="0">
                <a:hlinkClick r:id="rId5"/>
              </a:rPr>
              <a:t>https://colab.research.google.com/github/Mjrovai/TinyML4D/blob/main/SciTinyM-2023/Edge_Impulse-Spectral_Analysis_Block/Edge_Impulse_Spectral_Analysis_Block_V3.ipynb#scrollTo=09cf0268</a:t>
            </a:r>
            <a:endParaRPr lang="pt-BR" sz="2000" dirty="0"/>
          </a:p>
          <a:p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50423283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Tema do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emplate Pós Modelo 1" id="{1890BCC5-262A-4203-9447-FAC66B7F6DAC}" vid="{D23E53B5-32D4-4E89-8BD3-27CFCC7177E3}"/>
    </a:ext>
  </a:extLst>
</a:theme>
</file>

<file path=ppt/theme/theme3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16044</TotalTime>
  <Words>888</Words>
  <Application>Microsoft Office PowerPoint</Application>
  <PresentationFormat>Widescreen</PresentationFormat>
  <Paragraphs>206</Paragraphs>
  <Slides>44</Slides>
  <Notes>44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2</vt:i4>
      </vt:variant>
      <vt:variant>
        <vt:lpstr>Títulos de slides</vt:lpstr>
      </vt:variant>
      <vt:variant>
        <vt:i4>44</vt:i4>
      </vt:variant>
    </vt:vector>
  </HeadingPairs>
  <TitlesOfParts>
    <vt:vector size="49" baseType="lpstr">
      <vt:lpstr>Arial</vt:lpstr>
      <vt:lpstr>Calibri</vt:lpstr>
      <vt:lpstr>Calibri Light</vt:lpstr>
      <vt:lpstr>Tema do Office</vt:lpstr>
      <vt:lpstr>1_Tema do Office</vt:lpstr>
      <vt:lpstr>TP557 - Tópicos avançados em IoT e Machine Learning: 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Edge Impulse</vt:lpstr>
      <vt:lpstr>Spectral Analysis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2418</cp:revision>
  <dcterms:created xsi:type="dcterms:W3CDTF">2020-01-20T13:50:05Z</dcterms:created>
  <dcterms:modified xsi:type="dcterms:W3CDTF">2025-06-02T20:39:10Z</dcterms:modified>
</cp:coreProperties>
</file>