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406" r:id="rId3"/>
    <p:sldId id="420" r:id="rId4"/>
    <p:sldId id="422" r:id="rId5"/>
    <p:sldId id="421" r:id="rId6"/>
    <p:sldId id="423" r:id="rId7"/>
    <p:sldId id="453" r:id="rId8"/>
    <p:sldId id="424" r:id="rId9"/>
    <p:sldId id="425" r:id="rId10"/>
    <p:sldId id="426" r:id="rId11"/>
    <p:sldId id="427" r:id="rId12"/>
    <p:sldId id="450" r:id="rId13"/>
    <p:sldId id="428" r:id="rId14"/>
    <p:sldId id="432" r:id="rId15"/>
    <p:sldId id="433" r:id="rId16"/>
    <p:sldId id="443" r:id="rId17"/>
    <p:sldId id="429" r:id="rId18"/>
    <p:sldId id="439" r:id="rId19"/>
    <p:sldId id="444" r:id="rId20"/>
    <p:sldId id="451" r:id="rId21"/>
    <p:sldId id="440" r:id="rId22"/>
    <p:sldId id="441" r:id="rId23"/>
    <p:sldId id="445" r:id="rId24"/>
    <p:sldId id="442" r:id="rId25"/>
    <p:sldId id="436" r:id="rId26"/>
    <p:sldId id="446" r:id="rId27"/>
    <p:sldId id="438" r:id="rId28"/>
    <p:sldId id="447" r:id="rId29"/>
    <p:sldId id="452" r:id="rId30"/>
    <p:sldId id="435" r:id="rId31"/>
    <p:sldId id="448" r:id="rId32"/>
    <p:sldId id="434" r:id="rId33"/>
    <p:sldId id="449" r:id="rId34"/>
    <p:sldId id="431" r:id="rId35"/>
    <p:sldId id="405" r:id="rId36"/>
    <p:sldId id="293" r:id="rId37"/>
    <p:sldId id="306" r:id="rId38"/>
    <p:sldId id="430" r:id="rId3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625" autoAdjust="0"/>
  </p:normalViewPr>
  <p:slideViewPr>
    <p:cSldViewPr snapToGrid="0">
      <p:cViewPr varScale="1">
        <p:scale>
          <a:sx n="63" d="100"/>
          <a:sy n="63" d="100"/>
        </p:scale>
        <p:origin x="1176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31/03/2025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RMSE: É a distância euclidiana a menos de uma constante multiplicativa (mais fácil compreender a intuição geométrica).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7004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183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586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17057F-33FB-32C9-4D28-AB2F769E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C400566-A9E9-338F-076D-30D05E744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38315AD-8819-944D-0D8A-FB1058C70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5569DC30-6F49-0875-C9D3-9E42CDE9E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8692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24722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6249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67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37185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10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https://colab.research.google.com/github/zz4fap/tp557-iot-ml/blob/master/examples/Explorando_a_fun%C3%A7%C3%A3o_de_erro.ipynb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26725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29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9.png"/><Relationship Id="rId4" Type="http://schemas.openxmlformats.org/officeDocument/2006/relationships/image" Target="../media/image2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8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0.png"/><Relationship Id="rId5" Type="http://schemas.openxmlformats.org/officeDocument/2006/relationships/image" Target="../media/image560.png"/><Relationship Id="rId4" Type="http://schemas.openxmlformats.org/officeDocument/2006/relationships/image" Target="../media/image5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0.png"/><Relationship Id="rId4" Type="http://schemas.openxmlformats.org/officeDocument/2006/relationships/notesSlide" Target="../notesSlides/notesSlide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Explorando_a_fun%C3%A7%C3%A3o_de_erro.ipynb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%C3%ADcio_Encontre_os_pesos_da_fun%C3%A7%C3%A3o_hip%C3%B3tese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Medindo a precisão de um modelo de ML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0646" cy="5032376"/>
          </a:xfrm>
        </p:spPr>
        <p:txBody>
          <a:bodyPr>
            <a:normAutofit/>
          </a:bodyPr>
          <a:lstStyle/>
          <a:p>
            <a:r>
              <a:rPr lang="pt-BR" dirty="0"/>
              <a:t>Neste tópico vamos ver como </a:t>
            </a:r>
            <a:r>
              <a:rPr lang="pt-BR" b="1" i="1" dirty="0">
                <a:solidFill>
                  <a:srgbClr val="7030A0"/>
                </a:solidFill>
              </a:rPr>
              <a:t>medir o desempenho </a:t>
            </a:r>
            <a:r>
              <a:rPr lang="pt-BR" dirty="0"/>
              <a:t>de um </a:t>
            </a:r>
            <a:r>
              <a:rPr lang="pt-BR" b="1" i="1" dirty="0">
                <a:solidFill>
                  <a:srgbClr val="00B050"/>
                </a:solidFill>
              </a:rPr>
              <a:t>modelo de aprendizado de máquina</a:t>
            </a:r>
            <a:r>
              <a:rPr lang="pt-BR" dirty="0"/>
              <a:t> ao longo do seu processo de aprendizagem.</a:t>
            </a:r>
          </a:p>
          <a:p>
            <a:r>
              <a:rPr lang="pt-BR" dirty="0"/>
              <a:t>Para isso, como já discutido brevemente antes, usaremos uma função chamada de </a:t>
            </a:r>
            <a:r>
              <a:rPr lang="pt-BR" b="1" i="1" dirty="0">
                <a:solidFill>
                  <a:srgbClr val="00B050"/>
                </a:solidFill>
              </a:rPr>
              <a:t>função de erro </a:t>
            </a:r>
            <a:r>
              <a:rPr lang="pt-BR" dirty="0"/>
              <a:t>ou de </a:t>
            </a:r>
            <a:r>
              <a:rPr lang="pt-BR" b="1" i="1" dirty="0">
                <a:solidFill>
                  <a:srgbClr val="00B050"/>
                </a:solidFill>
              </a:rPr>
              <a:t>perda</a:t>
            </a:r>
            <a:r>
              <a:rPr lang="pt-BR" dirty="0"/>
              <a:t>.</a:t>
            </a:r>
          </a:p>
          <a:p>
            <a:r>
              <a:rPr lang="pt-BR" dirty="0"/>
              <a:t>Idealmente, o </a:t>
            </a:r>
            <a:r>
              <a:rPr lang="pt-BR" b="1" i="1" dirty="0">
                <a:solidFill>
                  <a:srgbClr val="00B050"/>
                </a:solidFill>
              </a:rPr>
              <a:t>processo de treinamento </a:t>
            </a:r>
            <a:r>
              <a:rPr lang="pt-BR" dirty="0"/>
              <a:t>tem como </a:t>
            </a:r>
            <a:r>
              <a:rPr lang="pt-BR" b="1" i="1" dirty="0">
                <a:solidFill>
                  <a:srgbClr val="00B050"/>
                </a:solidFill>
              </a:rPr>
              <a:t>objetivo minimizar o erro</a:t>
            </a:r>
            <a:r>
              <a:rPr lang="pt-BR" dirty="0"/>
              <a:t> e, consequentemente, </a:t>
            </a:r>
            <a:r>
              <a:rPr lang="pt-BR" b="1" i="1" dirty="0">
                <a:solidFill>
                  <a:srgbClr val="00B050"/>
                </a:solidFill>
              </a:rPr>
              <a:t>melhorar o desempenho do modelo</a:t>
            </a:r>
            <a:r>
              <a:rPr lang="pt-BR" dirty="0"/>
              <a:t>.</a:t>
            </a:r>
          </a:p>
          <a:p>
            <a:r>
              <a:rPr lang="pt-BR" dirty="0"/>
              <a:t>Além disso, veremos em breve </a:t>
            </a:r>
            <a:r>
              <a:rPr lang="pt-BR" b="1" i="1" dirty="0" smtClean="0">
                <a:solidFill>
                  <a:srgbClr val="00B050"/>
                </a:solidFill>
              </a:rPr>
              <a:t>um algoritmo para </a:t>
            </a:r>
            <a:r>
              <a:rPr lang="pt-BR" b="1" i="1" dirty="0">
                <a:solidFill>
                  <a:srgbClr val="00B050"/>
                </a:solidFill>
              </a:rPr>
              <a:t>minimizar o erro</a:t>
            </a:r>
            <a:r>
              <a:rPr lang="pt-BR" dirty="0"/>
              <a:t>.</a:t>
            </a:r>
          </a:p>
          <a:p>
            <a:r>
              <a:rPr lang="pt-BR" dirty="0"/>
              <a:t>Porém, primeiro, vamos aprender como calcular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pt-BR" b="1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Considerem esses dois conjuntos de números.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Entradas e suas respectivas saídas esperadas.</a:t>
                </a:r>
              </a:p>
              <a:p>
                <a:r>
                  <a:rPr lang="pt-BR" dirty="0"/>
                  <a:t>Qual a relação entre os dois conjuntos?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qual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que mapeia </a:t>
                </a:r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?</a:t>
                </a:r>
              </a:p>
              <a:p>
                <a:r>
                  <a:rPr lang="pt-BR" dirty="0"/>
                  <a:t>Nós sabemos que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é uma função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nós só não sabemos que função é essa.</a:t>
                </a:r>
              </a:p>
              <a:p>
                <a:r>
                  <a:rPr lang="pt-BR" dirty="0"/>
                  <a:t>Que tal plotarmos esses pontos?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  <a:blipFill>
                <a:blip r:embed="rId3"/>
                <a:stretch>
                  <a:fillRect l="-1623" t="-1937" r="-2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266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xmlns="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: Função hipótese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Ao plotarmos os pontos, percebemos que existe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linear </a:t>
                </a:r>
                <a:r>
                  <a:rPr lang="pt-BR" dirty="0"/>
                  <a:t>entre eles.</a:t>
                </a:r>
              </a:p>
              <a:p>
                <a:r>
                  <a:rPr lang="pt-BR" dirty="0"/>
                  <a:t>Podemos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hipotetizar</a:t>
                </a:r>
                <a:r>
                  <a:rPr lang="pt-BR" dirty="0"/>
                  <a:t> que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explica esse mapeamento.</a:t>
                </a:r>
              </a:p>
              <a:p>
                <a:r>
                  <a:rPr lang="pt-BR" dirty="0"/>
                  <a:t>Portanto, usamos a função de uma reta para definir o mapeamento: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Agora precisamos encontrar os valores dos parâmetros (ou pesos)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  <a:blipFill>
                <a:blip r:embed="rId3"/>
                <a:stretch>
                  <a:fillRect l="-1714" t="-1937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2F929B73-2163-E9DA-DD98-A24E44354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2" y="3262831"/>
            <a:ext cx="4528670" cy="3519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xmlns="" id="{4D0DA7D0-9DF9-2C08-3122-405034D987C4}"/>
              </a:ext>
            </a:extLst>
          </p:cNvPr>
          <p:cNvSpPr/>
          <p:nvPr/>
        </p:nvSpPr>
        <p:spPr>
          <a:xfrm>
            <a:off x="2777657" y="2835474"/>
            <a:ext cx="359596" cy="4273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399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Suposição e Predição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</p:spPr>
            <p:txBody>
              <a:bodyPr/>
              <a:lstStyle/>
              <a:p>
                <a:r>
                  <a:rPr lang="pt-BR" dirty="0"/>
                  <a:t>Vamos começar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atribuindo</a:t>
                </a:r>
                <a:r>
                  <a:rPr lang="pt-BR" dirty="0"/>
                  <a:t> alguns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aleatórios para os pesos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), ou seja, vamos fazer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suposição</a:t>
                </a:r>
                <a:r>
                  <a:rPr lang="pt-BR" dirty="0"/>
                  <a:t> (dar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palpite</a:t>
                </a:r>
                <a:r>
                  <a:rPr lang="pt-BR" dirty="0"/>
                  <a:t>) sobre os valores.</a:t>
                </a:r>
              </a:p>
              <a:p>
                <a:r>
                  <a:rPr lang="pt-BR" dirty="0"/>
                  <a:t>Como medimos se essa função hipótese é boa ou ruim?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Usamos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 para obter o mapeamento (i.e., predição) feito pela função e comparamos com os valores de saída esperados,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  <a:blipFill>
                <a:blip r:embed="rId2"/>
                <a:stretch>
                  <a:fillRect l="-1909" t="-1937" r="-5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])=−1+3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80045694-BE57-1C2E-0CCC-44F6CB26F7D2}"/>
              </a:ext>
            </a:extLst>
          </p:cNvPr>
          <p:cNvSpPr txBox="1"/>
          <p:nvPr/>
        </p:nvSpPr>
        <p:spPr>
          <a:xfrm>
            <a:off x="838200" y="37887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B7679470-3B67-4D52-F73A-2C0E039620C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94" y="5392183"/>
            <a:ext cx="5564039" cy="125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65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função hipótese?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296" y="1825624"/>
            <a:ext cx="5500096" cy="5032375"/>
          </a:xfrm>
        </p:spPr>
        <p:txBody>
          <a:bodyPr/>
          <a:lstStyle/>
          <a:p>
            <a:r>
              <a:rPr lang="pt-BR" dirty="0"/>
              <a:t>Vemos que os </a:t>
            </a:r>
            <a:r>
              <a:rPr lang="pt-BR" b="1" i="1" dirty="0">
                <a:solidFill>
                  <a:srgbClr val="00B050"/>
                </a:solidFill>
              </a:rPr>
              <a:t>valores</a:t>
            </a:r>
            <a:r>
              <a:rPr lang="pt-BR" dirty="0"/>
              <a:t> preditos e esperados </a:t>
            </a:r>
            <a:r>
              <a:rPr lang="pt-BR" b="1" i="1" dirty="0">
                <a:solidFill>
                  <a:srgbClr val="00B050"/>
                </a:solidFill>
              </a:rPr>
              <a:t>não são os mesmos</a:t>
            </a:r>
            <a:r>
              <a:rPr lang="pt-BR" dirty="0"/>
              <a:t>.</a:t>
            </a:r>
          </a:p>
          <a:p>
            <a:r>
              <a:rPr lang="pt-BR" dirty="0"/>
              <a:t>Os três primeiros valores até são próximos, mas os últimos três já estão mais distantes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80045694-BE57-1C2E-0CCC-44F6CB26F7D2}"/>
              </a:ext>
            </a:extLst>
          </p:cNvPr>
          <p:cNvSpPr txBox="1"/>
          <p:nvPr/>
        </p:nvSpPr>
        <p:spPr>
          <a:xfrm>
            <a:off x="838200" y="31283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</a:t>
            </a:r>
            <a:r>
              <a:rPr lang="pt-BR" sz="2000" dirty="0" smtClean="0"/>
              <a:t>feitas </a:t>
            </a:r>
            <a:r>
              <a:rPr lang="pt-BR" sz="2000" dirty="0"/>
              <a:t>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D278CA7A-1017-066E-C955-CEE7F26CB8CF}"/>
                  </a:ext>
                </a:extLst>
              </p:cNvPr>
              <p:cNvSpPr txBox="1"/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6AE4A780-2D79-19B0-B1E9-74650FFF6CE2}"/>
              </a:ext>
            </a:extLst>
          </p:cNvPr>
          <p:cNvSpPr txBox="1"/>
          <p:nvPr/>
        </p:nvSpPr>
        <p:spPr>
          <a:xfrm>
            <a:off x="817652" y="435715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12" y="5500701"/>
            <a:ext cx="5564039" cy="122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7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função hipótese?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296" y="1825624"/>
            <a:ext cx="5500096" cy="5032375"/>
          </a:xfrm>
        </p:spPr>
        <p:txBody>
          <a:bodyPr/>
          <a:lstStyle/>
          <a:p>
            <a:r>
              <a:rPr lang="pt-BR" dirty="0" smtClean="0"/>
              <a:t>Existe </a:t>
            </a:r>
            <a:r>
              <a:rPr lang="pt-BR" dirty="0"/>
              <a:t>uma maneira de </a:t>
            </a:r>
            <a:r>
              <a:rPr lang="pt-BR" b="1" i="1" dirty="0">
                <a:solidFill>
                  <a:srgbClr val="7030A0"/>
                </a:solidFill>
              </a:rPr>
              <a:t>formalizarmos</a:t>
            </a:r>
            <a:r>
              <a:rPr lang="pt-BR" dirty="0"/>
              <a:t> um </a:t>
            </a:r>
            <a:r>
              <a:rPr lang="pt-BR" b="1" i="1" dirty="0">
                <a:solidFill>
                  <a:srgbClr val="00B050"/>
                </a:solidFill>
              </a:rPr>
              <a:t>cálculo do quão bom ou ruim </a:t>
            </a:r>
            <a:r>
              <a:rPr lang="pt-BR" dirty="0"/>
              <a:t>essa função hipótese e suas predições são?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80045694-BE57-1C2E-0CCC-44F6CB26F7D2}"/>
              </a:ext>
            </a:extLst>
          </p:cNvPr>
          <p:cNvSpPr txBox="1"/>
          <p:nvPr/>
        </p:nvSpPr>
        <p:spPr>
          <a:xfrm>
            <a:off x="838200" y="31283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</a:t>
            </a:r>
            <a:r>
              <a:rPr lang="pt-BR" sz="2000" dirty="0" smtClean="0"/>
              <a:t>feitas </a:t>
            </a:r>
            <a:r>
              <a:rPr lang="pt-BR" sz="2000" dirty="0"/>
              <a:t>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D278CA7A-1017-066E-C955-CEE7F26CB8CF}"/>
                  </a:ext>
                </a:extLst>
              </p:cNvPr>
              <p:cNvSpPr txBox="1"/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6AE4A780-2D79-19B0-B1E9-74650FFF6CE2}"/>
              </a:ext>
            </a:extLst>
          </p:cNvPr>
          <p:cNvSpPr txBox="1"/>
          <p:nvPr/>
        </p:nvSpPr>
        <p:spPr>
          <a:xfrm>
            <a:off x="817652" y="435715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12" y="5500701"/>
            <a:ext cx="5564039" cy="122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23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</p:spPr>
            <p:txBody>
              <a:bodyPr/>
              <a:lstStyle/>
              <a:p>
                <a:r>
                  <a:rPr lang="pt-BR" dirty="0"/>
                  <a:t>Talvez nós possamos definir uma métrica de desempenho analisando o gráfico com os valores esperados e preditos. </a:t>
                </a:r>
              </a:p>
              <a:p>
                <a:r>
                  <a:rPr lang="pt-BR" dirty="0"/>
                  <a:t>Na figura ao lado, temos os pontos preditos e esperados para cada valor de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  <a:blipFill>
                <a:blip r:embed="rId2"/>
                <a:stretch>
                  <a:fillRect l="-1837" t="-1937" r="-1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">
            <a:extLst>
              <a:ext uri="{FF2B5EF4-FFF2-40B4-BE49-F238E27FC236}">
                <a16:creationId xmlns:a16="http://schemas.microsoft.com/office/drawing/2014/main" xmlns="" id="{AF4ABB3B-6DD5-472D-1C06-9342ED7E2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92" y="2064964"/>
            <a:ext cx="4654432" cy="3568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962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833" y="1825624"/>
            <a:ext cx="5979559" cy="5032375"/>
          </a:xfrm>
        </p:spPr>
        <p:txBody>
          <a:bodyPr>
            <a:normAutofit/>
          </a:bodyPr>
          <a:lstStyle/>
          <a:p>
            <a:r>
              <a:rPr lang="pt-BR" dirty="0"/>
              <a:t>Podemos traçar uma reta entre cada ponto e, pelo comprimento dessas retas (ou </a:t>
            </a:r>
            <a:r>
              <a:rPr lang="pt-BR" b="1" i="1" dirty="0">
                <a:solidFill>
                  <a:srgbClr val="7030A0"/>
                </a:solidFill>
              </a:rPr>
              <a:t>diferença/distância </a:t>
            </a:r>
            <a:r>
              <a:rPr lang="pt-BR" b="1" i="1" dirty="0">
                <a:solidFill>
                  <a:srgbClr val="00B050"/>
                </a:solidFill>
              </a:rPr>
              <a:t>entre os pontos</a:t>
            </a:r>
            <a:r>
              <a:rPr lang="pt-BR" dirty="0"/>
              <a:t>), </a:t>
            </a:r>
            <a:r>
              <a:rPr lang="pt-BR" b="1" i="1" dirty="0">
                <a:solidFill>
                  <a:srgbClr val="00B050"/>
                </a:solidFill>
              </a:rPr>
              <a:t>descobrir se a função hipótese é boa ou não</a:t>
            </a:r>
            <a:r>
              <a:rPr lang="pt-BR" dirty="0"/>
              <a:t>.</a:t>
            </a:r>
          </a:p>
          <a:p>
            <a:r>
              <a:rPr lang="pt-BR" dirty="0"/>
              <a:t>O comprimento de cada reta é mostrado ao lado delas.</a:t>
            </a:r>
          </a:p>
          <a:p>
            <a:r>
              <a:rPr lang="pt-BR" dirty="0"/>
              <a:t>Talvez nós possamos </a:t>
            </a:r>
            <a:r>
              <a:rPr lang="pt-BR" b="1" i="1" dirty="0">
                <a:solidFill>
                  <a:srgbClr val="00B050"/>
                </a:solidFill>
              </a:rPr>
              <a:t>calcular a </a:t>
            </a:r>
            <a:r>
              <a:rPr lang="pt-BR" b="1" i="1" dirty="0">
                <a:solidFill>
                  <a:schemeClr val="accent2"/>
                </a:solidFill>
              </a:rPr>
              <a:t>média dos comprimentos</a:t>
            </a:r>
            <a:r>
              <a:rPr lang="pt-BR" dirty="0"/>
              <a:t> para obter o </a:t>
            </a:r>
            <a:r>
              <a:rPr lang="pt-BR" b="1" i="1" dirty="0">
                <a:solidFill>
                  <a:schemeClr val="accent5"/>
                </a:solidFill>
              </a:rPr>
              <a:t>erro médio</a:t>
            </a:r>
            <a:r>
              <a:rPr lang="pt-BR" b="1" i="1" dirty="0"/>
              <a:t> </a:t>
            </a:r>
            <a:r>
              <a:rPr lang="pt-BR" dirty="0"/>
              <a:t>causado pela função hipótese atual.</a:t>
            </a:r>
          </a:p>
        </p:txBody>
      </p:sp>
      <p:grpSp>
        <p:nvGrpSpPr>
          <p:cNvPr id="17" name="Agrupar 16">
            <a:extLst>
              <a:ext uri="{FF2B5EF4-FFF2-40B4-BE49-F238E27FC236}">
                <a16:creationId xmlns:a16="http://schemas.microsoft.com/office/drawing/2014/main" xmlns="" id="{6C6C7F99-319F-3F5F-707A-3647CB0C494E}"/>
              </a:ext>
            </a:extLst>
          </p:cNvPr>
          <p:cNvGrpSpPr/>
          <p:nvPr/>
        </p:nvGrpSpPr>
        <p:grpSpPr>
          <a:xfrm>
            <a:off x="501294" y="1825624"/>
            <a:ext cx="4902989" cy="3568398"/>
            <a:chOff x="336908" y="2375202"/>
            <a:chExt cx="4902989" cy="3568398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8FF7C909-12C2-1F28-3CD1-F415FDEBCF05}"/>
                </a:ext>
              </a:extLst>
            </p:cNvPr>
            <p:cNvGrpSpPr/>
            <p:nvPr/>
          </p:nvGrpSpPr>
          <p:grpSpPr>
            <a:xfrm>
              <a:off x="336908" y="2375202"/>
              <a:ext cx="4654432" cy="3568398"/>
              <a:chOff x="324492" y="2280864"/>
              <a:chExt cx="4654432" cy="3568398"/>
            </a:xfrm>
          </p:grpSpPr>
          <p:pic>
            <p:nvPicPr>
              <p:cNvPr id="5" name="Picture 2">
                <a:extLst>
                  <a:ext uri="{FF2B5EF4-FFF2-40B4-BE49-F238E27FC236}">
                    <a16:creationId xmlns:a16="http://schemas.microsoft.com/office/drawing/2014/main" xmlns="" id="{1D1D236C-D17A-910F-590E-14660AC344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4492" y="2280864"/>
                <a:ext cx="4654432" cy="3568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6" name="Conector reto 5">
                <a:extLst>
                  <a:ext uri="{FF2B5EF4-FFF2-40B4-BE49-F238E27FC236}">
                    <a16:creationId xmlns:a16="http://schemas.microsoft.com/office/drawing/2014/main" xmlns="" id="{17F923C8-0338-E3A0-307C-4C48FF5D48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19638" y="2488406"/>
                <a:ext cx="0" cy="757238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Conector reto 6">
                <a:extLst>
                  <a:ext uri="{FF2B5EF4-FFF2-40B4-BE49-F238E27FC236}">
                    <a16:creationId xmlns:a16="http://schemas.microsoft.com/office/drawing/2014/main" xmlns="" id="{108E4EB3-0A18-7674-4972-08EE9EB6C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8118" y="3038475"/>
                <a:ext cx="0" cy="559594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xmlns="" id="{2DD01A53-07A0-0690-1495-693F9ECD4A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31" y="3579019"/>
                <a:ext cx="0" cy="383382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xmlns="" id="{CB18CCA6-494D-B0A3-4D7E-74DA8CC3B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6506" y="414337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:a16="http://schemas.microsoft.com/office/drawing/2014/main" xmlns="" id="{A2C62E84-F226-525B-CA91-F7ED46F85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750" y="505063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319F74EA-B98D-DDFF-AB65-A7E1DCDF4697}"/>
                </a:ext>
              </a:extLst>
            </p:cNvPr>
            <p:cNvSpPr txBox="1"/>
            <p:nvPr/>
          </p:nvSpPr>
          <p:spPr>
            <a:xfrm>
              <a:off x="1050166" y="5012580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-1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xmlns="" id="{88FD813C-F31B-C73D-966D-8C7F0F909160}"/>
                </a:ext>
              </a:extLst>
            </p:cNvPr>
            <p:cNvSpPr txBox="1"/>
            <p:nvPr/>
          </p:nvSpPr>
          <p:spPr>
            <a:xfrm>
              <a:off x="1794198" y="4598076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xmlns="" id="{C852C7D1-AB69-D606-FC4E-0B5C2BACB107}"/>
                </a:ext>
              </a:extLst>
            </p:cNvPr>
            <p:cNvSpPr txBox="1"/>
            <p:nvPr/>
          </p:nvSpPr>
          <p:spPr>
            <a:xfrm>
              <a:off x="2551446" y="4154017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9E922D3C-5A4A-3D21-6197-DBAF14CDD453}"/>
                </a:ext>
              </a:extLst>
            </p:cNvPr>
            <p:cNvSpPr txBox="1"/>
            <p:nvPr/>
          </p:nvSpPr>
          <p:spPr>
            <a:xfrm>
              <a:off x="3270315" y="3686733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2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0086DBF0-CF72-E0B1-1CAA-C89D91AF58FC}"/>
                </a:ext>
              </a:extLst>
            </p:cNvPr>
            <p:cNvSpPr txBox="1"/>
            <p:nvPr/>
          </p:nvSpPr>
          <p:spPr>
            <a:xfrm>
              <a:off x="4010104" y="321580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xmlns="" id="{BFC5DBDA-2B32-374E-2937-C6D4CC105E04}"/>
                </a:ext>
              </a:extLst>
            </p:cNvPr>
            <p:cNvSpPr txBox="1"/>
            <p:nvPr/>
          </p:nvSpPr>
          <p:spPr>
            <a:xfrm>
              <a:off x="4708373" y="276348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DD20CBB2-FDAA-391D-A50B-D2D2B6FB1278}"/>
                  </a:ext>
                </a:extLst>
              </p:cNvPr>
              <p:cNvSpPr txBox="1"/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diff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acc>
                        <m:accPr>
                          <m:chr m:val="̂"/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DD20CBB2-FDAA-391D-A50B-D2D2B6FB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have Direita 18">
            <a:extLst>
              <a:ext uri="{FF2B5EF4-FFF2-40B4-BE49-F238E27FC236}">
                <a16:creationId xmlns:a16="http://schemas.microsoft.com/office/drawing/2014/main" xmlns="" id="{B6B6FEBB-31F4-7252-312B-0E7FCA16E244}"/>
              </a:ext>
            </a:extLst>
          </p:cNvPr>
          <p:cNvSpPr/>
          <p:nvPr/>
        </p:nvSpPr>
        <p:spPr>
          <a:xfrm rot="5400000">
            <a:off x="2837020" y="3426863"/>
            <a:ext cx="315791" cy="40993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8049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Temos um problema!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Ao somarmos as diferenças,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valores negativos podem reduzir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 ou até mesmo anular valores positivos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Mesmo as predições para os dois pontos,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estando erradas, seus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erros se cancelariam</a:t>
                </a:r>
                <a:r>
                  <a:rPr lang="pt-BR" dirty="0"/>
                  <a:t>, afetando a medida de desempenho.</a:t>
                </a:r>
              </a:p>
              <a:p>
                <a:r>
                  <a:rPr lang="pt-BR" dirty="0"/>
                  <a:t>Isso poderia sugerir que 3 de 6 predições estão corretas, o que sabemos não ser verdade.</a:t>
                </a:r>
              </a:p>
              <a:p>
                <a:r>
                  <a:rPr lang="pt-BR" dirty="0"/>
                  <a:t>O que podemos fazer para resolver esse problema?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  <a:blipFill rotWithShape="0">
                <a:blip r:embed="rId2"/>
                <a:stretch>
                  <a:fillRect l="-1809" t="-2663" r="-2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89464E1D-FEE2-AAC0-80C0-379EEC02375F}"/>
              </a:ext>
            </a:extLst>
          </p:cNvPr>
          <p:cNvGrpSpPr/>
          <p:nvPr/>
        </p:nvGrpSpPr>
        <p:grpSpPr>
          <a:xfrm>
            <a:off x="400408" y="1579485"/>
            <a:ext cx="4902989" cy="3568398"/>
            <a:chOff x="400408" y="1644801"/>
            <a:chExt cx="49029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xmlns="" id="{89212B23-55CD-CCDA-9C3B-BA14483628E4}"/>
                </a:ext>
              </a:extLst>
            </p:cNvPr>
            <p:cNvGrpSpPr/>
            <p:nvPr/>
          </p:nvGrpSpPr>
          <p:grpSpPr>
            <a:xfrm>
              <a:off x="400408" y="1644801"/>
              <a:ext cx="4902989" cy="3568398"/>
              <a:chOff x="336908" y="2375202"/>
              <a:chExt cx="49029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xmlns="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xmlns="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xmlns="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xmlns="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xmlns="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xmlns="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xmlns="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-1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xmlns="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2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xmlns="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3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083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E872EBD6-3B01-CA1B-1131-CA2567F9A9ED}"/>
                </a:ext>
              </a:extLst>
            </p:cNvPr>
            <p:cNvSpPr/>
            <p:nvPr/>
          </p:nvSpPr>
          <p:spPr>
            <a:xfrm>
              <a:off x="954125" y="42370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7C6891EA-E337-0F90-D14F-45641BBAEBBD}"/>
                </a:ext>
              </a:extLst>
            </p:cNvPr>
            <p:cNvSpPr/>
            <p:nvPr/>
          </p:nvSpPr>
          <p:spPr>
            <a:xfrm>
              <a:off x="2361031" y="33981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xmlns="" id="{49A3BA49-253D-6EBB-43D5-F2D359406770}"/>
              </a:ext>
            </a:extLst>
          </p:cNvPr>
          <p:cNvGrpSpPr/>
          <p:nvPr/>
        </p:nvGrpSpPr>
        <p:grpSpPr>
          <a:xfrm>
            <a:off x="142023" y="5991267"/>
            <a:ext cx="5847810" cy="745539"/>
            <a:chOff x="142023" y="5233235"/>
            <a:chExt cx="5847810" cy="7455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xmlns="" id="{FA05A557-7AB7-A40B-7A50-EB6EBA9FB964}"/>
                    </a:ext>
                  </a:extLst>
                </p:cNvPr>
                <p:cNvSpPr txBox="1"/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erro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dio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−1+0+1+2+3+4</m:t>
                            </m:r>
                          </m:num>
                          <m:den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05A557-7AB7-A40B-7A50-EB6EBA9FB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Elipse 19">
              <a:extLst>
                <a:ext uri="{FF2B5EF4-FFF2-40B4-BE49-F238E27FC236}">
                  <a16:creationId xmlns:a16="http://schemas.microsoft.com/office/drawing/2014/main" xmlns="" id="{2AAD787D-9C05-A7F6-E8E3-65DF6731B54C}"/>
                </a:ext>
              </a:extLst>
            </p:cNvPr>
            <p:cNvSpPr/>
            <p:nvPr/>
          </p:nvSpPr>
          <p:spPr>
            <a:xfrm>
              <a:off x="3032194" y="5233235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xmlns="" id="{82B32199-B2BC-FA91-4F4B-324430A78F74}"/>
                </a:ext>
              </a:extLst>
            </p:cNvPr>
            <p:cNvSpPr/>
            <p:nvPr/>
          </p:nvSpPr>
          <p:spPr>
            <a:xfrm>
              <a:off x="2122522" y="5260881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xmlns="" id="{EB2CBE63-CC5F-A3D8-77A2-7786CDE19147}"/>
                  </a:ext>
                </a:extLst>
              </p:cNvPr>
              <p:cNvSpPr txBox="1"/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diff</m:t>
                          </m:r>
                        </m:e>
                      </m:nary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EB2CBE63-CC5F-A3D8-77A2-7786CDE19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171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3593" y="1825624"/>
            <a:ext cx="5884457" cy="5032375"/>
          </a:xfrm>
        </p:spPr>
        <p:txBody>
          <a:bodyPr>
            <a:normAutofit/>
          </a:bodyPr>
          <a:lstStyle/>
          <a:p>
            <a:r>
              <a:rPr lang="pt-BR" dirty="0"/>
              <a:t>Podemos </a:t>
            </a:r>
            <a:r>
              <a:rPr lang="pt-BR" b="1" i="1" dirty="0">
                <a:solidFill>
                  <a:srgbClr val="00B050"/>
                </a:solidFill>
              </a:rPr>
              <a:t>elevar ao quadrado todos os comprimentos</a:t>
            </a:r>
            <a:r>
              <a:rPr lang="pt-BR" dirty="0"/>
              <a:t>, fazendo com que todos eles sejam positivos e não se cancelem mais.</a:t>
            </a:r>
          </a:p>
          <a:p>
            <a:r>
              <a:rPr lang="pt-BR" dirty="0"/>
              <a:t>Isso não afeta nossa métrica, pois aplicamos a todos os comprimentos.</a:t>
            </a:r>
          </a:p>
          <a:p>
            <a:r>
              <a:rPr lang="pt-BR" dirty="0"/>
              <a:t>Essa métrica é chamada de </a:t>
            </a:r>
            <a:r>
              <a:rPr lang="pt-BR" b="1" i="1" dirty="0">
                <a:solidFill>
                  <a:srgbClr val="7030A0"/>
                </a:solidFill>
              </a:rPr>
              <a:t>erro quadrático médio (EQM)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FA05A557-7AB7-A40B-7A50-EB6EBA9FB964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:a16="http://schemas.microsoft.com/office/drawing/2014/main" xmlns="" id="{795256B9-5626-BEE2-FF82-D903F78DB15F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xmlns="" id="{2AAD787D-9C05-A7F6-E8E3-65DF6731B54C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1A6ED2DA-25CE-E3E3-BAB3-9815A7D28358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xmlns="" id="{89212B23-55CD-CCDA-9C3B-BA14483628E4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xmlns="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xmlns="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xmlns="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xmlns="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xmlns="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xmlns="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xmlns="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xmlns="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xmlns="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E872EBD6-3B01-CA1B-1131-CA2567F9A9ED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7C6891EA-E337-0F90-D14F-45641BBAEBBD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xmlns="" id="{EA0B3A29-D4D6-FCDB-D400-00DDC5DD35B0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963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505C21E-F99F-1F86-68FD-B54DA0D8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52C2310-D341-EF14-1295-8882EF155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3ACD9A7-3967-6937-BAEE-BF163BE77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8885" y="1825624"/>
            <a:ext cx="5699166" cy="5032375"/>
          </a:xfrm>
        </p:spPr>
        <p:txBody>
          <a:bodyPr>
            <a:normAutofit/>
          </a:bodyPr>
          <a:lstStyle/>
          <a:p>
            <a:r>
              <a:rPr lang="pt-BR" dirty="0"/>
              <a:t>Usando o EQM, vemos que </a:t>
            </a:r>
            <a:r>
              <a:rPr lang="pt-BR" b="1" i="1" dirty="0"/>
              <a:t>nossa função hipótese não é boa</a:t>
            </a:r>
            <a:r>
              <a:rPr lang="pt-BR" dirty="0"/>
              <a:t>, pois o </a:t>
            </a:r>
            <a:r>
              <a:rPr lang="pt-BR" b="1" i="1" dirty="0"/>
              <a:t>valor ainda está longe de zero</a:t>
            </a:r>
            <a:r>
              <a:rPr lang="pt-BR" dirty="0"/>
              <a:t>, que é o menor valor possível e nosso objetivo final.</a:t>
            </a:r>
          </a:p>
          <a:p>
            <a:r>
              <a:rPr lang="pt-BR" dirty="0"/>
              <a:t>O que devemos fazer?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A326554D-7061-A5A0-10D4-89EFE78EE532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:a16="http://schemas.microsoft.com/office/drawing/2014/main" xmlns="" id="{4AF54D8E-6D21-A889-D883-2C9CBA6DEC92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xmlns="" id="{B12F94EC-6AB6-B29E-0B90-67907ED6D9C5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xmlns="" id="{4055DEAC-F07C-0C94-1B62-29A674AC1765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xmlns="" id="{47C36D27-5523-8A36-BC43-EA2324C5E9A1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xmlns="" id="{CCE73537-384D-5509-B717-2E78CA6D2080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xmlns="" id="{3C129BBF-B934-EAD6-F14D-F90A2EC5B5D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xmlns="" id="{6AB0B0F9-7225-B610-9338-537D157459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xmlns="" id="{E396CC0B-2247-923A-77B2-C4008FEB1D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xmlns="" id="{11BB635E-03FB-37F5-DF1D-F2FCF1B33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xmlns="" id="{9F13B697-7B3A-6839-9052-9C4751A7E3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xmlns="" id="{F066DD7E-5D9F-DA1A-56AE-02BC13BAA0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D2655067-A26A-F9EC-FDD8-FA2359C9A643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xmlns="" id="{CA5B0A17-29B2-5A89-F63C-2420B13C5B68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A5972850-3C6B-BDEB-976F-F13462FD2CF0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53D3C7CC-7BC7-3D66-A6EE-218C6F1088CF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xmlns="" id="{F6175BF4-F7D5-2ECE-6349-5B53EF3E4F24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0B11F692-A433-62D0-99B0-0668B48A6F65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345EFA2C-84B3-BA95-4F31-A95622D44401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3BE96C96-6D77-D2CE-511E-D7B0BDAD0D60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xmlns="" id="{9EDE9D76-0D87-FBBD-A58D-3E1A554142D7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531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95404E-CC0C-4A02-1C7F-A7A21D9C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Otimizando 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BB6200C-6379-6754-5883-867BF48271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</p:spPr>
            <p:txBody>
              <a:bodyPr/>
              <a:lstStyle/>
              <a:p>
                <a:r>
                  <a:rPr lang="pt-BR" dirty="0"/>
                  <a:t>Vamos supor outros valores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fazer predições com esta nova função hipótese.</a:t>
                </a:r>
              </a:p>
              <a:p>
                <a:r>
                  <a:rPr lang="pt-BR" dirty="0"/>
                  <a:t>O novo palpite para os valores dos pesos será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B6200C-6379-6754-5883-867BF48271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  <a:blipFill>
                <a:blip r:embed="rId2"/>
                <a:stretch>
                  <a:fillRect l="-2027" t="-2241" r="-31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28B934AE-7AFB-089F-5327-4A838F805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632" y="5182503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B62B356A-C62C-7C18-F99C-0BB5124AAB97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B62B356A-C62C-7C18-F99C-0BB5124AA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xmlns="" id="{F4E588CD-F36D-1549-E773-192477475B31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4E588CD-F36D-1549-E773-192477475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55E66E9B-C5B8-2BEF-C2D6-304317E08986}"/>
                  </a:ext>
                </a:extLst>
              </p:cNvPr>
              <p:cNvSpPr txBox="1"/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0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6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5E66E9B-C5B8-2BEF-C2D6-304317E08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4B804862-4CB6-95A6-785A-EA19222C7E0A}"/>
              </a:ext>
            </a:extLst>
          </p:cNvPr>
          <p:cNvSpPr txBox="1"/>
          <p:nvPr/>
        </p:nvSpPr>
        <p:spPr>
          <a:xfrm>
            <a:off x="950690" y="29637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xmlns="" id="{2C0E0BF6-E9E7-917E-1A95-7663ACE47117}"/>
                  </a:ext>
                </a:extLst>
              </p:cNvPr>
              <p:cNvSpPr txBox="1"/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2C0E0BF6-E9E7-917E-1A95-7663ACE47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:a16="http://schemas.microsoft.com/office/drawing/2014/main" xmlns="" id="{FD948EC7-85F7-6E52-1F45-B0C46EEE686D}"/>
              </a:ext>
            </a:extLst>
          </p:cNvPr>
          <p:cNvSpPr txBox="1"/>
          <p:nvPr/>
        </p:nvSpPr>
        <p:spPr>
          <a:xfrm>
            <a:off x="920128" y="40662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C965931-9A52-5212-D858-2CA21A5BB4E6}"/>
                  </a:ext>
                </a:extLst>
              </p:cNvPr>
              <p:cNvSpPr txBox="1"/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1, 1, 1, 1, 1, 1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0C965931-9A52-5212-D858-2CA21A5BB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ixaDeTexto 17">
            <a:extLst>
              <a:ext uri="{FF2B5EF4-FFF2-40B4-BE49-F238E27FC236}">
                <a16:creationId xmlns:a16="http://schemas.microsoft.com/office/drawing/2014/main" xmlns="" id="{CDE437A9-7CA4-2024-881F-36BEFDF36D5A}"/>
              </a:ext>
            </a:extLst>
          </p:cNvPr>
          <p:cNvSpPr txBox="1"/>
          <p:nvPr/>
        </p:nvSpPr>
        <p:spPr>
          <a:xfrm>
            <a:off x="835885" y="50799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</p:spTree>
    <p:extLst>
      <p:ext uri="{BB962C8B-B14F-4D97-AF65-F5344CB8AC3E}">
        <p14:creationId xmlns:p14="http://schemas.microsoft.com/office/powerpoint/2010/main" val="67061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nova função hipótese?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</p:spPr>
            <p:txBody>
              <a:bodyPr/>
              <a:lstStyle/>
              <a:p>
                <a:r>
                  <a:rPr lang="pt-BR" dirty="0"/>
                  <a:t>Já temos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melhor</a:t>
                </a:r>
                <a:r>
                  <a:rPr lang="pt-BR" dirty="0"/>
                  <a:t>, pois o erro caiu de 5.17 para 1.0.</a:t>
                </a:r>
              </a:p>
              <a:p>
                <a:r>
                  <a:rPr lang="pt-BR" dirty="0"/>
                  <a:t>Estamos indo na direção correta!</a:t>
                </a:r>
              </a:p>
              <a:p>
                <a:r>
                  <a:rPr lang="pt-BR" dirty="0"/>
                  <a:t>Comparando as predições com os valores esperados, notamos que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retas são paralelas</a:t>
                </a:r>
                <a:r>
                  <a:rPr lang="pt-BR" dirty="0"/>
                  <a:t>, sendo a única diferença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deslocamento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descolamento pode ser alterado através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(coeficiente linear).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  <a:blipFill>
                <a:blip r:embed="rId2"/>
                <a:stretch>
                  <a:fillRect l="-1802" t="-2632" b="-41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xmlns="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6450" y="1677096"/>
            <a:ext cx="4556206" cy="10051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FB342B0A-A7DF-6C12-40E4-C2608103EBA3}"/>
                  </a:ext>
                </a:extLst>
              </p:cNvPr>
              <p:cNvSpPr txBox="1"/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=1.0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FB342B0A-A7DF-6C12-40E4-C2608103E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xmlns="" id="{AC1FD510-769A-FDEC-ABA2-12F26B39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4049811"/>
            <a:ext cx="3572781" cy="2739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309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A532BBE-B730-80FE-B571-737E28D05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Nova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B6828F7-9D67-7C40-231F-ADA4A1609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</p:spPr>
            <p:txBody>
              <a:bodyPr/>
              <a:lstStyle/>
              <a:p>
                <a:r>
                  <a:rPr lang="pt-BR" dirty="0"/>
                  <a:t>Vamos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aumentar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fazer novas predições e calcular o erro.</a:t>
                </a:r>
              </a:p>
              <a:p>
                <a:r>
                  <a:rPr lang="pt-BR" dirty="0"/>
                  <a:t>Bingo! Nossa nova suposição mapeia perfeitamente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resultando em um EQM igual a 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B6828F7-9D67-7C40-231F-ADA4A1609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  <a:blipFill>
                <a:blip r:embed="rId2"/>
                <a:stretch>
                  <a:fillRect l="-1780" t="-3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7FD3E92-C09E-69CD-F096-68F5BBDB05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532" y="5482965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AA0E7A75-4672-695C-338D-9C8E6FB5F241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A0E7A75-4672-695C-338D-9C8E6FB5F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xmlns="" id="{130EC248-F637-E0C9-42A3-BEAB62D2298C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=−1+2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30EC248-F637-E0C9-42A3-BEAB62D22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0FE64DDE-CE4B-1933-7ADD-4A83CBA36CD5}"/>
                  </a:ext>
                </a:extLst>
              </p:cNvPr>
              <p:cNvSpPr txBox="1"/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 sz="28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/>
                            <m:t>−3,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−1,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5,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0FE64DDE-CE4B-1933-7ADD-4A83CBA36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2588A145-A2B8-63C4-EA80-8E35C1B8BD03}"/>
              </a:ext>
            </a:extLst>
          </p:cNvPr>
          <p:cNvSpPr txBox="1"/>
          <p:nvPr/>
        </p:nvSpPr>
        <p:spPr>
          <a:xfrm>
            <a:off x="950690" y="29002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46D2BE21-82CD-97D4-8C96-5BCF4C0D8490}"/>
                  </a:ext>
                </a:extLst>
              </p:cNvPr>
              <p:cNvSpPr txBox="1"/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46D2BE21-82CD-97D4-8C96-5BCF4C0D8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0754134C-FF1C-6E49-5C05-D82167F99FC1}"/>
              </a:ext>
            </a:extLst>
          </p:cNvPr>
          <p:cNvSpPr txBox="1"/>
          <p:nvPr/>
        </p:nvSpPr>
        <p:spPr>
          <a:xfrm>
            <a:off x="920128" y="39011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0EEC867F-1B76-A5C2-84DC-C316CA20789A}"/>
                  </a:ext>
                </a:extLst>
              </p:cNvPr>
              <p:cNvSpPr txBox="1"/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0, 0, 0, 0, 0, 0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0EEC867F-1B76-A5C2-84DC-C316CA207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96F84455-938D-8F48-6B09-1A6AC09B2185}"/>
              </a:ext>
            </a:extLst>
          </p:cNvPr>
          <p:cNvSpPr txBox="1"/>
          <p:nvPr/>
        </p:nvSpPr>
        <p:spPr>
          <a:xfrm>
            <a:off x="835885" y="48513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xmlns="" id="{210AABEE-8AC5-2FEE-F211-3DCFEC950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4374" y="191855"/>
            <a:ext cx="3422837" cy="2624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5815255A-37DD-6815-7BA8-6E7547F0DDFB}"/>
                  </a:ext>
                </a:extLst>
              </p:cNvPr>
              <p:cNvSpPr txBox="1"/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=0.0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5815255A-37DD-6815-7BA8-6E7547F0D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2423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F9F3C9-BC99-D1EE-D89B-53B8DB24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processo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3B0BEA5-45F1-846E-DDE8-40FAEBCEB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352" y="1825624"/>
            <a:ext cx="6318606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processo iterativo de otimização </a:t>
            </a:r>
            <a:r>
              <a:rPr lang="pt-BR" dirty="0"/>
              <a:t>(ou </a:t>
            </a:r>
            <a:r>
              <a:rPr lang="pt-BR" b="1" i="1" dirty="0">
                <a:solidFill>
                  <a:srgbClr val="7030A0"/>
                </a:solidFill>
              </a:rPr>
              <a:t>atualização</a:t>
            </a:r>
            <a:r>
              <a:rPr lang="pt-BR" dirty="0"/>
              <a:t>) dos pesos será sempre esse: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Palpite</a:t>
            </a:r>
            <a:r>
              <a:rPr lang="pt-BR" dirty="0"/>
              <a:t> (i.e., pesos),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Medida da qualidade </a:t>
            </a:r>
            <a:r>
              <a:rPr lang="pt-BR" dirty="0"/>
              <a:t>do palpite,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Otimização do palpite </a:t>
            </a:r>
            <a:r>
              <a:rPr lang="pt-BR" dirty="0"/>
              <a:t>(i.e., atualização dos peso) </a:t>
            </a:r>
            <a:r>
              <a:rPr lang="pt-BR" b="1" i="1" dirty="0">
                <a:solidFill>
                  <a:schemeClr val="accent5"/>
                </a:solidFill>
              </a:rPr>
              <a:t>baseada na informação do erro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00B050"/>
                </a:solidFill>
              </a:rPr>
              <a:t>iterações se repetem </a:t>
            </a:r>
            <a:r>
              <a:rPr lang="pt-BR" dirty="0"/>
              <a:t>até que algum </a:t>
            </a:r>
            <a:r>
              <a:rPr lang="pt-BR" b="1" i="1" dirty="0">
                <a:solidFill>
                  <a:srgbClr val="00B050"/>
                </a:solidFill>
              </a:rPr>
              <a:t>critério de parada </a:t>
            </a:r>
            <a:r>
              <a:rPr lang="pt-BR" dirty="0"/>
              <a:t>seja atingido: </a:t>
            </a:r>
            <a:r>
              <a:rPr lang="pt-BR" b="1" i="1" dirty="0"/>
              <a:t>número máximo de iterações</a:t>
            </a:r>
            <a:r>
              <a:rPr lang="pt-BR" dirty="0"/>
              <a:t>, </a:t>
            </a:r>
            <a:r>
              <a:rPr lang="pt-BR" b="1" i="1" dirty="0"/>
              <a:t>erro cair abaixo de um limiar</a:t>
            </a:r>
            <a:r>
              <a:rPr lang="pt-BR" dirty="0"/>
              <a:t>, etc.</a:t>
            </a:r>
          </a:p>
          <a:p>
            <a:r>
              <a:rPr lang="pt-BR" dirty="0"/>
              <a:t>Esse é o processo por trás do algoritmo de otimização que veremos adiante.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05F127-C8CB-909F-4909-CF04C49192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20" y="3309509"/>
            <a:ext cx="5381564" cy="1222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264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Outras medidas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589" y="1825624"/>
            <a:ext cx="5208998" cy="5032375"/>
          </a:xfrm>
        </p:spPr>
        <p:txBody>
          <a:bodyPr/>
          <a:lstStyle/>
          <a:p>
            <a:r>
              <a:rPr lang="pt-BR" dirty="0"/>
              <a:t>Além do EQM (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MSE), existem diversas outras métricas de erro que podemos usar, como por exemplo: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Raíz do Erro Quadrático Médio (</a:t>
            </a:r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dirty="0"/>
              <a:t> – RMSE)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Absoluto Médio (</a:t>
            </a:r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dirty="0"/>
              <a:t> – MAE);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Entropia Cruzada (</a:t>
            </a:r>
            <a:r>
              <a:rPr lang="pt-BR" i="1" dirty="0"/>
              <a:t>Cross-</a:t>
            </a:r>
            <a:r>
              <a:rPr lang="pt-BR" i="1" dirty="0" err="1"/>
              <a:t>Entropy</a:t>
            </a:r>
            <a:r>
              <a:rPr lang="pt-BR" dirty="0"/>
              <a:t>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4F978C60-702A-3E84-6A73-7B615BC32415}"/>
                  </a:ext>
                </a:extLst>
              </p:cNvPr>
              <p:cNvSpPr txBox="1"/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4F978C60-702A-3E84-6A73-7B615BC32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xmlns="" id="{B2E122A9-38F7-3EDD-EB51-59C40B04209A}"/>
                  </a:ext>
                </a:extLst>
              </p:cNvPr>
              <p:cNvSpPr txBox="1"/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CE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B2E122A9-38F7-3EDD-EB51-59C40B042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have Direita 9">
            <a:extLst>
              <a:ext uri="{FF2B5EF4-FFF2-40B4-BE49-F238E27FC236}">
                <a16:creationId xmlns:a16="http://schemas.microsoft.com/office/drawing/2014/main" xmlns="" id="{93847FBB-5EC0-2B17-E863-7E714B0F2822}"/>
              </a:ext>
            </a:extLst>
          </p:cNvPr>
          <p:cNvSpPr/>
          <p:nvPr/>
        </p:nvSpPr>
        <p:spPr>
          <a:xfrm>
            <a:off x="4930308" y="1513028"/>
            <a:ext cx="310556" cy="36876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6BADE38C-30AD-7CB9-1E21-F23E5394C2BF}"/>
              </a:ext>
            </a:extLst>
          </p:cNvPr>
          <p:cNvSpPr txBox="1"/>
          <p:nvPr/>
        </p:nvSpPr>
        <p:spPr>
          <a:xfrm>
            <a:off x="5240864" y="2756675"/>
            <a:ext cx="1456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Usadas em problemas de aproximação de curvas</a:t>
            </a:r>
          </a:p>
        </p:txBody>
      </p:sp>
      <p:sp>
        <p:nvSpPr>
          <p:cNvPr id="12" name="Chave Direita 11">
            <a:extLst>
              <a:ext uri="{FF2B5EF4-FFF2-40B4-BE49-F238E27FC236}">
                <a16:creationId xmlns:a16="http://schemas.microsoft.com/office/drawing/2014/main" xmlns="" id="{188BC520-3A22-1304-CF44-585EBB62C79B}"/>
              </a:ext>
            </a:extLst>
          </p:cNvPr>
          <p:cNvSpPr/>
          <p:nvPr/>
        </p:nvSpPr>
        <p:spPr>
          <a:xfrm rot="5400000">
            <a:off x="2938528" y="4143019"/>
            <a:ext cx="310556" cy="451121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51AFB85E-4781-4569-8ECE-CCDFAA667CDA}"/>
              </a:ext>
            </a:extLst>
          </p:cNvPr>
          <p:cNvSpPr txBox="1"/>
          <p:nvPr/>
        </p:nvSpPr>
        <p:spPr>
          <a:xfrm>
            <a:off x="838199" y="6442591"/>
            <a:ext cx="4511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 em problemas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58660048-2E5D-834E-A26B-95299D0CB16C}"/>
                  </a:ext>
                </a:extLst>
              </p:cNvPr>
              <p:cNvSpPr txBox="1"/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58660048-2E5D-834E-A26B-95299D0C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75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É a função de erro </a:t>
            </a:r>
            <a:r>
              <a:rPr lang="pt-BR" b="1" i="1" dirty="0">
                <a:solidFill>
                  <a:srgbClr val="00B050"/>
                </a:solidFill>
              </a:rPr>
              <a:t>mais usada em problemas de regressão</a:t>
            </a:r>
            <a:r>
              <a:rPr lang="pt-BR" dirty="0"/>
              <a:t>.</a:t>
            </a:r>
          </a:p>
          <a:p>
            <a:r>
              <a:rPr lang="pt-BR" dirty="0"/>
              <a:t>Calcula a média do </a:t>
            </a:r>
            <a:r>
              <a:rPr lang="pt-BR" b="1" i="1" dirty="0">
                <a:solidFill>
                  <a:srgbClr val="FF0000"/>
                </a:solidFill>
              </a:rPr>
              <a:t>quadrado da diferença</a:t>
            </a:r>
            <a:r>
              <a:rPr lang="pt-BR" dirty="0"/>
              <a:t> entre os valores preditos e esperados.</a:t>
            </a:r>
          </a:p>
          <a:p>
            <a:r>
              <a:rPr lang="pt-BR" dirty="0"/>
              <a:t>Assim, ele </a:t>
            </a:r>
            <a:r>
              <a:rPr lang="pt-BR" b="1" i="1" dirty="0">
                <a:solidFill>
                  <a:srgbClr val="00B050"/>
                </a:solidFill>
              </a:rPr>
              <a:t>p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enaliza mais (i.e., amplifica) erros maiores </a:t>
            </a:r>
            <a:r>
              <a:rPr lang="pt-BR" b="0" i="0" dirty="0">
                <a:effectLst/>
              </a:rPr>
              <a:t>(devido ao quadrado), o que pode ser útil se desejarmos que o modelo seja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mais sensível a esses erros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372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a diferença é elevada ao quadrado, ele </a:t>
            </a:r>
            <a:r>
              <a:rPr lang="pt-BR" b="1" i="1" dirty="0">
                <a:solidFill>
                  <a:srgbClr val="00B050"/>
                </a:solidFill>
              </a:rPr>
              <a:t>pode amplificar a influência de outliers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dirty="0"/>
              <a:t> podem levar o modelo a se concentrar demais em reduzir os erros grandes, em detrimento de um bom ajuste geral.</a:t>
            </a:r>
          </a:p>
          <a:p>
            <a:r>
              <a:rPr lang="pt-BR" dirty="0"/>
              <a:t>A consequência disso 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distorção da função hipótese</a:t>
            </a:r>
            <a:r>
              <a:rPr lang="pt-BR" b="0" i="0" dirty="0">
                <a:effectLst/>
              </a:rPr>
              <a:t>, fazendo com que ela se distancie de um mapeamento que represente o comportamento dos dados “</a:t>
            </a:r>
            <a:r>
              <a:rPr lang="pt-BR" b="0" i="1" dirty="0">
                <a:effectLst/>
              </a:rPr>
              <a:t>normais</a:t>
            </a:r>
            <a:r>
              <a:rPr lang="pt-BR" b="0" i="0" dirty="0">
                <a:effectLst/>
              </a:rPr>
              <a:t>”.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7CBC9B34-92E1-B52B-8142-014B6553E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xmlns="" id="{939C8695-1AC6-E3B6-703C-D28BBA11C44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97EA9FFC-A8FC-FBFD-695A-DC546F50941B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6315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F83E0F-01C0-1627-646F-CD1F7DAC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093881-35CA-729E-21B6-C476D096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9BE13C-73AE-50AC-806C-E5A1971F2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Por usar o quadrad</a:t>
                </a:r>
                <a:r>
                  <a:rPr lang="pt-BR" dirty="0"/>
                  <a:t>o da diferença,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métrica não fica na mesma escala dos dados originais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Por exemplo, se estivermos predizendo o preço de casas em dólares, os erros estarão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lares</m:t>
                        </m:r>
                      </m:e>
                      <m:sup>
                        <m: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b="0" i="0" dirty="0"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9BE13C-73AE-50AC-806C-E5A1971F2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  <a:blipFill>
                <a:blip r:embed="rId3"/>
                <a:stretch>
                  <a:fillRect l="-1589" t="-1937" r="-1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610B69BF-F67C-90E1-3919-D53C00CF2173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B6E9DA0A-3478-5BEB-E669-9FF6C1670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xmlns="" id="{46EBF986-4948-B37D-0075-CEADC3D3525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51669CE3-4548-5F00-F826-E55C20306092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25396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RMSE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55587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Calcula a raiz quadrada do MSE,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retornando a métrica à mesma escala dos dados originais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Isso é </a:t>
            </a:r>
            <a:r>
              <a:rPr lang="pt-BR" b="0" i="0" dirty="0">
                <a:effectLst/>
              </a:rPr>
              <a:t>útil para interpretar o erro na mesma unidade do rótulo, o que pode facilitar a compreensão do impacto do erro.</a:t>
            </a:r>
          </a:p>
          <a:p>
            <a:r>
              <a:rPr lang="pt-BR" b="0" i="0" dirty="0">
                <a:effectLst/>
              </a:rPr>
              <a:t>Assim como o MSE, </a:t>
            </a:r>
            <a:r>
              <a:rPr lang="pt-BR" b="1" i="1" dirty="0">
                <a:effectLst/>
              </a:rPr>
              <a:t>também amplifica erros maiores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DB827281-D803-D692-2D15-45F018122509}"/>
                  </a:ext>
                </a:extLst>
              </p:cNvPr>
              <p:cNvSpPr txBox="1"/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DB827281-D803-D692-2D15-45F018122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9753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dirty="0"/>
              <a:t>C</a:t>
            </a:r>
            <a:r>
              <a:rPr lang="pt-BR" b="0" i="0" dirty="0">
                <a:effectLst/>
              </a:rPr>
              <a:t>alcula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média das diferenças absolutas </a:t>
            </a:r>
            <a:r>
              <a:rPr lang="pt-BR" b="0" i="0" dirty="0">
                <a:effectLst/>
              </a:rPr>
              <a:t>entre as predições do modelo e os valores esperados.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Ou seja,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penaliza os erros de maneira uniforme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Ao contrário do MSE e RMSE, não eleva os erros ao quadrado, o que o torna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menos sensível a outliers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621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Representa os erros na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mesma escala dos dados originais</a:t>
            </a:r>
            <a:r>
              <a:rPr lang="pt-BR" b="0" i="0" dirty="0">
                <a:effectLst/>
              </a:rPr>
              <a:t>, facilitando a interpretação.</a:t>
            </a:r>
          </a:p>
          <a:p>
            <a:r>
              <a:rPr lang="pt-BR" dirty="0"/>
              <a:t>Boa opção quando </a:t>
            </a:r>
            <a:r>
              <a:rPr lang="pt-BR" b="0" i="0" dirty="0">
                <a:effectLst/>
              </a:rPr>
              <a:t>desejamos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mais uniforme em todas as predições </a:t>
            </a:r>
            <a:r>
              <a:rPr lang="pt-BR" b="0" i="0" dirty="0">
                <a:effectLst/>
              </a:rPr>
              <a:t>e desejamos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minimizar a influência de outliers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293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A1A700-99B2-FE0E-67A5-D3FF4AECD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devo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11C451E-859D-2157-A7CE-65479D14B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28769"/>
            <a:ext cx="10864065" cy="2213101"/>
          </a:xfrm>
        </p:spPr>
        <p:txBody>
          <a:bodyPr/>
          <a:lstStyle/>
          <a:p>
            <a:pPr marL="0" indent="0">
              <a:buNone/>
            </a:pPr>
            <a:r>
              <a:rPr lang="pt-BR" b="0" i="0" dirty="0">
                <a:effectLst/>
              </a:rPr>
              <a:t>O recomendável é </a:t>
            </a:r>
            <a:r>
              <a:rPr lang="pt-BR" b="1" i="1" dirty="0">
                <a:effectLst/>
              </a:rPr>
              <a:t>experimentar diferentes funções de erro </a:t>
            </a:r>
            <a:r>
              <a:rPr lang="pt-BR" b="0" i="0" dirty="0">
                <a:effectLst/>
              </a:rPr>
              <a:t>durante a </a:t>
            </a:r>
            <a:r>
              <a:rPr lang="pt-BR" b="1" i="1" dirty="0">
                <a:effectLst/>
              </a:rPr>
              <a:t>fase de desenvolvimento </a:t>
            </a:r>
            <a:r>
              <a:rPr lang="pt-BR" b="0" i="0" dirty="0">
                <a:effectLst/>
              </a:rPr>
              <a:t>para determinar qual delas se </a:t>
            </a:r>
            <a:r>
              <a:rPr lang="pt-BR" b="1" i="1" dirty="0">
                <a:effectLst/>
              </a:rPr>
              <a:t>alinha</a:t>
            </a:r>
            <a:r>
              <a:rPr lang="pt-BR" b="0" i="0" dirty="0">
                <a:effectLst/>
              </a:rPr>
              <a:t> melhor com os </a:t>
            </a:r>
            <a:r>
              <a:rPr lang="pt-BR" b="1" i="1" dirty="0">
                <a:effectLst/>
              </a:rPr>
              <a:t>objetivos e as características </a:t>
            </a:r>
            <a:r>
              <a:rPr lang="pt-BR" b="0" i="0" dirty="0">
                <a:effectLst/>
              </a:rPr>
              <a:t>específicas do seu </a:t>
            </a:r>
            <a:r>
              <a:rPr lang="pt-BR" b="1" i="1" dirty="0">
                <a:effectLst/>
              </a:rPr>
              <a:t>problema de regressão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4603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dirty="0"/>
              <a:t>O problema que estamos vendo neste tópico é conhecido como </a:t>
            </a:r>
            <a:r>
              <a:rPr lang="pt-BR" b="1" i="1" dirty="0">
                <a:solidFill>
                  <a:srgbClr val="0070C0"/>
                </a:solidFill>
              </a:rPr>
              <a:t>regressão</a:t>
            </a:r>
            <a:r>
              <a:rPr lang="pt-BR" dirty="0"/>
              <a:t> ou </a:t>
            </a:r>
            <a:r>
              <a:rPr lang="pt-BR" b="1" i="1" dirty="0">
                <a:solidFill>
                  <a:schemeClr val="accent2"/>
                </a:solidFill>
              </a:rPr>
              <a:t>aproximação de funções</a:t>
            </a:r>
            <a:r>
              <a:rPr lang="pt-BR" dirty="0"/>
              <a:t>.</a:t>
            </a:r>
          </a:p>
          <a:p>
            <a:r>
              <a:rPr lang="pt-BR" dirty="0"/>
              <a:t>Nele, a função com formato de reta, que definimos como </a:t>
            </a:r>
            <a:r>
              <a:rPr lang="pt-BR" b="1" i="1" dirty="0"/>
              <a:t>função hipótese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é o </a:t>
            </a:r>
            <a:r>
              <a:rPr lang="pt-BR" b="1" i="1" dirty="0">
                <a:solidFill>
                  <a:srgbClr val="00B050"/>
                </a:solidFill>
              </a:rPr>
              <a:t>modelo de ML </a:t>
            </a:r>
            <a:r>
              <a:rPr lang="pt-BR" dirty="0"/>
              <a:t>e o </a:t>
            </a:r>
            <a:r>
              <a:rPr lang="pt-BR" b="1" i="1" dirty="0">
                <a:solidFill>
                  <a:srgbClr val="00B050"/>
                </a:solidFill>
              </a:rPr>
              <a:t>objetivo da regressão é encontrar os parâmetros (ou pesos) que </a:t>
            </a:r>
            <a:r>
              <a:rPr lang="pt-BR" b="1" i="1" dirty="0">
                <a:solidFill>
                  <a:srgbClr val="7030A0"/>
                </a:solidFill>
              </a:rPr>
              <a:t>minimizam a função de erro</a:t>
            </a:r>
            <a:r>
              <a:rPr lang="pt-BR" dirty="0"/>
              <a:t>.</a:t>
            </a:r>
          </a:p>
        </p:txBody>
      </p:sp>
      <p:grpSp>
        <p:nvGrpSpPr>
          <p:cNvPr id="35" name="Agrupar 34">
            <a:extLst>
              <a:ext uri="{FF2B5EF4-FFF2-40B4-BE49-F238E27FC236}">
                <a16:creationId xmlns:a16="http://schemas.microsoft.com/office/drawing/2014/main" xmlns="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xmlns="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:a16="http://schemas.microsoft.com/office/drawing/2014/main" xmlns="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:a16="http://schemas.microsoft.com/office/drawing/2014/main" xmlns="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xmlns="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xmlns="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xmlns="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xmlns="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:a16="http://schemas.microsoft.com/office/drawing/2014/main" xmlns="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:a16="http://schemas.microsoft.com/office/drawing/2014/main" xmlns="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:a16="http://schemas.microsoft.com/office/drawing/2014/main" xmlns="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xmlns="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xmlns="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xmlns="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xmlns="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3155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sz="2800" b="1" dirty="0"/>
              <a:t>OBS</a:t>
            </a:r>
            <a:r>
              <a:rPr lang="pt-BR" sz="2800" dirty="0"/>
              <a:t>.: No exemplo que vimos nesse tópico, conseguimos </a:t>
            </a:r>
            <a:r>
              <a:rPr lang="pt-BR" sz="2800" b="1" i="1" dirty="0">
                <a:solidFill>
                  <a:srgbClr val="00B050"/>
                </a:solidFill>
              </a:rPr>
              <a:t>visualizar os dados </a:t>
            </a:r>
            <a:r>
              <a:rPr lang="pt-BR" sz="2800" dirty="0"/>
              <a:t>e </a:t>
            </a:r>
            <a:r>
              <a:rPr lang="pt-BR" sz="2800" b="1" i="1" dirty="0">
                <a:solidFill>
                  <a:srgbClr val="7030A0"/>
                </a:solidFill>
              </a:rPr>
              <a:t>identificar a equação</a:t>
            </a:r>
            <a:r>
              <a:rPr lang="pt-BR" sz="2800" dirty="0"/>
              <a:t> (ou formato) da função hipótese facilmente. </a:t>
            </a:r>
          </a:p>
          <a:p>
            <a:r>
              <a:rPr lang="pt-BR" dirty="0"/>
              <a:t>Porém,</a:t>
            </a:r>
            <a:r>
              <a:rPr lang="pt-BR" sz="2800" dirty="0"/>
              <a:t> em outros casos, além dos pesos, temos que descobrir o formato da função.</a:t>
            </a:r>
          </a:p>
          <a:p>
            <a:r>
              <a:rPr lang="pt-BR" dirty="0"/>
              <a:t>Veremos adiante formas de definir o melhor modelo para uma aproximação.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35" name="Agrupar 34">
            <a:extLst>
              <a:ext uri="{FF2B5EF4-FFF2-40B4-BE49-F238E27FC236}">
                <a16:creationId xmlns:a16="http://schemas.microsoft.com/office/drawing/2014/main" xmlns="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xmlns="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:a16="http://schemas.microsoft.com/office/drawing/2014/main" xmlns="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:a16="http://schemas.microsoft.com/office/drawing/2014/main" xmlns="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xmlns="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xmlns="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xmlns="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xmlns="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:a16="http://schemas.microsoft.com/office/drawing/2014/main" xmlns="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:a16="http://schemas.microsoft.com/office/drawing/2014/main" xmlns="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xmlns="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:a16="http://schemas.microsoft.com/office/drawing/2014/main" xmlns="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xmlns="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xmlns="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xmlns="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xmlns="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4882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Dado que o conjunto de treinamento é conhecido e fixo, notamos que a </a:t>
            </a:r>
            <a:r>
              <a:rPr lang="pt-BR" b="1" i="1" dirty="0"/>
              <a:t>função de erro </a:t>
            </a:r>
            <a:r>
              <a:rPr lang="pt-BR" dirty="0"/>
              <a:t>é </a:t>
            </a:r>
            <a:r>
              <a:rPr lang="pt-BR" b="1" i="1" dirty="0"/>
              <a:t>função dos pesos </a:t>
            </a:r>
            <a:r>
              <a:rPr lang="pt-BR" dirty="0"/>
              <a:t>do modelo.</a:t>
            </a:r>
          </a:p>
          <a:p>
            <a:r>
              <a:rPr lang="pt-BR" dirty="0"/>
              <a:t>Assim, o </a:t>
            </a:r>
            <a:r>
              <a:rPr lang="pt-BR" b="1" i="1" dirty="0">
                <a:solidFill>
                  <a:srgbClr val="00B050"/>
                </a:solidFill>
              </a:rPr>
              <a:t>objetivo da regressão </a:t>
            </a:r>
            <a:r>
              <a:rPr lang="pt-BR" dirty="0"/>
              <a:t>é </a:t>
            </a:r>
            <a:r>
              <a:rPr lang="pt-BR" b="1" i="1" dirty="0">
                <a:solidFill>
                  <a:srgbClr val="00B050"/>
                </a:solidFill>
              </a:rPr>
              <a:t>encontrar o conjunto de pesos que minimiza a função de erro</a:t>
            </a:r>
            <a:r>
              <a:rPr lang="pt-BR" dirty="0"/>
              <a:t>.</a:t>
            </a:r>
          </a:p>
          <a:p>
            <a:r>
              <a:rPr lang="pt-BR" dirty="0"/>
              <a:t>Esse é um </a:t>
            </a:r>
            <a:r>
              <a:rPr lang="pt-BR" b="1" i="1" dirty="0">
                <a:solidFill>
                  <a:srgbClr val="7030A0"/>
                </a:solidFill>
              </a:rPr>
              <a:t>problema de minimização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Qual é o conjunto de pesos que resulta no menor erro possível?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tângulo 43">
            <a:extLst>
              <a:ext uri="{FF2B5EF4-FFF2-40B4-BE49-F238E27FC236}">
                <a16:creationId xmlns:a16="http://schemas.microsoft.com/office/drawing/2014/main" xmlns="" id="{0E22BE30-DFAE-8B87-D83B-05B9B69080D4}"/>
              </a:ext>
            </a:extLst>
          </p:cNvPr>
          <p:cNvSpPr/>
          <p:nvPr/>
        </p:nvSpPr>
        <p:spPr>
          <a:xfrm>
            <a:off x="2103313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xmlns="" id="{BA16A255-C8A7-13E5-A987-B241E01F62BC}"/>
              </a:ext>
            </a:extLst>
          </p:cNvPr>
          <p:cNvSpPr/>
          <p:nvPr/>
        </p:nvSpPr>
        <p:spPr>
          <a:xfrm>
            <a:off x="2747838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B9DE3902-824E-8DE4-4B5F-D95AEAF0C065}"/>
              </a:ext>
            </a:extLst>
          </p:cNvPr>
          <p:cNvSpPr txBox="1"/>
          <p:nvPr/>
        </p:nvSpPr>
        <p:spPr>
          <a:xfrm>
            <a:off x="2439632" y="4444871"/>
            <a:ext cx="69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FF0000"/>
                </a:solidFill>
              </a:rPr>
              <a:t>?</a:t>
            </a:r>
            <a:endParaRPr lang="pt-BR" sz="2400" b="1" dirty="0">
              <a:solidFill>
                <a:srgbClr val="FF0000"/>
              </a:solidFill>
            </a:endParaRP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xmlns="" id="{2C082D7A-BEFF-DA1D-3F2F-76FA61553F87}"/>
              </a:ext>
            </a:extLst>
          </p:cNvPr>
          <p:cNvCxnSpPr/>
          <p:nvPr/>
        </p:nvCxnSpPr>
        <p:spPr>
          <a:xfrm flipH="1">
            <a:off x="2747838" y="4171821"/>
            <a:ext cx="165100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xmlns="" id="{269E65DF-033F-5E0E-FF63-59C477B4956B}"/>
              </a:ext>
            </a:extLst>
          </p:cNvPr>
          <p:cNvCxnSpPr>
            <a:stCxn id="44" idx="2"/>
          </p:cNvCxnSpPr>
          <p:nvPr/>
        </p:nvCxnSpPr>
        <p:spPr>
          <a:xfrm>
            <a:off x="2268413" y="4171821"/>
            <a:ext cx="239712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86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Se </a:t>
            </a:r>
            <a:r>
              <a:rPr lang="pt-BR" b="1" i="1" dirty="0">
                <a:solidFill>
                  <a:srgbClr val="00B050"/>
                </a:solidFill>
              </a:rPr>
              <a:t>plotarmos o erro em função dos pesos</a:t>
            </a:r>
            <a:r>
              <a:rPr lang="pt-BR" dirty="0"/>
              <a:t>, nós plotamos o que é conhecido como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.</a:t>
            </a:r>
          </a:p>
          <a:p>
            <a:r>
              <a:rPr lang="pt-BR" dirty="0"/>
              <a:t>Seu </a:t>
            </a:r>
            <a:r>
              <a:rPr lang="pt-BR" b="1" i="1" dirty="0">
                <a:solidFill>
                  <a:srgbClr val="00B050"/>
                </a:solidFill>
              </a:rPr>
              <a:t>ponto mais baixo </a:t>
            </a:r>
            <a:r>
              <a:rPr lang="pt-BR" dirty="0"/>
              <a:t>é chamado de </a:t>
            </a:r>
            <a:r>
              <a:rPr lang="pt-BR" b="1" i="1" dirty="0">
                <a:solidFill>
                  <a:srgbClr val="00B0F0"/>
                </a:solidFill>
              </a:rPr>
              <a:t>ponto de mínimo </a:t>
            </a:r>
            <a:r>
              <a:rPr lang="pt-BR" dirty="0"/>
              <a:t>e nos dá o </a:t>
            </a:r>
            <a:r>
              <a:rPr lang="pt-BR" b="1" i="1" dirty="0">
                <a:solidFill>
                  <a:srgbClr val="00B050"/>
                </a:solidFill>
              </a:rPr>
              <a:t>conjunto de pesos ótimo</a:t>
            </a:r>
            <a:r>
              <a:rPr lang="pt-BR" dirty="0"/>
              <a:t>, ou seja, os </a:t>
            </a:r>
            <a:r>
              <a:rPr lang="pt-BR" b="1" i="1" dirty="0">
                <a:solidFill>
                  <a:schemeClr val="accent2"/>
                </a:solidFill>
              </a:rPr>
              <a:t>pesos que minimizam a função de erro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xmlns="" id="{63C76009-5703-CC01-34FD-DE7DD99C2CA6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:a16="http://schemas.microsoft.com/office/drawing/2014/main" xmlns="" id="{354FEEB6-6AE9-60CB-E499-CC164C631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xmlns="" id="{F8F56DFA-DA55-64BC-498E-89036B3ABB7B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xmlns="" id="{0F41703A-C8C4-AC4F-DED1-A7688D7554D5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xmlns="" id="{06ABD17C-2E15-0808-E956-FE4EEA39D288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xmlns="" id="{4041F71A-DE1C-E129-7512-5E81C16C6EAB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xmlns="" id="{95EC4D88-9E4F-5552-6DCF-99C121BF0426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xmlns="" id="{0E22BE30-DFAE-8B87-D83B-05B9B69080D4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xmlns="" id="{BA16A255-C8A7-13E5-A987-B241E01F62BC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xmlns="" id="{822D9EAD-1149-7FBE-C611-D40937DD1A9D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B9DE3902-824E-8DE4-4B5F-D95AEAF0C065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2140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407951-294D-1987-1F07-7BA98F642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4A5B92-BB19-C84F-3FA2-248F9DA1A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C33344C-9F95-DAB9-1333-D4DCC4D06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O algoritmo de otimização, que veremos em breve, </a:t>
            </a:r>
            <a:r>
              <a:rPr lang="pt-BR" b="1" i="1" dirty="0">
                <a:solidFill>
                  <a:srgbClr val="00B050"/>
                </a:solidFill>
              </a:rPr>
              <a:t>caminha</a:t>
            </a:r>
            <a:r>
              <a:rPr lang="pt-BR" dirty="0"/>
              <a:t> através da superfície sempre </a:t>
            </a:r>
            <a:r>
              <a:rPr lang="pt-BR" b="1" i="1" dirty="0">
                <a:solidFill>
                  <a:srgbClr val="00B050"/>
                </a:solidFill>
              </a:rPr>
              <a:t>indo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em direção ao seu ponto mais baixo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CAC8B18A-EE59-CC83-84A9-F597F9A85042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xmlns="" id="{69A92EF6-86AA-B04F-B9D5-0526DC5E9E11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:a16="http://schemas.microsoft.com/office/drawing/2014/main" xmlns="" id="{891F5391-2026-8C2E-0B3E-FD722E5734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xmlns="" id="{51DC6CF0-B9CE-31DF-8E6A-1D362B995785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xmlns="" id="{FF451B1C-3B39-A358-4712-23DDF9AB89E0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xmlns="" id="{30196AB4-8335-2434-49FB-6DCD20AA4E1E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xmlns="" id="{0CF05E6E-2DCF-827C-D3A9-9D2D6823E8AE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xmlns="" id="{7DD7DBC8-C42A-5F06-23F9-7ADEC74F826A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xmlns="" id="{D401F929-8474-735D-ADF3-337C96D9494B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xmlns="" id="{A67B37F4-C674-39BB-383F-EA81B42C25B3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xmlns="" id="{794B6722-40AF-0378-9A89-DAA0E4DC33B4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:a16="http://schemas.microsoft.com/office/drawing/2014/main" xmlns="" id="{68B4E868-C383-179B-09E0-7CBAA385F708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740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6" y="1825625"/>
            <a:ext cx="6240694" cy="5032376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i="1" dirty="0">
                <a:solidFill>
                  <a:srgbClr val="00B050"/>
                </a:solidFill>
              </a:rPr>
              <a:t>processo de busca</a:t>
            </a:r>
            <a:r>
              <a:rPr lang="pt-BR" dirty="0"/>
              <a:t> que tem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ponto</a:t>
            </a:r>
            <a:r>
              <a:rPr lang="pt-BR" dirty="0"/>
              <a:t> que </a:t>
            </a:r>
            <a:r>
              <a:rPr lang="pt-BR" b="1" i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é chamado de </a:t>
            </a:r>
            <a:r>
              <a:rPr lang="pt-BR" b="1" i="1" dirty="0">
                <a:solidFill>
                  <a:schemeClr val="accent2"/>
                </a:solidFill>
              </a:rPr>
              <a:t>otimização</a:t>
            </a:r>
            <a:r>
              <a:rPr lang="pt-BR" dirty="0"/>
              <a:t> e, no contexto de ML, é conhecido como </a:t>
            </a:r>
            <a:r>
              <a:rPr lang="pt-BR" b="1" i="1" dirty="0">
                <a:solidFill>
                  <a:srgbClr val="7030A0"/>
                </a:solidFill>
              </a:rPr>
              <a:t>treinamento do modelo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é o processo de </a:t>
            </a:r>
            <a:r>
              <a:rPr lang="pt-BR" b="1" i="1" dirty="0">
                <a:solidFill>
                  <a:srgbClr val="00B050"/>
                </a:solidFill>
              </a:rPr>
              <a:t>atualizar o modelo</a:t>
            </a:r>
            <a:r>
              <a:rPr lang="pt-BR" dirty="0"/>
              <a:t> para obter predições melhores 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:a16="http://schemas.microsoft.com/office/drawing/2014/main" xmlns="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:a16="http://schemas.microsoft.com/office/drawing/2014/main" xmlns="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:a16="http://schemas.microsoft.com/office/drawing/2014/main" xmlns="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xmlns="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xmlns="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xmlns="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xmlns="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xmlns="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:a16="http://schemas.microsoft.com/office/drawing/2014/main" xmlns="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:a16="http://schemas.microsoft.com/office/drawing/2014/main" xmlns="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:a16="http://schemas.microsoft.com/office/drawing/2014/main" xmlns="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:a16="http://schemas.microsoft.com/office/drawing/2014/main" xmlns="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:a16="http://schemas.microsoft.com/office/drawing/2014/main" xmlns="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xmlns="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xmlns="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xmlns="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0522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5" y="1825625"/>
            <a:ext cx="6339155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treinamento</a:t>
            </a:r>
            <a:r>
              <a:rPr lang="pt-BR" dirty="0"/>
              <a:t> (ou atualização) do modelo se </a:t>
            </a:r>
            <a:r>
              <a:rPr lang="pt-BR" b="1" i="1" dirty="0">
                <a:solidFill>
                  <a:srgbClr val="00B050"/>
                </a:solidFill>
              </a:rPr>
              <a:t>baseia</a:t>
            </a:r>
            <a:r>
              <a:rPr lang="pt-BR" dirty="0"/>
              <a:t> na </a:t>
            </a:r>
            <a:r>
              <a:rPr lang="pt-BR" b="1" i="1" dirty="0">
                <a:solidFill>
                  <a:srgbClr val="7030A0"/>
                </a:solidFill>
              </a:rPr>
              <a:t>informação obtida a partir da função de erro</a:t>
            </a:r>
            <a:r>
              <a:rPr lang="pt-BR" dirty="0"/>
              <a:t>.</a:t>
            </a:r>
          </a:p>
          <a:p>
            <a:r>
              <a:rPr lang="pt-BR" dirty="0"/>
              <a:t>Como veremos, essa informação </a:t>
            </a:r>
            <a:r>
              <a:rPr lang="pt-BR" b="1" i="1" dirty="0">
                <a:solidFill>
                  <a:schemeClr val="accent2"/>
                </a:solidFill>
              </a:rPr>
              <a:t>aponta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b="1" i="1" dirty="0">
                <a:solidFill>
                  <a:srgbClr val="00B050"/>
                </a:solidFill>
              </a:rPr>
              <a:t>para a direção do ponto de mínimo </a:t>
            </a:r>
            <a:r>
              <a:rPr lang="pt-BR" b="1" i="1" dirty="0"/>
              <a:t>(i.e., conjunto de pesos ótimo)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:a16="http://schemas.microsoft.com/office/drawing/2014/main" xmlns="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:a16="http://schemas.microsoft.com/office/drawing/2014/main" xmlns="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:a16="http://schemas.microsoft.com/office/drawing/2014/main" xmlns="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xmlns="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xmlns="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xmlns="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xmlns="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xmlns="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:a16="http://schemas.microsoft.com/office/drawing/2014/main" xmlns="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:a16="http://schemas.microsoft.com/office/drawing/2014/main" xmlns="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:a16="http://schemas.microsoft.com/office/drawing/2014/main" xmlns="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:a16="http://schemas.microsoft.com/office/drawing/2014/main" xmlns="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:a16="http://schemas.microsoft.com/office/drawing/2014/main" xmlns="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xmlns="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xmlns="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xmlns="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5254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009" y="1690688"/>
            <a:ext cx="6167624" cy="5167312"/>
          </a:xfrm>
        </p:spPr>
        <p:txBody>
          <a:bodyPr>
            <a:normAutofit/>
          </a:bodyPr>
          <a:lstStyle/>
          <a:p>
            <a:r>
              <a:rPr lang="pt-BR" dirty="0"/>
              <a:t>Como veremos em breve, de posse dessa informação trazida pelo erro, o algoritmo de otimização, conhecido como </a:t>
            </a:r>
            <a:r>
              <a:rPr lang="pt-BR" b="1" i="1" dirty="0">
                <a:solidFill>
                  <a:srgbClr val="00B050"/>
                </a:solidFill>
              </a:rPr>
              <a:t>gradiente descendente (GD)</a:t>
            </a:r>
            <a:r>
              <a:rPr lang="pt-BR" dirty="0"/>
              <a:t>, consegue </a:t>
            </a:r>
            <a:r>
              <a:rPr lang="pt-BR" b="1" i="1" dirty="0">
                <a:solidFill>
                  <a:srgbClr val="7030A0"/>
                </a:solidFill>
              </a:rPr>
              <a:t>caminhar iterativamente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através da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 até o </a:t>
            </a:r>
            <a:r>
              <a:rPr lang="pt-BR" b="1" i="1" dirty="0">
                <a:solidFill>
                  <a:srgbClr val="00B050"/>
                </a:solidFill>
              </a:rPr>
              <a:t>ponto de mínimo </a:t>
            </a:r>
            <a:r>
              <a:rPr lang="pt-BR" dirty="0"/>
              <a:t>(i.e., conjunto de pesos ótimo).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EFF7BA2C-85F3-2954-15C2-8C0FDFD2F383}"/>
              </a:ext>
            </a:extLst>
          </p:cNvPr>
          <p:cNvGrpSpPr/>
          <p:nvPr/>
        </p:nvGrpSpPr>
        <p:grpSpPr>
          <a:xfrm>
            <a:off x="930667" y="1938641"/>
            <a:ext cx="4381189" cy="4083507"/>
            <a:chOff x="930667" y="1938641"/>
            <a:chExt cx="4381189" cy="4083507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xmlns="" id="{B1CFFF15-2A34-B496-DF99-E020420F02A9}"/>
                </a:ext>
              </a:extLst>
            </p:cNvPr>
            <p:cNvGrpSpPr/>
            <p:nvPr/>
          </p:nvGrpSpPr>
          <p:grpSpPr>
            <a:xfrm>
              <a:off x="930667" y="1938641"/>
              <a:ext cx="4381189" cy="4083507"/>
              <a:chOff x="447782" y="1825625"/>
              <a:chExt cx="4381189" cy="4083507"/>
            </a:xfrm>
          </p:grpSpPr>
          <p:grpSp>
            <p:nvGrpSpPr>
              <p:cNvPr id="5" name="Agrupar 4">
                <a:extLst>
                  <a:ext uri="{FF2B5EF4-FFF2-40B4-BE49-F238E27FC236}">
                    <a16:creationId xmlns:a16="http://schemas.microsoft.com/office/drawing/2014/main" xmlns="" id="{303781AB-D3FD-EAC8-BA20-8C7AA74EED74}"/>
                  </a:ext>
                </a:extLst>
              </p:cNvPr>
              <p:cNvGrpSpPr/>
              <p:nvPr/>
            </p:nvGrpSpPr>
            <p:grpSpPr>
              <a:xfrm>
                <a:off x="447782" y="1825625"/>
                <a:ext cx="4381189" cy="3859236"/>
                <a:chOff x="1592492" y="1393380"/>
                <a:chExt cx="3155387" cy="2846768"/>
              </a:xfrm>
            </p:grpSpPr>
            <p:pic>
              <p:nvPicPr>
                <p:cNvPr id="15" name="Picture 2" descr="Visualization for Function Optimization in Python -  MachineLearningMastery.com">
                  <a:extLst>
                    <a:ext uri="{FF2B5EF4-FFF2-40B4-BE49-F238E27FC236}">
                      <a16:creationId xmlns:a16="http://schemas.microsoft.com/office/drawing/2014/main" xmlns="" id="{638B6B9F-5A1A-14AD-55BD-744329EBD1E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468" t="17228" r="16217" b="10711"/>
                <a:stretch/>
              </p:blipFill>
              <p:spPr bwMode="auto">
                <a:xfrm>
                  <a:off x="1592492" y="1393380"/>
                  <a:ext cx="3069081" cy="284436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ixaDeTexto 15">
                      <a:extLst>
                        <a:ext uri="{FF2B5EF4-FFF2-40B4-BE49-F238E27FC236}">
                          <a16:creationId xmlns:a16="http://schemas.microsoft.com/office/drawing/2014/main" xmlns="" id="{79F1FF82-DAB9-8559-E32B-4EF2A3463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7" name="CaixaDeTexto 26">
                      <a:extLst>
                        <a:ext uri="{FF2B5EF4-FFF2-40B4-BE49-F238E27FC236}">
                          <a16:creationId xmlns:a16="http://schemas.microsoft.com/office/drawing/2014/main" id="{00D42F04-97F1-C0EA-6B00-D0BD117CDE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CaixaDeTexto 16">
                      <a:extLst>
                        <a:ext uri="{FF2B5EF4-FFF2-40B4-BE49-F238E27FC236}">
                          <a16:creationId xmlns:a16="http://schemas.microsoft.com/office/drawing/2014/main" xmlns="" id="{443E934D-5711-801B-0B5C-12F96AF581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9" name="CaixaDeTexto 28">
                      <a:extLst>
                        <a:ext uri="{FF2B5EF4-FFF2-40B4-BE49-F238E27FC236}">
                          <a16:creationId xmlns:a16="http://schemas.microsoft.com/office/drawing/2014/main" id="{1FCA9EDF-24EB-6DAA-4AB3-9E76EE2FB3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CaixaDeTexto 17">
                      <a:extLst>
                        <a:ext uri="{FF2B5EF4-FFF2-40B4-BE49-F238E27FC236}">
                          <a16:creationId xmlns:a16="http://schemas.microsoft.com/office/drawing/2014/main" xmlns="" id="{837F7A79-D082-81E1-4CBD-925AE3AEB1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800" b="1" i="0" smtClean="0">
                                <a:latin typeface="Cambria Math" panose="02040503050406030204" pitchFamily="18" charset="0"/>
                              </a:rPr>
                              <m:t>𝐌𝐒𝐄</m:t>
                            </m:r>
                          </m:oMath>
                        </m:oMathPara>
                      </a14:m>
                      <a:endParaRPr lang="pt-BR" b="1" dirty="0"/>
                    </a:p>
                  </p:txBody>
                </p:sp>
              </mc:Choice>
              <mc:Fallback xmlns="">
                <p:sp>
                  <p:nvSpPr>
                    <p:cNvPr id="32" name="CaixaDeTexto 31">
                      <a:extLst>
                        <a:ext uri="{FF2B5EF4-FFF2-40B4-BE49-F238E27FC236}">
                          <a16:creationId xmlns:a16="http://schemas.microsoft.com/office/drawing/2014/main" id="{5C41B175-64DA-79AF-4D15-C9A59E4443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Elipse 5">
                <a:extLst>
                  <a:ext uri="{FF2B5EF4-FFF2-40B4-BE49-F238E27FC236}">
                    <a16:creationId xmlns:a16="http://schemas.microsoft.com/office/drawing/2014/main" xmlns="" id="{753D0596-7D8A-84E6-B162-97698774E7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8001" y="3424885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xmlns="" id="{6F479719-E6C4-B962-F6C6-52D33662B977}"/>
                  </a:ext>
                </a:extLst>
              </p:cNvPr>
              <p:cNvCxnSpPr>
                <a:cxnSpLocks/>
                <a:endCxn id="6" idx="4"/>
              </p:cNvCxnSpPr>
              <p:nvPr/>
            </p:nvCxnSpPr>
            <p:spPr>
              <a:xfrm flipH="1" flipV="1">
                <a:off x="1584001" y="3496885"/>
                <a:ext cx="11005" cy="46486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xmlns="" id="{3566EB52-B15F-0ADC-0621-7B26FF32C1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44775" y="4469673"/>
                <a:ext cx="931863" cy="27854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:a16="http://schemas.microsoft.com/office/drawing/2014/main" xmlns="" id="{E78B88C6-9D47-4D86-02FF-4EE1207C70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7476" y="4155281"/>
                <a:ext cx="737530" cy="628784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ector reto 10">
                <a:extLst>
                  <a:ext uri="{FF2B5EF4-FFF2-40B4-BE49-F238E27FC236}">
                    <a16:creationId xmlns:a16="http://schemas.microsoft.com/office/drawing/2014/main" xmlns="" id="{DA042FA6-4FC2-9517-809F-063693D349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00660" y="4144018"/>
                <a:ext cx="73266" cy="3290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 reto 11">
                <a:extLst>
                  <a:ext uri="{FF2B5EF4-FFF2-40B4-BE49-F238E27FC236}">
                    <a16:creationId xmlns:a16="http://schemas.microsoft.com/office/drawing/2014/main" xmlns="" id="{716DF9ED-EC56-49C3-C322-EF7CA0BF65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02149" y="4110038"/>
                <a:ext cx="0" cy="4091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de Seta Reta 12">
                <a:extLst>
                  <a:ext uri="{FF2B5EF4-FFF2-40B4-BE49-F238E27FC236}">
                    <a16:creationId xmlns:a16="http://schemas.microsoft.com/office/drawing/2014/main" xmlns="" id="{9C711E50-5628-B19F-099F-8D55523068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06947" y="4469673"/>
                <a:ext cx="623733" cy="121193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xmlns="" id="{63DE3061-554C-FAE5-3632-5525A4C8A9BC}"/>
                  </a:ext>
                </a:extLst>
              </p:cNvPr>
              <p:cNvSpPr txBox="1"/>
              <p:nvPr/>
            </p:nvSpPr>
            <p:spPr>
              <a:xfrm>
                <a:off x="2426116" y="5601355"/>
                <a:ext cx="148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rgbClr val="00B0F0"/>
                    </a:solidFill>
                  </a:rPr>
                  <a:t>ponto de mínimo</a:t>
                </a:r>
              </a:p>
            </p:txBody>
          </p:sp>
        </p:grp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xmlns="" id="{63395918-0530-9B68-22F7-52BB772E43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99351" y="3779808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0529F877-C5ED-2E1B-244D-784C90C545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2811" y="39416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8F34BE39-5691-A580-2510-188C1C5327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6384" y="4063903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xmlns="" id="{9F0AFFF7-43DE-1015-3F3B-AAF3DDF52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0467" y="4126542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" name="Conector: Curvo 24">
              <a:extLst>
                <a:ext uri="{FF2B5EF4-FFF2-40B4-BE49-F238E27FC236}">
                  <a16:creationId xmlns:a16="http://schemas.microsoft.com/office/drawing/2014/main" xmlns="" id="{E4F3E26A-F810-43AC-924F-BF461C5FB86E}"/>
                </a:ext>
              </a:extLst>
            </p:cNvPr>
            <p:cNvCxnSpPr>
              <a:cxnSpLocks/>
              <a:stCxn id="6" idx="0"/>
              <a:endCxn id="20" idx="0"/>
            </p:cNvCxnSpPr>
            <p:nvPr/>
          </p:nvCxnSpPr>
          <p:spPr>
            <a:xfrm rot="16200000" flipH="1">
              <a:off x="1980164" y="3624622"/>
              <a:ext cx="241907" cy="68465"/>
            </a:xfrm>
            <a:prstGeom prst="curvedConnector3">
              <a:avLst>
                <a:gd name="adj1" fmla="val -29531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: Curvo 30">
              <a:extLst>
                <a:ext uri="{FF2B5EF4-FFF2-40B4-BE49-F238E27FC236}">
                  <a16:creationId xmlns:a16="http://schemas.microsoft.com/office/drawing/2014/main" xmlns="" id="{C3043666-BB5A-C502-359A-4A3917065792}"/>
                </a:ext>
              </a:extLst>
            </p:cNvPr>
            <p:cNvCxnSpPr>
              <a:cxnSpLocks/>
              <a:stCxn id="20" idx="0"/>
              <a:endCxn id="21" idx="0"/>
            </p:cNvCxnSpPr>
            <p:nvPr/>
          </p:nvCxnSpPr>
          <p:spPr>
            <a:xfrm rot="16200000" flipH="1">
              <a:off x="2101143" y="3814016"/>
              <a:ext cx="161876" cy="93460"/>
            </a:xfrm>
            <a:prstGeom prst="curvedConnector3">
              <a:avLst>
                <a:gd name="adj1" fmla="val -85320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: Curvo 35">
              <a:extLst>
                <a:ext uri="{FF2B5EF4-FFF2-40B4-BE49-F238E27FC236}">
                  <a16:creationId xmlns:a16="http://schemas.microsoft.com/office/drawing/2014/main" xmlns="" id="{CDD58E5F-EA2D-BB70-6D90-8E84E5EE604A}"/>
                </a:ext>
              </a:extLst>
            </p:cNvPr>
            <p:cNvCxnSpPr>
              <a:cxnSpLocks/>
              <a:stCxn id="21" idx="0"/>
              <a:endCxn id="22" idx="0"/>
            </p:cNvCxnSpPr>
            <p:nvPr/>
          </p:nvCxnSpPr>
          <p:spPr>
            <a:xfrm rot="16200000" flipH="1">
              <a:off x="2229487" y="3941007"/>
              <a:ext cx="122219" cy="123573"/>
            </a:xfrm>
            <a:prstGeom prst="curvedConnector3">
              <a:avLst>
                <a:gd name="adj1" fmla="val -120798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: Curvo 39">
              <a:extLst>
                <a:ext uri="{FF2B5EF4-FFF2-40B4-BE49-F238E27FC236}">
                  <a16:creationId xmlns:a16="http://schemas.microsoft.com/office/drawing/2014/main" xmlns="" id="{0AA4F48C-5159-C330-2619-A60D9B827A22}"/>
                </a:ext>
              </a:extLst>
            </p:cNvPr>
            <p:cNvCxnSpPr>
              <a:cxnSpLocks/>
              <a:stCxn id="22" idx="0"/>
              <a:endCxn id="23" idx="0"/>
            </p:cNvCxnSpPr>
            <p:nvPr/>
          </p:nvCxnSpPr>
          <p:spPr>
            <a:xfrm rot="16200000" flipH="1">
              <a:off x="2408105" y="4008181"/>
              <a:ext cx="62639" cy="174083"/>
            </a:xfrm>
            <a:prstGeom prst="curvedConnector3">
              <a:avLst>
                <a:gd name="adj1" fmla="val -235697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xmlns="" id="{14539003-1BD8-17D2-A460-9687F6449CF4}"/>
                </a:ext>
              </a:extLst>
            </p:cNvPr>
            <p:cNvSpPr txBox="1"/>
            <p:nvPr/>
          </p:nvSpPr>
          <p:spPr>
            <a:xfrm>
              <a:off x="2085034" y="3336761"/>
              <a:ext cx="17533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iterações/atualizações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0019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3" y="1690688"/>
            <a:ext cx="6905280" cy="5167312"/>
          </a:xfrm>
        </p:spPr>
        <p:txBody>
          <a:bodyPr>
            <a:normAutofit/>
          </a:bodyPr>
          <a:lstStyle/>
          <a:p>
            <a:r>
              <a:rPr lang="pt-BR" dirty="0"/>
              <a:t>A figura ao lado ilustra o processo iterativo de otimização realizado pelo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partir de um </a:t>
            </a:r>
            <a:r>
              <a:rPr lang="pt-BR" b="1" i="1" dirty="0">
                <a:solidFill>
                  <a:srgbClr val="00B050"/>
                </a:solidFill>
              </a:rPr>
              <a:t>ponto inicial </a:t>
            </a:r>
            <a:r>
              <a:rPr lang="pt-BR" dirty="0"/>
              <a:t>(i.e., uma </a:t>
            </a:r>
            <a:r>
              <a:rPr lang="pt-BR" b="1" i="1" dirty="0">
                <a:solidFill>
                  <a:srgbClr val="00B050"/>
                </a:solidFill>
              </a:rPr>
              <a:t>suposição aleatória</a:t>
            </a:r>
            <a:r>
              <a:rPr lang="pt-BR" dirty="0"/>
              <a:t> de pesos), o algoritmo </a:t>
            </a:r>
            <a:r>
              <a:rPr lang="pt-BR" b="1" i="1" dirty="0">
                <a:solidFill>
                  <a:srgbClr val="00B050"/>
                </a:solidFill>
              </a:rPr>
              <a:t>extrai a </a:t>
            </a:r>
            <a:r>
              <a:rPr lang="pt-BR" b="1" i="1" dirty="0">
                <a:solidFill>
                  <a:srgbClr val="7030A0"/>
                </a:solidFill>
              </a:rPr>
              <a:t>informação de direção do ponto de mínimo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chemeClr val="accent2"/>
                </a:solidFill>
              </a:rPr>
              <a:t>a partir da função de erro</a:t>
            </a:r>
            <a:r>
              <a:rPr lang="pt-BR" dirty="0"/>
              <a:t> e a usa para </a:t>
            </a:r>
            <a:r>
              <a:rPr lang="pt-BR" b="1" i="1" dirty="0">
                <a:solidFill>
                  <a:srgbClr val="00B050"/>
                </a:solidFill>
              </a:rPr>
              <a:t>atualizar o ponto atual</a:t>
            </a:r>
            <a:r>
              <a:rPr lang="pt-BR" dirty="0"/>
              <a:t> (i.e., otimizar a suposição atual).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o </a:t>
            </a:r>
            <a:r>
              <a:rPr lang="pt-BR" b="1" i="1" dirty="0">
                <a:solidFill>
                  <a:srgbClr val="00B050"/>
                </a:solidFill>
              </a:rPr>
              <a:t>novo ponto </a:t>
            </a:r>
            <a:r>
              <a:rPr lang="pt-BR" dirty="0"/>
              <a:t>(i.e., conjunto de pesos atualizado) resulta em um </a:t>
            </a:r>
            <a:r>
              <a:rPr lang="pt-BR" b="1" i="1" dirty="0">
                <a:solidFill>
                  <a:srgbClr val="00B050"/>
                </a:solidFill>
              </a:rPr>
              <a:t>erro menor do que o anterior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processo é repetido a partir do novo ponto até que algum critério de parada seja atingido.</a:t>
            </a:r>
          </a:p>
        </p:txBody>
      </p:sp>
      <p:pic>
        <p:nvPicPr>
          <p:cNvPr id="32" name="animated_linear_regression">
            <a:hlinkClick r:id="" action="ppaction://media"/>
            <a:extLst>
              <a:ext uri="{FF2B5EF4-FFF2-40B4-BE49-F238E27FC236}">
                <a16:creationId xmlns:a16="http://schemas.microsoft.com/office/drawing/2014/main" xmlns="" id="{66D25972-58E8-79DB-2476-AFDFC171820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4387" y="2052479"/>
            <a:ext cx="5095982" cy="382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54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0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BB36A8-6590-17D8-1A21-CACFBD100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Próximos passos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F22D6CE-63C9-8C53-326D-3596DA5E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12694" cy="5032375"/>
          </a:xfrm>
        </p:spPr>
        <p:txBody>
          <a:bodyPr>
            <a:normAutofit/>
          </a:bodyPr>
          <a:lstStyle/>
          <a:p>
            <a:r>
              <a:rPr lang="pt-BR" dirty="0"/>
              <a:t>Nesse tópico nós vimos o que é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 (ou perda) e definimos uma forma de medi-lo. </a:t>
            </a:r>
          </a:p>
          <a:p>
            <a:r>
              <a:rPr lang="pt-BR" dirty="0"/>
              <a:t>Agora, o próximo passo envolverá a </a:t>
            </a:r>
            <a:r>
              <a:rPr lang="pt-BR" b="1" i="1" dirty="0">
                <a:solidFill>
                  <a:srgbClr val="00B050"/>
                </a:solidFill>
              </a:rPr>
              <a:t>definição de um processo que utilize a informação do erro para gerar o próximo palpite </a:t>
            </a:r>
            <a:r>
              <a:rPr lang="pt-BR" dirty="0"/>
              <a:t>(ou suposição) de forma que ele </a:t>
            </a:r>
            <a:r>
              <a:rPr lang="pt-BR" b="1" i="1" dirty="0">
                <a:solidFill>
                  <a:srgbClr val="00B050"/>
                </a:solidFill>
              </a:rPr>
              <a:t>seja melhor do que o atual</a:t>
            </a:r>
            <a:r>
              <a:rPr lang="pt-BR" dirty="0"/>
              <a:t>.</a:t>
            </a:r>
          </a:p>
          <a:p>
            <a:r>
              <a:rPr lang="pt-BR" dirty="0"/>
              <a:t>Esse processo é chamado de </a:t>
            </a:r>
            <a:r>
              <a:rPr lang="pt-BR" b="1" i="1" dirty="0"/>
              <a:t>otimização </a:t>
            </a:r>
            <a:r>
              <a:rPr lang="pt-BR" dirty="0"/>
              <a:t>e será abordado em breve.</a:t>
            </a:r>
          </a:p>
          <a:p>
            <a:r>
              <a:rPr lang="pt-BR" dirty="0"/>
              <a:t>Mas primeiro, vamos dar uma olhada em um </a:t>
            </a:r>
            <a:r>
              <a:rPr lang="pt-BR" b="1" i="1" dirty="0"/>
              <a:t>exemplo</a:t>
            </a:r>
            <a:r>
              <a:rPr lang="pt-BR" dirty="0"/>
              <a:t> que nos dará uma ideia </a:t>
            </a:r>
            <a:r>
              <a:rPr lang="pt-BR" b="1" i="1" dirty="0"/>
              <a:t>sobre como funciona esse processo de otimização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C6CB0C9-43A4-2741-FE2B-267BDD097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36" y="5440390"/>
            <a:ext cx="2823627" cy="127352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854A71DF-2BE0-4289-9C05-C0F039EA0472}"/>
              </a:ext>
            </a:extLst>
          </p:cNvPr>
          <p:cNvSpPr txBox="1"/>
          <p:nvPr/>
        </p:nvSpPr>
        <p:spPr>
          <a:xfrm>
            <a:off x="5843427" y="5815543"/>
            <a:ext cx="4471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hlinkClick r:id="rId4"/>
              </a:rPr>
              <a:t>Explorando a função de erro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321788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TP557 - Medindo a precisão de um modelo de ML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Encontre os pesos da função hipótese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Agrupar 38">
            <a:extLst>
              <a:ext uri="{FF2B5EF4-FFF2-40B4-BE49-F238E27FC236}">
                <a16:creationId xmlns:a16="http://schemas.microsoft.com/office/drawing/2014/main" xmlns="" id="{5E685139-6069-966B-FDA3-84FF70C86088}"/>
              </a:ext>
            </a:extLst>
          </p:cNvPr>
          <p:cNvGrpSpPr/>
          <p:nvPr/>
        </p:nvGrpSpPr>
        <p:grpSpPr>
          <a:xfrm>
            <a:off x="6096000" y="2755900"/>
            <a:ext cx="5549900" cy="1200149"/>
            <a:chOff x="6096000" y="2755900"/>
            <a:chExt cx="5549900" cy="1200149"/>
          </a:xfrm>
        </p:grpSpPr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xmlns="" id="{E6ADE51B-F5F0-50B9-9081-03D4DE974930}"/>
                </a:ext>
              </a:extLst>
            </p:cNvPr>
            <p:cNvSpPr/>
            <p:nvPr/>
          </p:nvSpPr>
          <p:spPr>
            <a:xfrm>
              <a:off x="60960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9" name="Retângulo: Cantos Arredondados 28">
              <a:extLst>
                <a:ext uri="{FF2B5EF4-FFF2-40B4-BE49-F238E27FC236}">
                  <a16:creationId xmlns:a16="http://schemas.microsoft.com/office/drawing/2014/main" xmlns="" id="{D940D749-1DB6-C701-C5CF-CC3C4BAAA2B1}"/>
                </a:ext>
              </a:extLst>
            </p:cNvPr>
            <p:cNvSpPr/>
            <p:nvPr/>
          </p:nvSpPr>
          <p:spPr>
            <a:xfrm>
              <a:off x="8077200" y="2755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xmlns="" id="{68711CE1-2F1A-4017-F301-880EEE647FF1}"/>
                </a:ext>
              </a:extLst>
            </p:cNvPr>
            <p:cNvSpPr/>
            <p:nvPr/>
          </p:nvSpPr>
          <p:spPr>
            <a:xfrm>
              <a:off x="100584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31" name="Conector de Seta Reta 30">
              <a:extLst>
                <a:ext uri="{FF2B5EF4-FFF2-40B4-BE49-F238E27FC236}">
                  <a16:creationId xmlns:a16="http://schemas.microsoft.com/office/drawing/2014/main" xmlns="" id="{4FFFC850-2670-B7F3-8510-994383D2277D}"/>
                </a:ext>
              </a:extLst>
            </p:cNvPr>
            <p:cNvCxnSpPr>
              <a:cxnSpLocks/>
              <a:stCxn id="28" idx="3"/>
              <a:endCxn id="29" idx="1"/>
            </p:cNvCxnSpPr>
            <p:nvPr/>
          </p:nvCxnSpPr>
          <p:spPr>
            <a:xfrm>
              <a:off x="76835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de Seta Reta 31">
              <a:extLst>
                <a:ext uri="{FF2B5EF4-FFF2-40B4-BE49-F238E27FC236}">
                  <a16:creationId xmlns:a16="http://schemas.microsoft.com/office/drawing/2014/main" xmlns="" id="{0225DCE3-778F-016F-9ED6-491B23819EE0}"/>
                </a:ext>
              </a:extLst>
            </p:cNvPr>
            <p:cNvCxnSpPr>
              <a:cxnSpLocks/>
            </p:cNvCxnSpPr>
            <p:nvPr/>
          </p:nvCxnSpPr>
          <p:spPr>
            <a:xfrm>
              <a:off x="96647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do 32">
              <a:extLst>
                <a:ext uri="{FF2B5EF4-FFF2-40B4-BE49-F238E27FC236}">
                  <a16:creationId xmlns:a16="http://schemas.microsoft.com/office/drawing/2014/main" xmlns="" id="{7B1D31D0-A6F9-D3C2-EA32-0C39FBCDDFD8}"/>
                </a:ext>
              </a:extLst>
            </p:cNvPr>
            <p:cNvCxnSpPr>
              <a:stCxn id="30" idx="2"/>
              <a:endCxn id="28" idx="2"/>
            </p:cNvCxnSpPr>
            <p:nvPr/>
          </p:nvCxnSpPr>
          <p:spPr>
            <a:xfrm rot="5400000">
              <a:off x="8870950" y="16002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xmlns="" id="{2CBBF828-16D7-52D8-6232-E770A830B319}"/>
                </a:ext>
              </a:extLst>
            </p:cNvPr>
            <p:cNvSpPr txBox="1"/>
            <p:nvPr/>
          </p:nvSpPr>
          <p:spPr>
            <a:xfrm>
              <a:off x="6896100" y="3648272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:a16="http://schemas.microsoft.com/office/drawing/2014/main" xmlns="" id="{3427A9E2-3AFA-A87D-3728-FD640A350F46}"/>
              </a:ext>
            </a:extLst>
          </p:cNvPr>
          <p:cNvGrpSpPr/>
          <p:nvPr/>
        </p:nvGrpSpPr>
        <p:grpSpPr>
          <a:xfrm>
            <a:off x="368300" y="596900"/>
            <a:ext cx="5549900" cy="1188938"/>
            <a:chOff x="368300" y="596900"/>
            <a:chExt cx="5549900" cy="1188938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xmlns="" id="{09AC80A3-7692-65F9-9351-F18962A5491D}"/>
                </a:ext>
              </a:extLst>
            </p:cNvPr>
            <p:cNvSpPr/>
            <p:nvPr/>
          </p:nvSpPr>
          <p:spPr>
            <a:xfrm>
              <a:off x="368300" y="5969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xmlns="" id="{FA0966A8-1BF3-C8DE-8779-2E122A343932}"/>
                </a:ext>
              </a:extLst>
            </p:cNvPr>
            <p:cNvSpPr/>
            <p:nvPr/>
          </p:nvSpPr>
          <p:spPr>
            <a:xfrm>
              <a:off x="23495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xmlns="" id="{232E9981-B45D-A800-524D-E74475D2C365}"/>
                </a:ext>
              </a:extLst>
            </p:cNvPr>
            <p:cNvSpPr/>
            <p:nvPr/>
          </p:nvSpPr>
          <p:spPr>
            <a:xfrm>
              <a:off x="43307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xmlns="" id="{E6F82BE2-1BAB-3F9A-FCE0-334FA744F2D4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>
              <a:off x="19558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667C820A-62BC-AE65-5F7F-74C08A0DE146}"/>
                </a:ext>
              </a:extLst>
            </p:cNvPr>
            <p:cNvCxnSpPr>
              <a:cxnSpLocks/>
            </p:cNvCxnSpPr>
            <p:nvPr/>
          </p:nvCxnSpPr>
          <p:spPr>
            <a:xfrm>
              <a:off x="39370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: Angulado 15">
              <a:extLst>
                <a:ext uri="{FF2B5EF4-FFF2-40B4-BE49-F238E27FC236}">
                  <a16:creationId xmlns:a16="http://schemas.microsoft.com/office/drawing/2014/main" xmlns="" id="{8A71928B-DBBF-321B-7A0D-3011AE2D6259}"/>
                </a:ext>
              </a:extLst>
            </p:cNvPr>
            <p:cNvCxnSpPr>
              <a:stCxn id="6" idx="2"/>
              <a:endCxn id="4" idx="2"/>
            </p:cNvCxnSpPr>
            <p:nvPr/>
          </p:nvCxnSpPr>
          <p:spPr>
            <a:xfrm rot="5400000">
              <a:off x="3143250" y="-5588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AD83AB7-C3C7-6FB4-9A67-30F0F4028859}"/>
                </a:ext>
              </a:extLst>
            </p:cNvPr>
            <p:cNvSpPr txBox="1"/>
            <p:nvPr/>
          </p:nvSpPr>
          <p:spPr>
            <a:xfrm>
              <a:off x="1162050" y="147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xmlns="" id="{9CADEF22-2DB6-5516-566F-3ED636D4E808}"/>
              </a:ext>
            </a:extLst>
          </p:cNvPr>
          <p:cNvGrpSpPr/>
          <p:nvPr/>
        </p:nvGrpSpPr>
        <p:grpSpPr>
          <a:xfrm>
            <a:off x="374650" y="4432300"/>
            <a:ext cx="5549900" cy="1163538"/>
            <a:chOff x="374650" y="4432300"/>
            <a:chExt cx="5549900" cy="1163538"/>
          </a:xfrm>
        </p:grpSpPr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xmlns="" id="{DCCDA0D2-6061-15B0-BC53-560EB981381A}"/>
                </a:ext>
              </a:extLst>
            </p:cNvPr>
            <p:cNvSpPr/>
            <p:nvPr/>
          </p:nvSpPr>
          <p:spPr>
            <a:xfrm>
              <a:off x="3746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xmlns="" id="{DB44A420-2619-26B9-3F25-677ADAF8F27D}"/>
                </a:ext>
              </a:extLst>
            </p:cNvPr>
            <p:cNvSpPr/>
            <p:nvPr/>
          </p:nvSpPr>
          <p:spPr>
            <a:xfrm>
              <a:off x="2355850" y="44323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xmlns="" id="{A421792E-EA21-B83B-85A6-6C08D8A12985}"/>
                </a:ext>
              </a:extLst>
            </p:cNvPr>
            <p:cNvSpPr/>
            <p:nvPr/>
          </p:nvSpPr>
          <p:spPr>
            <a:xfrm>
              <a:off x="43370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15627F5F-D2DE-39C5-456D-4CD918271F41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>
              <a:off x="19621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xmlns="" id="{DA460B65-91E8-E67A-6546-DFB3814235E0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: Angulado 25">
              <a:extLst>
                <a:ext uri="{FF2B5EF4-FFF2-40B4-BE49-F238E27FC236}">
                  <a16:creationId xmlns:a16="http://schemas.microsoft.com/office/drawing/2014/main" xmlns="" id="{3FBD8BE1-430E-E41F-F104-C62BB7F6386F}"/>
                </a:ext>
              </a:extLst>
            </p:cNvPr>
            <p:cNvCxnSpPr>
              <a:stCxn id="23" idx="2"/>
              <a:endCxn id="21" idx="2"/>
            </p:cNvCxnSpPr>
            <p:nvPr/>
          </p:nvCxnSpPr>
          <p:spPr>
            <a:xfrm rot="5400000">
              <a:off x="3149600" y="32766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xmlns="" id="{6C09C5AD-FA88-A0E1-065B-C8A1ACED5A9E}"/>
                </a:ext>
              </a:extLst>
            </p:cNvPr>
            <p:cNvSpPr txBox="1"/>
            <p:nvPr/>
          </p:nvSpPr>
          <p:spPr>
            <a:xfrm>
              <a:off x="1162050" y="528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9112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8898</TotalTime>
  <Words>3179</Words>
  <Application>Microsoft Office PowerPoint</Application>
  <PresentationFormat>Widescreen</PresentationFormat>
  <Paragraphs>328</Paragraphs>
  <Slides>38</Slides>
  <Notes>13</Notes>
  <HiddenSlides>0</HiddenSlides>
  <MMClips>1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Medindo a precisão de um modelo de ML</vt:lpstr>
      <vt:lpstr>O que vamos ver?</vt:lpstr>
      <vt:lpstr>Mapeando x em y</vt:lpstr>
      <vt:lpstr>Mapeando x em y: Função hipótese</vt:lpstr>
      <vt:lpstr>Suposição e Predição</vt:lpstr>
      <vt:lpstr>O quão boa é a função hipótese?</vt:lpstr>
      <vt:lpstr>O quão boa é a função hipótese?</vt:lpstr>
      <vt:lpstr>Vamos medir as distâncias!</vt:lpstr>
      <vt:lpstr>Vamos medir as distâncias!</vt:lpstr>
      <vt:lpstr>Temos um problema!</vt:lpstr>
      <vt:lpstr>Quadrado dos comprimentos</vt:lpstr>
      <vt:lpstr>Quadrado dos comprimentos</vt:lpstr>
      <vt:lpstr>Otimizando a suposição</vt:lpstr>
      <vt:lpstr>O quão boa é a nova função hipótese?</vt:lpstr>
      <vt:lpstr>Nova suposição</vt:lpstr>
      <vt:lpstr>O processo</vt:lpstr>
      <vt:lpstr>Outras medidas de erro</vt:lpstr>
      <vt:lpstr>Mean Squared Error – MSE</vt:lpstr>
      <vt:lpstr>Mean Squared Error – MSE</vt:lpstr>
      <vt:lpstr>Mean Squared Error – MSE</vt:lpstr>
      <vt:lpstr>Root Mean Squared Error – RMSE</vt:lpstr>
      <vt:lpstr>Mean Absolute Error – MAE</vt:lpstr>
      <vt:lpstr>Mean Absolute Error – MAE</vt:lpstr>
      <vt:lpstr>Qual devo usar?</vt:lpstr>
      <vt:lpstr>Regressão ou aproximação de funções</vt:lpstr>
      <vt:lpstr>Regressão ou aproximação de funções</vt:lpstr>
      <vt:lpstr>Ponto de mínimo ou solução ótima</vt:lpstr>
      <vt:lpstr>Ponto de mínimo ou solução ótima</vt:lpstr>
      <vt:lpstr>Ponto de mínimo ou solução ótima</vt:lpstr>
      <vt:lpstr>Otimização (treinamento) do modelo</vt:lpstr>
      <vt:lpstr>Otimização (treinamento) do modelo</vt:lpstr>
      <vt:lpstr>Gradiente descendente</vt:lpstr>
      <vt:lpstr>Gradiente descendente</vt:lpstr>
      <vt:lpstr>Próximos passos</vt:lpstr>
      <vt:lpstr>Atividades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1820</cp:revision>
  <dcterms:created xsi:type="dcterms:W3CDTF">2020-01-20T13:50:05Z</dcterms:created>
  <dcterms:modified xsi:type="dcterms:W3CDTF">2025-04-01T01:48:33Z</dcterms:modified>
</cp:coreProperties>
</file>