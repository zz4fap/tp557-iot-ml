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406" r:id="rId3"/>
    <p:sldId id="420" r:id="rId4"/>
    <p:sldId id="422" r:id="rId5"/>
    <p:sldId id="421" r:id="rId6"/>
    <p:sldId id="423" r:id="rId7"/>
    <p:sldId id="424" r:id="rId8"/>
    <p:sldId id="425" r:id="rId9"/>
    <p:sldId id="426" r:id="rId10"/>
    <p:sldId id="427" r:id="rId11"/>
    <p:sldId id="450" r:id="rId12"/>
    <p:sldId id="428" r:id="rId13"/>
    <p:sldId id="432" r:id="rId14"/>
    <p:sldId id="433" r:id="rId15"/>
    <p:sldId id="443" r:id="rId16"/>
    <p:sldId id="429" r:id="rId17"/>
    <p:sldId id="439" r:id="rId18"/>
    <p:sldId id="444" r:id="rId19"/>
    <p:sldId id="440" r:id="rId20"/>
    <p:sldId id="441" r:id="rId21"/>
    <p:sldId id="445" r:id="rId22"/>
    <p:sldId id="442" r:id="rId23"/>
    <p:sldId id="436" r:id="rId24"/>
    <p:sldId id="446" r:id="rId25"/>
    <p:sldId id="438" r:id="rId26"/>
    <p:sldId id="447" r:id="rId27"/>
    <p:sldId id="435" r:id="rId28"/>
    <p:sldId id="448" r:id="rId29"/>
    <p:sldId id="434" r:id="rId30"/>
    <p:sldId id="449" r:id="rId31"/>
    <p:sldId id="431" r:id="rId32"/>
    <p:sldId id="405" r:id="rId33"/>
    <p:sldId id="293" r:id="rId34"/>
    <p:sldId id="306" r:id="rId35"/>
    <p:sldId id="430" r:id="rId36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8" autoAdjust="0"/>
    <p:restoredTop sz="84625" autoAdjust="0"/>
  </p:normalViewPr>
  <p:slideViewPr>
    <p:cSldViewPr snapToGrid="0">
      <p:cViewPr varScale="1">
        <p:scale>
          <a:sx n="93" d="100"/>
          <a:sy n="93" d="100"/>
        </p:scale>
        <p:origin x="1494" y="90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26/03/2025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238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RMSE: É a distância euclidiana a menos de uma constante multiplicativa (mais fácil compreender a intuição geométrica).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004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i="0" dirty="0" err="1">
                <a:effectLst/>
                <a:latin typeface="Söhne"/>
              </a:rPr>
              <a:t>Mean</a:t>
            </a:r>
            <a:r>
              <a:rPr lang="pt-BR" b="1" i="0" dirty="0">
                <a:effectLst/>
                <a:latin typeface="Söhne"/>
              </a:rPr>
              <a:t> </a:t>
            </a:r>
            <a:r>
              <a:rPr lang="pt-BR" b="1" i="0" dirty="0" err="1">
                <a:effectLst/>
                <a:latin typeface="Söhne"/>
              </a:rPr>
              <a:t>Squared</a:t>
            </a:r>
            <a:r>
              <a:rPr lang="pt-BR" b="1" i="0" dirty="0">
                <a:effectLst/>
                <a:latin typeface="Söhne"/>
              </a:rPr>
              <a:t> </a:t>
            </a:r>
            <a:r>
              <a:rPr lang="pt-BR" b="1" i="0" dirty="0" err="1">
                <a:effectLst/>
                <a:latin typeface="Söhne"/>
              </a:rPr>
              <a:t>Error</a:t>
            </a:r>
            <a:r>
              <a:rPr lang="pt-BR" b="1" i="0" dirty="0">
                <a:effectLst/>
                <a:latin typeface="Söhne"/>
              </a:rPr>
              <a:t> (MSE):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MSE é a escolha tradicional para problemas de regressão. Ele calcula a média dos quadrados das diferenças entre as previsões do modelo e os valores reais. O MSE penaliza mais erros maiores, o que pode ser útil se você deseja que o modelo seja mais sensível a erros maiores. No entanto, como o erro é elevado ao quadrado, o MSE pode amplificar a influência de outliers.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183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i="0" dirty="0" err="1">
                <a:effectLst/>
                <a:latin typeface="Söhne"/>
              </a:rPr>
              <a:t>Mean</a:t>
            </a:r>
            <a:r>
              <a:rPr lang="pt-BR" b="1" i="0" dirty="0">
                <a:effectLst/>
                <a:latin typeface="Söhne"/>
              </a:rPr>
              <a:t> </a:t>
            </a:r>
            <a:r>
              <a:rPr lang="pt-BR" b="1" i="0" dirty="0" err="1">
                <a:effectLst/>
                <a:latin typeface="Söhne"/>
              </a:rPr>
              <a:t>Squared</a:t>
            </a:r>
            <a:r>
              <a:rPr lang="pt-BR" b="1" i="0" dirty="0">
                <a:effectLst/>
                <a:latin typeface="Söhne"/>
              </a:rPr>
              <a:t> </a:t>
            </a:r>
            <a:r>
              <a:rPr lang="pt-BR" b="1" i="0" dirty="0" err="1">
                <a:effectLst/>
                <a:latin typeface="Söhne"/>
              </a:rPr>
              <a:t>Error</a:t>
            </a:r>
            <a:r>
              <a:rPr lang="pt-BR" b="1" i="0" dirty="0">
                <a:effectLst/>
                <a:latin typeface="Söhne"/>
              </a:rPr>
              <a:t> (MSE):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MSE é a escolha tradicional para problemas de regressão. Ele calcula a média dos quadrados das diferenças entre as previsões do modelo e os valores reais. O MSE penaliza mais erros maiores, o que pode ser útil se você deseja que o modelo seja mais sensível a erros maiores. No entanto, como o erro é elevado ao quadrado, o MSE pode amplificar a influência de outliers.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586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i="0" dirty="0" err="1">
                <a:effectLst/>
                <a:latin typeface="Söhne"/>
              </a:rPr>
              <a:t>Mean</a:t>
            </a:r>
            <a:r>
              <a:rPr lang="pt-BR" b="1" i="0" dirty="0">
                <a:effectLst/>
                <a:latin typeface="Söhne"/>
              </a:rPr>
              <a:t> </a:t>
            </a:r>
            <a:r>
              <a:rPr lang="pt-BR" b="1" i="0" dirty="0" err="1">
                <a:effectLst/>
                <a:latin typeface="Söhne"/>
              </a:rPr>
              <a:t>Squared</a:t>
            </a:r>
            <a:r>
              <a:rPr lang="pt-BR" b="1" i="0" dirty="0">
                <a:effectLst/>
                <a:latin typeface="Söhne"/>
              </a:rPr>
              <a:t> </a:t>
            </a:r>
            <a:r>
              <a:rPr lang="pt-BR" b="1" i="0" dirty="0" err="1">
                <a:effectLst/>
                <a:latin typeface="Söhne"/>
              </a:rPr>
              <a:t>Error</a:t>
            </a:r>
            <a:r>
              <a:rPr lang="pt-BR" b="1" i="0" dirty="0">
                <a:effectLst/>
                <a:latin typeface="Söhne"/>
              </a:rPr>
              <a:t> (MSE):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MSE é a escolha tradicional para problemas de regressão. Ele calcula a média dos quadrados das diferenças entre as previsões do modelo e os valores reais. O MSE penaliza mais erros maiores, o que pode ser útil se você deseja que o modelo seja mais sensível a erros maiores. No entanto, como o erro é elevado ao quadrado, o MSE pode amplificar a influência de outliers.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472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i="0" dirty="0" err="1">
                <a:effectLst/>
                <a:latin typeface="Söhne"/>
              </a:rPr>
              <a:t>Mean</a:t>
            </a:r>
            <a:r>
              <a:rPr lang="pt-BR" b="1" i="0" dirty="0">
                <a:effectLst/>
                <a:latin typeface="Söhne"/>
              </a:rPr>
              <a:t> </a:t>
            </a:r>
            <a:r>
              <a:rPr lang="pt-BR" b="1" i="0" dirty="0" err="1">
                <a:effectLst/>
                <a:latin typeface="Söhne"/>
              </a:rPr>
              <a:t>Squared</a:t>
            </a:r>
            <a:r>
              <a:rPr lang="pt-BR" b="1" i="0" dirty="0">
                <a:effectLst/>
                <a:latin typeface="Söhne"/>
              </a:rPr>
              <a:t> </a:t>
            </a:r>
            <a:r>
              <a:rPr lang="pt-BR" b="1" i="0" dirty="0" err="1">
                <a:effectLst/>
                <a:latin typeface="Söhne"/>
              </a:rPr>
              <a:t>Error</a:t>
            </a:r>
            <a:r>
              <a:rPr lang="pt-BR" b="1" i="0" dirty="0">
                <a:effectLst/>
                <a:latin typeface="Söhne"/>
              </a:rPr>
              <a:t> (MSE):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MSE é a escolha tradicional para problemas de regressão. Ele calcula a média dos quadrados das diferenças entre as previsões do modelo e os valores reais. O MSE penaliza mais erros maiores, o que pode ser útil se você deseja que o modelo seja mais sensível a erros maiores. No entanto, como o erro é elevado ao quadrado, o MSE pode amplificar a influência de outliers.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249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i="0" dirty="0" err="1">
                <a:effectLst/>
                <a:latin typeface="Söhne"/>
              </a:rPr>
              <a:t>Mean</a:t>
            </a:r>
            <a:r>
              <a:rPr lang="pt-BR" b="1" i="0" dirty="0">
                <a:effectLst/>
                <a:latin typeface="Söhne"/>
              </a:rPr>
              <a:t> </a:t>
            </a:r>
            <a:r>
              <a:rPr lang="pt-BR" b="1" i="0" dirty="0" err="1">
                <a:effectLst/>
                <a:latin typeface="Söhne"/>
              </a:rPr>
              <a:t>Squared</a:t>
            </a:r>
            <a:r>
              <a:rPr lang="pt-BR" b="1" i="0" dirty="0">
                <a:effectLst/>
                <a:latin typeface="Söhne"/>
              </a:rPr>
              <a:t> </a:t>
            </a:r>
            <a:r>
              <a:rPr lang="pt-BR" b="1" i="0" dirty="0" err="1">
                <a:effectLst/>
                <a:latin typeface="Söhne"/>
              </a:rPr>
              <a:t>Error</a:t>
            </a:r>
            <a:r>
              <a:rPr lang="pt-BR" b="1" i="0" dirty="0">
                <a:effectLst/>
                <a:latin typeface="Söhne"/>
              </a:rPr>
              <a:t> (MSE):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MSE é a escolha tradicional para problemas de regressão. Ele calcula a média dos quadrados das diferenças entre as previsões do modelo e os valores reais. O MSE penaliza mais erros maiores, o que pode ser útil se você deseja que o modelo seja mais sensível a erros maiores. No entanto, como o erro é elevado ao quadrado, o MSE pode amplificar a influência de outliers.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67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partir de um ponto inicial (i.e., uma suposição aleatória de pesos), o algoritmo extrai a informação de direção do ponto de mínimo a partir da função de erro e a usa para atualizar o ponto (i.e., otimizar a suposição atual) </a:t>
            </a:r>
          </a:p>
          <a:p>
            <a:r>
              <a:rPr lang="pt-BR" dirty="0"/>
              <a:t>Em geral, o novo ponto (i.e., conjunto de pesos) resulta em um erro menor do que o anterior.</a:t>
            </a:r>
          </a:p>
          <a:p>
            <a:r>
              <a:rPr lang="pt-BR" dirty="0"/>
              <a:t>Esse processo é repetido a partir do ponto corrente até que o erro seja minimizado.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partir de um ponto inicial (i.e., conjunto de pesos aleatórios), a cada iteração (i.e., suposição) do algoritmo, tem-se, em geral, um conjunto de pesos que resulta em um erro menor do que o anterior.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(i.e., conjunto de pesos aleatórios), a cada iteração (i.e., suposição) do algoritmo, tem-se, em geral, um conjunto de pesos que resulta em um erro menor do que o anterior.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3718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partir de um ponto inicial (i.e., uma suposição aleatória de pesos), o algoritmo extrai a informação de direção do ponto de mínimo a partir da função de erro e a usa para atualizar o ponto (i.e., otimizar a suposição atual) </a:t>
            </a:r>
          </a:p>
          <a:p>
            <a:r>
              <a:rPr lang="pt-BR" dirty="0"/>
              <a:t>Em geral, o novo ponto (i.e., conjunto de pesos) resulta em um erro menor do que o anterior.</a:t>
            </a:r>
          </a:p>
          <a:p>
            <a:r>
              <a:rPr lang="pt-BR" dirty="0"/>
              <a:t>Esse processo é repetido a partir do ponto corrente até que o erro seja minimizado.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partir de um ponto inicial (i.e., conjunto de pesos aleatórios), a cada iteração (i.e., suposição) do algoritmo, tem-se, em geral, um conjunto de pesos que resulta em um erro menor do que o anterior.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(i.e., conjunto de pesos aleatórios), a cada iteração (i.e., suposição) do algoritmo, tem-se, em geral, um conjunto de pesos que resulta em um erro menor do que o anterior.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10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https://colab.research.google.com/github/zz4fap/tp557-iot-ml/blob/master/examples/Explorando_a_fun%C3%A7%C3%A3o_de_erro.ipynb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672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92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openxmlformats.org/officeDocument/2006/relationships/image" Target="../media/image29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9.png"/><Relationship Id="rId4" Type="http://schemas.openxmlformats.org/officeDocument/2006/relationships/image" Target="../media/image2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19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8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45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261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image" Target="../media/image45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26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.png"/><Relationship Id="rId4" Type="http://schemas.openxmlformats.org/officeDocument/2006/relationships/image" Target="../media/image4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5" Type="http://schemas.openxmlformats.org/officeDocument/2006/relationships/image" Target="../media/image570.png"/><Relationship Id="rId4" Type="http://schemas.openxmlformats.org/officeDocument/2006/relationships/image" Target="../media/image5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5" Type="http://schemas.openxmlformats.org/officeDocument/2006/relationships/image" Target="../media/image570.png"/><Relationship Id="rId4" Type="http://schemas.openxmlformats.org/officeDocument/2006/relationships/image" Target="../media/image5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0.png"/><Relationship Id="rId5" Type="http://schemas.openxmlformats.org/officeDocument/2006/relationships/image" Target="../media/image560.png"/><Relationship Id="rId4" Type="http://schemas.openxmlformats.org/officeDocument/2006/relationships/image" Target="../media/image5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0.png"/><Relationship Id="rId4" Type="http://schemas.openxmlformats.org/officeDocument/2006/relationships/notesSlide" Target="../notesSlides/notesSlide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github/zz4fap/tp557-iot-ml/blob/master/examples/Explorando_a_fun%C3%A7%C3%A3o_de_erro.ipynb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ercises/Exerc%C3%ADcio_Encontre_os_pesos_da_fun%C3%A7%C3%A3o_hip%C3%B3tese.ipynb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 fontScale="90000"/>
          </a:bodyPr>
          <a:lstStyle/>
          <a:p>
            <a:r>
              <a:rPr lang="pt-BR" sz="5400" dirty="0"/>
              <a:t>TP557 - Tópicos avançados em IoT e </a:t>
            </a:r>
            <a:r>
              <a:rPr lang="pt-BR" sz="5400" dirty="0" err="1"/>
              <a:t>Machine</a:t>
            </a:r>
            <a:r>
              <a:rPr lang="pt-BR" sz="5400" dirty="0"/>
              <a:t> Learning:</a:t>
            </a:r>
            <a:br>
              <a:rPr lang="pt-BR" dirty="0"/>
            </a:br>
            <a:r>
              <a:rPr lang="pt-BR" b="1" i="1" dirty="0"/>
              <a:t>Medindo a precisão de um modelo de ML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:a16="http://schemas.microsoft.com/office/drawing/2014/main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B3FED-5D1A-7084-5333-A3B2FA75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vamos ver?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FE7774-7186-A846-D8DE-518B2CBF4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10646" cy="5032376"/>
          </a:xfrm>
        </p:spPr>
        <p:txBody>
          <a:bodyPr>
            <a:normAutofit/>
          </a:bodyPr>
          <a:lstStyle/>
          <a:p>
            <a:r>
              <a:rPr lang="pt-BR" dirty="0"/>
              <a:t>Neste tópico vamos ver como </a:t>
            </a:r>
            <a:r>
              <a:rPr lang="pt-BR" b="1" i="1" dirty="0">
                <a:solidFill>
                  <a:srgbClr val="7030A0"/>
                </a:solidFill>
              </a:rPr>
              <a:t>medir o desempenho </a:t>
            </a:r>
            <a:r>
              <a:rPr lang="pt-BR" dirty="0"/>
              <a:t>de um </a:t>
            </a:r>
            <a:r>
              <a:rPr lang="pt-BR" b="1" i="1" dirty="0">
                <a:solidFill>
                  <a:srgbClr val="00B050"/>
                </a:solidFill>
              </a:rPr>
              <a:t>modelo de aprendizado de máquina</a:t>
            </a:r>
            <a:r>
              <a:rPr lang="pt-BR" dirty="0"/>
              <a:t> ao longo do seu processo de aprendizagem.</a:t>
            </a:r>
          </a:p>
          <a:p>
            <a:r>
              <a:rPr lang="pt-BR" dirty="0"/>
              <a:t>Para isso, como já discutido brevemente antes, usaremos uma função chamada de </a:t>
            </a:r>
            <a:r>
              <a:rPr lang="pt-BR" b="1" i="1" dirty="0">
                <a:solidFill>
                  <a:srgbClr val="00B050"/>
                </a:solidFill>
              </a:rPr>
              <a:t>função de erro </a:t>
            </a:r>
            <a:r>
              <a:rPr lang="pt-BR" dirty="0"/>
              <a:t>ou de </a:t>
            </a:r>
            <a:r>
              <a:rPr lang="pt-BR" b="1" i="1" dirty="0">
                <a:solidFill>
                  <a:srgbClr val="00B050"/>
                </a:solidFill>
              </a:rPr>
              <a:t>perda</a:t>
            </a:r>
            <a:r>
              <a:rPr lang="pt-BR" dirty="0"/>
              <a:t>.</a:t>
            </a:r>
          </a:p>
          <a:p>
            <a:r>
              <a:rPr lang="pt-BR" dirty="0"/>
              <a:t>Idealmente, o </a:t>
            </a:r>
            <a:r>
              <a:rPr lang="pt-BR" b="1" i="1" dirty="0">
                <a:solidFill>
                  <a:srgbClr val="00B050"/>
                </a:solidFill>
              </a:rPr>
              <a:t>processo de treinamento </a:t>
            </a:r>
            <a:r>
              <a:rPr lang="pt-BR" dirty="0"/>
              <a:t>tem como </a:t>
            </a:r>
            <a:r>
              <a:rPr lang="pt-BR" b="1" i="1" dirty="0">
                <a:solidFill>
                  <a:srgbClr val="00B050"/>
                </a:solidFill>
              </a:rPr>
              <a:t>objetivo minimizar o erro</a:t>
            </a:r>
            <a:r>
              <a:rPr lang="pt-BR" dirty="0"/>
              <a:t> e, consequentemente, </a:t>
            </a:r>
            <a:r>
              <a:rPr lang="pt-BR" b="1" i="1" dirty="0">
                <a:solidFill>
                  <a:srgbClr val="00B050"/>
                </a:solidFill>
              </a:rPr>
              <a:t>melhorar o desempenho do modelo</a:t>
            </a:r>
            <a:r>
              <a:rPr lang="pt-BR" dirty="0"/>
              <a:t>.</a:t>
            </a:r>
          </a:p>
          <a:p>
            <a:r>
              <a:rPr lang="pt-BR" dirty="0"/>
              <a:t>Além disso, veremos em breve </a:t>
            </a:r>
            <a:r>
              <a:rPr lang="pt-BR" b="1" i="1" dirty="0">
                <a:solidFill>
                  <a:srgbClr val="00B050"/>
                </a:solidFill>
              </a:rPr>
              <a:t>diferentes estratégias para minimizar o erro</a:t>
            </a:r>
            <a:r>
              <a:rPr lang="pt-BR" dirty="0"/>
              <a:t>.</a:t>
            </a:r>
          </a:p>
          <a:p>
            <a:r>
              <a:rPr lang="pt-BR" dirty="0"/>
              <a:t>Porém, primeiro, vamos aprender como calcular o erro.</a:t>
            </a:r>
          </a:p>
        </p:txBody>
      </p:sp>
    </p:spTree>
    <p:extLst>
      <p:ext uri="{BB962C8B-B14F-4D97-AF65-F5344CB8AC3E}">
        <p14:creationId xmlns:p14="http://schemas.microsoft.com/office/powerpoint/2010/main" val="52973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EBBFACCC-402D-F8EB-8DF6-A01AC2F114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Mapeando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em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pt-BR" b="1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EBBFACCC-402D-F8EB-8DF6-A01AC2F11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74AB04A-D8D2-BC7E-F4F7-97B83877B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1192" y="1825624"/>
                <a:ext cx="6760396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Considerem esses dois conjuntos de números.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Entradas e suas respectivas saídas esperadas.</a:t>
                </a:r>
              </a:p>
              <a:p>
                <a:r>
                  <a:rPr lang="pt-BR" dirty="0"/>
                  <a:t>Qual a relação entre os dois conjuntos?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Ou seja, qual é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que mapeia </a:t>
                </a:r>
                <a:r>
                  <a:rPr lang="pt-BR" dirty="0"/>
                  <a:t>os valores de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em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pt-BR" dirty="0"/>
                  <a:t>?</a:t>
                </a:r>
              </a:p>
              <a:p>
                <a:r>
                  <a:rPr lang="pt-BR" dirty="0"/>
                  <a:t>Nós sabemos que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pt-BR" dirty="0"/>
                  <a:t> é uma função de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, nós só não sabemos que função é essa.</a:t>
                </a:r>
              </a:p>
              <a:p>
                <a:r>
                  <a:rPr lang="pt-BR" dirty="0"/>
                  <a:t>Que tal plotarmos esses pontos?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74AB04A-D8D2-BC7E-F4F7-97B83877B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1192" y="1825624"/>
                <a:ext cx="6760396" cy="5032375"/>
              </a:xfrm>
              <a:blipFill>
                <a:blip r:embed="rId3"/>
                <a:stretch>
                  <a:fillRect l="-1623" t="-1937" r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57B0757-0010-3DDB-7F4D-4E0B92E0088F}"/>
                  </a:ext>
                </a:extLst>
              </p:cNvPr>
              <p:cNvSpPr txBox="1"/>
              <p:nvPr/>
            </p:nvSpPr>
            <p:spPr>
              <a:xfrm>
                <a:off x="838200" y="1947542"/>
                <a:ext cx="4275711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−1, 0, 1, 2, 3, 4</m:t>
                          </m:r>
                        </m:e>
                      </m:d>
                    </m:oMath>
                  </m:oMathPara>
                </a14:m>
                <a:endParaRPr lang="pt-BR" sz="3200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−3, −1, 1, 3, 5, 7</m:t>
                          </m:r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57B0757-0010-3DDB-7F4D-4E0B92E00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47542"/>
                <a:ext cx="4275711" cy="10772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266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EBBFACCC-402D-F8EB-8DF6-A01AC2F114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Mapeando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em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pt-BR" dirty="0"/>
                  <a:t>: Função hipótese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EBBFACCC-402D-F8EB-8DF6-A01AC2F11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74AB04A-D8D2-BC7E-F4F7-97B83877B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0786" y="1825624"/>
                <a:ext cx="640080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Ao plotarmos os pontos, percebemos que existe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relação linear </a:t>
                </a:r>
                <a:r>
                  <a:rPr lang="pt-BR" dirty="0"/>
                  <a:t>entre eles.</a:t>
                </a:r>
              </a:p>
              <a:p>
                <a:r>
                  <a:rPr lang="pt-BR" dirty="0"/>
                  <a:t>Podemos </a:t>
                </a:r>
                <a:r>
                  <a:rPr lang="pt-BR" b="1" i="1" dirty="0" err="1">
                    <a:solidFill>
                      <a:srgbClr val="00B050"/>
                    </a:solidFill>
                  </a:rPr>
                  <a:t>hipotetizar</a:t>
                </a:r>
                <a:r>
                  <a:rPr lang="pt-BR" dirty="0"/>
                  <a:t> que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reta</a:t>
                </a:r>
                <a:r>
                  <a:rPr lang="pt-BR" dirty="0"/>
                  <a:t> explica esse mapeamento.</a:t>
                </a:r>
              </a:p>
              <a:p>
                <a:r>
                  <a:rPr lang="pt-BR" dirty="0"/>
                  <a:t>Portanto, usamos a função de uma reta para definir o mapeamento: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0" dirty="0"/>
              </a:p>
              <a:p>
                <a:r>
                  <a:rPr lang="pt-BR" dirty="0"/>
                  <a:t>Agora precisamos encontrar os valores dos parâmetros (ou pesos)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74AB04A-D8D2-BC7E-F4F7-97B83877B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0786" y="1825624"/>
                <a:ext cx="6400801" cy="5032375"/>
              </a:xfrm>
              <a:blipFill>
                <a:blip r:embed="rId3"/>
                <a:stretch>
                  <a:fillRect l="-1714" t="-1937" r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57B0757-0010-3DDB-7F4D-4E0B92E0088F}"/>
                  </a:ext>
                </a:extLst>
              </p:cNvPr>
              <p:cNvSpPr txBox="1"/>
              <p:nvPr/>
            </p:nvSpPr>
            <p:spPr>
              <a:xfrm>
                <a:off x="766281" y="1690688"/>
                <a:ext cx="4275711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−1, 0, 1, 2, 3, 4</m:t>
                          </m:r>
                        </m:e>
                      </m:d>
                    </m:oMath>
                  </m:oMathPara>
                </a14:m>
                <a:endParaRPr lang="pt-BR" sz="3200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−3, −1, 1, 3, 5, 7</m:t>
                          </m:r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57B0757-0010-3DDB-7F4D-4E0B92E00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81" y="1690688"/>
                <a:ext cx="4275711" cy="10772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2F929B73-2163-E9DA-DD98-A24E44354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22" y="3262831"/>
            <a:ext cx="4528670" cy="3519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4D0DA7D0-9DF9-2C08-3122-405034D987C4}"/>
              </a:ext>
            </a:extLst>
          </p:cNvPr>
          <p:cNvSpPr/>
          <p:nvPr/>
        </p:nvSpPr>
        <p:spPr>
          <a:xfrm>
            <a:off x="2777657" y="2835474"/>
            <a:ext cx="359596" cy="4273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99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69B24-439F-2623-4569-4FB2DD7B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Suposição e Predição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7659DC9-1554-0C0A-78CF-76B7B51210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15183" y="1825624"/>
                <a:ext cx="5746677" cy="5032375"/>
              </a:xfrm>
            </p:spPr>
            <p:txBody>
              <a:bodyPr/>
              <a:lstStyle/>
              <a:p>
                <a:r>
                  <a:rPr lang="pt-BR" dirty="0"/>
                  <a:t>Vamos começar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atribuindo</a:t>
                </a:r>
                <a:r>
                  <a:rPr lang="pt-BR" dirty="0"/>
                  <a:t> alguns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valores aleatórios para os pesos</a:t>
                </a:r>
                <a:r>
                  <a:rPr lang="pt-B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dirty="0"/>
                  <a:t>), ou seja, vamos fazer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suposição</a:t>
                </a:r>
                <a:r>
                  <a:rPr lang="pt-BR" dirty="0"/>
                  <a:t> (dar um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palpite</a:t>
                </a:r>
                <a:r>
                  <a:rPr lang="pt-BR" dirty="0"/>
                  <a:t>) sobre os valores.</a:t>
                </a:r>
              </a:p>
              <a:p>
                <a:r>
                  <a:rPr lang="pt-BR" dirty="0"/>
                  <a:t>Como medimos se essa função hipótese é boa ou ruim?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Usamos os valores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para obter o mapeamento (i.e., predição) feito pela função e comparamos com os valores de saída esperados,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7659DC9-1554-0C0A-78CF-76B7B51210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15183" y="1825624"/>
                <a:ext cx="5746677" cy="5032375"/>
              </a:xfrm>
              <a:blipFill>
                <a:blip r:embed="rId2"/>
                <a:stretch>
                  <a:fillRect l="-1909" t="-1937" r="-5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3AA0FD9-5618-1CB1-C45C-EC822823FCE6}"/>
                  </a:ext>
                </a:extLst>
              </p:cNvPr>
              <p:cNvSpPr txBox="1"/>
              <p:nvPr/>
            </p:nvSpPr>
            <p:spPr>
              <a:xfrm>
                <a:off x="838200" y="2096196"/>
                <a:ext cx="556403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])=−1+3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3AA0FD9-5618-1CB1-C45C-EC822823F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96196"/>
                <a:ext cx="556403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E383BC1-E520-56B2-9887-35520FE0D236}"/>
                  </a:ext>
                </a:extLst>
              </p:cNvPr>
              <p:cNvSpPr txBox="1"/>
              <p:nvPr/>
            </p:nvSpPr>
            <p:spPr>
              <a:xfrm>
                <a:off x="838200" y="2844225"/>
                <a:ext cx="42757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1, 0, 1, 2, 3, 4</m:t>
                          </m:r>
                        </m:e>
                      </m:d>
                    </m:oMath>
                  </m:oMathPara>
                </a14:m>
                <a:endParaRPr lang="pt-BR" sz="32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E383BC1-E520-56B2-9887-35520FE0D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44225"/>
                <a:ext cx="427571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8F642AB-5781-6ABA-EEA1-91ACFE4297E4}"/>
                  </a:ext>
                </a:extLst>
              </p:cNvPr>
              <p:cNvSpPr txBox="1"/>
              <p:nvPr/>
            </p:nvSpPr>
            <p:spPr>
              <a:xfrm>
                <a:off x="838200" y="4188868"/>
                <a:ext cx="48845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algn="just">
                  <a:defRPr sz="3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b="0" i="0" smtClean="0"/>
                            <m:t>−</m:t>
                          </m:r>
                          <m:r>
                            <m:rPr>
                              <m:nor/>
                            </m:rPr>
                            <a:rPr lang="pt-BR" b="0" i="0"/>
                            <m:t>4, −1, 2, 5, 8, 11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8F642AB-5781-6ABA-EEA1-91ACFE429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88868"/>
                <a:ext cx="488450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80045694-BE57-1C2E-0CCC-44F6CB26F7D2}"/>
              </a:ext>
            </a:extLst>
          </p:cNvPr>
          <p:cNvSpPr txBox="1"/>
          <p:nvPr/>
        </p:nvSpPr>
        <p:spPr>
          <a:xfrm>
            <a:off x="838200" y="3788758"/>
            <a:ext cx="5038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Predições feitas pela função hipótese atual: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B7679470-3B67-4D52-F73A-2C0E039620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94" y="5392183"/>
            <a:ext cx="5564039" cy="125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65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69B24-439F-2623-4569-4FB2DD7B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quão boa é a função hipótese?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659DC9-1554-0C0A-78CF-76B7B5121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9296" y="1825624"/>
            <a:ext cx="5500096" cy="5032375"/>
          </a:xfrm>
        </p:spPr>
        <p:txBody>
          <a:bodyPr/>
          <a:lstStyle/>
          <a:p>
            <a:r>
              <a:rPr lang="pt-BR" dirty="0"/>
              <a:t>Vemos que os </a:t>
            </a:r>
            <a:r>
              <a:rPr lang="pt-BR" b="1" i="1" dirty="0">
                <a:solidFill>
                  <a:srgbClr val="00B050"/>
                </a:solidFill>
              </a:rPr>
              <a:t>valores</a:t>
            </a:r>
            <a:r>
              <a:rPr lang="pt-BR" dirty="0"/>
              <a:t> preditos e esperados </a:t>
            </a:r>
            <a:r>
              <a:rPr lang="pt-BR" b="1" i="1" dirty="0">
                <a:solidFill>
                  <a:srgbClr val="00B050"/>
                </a:solidFill>
              </a:rPr>
              <a:t>não são os mesmos</a:t>
            </a:r>
            <a:r>
              <a:rPr lang="pt-BR" dirty="0"/>
              <a:t>.</a:t>
            </a:r>
          </a:p>
          <a:p>
            <a:r>
              <a:rPr lang="pt-BR" dirty="0"/>
              <a:t>Os três primeiros valores até são próximos, mas os últimos três já estão mais distantes.</a:t>
            </a:r>
          </a:p>
          <a:p>
            <a:r>
              <a:rPr lang="pt-BR" dirty="0"/>
              <a:t>Existe uma maneira de </a:t>
            </a:r>
            <a:r>
              <a:rPr lang="pt-BR" b="1" i="1" dirty="0">
                <a:solidFill>
                  <a:srgbClr val="7030A0"/>
                </a:solidFill>
              </a:rPr>
              <a:t>formalizarmos</a:t>
            </a:r>
            <a:r>
              <a:rPr lang="pt-BR" dirty="0"/>
              <a:t> um </a:t>
            </a:r>
            <a:r>
              <a:rPr lang="pt-BR" b="1" i="1" dirty="0">
                <a:solidFill>
                  <a:srgbClr val="00B050"/>
                </a:solidFill>
              </a:rPr>
              <a:t>cálculo do quão bom ou ruim </a:t>
            </a:r>
            <a:r>
              <a:rPr lang="pt-BR" dirty="0"/>
              <a:t>essa função hipótese e suas predições são?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3AA0FD9-5618-1CB1-C45C-EC822823FCE6}"/>
                  </a:ext>
                </a:extLst>
              </p:cNvPr>
              <p:cNvSpPr txBox="1"/>
              <p:nvPr/>
            </p:nvSpPr>
            <p:spPr>
              <a:xfrm>
                <a:off x="838199" y="1677096"/>
                <a:ext cx="538843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3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=−1+3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3AA0FD9-5618-1CB1-C45C-EC822823F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77096"/>
                <a:ext cx="5388430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E383BC1-E520-56B2-9887-35520FE0D236}"/>
                  </a:ext>
                </a:extLst>
              </p:cNvPr>
              <p:cNvSpPr txBox="1"/>
              <p:nvPr/>
            </p:nvSpPr>
            <p:spPr>
              <a:xfrm>
                <a:off x="838200" y="2298125"/>
                <a:ext cx="42757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1, 0, 1, 2, 3, 4</m:t>
                          </m:r>
                        </m:e>
                      </m:d>
                    </m:oMath>
                  </m:oMathPara>
                </a14:m>
                <a:endParaRPr lang="pt-BR" sz="32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E383BC1-E520-56B2-9887-35520FE0D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98125"/>
                <a:ext cx="427571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8F642AB-5781-6ABA-EEA1-91ACFE4297E4}"/>
                  </a:ext>
                </a:extLst>
              </p:cNvPr>
              <p:cNvSpPr txBox="1"/>
              <p:nvPr/>
            </p:nvSpPr>
            <p:spPr>
              <a:xfrm>
                <a:off x="838200" y="3528468"/>
                <a:ext cx="48845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algn="just">
                  <a:defRPr sz="3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b="0" i="0" smtClean="0"/>
                            <m:t>−</m:t>
                          </m:r>
                          <m:r>
                            <m:rPr>
                              <m:nor/>
                            </m:rPr>
                            <a:rPr lang="pt-BR" b="0" i="0"/>
                            <m:t>4, −1, 2, 5, 8, 11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8F642AB-5781-6ABA-EEA1-91ACFE429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28468"/>
                <a:ext cx="488450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80045694-BE57-1C2E-0CCC-44F6CB26F7D2}"/>
              </a:ext>
            </a:extLst>
          </p:cNvPr>
          <p:cNvSpPr txBox="1"/>
          <p:nvPr/>
        </p:nvSpPr>
        <p:spPr>
          <a:xfrm>
            <a:off x="838200" y="3128358"/>
            <a:ext cx="5038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Predições feita pela função hipótese atual: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278CA7A-1017-066E-C955-CEE7F26CB8CF}"/>
                  </a:ext>
                </a:extLst>
              </p:cNvPr>
              <p:cNvSpPr txBox="1"/>
              <p:nvPr/>
            </p:nvSpPr>
            <p:spPr>
              <a:xfrm>
                <a:off x="838200" y="4682004"/>
                <a:ext cx="46464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−3, −1, 1, 3, 5, 7</m:t>
                          </m:r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278CA7A-1017-066E-C955-CEE7F26CB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82004"/>
                <a:ext cx="464648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6AE4A780-2D79-19B0-B1E9-74650FFF6CE2}"/>
              </a:ext>
            </a:extLst>
          </p:cNvPr>
          <p:cNvSpPr txBox="1"/>
          <p:nvPr/>
        </p:nvSpPr>
        <p:spPr>
          <a:xfrm>
            <a:off x="817652" y="4357157"/>
            <a:ext cx="5038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Valores de saída esperados: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B264004C-5785-B53A-912B-070D69AF00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12" y="5500701"/>
            <a:ext cx="5564039" cy="122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78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69B24-439F-2623-4569-4FB2DD7B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medir as distâncias!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7659DC9-1554-0C0A-78CF-76B7B51210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9833" y="1825624"/>
                <a:ext cx="5979559" cy="5032375"/>
              </a:xfrm>
            </p:spPr>
            <p:txBody>
              <a:bodyPr/>
              <a:lstStyle/>
              <a:p>
                <a:r>
                  <a:rPr lang="pt-BR" dirty="0"/>
                  <a:t>Talvez nós possamos definir uma métrica de desempenho analisando o gráfico com os valores esperados e preditos. </a:t>
                </a:r>
              </a:p>
              <a:p>
                <a:r>
                  <a:rPr lang="pt-BR" dirty="0"/>
                  <a:t>Na figura ao lado, temos os pontos preditos e esperados para cada valor de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7659DC9-1554-0C0A-78CF-76B7B51210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9833" y="1825624"/>
                <a:ext cx="5979559" cy="5032375"/>
              </a:xfrm>
              <a:blipFill>
                <a:blip r:embed="rId2"/>
                <a:stretch>
                  <a:fillRect l="-1837" t="-1937" r="-1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">
            <a:extLst>
              <a:ext uri="{FF2B5EF4-FFF2-40B4-BE49-F238E27FC236}">
                <a16:creationId xmlns:a16="http://schemas.microsoft.com/office/drawing/2014/main" id="{AF4ABB3B-6DD5-472D-1C06-9342ED7E2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92" y="2064964"/>
            <a:ext cx="4654432" cy="356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962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69B24-439F-2623-4569-4FB2DD7B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medir as distâncias!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659DC9-1554-0C0A-78CF-76B7B5121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9833" y="1825624"/>
            <a:ext cx="5979559" cy="5032375"/>
          </a:xfrm>
        </p:spPr>
        <p:txBody>
          <a:bodyPr>
            <a:normAutofit/>
          </a:bodyPr>
          <a:lstStyle/>
          <a:p>
            <a:r>
              <a:rPr lang="pt-BR" dirty="0"/>
              <a:t>Podemos traçar uma reta entre cada ponto e, pelo comprimento dessas retas (ou </a:t>
            </a:r>
            <a:r>
              <a:rPr lang="pt-BR" b="1" i="1" dirty="0">
                <a:solidFill>
                  <a:srgbClr val="7030A0"/>
                </a:solidFill>
              </a:rPr>
              <a:t>diferença/distância </a:t>
            </a:r>
            <a:r>
              <a:rPr lang="pt-BR" b="1" i="1" dirty="0">
                <a:solidFill>
                  <a:srgbClr val="00B050"/>
                </a:solidFill>
              </a:rPr>
              <a:t>entre os pontos</a:t>
            </a:r>
            <a:r>
              <a:rPr lang="pt-BR" dirty="0"/>
              <a:t>), </a:t>
            </a:r>
            <a:r>
              <a:rPr lang="pt-BR" b="1" i="1" dirty="0">
                <a:solidFill>
                  <a:srgbClr val="00B050"/>
                </a:solidFill>
              </a:rPr>
              <a:t>descobrir se a função hipótese é boa ou não</a:t>
            </a:r>
            <a:r>
              <a:rPr lang="pt-BR" dirty="0"/>
              <a:t>.</a:t>
            </a:r>
          </a:p>
          <a:p>
            <a:r>
              <a:rPr lang="pt-BR" dirty="0"/>
              <a:t>O comprimento de cada reta é mostrado ao lado delas.</a:t>
            </a:r>
          </a:p>
          <a:p>
            <a:r>
              <a:rPr lang="pt-BR" dirty="0"/>
              <a:t>Talvez nós possamos </a:t>
            </a:r>
            <a:r>
              <a:rPr lang="pt-BR" b="1" i="1" dirty="0">
                <a:solidFill>
                  <a:srgbClr val="00B050"/>
                </a:solidFill>
              </a:rPr>
              <a:t>calcular a média dos comprimentos</a:t>
            </a:r>
            <a:r>
              <a:rPr lang="pt-BR" dirty="0"/>
              <a:t> para obter o </a:t>
            </a:r>
            <a:r>
              <a:rPr lang="pt-BR" b="1" i="1" dirty="0"/>
              <a:t>erro médio </a:t>
            </a:r>
            <a:r>
              <a:rPr lang="pt-BR" dirty="0"/>
              <a:t>causado pela função hipótese atual.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6C6C7F99-319F-3F5F-707A-3647CB0C494E}"/>
              </a:ext>
            </a:extLst>
          </p:cNvPr>
          <p:cNvGrpSpPr/>
          <p:nvPr/>
        </p:nvGrpSpPr>
        <p:grpSpPr>
          <a:xfrm>
            <a:off x="501294" y="1825624"/>
            <a:ext cx="4902989" cy="3568398"/>
            <a:chOff x="336908" y="2375202"/>
            <a:chExt cx="4902989" cy="3568398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8FF7C909-12C2-1F28-3CD1-F415FDEBCF05}"/>
                </a:ext>
              </a:extLst>
            </p:cNvPr>
            <p:cNvGrpSpPr/>
            <p:nvPr/>
          </p:nvGrpSpPr>
          <p:grpSpPr>
            <a:xfrm>
              <a:off x="336908" y="2375202"/>
              <a:ext cx="4654432" cy="3568398"/>
              <a:chOff x="324492" y="2280864"/>
              <a:chExt cx="4654432" cy="3568398"/>
            </a:xfrm>
          </p:grpSpPr>
          <p:pic>
            <p:nvPicPr>
              <p:cNvPr id="5" name="Picture 2">
                <a:extLst>
                  <a:ext uri="{FF2B5EF4-FFF2-40B4-BE49-F238E27FC236}">
                    <a16:creationId xmlns:a16="http://schemas.microsoft.com/office/drawing/2014/main" id="{1D1D236C-D17A-910F-590E-14660AC344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4492" y="2280864"/>
                <a:ext cx="4654432" cy="3568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" name="Conector reto 5">
                <a:extLst>
                  <a:ext uri="{FF2B5EF4-FFF2-40B4-BE49-F238E27FC236}">
                    <a16:creationId xmlns:a16="http://schemas.microsoft.com/office/drawing/2014/main" id="{17F923C8-0338-E3A0-307C-4C48FF5D48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9638" y="2488406"/>
                <a:ext cx="0" cy="757238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onector reto 6">
                <a:extLst>
                  <a:ext uri="{FF2B5EF4-FFF2-40B4-BE49-F238E27FC236}">
                    <a16:creationId xmlns:a16="http://schemas.microsoft.com/office/drawing/2014/main" id="{108E4EB3-0A18-7674-4972-08EE9EB6C5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8118" y="3038475"/>
                <a:ext cx="0" cy="55959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ector reto 7">
                <a:extLst>
                  <a:ext uri="{FF2B5EF4-FFF2-40B4-BE49-F238E27FC236}">
                    <a16:creationId xmlns:a16="http://schemas.microsoft.com/office/drawing/2014/main" id="{2DD01A53-07A0-0690-1495-693F9ECD4A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9931" y="3579019"/>
                <a:ext cx="0" cy="383382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ector reto 8">
                <a:extLst>
                  <a:ext uri="{FF2B5EF4-FFF2-40B4-BE49-F238E27FC236}">
                    <a16:creationId xmlns:a16="http://schemas.microsoft.com/office/drawing/2014/main" id="{CB18CCA6-494D-B0A3-4D7E-74DA8CC3B8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6506" y="4143375"/>
                <a:ext cx="0" cy="19526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ctor reto 9">
                <a:extLst>
                  <a:ext uri="{FF2B5EF4-FFF2-40B4-BE49-F238E27FC236}">
                    <a16:creationId xmlns:a16="http://schemas.microsoft.com/office/drawing/2014/main" id="{A2C62E84-F226-525B-CA91-F7ED46F85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7750" y="5050635"/>
                <a:ext cx="0" cy="195263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319F74EA-B98D-DDFF-AB65-A7E1DCDF4697}"/>
                </a:ext>
              </a:extLst>
            </p:cNvPr>
            <p:cNvSpPr txBox="1"/>
            <p:nvPr/>
          </p:nvSpPr>
          <p:spPr>
            <a:xfrm>
              <a:off x="1050166" y="5012580"/>
              <a:ext cx="531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-1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88FD813C-F31B-C73D-966D-8C7F0F909160}"/>
                </a:ext>
              </a:extLst>
            </p:cNvPr>
            <p:cNvSpPr txBox="1"/>
            <p:nvPr/>
          </p:nvSpPr>
          <p:spPr>
            <a:xfrm>
              <a:off x="1794198" y="4598076"/>
              <a:ext cx="531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0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C852C7D1-AB69-D606-FC4E-0B5C2BACB107}"/>
                </a:ext>
              </a:extLst>
            </p:cNvPr>
            <p:cNvSpPr txBox="1"/>
            <p:nvPr/>
          </p:nvSpPr>
          <p:spPr>
            <a:xfrm>
              <a:off x="2551446" y="4154017"/>
              <a:ext cx="531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1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9E922D3C-5A4A-3D21-6197-DBAF14CDD453}"/>
                </a:ext>
              </a:extLst>
            </p:cNvPr>
            <p:cNvSpPr txBox="1"/>
            <p:nvPr/>
          </p:nvSpPr>
          <p:spPr>
            <a:xfrm>
              <a:off x="3270315" y="3686733"/>
              <a:ext cx="531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2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0086DBF0-CF72-E0B1-1CAA-C89D91AF58FC}"/>
                </a:ext>
              </a:extLst>
            </p:cNvPr>
            <p:cNvSpPr txBox="1"/>
            <p:nvPr/>
          </p:nvSpPr>
          <p:spPr>
            <a:xfrm>
              <a:off x="4010104" y="3215801"/>
              <a:ext cx="531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3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BFC5DBDA-2B32-374E-2937-C6D4CC105E04}"/>
                </a:ext>
              </a:extLst>
            </p:cNvPr>
            <p:cNvSpPr txBox="1"/>
            <p:nvPr/>
          </p:nvSpPr>
          <p:spPr>
            <a:xfrm>
              <a:off x="4708373" y="2763481"/>
              <a:ext cx="531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DD20CBB2-FDAA-391D-A50B-D2D2B6FB1278}"/>
                  </a:ext>
                </a:extLst>
              </p:cNvPr>
              <p:cNvSpPr txBox="1"/>
              <p:nvPr/>
            </p:nvSpPr>
            <p:spPr>
              <a:xfrm>
                <a:off x="945221" y="5604775"/>
                <a:ext cx="409938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diff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]=</m:t>
                      </m:r>
                      <m:acc>
                        <m:accPr>
                          <m:chr m:val="̂"/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3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]−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DD20CBB2-FDAA-391D-A50B-D2D2B6FB1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21" y="5604775"/>
                <a:ext cx="409938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have Direita 18">
            <a:extLst>
              <a:ext uri="{FF2B5EF4-FFF2-40B4-BE49-F238E27FC236}">
                <a16:creationId xmlns:a16="http://schemas.microsoft.com/office/drawing/2014/main" id="{B6B6FEBB-31F4-7252-312B-0E7FCA16E244}"/>
              </a:ext>
            </a:extLst>
          </p:cNvPr>
          <p:cNvSpPr/>
          <p:nvPr/>
        </p:nvSpPr>
        <p:spPr>
          <a:xfrm rot="5400000">
            <a:off x="2837020" y="3426863"/>
            <a:ext cx="315791" cy="40993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804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69B24-439F-2623-4569-4FB2DD7B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Temos um problema!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7659DC9-1554-0C0A-78CF-76B7B51210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0529" y="1825624"/>
                <a:ext cx="6068863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Ao somarmos as diferenças,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valores negativos podem reduzir ou até mesmo anular valores positivos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Mesmo as predições para os dois pontos,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, estando erradas, seus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erros se cancelariam</a:t>
                </a:r>
                <a:r>
                  <a:rPr lang="pt-BR" dirty="0"/>
                  <a:t>, afetando a medida de desempenho.</a:t>
                </a:r>
              </a:p>
              <a:p>
                <a:r>
                  <a:rPr lang="pt-BR" dirty="0"/>
                  <a:t>Isso poderia sugerir que 3 de 6 predições estão corretas, o que sabemos não ser verdade.</a:t>
                </a:r>
              </a:p>
              <a:p>
                <a:r>
                  <a:rPr lang="pt-BR" dirty="0"/>
                  <a:t>O que podemos fazer para resolver esse problema?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7659DC9-1554-0C0A-78CF-76B7B51210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0529" y="1825624"/>
                <a:ext cx="6068863" cy="5032375"/>
              </a:xfrm>
              <a:blipFill>
                <a:blip r:embed="rId2"/>
                <a:stretch>
                  <a:fillRect l="-1809" t="-2663" r="-2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Agrupar 24">
            <a:extLst>
              <a:ext uri="{FF2B5EF4-FFF2-40B4-BE49-F238E27FC236}">
                <a16:creationId xmlns:a16="http://schemas.microsoft.com/office/drawing/2014/main" id="{89464E1D-FEE2-AAC0-80C0-379EEC02375F}"/>
              </a:ext>
            </a:extLst>
          </p:cNvPr>
          <p:cNvGrpSpPr/>
          <p:nvPr/>
        </p:nvGrpSpPr>
        <p:grpSpPr>
          <a:xfrm>
            <a:off x="400408" y="1579485"/>
            <a:ext cx="4902989" cy="3568398"/>
            <a:chOff x="400408" y="1644801"/>
            <a:chExt cx="4902989" cy="3568398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89212B23-55CD-CCDA-9C3B-BA14483628E4}"/>
                </a:ext>
              </a:extLst>
            </p:cNvPr>
            <p:cNvGrpSpPr/>
            <p:nvPr/>
          </p:nvGrpSpPr>
          <p:grpSpPr>
            <a:xfrm>
              <a:off x="400408" y="1644801"/>
              <a:ext cx="4902989" cy="3568398"/>
              <a:chOff x="336908" y="2375202"/>
              <a:chExt cx="4902989" cy="3568398"/>
            </a:xfrm>
          </p:grpSpPr>
          <p:grpSp>
            <p:nvGrpSpPr>
              <p:cNvPr id="4" name="Agrupar 3">
                <a:extLst>
                  <a:ext uri="{FF2B5EF4-FFF2-40B4-BE49-F238E27FC236}">
                    <a16:creationId xmlns:a16="http://schemas.microsoft.com/office/drawing/2014/main" id="{8FF7C909-12C2-1F28-3CD1-F415FDEBCF05}"/>
                  </a:ext>
                </a:extLst>
              </p:cNvPr>
              <p:cNvGrpSpPr/>
              <p:nvPr/>
            </p:nvGrpSpPr>
            <p:grpSpPr>
              <a:xfrm>
                <a:off x="336908" y="2375202"/>
                <a:ext cx="4654432" cy="3568398"/>
                <a:chOff x="324492" y="2280864"/>
                <a:chExt cx="4654432" cy="3568398"/>
              </a:xfrm>
            </p:grpSpPr>
            <p:pic>
              <p:nvPicPr>
                <p:cNvPr id="5" name="Picture 2">
                  <a:extLst>
                    <a:ext uri="{FF2B5EF4-FFF2-40B4-BE49-F238E27FC236}">
                      <a16:creationId xmlns:a16="http://schemas.microsoft.com/office/drawing/2014/main" id="{1D1D236C-D17A-910F-590E-14660AC344E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4492" y="2280864"/>
                  <a:ext cx="4654432" cy="35683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6" name="Conector reto 5">
                  <a:extLst>
                    <a:ext uri="{FF2B5EF4-FFF2-40B4-BE49-F238E27FC236}">
                      <a16:creationId xmlns:a16="http://schemas.microsoft.com/office/drawing/2014/main" id="{17F923C8-0338-E3A0-307C-4C48FF5D48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9638" y="2488406"/>
                  <a:ext cx="0" cy="757238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Conector reto 6">
                  <a:extLst>
                    <a:ext uri="{FF2B5EF4-FFF2-40B4-BE49-F238E27FC236}">
                      <a16:creationId xmlns:a16="http://schemas.microsoft.com/office/drawing/2014/main" id="{108E4EB3-0A18-7674-4972-08EE9EB6C5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118" y="3038475"/>
                  <a:ext cx="0" cy="559594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Conector reto 7">
                  <a:extLst>
                    <a:ext uri="{FF2B5EF4-FFF2-40B4-BE49-F238E27FC236}">
                      <a16:creationId xmlns:a16="http://schemas.microsoft.com/office/drawing/2014/main" id="{2DD01A53-07A0-0690-1495-693F9ECD4A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49931" y="3579019"/>
                  <a:ext cx="0" cy="383382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Conector reto 8">
                  <a:extLst>
                    <a:ext uri="{FF2B5EF4-FFF2-40B4-BE49-F238E27FC236}">
                      <a16:creationId xmlns:a16="http://schemas.microsoft.com/office/drawing/2014/main" id="{CB18CCA6-494D-B0A3-4D7E-74DA8CC3B8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16506" y="4143375"/>
                  <a:ext cx="0" cy="195263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Conector reto 9">
                  <a:extLst>
                    <a:ext uri="{FF2B5EF4-FFF2-40B4-BE49-F238E27FC236}">
                      <a16:creationId xmlns:a16="http://schemas.microsoft.com/office/drawing/2014/main" id="{A2C62E84-F226-525B-CA91-F7ED46F858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7750" y="5050635"/>
                  <a:ext cx="0" cy="195263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319F74EA-B98D-DDFF-AB65-A7E1DCDF4697}"/>
                  </a:ext>
                </a:extLst>
              </p:cNvPr>
              <p:cNvSpPr txBox="1"/>
              <p:nvPr/>
            </p:nvSpPr>
            <p:spPr>
              <a:xfrm>
                <a:off x="1050166" y="5012580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-1</a:t>
                </a:r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88FD813C-F31B-C73D-966D-8C7F0F909160}"/>
                  </a:ext>
                </a:extLst>
              </p:cNvPr>
              <p:cNvSpPr txBox="1"/>
              <p:nvPr/>
            </p:nvSpPr>
            <p:spPr>
              <a:xfrm>
                <a:off x="1794198" y="4598076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0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852C7D1-AB69-D606-FC4E-0B5C2BACB107}"/>
                  </a:ext>
                </a:extLst>
              </p:cNvPr>
              <p:cNvSpPr txBox="1"/>
              <p:nvPr/>
            </p:nvSpPr>
            <p:spPr>
              <a:xfrm>
                <a:off x="2551446" y="4154017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1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9E922D3C-5A4A-3D21-6197-DBAF14CDD453}"/>
                  </a:ext>
                </a:extLst>
              </p:cNvPr>
              <p:cNvSpPr txBox="1"/>
              <p:nvPr/>
            </p:nvSpPr>
            <p:spPr>
              <a:xfrm>
                <a:off x="3270315" y="3686733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2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0086DBF0-CF72-E0B1-1CAA-C89D91AF58FC}"/>
                  </a:ext>
                </a:extLst>
              </p:cNvPr>
              <p:cNvSpPr txBox="1"/>
              <p:nvPr/>
            </p:nvSpPr>
            <p:spPr>
              <a:xfrm>
                <a:off x="4010104" y="3215801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3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BFC5DBDA-2B32-374E-2937-C6D4CC105E04}"/>
                  </a:ext>
                </a:extLst>
              </p:cNvPr>
              <p:cNvSpPr txBox="1"/>
              <p:nvPr/>
            </p:nvSpPr>
            <p:spPr>
              <a:xfrm>
                <a:off x="4708373" y="2763481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4</a:t>
                </a:r>
              </a:p>
            </p:txBody>
          </p:sp>
        </p:grp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E872EBD6-3B01-CA1B-1131-CA2567F9A9ED}"/>
                </a:ext>
              </a:extLst>
            </p:cNvPr>
            <p:cNvSpPr/>
            <p:nvPr/>
          </p:nvSpPr>
          <p:spPr>
            <a:xfrm>
              <a:off x="954125" y="4237007"/>
              <a:ext cx="531524" cy="461665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7C6891EA-E337-0F90-D14F-45641BBAEBBD}"/>
                </a:ext>
              </a:extLst>
            </p:cNvPr>
            <p:cNvSpPr/>
            <p:nvPr/>
          </p:nvSpPr>
          <p:spPr>
            <a:xfrm>
              <a:off x="2361031" y="3398132"/>
              <a:ext cx="531524" cy="461665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9A3BA49-253D-6EBB-43D5-F2D359406770}"/>
              </a:ext>
            </a:extLst>
          </p:cNvPr>
          <p:cNvGrpSpPr/>
          <p:nvPr/>
        </p:nvGrpSpPr>
        <p:grpSpPr>
          <a:xfrm>
            <a:off x="142023" y="5991267"/>
            <a:ext cx="5847810" cy="745539"/>
            <a:chOff x="142023" y="5233235"/>
            <a:chExt cx="5847810" cy="7455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FA05A557-7AB7-A40B-7A50-EB6EBA9FB964}"/>
                    </a:ext>
                  </a:extLst>
                </p:cNvPr>
                <p:cNvSpPr txBox="1"/>
                <p:nvPr/>
              </p:nvSpPr>
              <p:spPr>
                <a:xfrm>
                  <a:off x="142023" y="5308206"/>
                  <a:ext cx="5847810" cy="6705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pt-BR" sz="2000" b="0" i="0" smtClean="0">
                            <a:latin typeface="Cambria Math" panose="02040503050406030204" pitchFamily="18" charset="0"/>
                          </a:rPr>
                          <m:t>erro</m:t>
                        </m:r>
                        <m:r>
                          <a:rPr lang="pt-BR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BR" sz="2000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pt-BR" sz="2000" b="0" i="0" smtClean="0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m:rPr>
                            <m:sty m:val="p"/>
                          </m:rPr>
                          <a:rPr lang="pt-BR" sz="2000" b="0" i="0" smtClean="0">
                            <a:latin typeface="Cambria Math" panose="02040503050406030204" pitchFamily="18" charset="0"/>
                          </a:rPr>
                          <m:t>dio</m:t>
                        </m:r>
                        <m:r>
                          <a:rPr lang="pt-BR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−1+0+1+2+3+4</m:t>
                            </m:r>
                          </m:num>
                          <m:den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=1.5</m:t>
                        </m:r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FA05A557-7AB7-A40B-7A50-EB6EBA9FB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023" y="5308206"/>
                  <a:ext cx="5847810" cy="6705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2AAD787D-9C05-A7F6-E8E3-65DF6731B54C}"/>
                </a:ext>
              </a:extLst>
            </p:cNvPr>
            <p:cNvSpPr/>
            <p:nvPr/>
          </p:nvSpPr>
          <p:spPr>
            <a:xfrm>
              <a:off x="3032194" y="5233235"/>
              <a:ext cx="531524" cy="441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82B32199-B2BC-FA91-4F4B-324430A78F74}"/>
                </a:ext>
              </a:extLst>
            </p:cNvPr>
            <p:cNvSpPr/>
            <p:nvPr/>
          </p:nvSpPr>
          <p:spPr>
            <a:xfrm>
              <a:off x="2122522" y="5260881"/>
              <a:ext cx="531524" cy="44162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EB2CBE63-CC5F-A3D8-77A2-7786CDE19147}"/>
                  </a:ext>
                </a:extLst>
              </p:cNvPr>
              <p:cNvSpPr txBox="1"/>
              <p:nvPr/>
            </p:nvSpPr>
            <p:spPr>
              <a:xfrm>
                <a:off x="482885" y="5048668"/>
                <a:ext cx="5163729" cy="990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erro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dio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pt-BR" sz="2000">
                              <a:latin typeface="Cambria Math" panose="02040503050406030204" pitchFamily="18" charset="0"/>
                            </a:rPr>
                            <m:t>diff</m:t>
                          </m:r>
                        </m:e>
                      </m:nary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EB2CBE63-CC5F-A3D8-77A2-7786CDE19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85" y="5048668"/>
                <a:ext cx="5163729" cy="9902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171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69B24-439F-2623-4569-4FB2DD7B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Quadrado dos comprimentos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659DC9-1554-0C0A-78CF-76B7B5121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885" y="1825624"/>
            <a:ext cx="5699166" cy="5032375"/>
          </a:xfrm>
        </p:spPr>
        <p:txBody>
          <a:bodyPr>
            <a:normAutofit/>
          </a:bodyPr>
          <a:lstStyle/>
          <a:p>
            <a:r>
              <a:rPr lang="pt-BR" dirty="0"/>
              <a:t>Podemos </a:t>
            </a:r>
            <a:r>
              <a:rPr lang="pt-BR" b="1" i="1" dirty="0">
                <a:solidFill>
                  <a:srgbClr val="00B050"/>
                </a:solidFill>
              </a:rPr>
              <a:t>elevar ao quadrado todos os comprimentos</a:t>
            </a:r>
            <a:r>
              <a:rPr lang="pt-BR" dirty="0"/>
              <a:t>, fazendo com que todos eles sejam positivos e não se cancelem mais.</a:t>
            </a:r>
          </a:p>
          <a:p>
            <a:r>
              <a:rPr lang="pt-BR" dirty="0"/>
              <a:t>Isso não afeta nossa métrica, pois aplicamos a todos os comprimentos.</a:t>
            </a:r>
          </a:p>
          <a:p>
            <a:r>
              <a:rPr lang="pt-BR" dirty="0"/>
              <a:t>Essa métrica é chamada de </a:t>
            </a:r>
            <a:r>
              <a:rPr lang="pt-BR" b="1" i="1" dirty="0">
                <a:solidFill>
                  <a:srgbClr val="7030A0"/>
                </a:solidFill>
              </a:rPr>
              <a:t>erro quadrático médio (EQM)</a:t>
            </a:r>
            <a:r>
              <a:rPr lang="pt-BR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A05A557-7AB7-A40B-7A50-EB6EBA9FB964}"/>
                  </a:ext>
                </a:extLst>
              </p:cNvPr>
              <p:cNvSpPr txBox="1"/>
              <p:nvPr/>
            </p:nvSpPr>
            <p:spPr>
              <a:xfrm>
                <a:off x="0" y="5966722"/>
                <a:ext cx="6708641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EQM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1+0+1+4+9+16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5.17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A05A557-7AB7-A40B-7A50-EB6EBA9FB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966722"/>
                <a:ext cx="6708641" cy="670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lipse 18">
            <a:extLst>
              <a:ext uri="{FF2B5EF4-FFF2-40B4-BE49-F238E27FC236}">
                <a16:creationId xmlns:a16="http://schemas.microsoft.com/office/drawing/2014/main" id="{795256B9-5626-BEE2-FF82-D903F78DB15F}"/>
              </a:ext>
            </a:extLst>
          </p:cNvPr>
          <p:cNvSpPr/>
          <p:nvPr/>
        </p:nvSpPr>
        <p:spPr>
          <a:xfrm>
            <a:off x="1799763" y="5930777"/>
            <a:ext cx="531524" cy="46166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AAD787D-9C05-A7F6-E8E3-65DF6731B54C}"/>
              </a:ext>
            </a:extLst>
          </p:cNvPr>
          <p:cNvSpPr/>
          <p:nvPr/>
        </p:nvSpPr>
        <p:spPr>
          <a:xfrm>
            <a:off x="2716631" y="5921975"/>
            <a:ext cx="531524" cy="46166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1A6ED2DA-25CE-E3E3-BAB3-9815A7D28358}"/>
              </a:ext>
            </a:extLst>
          </p:cNvPr>
          <p:cNvGrpSpPr/>
          <p:nvPr/>
        </p:nvGrpSpPr>
        <p:grpSpPr>
          <a:xfrm>
            <a:off x="838200" y="1547971"/>
            <a:ext cx="4915689" cy="3568398"/>
            <a:chOff x="400408" y="2051201"/>
            <a:chExt cx="4915689" cy="3568398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89212B23-55CD-CCDA-9C3B-BA14483628E4}"/>
                </a:ext>
              </a:extLst>
            </p:cNvPr>
            <p:cNvGrpSpPr/>
            <p:nvPr/>
          </p:nvGrpSpPr>
          <p:grpSpPr>
            <a:xfrm>
              <a:off x="400408" y="2051201"/>
              <a:ext cx="4915689" cy="3568398"/>
              <a:chOff x="336908" y="2375202"/>
              <a:chExt cx="4915689" cy="3568398"/>
            </a:xfrm>
          </p:grpSpPr>
          <p:grpSp>
            <p:nvGrpSpPr>
              <p:cNvPr id="4" name="Agrupar 3">
                <a:extLst>
                  <a:ext uri="{FF2B5EF4-FFF2-40B4-BE49-F238E27FC236}">
                    <a16:creationId xmlns:a16="http://schemas.microsoft.com/office/drawing/2014/main" id="{8FF7C909-12C2-1F28-3CD1-F415FDEBCF05}"/>
                  </a:ext>
                </a:extLst>
              </p:cNvPr>
              <p:cNvGrpSpPr/>
              <p:nvPr/>
            </p:nvGrpSpPr>
            <p:grpSpPr>
              <a:xfrm>
                <a:off x="336908" y="2375202"/>
                <a:ext cx="4654432" cy="3568398"/>
                <a:chOff x="324492" y="2280864"/>
                <a:chExt cx="4654432" cy="3568398"/>
              </a:xfrm>
            </p:grpSpPr>
            <p:pic>
              <p:nvPicPr>
                <p:cNvPr id="5" name="Picture 2">
                  <a:extLst>
                    <a:ext uri="{FF2B5EF4-FFF2-40B4-BE49-F238E27FC236}">
                      <a16:creationId xmlns:a16="http://schemas.microsoft.com/office/drawing/2014/main" id="{1D1D236C-D17A-910F-590E-14660AC344E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4492" y="2280864"/>
                  <a:ext cx="4654432" cy="35683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6" name="Conector reto 5">
                  <a:extLst>
                    <a:ext uri="{FF2B5EF4-FFF2-40B4-BE49-F238E27FC236}">
                      <a16:creationId xmlns:a16="http://schemas.microsoft.com/office/drawing/2014/main" id="{17F923C8-0338-E3A0-307C-4C48FF5D48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9638" y="2488406"/>
                  <a:ext cx="0" cy="757238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Conector reto 6">
                  <a:extLst>
                    <a:ext uri="{FF2B5EF4-FFF2-40B4-BE49-F238E27FC236}">
                      <a16:creationId xmlns:a16="http://schemas.microsoft.com/office/drawing/2014/main" id="{108E4EB3-0A18-7674-4972-08EE9EB6C5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118" y="3038475"/>
                  <a:ext cx="0" cy="559594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Conector reto 7">
                  <a:extLst>
                    <a:ext uri="{FF2B5EF4-FFF2-40B4-BE49-F238E27FC236}">
                      <a16:creationId xmlns:a16="http://schemas.microsoft.com/office/drawing/2014/main" id="{2DD01A53-07A0-0690-1495-693F9ECD4A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49931" y="3579019"/>
                  <a:ext cx="0" cy="383382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Conector reto 8">
                  <a:extLst>
                    <a:ext uri="{FF2B5EF4-FFF2-40B4-BE49-F238E27FC236}">
                      <a16:creationId xmlns:a16="http://schemas.microsoft.com/office/drawing/2014/main" id="{CB18CCA6-494D-B0A3-4D7E-74DA8CC3B8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16506" y="4143375"/>
                  <a:ext cx="0" cy="195263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Conector reto 9">
                  <a:extLst>
                    <a:ext uri="{FF2B5EF4-FFF2-40B4-BE49-F238E27FC236}">
                      <a16:creationId xmlns:a16="http://schemas.microsoft.com/office/drawing/2014/main" id="{A2C62E84-F226-525B-CA91-F7ED46F858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7750" y="5050635"/>
                  <a:ext cx="0" cy="195263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319F74EA-B98D-DDFF-AB65-A7E1DCDF4697}"/>
                  </a:ext>
                </a:extLst>
              </p:cNvPr>
              <p:cNvSpPr txBox="1"/>
              <p:nvPr/>
            </p:nvSpPr>
            <p:spPr>
              <a:xfrm>
                <a:off x="1050166" y="5012580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1</a:t>
                </a:r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88FD813C-F31B-C73D-966D-8C7F0F909160}"/>
                  </a:ext>
                </a:extLst>
              </p:cNvPr>
              <p:cNvSpPr txBox="1"/>
              <p:nvPr/>
            </p:nvSpPr>
            <p:spPr>
              <a:xfrm>
                <a:off x="1794198" y="4598076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0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852C7D1-AB69-D606-FC4E-0B5C2BACB107}"/>
                  </a:ext>
                </a:extLst>
              </p:cNvPr>
              <p:cNvSpPr txBox="1"/>
              <p:nvPr/>
            </p:nvSpPr>
            <p:spPr>
              <a:xfrm>
                <a:off x="2551446" y="4154017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1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9E922D3C-5A4A-3D21-6197-DBAF14CDD453}"/>
                  </a:ext>
                </a:extLst>
              </p:cNvPr>
              <p:cNvSpPr txBox="1"/>
              <p:nvPr/>
            </p:nvSpPr>
            <p:spPr>
              <a:xfrm>
                <a:off x="3270315" y="3686733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4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0086DBF0-CF72-E0B1-1CAA-C89D91AF58FC}"/>
                  </a:ext>
                </a:extLst>
              </p:cNvPr>
              <p:cNvSpPr txBox="1"/>
              <p:nvPr/>
            </p:nvSpPr>
            <p:spPr>
              <a:xfrm>
                <a:off x="4010104" y="3215801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9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BFC5DBDA-2B32-374E-2937-C6D4CC105E04}"/>
                  </a:ext>
                </a:extLst>
              </p:cNvPr>
              <p:cNvSpPr txBox="1"/>
              <p:nvPr/>
            </p:nvSpPr>
            <p:spPr>
              <a:xfrm>
                <a:off x="4721073" y="2763481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16</a:t>
                </a:r>
              </a:p>
            </p:txBody>
          </p:sp>
        </p:grp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E872EBD6-3B01-CA1B-1131-CA2567F9A9ED}"/>
                </a:ext>
              </a:extLst>
            </p:cNvPr>
            <p:cNvSpPr/>
            <p:nvPr/>
          </p:nvSpPr>
          <p:spPr>
            <a:xfrm>
              <a:off x="954125" y="4643407"/>
              <a:ext cx="531524" cy="461665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7C6891EA-E337-0F90-D14F-45641BBAEBBD}"/>
                </a:ext>
              </a:extLst>
            </p:cNvPr>
            <p:cNvSpPr/>
            <p:nvPr/>
          </p:nvSpPr>
          <p:spPr>
            <a:xfrm>
              <a:off x="2361031" y="3804532"/>
              <a:ext cx="531524" cy="461665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EA0B3A29-D4D6-FCDB-D400-00DDC5DD35B0}"/>
                  </a:ext>
                </a:extLst>
              </p:cNvPr>
              <p:cNvSpPr txBox="1"/>
              <p:nvPr/>
            </p:nvSpPr>
            <p:spPr>
              <a:xfrm>
                <a:off x="0" y="4992143"/>
                <a:ext cx="6358883" cy="990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erro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quadr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tico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dio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EQM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2000">
                                  <a:latin typeface="Cambria Math" panose="02040503050406030204" pitchFamily="18" charset="0"/>
                                </a:rPr>
                                <m:t>diff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EA0B3A29-D4D6-FCDB-D400-00DDC5DD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92143"/>
                <a:ext cx="6358883" cy="990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963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5C21E-F99F-1F86-68FD-B54DA0D8F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C2310-D341-EF14-1295-8882EF15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Quadrado dos comprimentos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ACD9A7-3967-6937-BAEE-BF163BE77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885" y="1825624"/>
            <a:ext cx="5699166" cy="5032375"/>
          </a:xfrm>
        </p:spPr>
        <p:txBody>
          <a:bodyPr>
            <a:normAutofit/>
          </a:bodyPr>
          <a:lstStyle/>
          <a:p>
            <a:r>
              <a:rPr lang="pt-BR" dirty="0"/>
              <a:t>Usando o EQM, vemos que </a:t>
            </a:r>
            <a:r>
              <a:rPr lang="pt-BR" b="1" i="1" dirty="0"/>
              <a:t>nossa função hipótese não é boa</a:t>
            </a:r>
            <a:r>
              <a:rPr lang="pt-BR" dirty="0"/>
              <a:t>, pois o </a:t>
            </a:r>
            <a:r>
              <a:rPr lang="pt-BR" b="1" i="1" dirty="0"/>
              <a:t>valor ainda está longe de zero</a:t>
            </a:r>
            <a:r>
              <a:rPr lang="pt-BR" dirty="0"/>
              <a:t>, que é o menor valor possível e nosso objetivo final.</a:t>
            </a:r>
          </a:p>
          <a:p>
            <a:r>
              <a:rPr lang="pt-BR" dirty="0"/>
              <a:t>O que devemos fazer?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326554D-7061-A5A0-10D4-89EFE78EE532}"/>
                  </a:ext>
                </a:extLst>
              </p:cNvPr>
              <p:cNvSpPr txBox="1"/>
              <p:nvPr/>
            </p:nvSpPr>
            <p:spPr>
              <a:xfrm>
                <a:off x="0" y="5966722"/>
                <a:ext cx="6708641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EQM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1+0+1+4+9+16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latin typeface="Cambria Math" panose="02040503050406030204" pitchFamily="18" charset="0"/>
                        </a:rPr>
                        <m:t>5.17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A05A557-7AB7-A40B-7A50-EB6EBA9FB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966722"/>
                <a:ext cx="6708641" cy="670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lipse 18">
            <a:extLst>
              <a:ext uri="{FF2B5EF4-FFF2-40B4-BE49-F238E27FC236}">
                <a16:creationId xmlns:a16="http://schemas.microsoft.com/office/drawing/2014/main" id="{4AF54D8E-6D21-A889-D883-2C9CBA6DEC92}"/>
              </a:ext>
            </a:extLst>
          </p:cNvPr>
          <p:cNvSpPr/>
          <p:nvPr/>
        </p:nvSpPr>
        <p:spPr>
          <a:xfrm>
            <a:off x="1799763" y="5930777"/>
            <a:ext cx="531524" cy="46166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12F94EC-6AB6-B29E-0B90-67907ED6D9C5}"/>
              </a:ext>
            </a:extLst>
          </p:cNvPr>
          <p:cNvSpPr/>
          <p:nvPr/>
        </p:nvSpPr>
        <p:spPr>
          <a:xfrm>
            <a:off x="2716631" y="5921975"/>
            <a:ext cx="531524" cy="46166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4055DEAC-F07C-0C94-1B62-29A674AC1765}"/>
              </a:ext>
            </a:extLst>
          </p:cNvPr>
          <p:cNvGrpSpPr/>
          <p:nvPr/>
        </p:nvGrpSpPr>
        <p:grpSpPr>
          <a:xfrm>
            <a:off x="838200" y="1547971"/>
            <a:ext cx="4915689" cy="3568398"/>
            <a:chOff x="400408" y="2051201"/>
            <a:chExt cx="4915689" cy="3568398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47C36D27-5523-8A36-BC43-EA2324C5E9A1}"/>
                </a:ext>
              </a:extLst>
            </p:cNvPr>
            <p:cNvGrpSpPr/>
            <p:nvPr/>
          </p:nvGrpSpPr>
          <p:grpSpPr>
            <a:xfrm>
              <a:off x="400408" y="2051201"/>
              <a:ext cx="4915689" cy="3568398"/>
              <a:chOff x="336908" y="2375202"/>
              <a:chExt cx="4915689" cy="3568398"/>
            </a:xfrm>
          </p:grpSpPr>
          <p:grpSp>
            <p:nvGrpSpPr>
              <p:cNvPr id="4" name="Agrupar 3">
                <a:extLst>
                  <a:ext uri="{FF2B5EF4-FFF2-40B4-BE49-F238E27FC236}">
                    <a16:creationId xmlns:a16="http://schemas.microsoft.com/office/drawing/2014/main" id="{CCE73537-384D-5509-B717-2E78CA6D2080}"/>
                  </a:ext>
                </a:extLst>
              </p:cNvPr>
              <p:cNvGrpSpPr/>
              <p:nvPr/>
            </p:nvGrpSpPr>
            <p:grpSpPr>
              <a:xfrm>
                <a:off x="336908" y="2375202"/>
                <a:ext cx="4654432" cy="3568398"/>
                <a:chOff x="324492" y="2280864"/>
                <a:chExt cx="4654432" cy="3568398"/>
              </a:xfrm>
            </p:grpSpPr>
            <p:pic>
              <p:nvPicPr>
                <p:cNvPr id="5" name="Picture 2">
                  <a:extLst>
                    <a:ext uri="{FF2B5EF4-FFF2-40B4-BE49-F238E27FC236}">
                      <a16:creationId xmlns:a16="http://schemas.microsoft.com/office/drawing/2014/main" id="{3C129BBF-B934-EAD6-F14D-F90A2EC5B5D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4492" y="2280864"/>
                  <a:ext cx="4654432" cy="35683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6" name="Conector reto 5">
                  <a:extLst>
                    <a:ext uri="{FF2B5EF4-FFF2-40B4-BE49-F238E27FC236}">
                      <a16:creationId xmlns:a16="http://schemas.microsoft.com/office/drawing/2014/main" id="{6AB0B0F9-7225-B610-9338-537D157459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9638" y="2488406"/>
                  <a:ext cx="0" cy="757238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Conector reto 6">
                  <a:extLst>
                    <a:ext uri="{FF2B5EF4-FFF2-40B4-BE49-F238E27FC236}">
                      <a16:creationId xmlns:a16="http://schemas.microsoft.com/office/drawing/2014/main" id="{E396CC0B-2247-923A-77B2-C4008FEB1D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8118" y="3038475"/>
                  <a:ext cx="0" cy="559594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Conector reto 7">
                  <a:extLst>
                    <a:ext uri="{FF2B5EF4-FFF2-40B4-BE49-F238E27FC236}">
                      <a16:creationId xmlns:a16="http://schemas.microsoft.com/office/drawing/2014/main" id="{11BB635E-03FB-37F5-DF1D-F2FCF1B333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49931" y="3579019"/>
                  <a:ext cx="0" cy="383382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Conector reto 8">
                  <a:extLst>
                    <a:ext uri="{FF2B5EF4-FFF2-40B4-BE49-F238E27FC236}">
                      <a16:creationId xmlns:a16="http://schemas.microsoft.com/office/drawing/2014/main" id="{9F13B697-7B3A-6839-9052-9C4751A7E3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16506" y="4143375"/>
                  <a:ext cx="0" cy="195263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Conector reto 9">
                  <a:extLst>
                    <a:ext uri="{FF2B5EF4-FFF2-40B4-BE49-F238E27FC236}">
                      <a16:creationId xmlns:a16="http://schemas.microsoft.com/office/drawing/2014/main" id="{F066DD7E-5D9F-DA1A-56AE-02BC13BAA0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7750" y="5050635"/>
                  <a:ext cx="0" cy="195263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2655067-A26A-F9EC-FDD8-FA2359C9A643}"/>
                  </a:ext>
                </a:extLst>
              </p:cNvPr>
              <p:cNvSpPr txBox="1"/>
              <p:nvPr/>
            </p:nvSpPr>
            <p:spPr>
              <a:xfrm>
                <a:off x="1050166" y="5012580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1</a:t>
                </a:r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A5B0A17-29B2-5A89-F63C-2420B13C5B68}"/>
                  </a:ext>
                </a:extLst>
              </p:cNvPr>
              <p:cNvSpPr txBox="1"/>
              <p:nvPr/>
            </p:nvSpPr>
            <p:spPr>
              <a:xfrm>
                <a:off x="1794198" y="4598076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0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5972850-3C6B-BDEB-976F-F13462FD2CF0}"/>
                  </a:ext>
                </a:extLst>
              </p:cNvPr>
              <p:cNvSpPr txBox="1"/>
              <p:nvPr/>
            </p:nvSpPr>
            <p:spPr>
              <a:xfrm>
                <a:off x="2551446" y="4154017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1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53D3C7CC-7BC7-3D66-A6EE-218C6F1088CF}"/>
                  </a:ext>
                </a:extLst>
              </p:cNvPr>
              <p:cNvSpPr txBox="1"/>
              <p:nvPr/>
            </p:nvSpPr>
            <p:spPr>
              <a:xfrm>
                <a:off x="3270315" y="3686733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4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F6175BF4-F7D5-2ECE-6349-5B53EF3E4F24}"/>
                  </a:ext>
                </a:extLst>
              </p:cNvPr>
              <p:cNvSpPr txBox="1"/>
              <p:nvPr/>
            </p:nvSpPr>
            <p:spPr>
              <a:xfrm>
                <a:off x="4010104" y="3215801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9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0B11F692-A433-62D0-99B0-0668B48A6F65}"/>
                  </a:ext>
                </a:extLst>
              </p:cNvPr>
              <p:cNvSpPr txBox="1"/>
              <p:nvPr/>
            </p:nvSpPr>
            <p:spPr>
              <a:xfrm>
                <a:off x="4721073" y="2763481"/>
                <a:ext cx="531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16</a:t>
                </a:r>
              </a:p>
            </p:txBody>
          </p:sp>
        </p:grp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345EFA2C-84B3-BA95-4F31-A95622D44401}"/>
                </a:ext>
              </a:extLst>
            </p:cNvPr>
            <p:cNvSpPr/>
            <p:nvPr/>
          </p:nvSpPr>
          <p:spPr>
            <a:xfrm>
              <a:off x="954125" y="4643407"/>
              <a:ext cx="531524" cy="461665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3BE96C96-6D77-D2CE-511E-D7B0BDAD0D60}"/>
                </a:ext>
              </a:extLst>
            </p:cNvPr>
            <p:cNvSpPr/>
            <p:nvPr/>
          </p:nvSpPr>
          <p:spPr>
            <a:xfrm>
              <a:off x="2361031" y="3804532"/>
              <a:ext cx="531524" cy="461665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9EDE9D76-0D87-FBBD-A58D-3E1A554142D7}"/>
                  </a:ext>
                </a:extLst>
              </p:cNvPr>
              <p:cNvSpPr txBox="1"/>
              <p:nvPr/>
            </p:nvSpPr>
            <p:spPr>
              <a:xfrm>
                <a:off x="0" y="4992143"/>
                <a:ext cx="6358883" cy="990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erro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quadr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tico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dio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latin typeface="Cambria Math" panose="02040503050406030204" pitchFamily="18" charset="0"/>
                        </a:rPr>
                        <m:t>EQM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p>
                            <m:sSup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2000">
                                  <a:latin typeface="Cambria Math" panose="02040503050406030204" pitchFamily="18" charset="0"/>
                                </a:rPr>
                                <m:t>diff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EA0B3A29-D4D6-FCDB-D400-00DDC5DD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92143"/>
                <a:ext cx="6358883" cy="990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653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5404E-CC0C-4A02-1C7F-A7A21D9C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Otimizando a suposição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BB6200C-6379-6754-5883-867BF48271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8600" y="1825625"/>
                <a:ext cx="5410200" cy="4351338"/>
              </a:xfrm>
            </p:spPr>
            <p:txBody>
              <a:bodyPr/>
              <a:lstStyle/>
              <a:p>
                <a:r>
                  <a:rPr lang="pt-BR" dirty="0"/>
                  <a:t>Vamos supor outros valores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fazer predições com esta nova função hipótese.</a:t>
                </a:r>
              </a:p>
              <a:p>
                <a:r>
                  <a:rPr lang="pt-BR" dirty="0"/>
                  <a:t>O novo palpite para os valores dos pesos será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BB6200C-6379-6754-5883-867BF4827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8600" y="1825625"/>
                <a:ext cx="5410200" cy="4351338"/>
              </a:xfrm>
              <a:blipFill>
                <a:blip r:embed="rId2"/>
                <a:stretch>
                  <a:fillRect l="-2027" t="-2241" r="-31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:a16="http://schemas.microsoft.com/office/drawing/2014/main" id="{28B934AE-7AFB-089F-5327-4A838F805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632" y="5182503"/>
            <a:ext cx="5564039" cy="12635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62B356A-C62C-7C18-F99C-0BB5124AAB97}"/>
                  </a:ext>
                </a:extLst>
              </p:cNvPr>
              <p:cNvSpPr txBox="1"/>
              <p:nvPr/>
            </p:nvSpPr>
            <p:spPr>
              <a:xfrm>
                <a:off x="950690" y="2275463"/>
                <a:ext cx="42757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1, 0, 1, 2, 3, 4</m:t>
                          </m:r>
                        </m:e>
                      </m:d>
                    </m:oMath>
                  </m:oMathPara>
                </a14:m>
                <a:endParaRPr lang="pt-BR" sz="32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62B356A-C62C-7C18-F99C-0BB5124AA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90" y="2275463"/>
                <a:ext cx="427571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4E588CD-F36D-1549-E773-192477475B31}"/>
                  </a:ext>
                </a:extLst>
              </p:cNvPr>
              <p:cNvSpPr txBox="1"/>
              <p:nvPr/>
            </p:nvSpPr>
            <p:spPr>
              <a:xfrm>
                <a:off x="950690" y="1690688"/>
                <a:ext cx="54102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])=−2+2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4E588CD-F36D-1549-E773-192477475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90" y="1690688"/>
                <a:ext cx="54102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5E66E9B-C5B8-2BEF-C2D6-304317E08986}"/>
                  </a:ext>
                </a:extLst>
              </p:cNvPr>
              <p:cNvSpPr txBox="1"/>
              <p:nvPr/>
            </p:nvSpPr>
            <p:spPr>
              <a:xfrm>
                <a:off x="950690" y="3363827"/>
                <a:ext cx="48845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algn="just">
                  <a:defRPr sz="3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b="0" i="0" smtClean="0"/>
                            <m:t>−</m:t>
                          </m:r>
                          <m:r>
                            <m:rPr>
                              <m:nor/>
                            </m:rPr>
                            <a:rPr lang="pt-BR" b="0" i="0"/>
                            <m:t>4</m:t>
                          </m:r>
                          <m:r>
                            <m:rPr>
                              <m:nor/>
                            </m:rPr>
                            <a:rPr lang="pt-BR" b="0" i="0" smtClean="0"/>
                            <m:t>,</m:t>
                          </m:r>
                          <m:r>
                            <m:rPr>
                              <m:nor/>
                            </m:rPr>
                            <a:rPr lang="pt-BR" b="0" i="0"/>
                            <m:t> </m:t>
                          </m:r>
                          <m:r>
                            <m:rPr>
                              <m:nor/>
                            </m:rPr>
                            <a:rPr lang="pt-BR" b="0" i="0" smtClean="0"/>
                            <m:t>−</m:t>
                          </m:r>
                          <m:r>
                            <m:rPr>
                              <m:nor/>
                            </m:rPr>
                            <a:rPr lang="pt-BR" b="0" i="0"/>
                            <m:t>2</m:t>
                          </m:r>
                          <m:r>
                            <m:rPr>
                              <m:nor/>
                            </m:rPr>
                            <a:rPr lang="pt-BR" b="0" i="0" smtClean="0"/>
                            <m:t>,</m:t>
                          </m:r>
                          <m:r>
                            <m:rPr>
                              <m:nor/>
                            </m:rPr>
                            <a:rPr lang="pt-BR" b="0" i="0"/>
                            <m:t> 0</m:t>
                          </m:r>
                          <m:r>
                            <m:rPr>
                              <m:nor/>
                            </m:rPr>
                            <a:rPr lang="pt-BR" b="0" i="0" smtClean="0"/>
                            <m:t>,</m:t>
                          </m:r>
                          <m:r>
                            <m:rPr>
                              <m:nor/>
                            </m:rPr>
                            <a:rPr lang="pt-BR" b="0" i="0"/>
                            <m:t> 2</m:t>
                          </m:r>
                          <m:r>
                            <m:rPr>
                              <m:nor/>
                            </m:rPr>
                            <a:rPr lang="pt-BR" b="0" i="0" smtClean="0"/>
                            <m:t>,</m:t>
                          </m:r>
                          <m:r>
                            <m:rPr>
                              <m:nor/>
                            </m:rPr>
                            <a:rPr lang="pt-BR" b="0" i="0"/>
                            <m:t> 4</m:t>
                          </m:r>
                          <m:r>
                            <m:rPr>
                              <m:nor/>
                            </m:rPr>
                            <a:rPr lang="pt-BR" b="0" i="0" smtClean="0"/>
                            <m:t>,</m:t>
                          </m:r>
                          <m:r>
                            <m:rPr>
                              <m:nor/>
                            </m:rPr>
                            <a:rPr lang="pt-BR" b="0" i="0"/>
                            <m:t> 6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5E66E9B-C5B8-2BEF-C2D6-304317E08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90" y="3363827"/>
                <a:ext cx="4884506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4B804862-4CB6-95A6-785A-EA19222C7E0A}"/>
              </a:ext>
            </a:extLst>
          </p:cNvPr>
          <p:cNvSpPr txBox="1"/>
          <p:nvPr/>
        </p:nvSpPr>
        <p:spPr>
          <a:xfrm>
            <a:off x="950690" y="2963717"/>
            <a:ext cx="5038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Predições feitas pela função hipótese atual: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2C0E0BF6-E9E7-917E-1A95-7663ACE47117}"/>
                  </a:ext>
                </a:extLst>
              </p:cNvPr>
              <p:cNvSpPr txBox="1"/>
              <p:nvPr/>
            </p:nvSpPr>
            <p:spPr>
              <a:xfrm>
                <a:off x="940676" y="4391117"/>
                <a:ext cx="46464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sz="3200"/>
                            <m:t>−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m:rPr>
                              <m:nor/>
                            </m:rPr>
                            <a:rPr lang="pt-BR" sz="3200"/>
                            <m:t>−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1, 1, 3, 5, 7</m:t>
                          </m:r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2C0E0BF6-E9E7-917E-1A95-7663ACE47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676" y="4391117"/>
                <a:ext cx="464648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ixaDeTexto 15">
            <a:extLst>
              <a:ext uri="{FF2B5EF4-FFF2-40B4-BE49-F238E27FC236}">
                <a16:creationId xmlns:a16="http://schemas.microsoft.com/office/drawing/2014/main" id="{FD948EC7-85F7-6E52-1F45-B0C46EEE686D}"/>
              </a:ext>
            </a:extLst>
          </p:cNvPr>
          <p:cNvSpPr txBox="1"/>
          <p:nvPr/>
        </p:nvSpPr>
        <p:spPr>
          <a:xfrm>
            <a:off x="920128" y="4066270"/>
            <a:ext cx="5038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Valores de saída esperados: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0C965931-9A52-5212-D858-2CA21A5BB4E6}"/>
                  </a:ext>
                </a:extLst>
              </p:cNvPr>
              <p:cNvSpPr txBox="1"/>
              <p:nvPr/>
            </p:nvSpPr>
            <p:spPr>
              <a:xfrm>
                <a:off x="838200" y="5400773"/>
                <a:ext cx="46464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b="1" i="0" smtClean="0">
                              <a:latin typeface="Cambria Math" panose="02040503050406030204" pitchFamily="18" charset="0"/>
                            </a:rPr>
                            <m:t>𝐝𝐢𝐟𝐟</m:t>
                          </m:r>
                        </m:e>
                        <m: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1, 1, 1, 1, 1, 1</m:t>
                          </m:r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0C965931-9A52-5212-D858-2CA21A5BB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00773"/>
                <a:ext cx="464648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ixaDeTexto 17">
            <a:extLst>
              <a:ext uri="{FF2B5EF4-FFF2-40B4-BE49-F238E27FC236}">
                <a16:creationId xmlns:a16="http://schemas.microsoft.com/office/drawing/2014/main" id="{CDE437A9-7CA4-2024-881F-36BEFDF36D5A}"/>
              </a:ext>
            </a:extLst>
          </p:cNvPr>
          <p:cNvSpPr txBox="1"/>
          <p:nvPr/>
        </p:nvSpPr>
        <p:spPr>
          <a:xfrm>
            <a:off x="835885" y="5079923"/>
            <a:ext cx="5038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Diferença entre predições e valores esperados:</a:t>
            </a:r>
          </a:p>
        </p:txBody>
      </p:sp>
    </p:spTree>
    <p:extLst>
      <p:ext uri="{BB962C8B-B14F-4D97-AF65-F5344CB8AC3E}">
        <p14:creationId xmlns:p14="http://schemas.microsoft.com/office/powerpoint/2010/main" val="670618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69B24-439F-2623-4569-4FB2DD7B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quão boa é a nova função hipótese?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7659DC9-1554-0C0A-78CF-76B7B51210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73781" y="2919154"/>
                <a:ext cx="6095611" cy="3938845"/>
              </a:xfrm>
            </p:spPr>
            <p:txBody>
              <a:bodyPr/>
              <a:lstStyle/>
              <a:p>
                <a:r>
                  <a:rPr lang="pt-BR" dirty="0"/>
                  <a:t>Já temos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melhor</a:t>
                </a:r>
                <a:r>
                  <a:rPr lang="pt-BR" dirty="0"/>
                  <a:t>, pois o erro caiu de 5.17 para 1.0.</a:t>
                </a:r>
              </a:p>
              <a:p>
                <a:r>
                  <a:rPr lang="pt-BR" dirty="0"/>
                  <a:t>Estamos indo na direção correta!</a:t>
                </a:r>
              </a:p>
              <a:p>
                <a:r>
                  <a:rPr lang="pt-BR" dirty="0"/>
                  <a:t>Comparando as predições com os valores esperados, notamos que as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retas são paralelas</a:t>
                </a:r>
                <a:r>
                  <a:rPr lang="pt-BR" dirty="0"/>
                  <a:t>, sendo a única diferença um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deslocamento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O descolamento pode ser alterado através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 (coeficiente linear). 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7659DC9-1554-0C0A-78CF-76B7B51210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73781" y="2919154"/>
                <a:ext cx="6095611" cy="3938845"/>
              </a:xfrm>
              <a:blipFill>
                <a:blip r:embed="rId2"/>
                <a:stretch>
                  <a:fillRect l="-1802" t="-2632" b="-41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3AA0FD9-5618-1CB1-C45C-EC822823FCE6}"/>
                  </a:ext>
                </a:extLst>
              </p:cNvPr>
              <p:cNvSpPr txBox="1"/>
              <p:nvPr/>
            </p:nvSpPr>
            <p:spPr>
              <a:xfrm>
                <a:off x="838200" y="1677096"/>
                <a:ext cx="48023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2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])=−2+2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3AA0FD9-5618-1CB1-C45C-EC822823F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77096"/>
                <a:ext cx="480231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E383BC1-E520-56B2-9887-35520FE0D236}"/>
                  </a:ext>
                </a:extLst>
              </p:cNvPr>
              <p:cNvSpPr txBox="1"/>
              <p:nvPr/>
            </p:nvSpPr>
            <p:spPr>
              <a:xfrm>
                <a:off x="838200" y="2338168"/>
                <a:ext cx="427571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1, 0, 1, 2, 3, 4</m:t>
                          </m:r>
                        </m:e>
                      </m:d>
                    </m:oMath>
                  </m:oMathPara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E383BC1-E520-56B2-9887-35520FE0D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38168"/>
                <a:ext cx="427571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m 16">
            <a:extLst>
              <a:ext uri="{FF2B5EF4-FFF2-40B4-BE49-F238E27FC236}">
                <a16:creationId xmlns:a16="http://schemas.microsoft.com/office/drawing/2014/main" id="{B264004C-5785-B53A-912B-070D69AF00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450" y="1677096"/>
            <a:ext cx="4556206" cy="10051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FB342B0A-A7DF-6C12-40E4-C2608103EBA3}"/>
                  </a:ext>
                </a:extLst>
              </p:cNvPr>
              <p:cNvSpPr txBox="1"/>
              <p:nvPr/>
            </p:nvSpPr>
            <p:spPr>
              <a:xfrm>
                <a:off x="838200" y="3042489"/>
                <a:ext cx="495725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EQM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+1+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FB342B0A-A7DF-6C12-40E4-C2608103E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42489"/>
                <a:ext cx="4957255" cy="786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AC1FD510-769A-FDEC-ABA2-12F26B39B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" y="4049811"/>
            <a:ext cx="3572781" cy="273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09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32BBE-B730-80FE-B571-737E28D0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Nova suposição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B6828F7-9D67-7C40-231F-ADA4A16099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5198" y="2865403"/>
                <a:ext cx="6161520" cy="3105363"/>
              </a:xfrm>
            </p:spPr>
            <p:txBody>
              <a:bodyPr/>
              <a:lstStyle/>
              <a:p>
                <a:r>
                  <a:rPr lang="pt-BR" dirty="0"/>
                  <a:t>Vamos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aumentar o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i="1" dirty="0">
                    <a:solidFill>
                      <a:srgbClr val="00B050"/>
                    </a:solidFill>
                  </a:rPr>
                  <a:t> </a:t>
                </a:r>
                <a:r>
                  <a:rPr lang="pt-BR" dirty="0"/>
                  <a:t>para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, fazer novas predições e calcular o erro.</a:t>
                </a:r>
              </a:p>
              <a:p>
                <a:r>
                  <a:rPr lang="pt-BR" dirty="0"/>
                  <a:t>Bingo! Nossa nova suposição mapeia perfeitamente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, resultando em um EQM igual a 0.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B6828F7-9D67-7C40-231F-ADA4A16099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5198" y="2865403"/>
                <a:ext cx="6161520" cy="3105363"/>
              </a:xfrm>
              <a:blipFill>
                <a:blip r:embed="rId2"/>
                <a:stretch>
                  <a:fillRect l="-1780" t="-31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F7FD3E92-C09E-69CD-F096-68F5BBDB0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532" y="5482965"/>
            <a:ext cx="5564039" cy="12635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A0E7A75-4672-695C-338D-9C8E6FB5F241}"/>
                  </a:ext>
                </a:extLst>
              </p:cNvPr>
              <p:cNvSpPr txBox="1"/>
              <p:nvPr/>
            </p:nvSpPr>
            <p:spPr>
              <a:xfrm>
                <a:off x="950690" y="2275463"/>
                <a:ext cx="427571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1, 0, 1, 2, 3, 4</m:t>
                          </m:r>
                        </m:e>
                      </m:d>
                    </m:oMath>
                  </m:oMathPara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A0E7A75-4672-695C-338D-9C8E6FB5F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90" y="2275463"/>
                <a:ext cx="427571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30EC248-F637-E0C9-42A3-BEAB62D2298C}"/>
                  </a:ext>
                </a:extLst>
              </p:cNvPr>
              <p:cNvSpPr txBox="1"/>
              <p:nvPr/>
            </p:nvSpPr>
            <p:spPr>
              <a:xfrm>
                <a:off x="950690" y="1690688"/>
                <a:ext cx="53268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=−1+2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30EC248-F637-E0C9-42A3-BEAB62D22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90" y="1690688"/>
                <a:ext cx="532682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0FE64DDE-CE4B-1933-7ADD-4A83CBA36CD5}"/>
                  </a:ext>
                </a:extLst>
              </p:cNvPr>
              <p:cNvSpPr txBox="1"/>
              <p:nvPr/>
            </p:nvSpPr>
            <p:spPr>
              <a:xfrm>
                <a:off x="950690" y="3236827"/>
                <a:ext cx="488450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algn="just">
                  <a:defRPr sz="3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pt-BR" sz="2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sz="2800" b="0" i="0" smtClean="0"/>
                            <m:t>−3,</m:t>
                          </m:r>
                          <m:r>
                            <m:rPr>
                              <m:nor/>
                            </m:rPr>
                            <a:rPr lang="pt-BR" sz="2800" b="0" i="0"/>
                            <m:t> </m:t>
                          </m:r>
                          <m:r>
                            <m:rPr>
                              <m:nor/>
                            </m:rPr>
                            <a:rPr lang="pt-BR" sz="2800" b="0" i="0" smtClean="0"/>
                            <m:t>−1,</m:t>
                          </m:r>
                          <m:r>
                            <m:rPr>
                              <m:nor/>
                            </m:rPr>
                            <a:rPr lang="pt-BR" sz="2800" b="0" i="0"/>
                            <m:t> </m:t>
                          </m:r>
                          <m:r>
                            <m:rPr>
                              <m:nor/>
                            </m:rPr>
                            <a:rPr lang="pt-BR" sz="2800" b="0" i="0" smtClean="0"/>
                            <m:t>1,</m:t>
                          </m:r>
                          <m:r>
                            <m:rPr>
                              <m:nor/>
                            </m:rPr>
                            <a:rPr lang="pt-BR" sz="2800" b="0" i="0"/>
                            <m:t> </m:t>
                          </m:r>
                          <m:r>
                            <m:rPr>
                              <m:nor/>
                            </m:rPr>
                            <a:rPr lang="pt-BR" sz="2800" b="0" i="0" smtClean="0"/>
                            <m:t>3,</m:t>
                          </m:r>
                          <m:r>
                            <m:rPr>
                              <m:nor/>
                            </m:rPr>
                            <a:rPr lang="pt-BR" sz="2800" b="0" i="0"/>
                            <m:t> </m:t>
                          </m:r>
                          <m:r>
                            <m:rPr>
                              <m:nor/>
                            </m:rPr>
                            <a:rPr lang="pt-BR" sz="2800" b="0" i="0" smtClean="0"/>
                            <m:t>5,</m:t>
                          </m:r>
                          <m:r>
                            <m:rPr>
                              <m:nor/>
                            </m:rPr>
                            <a:rPr lang="pt-BR" sz="2800" b="0" i="0"/>
                            <m:t> </m:t>
                          </m:r>
                          <m: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0FE64DDE-CE4B-1933-7ADD-4A83CBA36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90" y="3236827"/>
                <a:ext cx="488450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2588A145-A2B8-63C4-EA80-8E35C1B8BD03}"/>
              </a:ext>
            </a:extLst>
          </p:cNvPr>
          <p:cNvSpPr txBox="1"/>
          <p:nvPr/>
        </p:nvSpPr>
        <p:spPr>
          <a:xfrm>
            <a:off x="950690" y="2900217"/>
            <a:ext cx="5038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Predições feitas pela função hipótese atual: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6D2BE21-82CD-97D4-8C96-5BCF4C0D8490}"/>
                  </a:ext>
                </a:extLst>
              </p:cNvPr>
              <p:cNvSpPr txBox="1"/>
              <p:nvPr/>
            </p:nvSpPr>
            <p:spPr>
              <a:xfrm>
                <a:off x="940676" y="4226017"/>
                <a:ext cx="464648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pt-BR" sz="2800"/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m:rPr>
                              <m:nor/>
                            </m:rPr>
                            <a:rPr lang="pt-BR" sz="2800"/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1, 1, 3, 5, 7</m:t>
                          </m:r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6D2BE21-82CD-97D4-8C96-5BCF4C0D8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676" y="4226017"/>
                <a:ext cx="464648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0754134C-FF1C-6E49-5C05-D82167F99FC1}"/>
              </a:ext>
            </a:extLst>
          </p:cNvPr>
          <p:cNvSpPr txBox="1"/>
          <p:nvPr/>
        </p:nvSpPr>
        <p:spPr>
          <a:xfrm>
            <a:off x="920128" y="3901170"/>
            <a:ext cx="5038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Valores de saída esperados: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EEC867F-1B76-A5C2-84DC-C316CA20789A}"/>
                  </a:ext>
                </a:extLst>
              </p:cNvPr>
              <p:cNvSpPr txBox="1"/>
              <p:nvPr/>
            </p:nvSpPr>
            <p:spPr>
              <a:xfrm>
                <a:off x="838200" y="5172173"/>
                <a:ext cx="464648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1" i="0" smtClean="0">
                              <a:latin typeface="Cambria Math" panose="02040503050406030204" pitchFamily="18" charset="0"/>
                            </a:rPr>
                            <m:t>𝐝𝐢𝐟𝐟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0, 0, 0, 0, 0, 0</m:t>
                          </m:r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EEC867F-1B76-A5C2-84DC-C316CA207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72173"/>
                <a:ext cx="464648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ixaDeTexto 13">
            <a:extLst>
              <a:ext uri="{FF2B5EF4-FFF2-40B4-BE49-F238E27FC236}">
                <a16:creationId xmlns:a16="http://schemas.microsoft.com/office/drawing/2014/main" id="{96F84455-938D-8F48-6B09-1A6AC09B2185}"/>
              </a:ext>
            </a:extLst>
          </p:cNvPr>
          <p:cNvSpPr txBox="1"/>
          <p:nvPr/>
        </p:nvSpPr>
        <p:spPr>
          <a:xfrm>
            <a:off x="835885" y="4851323"/>
            <a:ext cx="5038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Diferença entre predições e valores esperados: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210AABEE-8AC5-2FEE-F211-3DCFEC950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374" y="191855"/>
            <a:ext cx="3422837" cy="262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815255A-37DD-6815-7BA8-6E7547F0DDFB}"/>
                  </a:ext>
                </a:extLst>
              </p:cNvPr>
              <p:cNvSpPr txBox="1"/>
              <p:nvPr/>
            </p:nvSpPr>
            <p:spPr>
              <a:xfrm>
                <a:off x="835885" y="5878143"/>
                <a:ext cx="5153423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EQM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=0.0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815255A-37DD-6815-7BA8-6E7547F0D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85" y="5878143"/>
                <a:ext cx="5153423" cy="7861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423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9F3C9-BC99-D1EE-D89B-53B8DB24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B0BEA5-45F1-846E-DDE8-40FAEBCEB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4352" y="1825624"/>
            <a:ext cx="6318606" cy="503237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O </a:t>
            </a:r>
            <a:r>
              <a:rPr lang="pt-BR" b="1" i="1" dirty="0">
                <a:solidFill>
                  <a:srgbClr val="00B050"/>
                </a:solidFill>
              </a:rPr>
              <a:t>processo iterativo de otimização </a:t>
            </a:r>
            <a:r>
              <a:rPr lang="pt-BR" dirty="0"/>
              <a:t>(ou </a:t>
            </a:r>
            <a:r>
              <a:rPr lang="pt-BR" b="1" i="1" dirty="0">
                <a:solidFill>
                  <a:srgbClr val="7030A0"/>
                </a:solidFill>
              </a:rPr>
              <a:t>atualização</a:t>
            </a:r>
            <a:r>
              <a:rPr lang="pt-BR" dirty="0"/>
              <a:t>) dos pesos será sempre esse: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Palpite</a:t>
            </a:r>
            <a:r>
              <a:rPr lang="pt-BR" dirty="0"/>
              <a:t> (i.e., pesos),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Medida da qualidade </a:t>
            </a:r>
            <a:r>
              <a:rPr lang="pt-BR" dirty="0"/>
              <a:t>do palpite,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Otimização do palpite </a:t>
            </a:r>
            <a:r>
              <a:rPr lang="pt-BR" dirty="0"/>
              <a:t>(i.e., atualização dos peso) baseada na informação do erro.</a:t>
            </a:r>
          </a:p>
          <a:p>
            <a:r>
              <a:rPr lang="pt-BR" dirty="0"/>
              <a:t>As </a:t>
            </a:r>
            <a:r>
              <a:rPr lang="pt-BR" b="1" i="1" dirty="0">
                <a:solidFill>
                  <a:srgbClr val="00B050"/>
                </a:solidFill>
              </a:rPr>
              <a:t>iterações se repetem </a:t>
            </a:r>
            <a:r>
              <a:rPr lang="pt-BR" dirty="0"/>
              <a:t>até que algum </a:t>
            </a:r>
            <a:r>
              <a:rPr lang="pt-BR" b="1" i="1" dirty="0">
                <a:solidFill>
                  <a:srgbClr val="00B050"/>
                </a:solidFill>
              </a:rPr>
              <a:t>critério de parada </a:t>
            </a:r>
            <a:r>
              <a:rPr lang="pt-BR" dirty="0"/>
              <a:t>seja atingido: </a:t>
            </a:r>
            <a:r>
              <a:rPr lang="pt-BR" b="1" i="1" dirty="0"/>
              <a:t>número máximo de iterações</a:t>
            </a:r>
            <a:r>
              <a:rPr lang="pt-BR" dirty="0"/>
              <a:t>, </a:t>
            </a:r>
            <a:r>
              <a:rPr lang="pt-BR" b="1" i="1" dirty="0"/>
              <a:t>erro cair abaixo de um limiar</a:t>
            </a:r>
            <a:r>
              <a:rPr lang="pt-BR" dirty="0"/>
              <a:t>, etc.</a:t>
            </a:r>
          </a:p>
          <a:p>
            <a:r>
              <a:rPr lang="pt-BR" dirty="0"/>
              <a:t>Esse é o processo por trás do algoritmo de otimização que veremos adiante.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205F127-C8CB-909F-4909-CF04C4919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20" y="3309509"/>
            <a:ext cx="5381564" cy="122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64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10830-7336-91D1-5499-0862C69F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Outras medidas de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6BF4C0-7E55-8111-D7D7-035EB9474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589" y="1825624"/>
            <a:ext cx="5208998" cy="5032375"/>
          </a:xfrm>
        </p:spPr>
        <p:txBody>
          <a:bodyPr/>
          <a:lstStyle/>
          <a:p>
            <a:r>
              <a:rPr lang="pt-BR" dirty="0"/>
              <a:t>Além do EQM (</a:t>
            </a:r>
            <a:r>
              <a:rPr lang="pt-BR" i="1" dirty="0" err="1"/>
              <a:t>Mean</a:t>
            </a:r>
            <a:r>
              <a:rPr lang="pt-BR" i="1" dirty="0"/>
              <a:t> </a:t>
            </a:r>
            <a:r>
              <a:rPr lang="pt-BR" i="1" dirty="0" err="1"/>
              <a:t>Squared</a:t>
            </a:r>
            <a:r>
              <a:rPr lang="pt-BR" i="1" dirty="0"/>
              <a:t> </a:t>
            </a:r>
            <a:r>
              <a:rPr lang="pt-BR" i="1" dirty="0" err="1"/>
              <a:t>Error</a:t>
            </a:r>
            <a:r>
              <a:rPr lang="pt-BR" i="1" dirty="0"/>
              <a:t> </a:t>
            </a:r>
            <a:r>
              <a:rPr lang="pt-BR" dirty="0"/>
              <a:t>– MSE), existem diversas outras métricas de erro que podemos usar, como por exemplo: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Raíz do Erro Quadrático Médio (</a:t>
            </a:r>
            <a:r>
              <a:rPr lang="pt-BR" i="1" dirty="0"/>
              <a:t>Root </a:t>
            </a:r>
            <a:r>
              <a:rPr lang="pt-BR" i="1" dirty="0" err="1"/>
              <a:t>Mean</a:t>
            </a:r>
            <a:r>
              <a:rPr lang="pt-BR" i="1" dirty="0"/>
              <a:t> </a:t>
            </a:r>
            <a:r>
              <a:rPr lang="pt-BR" i="1" dirty="0" err="1"/>
              <a:t>Squared</a:t>
            </a:r>
            <a:r>
              <a:rPr lang="pt-BR" i="1" dirty="0"/>
              <a:t> </a:t>
            </a:r>
            <a:r>
              <a:rPr lang="pt-BR" i="1" dirty="0" err="1"/>
              <a:t>Error</a:t>
            </a:r>
            <a:r>
              <a:rPr lang="pt-BR" dirty="0"/>
              <a:t> – RMSE)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Erro Absoluto Médio (</a:t>
            </a:r>
            <a:r>
              <a:rPr lang="pt-BR" i="1" dirty="0" err="1"/>
              <a:t>Mean</a:t>
            </a:r>
            <a:r>
              <a:rPr lang="pt-BR" i="1" dirty="0"/>
              <a:t> Absolute </a:t>
            </a:r>
            <a:r>
              <a:rPr lang="pt-BR" i="1" dirty="0" err="1"/>
              <a:t>Error</a:t>
            </a:r>
            <a:r>
              <a:rPr lang="pt-BR" dirty="0"/>
              <a:t> – MAE);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Entropia Cruzada (</a:t>
            </a:r>
            <a:r>
              <a:rPr lang="pt-BR" i="1" dirty="0"/>
              <a:t>Cross-</a:t>
            </a:r>
            <a:r>
              <a:rPr lang="pt-BR" i="1" dirty="0" err="1"/>
              <a:t>Entropy</a:t>
            </a:r>
            <a:r>
              <a:rPr lang="pt-BR" dirty="0"/>
              <a:t>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Etc.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12EE77C-6A3E-1677-40E5-D9887B8F1F1E}"/>
                  </a:ext>
                </a:extLst>
              </p:cNvPr>
              <p:cNvSpPr txBox="1"/>
              <p:nvPr/>
            </p:nvSpPr>
            <p:spPr>
              <a:xfrm>
                <a:off x="838200" y="1513028"/>
                <a:ext cx="3846816" cy="1130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]−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12EE77C-6A3E-1677-40E5-D9887B8F1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13028"/>
                <a:ext cx="3846816" cy="113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F978C60-702A-3E84-6A73-7B615BC32415}"/>
                  </a:ext>
                </a:extLst>
              </p:cNvPr>
              <p:cNvSpPr txBox="1"/>
              <p:nvPr/>
            </p:nvSpPr>
            <p:spPr>
              <a:xfrm>
                <a:off x="838201" y="4123565"/>
                <a:ext cx="4019144" cy="1131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MAE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]−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F978C60-702A-3E84-6A73-7B615BC32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4123565"/>
                <a:ext cx="4019144" cy="11311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2E122A9-38F7-3EDD-EB51-59C40B04209A}"/>
                  </a:ext>
                </a:extLst>
              </p:cNvPr>
              <p:cNvSpPr txBox="1"/>
              <p:nvPr/>
            </p:nvSpPr>
            <p:spPr>
              <a:xfrm>
                <a:off x="838201" y="5245391"/>
                <a:ext cx="4792038" cy="1169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CE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func>
                                <m:func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2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2E122A9-38F7-3EDD-EB51-59C40B042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245391"/>
                <a:ext cx="4792038" cy="11698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have Direita 9">
            <a:extLst>
              <a:ext uri="{FF2B5EF4-FFF2-40B4-BE49-F238E27FC236}">
                <a16:creationId xmlns:a16="http://schemas.microsoft.com/office/drawing/2014/main" id="{93847FBB-5EC0-2B17-E863-7E714B0F2822}"/>
              </a:ext>
            </a:extLst>
          </p:cNvPr>
          <p:cNvSpPr/>
          <p:nvPr/>
        </p:nvSpPr>
        <p:spPr>
          <a:xfrm>
            <a:off x="4930308" y="1513028"/>
            <a:ext cx="310556" cy="36876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BADE38C-30AD-7CB9-1E21-F23E5394C2BF}"/>
              </a:ext>
            </a:extLst>
          </p:cNvPr>
          <p:cNvSpPr txBox="1"/>
          <p:nvPr/>
        </p:nvSpPr>
        <p:spPr>
          <a:xfrm>
            <a:off x="5240864" y="2756675"/>
            <a:ext cx="1456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Usadas em problemas de aproximação de curvas</a:t>
            </a:r>
          </a:p>
        </p:txBody>
      </p:sp>
      <p:sp>
        <p:nvSpPr>
          <p:cNvPr id="12" name="Chave Direita 11">
            <a:extLst>
              <a:ext uri="{FF2B5EF4-FFF2-40B4-BE49-F238E27FC236}">
                <a16:creationId xmlns:a16="http://schemas.microsoft.com/office/drawing/2014/main" id="{188BC520-3A22-1304-CF44-585EBB62C79B}"/>
              </a:ext>
            </a:extLst>
          </p:cNvPr>
          <p:cNvSpPr/>
          <p:nvPr/>
        </p:nvSpPr>
        <p:spPr>
          <a:xfrm rot="5400000">
            <a:off x="2938528" y="4143019"/>
            <a:ext cx="310556" cy="451121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1AFB85E-4781-4569-8ECE-CCDFAA667CDA}"/>
              </a:ext>
            </a:extLst>
          </p:cNvPr>
          <p:cNvSpPr txBox="1"/>
          <p:nvPr/>
        </p:nvSpPr>
        <p:spPr>
          <a:xfrm>
            <a:off x="838199" y="6442591"/>
            <a:ext cx="4511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Usada em problemas de classificação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8660048-2E5D-834E-A26B-95299D0CB16C}"/>
                  </a:ext>
                </a:extLst>
              </p:cNvPr>
              <p:cNvSpPr txBox="1"/>
              <p:nvPr/>
            </p:nvSpPr>
            <p:spPr>
              <a:xfrm>
                <a:off x="838199" y="2644521"/>
                <a:ext cx="4329702" cy="1529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RMSE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]−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58660048-2E5D-834E-A26B-95299D0CB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644521"/>
                <a:ext cx="4329702" cy="15292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759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10830-7336-91D1-5499-0862C69F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Mean</a:t>
            </a:r>
            <a:r>
              <a:rPr lang="pt-BR" i="1" dirty="0"/>
              <a:t> </a:t>
            </a:r>
            <a:r>
              <a:rPr lang="pt-BR" i="1" dirty="0" err="1"/>
              <a:t>Squared</a:t>
            </a:r>
            <a:r>
              <a:rPr lang="pt-BR" i="1" dirty="0"/>
              <a:t> </a:t>
            </a:r>
            <a:r>
              <a:rPr lang="pt-BR" i="1" dirty="0" err="1"/>
              <a:t>Error</a:t>
            </a:r>
            <a:r>
              <a:rPr lang="pt-BR" i="1" dirty="0"/>
              <a:t> </a:t>
            </a:r>
            <a:r>
              <a:rPr lang="pt-BR" dirty="0"/>
              <a:t>– MSE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6BF4C0-7E55-8111-D7D7-035EB9474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352" y="1825624"/>
            <a:ext cx="6904235" cy="5032375"/>
          </a:xfrm>
        </p:spPr>
        <p:txBody>
          <a:bodyPr>
            <a:normAutofit/>
          </a:bodyPr>
          <a:lstStyle/>
          <a:p>
            <a:r>
              <a:rPr lang="pt-BR" dirty="0"/>
              <a:t>É a função de erro </a:t>
            </a:r>
            <a:r>
              <a:rPr lang="pt-BR" b="1" i="1" dirty="0">
                <a:solidFill>
                  <a:srgbClr val="00B050"/>
                </a:solidFill>
              </a:rPr>
              <a:t>mais usada em problemas de regressão</a:t>
            </a:r>
            <a:r>
              <a:rPr lang="pt-BR" dirty="0"/>
              <a:t>.</a:t>
            </a:r>
          </a:p>
          <a:p>
            <a:r>
              <a:rPr lang="pt-BR" dirty="0"/>
              <a:t>Calcula a média do </a:t>
            </a:r>
            <a:r>
              <a:rPr lang="pt-BR" b="1" i="1" dirty="0">
                <a:solidFill>
                  <a:srgbClr val="FF0000"/>
                </a:solidFill>
              </a:rPr>
              <a:t>quadrado da diferença</a:t>
            </a:r>
            <a:r>
              <a:rPr lang="pt-BR" dirty="0"/>
              <a:t> entre os valores preditos e esperados.</a:t>
            </a:r>
          </a:p>
          <a:p>
            <a:r>
              <a:rPr lang="pt-BR" dirty="0"/>
              <a:t>Assim, ele </a:t>
            </a:r>
            <a:r>
              <a:rPr lang="pt-BR" b="1" i="1" dirty="0">
                <a:solidFill>
                  <a:srgbClr val="00B050"/>
                </a:solidFill>
              </a:rPr>
              <a:t>p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enaliza mais (i.e., amplifica) erros maiores </a:t>
            </a:r>
            <a:r>
              <a:rPr lang="pt-BR" b="0" i="0" dirty="0">
                <a:effectLst/>
              </a:rPr>
              <a:t>(devido ao quadrado), o que pode ser útil se desejarmos que o modelo seja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mais sensível a esses erros</a:t>
            </a:r>
            <a:r>
              <a:rPr lang="pt-BR" b="0" i="0" dirty="0">
                <a:effectLst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12EE77C-6A3E-1677-40E5-D9887B8F1F1E}"/>
                  </a:ext>
                </a:extLst>
              </p:cNvPr>
              <p:cNvSpPr txBox="1"/>
              <p:nvPr/>
            </p:nvSpPr>
            <p:spPr>
              <a:xfrm>
                <a:off x="838200" y="3054151"/>
                <a:ext cx="3941614" cy="1131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]−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12EE77C-6A3E-1677-40E5-D9887B8F1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54151"/>
                <a:ext cx="3941614" cy="1131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372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10830-7336-91D1-5499-0862C69F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Mean</a:t>
            </a:r>
            <a:r>
              <a:rPr lang="pt-BR" i="1" dirty="0"/>
              <a:t> </a:t>
            </a:r>
            <a:r>
              <a:rPr lang="pt-BR" i="1" dirty="0" err="1"/>
              <a:t>Squared</a:t>
            </a:r>
            <a:r>
              <a:rPr lang="pt-BR" i="1" dirty="0"/>
              <a:t> </a:t>
            </a:r>
            <a:r>
              <a:rPr lang="pt-BR" i="1" dirty="0" err="1"/>
              <a:t>Error</a:t>
            </a:r>
            <a:r>
              <a:rPr lang="pt-BR" i="1" dirty="0"/>
              <a:t> </a:t>
            </a:r>
            <a:r>
              <a:rPr lang="pt-BR" dirty="0"/>
              <a:t>– 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96BF4C0-7E55-8111-D7D7-035EB9474E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47352" y="1825624"/>
                <a:ext cx="6904235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Porém, como a diferença é elevada ao quadrado, ele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pode amplificar a influência de outliers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0" i="0" dirty="0">
                    <a:effectLst/>
                  </a:rPr>
                  <a:t>Outliers podem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distorcer ou deslocar a função hipótese</a:t>
                </a:r>
                <a:r>
                  <a:rPr lang="pt-BR" b="0" i="0" dirty="0">
                    <a:effectLst/>
                  </a:rPr>
                  <a:t>, fazendo com que ela se distancie de um mapeamento que represente o comportamento dos dados “</a:t>
                </a:r>
                <a:r>
                  <a:rPr lang="pt-BR" b="0" i="1" dirty="0">
                    <a:effectLst/>
                  </a:rPr>
                  <a:t>normais</a:t>
                </a:r>
                <a:r>
                  <a:rPr lang="pt-BR" b="0" i="0" dirty="0">
                    <a:effectLst/>
                  </a:rPr>
                  <a:t>”.</a:t>
                </a:r>
                <a:endParaRPr lang="pt-BR" dirty="0"/>
              </a:p>
              <a:p>
                <a:r>
                  <a:rPr lang="pt-BR" b="0" i="0" dirty="0">
                    <a:effectLst/>
                  </a:rPr>
                  <a:t>Por usar o quadrad</a:t>
                </a:r>
                <a:r>
                  <a:rPr lang="pt-BR" dirty="0"/>
                  <a:t>o da diferença,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 métrica não fica na mesma escala dos dados originais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0" i="0" dirty="0">
                    <a:effectLst/>
                  </a:rPr>
                  <a:t>Por exemplo, se estivermos predizendo o preço de casas em dólares, os erros estarão 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effectLst/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pt-BR" b="0" i="0" smtClean="0">
                            <a:effectLst/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effectLst/>
                            <a:latin typeface="Cambria Math" panose="02040503050406030204" pitchFamily="18" charset="0"/>
                          </a:rPr>
                          <m:t>lares</m:t>
                        </m:r>
                      </m:e>
                      <m:sup>
                        <m:r>
                          <a:rPr lang="pt-BR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b="0" i="0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96BF4C0-7E55-8111-D7D7-035EB9474E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47352" y="1825624"/>
                <a:ext cx="6904235" cy="5032375"/>
              </a:xfrm>
              <a:blipFill>
                <a:blip r:embed="rId3"/>
                <a:stretch>
                  <a:fillRect l="-1589" t="-1937" r="-1059" b="-1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12EE77C-6A3E-1677-40E5-D9887B8F1F1E}"/>
                  </a:ext>
                </a:extLst>
              </p:cNvPr>
              <p:cNvSpPr txBox="1"/>
              <p:nvPr/>
            </p:nvSpPr>
            <p:spPr>
              <a:xfrm>
                <a:off x="838200" y="2006187"/>
                <a:ext cx="3941614" cy="1131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]−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12EE77C-6A3E-1677-40E5-D9887B8F1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06187"/>
                <a:ext cx="3941614" cy="11311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7CBC9B34-92E1-B52B-8142-014B6553E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93384"/>
            <a:ext cx="3753596" cy="284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939C8695-1AC6-E3B6-703C-D28BBA11C447}"/>
              </a:ext>
            </a:extLst>
          </p:cNvPr>
          <p:cNvSpPr/>
          <p:nvPr/>
        </p:nvSpPr>
        <p:spPr>
          <a:xfrm>
            <a:off x="2412510" y="3593384"/>
            <a:ext cx="410966" cy="32148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7EA9FFC-A8FC-FBFD-695A-DC546F50941B}"/>
                  </a:ext>
                </a:extLst>
              </p:cNvPr>
              <p:cNvSpPr txBox="1"/>
              <p:nvPr/>
            </p:nvSpPr>
            <p:spPr>
              <a:xfrm>
                <a:off x="1197419" y="6482208"/>
                <a:ext cx="36721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Função original: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7EA9FFC-A8FC-FBFD-695A-DC546F509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419" y="6482208"/>
                <a:ext cx="3672155" cy="369332"/>
              </a:xfrm>
              <a:prstGeom prst="rect">
                <a:avLst/>
              </a:prstGeom>
              <a:blipFill>
                <a:blip r:embed="rId6"/>
                <a:stretch>
                  <a:fillRect l="-1327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6315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10830-7336-91D1-5499-0862C69F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Root </a:t>
            </a:r>
            <a:r>
              <a:rPr lang="pt-BR" i="1" dirty="0" err="1"/>
              <a:t>Mean</a:t>
            </a:r>
            <a:r>
              <a:rPr lang="pt-BR" i="1" dirty="0"/>
              <a:t> </a:t>
            </a:r>
            <a:r>
              <a:rPr lang="pt-BR" i="1" dirty="0" err="1"/>
              <a:t>Squared</a:t>
            </a:r>
            <a:r>
              <a:rPr lang="pt-BR" i="1" dirty="0"/>
              <a:t> </a:t>
            </a:r>
            <a:r>
              <a:rPr lang="pt-BR" i="1" dirty="0" err="1"/>
              <a:t>Error</a:t>
            </a:r>
            <a:r>
              <a:rPr lang="pt-BR" i="1" dirty="0"/>
              <a:t> </a:t>
            </a:r>
            <a:r>
              <a:rPr lang="pt-BR" dirty="0"/>
              <a:t>– RMSE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6BF4C0-7E55-8111-D7D7-035EB9474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4"/>
            <a:ext cx="5955587" cy="5032375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Calcula a raiz quadrada do MSE,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retornando a métrica à mesma escala dos dados originais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dirty="0"/>
              <a:t>Isso é </a:t>
            </a:r>
            <a:r>
              <a:rPr lang="pt-BR" b="0" i="0" dirty="0">
                <a:effectLst/>
              </a:rPr>
              <a:t>útil para interpretar o erro na mesma unidade do rótulo, o que pode facilitar a compreensão do impacto do erro.</a:t>
            </a:r>
          </a:p>
          <a:p>
            <a:r>
              <a:rPr lang="pt-BR" b="0" i="0" dirty="0">
                <a:effectLst/>
              </a:rPr>
              <a:t>Assim como o MSE, </a:t>
            </a:r>
            <a:r>
              <a:rPr lang="pt-BR" b="1" i="1" dirty="0">
                <a:effectLst/>
              </a:rPr>
              <a:t>também amplifica erros maiores</a:t>
            </a:r>
            <a:r>
              <a:rPr lang="pt-BR" b="0" i="0" dirty="0">
                <a:effectLst/>
              </a:rPr>
              <a:t>.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DB827281-D803-D692-2D15-45F018122509}"/>
                  </a:ext>
                </a:extLst>
              </p:cNvPr>
              <p:cNvSpPr txBox="1"/>
              <p:nvPr/>
            </p:nvSpPr>
            <p:spPr>
              <a:xfrm>
                <a:off x="838200" y="2812610"/>
                <a:ext cx="4483813" cy="1529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>
                          <a:latin typeface="Cambria Math" panose="02040503050406030204" pitchFamily="18" charset="0"/>
                        </a:rPr>
                        <m:t>RMSE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]−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DB827281-D803-D692-2D15-45F018122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12610"/>
                <a:ext cx="4483813" cy="1529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9753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10830-7336-91D1-5499-0862C69F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Mean</a:t>
            </a:r>
            <a:r>
              <a:rPr lang="pt-BR" i="1" dirty="0"/>
              <a:t> Absolute </a:t>
            </a:r>
            <a:r>
              <a:rPr lang="pt-BR" i="1" dirty="0" err="1"/>
              <a:t>Error</a:t>
            </a:r>
            <a:r>
              <a:rPr lang="pt-BR" i="1" dirty="0"/>
              <a:t> </a:t>
            </a:r>
            <a:r>
              <a:rPr lang="pt-BR" dirty="0"/>
              <a:t>– MAE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6BF4C0-7E55-8111-D7D7-035EB9474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9416" y="1825624"/>
            <a:ext cx="6452171" cy="5032375"/>
          </a:xfrm>
        </p:spPr>
        <p:txBody>
          <a:bodyPr>
            <a:normAutofit/>
          </a:bodyPr>
          <a:lstStyle/>
          <a:p>
            <a:r>
              <a:rPr lang="pt-BR" dirty="0"/>
              <a:t>C</a:t>
            </a:r>
            <a:r>
              <a:rPr lang="pt-BR" b="0" i="0" dirty="0">
                <a:effectLst/>
              </a:rPr>
              <a:t>alcula 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média das diferenças absolutas </a:t>
            </a:r>
            <a:r>
              <a:rPr lang="pt-BR" b="0" i="0" dirty="0">
                <a:effectLst/>
              </a:rPr>
              <a:t>entre as predições do modelo e os valores esperados.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0" i="0" dirty="0">
                <a:effectLst/>
              </a:rPr>
              <a:t>Ou seja,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penaliza os erros de maneira uniforme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b="0" i="0" dirty="0">
                <a:effectLst/>
              </a:rPr>
              <a:t>Ao contrário do MSE e RMSE, não eleva os erros ao quadrado, o que o torna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menos sensível a outliers</a:t>
            </a:r>
            <a:r>
              <a:rPr lang="pt-BR" b="0" i="0" dirty="0">
                <a:effectLst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F5F8010-CACA-C2A4-30BD-3BE2F2AF278D}"/>
                  </a:ext>
                </a:extLst>
              </p:cNvPr>
              <p:cNvSpPr txBox="1"/>
              <p:nvPr/>
            </p:nvSpPr>
            <p:spPr>
              <a:xfrm>
                <a:off x="838201" y="3075601"/>
                <a:ext cx="3900518" cy="1131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>
                          <a:latin typeface="Cambria Math" panose="02040503050406030204" pitchFamily="18" charset="0"/>
                        </a:rPr>
                        <m:t>MAE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]−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F5F8010-CACA-C2A4-30BD-3BE2F2AF2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3075601"/>
                <a:ext cx="3900518" cy="1131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621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10830-7336-91D1-5499-0862C69F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Mean</a:t>
            </a:r>
            <a:r>
              <a:rPr lang="pt-BR" i="1" dirty="0"/>
              <a:t> Absolute </a:t>
            </a:r>
            <a:r>
              <a:rPr lang="pt-BR" i="1" dirty="0" err="1"/>
              <a:t>Error</a:t>
            </a:r>
            <a:r>
              <a:rPr lang="pt-BR" i="1" dirty="0"/>
              <a:t> </a:t>
            </a:r>
            <a:r>
              <a:rPr lang="pt-BR" dirty="0"/>
              <a:t>– MAE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6BF4C0-7E55-8111-D7D7-035EB9474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9416" y="1825624"/>
            <a:ext cx="6452171" cy="5032375"/>
          </a:xfrm>
        </p:spPr>
        <p:txBody>
          <a:bodyPr>
            <a:normAutofit/>
          </a:bodyPr>
          <a:lstStyle/>
          <a:p>
            <a:r>
              <a:rPr lang="pt-BR" b="1" i="1" dirty="0">
                <a:solidFill>
                  <a:srgbClr val="00B050"/>
                </a:solidFill>
              </a:rPr>
              <a:t>Representa os erros na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mesma escala dos dados originais</a:t>
            </a:r>
            <a:r>
              <a:rPr lang="pt-BR" b="0" i="0" dirty="0">
                <a:effectLst/>
              </a:rPr>
              <a:t>, facilitando a interpretação.</a:t>
            </a:r>
          </a:p>
          <a:p>
            <a:r>
              <a:rPr lang="pt-BR" dirty="0"/>
              <a:t>Boa opção quando </a:t>
            </a:r>
            <a:r>
              <a:rPr lang="pt-BR" b="0" i="0" dirty="0">
                <a:effectLst/>
              </a:rPr>
              <a:t>desejamos um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erro mais uniforme em todas as predições </a:t>
            </a:r>
            <a:r>
              <a:rPr lang="pt-BR" b="0" i="0" dirty="0">
                <a:effectLst/>
              </a:rPr>
              <a:t>e desejamos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minimizar a influência de outliers</a:t>
            </a:r>
            <a:r>
              <a:rPr lang="pt-BR" b="0" i="0" dirty="0">
                <a:effectLst/>
              </a:rPr>
              <a:t>.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F5F8010-CACA-C2A4-30BD-3BE2F2AF278D}"/>
                  </a:ext>
                </a:extLst>
              </p:cNvPr>
              <p:cNvSpPr txBox="1"/>
              <p:nvPr/>
            </p:nvSpPr>
            <p:spPr>
              <a:xfrm>
                <a:off x="838201" y="3075601"/>
                <a:ext cx="3900518" cy="1131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>
                          <a:latin typeface="Cambria Math" panose="02040503050406030204" pitchFamily="18" charset="0"/>
                        </a:rPr>
                        <m:t>MAE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]−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F5F8010-CACA-C2A4-30BD-3BE2F2AF2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3075601"/>
                <a:ext cx="3900518" cy="1131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293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1A700-99B2-FE0E-67A5-D3FF4AECD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devo usar?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1C451E-859D-2157-A7CE-65479D14B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8769"/>
            <a:ext cx="10864065" cy="2213101"/>
          </a:xfrm>
        </p:spPr>
        <p:txBody>
          <a:bodyPr/>
          <a:lstStyle/>
          <a:p>
            <a:pPr marL="0" indent="0">
              <a:buNone/>
            </a:pPr>
            <a:r>
              <a:rPr lang="pt-BR" b="0" i="0" dirty="0">
                <a:effectLst/>
              </a:rPr>
              <a:t>O recomendável é </a:t>
            </a:r>
            <a:r>
              <a:rPr lang="pt-BR" b="1" i="1" dirty="0">
                <a:effectLst/>
              </a:rPr>
              <a:t>experimentar diferentes funções de erro </a:t>
            </a:r>
            <a:r>
              <a:rPr lang="pt-BR" b="0" i="0" dirty="0">
                <a:effectLst/>
              </a:rPr>
              <a:t>durante a </a:t>
            </a:r>
            <a:r>
              <a:rPr lang="pt-BR" b="1" i="1" dirty="0">
                <a:effectLst/>
              </a:rPr>
              <a:t>fase de desenvolvimento </a:t>
            </a:r>
            <a:r>
              <a:rPr lang="pt-BR" b="0" i="0" dirty="0">
                <a:effectLst/>
              </a:rPr>
              <a:t>para determinar qual delas se </a:t>
            </a:r>
            <a:r>
              <a:rPr lang="pt-BR" b="1" i="1" dirty="0">
                <a:effectLst/>
              </a:rPr>
              <a:t>alinha</a:t>
            </a:r>
            <a:r>
              <a:rPr lang="pt-BR" b="0" i="0" dirty="0">
                <a:effectLst/>
              </a:rPr>
              <a:t> melhor com os </a:t>
            </a:r>
            <a:r>
              <a:rPr lang="pt-BR" b="1" i="1" dirty="0">
                <a:effectLst/>
              </a:rPr>
              <a:t>objetivos e as características </a:t>
            </a:r>
            <a:r>
              <a:rPr lang="pt-BR" b="0" i="0" dirty="0">
                <a:effectLst/>
              </a:rPr>
              <a:t>específicas do seu </a:t>
            </a:r>
            <a:r>
              <a:rPr lang="pt-BR" b="1" i="1" dirty="0">
                <a:effectLst/>
              </a:rPr>
              <a:t>problema de regressão</a:t>
            </a:r>
            <a:r>
              <a:rPr lang="pt-BR" b="0" i="0" dirty="0">
                <a:effectLst/>
              </a:rPr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4603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FD801-7E8D-0885-F1AD-8DAF6F77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ou aproximação de funções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6276C-11C7-FBDF-9CC4-A84A195D7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900" y="1941817"/>
            <a:ext cx="6215864" cy="4916184"/>
          </a:xfrm>
        </p:spPr>
        <p:txBody>
          <a:bodyPr>
            <a:normAutofit/>
          </a:bodyPr>
          <a:lstStyle/>
          <a:p>
            <a:r>
              <a:rPr lang="pt-BR" dirty="0"/>
              <a:t>O problema que estamos vendo neste tópico é conhecido como </a:t>
            </a:r>
            <a:r>
              <a:rPr lang="pt-BR" b="1" i="1" dirty="0"/>
              <a:t>regressão</a:t>
            </a:r>
            <a:r>
              <a:rPr lang="pt-BR" dirty="0"/>
              <a:t> ou </a:t>
            </a:r>
            <a:r>
              <a:rPr lang="pt-BR" b="1" i="1" dirty="0"/>
              <a:t>aproximação de funções</a:t>
            </a:r>
            <a:r>
              <a:rPr lang="pt-BR" dirty="0"/>
              <a:t>.</a:t>
            </a:r>
          </a:p>
          <a:p>
            <a:r>
              <a:rPr lang="pt-BR" dirty="0"/>
              <a:t>Nele, a função com formato de reta, que definimos como </a:t>
            </a:r>
            <a:r>
              <a:rPr lang="pt-BR" b="1" i="1" dirty="0"/>
              <a:t>função hipótese</a:t>
            </a:r>
            <a:r>
              <a:rPr lang="pt-BR" dirty="0"/>
              <a:t>,</a:t>
            </a:r>
            <a:r>
              <a:rPr lang="pt-BR" b="1" i="1" dirty="0"/>
              <a:t> </a:t>
            </a:r>
            <a:r>
              <a:rPr lang="pt-BR" dirty="0"/>
              <a:t>é o </a:t>
            </a:r>
            <a:r>
              <a:rPr lang="pt-BR" b="1" i="1" dirty="0">
                <a:solidFill>
                  <a:srgbClr val="00B050"/>
                </a:solidFill>
              </a:rPr>
              <a:t>modelo de ML </a:t>
            </a:r>
            <a:r>
              <a:rPr lang="pt-BR" dirty="0"/>
              <a:t>e o </a:t>
            </a:r>
            <a:r>
              <a:rPr lang="pt-BR" b="1" i="1" dirty="0">
                <a:solidFill>
                  <a:srgbClr val="00B050"/>
                </a:solidFill>
              </a:rPr>
              <a:t>objetivo da regressão é encontrar os parâmetros (ou pesos) que </a:t>
            </a:r>
            <a:r>
              <a:rPr lang="pt-BR" b="1" i="1" dirty="0">
                <a:solidFill>
                  <a:srgbClr val="7030A0"/>
                </a:solidFill>
              </a:rPr>
              <a:t>minimizam a função de erro</a:t>
            </a:r>
            <a:r>
              <a:rPr lang="pt-BR" dirty="0"/>
              <a:t>.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9782521-FE16-7376-22C4-2B622220EFB1}"/>
              </a:ext>
            </a:extLst>
          </p:cNvPr>
          <p:cNvGrpSpPr/>
          <p:nvPr/>
        </p:nvGrpSpPr>
        <p:grpSpPr>
          <a:xfrm>
            <a:off x="389515" y="2586731"/>
            <a:ext cx="4931284" cy="3031571"/>
            <a:chOff x="1320613" y="2558363"/>
            <a:chExt cx="4931284" cy="3031571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7043207C-E08F-0373-D6FF-F0C502F36306}"/>
                </a:ext>
              </a:extLst>
            </p:cNvPr>
            <p:cNvGrpSpPr/>
            <p:nvPr/>
          </p:nvGrpSpPr>
          <p:grpSpPr>
            <a:xfrm>
              <a:off x="1320613" y="2558363"/>
              <a:ext cx="4931284" cy="3031571"/>
              <a:chOff x="3440214" y="2034381"/>
              <a:chExt cx="4931284" cy="3031571"/>
            </a:xfrm>
          </p:grpSpPr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16FC2795-212E-91C6-32E5-2EA13A55B896}"/>
                  </a:ext>
                </a:extLst>
              </p:cNvPr>
              <p:cNvSpPr/>
              <p:nvPr/>
            </p:nvSpPr>
            <p:spPr>
              <a:xfrm>
                <a:off x="3708815" y="2686164"/>
                <a:ext cx="463575" cy="1935842"/>
              </a:xfrm>
              <a:prstGeom prst="rect">
                <a:avLst/>
              </a:prstGeom>
              <a:solidFill>
                <a:schemeClr val="accent1">
                  <a:alpha val="4100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6" name="Straight Arrow Connector 14">
                <a:extLst>
                  <a:ext uri="{FF2B5EF4-FFF2-40B4-BE49-F238E27FC236}">
                    <a16:creationId xmlns:a16="http://schemas.microsoft.com/office/drawing/2014/main" id="{F238EB8B-055A-9659-C6C7-E8D6D24012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6814" y="3127539"/>
                <a:ext cx="288000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14">
                <a:extLst>
                  <a:ext uri="{FF2B5EF4-FFF2-40B4-BE49-F238E27FC236}">
                    <a16:creationId xmlns:a16="http://schemas.microsoft.com/office/drawing/2014/main" id="{10811772-B5E2-C96E-FC88-09170CBCFB66}"/>
                  </a:ext>
                </a:extLst>
              </p:cNvPr>
              <p:cNvCxnSpPr>
                <a:cxnSpLocks/>
                <a:stCxn id="20" idx="3"/>
                <a:endCxn id="8" idx="1"/>
              </p:cNvCxnSpPr>
              <p:nvPr/>
            </p:nvCxnSpPr>
            <p:spPr>
              <a:xfrm flipV="1">
                <a:off x="5962659" y="3098836"/>
                <a:ext cx="797341" cy="1168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Rectangle 12">
                <a:extLst>
                  <a:ext uri="{FF2B5EF4-FFF2-40B4-BE49-F238E27FC236}">
                    <a16:creationId xmlns:a16="http://schemas.microsoft.com/office/drawing/2014/main" id="{1B0D0AE8-BDC0-49CC-107A-ED44A46639BD}"/>
                  </a:ext>
                </a:extLst>
              </p:cNvPr>
              <p:cNvSpPr/>
              <p:nvPr/>
            </p:nvSpPr>
            <p:spPr>
              <a:xfrm>
                <a:off x="6760000" y="2663590"/>
                <a:ext cx="1216818" cy="8704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Função de erro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id="{949F9987-4ABF-C340-D042-BBC34574BF4C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719614" y="2818318"/>
                    <a:ext cx="467999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pt-BR" sz="2400" b="1" dirty="0"/>
                  </a:p>
                </p:txBody>
              </p:sp>
            </mc:Choice>
            <mc:Fallback xmlns=""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id="{949F9987-4ABF-C340-D042-BBC34574BF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719614" y="2818318"/>
                    <a:ext cx="467999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CaixaDeTexto 9">
                    <a:extLst>
                      <a:ext uri="{FF2B5EF4-FFF2-40B4-BE49-F238E27FC236}">
                        <a16:creationId xmlns:a16="http://schemas.microsoft.com/office/drawing/2014/main" id="{7F15E993-4422-806B-1EAF-0E2278B7F409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708815" y="4023518"/>
                    <a:ext cx="467999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pt-BR" sz="2400" dirty="0"/>
                  </a:p>
                </p:txBody>
              </p:sp>
            </mc:Choice>
            <mc:Fallback xmlns="">
              <p:sp>
                <p:nvSpPr>
                  <p:cNvPr id="10" name="CaixaDeTexto 9">
                    <a:extLst>
                      <a:ext uri="{FF2B5EF4-FFF2-40B4-BE49-F238E27FC236}">
                        <a16:creationId xmlns:a16="http://schemas.microsoft.com/office/drawing/2014/main" id="{A5E5AD39-A7D5-E436-9BBF-FFF6ADD6FD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708815" y="4023518"/>
                    <a:ext cx="46799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CaixaDeTexto 10">
                    <a:extLst>
                      <a:ext uri="{FF2B5EF4-FFF2-40B4-BE49-F238E27FC236}">
                        <a16:creationId xmlns:a16="http://schemas.microsoft.com/office/drawing/2014/main" id="{124DCDD6-D8CF-6576-CFF0-698F7B3EB2C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5962657" y="2633936"/>
                    <a:ext cx="797339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oMath>
                      </m:oMathPara>
                    </a14:m>
                    <a:endParaRPr lang="pt-BR" sz="2400" dirty="0"/>
                  </a:p>
                </p:txBody>
              </p:sp>
            </mc:Choice>
            <mc:Fallback xmlns="">
              <p:sp>
                <p:nvSpPr>
                  <p:cNvPr id="11" name="CaixaDeTexto 10">
                    <a:extLst>
                      <a:ext uri="{FF2B5EF4-FFF2-40B4-BE49-F238E27FC236}">
                        <a16:creationId xmlns:a16="http://schemas.microsoft.com/office/drawing/2014/main" id="{124DCDD6-D8CF-6576-CFF0-698F7B3EB2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5962657" y="2633936"/>
                    <a:ext cx="797339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4000" r="-23077" b="-10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Conector: Angulado 11">
                <a:extLst>
                  <a:ext uri="{FF2B5EF4-FFF2-40B4-BE49-F238E27FC236}">
                    <a16:creationId xmlns:a16="http://schemas.microsoft.com/office/drawing/2014/main" id="{BE324F06-24FA-DC3F-B2D3-6D62EF999C7A}"/>
                  </a:ext>
                </a:extLst>
              </p:cNvPr>
              <p:cNvCxnSpPr>
                <a:cxnSpLocks/>
                <a:stCxn id="10" idx="1"/>
                <a:endCxn id="8" idx="2"/>
              </p:cNvCxnSpPr>
              <p:nvPr/>
            </p:nvCxnSpPr>
            <p:spPr>
              <a:xfrm flipV="1">
                <a:off x="4176814" y="3534081"/>
                <a:ext cx="3191595" cy="72027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: Angulado 12">
                <a:extLst>
                  <a:ext uri="{FF2B5EF4-FFF2-40B4-BE49-F238E27FC236}">
                    <a16:creationId xmlns:a16="http://schemas.microsoft.com/office/drawing/2014/main" id="{CA314D9A-D6E0-712D-48EB-B4C1887A6B1C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 flipH="1" flipV="1">
                <a:off x="6055124" y="2034381"/>
                <a:ext cx="1921694" cy="1064455"/>
              </a:xfrm>
              <a:prstGeom prst="bentConnector3">
                <a:avLst>
                  <a:gd name="adj1" fmla="val -11896"/>
                </a:avLst>
              </a:prstGeom>
              <a:ln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C81948B-BB65-3F38-F6E4-2BA28B046FA8}"/>
                  </a:ext>
                </a:extLst>
              </p:cNvPr>
              <p:cNvSpPr txBox="1"/>
              <p:nvPr/>
            </p:nvSpPr>
            <p:spPr>
              <a:xfrm>
                <a:off x="4124144" y="3698676"/>
                <a:ext cx="1651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Ajuste dos </a:t>
                </a:r>
                <a:r>
                  <a:rPr lang="pt-BR" sz="1200" u="sng" dirty="0"/>
                  <a:t>parâmetros</a:t>
                </a:r>
                <a:r>
                  <a:rPr lang="pt-BR" sz="1200" dirty="0"/>
                  <a:t> do modelo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B2CE912B-5038-EBC1-81A7-D20EE5D6E46D}"/>
                  </a:ext>
                </a:extLst>
              </p:cNvPr>
              <p:cNvSpPr txBox="1"/>
              <p:nvPr/>
            </p:nvSpPr>
            <p:spPr>
              <a:xfrm>
                <a:off x="3440214" y="4604287"/>
                <a:ext cx="10474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Conjunto de treinamento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D3E11F84-4477-5F76-06FD-69734A1728E7}"/>
                  </a:ext>
                </a:extLst>
              </p:cNvPr>
              <p:cNvSpPr txBox="1"/>
              <p:nvPr/>
            </p:nvSpPr>
            <p:spPr>
              <a:xfrm>
                <a:off x="5949953" y="3108346"/>
                <a:ext cx="8485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predição</a:t>
                </a:r>
              </a:p>
              <a:p>
                <a:pPr algn="ctr"/>
                <a:r>
                  <a:rPr lang="pt-BR" sz="1200" dirty="0"/>
                  <a:t>(resultado do palpite)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45EED265-0627-E165-4B85-2F60C945BCA4}"/>
                  </a:ext>
                </a:extLst>
              </p:cNvPr>
              <p:cNvSpPr txBox="1"/>
              <p:nvPr/>
            </p:nvSpPr>
            <p:spPr>
              <a:xfrm>
                <a:off x="7916581" y="3099689"/>
                <a:ext cx="4549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erro</a:t>
                </a:r>
              </a:p>
            </p:txBody>
          </p:sp>
          <p:cxnSp>
            <p:nvCxnSpPr>
              <p:cNvPr id="19" name="Conector reto 18">
                <a:extLst>
                  <a:ext uri="{FF2B5EF4-FFF2-40B4-BE49-F238E27FC236}">
                    <a16:creationId xmlns:a16="http://schemas.microsoft.com/office/drawing/2014/main" id="{4FBB144A-D3B1-58ED-79D4-025C07566D4A}"/>
                  </a:ext>
                </a:extLst>
              </p:cNvPr>
              <p:cNvCxnSpPr/>
              <p:nvPr/>
            </p:nvCxnSpPr>
            <p:spPr>
              <a:xfrm flipH="1">
                <a:off x="4733134" y="2034381"/>
                <a:ext cx="1212396" cy="1743075"/>
              </a:xfrm>
              <a:prstGeom prst="line">
                <a:avLst/>
              </a:prstGeom>
              <a:ln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tângulo 19">
                  <a:extLst>
                    <a:ext uri="{FF2B5EF4-FFF2-40B4-BE49-F238E27FC236}">
                      <a16:creationId xmlns:a16="http://schemas.microsoft.com/office/drawing/2014/main" id="{677D043A-F43E-B0F3-37B7-346AE0697B04}"/>
                    </a:ext>
                  </a:extLst>
                </p:cNvPr>
                <p:cNvSpPr/>
                <p:nvPr/>
              </p:nvSpPr>
              <p:spPr>
                <a:xfrm>
                  <a:off x="2343971" y="3188740"/>
                  <a:ext cx="1499087" cy="870491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tângulo 19">
                  <a:extLst>
                    <a:ext uri="{FF2B5EF4-FFF2-40B4-BE49-F238E27FC236}">
                      <a16:creationId xmlns:a16="http://schemas.microsoft.com/office/drawing/2014/main" id="{677D043A-F43E-B0F3-37B7-346AE0697B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971" y="3188740"/>
                  <a:ext cx="1499087" cy="87049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850665E7-60C9-9057-ADB6-2CAE2237B854}"/>
                </a:ext>
              </a:extLst>
            </p:cNvPr>
            <p:cNvSpPr/>
            <p:nvPr/>
          </p:nvSpPr>
          <p:spPr>
            <a:xfrm>
              <a:off x="2828925" y="3540919"/>
              <a:ext cx="270358" cy="2309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C7E874E7-5F26-FF77-A6A0-4A158DC458C0}"/>
                </a:ext>
              </a:extLst>
            </p:cNvPr>
            <p:cNvSpPr/>
            <p:nvPr/>
          </p:nvSpPr>
          <p:spPr>
            <a:xfrm>
              <a:off x="3324661" y="3540919"/>
              <a:ext cx="270358" cy="2309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CB280270-DF7E-B48C-54FA-D35DD769A8F2}"/>
                </a:ext>
              </a:extLst>
            </p:cNvPr>
            <p:cNvCxnSpPr>
              <a:stCxn id="24" idx="2"/>
            </p:cNvCxnSpPr>
            <p:nvPr/>
          </p:nvCxnSpPr>
          <p:spPr>
            <a:xfrm flipH="1">
              <a:off x="3219731" y="3771900"/>
              <a:ext cx="240109" cy="5295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id="{C10D38CF-E0FA-1551-91EE-C0598E273D40}"/>
                </a:ext>
              </a:extLst>
            </p:cNvPr>
            <p:cNvCxnSpPr>
              <a:stCxn id="23" idx="2"/>
            </p:cNvCxnSpPr>
            <p:nvPr/>
          </p:nvCxnSpPr>
          <p:spPr>
            <a:xfrm>
              <a:off x="2964104" y="3771900"/>
              <a:ext cx="237794" cy="5295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3DB927FD-619C-3B92-17E3-53ADFB087CC0}"/>
                </a:ext>
              </a:extLst>
            </p:cNvPr>
            <p:cNvSpPr txBox="1"/>
            <p:nvPr/>
          </p:nvSpPr>
          <p:spPr>
            <a:xfrm>
              <a:off x="2270990" y="2946533"/>
              <a:ext cx="11158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Modelo de ML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3155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FD801-7E8D-0885-F1AD-8DAF6F77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ou aproximação de funções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6276C-11C7-FBDF-9CC4-A84A195D7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900" y="1941817"/>
            <a:ext cx="6215864" cy="4916184"/>
          </a:xfrm>
        </p:spPr>
        <p:txBody>
          <a:bodyPr>
            <a:normAutofit/>
          </a:bodyPr>
          <a:lstStyle/>
          <a:p>
            <a:r>
              <a:rPr lang="pt-BR" sz="2800" b="1" dirty="0"/>
              <a:t>OBS</a:t>
            </a:r>
            <a:r>
              <a:rPr lang="pt-BR" sz="2800" dirty="0"/>
              <a:t>.: No exemplo que vimos nesse tópico, conseguimos visualizar os dados e, facilmente, identificar a equação (ou formato) da função hipótese, mas em outros casos, além dos pesos, temos que descobrir o formato da função.</a:t>
            </a:r>
          </a:p>
          <a:p>
            <a:r>
              <a:rPr lang="pt-BR" dirty="0"/>
              <a:t>Veremos adiante formas de definir o melhor modelo para uma aproximação.</a:t>
            </a:r>
            <a:endParaRPr lang="pt-BR" sz="2800" dirty="0"/>
          </a:p>
          <a:p>
            <a:endParaRPr lang="pt-BR" dirty="0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9782521-FE16-7376-22C4-2B622220EFB1}"/>
              </a:ext>
            </a:extLst>
          </p:cNvPr>
          <p:cNvGrpSpPr/>
          <p:nvPr/>
        </p:nvGrpSpPr>
        <p:grpSpPr>
          <a:xfrm>
            <a:off x="389515" y="2586731"/>
            <a:ext cx="4931284" cy="3031571"/>
            <a:chOff x="1320613" y="2558363"/>
            <a:chExt cx="4931284" cy="3031571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7043207C-E08F-0373-D6FF-F0C502F36306}"/>
                </a:ext>
              </a:extLst>
            </p:cNvPr>
            <p:cNvGrpSpPr/>
            <p:nvPr/>
          </p:nvGrpSpPr>
          <p:grpSpPr>
            <a:xfrm>
              <a:off x="1320613" y="2558363"/>
              <a:ext cx="4931284" cy="3031571"/>
              <a:chOff x="3440214" y="2034381"/>
              <a:chExt cx="4931284" cy="3031571"/>
            </a:xfrm>
          </p:grpSpPr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16FC2795-212E-91C6-32E5-2EA13A55B896}"/>
                  </a:ext>
                </a:extLst>
              </p:cNvPr>
              <p:cNvSpPr/>
              <p:nvPr/>
            </p:nvSpPr>
            <p:spPr>
              <a:xfrm>
                <a:off x="3708815" y="2686164"/>
                <a:ext cx="463575" cy="1935842"/>
              </a:xfrm>
              <a:prstGeom prst="rect">
                <a:avLst/>
              </a:prstGeom>
              <a:solidFill>
                <a:schemeClr val="accent1">
                  <a:alpha val="4100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6" name="Straight Arrow Connector 14">
                <a:extLst>
                  <a:ext uri="{FF2B5EF4-FFF2-40B4-BE49-F238E27FC236}">
                    <a16:creationId xmlns:a16="http://schemas.microsoft.com/office/drawing/2014/main" id="{F238EB8B-055A-9659-C6C7-E8D6D24012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6814" y="3127539"/>
                <a:ext cx="288000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14">
                <a:extLst>
                  <a:ext uri="{FF2B5EF4-FFF2-40B4-BE49-F238E27FC236}">
                    <a16:creationId xmlns:a16="http://schemas.microsoft.com/office/drawing/2014/main" id="{10811772-B5E2-C96E-FC88-09170CBCFB66}"/>
                  </a:ext>
                </a:extLst>
              </p:cNvPr>
              <p:cNvCxnSpPr>
                <a:cxnSpLocks/>
                <a:stCxn id="20" idx="3"/>
                <a:endCxn id="8" idx="1"/>
              </p:cNvCxnSpPr>
              <p:nvPr/>
            </p:nvCxnSpPr>
            <p:spPr>
              <a:xfrm flipV="1">
                <a:off x="5962659" y="3098836"/>
                <a:ext cx="797341" cy="1168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Rectangle 12">
                <a:extLst>
                  <a:ext uri="{FF2B5EF4-FFF2-40B4-BE49-F238E27FC236}">
                    <a16:creationId xmlns:a16="http://schemas.microsoft.com/office/drawing/2014/main" id="{1B0D0AE8-BDC0-49CC-107A-ED44A46639BD}"/>
                  </a:ext>
                </a:extLst>
              </p:cNvPr>
              <p:cNvSpPr/>
              <p:nvPr/>
            </p:nvSpPr>
            <p:spPr>
              <a:xfrm>
                <a:off x="6760000" y="2663590"/>
                <a:ext cx="1216818" cy="8704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Função de erro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id="{949F9987-4ABF-C340-D042-BBC34574BF4C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719614" y="2818318"/>
                    <a:ext cx="467999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pt-BR" sz="2400" b="1" dirty="0"/>
                  </a:p>
                </p:txBody>
              </p:sp>
            </mc:Choice>
            <mc:Fallback xmlns=""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id="{949F9987-4ABF-C340-D042-BBC34574BF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719614" y="2818318"/>
                    <a:ext cx="467999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CaixaDeTexto 9">
                    <a:extLst>
                      <a:ext uri="{FF2B5EF4-FFF2-40B4-BE49-F238E27FC236}">
                        <a16:creationId xmlns:a16="http://schemas.microsoft.com/office/drawing/2014/main" id="{7F15E993-4422-806B-1EAF-0E2278B7F409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708815" y="4023518"/>
                    <a:ext cx="467999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pt-BR" sz="2400" dirty="0"/>
                  </a:p>
                </p:txBody>
              </p:sp>
            </mc:Choice>
            <mc:Fallback xmlns="">
              <p:sp>
                <p:nvSpPr>
                  <p:cNvPr id="10" name="CaixaDeTexto 9">
                    <a:extLst>
                      <a:ext uri="{FF2B5EF4-FFF2-40B4-BE49-F238E27FC236}">
                        <a16:creationId xmlns:a16="http://schemas.microsoft.com/office/drawing/2014/main" id="{A5E5AD39-A7D5-E436-9BBF-FFF6ADD6FD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3708815" y="4023518"/>
                    <a:ext cx="46799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CaixaDeTexto 10">
                    <a:extLst>
                      <a:ext uri="{FF2B5EF4-FFF2-40B4-BE49-F238E27FC236}">
                        <a16:creationId xmlns:a16="http://schemas.microsoft.com/office/drawing/2014/main" id="{124DCDD6-D8CF-6576-CFF0-698F7B3EB2CE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5962657" y="2633936"/>
                    <a:ext cx="797339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oMath>
                      </m:oMathPara>
                    </a14:m>
                    <a:endParaRPr lang="pt-BR" sz="2400" dirty="0"/>
                  </a:p>
                </p:txBody>
              </p:sp>
            </mc:Choice>
            <mc:Fallback xmlns="">
              <p:sp>
                <p:nvSpPr>
                  <p:cNvPr id="11" name="CaixaDeTexto 10">
                    <a:extLst>
                      <a:ext uri="{FF2B5EF4-FFF2-40B4-BE49-F238E27FC236}">
                        <a16:creationId xmlns:a16="http://schemas.microsoft.com/office/drawing/2014/main" id="{124DCDD6-D8CF-6576-CFF0-698F7B3EB2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5962657" y="2633936"/>
                    <a:ext cx="797339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4000" r="-23077" b="-10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Conector: Angulado 11">
                <a:extLst>
                  <a:ext uri="{FF2B5EF4-FFF2-40B4-BE49-F238E27FC236}">
                    <a16:creationId xmlns:a16="http://schemas.microsoft.com/office/drawing/2014/main" id="{BE324F06-24FA-DC3F-B2D3-6D62EF999C7A}"/>
                  </a:ext>
                </a:extLst>
              </p:cNvPr>
              <p:cNvCxnSpPr>
                <a:cxnSpLocks/>
                <a:stCxn id="10" idx="1"/>
                <a:endCxn id="8" idx="2"/>
              </p:cNvCxnSpPr>
              <p:nvPr/>
            </p:nvCxnSpPr>
            <p:spPr>
              <a:xfrm flipV="1">
                <a:off x="4176814" y="3534081"/>
                <a:ext cx="3191595" cy="72027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: Angulado 12">
                <a:extLst>
                  <a:ext uri="{FF2B5EF4-FFF2-40B4-BE49-F238E27FC236}">
                    <a16:creationId xmlns:a16="http://schemas.microsoft.com/office/drawing/2014/main" id="{CA314D9A-D6E0-712D-48EB-B4C1887A6B1C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 flipH="1" flipV="1">
                <a:off x="6055124" y="2034381"/>
                <a:ext cx="1921694" cy="1064455"/>
              </a:xfrm>
              <a:prstGeom prst="bentConnector3">
                <a:avLst>
                  <a:gd name="adj1" fmla="val -11896"/>
                </a:avLst>
              </a:prstGeom>
              <a:ln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C81948B-BB65-3F38-F6E4-2BA28B046FA8}"/>
                  </a:ext>
                </a:extLst>
              </p:cNvPr>
              <p:cNvSpPr txBox="1"/>
              <p:nvPr/>
            </p:nvSpPr>
            <p:spPr>
              <a:xfrm>
                <a:off x="4124144" y="3698676"/>
                <a:ext cx="1651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Ajuste dos </a:t>
                </a:r>
                <a:r>
                  <a:rPr lang="pt-BR" sz="1200" u="sng" dirty="0"/>
                  <a:t>parâmetros</a:t>
                </a:r>
                <a:r>
                  <a:rPr lang="pt-BR" sz="1200" dirty="0"/>
                  <a:t> do modelo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B2CE912B-5038-EBC1-81A7-D20EE5D6E46D}"/>
                  </a:ext>
                </a:extLst>
              </p:cNvPr>
              <p:cNvSpPr txBox="1"/>
              <p:nvPr/>
            </p:nvSpPr>
            <p:spPr>
              <a:xfrm>
                <a:off x="3440214" y="4604287"/>
                <a:ext cx="10474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Conjunto de treinamento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D3E11F84-4477-5F76-06FD-69734A1728E7}"/>
                  </a:ext>
                </a:extLst>
              </p:cNvPr>
              <p:cNvSpPr txBox="1"/>
              <p:nvPr/>
            </p:nvSpPr>
            <p:spPr>
              <a:xfrm>
                <a:off x="5949953" y="3108346"/>
                <a:ext cx="8485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predição</a:t>
                </a:r>
              </a:p>
              <a:p>
                <a:pPr algn="ctr"/>
                <a:r>
                  <a:rPr lang="pt-BR" sz="1200" dirty="0"/>
                  <a:t>(resultado do palpite)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45EED265-0627-E165-4B85-2F60C945BCA4}"/>
                  </a:ext>
                </a:extLst>
              </p:cNvPr>
              <p:cNvSpPr txBox="1"/>
              <p:nvPr/>
            </p:nvSpPr>
            <p:spPr>
              <a:xfrm>
                <a:off x="7916581" y="3099689"/>
                <a:ext cx="4549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erro</a:t>
                </a:r>
              </a:p>
            </p:txBody>
          </p:sp>
          <p:cxnSp>
            <p:nvCxnSpPr>
              <p:cNvPr id="19" name="Conector reto 18">
                <a:extLst>
                  <a:ext uri="{FF2B5EF4-FFF2-40B4-BE49-F238E27FC236}">
                    <a16:creationId xmlns:a16="http://schemas.microsoft.com/office/drawing/2014/main" id="{4FBB144A-D3B1-58ED-79D4-025C07566D4A}"/>
                  </a:ext>
                </a:extLst>
              </p:cNvPr>
              <p:cNvCxnSpPr/>
              <p:nvPr/>
            </p:nvCxnSpPr>
            <p:spPr>
              <a:xfrm flipH="1">
                <a:off x="4733134" y="2034381"/>
                <a:ext cx="1212396" cy="1743075"/>
              </a:xfrm>
              <a:prstGeom prst="line">
                <a:avLst/>
              </a:prstGeom>
              <a:ln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tângulo 19">
                  <a:extLst>
                    <a:ext uri="{FF2B5EF4-FFF2-40B4-BE49-F238E27FC236}">
                      <a16:creationId xmlns:a16="http://schemas.microsoft.com/office/drawing/2014/main" id="{677D043A-F43E-B0F3-37B7-346AE0697B04}"/>
                    </a:ext>
                  </a:extLst>
                </p:cNvPr>
                <p:cNvSpPr/>
                <p:nvPr/>
              </p:nvSpPr>
              <p:spPr>
                <a:xfrm>
                  <a:off x="2343971" y="3188740"/>
                  <a:ext cx="1499087" cy="870491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tângulo 19">
                  <a:extLst>
                    <a:ext uri="{FF2B5EF4-FFF2-40B4-BE49-F238E27FC236}">
                      <a16:creationId xmlns:a16="http://schemas.microsoft.com/office/drawing/2014/main" id="{677D043A-F43E-B0F3-37B7-346AE0697B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971" y="3188740"/>
                  <a:ext cx="1499087" cy="87049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850665E7-60C9-9057-ADB6-2CAE2237B854}"/>
                </a:ext>
              </a:extLst>
            </p:cNvPr>
            <p:cNvSpPr/>
            <p:nvPr/>
          </p:nvSpPr>
          <p:spPr>
            <a:xfrm>
              <a:off x="2828925" y="3540919"/>
              <a:ext cx="270358" cy="2309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C7E874E7-5F26-FF77-A6A0-4A158DC458C0}"/>
                </a:ext>
              </a:extLst>
            </p:cNvPr>
            <p:cNvSpPr/>
            <p:nvPr/>
          </p:nvSpPr>
          <p:spPr>
            <a:xfrm>
              <a:off x="3324661" y="3540919"/>
              <a:ext cx="270358" cy="2309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CB280270-DF7E-B48C-54FA-D35DD769A8F2}"/>
                </a:ext>
              </a:extLst>
            </p:cNvPr>
            <p:cNvCxnSpPr>
              <a:stCxn id="24" idx="2"/>
            </p:cNvCxnSpPr>
            <p:nvPr/>
          </p:nvCxnSpPr>
          <p:spPr>
            <a:xfrm flipH="1">
              <a:off x="3219731" y="3771900"/>
              <a:ext cx="240109" cy="5295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id="{C10D38CF-E0FA-1551-91EE-C0598E273D40}"/>
                </a:ext>
              </a:extLst>
            </p:cNvPr>
            <p:cNvCxnSpPr>
              <a:stCxn id="23" idx="2"/>
            </p:cNvCxnSpPr>
            <p:nvPr/>
          </p:nvCxnSpPr>
          <p:spPr>
            <a:xfrm>
              <a:off x="2964104" y="3771900"/>
              <a:ext cx="237794" cy="5295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3DB927FD-619C-3B92-17E3-53ADFB087CC0}"/>
                </a:ext>
              </a:extLst>
            </p:cNvPr>
            <p:cNvSpPr txBox="1"/>
            <p:nvPr/>
          </p:nvSpPr>
          <p:spPr>
            <a:xfrm>
              <a:off x="2270990" y="2946533"/>
              <a:ext cx="11158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Modelo de ML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4882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FD801-7E8D-0885-F1AD-8DAF6F77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Ponto de mínimo ou solução ótima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6276C-11C7-FBDF-9CC4-A84A195D7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417" y="1825626"/>
            <a:ext cx="6178345" cy="5032376"/>
          </a:xfrm>
        </p:spPr>
        <p:txBody>
          <a:bodyPr>
            <a:normAutofit/>
          </a:bodyPr>
          <a:lstStyle/>
          <a:p>
            <a:r>
              <a:rPr lang="pt-BR" dirty="0"/>
              <a:t>Dado que o conjunto de treinamento é conhecido e fixo, notamos que a </a:t>
            </a:r>
            <a:r>
              <a:rPr lang="pt-BR" b="1" i="1" dirty="0"/>
              <a:t>função de erro </a:t>
            </a:r>
            <a:r>
              <a:rPr lang="pt-BR" dirty="0"/>
              <a:t>é </a:t>
            </a:r>
            <a:r>
              <a:rPr lang="pt-BR" b="1" i="1" dirty="0"/>
              <a:t>função dos pesos </a:t>
            </a:r>
            <a:r>
              <a:rPr lang="pt-BR" dirty="0"/>
              <a:t>do modelo.</a:t>
            </a:r>
          </a:p>
          <a:p>
            <a:r>
              <a:rPr lang="pt-BR" dirty="0"/>
              <a:t>Assim, o </a:t>
            </a:r>
            <a:r>
              <a:rPr lang="pt-BR" b="1" i="1" dirty="0">
                <a:solidFill>
                  <a:srgbClr val="00B050"/>
                </a:solidFill>
              </a:rPr>
              <a:t>objetivo da regressão </a:t>
            </a:r>
            <a:r>
              <a:rPr lang="pt-BR" dirty="0"/>
              <a:t>é </a:t>
            </a:r>
            <a:r>
              <a:rPr lang="pt-BR" b="1" i="1" dirty="0">
                <a:solidFill>
                  <a:srgbClr val="00B050"/>
                </a:solidFill>
              </a:rPr>
              <a:t>encontrar o conjunto de pesos que minimiza a função de erro</a:t>
            </a:r>
            <a:r>
              <a:rPr lang="pt-BR" dirty="0"/>
              <a:t>.</a:t>
            </a:r>
          </a:p>
          <a:p>
            <a:r>
              <a:rPr lang="pt-BR" dirty="0"/>
              <a:t>Esse é um </a:t>
            </a:r>
            <a:r>
              <a:rPr lang="pt-BR" b="1" i="1" dirty="0">
                <a:solidFill>
                  <a:srgbClr val="7030A0"/>
                </a:solidFill>
              </a:rPr>
              <a:t>problema de minimização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>
                <a:solidFill>
                  <a:srgbClr val="00B050"/>
                </a:solidFill>
              </a:rPr>
              <a:t>Qual é o conjunto de pesos que resulta no menor erro possível?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216EDDF-7D90-C480-7FCF-B750F15061E5}"/>
                  </a:ext>
                </a:extLst>
              </p:cNvPr>
              <p:cNvSpPr txBox="1"/>
              <p:nvPr/>
            </p:nvSpPr>
            <p:spPr>
              <a:xfrm>
                <a:off x="838200" y="2374122"/>
                <a:ext cx="4593515" cy="2169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]−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]−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216EDDF-7D90-C480-7FCF-B750F1506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74122"/>
                <a:ext cx="4593515" cy="21696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tângulo 43">
            <a:extLst>
              <a:ext uri="{FF2B5EF4-FFF2-40B4-BE49-F238E27FC236}">
                <a16:creationId xmlns:a16="http://schemas.microsoft.com/office/drawing/2014/main" id="{0E22BE30-DFAE-8B87-D83B-05B9B69080D4}"/>
              </a:ext>
            </a:extLst>
          </p:cNvPr>
          <p:cNvSpPr/>
          <p:nvPr/>
        </p:nvSpPr>
        <p:spPr>
          <a:xfrm>
            <a:off x="2103313" y="3898771"/>
            <a:ext cx="330200" cy="2730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BA16A255-C8A7-13E5-A987-B241E01F62BC}"/>
              </a:ext>
            </a:extLst>
          </p:cNvPr>
          <p:cNvSpPr/>
          <p:nvPr/>
        </p:nvSpPr>
        <p:spPr>
          <a:xfrm>
            <a:off x="2747838" y="3898771"/>
            <a:ext cx="330200" cy="2730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9DE3902-824E-8DE4-4B5F-D95AEAF0C065}"/>
              </a:ext>
            </a:extLst>
          </p:cNvPr>
          <p:cNvSpPr txBox="1"/>
          <p:nvPr/>
        </p:nvSpPr>
        <p:spPr>
          <a:xfrm>
            <a:off x="2439632" y="4444871"/>
            <a:ext cx="695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?</a:t>
            </a:r>
            <a:endParaRPr lang="pt-BR" sz="2400" b="1" dirty="0">
              <a:solidFill>
                <a:srgbClr val="FF0000"/>
              </a:solidFill>
            </a:endParaRP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2C082D7A-BEFF-DA1D-3F2F-76FA61553F87}"/>
              </a:ext>
            </a:extLst>
          </p:cNvPr>
          <p:cNvCxnSpPr/>
          <p:nvPr/>
        </p:nvCxnSpPr>
        <p:spPr>
          <a:xfrm flipH="1">
            <a:off x="2747838" y="4171821"/>
            <a:ext cx="165100" cy="3719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69E65DF-033F-5E0E-FF63-59C477B4956B}"/>
              </a:ext>
            </a:extLst>
          </p:cNvPr>
          <p:cNvCxnSpPr>
            <a:stCxn id="44" idx="2"/>
          </p:cNvCxnSpPr>
          <p:nvPr/>
        </p:nvCxnSpPr>
        <p:spPr>
          <a:xfrm>
            <a:off x="2268413" y="4171821"/>
            <a:ext cx="239712" cy="3719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586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FD801-7E8D-0885-F1AD-8DAF6F77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Ponto de mínimo ou solução ótima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6276C-11C7-FBDF-9CC4-A84A195D7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417" y="1825626"/>
            <a:ext cx="6178345" cy="5032376"/>
          </a:xfrm>
        </p:spPr>
        <p:txBody>
          <a:bodyPr>
            <a:normAutofit/>
          </a:bodyPr>
          <a:lstStyle/>
          <a:p>
            <a:r>
              <a:rPr lang="pt-BR" dirty="0"/>
              <a:t>Se </a:t>
            </a:r>
            <a:r>
              <a:rPr lang="pt-BR" b="1" i="1" dirty="0">
                <a:solidFill>
                  <a:srgbClr val="00B050"/>
                </a:solidFill>
              </a:rPr>
              <a:t>plotarmos o erro em função da variação dos pesos</a:t>
            </a:r>
            <a:r>
              <a:rPr lang="pt-BR" dirty="0"/>
              <a:t>, nós plotamos o que é conhecido como </a:t>
            </a:r>
            <a:r>
              <a:rPr lang="pt-BR" b="1" i="1" dirty="0">
                <a:solidFill>
                  <a:srgbClr val="00B050"/>
                </a:solidFill>
              </a:rPr>
              <a:t>superfície de erro</a:t>
            </a:r>
            <a:r>
              <a:rPr lang="pt-BR" dirty="0"/>
              <a:t>.</a:t>
            </a:r>
          </a:p>
          <a:p>
            <a:r>
              <a:rPr lang="pt-BR" dirty="0"/>
              <a:t>Seu </a:t>
            </a:r>
            <a:r>
              <a:rPr lang="pt-BR" b="1" i="1" dirty="0">
                <a:solidFill>
                  <a:srgbClr val="00B050"/>
                </a:solidFill>
              </a:rPr>
              <a:t>ponto mais baixo </a:t>
            </a:r>
            <a:r>
              <a:rPr lang="pt-BR" dirty="0"/>
              <a:t>é chamado de </a:t>
            </a:r>
            <a:r>
              <a:rPr lang="pt-BR" b="1" i="1" dirty="0">
                <a:solidFill>
                  <a:srgbClr val="00B0F0"/>
                </a:solidFill>
              </a:rPr>
              <a:t>ponto de mínimo </a:t>
            </a:r>
            <a:r>
              <a:rPr lang="pt-BR" dirty="0"/>
              <a:t>e nos dá o </a:t>
            </a:r>
            <a:r>
              <a:rPr lang="pt-BR" b="1" i="1" dirty="0">
                <a:solidFill>
                  <a:srgbClr val="00B050"/>
                </a:solidFill>
              </a:rPr>
              <a:t>conjunto de pesos ótimo</a:t>
            </a:r>
            <a:r>
              <a:rPr lang="pt-BR" dirty="0"/>
              <a:t>, ou seja, os pesos que minimizam a função de erro.</a:t>
            </a:r>
          </a:p>
          <a:p>
            <a:r>
              <a:rPr lang="pt-BR" dirty="0"/>
              <a:t>O algoritmo de otimização, que veremos em breve, </a:t>
            </a:r>
            <a:r>
              <a:rPr lang="pt-BR" b="1" i="1" dirty="0">
                <a:solidFill>
                  <a:srgbClr val="00B050"/>
                </a:solidFill>
              </a:rPr>
              <a:t>caminha</a:t>
            </a:r>
            <a:r>
              <a:rPr lang="pt-BR" dirty="0"/>
              <a:t> através da superfície sempre </a:t>
            </a:r>
            <a:r>
              <a:rPr lang="pt-BR" b="1" i="1" dirty="0">
                <a:solidFill>
                  <a:srgbClr val="00B050"/>
                </a:solidFill>
              </a:rPr>
              <a:t>indo</a:t>
            </a:r>
            <a:r>
              <a:rPr lang="pt-BR" dirty="0"/>
              <a:t> </a:t>
            </a:r>
            <a:r>
              <a:rPr lang="pt-BR" b="1" i="1" dirty="0">
                <a:solidFill>
                  <a:srgbClr val="00B050"/>
                </a:solidFill>
              </a:rPr>
              <a:t>em direção ao seu ponto mais baixo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216EDDF-7D90-C480-7FCF-B750F15061E5}"/>
                  </a:ext>
                </a:extLst>
              </p:cNvPr>
              <p:cNvSpPr txBox="1"/>
              <p:nvPr/>
            </p:nvSpPr>
            <p:spPr>
              <a:xfrm>
                <a:off x="1005900" y="4543755"/>
                <a:ext cx="4593515" cy="2169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]−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]−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216EDDF-7D90-C480-7FCF-B750F1506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00" y="4543755"/>
                <a:ext cx="4593515" cy="21696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Agrupar 51">
            <a:extLst>
              <a:ext uri="{FF2B5EF4-FFF2-40B4-BE49-F238E27FC236}">
                <a16:creationId xmlns:a16="http://schemas.microsoft.com/office/drawing/2014/main" id="{63C76009-5703-CC01-34FD-DE7DD99C2CA6}"/>
              </a:ext>
            </a:extLst>
          </p:cNvPr>
          <p:cNvGrpSpPr/>
          <p:nvPr/>
        </p:nvGrpSpPr>
        <p:grpSpPr>
          <a:xfrm>
            <a:off x="1592492" y="1393380"/>
            <a:ext cx="3105077" cy="2844369"/>
            <a:chOff x="1592492" y="1393380"/>
            <a:chExt cx="3105077" cy="2844369"/>
          </a:xfrm>
        </p:grpSpPr>
        <p:pic>
          <p:nvPicPr>
            <p:cNvPr id="1026" name="Picture 2" descr="Visualization for Function Optimization in Python -  MachineLearningMastery.com">
              <a:extLst>
                <a:ext uri="{FF2B5EF4-FFF2-40B4-BE49-F238E27FC236}">
                  <a16:creationId xmlns:a16="http://schemas.microsoft.com/office/drawing/2014/main" id="{354FEEB6-6AE9-60CB-E499-CC164C6315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468" t="17228" r="16217" b="10711"/>
            <a:stretch/>
          </p:blipFill>
          <p:spPr bwMode="auto">
            <a:xfrm>
              <a:off x="1592492" y="1393380"/>
              <a:ext cx="3069081" cy="2844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aixaDeTexto 31">
                  <a:extLst>
                    <a:ext uri="{FF2B5EF4-FFF2-40B4-BE49-F238E27FC236}">
                      <a16:creationId xmlns:a16="http://schemas.microsoft.com/office/drawing/2014/main" id="{F8F56DFA-DA55-64BC-498E-89036B3ABB7B}"/>
                    </a:ext>
                  </a:extLst>
                </p:cNvPr>
                <p:cNvSpPr txBox="1"/>
                <p:nvPr/>
              </p:nvSpPr>
              <p:spPr>
                <a:xfrm>
                  <a:off x="1980344" y="3868417"/>
                  <a:ext cx="54709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2" name="CaixaDeTexto 31">
                  <a:extLst>
                    <a:ext uri="{FF2B5EF4-FFF2-40B4-BE49-F238E27FC236}">
                      <a16:creationId xmlns:a16="http://schemas.microsoft.com/office/drawing/2014/main" id="{F8F56DFA-DA55-64BC-498E-89036B3AB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0344" y="3868417"/>
                  <a:ext cx="54709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0F41703A-C8C4-AC4F-DED1-A7688D7554D5}"/>
                    </a:ext>
                  </a:extLst>
                </p:cNvPr>
                <p:cNvSpPr txBox="1"/>
                <p:nvPr/>
              </p:nvSpPr>
              <p:spPr>
                <a:xfrm>
                  <a:off x="4099817" y="3575675"/>
                  <a:ext cx="42380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0F41703A-C8C4-AC4F-DED1-A7688D7554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9817" y="3575675"/>
                  <a:ext cx="42380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06ABD17C-2E15-0808-E956-FE4EEA39D288}"/>
                    </a:ext>
                  </a:extLst>
                </p:cNvPr>
                <p:cNvSpPr txBox="1"/>
                <p:nvPr/>
              </p:nvSpPr>
              <p:spPr>
                <a:xfrm>
                  <a:off x="4140196" y="1456294"/>
                  <a:ext cx="55737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0" smtClean="0">
                            <a:latin typeface="Cambria Math" panose="02040503050406030204" pitchFamily="18" charset="0"/>
                          </a:rPr>
                          <m:t>𝐌𝐒𝐄</m:t>
                        </m:r>
                      </m:oMath>
                    </m:oMathPara>
                  </a14:m>
                  <a:endParaRPr lang="pt-BR" b="1" dirty="0"/>
                </a:p>
              </p:txBody>
            </p:sp>
          </mc:Choice>
          <mc:Fallback xmlns="">
            <p:sp>
              <p:nvSpPr>
                <p:cNvPr id="37" name="CaixaDeTexto 36">
                  <a:extLst>
                    <a:ext uri="{FF2B5EF4-FFF2-40B4-BE49-F238E27FC236}">
                      <a16:creationId xmlns:a16="http://schemas.microsoft.com/office/drawing/2014/main" id="{06ABD17C-2E15-0808-E956-FE4EEA39D2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0196" y="1456294"/>
                  <a:ext cx="557373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304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4041F71A-DE1C-E129-7512-5E81C16C6EAB}"/>
              </a:ext>
            </a:extLst>
          </p:cNvPr>
          <p:cNvCxnSpPr>
            <a:cxnSpLocks/>
          </p:cNvCxnSpPr>
          <p:nvPr/>
        </p:nvCxnSpPr>
        <p:spPr>
          <a:xfrm flipH="1" flipV="1">
            <a:off x="3016026" y="3318553"/>
            <a:ext cx="497043" cy="1023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5EC4D88-9E4F-5552-6DCF-99C121BF0426}"/>
              </a:ext>
            </a:extLst>
          </p:cNvPr>
          <p:cNvSpPr txBox="1"/>
          <p:nvPr/>
        </p:nvSpPr>
        <p:spPr>
          <a:xfrm>
            <a:off x="2935287" y="4297726"/>
            <a:ext cx="1483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00B0F0"/>
                </a:solidFill>
              </a:rPr>
              <a:t>ponto de mínimo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0E22BE30-DFAE-8B87-D83B-05B9B69080D4}"/>
              </a:ext>
            </a:extLst>
          </p:cNvPr>
          <p:cNvSpPr/>
          <p:nvPr/>
        </p:nvSpPr>
        <p:spPr>
          <a:xfrm>
            <a:off x="2257425" y="6073775"/>
            <a:ext cx="330200" cy="2730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BA16A255-C8A7-13E5-A987-B241E01F62BC}"/>
              </a:ext>
            </a:extLst>
          </p:cNvPr>
          <p:cNvSpPr/>
          <p:nvPr/>
        </p:nvSpPr>
        <p:spPr>
          <a:xfrm>
            <a:off x="2901950" y="6073775"/>
            <a:ext cx="330200" cy="2730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822D9EAD-1149-7FBE-C611-D40937DD1A9D}"/>
              </a:ext>
            </a:extLst>
          </p:cNvPr>
          <p:cNvCxnSpPr/>
          <p:nvPr/>
        </p:nvCxnSpPr>
        <p:spPr>
          <a:xfrm flipV="1">
            <a:off x="2800350" y="4543755"/>
            <a:ext cx="781050" cy="15300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9DE3902-824E-8DE4-4B5F-D95AEAF0C065}"/>
              </a:ext>
            </a:extLst>
          </p:cNvPr>
          <p:cNvSpPr txBox="1"/>
          <p:nvPr/>
        </p:nvSpPr>
        <p:spPr>
          <a:xfrm>
            <a:off x="2587625" y="5604004"/>
            <a:ext cx="695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?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140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FD801-7E8D-0885-F1AD-8DAF6F77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Otimização (treinamento) do modelo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6276C-11C7-FBDF-9CC4-A84A195D7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2706" y="1825625"/>
            <a:ext cx="6240694" cy="5032376"/>
          </a:xfrm>
        </p:spPr>
        <p:txBody>
          <a:bodyPr>
            <a:normAutofit/>
          </a:bodyPr>
          <a:lstStyle/>
          <a:p>
            <a:r>
              <a:rPr lang="pt-BR" dirty="0"/>
              <a:t>Esse </a:t>
            </a:r>
            <a:r>
              <a:rPr lang="pt-BR" b="1" i="1" dirty="0">
                <a:solidFill>
                  <a:srgbClr val="00B050"/>
                </a:solidFill>
              </a:rPr>
              <a:t>processo de busca</a:t>
            </a:r>
            <a:r>
              <a:rPr lang="pt-BR" dirty="0"/>
              <a:t> que tem como </a:t>
            </a:r>
            <a:r>
              <a:rPr lang="pt-BR" b="1" i="1" dirty="0">
                <a:solidFill>
                  <a:srgbClr val="00B050"/>
                </a:solidFill>
              </a:rPr>
              <a:t>objetivo</a:t>
            </a:r>
            <a:r>
              <a:rPr lang="pt-BR" dirty="0"/>
              <a:t> encontrar o </a:t>
            </a:r>
            <a:r>
              <a:rPr lang="pt-BR" b="1" i="1" dirty="0">
                <a:solidFill>
                  <a:srgbClr val="00B050"/>
                </a:solidFill>
              </a:rPr>
              <a:t>ponto</a:t>
            </a:r>
            <a:r>
              <a:rPr lang="pt-BR" dirty="0"/>
              <a:t> que </a:t>
            </a:r>
            <a:r>
              <a:rPr lang="pt-BR" b="1" i="1" dirty="0">
                <a:solidFill>
                  <a:srgbClr val="00B050"/>
                </a:solidFill>
              </a:rPr>
              <a:t>minimiza o erro </a:t>
            </a:r>
            <a:r>
              <a:rPr lang="pt-BR" dirty="0"/>
              <a:t>é chamado de </a:t>
            </a:r>
            <a:r>
              <a:rPr lang="pt-BR" b="1" i="1" dirty="0">
                <a:solidFill>
                  <a:srgbClr val="00B050"/>
                </a:solidFill>
              </a:rPr>
              <a:t>otimização</a:t>
            </a:r>
            <a:r>
              <a:rPr lang="pt-BR" dirty="0"/>
              <a:t> e, no contexto de ML, é conhecido como </a:t>
            </a:r>
            <a:r>
              <a:rPr lang="pt-BR" b="1" i="1" dirty="0">
                <a:solidFill>
                  <a:srgbClr val="00B050"/>
                </a:solidFill>
              </a:rPr>
              <a:t>treinamento do modelo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Treinamento é o processo de </a:t>
            </a:r>
            <a:r>
              <a:rPr lang="pt-BR" b="1" i="1" dirty="0">
                <a:solidFill>
                  <a:srgbClr val="00B050"/>
                </a:solidFill>
              </a:rPr>
              <a:t>atualizar o modelo</a:t>
            </a:r>
            <a:r>
              <a:rPr lang="pt-BR" dirty="0"/>
              <a:t> para obter predições melhores a cada </a:t>
            </a:r>
            <a:r>
              <a:rPr lang="pt-BR" b="1" i="1" dirty="0">
                <a:solidFill>
                  <a:srgbClr val="00B050"/>
                </a:solidFill>
              </a:rPr>
              <a:t>iteração</a:t>
            </a:r>
            <a:r>
              <a:rPr lang="pt-BR" dirty="0"/>
              <a:t>.</a:t>
            </a:r>
          </a:p>
        </p:txBody>
      </p: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9F6194FB-F234-5221-2C40-FEA9956AEE0C}"/>
              </a:ext>
            </a:extLst>
          </p:cNvPr>
          <p:cNvGrpSpPr/>
          <p:nvPr/>
        </p:nvGrpSpPr>
        <p:grpSpPr>
          <a:xfrm>
            <a:off x="725184" y="1825625"/>
            <a:ext cx="4381189" cy="4083507"/>
            <a:chOff x="447782" y="1825625"/>
            <a:chExt cx="4381189" cy="4083507"/>
          </a:xfrm>
        </p:grpSpPr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840F54E6-6D97-C31B-F9D8-19F2AA3CDBF5}"/>
                </a:ext>
              </a:extLst>
            </p:cNvPr>
            <p:cNvGrpSpPr/>
            <p:nvPr/>
          </p:nvGrpSpPr>
          <p:grpSpPr>
            <a:xfrm>
              <a:off x="447782" y="1825625"/>
              <a:ext cx="4381189" cy="3859236"/>
              <a:chOff x="1592492" y="1393380"/>
              <a:chExt cx="3155387" cy="2846768"/>
            </a:xfrm>
          </p:grpSpPr>
          <p:pic>
            <p:nvPicPr>
              <p:cNvPr id="26" name="Picture 2" descr="Visualization for Function Optimization in Python -  MachineLearningMastery.com">
                <a:extLst>
                  <a:ext uri="{FF2B5EF4-FFF2-40B4-BE49-F238E27FC236}">
                    <a16:creationId xmlns:a16="http://schemas.microsoft.com/office/drawing/2014/main" id="{374B63DB-288A-70B9-44EF-3580F40CCC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468" t="17228" r="16217" b="10711"/>
              <a:stretch/>
            </p:blipFill>
            <p:spPr bwMode="auto">
              <a:xfrm>
                <a:off x="1592492" y="1393380"/>
                <a:ext cx="3069081" cy="28443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aixaDeTexto 26">
                    <a:extLst>
                      <a:ext uri="{FF2B5EF4-FFF2-40B4-BE49-F238E27FC236}">
                        <a16:creationId xmlns:a16="http://schemas.microsoft.com/office/drawing/2014/main" id="{00D42F04-97F1-C0EA-6B00-D0BD117CDEFF}"/>
                      </a:ext>
                    </a:extLst>
                  </p:cNvPr>
                  <p:cNvSpPr txBox="1"/>
                  <p:nvPr/>
                </p:nvSpPr>
                <p:spPr>
                  <a:xfrm>
                    <a:off x="2025506" y="3945007"/>
                    <a:ext cx="547099" cy="29514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27" name="CaixaDeTexto 26">
                    <a:extLst>
                      <a:ext uri="{FF2B5EF4-FFF2-40B4-BE49-F238E27FC236}">
                        <a16:creationId xmlns:a16="http://schemas.microsoft.com/office/drawing/2014/main" id="{00D42F04-97F1-C0EA-6B00-D0BD117CDE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25506" y="3945007"/>
                    <a:ext cx="547099" cy="29514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CaixaDeTexto 28">
                    <a:extLst>
                      <a:ext uri="{FF2B5EF4-FFF2-40B4-BE49-F238E27FC236}">
                        <a16:creationId xmlns:a16="http://schemas.microsoft.com/office/drawing/2014/main" id="{1FCA9EDF-24EB-6DAA-4AB3-9E76EE2FB342}"/>
                      </a:ext>
                    </a:extLst>
                  </p:cNvPr>
                  <p:cNvSpPr txBox="1"/>
                  <p:nvPr/>
                </p:nvSpPr>
                <p:spPr>
                  <a:xfrm>
                    <a:off x="4099817" y="3575675"/>
                    <a:ext cx="423809" cy="29514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29" name="CaixaDeTexto 28">
                    <a:extLst>
                      <a:ext uri="{FF2B5EF4-FFF2-40B4-BE49-F238E27FC236}">
                        <a16:creationId xmlns:a16="http://schemas.microsoft.com/office/drawing/2014/main" id="{1FCA9EDF-24EB-6DAA-4AB3-9E76EE2FB3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9817" y="3575675"/>
                    <a:ext cx="423809" cy="29514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CaixaDeTexto 31">
                    <a:extLst>
                      <a:ext uri="{FF2B5EF4-FFF2-40B4-BE49-F238E27FC236}">
                        <a16:creationId xmlns:a16="http://schemas.microsoft.com/office/drawing/2014/main" id="{5C41B175-64DA-79AF-4D15-C9A59E4443D8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506" y="1542308"/>
                    <a:ext cx="557373" cy="27243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800" b="1" i="0" smtClean="0">
                              <a:latin typeface="Cambria Math" panose="02040503050406030204" pitchFamily="18" charset="0"/>
                            </a:rPr>
                            <m:t>𝐌𝐒𝐄</m:t>
                          </m:r>
                        </m:oMath>
                      </m:oMathPara>
                    </a14:m>
                    <a:endParaRPr lang="pt-BR" b="1" dirty="0"/>
                  </a:p>
                </p:txBody>
              </p:sp>
            </mc:Choice>
            <mc:Fallback xmlns="">
              <p:sp>
                <p:nvSpPr>
                  <p:cNvPr id="32" name="CaixaDeTexto 31">
                    <a:extLst>
                      <a:ext uri="{FF2B5EF4-FFF2-40B4-BE49-F238E27FC236}">
                        <a16:creationId xmlns:a16="http://schemas.microsoft.com/office/drawing/2014/main" id="{5C41B175-64DA-79AF-4D15-C9A59E4443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0506" y="1542308"/>
                    <a:ext cx="557373" cy="27243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ADFE79DF-D458-343A-A13D-98FD73B6A5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48001" y="3424885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36" name="Conector de Seta Reta 35">
              <a:extLst>
                <a:ext uri="{FF2B5EF4-FFF2-40B4-BE49-F238E27FC236}">
                  <a16:creationId xmlns:a16="http://schemas.microsoft.com/office/drawing/2014/main" id="{C80ACF3A-3CFA-A0BC-CB05-D0ECA5FA14D5}"/>
                </a:ext>
              </a:extLst>
            </p:cNvPr>
            <p:cNvCxnSpPr>
              <a:cxnSpLocks/>
            </p:cNvCxnSpPr>
            <p:nvPr/>
          </p:nvCxnSpPr>
          <p:spPr>
            <a:xfrm>
              <a:off x="1595006" y="3476156"/>
              <a:ext cx="213643" cy="40525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>
              <a:extLst>
                <a:ext uri="{FF2B5EF4-FFF2-40B4-BE49-F238E27FC236}">
                  <a16:creationId xmlns:a16="http://schemas.microsoft.com/office/drawing/2014/main" id="{E4FB3ED5-CBA0-424D-0693-7F2E0B11F067}"/>
                </a:ext>
              </a:extLst>
            </p:cNvPr>
            <p:cNvCxnSpPr>
              <a:cxnSpLocks/>
              <a:endCxn id="33" idx="4"/>
            </p:cNvCxnSpPr>
            <p:nvPr/>
          </p:nvCxnSpPr>
          <p:spPr>
            <a:xfrm flipH="1" flipV="1">
              <a:off x="1584001" y="3496885"/>
              <a:ext cx="11005" cy="464868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to 46">
              <a:extLst>
                <a:ext uri="{FF2B5EF4-FFF2-40B4-BE49-F238E27FC236}">
                  <a16:creationId xmlns:a16="http://schemas.microsoft.com/office/drawing/2014/main" id="{60709E57-1952-D602-5A8C-33759AF63E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44775" y="4469673"/>
              <a:ext cx="931863" cy="27854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to 54">
              <a:extLst>
                <a:ext uri="{FF2B5EF4-FFF2-40B4-BE49-F238E27FC236}">
                  <a16:creationId xmlns:a16="http://schemas.microsoft.com/office/drawing/2014/main" id="{70469046-E645-754E-8DAB-C5843FA2CA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7476" y="4155281"/>
              <a:ext cx="737530" cy="628784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reto 93">
              <a:extLst>
                <a:ext uri="{FF2B5EF4-FFF2-40B4-BE49-F238E27FC236}">
                  <a16:creationId xmlns:a16="http://schemas.microsoft.com/office/drawing/2014/main" id="{1BCFD666-1E92-D928-BC71-CEB6A86917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00660" y="4144018"/>
              <a:ext cx="73266" cy="32908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to 96">
              <a:extLst>
                <a:ext uri="{FF2B5EF4-FFF2-40B4-BE49-F238E27FC236}">
                  <a16:creationId xmlns:a16="http://schemas.microsoft.com/office/drawing/2014/main" id="{A4C7AE2B-6CC5-1709-3D07-1602E54122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2149" y="4110038"/>
              <a:ext cx="0" cy="4091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de Seta Reta 103">
              <a:extLst>
                <a:ext uri="{FF2B5EF4-FFF2-40B4-BE49-F238E27FC236}">
                  <a16:creationId xmlns:a16="http://schemas.microsoft.com/office/drawing/2014/main" id="{79BBFED7-3E57-8610-AD49-8A0A1D984C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6947" y="4469673"/>
              <a:ext cx="623733" cy="12119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CaixaDeTexto 104">
              <a:extLst>
                <a:ext uri="{FF2B5EF4-FFF2-40B4-BE49-F238E27FC236}">
                  <a16:creationId xmlns:a16="http://schemas.microsoft.com/office/drawing/2014/main" id="{4AA6498F-657F-137E-D70A-390BEE15E5F0}"/>
                </a:ext>
              </a:extLst>
            </p:cNvPr>
            <p:cNvSpPr txBox="1"/>
            <p:nvPr/>
          </p:nvSpPr>
          <p:spPr>
            <a:xfrm>
              <a:off x="2426116" y="5601355"/>
              <a:ext cx="14835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00B0F0"/>
                  </a:solidFill>
                </a:rPr>
                <a:t>ponto de mínimo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1D98E349-DD7D-48A2-457D-33CE98A94DE2}"/>
                  </a:ext>
                </a:extLst>
              </p:cNvPr>
              <p:cNvSpPr txBox="1"/>
              <p:nvPr/>
            </p:nvSpPr>
            <p:spPr>
              <a:xfrm>
                <a:off x="1942847" y="2907775"/>
                <a:ext cx="168381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/>
                  <a:t>Vá em direção a valores maiores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400" dirty="0"/>
                  <a:t> e menores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400" dirty="0"/>
                  <a:t>.</a:t>
                </a:r>
              </a:p>
            </p:txBody>
          </p:sp>
        </mc:Choice>
        <mc:Fallback xmlns=""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1D98E349-DD7D-48A2-457D-33CE98A94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847" y="2907775"/>
                <a:ext cx="1683810" cy="738664"/>
              </a:xfrm>
              <a:prstGeom prst="rect">
                <a:avLst/>
              </a:prstGeom>
              <a:blipFill>
                <a:blip r:embed="rId6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052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FD801-7E8D-0885-F1AD-8DAF6F77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Otimização (treinamento) do modelo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6276C-11C7-FBDF-9CC4-A84A195D7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2706" y="1825625"/>
            <a:ext cx="6240694" cy="5032376"/>
          </a:xfrm>
        </p:spPr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b="1" i="1" dirty="0">
                <a:solidFill>
                  <a:srgbClr val="00B050"/>
                </a:solidFill>
              </a:rPr>
              <a:t>treinamento</a:t>
            </a:r>
            <a:r>
              <a:rPr lang="pt-BR" dirty="0"/>
              <a:t>/atualização do modelo se </a:t>
            </a:r>
            <a:r>
              <a:rPr lang="pt-BR" b="1" i="1" dirty="0">
                <a:solidFill>
                  <a:srgbClr val="00B050"/>
                </a:solidFill>
              </a:rPr>
              <a:t>baseia</a:t>
            </a:r>
            <a:r>
              <a:rPr lang="pt-BR" dirty="0"/>
              <a:t> na </a:t>
            </a:r>
            <a:r>
              <a:rPr lang="pt-BR" b="1" i="1" dirty="0">
                <a:solidFill>
                  <a:srgbClr val="00B050"/>
                </a:solidFill>
              </a:rPr>
              <a:t>informação obtida a partir da função de erro</a:t>
            </a:r>
            <a:r>
              <a:rPr lang="pt-BR" dirty="0"/>
              <a:t>.</a:t>
            </a:r>
          </a:p>
          <a:p>
            <a:r>
              <a:rPr lang="pt-BR" dirty="0"/>
              <a:t>Como veremos, essa informação </a:t>
            </a:r>
            <a:r>
              <a:rPr lang="pt-BR" b="1" i="1" dirty="0">
                <a:solidFill>
                  <a:srgbClr val="00B050"/>
                </a:solidFill>
              </a:rPr>
              <a:t>aponta</a:t>
            </a:r>
            <a:r>
              <a:rPr lang="pt-BR" dirty="0"/>
              <a:t> </a:t>
            </a:r>
            <a:r>
              <a:rPr lang="pt-BR" b="1" i="1" dirty="0">
                <a:solidFill>
                  <a:srgbClr val="00B050"/>
                </a:solidFill>
              </a:rPr>
              <a:t>para a direção do ponto de mínimo </a:t>
            </a:r>
            <a:r>
              <a:rPr lang="pt-BR" b="1" i="1" dirty="0"/>
              <a:t>(i.e., conjunto de pesos ótimo)</a:t>
            </a:r>
            <a:r>
              <a:rPr lang="pt-BR" dirty="0"/>
              <a:t>.</a:t>
            </a:r>
          </a:p>
        </p:txBody>
      </p: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9F6194FB-F234-5221-2C40-FEA9956AEE0C}"/>
              </a:ext>
            </a:extLst>
          </p:cNvPr>
          <p:cNvGrpSpPr/>
          <p:nvPr/>
        </p:nvGrpSpPr>
        <p:grpSpPr>
          <a:xfrm>
            <a:off x="725184" y="1825625"/>
            <a:ext cx="4381189" cy="4083507"/>
            <a:chOff x="447782" y="1825625"/>
            <a:chExt cx="4381189" cy="4083507"/>
          </a:xfrm>
        </p:grpSpPr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840F54E6-6D97-C31B-F9D8-19F2AA3CDBF5}"/>
                </a:ext>
              </a:extLst>
            </p:cNvPr>
            <p:cNvGrpSpPr/>
            <p:nvPr/>
          </p:nvGrpSpPr>
          <p:grpSpPr>
            <a:xfrm>
              <a:off x="447782" y="1825625"/>
              <a:ext cx="4381189" cy="3859236"/>
              <a:chOff x="1592492" y="1393380"/>
              <a:chExt cx="3155387" cy="2846768"/>
            </a:xfrm>
          </p:grpSpPr>
          <p:pic>
            <p:nvPicPr>
              <p:cNvPr id="26" name="Picture 2" descr="Visualization for Function Optimization in Python -  MachineLearningMastery.com">
                <a:extLst>
                  <a:ext uri="{FF2B5EF4-FFF2-40B4-BE49-F238E27FC236}">
                    <a16:creationId xmlns:a16="http://schemas.microsoft.com/office/drawing/2014/main" id="{374B63DB-288A-70B9-44EF-3580F40CCC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468" t="17228" r="16217" b="10711"/>
              <a:stretch/>
            </p:blipFill>
            <p:spPr bwMode="auto">
              <a:xfrm>
                <a:off x="1592492" y="1393380"/>
                <a:ext cx="3069081" cy="28443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aixaDeTexto 26">
                    <a:extLst>
                      <a:ext uri="{FF2B5EF4-FFF2-40B4-BE49-F238E27FC236}">
                        <a16:creationId xmlns:a16="http://schemas.microsoft.com/office/drawing/2014/main" id="{00D42F04-97F1-C0EA-6B00-D0BD117CDEFF}"/>
                      </a:ext>
                    </a:extLst>
                  </p:cNvPr>
                  <p:cNvSpPr txBox="1"/>
                  <p:nvPr/>
                </p:nvSpPr>
                <p:spPr>
                  <a:xfrm>
                    <a:off x="2025506" y="3945007"/>
                    <a:ext cx="547099" cy="29514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27" name="CaixaDeTexto 26">
                    <a:extLst>
                      <a:ext uri="{FF2B5EF4-FFF2-40B4-BE49-F238E27FC236}">
                        <a16:creationId xmlns:a16="http://schemas.microsoft.com/office/drawing/2014/main" id="{00D42F04-97F1-C0EA-6B00-D0BD117CDE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25506" y="3945007"/>
                    <a:ext cx="547099" cy="29514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CaixaDeTexto 28">
                    <a:extLst>
                      <a:ext uri="{FF2B5EF4-FFF2-40B4-BE49-F238E27FC236}">
                        <a16:creationId xmlns:a16="http://schemas.microsoft.com/office/drawing/2014/main" id="{1FCA9EDF-24EB-6DAA-4AB3-9E76EE2FB342}"/>
                      </a:ext>
                    </a:extLst>
                  </p:cNvPr>
                  <p:cNvSpPr txBox="1"/>
                  <p:nvPr/>
                </p:nvSpPr>
                <p:spPr>
                  <a:xfrm>
                    <a:off x="4099817" y="3575675"/>
                    <a:ext cx="423809" cy="29514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29" name="CaixaDeTexto 28">
                    <a:extLst>
                      <a:ext uri="{FF2B5EF4-FFF2-40B4-BE49-F238E27FC236}">
                        <a16:creationId xmlns:a16="http://schemas.microsoft.com/office/drawing/2014/main" id="{1FCA9EDF-24EB-6DAA-4AB3-9E76EE2FB3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9817" y="3575675"/>
                    <a:ext cx="423809" cy="29514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CaixaDeTexto 31">
                    <a:extLst>
                      <a:ext uri="{FF2B5EF4-FFF2-40B4-BE49-F238E27FC236}">
                        <a16:creationId xmlns:a16="http://schemas.microsoft.com/office/drawing/2014/main" id="{5C41B175-64DA-79AF-4D15-C9A59E4443D8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506" y="1542308"/>
                    <a:ext cx="557373" cy="27243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800" b="1" i="0" smtClean="0">
                              <a:latin typeface="Cambria Math" panose="02040503050406030204" pitchFamily="18" charset="0"/>
                            </a:rPr>
                            <m:t>𝐌𝐒𝐄</m:t>
                          </m:r>
                        </m:oMath>
                      </m:oMathPara>
                    </a14:m>
                    <a:endParaRPr lang="pt-BR" b="1" dirty="0"/>
                  </a:p>
                </p:txBody>
              </p:sp>
            </mc:Choice>
            <mc:Fallback xmlns="">
              <p:sp>
                <p:nvSpPr>
                  <p:cNvPr id="32" name="CaixaDeTexto 31">
                    <a:extLst>
                      <a:ext uri="{FF2B5EF4-FFF2-40B4-BE49-F238E27FC236}">
                        <a16:creationId xmlns:a16="http://schemas.microsoft.com/office/drawing/2014/main" id="{5C41B175-64DA-79AF-4D15-C9A59E4443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0506" y="1542308"/>
                    <a:ext cx="557373" cy="27243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ADFE79DF-D458-343A-A13D-98FD73B6A5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48001" y="3424885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36" name="Conector de Seta Reta 35">
              <a:extLst>
                <a:ext uri="{FF2B5EF4-FFF2-40B4-BE49-F238E27FC236}">
                  <a16:creationId xmlns:a16="http://schemas.microsoft.com/office/drawing/2014/main" id="{C80ACF3A-3CFA-A0BC-CB05-D0ECA5FA14D5}"/>
                </a:ext>
              </a:extLst>
            </p:cNvPr>
            <p:cNvCxnSpPr>
              <a:cxnSpLocks/>
            </p:cNvCxnSpPr>
            <p:nvPr/>
          </p:nvCxnSpPr>
          <p:spPr>
            <a:xfrm>
              <a:off x="1595006" y="3476156"/>
              <a:ext cx="213643" cy="40525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>
              <a:extLst>
                <a:ext uri="{FF2B5EF4-FFF2-40B4-BE49-F238E27FC236}">
                  <a16:creationId xmlns:a16="http://schemas.microsoft.com/office/drawing/2014/main" id="{E4FB3ED5-CBA0-424D-0693-7F2E0B11F067}"/>
                </a:ext>
              </a:extLst>
            </p:cNvPr>
            <p:cNvCxnSpPr>
              <a:cxnSpLocks/>
              <a:endCxn id="33" idx="4"/>
            </p:cNvCxnSpPr>
            <p:nvPr/>
          </p:nvCxnSpPr>
          <p:spPr>
            <a:xfrm flipH="1" flipV="1">
              <a:off x="1584001" y="3496885"/>
              <a:ext cx="11005" cy="464868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to 46">
              <a:extLst>
                <a:ext uri="{FF2B5EF4-FFF2-40B4-BE49-F238E27FC236}">
                  <a16:creationId xmlns:a16="http://schemas.microsoft.com/office/drawing/2014/main" id="{60709E57-1952-D602-5A8C-33759AF63E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44775" y="4469673"/>
              <a:ext cx="931863" cy="27854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to 54">
              <a:extLst>
                <a:ext uri="{FF2B5EF4-FFF2-40B4-BE49-F238E27FC236}">
                  <a16:creationId xmlns:a16="http://schemas.microsoft.com/office/drawing/2014/main" id="{70469046-E645-754E-8DAB-C5843FA2CA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7476" y="4155281"/>
              <a:ext cx="737530" cy="628784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reto 93">
              <a:extLst>
                <a:ext uri="{FF2B5EF4-FFF2-40B4-BE49-F238E27FC236}">
                  <a16:creationId xmlns:a16="http://schemas.microsoft.com/office/drawing/2014/main" id="{1BCFD666-1E92-D928-BC71-CEB6A86917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00660" y="4144018"/>
              <a:ext cx="73266" cy="32908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to 96">
              <a:extLst>
                <a:ext uri="{FF2B5EF4-FFF2-40B4-BE49-F238E27FC236}">
                  <a16:creationId xmlns:a16="http://schemas.microsoft.com/office/drawing/2014/main" id="{A4C7AE2B-6CC5-1709-3D07-1602E54122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2149" y="4110038"/>
              <a:ext cx="0" cy="4091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de Seta Reta 103">
              <a:extLst>
                <a:ext uri="{FF2B5EF4-FFF2-40B4-BE49-F238E27FC236}">
                  <a16:creationId xmlns:a16="http://schemas.microsoft.com/office/drawing/2014/main" id="{79BBFED7-3E57-8610-AD49-8A0A1D984C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6947" y="4469673"/>
              <a:ext cx="623733" cy="12119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CaixaDeTexto 104">
              <a:extLst>
                <a:ext uri="{FF2B5EF4-FFF2-40B4-BE49-F238E27FC236}">
                  <a16:creationId xmlns:a16="http://schemas.microsoft.com/office/drawing/2014/main" id="{4AA6498F-657F-137E-D70A-390BEE15E5F0}"/>
                </a:ext>
              </a:extLst>
            </p:cNvPr>
            <p:cNvSpPr txBox="1"/>
            <p:nvPr/>
          </p:nvSpPr>
          <p:spPr>
            <a:xfrm>
              <a:off x="2426116" y="5601355"/>
              <a:ext cx="14835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00B0F0"/>
                  </a:solidFill>
                </a:rPr>
                <a:t>ponto de mínimo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1D98E349-DD7D-48A2-457D-33CE98A94DE2}"/>
                  </a:ext>
                </a:extLst>
              </p:cNvPr>
              <p:cNvSpPr txBox="1"/>
              <p:nvPr/>
            </p:nvSpPr>
            <p:spPr>
              <a:xfrm>
                <a:off x="1942847" y="2907775"/>
                <a:ext cx="168381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/>
                  <a:t>Vá em direção a valores maiores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1400" dirty="0"/>
                  <a:t> e menores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400" dirty="0"/>
                  <a:t>.</a:t>
                </a:r>
              </a:p>
            </p:txBody>
          </p:sp>
        </mc:Choice>
        <mc:Fallback xmlns="">
          <p:sp>
            <p:nvSpPr>
              <p:cNvPr id="108" name="CaixaDeTexto 107">
                <a:extLst>
                  <a:ext uri="{FF2B5EF4-FFF2-40B4-BE49-F238E27FC236}">
                    <a16:creationId xmlns:a16="http://schemas.microsoft.com/office/drawing/2014/main" id="{1D98E349-DD7D-48A2-457D-33CE98A94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847" y="2907775"/>
                <a:ext cx="1683810" cy="738664"/>
              </a:xfrm>
              <a:prstGeom prst="rect">
                <a:avLst/>
              </a:prstGeom>
              <a:blipFill>
                <a:blip r:embed="rId6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254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FD801-7E8D-0885-F1AD-8DAF6F77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Gradiente descendente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6276C-11C7-FBDF-9CC4-A84A195D7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5009" y="1690688"/>
            <a:ext cx="6167624" cy="5167312"/>
          </a:xfrm>
        </p:spPr>
        <p:txBody>
          <a:bodyPr>
            <a:normAutofit/>
          </a:bodyPr>
          <a:lstStyle/>
          <a:p>
            <a:r>
              <a:rPr lang="pt-BR" dirty="0"/>
              <a:t>Como veremos em breve, de posse dessa informação trazida pelo erro, o algoritmo de otimização, conhecido como </a:t>
            </a:r>
            <a:r>
              <a:rPr lang="pt-BR" b="1" i="1" dirty="0">
                <a:solidFill>
                  <a:srgbClr val="00B050"/>
                </a:solidFill>
              </a:rPr>
              <a:t>gradiente descendente (GD)</a:t>
            </a:r>
            <a:r>
              <a:rPr lang="pt-BR" dirty="0"/>
              <a:t>, consegue </a:t>
            </a:r>
            <a:r>
              <a:rPr lang="pt-BR" b="1" i="1" dirty="0">
                <a:solidFill>
                  <a:srgbClr val="00B050"/>
                </a:solidFill>
              </a:rPr>
              <a:t>caminhar iterativamente</a:t>
            </a:r>
            <a:r>
              <a:rPr lang="pt-BR" dirty="0"/>
              <a:t> através da </a:t>
            </a:r>
            <a:r>
              <a:rPr lang="pt-BR" b="1" i="1" dirty="0">
                <a:solidFill>
                  <a:srgbClr val="00B050"/>
                </a:solidFill>
              </a:rPr>
              <a:t>superfície de erro</a:t>
            </a:r>
            <a:r>
              <a:rPr lang="pt-BR" dirty="0"/>
              <a:t> até o </a:t>
            </a:r>
            <a:r>
              <a:rPr lang="pt-BR" b="1" i="1" dirty="0">
                <a:solidFill>
                  <a:srgbClr val="00B050"/>
                </a:solidFill>
              </a:rPr>
              <a:t>ponto de mínimo </a:t>
            </a:r>
            <a:r>
              <a:rPr lang="pt-BR" dirty="0"/>
              <a:t>(i.e., conjunto de pesos ótimo).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FF7BA2C-85F3-2954-15C2-8C0FDFD2F383}"/>
              </a:ext>
            </a:extLst>
          </p:cNvPr>
          <p:cNvGrpSpPr/>
          <p:nvPr/>
        </p:nvGrpSpPr>
        <p:grpSpPr>
          <a:xfrm>
            <a:off x="930667" y="1938641"/>
            <a:ext cx="4381189" cy="4083507"/>
            <a:chOff x="930667" y="1938641"/>
            <a:chExt cx="4381189" cy="4083507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B1CFFF15-2A34-B496-DF99-E020420F02A9}"/>
                </a:ext>
              </a:extLst>
            </p:cNvPr>
            <p:cNvGrpSpPr/>
            <p:nvPr/>
          </p:nvGrpSpPr>
          <p:grpSpPr>
            <a:xfrm>
              <a:off x="930667" y="1938641"/>
              <a:ext cx="4381189" cy="4083507"/>
              <a:chOff x="447782" y="1825625"/>
              <a:chExt cx="4381189" cy="4083507"/>
            </a:xfrm>
          </p:grpSpPr>
          <p:grpSp>
            <p:nvGrpSpPr>
              <p:cNvPr id="5" name="Agrupar 4">
                <a:extLst>
                  <a:ext uri="{FF2B5EF4-FFF2-40B4-BE49-F238E27FC236}">
                    <a16:creationId xmlns:a16="http://schemas.microsoft.com/office/drawing/2014/main" id="{303781AB-D3FD-EAC8-BA20-8C7AA74EED74}"/>
                  </a:ext>
                </a:extLst>
              </p:cNvPr>
              <p:cNvGrpSpPr/>
              <p:nvPr/>
            </p:nvGrpSpPr>
            <p:grpSpPr>
              <a:xfrm>
                <a:off x="447782" y="1825625"/>
                <a:ext cx="4381189" cy="3859236"/>
                <a:chOff x="1592492" y="1393380"/>
                <a:chExt cx="3155387" cy="2846768"/>
              </a:xfrm>
            </p:grpSpPr>
            <p:pic>
              <p:nvPicPr>
                <p:cNvPr id="15" name="Picture 2" descr="Visualization for Function Optimization in Python -  MachineLearningMastery.com">
                  <a:extLst>
                    <a:ext uri="{FF2B5EF4-FFF2-40B4-BE49-F238E27FC236}">
                      <a16:creationId xmlns:a16="http://schemas.microsoft.com/office/drawing/2014/main" id="{638B6B9F-5A1A-14AD-55BD-744329EBD1E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5468" t="17228" r="16217" b="10711"/>
                <a:stretch/>
              </p:blipFill>
              <p:spPr bwMode="auto">
                <a:xfrm>
                  <a:off x="1592492" y="1393380"/>
                  <a:ext cx="3069081" cy="284436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CaixaDeTexto 15">
                      <a:extLst>
                        <a:ext uri="{FF2B5EF4-FFF2-40B4-BE49-F238E27FC236}">
                          <a16:creationId xmlns:a16="http://schemas.microsoft.com/office/drawing/2014/main" id="{79F1FF82-DAB9-8559-E32B-4EF2A34631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25506" y="3945007"/>
                      <a:ext cx="547099" cy="2951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2000" dirty="0"/>
                    </a:p>
                  </p:txBody>
                </p:sp>
              </mc:Choice>
              <mc:Fallback xmlns="">
                <p:sp>
                  <p:nvSpPr>
                    <p:cNvPr id="27" name="CaixaDeTexto 26">
                      <a:extLst>
                        <a:ext uri="{FF2B5EF4-FFF2-40B4-BE49-F238E27FC236}">
                          <a16:creationId xmlns:a16="http://schemas.microsoft.com/office/drawing/2014/main" id="{00D42F04-97F1-C0EA-6B00-D0BD117CDEF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25506" y="3945007"/>
                      <a:ext cx="547099" cy="29514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CaixaDeTexto 16">
                      <a:extLst>
                        <a:ext uri="{FF2B5EF4-FFF2-40B4-BE49-F238E27FC236}">
                          <a16:creationId xmlns:a16="http://schemas.microsoft.com/office/drawing/2014/main" id="{443E934D-5711-801B-0B5C-12F96AF581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99817" y="3575675"/>
                      <a:ext cx="423809" cy="2951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2000" dirty="0"/>
                    </a:p>
                  </p:txBody>
                </p:sp>
              </mc:Choice>
              <mc:Fallback xmlns="">
                <p:sp>
                  <p:nvSpPr>
                    <p:cNvPr id="29" name="CaixaDeTexto 28">
                      <a:extLst>
                        <a:ext uri="{FF2B5EF4-FFF2-40B4-BE49-F238E27FC236}">
                          <a16:creationId xmlns:a16="http://schemas.microsoft.com/office/drawing/2014/main" id="{1FCA9EDF-24EB-6DAA-4AB3-9E76EE2FB34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9817" y="3575675"/>
                      <a:ext cx="423809" cy="29514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CaixaDeTexto 17">
                      <a:extLst>
                        <a:ext uri="{FF2B5EF4-FFF2-40B4-BE49-F238E27FC236}">
                          <a16:creationId xmlns:a16="http://schemas.microsoft.com/office/drawing/2014/main" id="{837F7A79-D082-81E1-4CBD-925AE3AEB1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90506" y="1542308"/>
                      <a:ext cx="557373" cy="272438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800" b="1" i="0" smtClean="0">
                                <a:latin typeface="Cambria Math" panose="02040503050406030204" pitchFamily="18" charset="0"/>
                              </a:rPr>
                              <m:t>𝐌𝐒𝐄</m:t>
                            </m:r>
                          </m:oMath>
                        </m:oMathPara>
                      </a14:m>
                      <a:endParaRPr lang="pt-BR" b="1" dirty="0"/>
                    </a:p>
                  </p:txBody>
                </p:sp>
              </mc:Choice>
              <mc:Fallback xmlns="">
                <p:sp>
                  <p:nvSpPr>
                    <p:cNvPr id="32" name="CaixaDeTexto 31">
                      <a:extLst>
                        <a:ext uri="{FF2B5EF4-FFF2-40B4-BE49-F238E27FC236}">
                          <a16:creationId xmlns:a16="http://schemas.microsoft.com/office/drawing/2014/main" id="{5C41B175-64DA-79AF-4D15-C9A59E4443D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90506" y="1542308"/>
                      <a:ext cx="557373" cy="27243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753D0596-7D8A-84E6-B162-97698774E7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48001" y="3424885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8" name="Conector reto 7">
                <a:extLst>
                  <a:ext uri="{FF2B5EF4-FFF2-40B4-BE49-F238E27FC236}">
                    <a16:creationId xmlns:a16="http://schemas.microsoft.com/office/drawing/2014/main" id="{6F479719-E6C4-B962-F6C6-52D33662B977}"/>
                  </a:ext>
                </a:extLst>
              </p:cNvPr>
              <p:cNvCxnSpPr>
                <a:cxnSpLocks/>
                <a:endCxn id="6" idx="4"/>
              </p:cNvCxnSpPr>
              <p:nvPr/>
            </p:nvCxnSpPr>
            <p:spPr>
              <a:xfrm flipH="1" flipV="1">
                <a:off x="1584001" y="3496885"/>
                <a:ext cx="11005" cy="464868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ector reto 8">
                <a:extLst>
                  <a:ext uri="{FF2B5EF4-FFF2-40B4-BE49-F238E27FC236}">
                    <a16:creationId xmlns:a16="http://schemas.microsoft.com/office/drawing/2014/main" id="{3566EB52-B15F-0ADC-0621-7B26FF32C1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44775" y="4469673"/>
                <a:ext cx="931863" cy="27854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ctor reto 9">
                <a:extLst>
                  <a:ext uri="{FF2B5EF4-FFF2-40B4-BE49-F238E27FC236}">
                    <a16:creationId xmlns:a16="http://schemas.microsoft.com/office/drawing/2014/main" id="{E78B88C6-9D47-4D86-02FF-4EE1207C70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7476" y="4155281"/>
                <a:ext cx="737530" cy="628784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to 10">
                <a:extLst>
                  <a:ext uri="{FF2B5EF4-FFF2-40B4-BE49-F238E27FC236}">
                    <a16:creationId xmlns:a16="http://schemas.microsoft.com/office/drawing/2014/main" id="{DA042FA6-4FC2-9517-809F-063693D349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600660" y="4144018"/>
                <a:ext cx="73266" cy="32908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to 11">
                <a:extLst>
                  <a:ext uri="{FF2B5EF4-FFF2-40B4-BE49-F238E27FC236}">
                    <a16:creationId xmlns:a16="http://schemas.microsoft.com/office/drawing/2014/main" id="{716DF9ED-EC56-49C3-C322-EF7CA0BF65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02149" y="4110038"/>
                <a:ext cx="0" cy="4091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de Seta Reta 12">
                <a:extLst>
                  <a:ext uri="{FF2B5EF4-FFF2-40B4-BE49-F238E27FC236}">
                    <a16:creationId xmlns:a16="http://schemas.microsoft.com/office/drawing/2014/main" id="{9C711E50-5628-B19F-099F-8D55523068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06947" y="4469673"/>
                <a:ext cx="623733" cy="121193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3DE3061-554C-FAE5-3632-5525A4C8A9BC}"/>
                  </a:ext>
                </a:extLst>
              </p:cNvPr>
              <p:cNvSpPr txBox="1"/>
              <p:nvPr/>
            </p:nvSpPr>
            <p:spPr>
              <a:xfrm>
                <a:off x="2426116" y="5601355"/>
                <a:ext cx="14835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solidFill>
                      <a:srgbClr val="00B0F0"/>
                    </a:solidFill>
                  </a:rPr>
                  <a:t>ponto de mínimo</a:t>
                </a:r>
              </a:p>
            </p:txBody>
          </p:sp>
        </p:grp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63395918-0530-9B68-22F7-52BB772E43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9351" y="3779808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0529F877-C5ED-2E1B-244D-784C90C545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92811" y="3941684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8F34BE39-5691-A580-2510-188C1C5327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6384" y="4063903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9F0AFFF7-43DE-1015-3F3B-AAF3DDF52E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0467" y="4126542"/>
              <a:ext cx="72000" cy="72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5" name="Conector: Curvo 24">
              <a:extLst>
                <a:ext uri="{FF2B5EF4-FFF2-40B4-BE49-F238E27FC236}">
                  <a16:creationId xmlns:a16="http://schemas.microsoft.com/office/drawing/2014/main" id="{E4F3E26A-F810-43AC-924F-BF461C5FB86E}"/>
                </a:ext>
              </a:extLst>
            </p:cNvPr>
            <p:cNvCxnSpPr>
              <a:cxnSpLocks/>
              <a:stCxn id="6" idx="0"/>
              <a:endCxn id="20" idx="0"/>
            </p:cNvCxnSpPr>
            <p:nvPr/>
          </p:nvCxnSpPr>
          <p:spPr>
            <a:xfrm rot="16200000" flipH="1">
              <a:off x="1980164" y="3624622"/>
              <a:ext cx="241907" cy="68465"/>
            </a:xfrm>
            <a:prstGeom prst="curvedConnector3">
              <a:avLst>
                <a:gd name="adj1" fmla="val -29531"/>
              </a:avLst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: Curvo 30">
              <a:extLst>
                <a:ext uri="{FF2B5EF4-FFF2-40B4-BE49-F238E27FC236}">
                  <a16:creationId xmlns:a16="http://schemas.microsoft.com/office/drawing/2014/main" id="{C3043666-BB5A-C502-359A-4A3917065792}"/>
                </a:ext>
              </a:extLst>
            </p:cNvPr>
            <p:cNvCxnSpPr>
              <a:cxnSpLocks/>
              <a:stCxn id="20" idx="0"/>
              <a:endCxn id="21" idx="0"/>
            </p:cNvCxnSpPr>
            <p:nvPr/>
          </p:nvCxnSpPr>
          <p:spPr>
            <a:xfrm rot="16200000" flipH="1">
              <a:off x="2101143" y="3814016"/>
              <a:ext cx="161876" cy="93460"/>
            </a:xfrm>
            <a:prstGeom prst="curvedConnector3">
              <a:avLst>
                <a:gd name="adj1" fmla="val -85320"/>
              </a:avLst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: Curvo 35">
              <a:extLst>
                <a:ext uri="{FF2B5EF4-FFF2-40B4-BE49-F238E27FC236}">
                  <a16:creationId xmlns:a16="http://schemas.microsoft.com/office/drawing/2014/main" id="{CDD58E5F-EA2D-BB70-6D90-8E84E5EE604A}"/>
                </a:ext>
              </a:extLst>
            </p:cNvPr>
            <p:cNvCxnSpPr>
              <a:cxnSpLocks/>
              <a:stCxn id="21" idx="0"/>
              <a:endCxn id="22" idx="0"/>
            </p:cNvCxnSpPr>
            <p:nvPr/>
          </p:nvCxnSpPr>
          <p:spPr>
            <a:xfrm rot="16200000" flipH="1">
              <a:off x="2229487" y="3941007"/>
              <a:ext cx="122219" cy="123573"/>
            </a:xfrm>
            <a:prstGeom prst="curvedConnector3">
              <a:avLst>
                <a:gd name="adj1" fmla="val -120798"/>
              </a:avLst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: Curvo 39">
              <a:extLst>
                <a:ext uri="{FF2B5EF4-FFF2-40B4-BE49-F238E27FC236}">
                  <a16:creationId xmlns:a16="http://schemas.microsoft.com/office/drawing/2014/main" id="{0AA4F48C-5159-C330-2619-A60D9B827A22}"/>
                </a:ext>
              </a:extLst>
            </p:cNvPr>
            <p:cNvCxnSpPr>
              <a:cxnSpLocks/>
              <a:stCxn id="22" idx="0"/>
              <a:endCxn id="23" idx="0"/>
            </p:cNvCxnSpPr>
            <p:nvPr/>
          </p:nvCxnSpPr>
          <p:spPr>
            <a:xfrm rot="16200000" flipH="1">
              <a:off x="2408105" y="4008181"/>
              <a:ext cx="62639" cy="174083"/>
            </a:xfrm>
            <a:prstGeom prst="curvedConnector3">
              <a:avLst>
                <a:gd name="adj1" fmla="val -235697"/>
              </a:avLst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14539003-1BD8-17D2-A460-9687F6449CF4}"/>
                </a:ext>
              </a:extLst>
            </p:cNvPr>
            <p:cNvSpPr txBox="1"/>
            <p:nvPr/>
          </p:nvSpPr>
          <p:spPr>
            <a:xfrm>
              <a:off x="2085034" y="3336761"/>
              <a:ext cx="17533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iterações/atualizações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2001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FD801-7E8D-0885-F1AD-8DAF6F77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Gradiente descendente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6276C-11C7-FBDF-9CC4-A84A195D7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353" y="1690688"/>
            <a:ext cx="6905280" cy="5167312"/>
          </a:xfrm>
        </p:spPr>
        <p:txBody>
          <a:bodyPr>
            <a:normAutofit/>
          </a:bodyPr>
          <a:lstStyle/>
          <a:p>
            <a:r>
              <a:rPr lang="pt-BR" dirty="0"/>
              <a:t>A figura ao lado ilustra o processo iterativo de otimização realizado pelo GD.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 partir de um </a:t>
            </a:r>
            <a:r>
              <a:rPr lang="pt-BR" b="1" i="1" dirty="0">
                <a:solidFill>
                  <a:srgbClr val="00B050"/>
                </a:solidFill>
              </a:rPr>
              <a:t>ponto inicial </a:t>
            </a:r>
            <a:r>
              <a:rPr lang="pt-BR" dirty="0"/>
              <a:t>(i.e., uma </a:t>
            </a:r>
            <a:r>
              <a:rPr lang="pt-BR" b="1" i="1" dirty="0">
                <a:solidFill>
                  <a:srgbClr val="00B050"/>
                </a:solidFill>
              </a:rPr>
              <a:t>suposição aleatória</a:t>
            </a:r>
            <a:r>
              <a:rPr lang="pt-BR" dirty="0"/>
              <a:t> de pesos), o algoritmo </a:t>
            </a:r>
            <a:r>
              <a:rPr lang="pt-BR" b="1" i="1" dirty="0">
                <a:solidFill>
                  <a:srgbClr val="00B050"/>
                </a:solidFill>
              </a:rPr>
              <a:t>extrai a informação de direção do ponto de mínimo a partir da função de erro</a:t>
            </a:r>
            <a:r>
              <a:rPr lang="pt-BR" dirty="0"/>
              <a:t> e a usa para </a:t>
            </a:r>
            <a:r>
              <a:rPr lang="pt-BR" b="1" i="1" dirty="0">
                <a:solidFill>
                  <a:srgbClr val="00B050"/>
                </a:solidFill>
              </a:rPr>
              <a:t>atualizar o ponto atual</a:t>
            </a:r>
            <a:r>
              <a:rPr lang="pt-BR" dirty="0"/>
              <a:t> (i.e., otimizar a suposição atual).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Em geral, o </a:t>
            </a:r>
            <a:r>
              <a:rPr lang="pt-BR" b="1" i="1" dirty="0">
                <a:solidFill>
                  <a:srgbClr val="00B050"/>
                </a:solidFill>
              </a:rPr>
              <a:t>novo ponto </a:t>
            </a:r>
            <a:r>
              <a:rPr lang="pt-BR" dirty="0"/>
              <a:t>(i.e., conjunto de pesos atualizado) resulta em um </a:t>
            </a:r>
            <a:r>
              <a:rPr lang="pt-BR" b="1" i="1" dirty="0">
                <a:solidFill>
                  <a:srgbClr val="00B050"/>
                </a:solidFill>
              </a:rPr>
              <a:t>erro menor do que o anterior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Esse processo é repetido a partir do novo ponto até que algum critério de parada seja atingido.</a:t>
            </a:r>
          </a:p>
        </p:txBody>
      </p:sp>
      <p:pic>
        <p:nvPicPr>
          <p:cNvPr id="32" name="animated_linear_regression">
            <a:hlinkClick r:id="" action="ppaction://media"/>
            <a:extLst>
              <a:ext uri="{FF2B5EF4-FFF2-40B4-BE49-F238E27FC236}">
                <a16:creationId xmlns:a16="http://schemas.microsoft.com/office/drawing/2014/main" id="{66D25972-58E8-79DB-2476-AFDFC171820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4387" y="2052479"/>
            <a:ext cx="5095982" cy="382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4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0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B36A8-6590-17D8-1A21-CACFBD100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Próximos passos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22D6CE-63C9-8C53-326D-3596DA5E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12694" cy="5032375"/>
          </a:xfrm>
        </p:spPr>
        <p:txBody>
          <a:bodyPr>
            <a:normAutofit/>
          </a:bodyPr>
          <a:lstStyle/>
          <a:p>
            <a:r>
              <a:rPr lang="pt-BR" dirty="0"/>
              <a:t>Nesse tópico nós vimos o que é o </a:t>
            </a:r>
            <a:r>
              <a:rPr lang="pt-BR" b="1" i="1" dirty="0">
                <a:solidFill>
                  <a:srgbClr val="00B050"/>
                </a:solidFill>
              </a:rPr>
              <a:t>erro</a:t>
            </a:r>
            <a:r>
              <a:rPr lang="pt-BR" dirty="0"/>
              <a:t> (ou perda) e definimos uma forma de medi-lo. </a:t>
            </a:r>
          </a:p>
          <a:p>
            <a:r>
              <a:rPr lang="pt-BR" dirty="0"/>
              <a:t>Agora, o próximo passo envolverá a </a:t>
            </a:r>
            <a:r>
              <a:rPr lang="pt-BR" b="1" i="1" dirty="0">
                <a:solidFill>
                  <a:srgbClr val="00B050"/>
                </a:solidFill>
              </a:rPr>
              <a:t>definição de um processo que utilize a informação do erro para gerar o próximo palpite </a:t>
            </a:r>
            <a:r>
              <a:rPr lang="pt-BR" dirty="0"/>
              <a:t>(ou suposição) de forma que ele </a:t>
            </a:r>
            <a:r>
              <a:rPr lang="pt-BR" b="1" i="1" dirty="0">
                <a:solidFill>
                  <a:srgbClr val="00B050"/>
                </a:solidFill>
              </a:rPr>
              <a:t>seja melhor do que o atual</a:t>
            </a:r>
            <a:r>
              <a:rPr lang="pt-BR" dirty="0"/>
              <a:t>.</a:t>
            </a:r>
          </a:p>
          <a:p>
            <a:r>
              <a:rPr lang="pt-BR" dirty="0"/>
              <a:t>Esse processo é chamado de </a:t>
            </a:r>
            <a:r>
              <a:rPr lang="pt-BR" b="1" i="1" dirty="0"/>
              <a:t>otimização </a:t>
            </a:r>
            <a:r>
              <a:rPr lang="pt-BR" dirty="0"/>
              <a:t>e será abordado em breve.</a:t>
            </a:r>
          </a:p>
          <a:p>
            <a:r>
              <a:rPr lang="pt-BR" dirty="0"/>
              <a:t>Mas primeiro, vamos dar uma olhada em um </a:t>
            </a:r>
            <a:r>
              <a:rPr lang="pt-BR" b="1" i="1" dirty="0"/>
              <a:t>exemplo</a:t>
            </a:r>
            <a:r>
              <a:rPr lang="pt-BR" dirty="0"/>
              <a:t> que nos dará uma ideia </a:t>
            </a:r>
            <a:r>
              <a:rPr lang="pt-BR" b="1" i="1" dirty="0"/>
              <a:t>sobre como funciona esse processo de otimização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C6CB0C9-43A4-2741-FE2B-267BDD097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136" y="5440390"/>
            <a:ext cx="2823627" cy="127352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54A71DF-2BE0-4289-9C05-C0F039EA0472}"/>
              </a:ext>
            </a:extLst>
          </p:cNvPr>
          <p:cNvSpPr txBox="1"/>
          <p:nvPr/>
        </p:nvSpPr>
        <p:spPr>
          <a:xfrm>
            <a:off x="5843427" y="5815543"/>
            <a:ext cx="44718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hlinkClick r:id="rId4"/>
              </a:rPr>
              <a:t>Explorando a função de erro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217882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5BD9F-A5F9-C006-2D60-3988AFB7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398648-3AD3-9986-3010-6210876DC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Quiz: “</a:t>
            </a:r>
            <a:r>
              <a:rPr lang="pt-BR" b="1" i="1" dirty="0"/>
              <a:t>TP557 - Medindo a precisão de um modelo de ML</a:t>
            </a:r>
            <a:r>
              <a:rPr lang="pt-BR" dirty="0"/>
              <a:t>”.</a:t>
            </a:r>
          </a:p>
          <a:p>
            <a:r>
              <a:rPr lang="pt-BR" dirty="0"/>
              <a:t>Exercício: </a:t>
            </a:r>
            <a:r>
              <a:rPr lang="pt-BR" dirty="0">
                <a:hlinkClick r:id="rId3"/>
              </a:rPr>
              <a:t>Encontre os pesos da função hipótese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8520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19759815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5991458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Agrupar 38">
            <a:extLst>
              <a:ext uri="{FF2B5EF4-FFF2-40B4-BE49-F238E27FC236}">
                <a16:creationId xmlns:a16="http://schemas.microsoft.com/office/drawing/2014/main" id="{5E685139-6069-966B-FDA3-84FF70C86088}"/>
              </a:ext>
            </a:extLst>
          </p:cNvPr>
          <p:cNvGrpSpPr/>
          <p:nvPr/>
        </p:nvGrpSpPr>
        <p:grpSpPr>
          <a:xfrm>
            <a:off x="6096000" y="2755900"/>
            <a:ext cx="5549900" cy="1200149"/>
            <a:chOff x="6096000" y="2755900"/>
            <a:chExt cx="5549900" cy="1200149"/>
          </a:xfrm>
        </p:grpSpPr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E6ADE51B-F5F0-50B9-9081-03D4DE974930}"/>
                </a:ext>
              </a:extLst>
            </p:cNvPr>
            <p:cNvSpPr/>
            <p:nvPr/>
          </p:nvSpPr>
          <p:spPr>
            <a:xfrm>
              <a:off x="6096000" y="2755900"/>
              <a:ext cx="1587500" cy="8255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0" i="0" dirty="0">
                  <a:solidFill>
                    <a:schemeClr val="bg1"/>
                  </a:solidFill>
                  <a:effectLst/>
                  <a:latin typeface="Söhne"/>
                </a:rPr>
                <a:t>Faça uma suposição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D940D749-1DB6-C701-C5CF-CC3C4BAAA2B1}"/>
                </a:ext>
              </a:extLst>
            </p:cNvPr>
            <p:cNvSpPr/>
            <p:nvPr/>
          </p:nvSpPr>
          <p:spPr>
            <a:xfrm>
              <a:off x="8077200" y="2755900"/>
              <a:ext cx="1587500" cy="825500"/>
            </a:xfrm>
            <a:prstGeom prst="roundRect">
              <a:avLst/>
            </a:prstGeom>
            <a:solidFill>
              <a:schemeClr val="accent1">
                <a:alpha val="28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0" i="0" dirty="0">
                  <a:solidFill>
                    <a:schemeClr val="bg1"/>
                  </a:solidFill>
                  <a:effectLst/>
                  <a:latin typeface="Söhne"/>
                </a:rPr>
                <a:t>Meça o desempenho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8711CE1-2F1A-4017-F301-880EEE647FF1}"/>
                </a:ext>
              </a:extLst>
            </p:cNvPr>
            <p:cNvSpPr/>
            <p:nvPr/>
          </p:nvSpPr>
          <p:spPr>
            <a:xfrm>
              <a:off x="10058400" y="2755900"/>
              <a:ext cx="1587500" cy="825500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0" i="0" dirty="0">
                  <a:solidFill>
                    <a:schemeClr val="bg1"/>
                  </a:solidFill>
                  <a:effectLst/>
                  <a:latin typeface="Söhne"/>
                </a:rPr>
                <a:t>Otimiz</a:t>
              </a:r>
              <a:r>
                <a:rPr lang="pt-BR" dirty="0">
                  <a:solidFill>
                    <a:schemeClr val="bg1"/>
                  </a:solidFill>
                  <a:latin typeface="Söhne"/>
                </a:rPr>
                <a:t>e sua suposição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4FFFC850-2670-B7F3-8510-994383D2277D}"/>
                </a:ext>
              </a:extLst>
            </p:cNvPr>
            <p:cNvCxnSpPr>
              <a:cxnSpLocks/>
              <a:stCxn id="28" idx="3"/>
              <a:endCxn id="29" idx="1"/>
            </p:cNvCxnSpPr>
            <p:nvPr/>
          </p:nvCxnSpPr>
          <p:spPr>
            <a:xfrm>
              <a:off x="7683500" y="3168650"/>
              <a:ext cx="3937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de Seta Reta 31">
              <a:extLst>
                <a:ext uri="{FF2B5EF4-FFF2-40B4-BE49-F238E27FC236}">
                  <a16:creationId xmlns:a16="http://schemas.microsoft.com/office/drawing/2014/main" id="{0225DCE3-778F-016F-9ED6-491B23819EE0}"/>
                </a:ext>
              </a:extLst>
            </p:cNvPr>
            <p:cNvCxnSpPr>
              <a:cxnSpLocks/>
            </p:cNvCxnSpPr>
            <p:nvPr/>
          </p:nvCxnSpPr>
          <p:spPr>
            <a:xfrm>
              <a:off x="9664700" y="3168650"/>
              <a:ext cx="3937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: Angulado 32">
              <a:extLst>
                <a:ext uri="{FF2B5EF4-FFF2-40B4-BE49-F238E27FC236}">
                  <a16:creationId xmlns:a16="http://schemas.microsoft.com/office/drawing/2014/main" id="{7B1D31D0-A6F9-D3C2-EA32-0C39FBCDDFD8}"/>
                </a:ext>
              </a:extLst>
            </p:cNvPr>
            <p:cNvCxnSpPr>
              <a:stCxn id="30" idx="2"/>
              <a:endCxn id="28" idx="2"/>
            </p:cNvCxnSpPr>
            <p:nvPr/>
          </p:nvCxnSpPr>
          <p:spPr>
            <a:xfrm rot="5400000">
              <a:off x="8870950" y="1600200"/>
              <a:ext cx="12700" cy="3962400"/>
            </a:xfrm>
            <a:prstGeom prst="bentConnector3">
              <a:avLst>
                <a:gd name="adj1" fmla="val 280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2CBBF828-16D7-52D8-6232-E770A830B319}"/>
                </a:ext>
              </a:extLst>
            </p:cNvPr>
            <p:cNvSpPr txBox="1"/>
            <p:nvPr/>
          </p:nvSpPr>
          <p:spPr>
            <a:xfrm>
              <a:off x="6896100" y="3648272"/>
              <a:ext cx="3962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repita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3427A9E2-3AFA-A87D-3728-FD640A350F46}"/>
              </a:ext>
            </a:extLst>
          </p:cNvPr>
          <p:cNvGrpSpPr/>
          <p:nvPr/>
        </p:nvGrpSpPr>
        <p:grpSpPr>
          <a:xfrm>
            <a:off x="368300" y="596900"/>
            <a:ext cx="5549900" cy="1188938"/>
            <a:chOff x="368300" y="596900"/>
            <a:chExt cx="5549900" cy="1188938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09AC80A3-7692-65F9-9351-F18962A5491D}"/>
                </a:ext>
              </a:extLst>
            </p:cNvPr>
            <p:cNvSpPr/>
            <p:nvPr/>
          </p:nvSpPr>
          <p:spPr>
            <a:xfrm>
              <a:off x="368300" y="596900"/>
              <a:ext cx="1587500" cy="8255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0" i="0" dirty="0">
                  <a:solidFill>
                    <a:schemeClr val="bg1"/>
                  </a:solidFill>
                  <a:effectLst/>
                  <a:latin typeface="Söhne"/>
                </a:rPr>
                <a:t>Faça uma suposição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FA0966A8-1BF3-C8DE-8779-2E122A343932}"/>
                </a:ext>
              </a:extLst>
            </p:cNvPr>
            <p:cNvSpPr/>
            <p:nvPr/>
          </p:nvSpPr>
          <p:spPr>
            <a:xfrm>
              <a:off x="2349500" y="596900"/>
              <a:ext cx="1587500" cy="825500"/>
            </a:xfrm>
            <a:prstGeom prst="roundRect">
              <a:avLst/>
            </a:prstGeom>
            <a:solidFill>
              <a:schemeClr val="accent1">
                <a:alpha val="28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0" i="0" dirty="0">
                  <a:solidFill>
                    <a:schemeClr val="bg1"/>
                  </a:solidFill>
                  <a:effectLst/>
                  <a:latin typeface="Söhne"/>
                </a:rPr>
                <a:t>Meça o desempenho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232E9981-B45D-A800-524D-E74475D2C365}"/>
                </a:ext>
              </a:extLst>
            </p:cNvPr>
            <p:cNvSpPr/>
            <p:nvPr/>
          </p:nvSpPr>
          <p:spPr>
            <a:xfrm>
              <a:off x="4330700" y="596900"/>
              <a:ext cx="1587500" cy="825500"/>
            </a:xfrm>
            <a:prstGeom prst="roundRect">
              <a:avLst/>
            </a:prstGeom>
            <a:solidFill>
              <a:schemeClr val="accent1">
                <a:alpha val="28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0" i="0" dirty="0">
                  <a:solidFill>
                    <a:schemeClr val="bg1"/>
                  </a:solidFill>
                  <a:effectLst/>
                  <a:latin typeface="Söhne"/>
                </a:rPr>
                <a:t>Otimiz</a:t>
              </a:r>
              <a:r>
                <a:rPr lang="pt-BR" dirty="0">
                  <a:solidFill>
                    <a:schemeClr val="bg1"/>
                  </a:solidFill>
                  <a:latin typeface="Söhne"/>
                </a:rPr>
                <a:t>e sua suposição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E6F82BE2-1BAB-3F9A-FCE0-334FA744F2D4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1955800" y="1009650"/>
              <a:ext cx="3937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667C820A-62BC-AE65-5F7F-74C08A0DE146}"/>
                </a:ext>
              </a:extLst>
            </p:cNvPr>
            <p:cNvCxnSpPr>
              <a:cxnSpLocks/>
            </p:cNvCxnSpPr>
            <p:nvPr/>
          </p:nvCxnSpPr>
          <p:spPr>
            <a:xfrm>
              <a:off x="3937000" y="1009650"/>
              <a:ext cx="3937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: Angulado 15">
              <a:extLst>
                <a:ext uri="{FF2B5EF4-FFF2-40B4-BE49-F238E27FC236}">
                  <a16:creationId xmlns:a16="http://schemas.microsoft.com/office/drawing/2014/main" id="{8A71928B-DBBF-321B-7A0D-3011AE2D6259}"/>
                </a:ext>
              </a:extLst>
            </p:cNvPr>
            <p:cNvCxnSpPr>
              <a:stCxn id="6" idx="2"/>
              <a:endCxn id="4" idx="2"/>
            </p:cNvCxnSpPr>
            <p:nvPr/>
          </p:nvCxnSpPr>
          <p:spPr>
            <a:xfrm rot="5400000">
              <a:off x="3143250" y="-558800"/>
              <a:ext cx="12700" cy="3962400"/>
            </a:xfrm>
            <a:prstGeom prst="bentConnector3">
              <a:avLst>
                <a:gd name="adj1" fmla="val 280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0AD83AB7-C3C7-6FB4-9A67-30F0F4028859}"/>
                </a:ext>
              </a:extLst>
            </p:cNvPr>
            <p:cNvSpPr txBox="1"/>
            <p:nvPr/>
          </p:nvSpPr>
          <p:spPr>
            <a:xfrm>
              <a:off x="1162050" y="1478061"/>
              <a:ext cx="3962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repita</a:t>
              </a: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9CADEF22-2DB6-5516-566F-3ED636D4E808}"/>
              </a:ext>
            </a:extLst>
          </p:cNvPr>
          <p:cNvGrpSpPr/>
          <p:nvPr/>
        </p:nvGrpSpPr>
        <p:grpSpPr>
          <a:xfrm>
            <a:off x="374650" y="4432300"/>
            <a:ext cx="5549900" cy="1163538"/>
            <a:chOff x="374650" y="4432300"/>
            <a:chExt cx="5549900" cy="1163538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CCDA0D2-6061-15B0-BC53-560EB981381A}"/>
                </a:ext>
              </a:extLst>
            </p:cNvPr>
            <p:cNvSpPr/>
            <p:nvPr/>
          </p:nvSpPr>
          <p:spPr>
            <a:xfrm>
              <a:off x="374650" y="4432300"/>
              <a:ext cx="1587500" cy="825500"/>
            </a:xfrm>
            <a:prstGeom prst="roundRect">
              <a:avLst/>
            </a:prstGeom>
            <a:solidFill>
              <a:schemeClr val="accent1">
                <a:alpha val="2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0" i="0" dirty="0">
                  <a:solidFill>
                    <a:schemeClr val="bg1"/>
                  </a:solidFill>
                  <a:effectLst/>
                  <a:latin typeface="Söhne"/>
                </a:rPr>
                <a:t>Faça uma suposição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DB44A420-2619-26B9-3F25-677ADAF8F27D}"/>
                </a:ext>
              </a:extLst>
            </p:cNvPr>
            <p:cNvSpPr/>
            <p:nvPr/>
          </p:nvSpPr>
          <p:spPr>
            <a:xfrm>
              <a:off x="2355850" y="4432300"/>
              <a:ext cx="1587500" cy="8255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0" i="0" dirty="0">
                  <a:solidFill>
                    <a:schemeClr val="bg1"/>
                  </a:solidFill>
                  <a:effectLst/>
                  <a:latin typeface="Söhne"/>
                </a:rPr>
                <a:t>Meça o desempenho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A421792E-EA21-B83B-85A6-6C08D8A12985}"/>
                </a:ext>
              </a:extLst>
            </p:cNvPr>
            <p:cNvSpPr/>
            <p:nvPr/>
          </p:nvSpPr>
          <p:spPr>
            <a:xfrm>
              <a:off x="4337050" y="4432300"/>
              <a:ext cx="1587500" cy="825500"/>
            </a:xfrm>
            <a:prstGeom prst="roundRect">
              <a:avLst/>
            </a:prstGeom>
            <a:solidFill>
              <a:schemeClr val="accent1">
                <a:alpha val="2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0" i="0" dirty="0">
                  <a:solidFill>
                    <a:schemeClr val="bg1"/>
                  </a:solidFill>
                  <a:effectLst/>
                  <a:latin typeface="Söhne"/>
                </a:rPr>
                <a:t>Otimiz</a:t>
              </a:r>
              <a:r>
                <a:rPr lang="pt-BR" dirty="0">
                  <a:solidFill>
                    <a:schemeClr val="bg1"/>
                  </a:solidFill>
                  <a:latin typeface="Söhne"/>
                </a:rPr>
                <a:t>e sua suposição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15627F5F-D2DE-39C5-456D-4CD918271F41}"/>
                </a:ext>
              </a:extLst>
            </p:cNvPr>
            <p:cNvCxnSpPr>
              <a:cxnSpLocks/>
              <a:stCxn id="21" idx="3"/>
              <a:endCxn id="22" idx="1"/>
            </p:cNvCxnSpPr>
            <p:nvPr/>
          </p:nvCxnSpPr>
          <p:spPr>
            <a:xfrm>
              <a:off x="1962150" y="4845050"/>
              <a:ext cx="3937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DA460B65-91E8-E67A-6546-DFB3814235E0}"/>
                </a:ext>
              </a:extLst>
            </p:cNvPr>
            <p:cNvCxnSpPr>
              <a:cxnSpLocks/>
            </p:cNvCxnSpPr>
            <p:nvPr/>
          </p:nvCxnSpPr>
          <p:spPr>
            <a:xfrm>
              <a:off x="3943350" y="4845050"/>
              <a:ext cx="3937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: Angulado 25">
              <a:extLst>
                <a:ext uri="{FF2B5EF4-FFF2-40B4-BE49-F238E27FC236}">
                  <a16:creationId xmlns:a16="http://schemas.microsoft.com/office/drawing/2014/main" id="{3FBD8BE1-430E-E41F-F104-C62BB7F6386F}"/>
                </a:ext>
              </a:extLst>
            </p:cNvPr>
            <p:cNvCxnSpPr>
              <a:stCxn id="23" idx="2"/>
              <a:endCxn id="21" idx="2"/>
            </p:cNvCxnSpPr>
            <p:nvPr/>
          </p:nvCxnSpPr>
          <p:spPr>
            <a:xfrm rot="5400000">
              <a:off x="3149600" y="3276600"/>
              <a:ext cx="12700" cy="3962400"/>
            </a:xfrm>
            <a:prstGeom prst="bentConnector3">
              <a:avLst>
                <a:gd name="adj1" fmla="val 280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6C09C5AD-FA88-A0E1-065B-C8A1ACED5A9E}"/>
                </a:ext>
              </a:extLst>
            </p:cNvPr>
            <p:cNvSpPr txBox="1"/>
            <p:nvPr/>
          </p:nvSpPr>
          <p:spPr>
            <a:xfrm>
              <a:off x="1162050" y="5288061"/>
              <a:ext cx="3962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repita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9112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8841</TotalTime>
  <Words>3299</Words>
  <Application>Microsoft Office PowerPoint</Application>
  <PresentationFormat>Widescreen</PresentationFormat>
  <Paragraphs>307</Paragraphs>
  <Slides>35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Söhne</vt:lpstr>
      <vt:lpstr>Wingdings</vt:lpstr>
      <vt:lpstr>Tema do Office</vt:lpstr>
      <vt:lpstr>TP557 - Tópicos avançados em IoT e Machine Learning: Medindo a precisão de um modelo de ML</vt:lpstr>
      <vt:lpstr>O que vamos ver?</vt:lpstr>
      <vt:lpstr>Mapeando x em y</vt:lpstr>
      <vt:lpstr>Mapeando x em y: Função hipótese</vt:lpstr>
      <vt:lpstr>Suposição e Predição</vt:lpstr>
      <vt:lpstr>O quão boa é a função hipótese?</vt:lpstr>
      <vt:lpstr>Vamos medir as distâncias!</vt:lpstr>
      <vt:lpstr>Vamos medir as distâncias!</vt:lpstr>
      <vt:lpstr>Temos um problema!</vt:lpstr>
      <vt:lpstr>Quadrado dos comprimentos</vt:lpstr>
      <vt:lpstr>Quadrado dos comprimentos</vt:lpstr>
      <vt:lpstr>Otimizando a suposição</vt:lpstr>
      <vt:lpstr>O quão boa é a nova função hipótese?</vt:lpstr>
      <vt:lpstr>Nova suposição</vt:lpstr>
      <vt:lpstr>O processo</vt:lpstr>
      <vt:lpstr>Outras medidas de erro</vt:lpstr>
      <vt:lpstr>Mean Squared Error – MSE</vt:lpstr>
      <vt:lpstr>Mean Squared Error – MSE</vt:lpstr>
      <vt:lpstr>Root Mean Squared Error – RMSE</vt:lpstr>
      <vt:lpstr>Mean Absolute Error – MAE</vt:lpstr>
      <vt:lpstr>Mean Absolute Error – MAE</vt:lpstr>
      <vt:lpstr>Qual devo usar?</vt:lpstr>
      <vt:lpstr>Regressão ou aproximação de funções</vt:lpstr>
      <vt:lpstr>Regressão ou aproximação de funções</vt:lpstr>
      <vt:lpstr>Ponto de mínimo ou solução ótima</vt:lpstr>
      <vt:lpstr>Ponto de mínimo ou solução ótima</vt:lpstr>
      <vt:lpstr>Otimização (treinamento) do modelo</vt:lpstr>
      <vt:lpstr>Otimização (treinamento) do modelo</vt:lpstr>
      <vt:lpstr>Gradiente descendente</vt:lpstr>
      <vt:lpstr>Gradiente descendente</vt:lpstr>
      <vt:lpstr>Próximos passos</vt:lpstr>
      <vt:lpstr>Atividades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1794</cp:revision>
  <dcterms:created xsi:type="dcterms:W3CDTF">2020-01-20T13:50:05Z</dcterms:created>
  <dcterms:modified xsi:type="dcterms:W3CDTF">2025-03-27T00:58:19Z</dcterms:modified>
</cp:coreProperties>
</file>