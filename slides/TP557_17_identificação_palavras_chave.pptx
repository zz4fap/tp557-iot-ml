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36"/>
  </p:notesMasterIdLst>
  <p:handoutMasterIdLst>
    <p:handoutMasterId r:id="rId37"/>
  </p:handoutMasterIdLst>
  <p:sldIdLst>
    <p:sldId id="256" r:id="rId3"/>
    <p:sldId id="583" r:id="rId4"/>
    <p:sldId id="584" r:id="rId5"/>
    <p:sldId id="585" r:id="rId6"/>
    <p:sldId id="586" r:id="rId7"/>
    <p:sldId id="587" r:id="rId8"/>
    <p:sldId id="588" r:id="rId9"/>
    <p:sldId id="589" r:id="rId10"/>
    <p:sldId id="590" r:id="rId11"/>
    <p:sldId id="591" r:id="rId12"/>
    <p:sldId id="592" r:id="rId13"/>
    <p:sldId id="593" r:id="rId14"/>
    <p:sldId id="595" r:id="rId15"/>
    <p:sldId id="596" r:id="rId16"/>
    <p:sldId id="597" r:id="rId17"/>
    <p:sldId id="598" r:id="rId18"/>
    <p:sldId id="599" r:id="rId19"/>
    <p:sldId id="600" r:id="rId20"/>
    <p:sldId id="601" r:id="rId21"/>
    <p:sldId id="603" r:id="rId22"/>
    <p:sldId id="609" r:id="rId23"/>
    <p:sldId id="602" r:id="rId24"/>
    <p:sldId id="604" r:id="rId25"/>
    <p:sldId id="605" r:id="rId26"/>
    <p:sldId id="610" r:id="rId27"/>
    <p:sldId id="607" r:id="rId28"/>
    <p:sldId id="606" r:id="rId29"/>
    <p:sldId id="612" r:id="rId30"/>
    <p:sldId id="608" r:id="rId31"/>
    <p:sldId id="613" r:id="rId32"/>
    <p:sldId id="611" r:id="rId33"/>
    <p:sldId id="614" r:id="rId34"/>
    <p:sldId id="615" r:id="rId3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9826DF-A671-422C-9377-691337246D86}" v="251" dt="2023-11-08T01:50:09.601"/>
    <p1510:client id="{D507F67F-F41F-4C89-8534-FD6B820F93E9}" v="1788" dt="2023-11-08T13:10:47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82567" autoAdjust="0"/>
  </p:normalViewPr>
  <p:slideViewPr>
    <p:cSldViewPr snapToGrid="0">
      <p:cViewPr varScale="1">
        <p:scale>
          <a:sx n="61" d="100"/>
          <a:sy n="61" d="100"/>
        </p:scale>
        <p:origin x="1332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24/05/2025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92001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0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93040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824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0377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04312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37269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96942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386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599692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108481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27714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93507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35928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20949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6000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77734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464640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15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256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6380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36216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63874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79750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65176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94542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190432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19747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6277095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3219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61306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24/05/2025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.jpeg"/><Relationship Id="rId4" Type="http://schemas.openxmlformats.org/officeDocument/2006/relationships/image" Target="../media/image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hyperlink" Target="https://arxiv.org/pdf/1804.03209.pdf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.png"/><Relationship Id="rId4" Type="http://schemas.openxmlformats.org/officeDocument/2006/relationships/hyperlink" Target="https://commonvoice.mozilla.org/en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7.gif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5" Type="http://schemas.openxmlformats.org/officeDocument/2006/relationships/image" Target="../media/image17.gif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9.png"/><Relationship Id="rId4" Type="http://schemas.openxmlformats.org/officeDocument/2006/relationships/image" Target="../media/image2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towardsdatascience.com/getting-to-know-the-mel-spectrogram-31bca3e2d9d0" TargetMode="External"/><Relationship Id="rId4" Type="http://schemas.openxmlformats.org/officeDocument/2006/relationships/image" Target="../media/image2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Machine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Identificação de palavras chave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:a16="http://schemas.microsoft.com/office/drawing/2014/main" xmlns="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xmlns="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1FA8D34-24C9-78EC-8544-4D0E039A56D6}"/>
              </a:ext>
            </a:extLst>
          </p:cNvPr>
          <p:cNvSpPr txBox="1"/>
          <p:nvPr/>
        </p:nvSpPr>
        <p:spPr>
          <a:xfrm>
            <a:off x="3447245" y="5937161"/>
            <a:ext cx="347300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Crédito: Marcelo Rovai-</a:t>
            </a:r>
            <a:r>
              <a:rPr lang="en-US" dirty="0" err="1"/>
              <a:t>Unifei</a:t>
            </a:r>
            <a:endParaRPr lang="en-US" dirty="0" err="1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8" name="Espaço Reservado para Conteúdo 7">
            <a:extLst>
              <a:ext uri="{FF2B5EF4-FFF2-40B4-BE49-F238E27FC236}">
                <a16:creationId xmlns:a16="http://schemas.microsoft.com/office/drawing/2014/main" xmlns="" id="{F1574431-CAE3-5841-DA4A-C44F3C66D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714963" cy="258801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 </a:t>
            </a:r>
            <a:r>
              <a:rPr lang="pt-BR" sz="2100" dirty="0" smtClean="0">
                <a:ea typeface="Calibri"/>
                <a:cs typeface="Calibri"/>
              </a:rPr>
              <a:t>identificação de </a:t>
            </a:r>
            <a:r>
              <a:rPr lang="pt-BR" sz="2100" dirty="0">
                <a:ea typeface="Calibri"/>
                <a:cs typeface="Calibri"/>
              </a:rPr>
              <a:t>palavras-chave </a:t>
            </a:r>
            <a:r>
              <a:rPr lang="pt-BR" sz="2100" dirty="0" smtClean="0">
                <a:ea typeface="Calibri"/>
                <a:cs typeface="Calibri"/>
              </a:rPr>
              <a:t>(do inglês </a:t>
            </a:r>
            <a:r>
              <a:rPr lang="pt-BR" sz="2100" i="1" dirty="0" err="1" smtClean="0">
                <a:ea typeface="Calibri"/>
                <a:cs typeface="Calibri"/>
              </a:rPr>
              <a:t>key</a:t>
            </a:r>
            <a:r>
              <a:rPr lang="pt-BR" sz="2100" i="1" dirty="0" smtClean="0">
                <a:ea typeface="Calibri"/>
                <a:cs typeface="Calibri"/>
              </a:rPr>
              <a:t> </a:t>
            </a:r>
            <a:r>
              <a:rPr lang="pt-BR" sz="2100" i="1" dirty="0" err="1" smtClean="0">
                <a:ea typeface="Calibri"/>
                <a:cs typeface="Calibri"/>
              </a:rPr>
              <a:t>word</a:t>
            </a:r>
            <a:r>
              <a:rPr lang="pt-BR" sz="2100" i="1" dirty="0" smtClean="0">
                <a:ea typeface="Calibri"/>
                <a:cs typeface="Calibri"/>
              </a:rPr>
              <a:t> </a:t>
            </a:r>
            <a:r>
              <a:rPr lang="pt-BR" sz="2100" i="1" dirty="0" err="1" smtClean="0">
                <a:ea typeface="Calibri"/>
                <a:cs typeface="Calibri"/>
              </a:rPr>
              <a:t>spotting</a:t>
            </a:r>
            <a:r>
              <a:rPr lang="pt-BR" sz="2100" i="1" dirty="0" smtClean="0">
                <a:ea typeface="Calibri"/>
                <a:cs typeface="Calibri"/>
              </a:rPr>
              <a:t> </a:t>
            </a:r>
            <a:r>
              <a:rPr lang="pt-BR" sz="2100" dirty="0" smtClean="0">
                <a:ea typeface="Calibri"/>
                <a:cs typeface="Calibri"/>
              </a:rPr>
              <a:t>- KWS</a:t>
            </a:r>
            <a:r>
              <a:rPr lang="pt-BR" sz="2100" dirty="0">
                <a:ea typeface="Calibri"/>
                <a:cs typeface="Calibri"/>
              </a:rPr>
              <a:t>) é uma técnica importante para aplicações de </a:t>
            </a:r>
            <a:r>
              <a:rPr lang="pt-BR" sz="2100" dirty="0" smtClean="0">
                <a:ea typeface="Calibri"/>
                <a:cs typeface="Calibri"/>
              </a:rPr>
              <a:t>fala.</a:t>
            </a:r>
          </a:p>
          <a:p>
            <a:pPr marL="228600" indent="-228600"/>
            <a:r>
              <a:rPr lang="pt-BR" sz="2100" dirty="0" smtClean="0">
                <a:ea typeface="Calibri"/>
                <a:cs typeface="Calibri"/>
              </a:rPr>
              <a:t>Ela permite </a:t>
            </a:r>
            <a:r>
              <a:rPr lang="pt-BR" sz="2100" dirty="0">
                <a:ea typeface="Calibri"/>
                <a:cs typeface="Calibri"/>
              </a:rPr>
              <a:t>aos usuários ativar dispositivos falando uma frase de palavra-chave.</a:t>
            </a:r>
          </a:p>
          <a:p>
            <a:pPr marL="0" indent="0">
              <a:buNone/>
            </a:pPr>
            <a:endParaRPr lang="pt-BR" sz="2100" dirty="0">
              <a:ea typeface="Calibri"/>
              <a:cs typeface="Calibri"/>
            </a:endParaRPr>
          </a:p>
        </p:txBody>
      </p:sp>
      <p:pic>
        <p:nvPicPr>
          <p:cNvPr id="9" name="Imagem 8" descr="Diagrama&#10;&#10;Descrição gerada automaticamente">
            <a:extLst>
              <a:ext uri="{FF2B5EF4-FFF2-40B4-BE49-F238E27FC236}">
                <a16:creationId xmlns:a16="http://schemas.microsoft.com/office/drawing/2014/main" xmlns="" id="{5D4BF007-EB70-20D5-2AAD-D3F7715F38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2236" y="2455399"/>
            <a:ext cx="6963794" cy="356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Identificação de vidro quebrado (segurança)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8" name="Imagem 7" descr="Loja de roupas tem vidro quebrado e notebook furtado - Coluna Ponto de  Vista - O site de notícias de São Gabriel e região">
            <a:extLst>
              <a:ext uri="{FF2B5EF4-FFF2-40B4-BE49-F238E27FC236}">
                <a16:creationId xmlns:a16="http://schemas.microsoft.com/office/drawing/2014/main" xmlns="" id="{8A673561-4919-0278-4D5B-6C394E069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930" y="1604492"/>
            <a:ext cx="3402170" cy="4550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13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Detecção de anomalias (indústria)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4" name="Imagem 3" descr="Falhas em motores elétricos: saiba quais são as principais.">
            <a:extLst>
              <a:ext uri="{FF2B5EF4-FFF2-40B4-BE49-F238E27FC236}">
                <a16:creationId xmlns:a16="http://schemas.microsoft.com/office/drawing/2014/main" xmlns="" id="{91BC3B7C-C301-C6FB-02F9-60A5EDEF15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3268" y="182249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69152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228600" indent="-228600"/>
            <a:r>
              <a:rPr lang="pt-BR" sz="2100" dirty="0">
                <a:ea typeface="Calibri"/>
                <a:cs typeface="Calibri"/>
              </a:rPr>
              <a:t>Aplicações: detecção de roncos e choros </a:t>
            </a:r>
            <a:endParaRPr lang="pt-BR" dirty="0">
              <a:ea typeface="Calibri"/>
              <a:cs typeface="Calibri"/>
            </a:endParaRPr>
          </a:p>
        </p:txBody>
      </p:sp>
      <p:pic>
        <p:nvPicPr>
          <p:cNvPr id="5" name="Imagem 4" descr="Existe cirurgia para o ronco? - Rinoclínica">
            <a:extLst>
              <a:ext uri="{FF2B5EF4-FFF2-40B4-BE49-F238E27FC236}">
                <a16:creationId xmlns:a16="http://schemas.microsoft.com/office/drawing/2014/main" xmlns="" id="{FBD5927C-2418-A870-243D-F2FD1DB0E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86" y="2520033"/>
            <a:ext cx="4749085" cy="2858976"/>
          </a:xfrm>
          <a:prstGeom prst="rect">
            <a:avLst/>
          </a:prstGeom>
        </p:spPr>
      </p:pic>
      <p:pic>
        <p:nvPicPr>
          <p:cNvPr id="10" name="Imagem 9" descr="Choro de bebê: identificando e interpretando os diferentes tipos">
            <a:extLst>
              <a:ext uri="{FF2B5EF4-FFF2-40B4-BE49-F238E27FC236}">
                <a16:creationId xmlns:a16="http://schemas.microsoft.com/office/drawing/2014/main" xmlns="" id="{EBD8A59C-9383-68F0-9A4F-E47CD57761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999" y="2718128"/>
            <a:ext cx="3752492" cy="2471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35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4033B045-4489-0231-EE88-C9350CBDBF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038822" cy="46593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Calibri"/>
                <a:cs typeface="Calibri"/>
              </a:rPr>
              <a:t>Desafios: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Banda e latência;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Precisão e personalização;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Segurança e privacidade;</a:t>
            </a:r>
          </a:p>
          <a:p>
            <a:pPr marL="228600" indent="-228600"/>
            <a:r>
              <a:rPr lang="pt-BR" sz="2100" dirty="0">
                <a:ea typeface="Calibri"/>
                <a:cs typeface="Calibri"/>
              </a:rPr>
              <a:t>Bateria e memória.</a:t>
            </a:r>
          </a:p>
        </p:txBody>
      </p:sp>
    </p:spTree>
    <p:extLst>
      <p:ext uri="{BB962C8B-B14F-4D97-AF65-F5344CB8AC3E}">
        <p14:creationId xmlns:p14="http://schemas.microsoft.com/office/powerpoint/2010/main" val="20175336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4" name="Espaço Reservado para Conteúdo 3" descr="Gráfico&#10;&#10;Descrição gerada automaticamente">
            <a:extLst>
              <a:ext uri="{FF2B5EF4-FFF2-40B4-BE49-F238E27FC236}">
                <a16:creationId xmlns:a16="http://schemas.microsoft.com/office/drawing/2014/main" xmlns="" id="{38A9EED1-B5BC-2318-4247-31F032D263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09675" y="1808270"/>
            <a:ext cx="9038822" cy="3652675"/>
          </a:xfrm>
        </p:spPr>
      </p:pic>
    </p:spTree>
    <p:extLst>
      <p:ext uri="{BB962C8B-B14F-4D97-AF65-F5344CB8AC3E}">
        <p14:creationId xmlns:p14="http://schemas.microsoft.com/office/powerpoint/2010/main" val="3417404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xmlns="" id="{60E35055-92AF-42EA-CBED-E1A00E49E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38175" y="1471806"/>
            <a:ext cx="10439399" cy="4112297"/>
          </a:xfrm>
        </p:spPr>
      </p:pic>
    </p:spTree>
    <p:extLst>
      <p:ext uri="{BB962C8B-B14F-4D97-AF65-F5344CB8AC3E}">
        <p14:creationId xmlns:p14="http://schemas.microsoft.com/office/powerpoint/2010/main" val="136001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 descr="Uma imagem contendo Ícone&#10;&#10;Descrição gerada automaticamente">
            <a:extLst>
              <a:ext uri="{FF2B5EF4-FFF2-40B4-BE49-F238E27FC236}">
                <a16:creationId xmlns:a16="http://schemas.microsoft.com/office/drawing/2014/main" xmlns="" id="{4FC1AB43-8B89-57A4-B783-CCF53A5ABB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71487" y="1565334"/>
            <a:ext cx="9998868" cy="4210989"/>
          </a:xfrm>
        </p:spPr>
      </p:pic>
    </p:spTree>
    <p:extLst>
      <p:ext uri="{BB962C8B-B14F-4D97-AF65-F5344CB8AC3E}">
        <p14:creationId xmlns:p14="http://schemas.microsoft.com/office/powerpoint/2010/main" val="1712110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Como construímos um bom conjunto de dados?</a:t>
            </a:r>
            <a:endParaRPr lang="pt-BR" dirty="0">
              <a:ea typeface="Calibri"/>
              <a:cs typeface="Calibri"/>
            </a:endParaRPr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Quem são os usuários?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O que eles precisam?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Que tarefa eles estão tentando resolver?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Como eles interagem com o sistema?</a:t>
            </a:r>
            <a:endParaRPr lang="pt-BR" dirty="0"/>
          </a:p>
          <a:p>
            <a:pPr marL="228600" indent="-228600"/>
            <a:r>
              <a:rPr lang="pt-BR" sz="2100" dirty="0">
                <a:ea typeface="+mn-lt"/>
                <a:cs typeface="+mn-lt"/>
              </a:rPr>
              <a:t>Como o mundo real torna isso difícil?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56303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r>
              <a:rPr lang="pt-BR" sz="2100" dirty="0">
                <a:ea typeface="+mn-lt"/>
                <a:cs typeface="+mn-lt"/>
                <a:hlinkClick r:id="rId4"/>
              </a:rPr>
              <a:t>https://arxiv.org/pdf/1804.03209.pdf</a:t>
            </a:r>
            <a:endParaRPr lang="pt-BR" sz="210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Texto&#10;&#10;Descrição gerada automaticamente">
            <a:extLst>
              <a:ext uri="{FF2B5EF4-FFF2-40B4-BE49-F238E27FC236}">
                <a16:creationId xmlns:a16="http://schemas.microsoft.com/office/drawing/2014/main" xmlns="" id="{AF3A8AA1-0043-4100-B85D-DF62057A57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7555" y="1589164"/>
            <a:ext cx="8857450" cy="2588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39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pt-BR" sz="2100" dirty="0" smtClean="0">
                <a:ea typeface="+mn-lt"/>
                <a:cs typeface="+mn-lt"/>
              </a:rPr>
              <a:t>Primeira </a:t>
            </a:r>
            <a:r>
              <a:rPr lang="pt-BR" sz="2100" dirty="0">
                <a:ea typeface="+mn-lt"/>
                <a:cs typeface="+mn-lt"/>
              </a:rPr>
              <a:t>versão 10 palavras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Yes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No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Left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Right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Go 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Stop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One</a:t>
            </a:r>
          </a:p>
          <a:p>
            <a:pPr marL="342900" indent="-342900"/>
            <a:r>
              <a:rPr lang="pt-BR" sz="2100" dirty="0" err="1">
                <a:ea typeface="+mn-lt"/>
                <a:cs typeface="+mn-lt"/>
              </a:rPr>
              <a:t>Two</a:t>
            </a:r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Four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Six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24136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Segunda versão: 35 palavras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2618 voluntários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Mais de mil gravações de cada palavra.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Tabela&#10;&#10;Descrição gerada automaticamente">
            <a:extLst>
              <a:ext uri="{FF2B5EF4-FFF2-40B4-BE49-F238E27FC236}">
                <a16:creationId xmlns:a16="http://schemas.microsoft.com/office/drawing/2014/main" xmlns="" id="{5321A63C-10CA-E3E9-52AC-61ADA0E95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200" y="571321"/>
            <a:ext cx="2557658" cy="612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826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342900" indent="-342900"/>
            <a:r>
              <a:rPr lang="pt-BR" sz="2100" dirty="0">
                <a:ea typeface="+mn-lt"/>
                <a:cs typeface="+mn-lt"/>
              </a:rPr>
              <a:t>Validação do </a:t>
            </a:r>
            <a:r>
              <a:rPr lang="pt-BR" sz="2100" dirty="0" err="1">
                <a:ea typeface="+mn-lt"/>
                <a:cs typeface="+mn-lt"/>
              </a:rPr>
              <a:t>dataset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Verificação de palavras ditas erradas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Retirar gravações baixas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Retirar momentos de mudo.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23218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 smtClean="0">
                <a:ea typeface="+mn-lt"/>
                <a:cs typeface="+mn-lt"/>
              </a:rPr>
              <a:t>Mozilla </a:t>
            </a:r>
            <a:r>
              <a:rPr lang="pt-BR" sz="2100" dirty="0">
                <a:ea typeface="+mn-lt"/>
                <a:cs typeface="+mn-lt"/>
              </a:rPr>
              <a:t>common voice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  <a:hlinkClick r:id="rId4"/>
              </a:rPr>
              <a:t>https://commonvoice.mozilla.org/en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Uma imagem contendo Gráfico&#10;&#10;Descrição gerada automaticamente">
            <a:extLst>
              <a:ext uri="{FF2B5EF4-FFF2-40B4-BE49-F238E27FC236}">
                <a16:creationId xmlns:a16="http://schemas.microsoft.com/office/drawing/2014/main" xmlns="" id="{6D488898-78EA-3903-A088-6BF9F379A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31" y="2424456"/>
            <a:ext cx="8313682" cy="327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791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100" dirty="0">
                <a:ea typeface="+mn-lt"/>
                <a:cs typeface="+mn-lt"/>
              </a:rPr>
              <a:t>Questões a serem levantadas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Quais sons devem ser gravados?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Qualidade do microfone;</a:t>
            </a:r>
          </a:p>
          <a:p>
            <a:pPr marL="342900" indent="-342900"/>
            <a:r>
              <a:rPr lang="pt-BR" sz="2100" dirty="0">
                <a:ea typeface="+mn-lt"/>
                <a:cs typeface="+mn-lt"/>
              </a:rPr>
              <a:t>Ruído ambiente</a:t>
            </a: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828156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xmlns="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676" y="2382434"/>
            <a:ext cx="3965026" cy="2644927"/>
          </a:xfrm>
          <a:prstGeom prst="rect">
            <a:avLst/>
          </a:prstGeom>
        </p:spPr>
      </p:pic>
      <p:pic>
        <p:nvPicPr>
          <p:cNvPr id="6" name="Imagem 5" descr="How to convert audio signal into electrical signal - Quora">
            <a:extLst>
              <a:ext uri="{FF2B5EF4-FFF2-40B4-BE49-F238E27FC236}">
                <a16:creationId xmlns:a16="http://schemas.microsoft.com/office/drawing/2014/main" xmlns="" id="{1BE4D219-6150-169B-48B6-6F34E1E7D5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988" y="2256604"/>
            <a:ext cx="4818990" cy="2778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27432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  <a:endParaRPr lang="pt-BR" sz="2100" dirty="0" err="1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931865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xmlns="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814" y="989813"/>
            <a:ext cx="3965026" cy="2644927"/>
          </a:xfrm>
          <a:prstGeom prst="rect">
            <a:avLst/>
          </a:prstGeom>
        </p:spPr>
      </p:pic>
      <p:pic>
        <p:nvPicPr>
          <p:cNvPr id="6" name="Imagem 5" descr="How to convert audio signal into electrical signal - Quora">
            <a:extLst>
              <a:ext uri="{FF2B5EF4-FFF2-40B4-BE49-F238E27FC236}">
                <a16:creationId xmlns:a16="http://schemas.microsoft.com/office/drawing/2014/main" xmlns="" id="{1BE4D219-6150-169B-48B6-6F34E1E7D5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988" y="2256604"/>
            <a:ext cx="4818990" cy="2778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2743200" cy="4154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  <a:endParaRPr lang="pt-BR" sz="2100" dirty="0" err="1">
              <a:cs typeface="Calibri"/>
            </a:endParaRPr>
          </a:p>
        </p:txBody>
      </p:sp>
      <p:pic>
        <p:nvPicPr>
          <p:cNvPr id="9" name="Imagem 8" descr="Uma imagem contendo Diagrama&#10;&#10;Descrição gerada automaticamente">
            <a:extLst>
              <a:ext uri="{FF2B5EF4-FFF2-40B4-BE49-F238E27FC236}">
                <a16:creationId xmlns:a16="http://schemas.microsoft.com/office/drawing/2014/main" xmlns="" id="{5B3D6B05-C09F-B8F4-E3E1-A806D16AF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8814" y="3480623"/>
            <a:ext cx="2743200" cy="281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761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pic>
        <p:nvPicPr>
          <p:cNvPr id="4" name="Imagem 3" descr="Sound Wave Record. Audio Amplitude. Nois Gráfico por microvectorone ·  Creative Fabrica">
            <a:extLst>
              <a:ext uri="{FF2B5EF4-FFF2-40B4-BE49-F238E27FC236}">
                <a16:creationId xmlns:a16="http://schemas.microsoft.com/office/drawing/2014/main" xmlns="" id="{0645C1B4-7526-BF36-F1E3-5CD931540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7814" y="989813"/>
            <a:ext cx="3965026" cy="2644927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70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Não dá para jogar direto como entrada </a:t>
            </a:r>
            <a:r>
              <a:rPr lang="pt-BR" sz="2100" dirty="0" smtClean="0">
                <a:cs typeface="Calibri"/>
              </a:rPr>
              <a:t>de uma </a:t>
            </a:r>
            <a:r>
              <a:rPr lang="pt-BR" sz="2100" dirty="0">
                <a:cs typeface="Calibri"/>
              </a:rPr>
              <a:t>rede neural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9" name="Imagem 8" descr="Uma imagem contendo Diagrama&#10;&#10;Descrição gerada automaticamente">
            <a:extLst>
              <a:ext uri="{FF2B5EF4-FFF2-40B4-BE49-F238E27FC236}">
                <a16:creationId xmlns:a16="http://schemas.microsoft.com/office/drawing/2014/main" xmlns="" id="{5B3D6B05-C09F-B8F4-E3E1-A806D16AF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814" y="3480623"/>
            <a:ext cx="2743200" cy="281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289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</a:t>
            </a:r>
            <a:r>
              <a:rPr lang="pt-BR" sz="2100" dirty="0" smtClean="0"/>
              <a:t>áudio: palavras ligado e desligado</a:t>
            </a:r>
            <a:endParaRPr lang="pt-BR" sz="2100" dirty="0"/>
          </a:p>
          <a:p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Onde a palavra começa?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Como alinhar?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Como retirar partes importantes do sinal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10" name="Imagem 9" descr="Uma imagem contendo Linha do tempo&#10;&#10;Descrição gerada automaticamente">
            <a:extLst>
              <a:ext uri="{FF2B5EF4-FFF2-40B4-BE49-F238E27FC236}">
                <a16:creationId xmlns:a16="http://schemas.microsoft.com/office/drawing/2014/main" xmlns="" id="{45AC4BC2-4543-1503-E5FA-0F37E99C50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676" y="2834431"/>
            <a:ext cx="4661337" cy="2148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3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YES/NO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xmlns="" id="{38F1EDB7-93C8-1ADB-1ED1-C2B6EB7C3E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0795" y="1695933"/>
            <a:ext cx="7304466" cy="4829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4041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0618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ligado/desligado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 descr="Uma imagem contendo Linha do tempo&#10;&#10;Descrição gerada automaticamente">
            <a:extLst>
              <a:ext uri="{FF2B5EF4-FFF2-40B4-BE49-F238E27FC236}">
                <a16:creationId xmlns:a16="http://schemas.microsoft.com/office/drawing/2014/main" xmlns="" id="{52625DBB-3857-6A57-5890-3E81B799C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469" y="2597947"/>
            <a:ext cx="5580992" cy="2568622"/>
          </a:xfrm>
          <a:prstGeom prst="rect">
            <a:avLst/>
          </a:prstGeom>
        </p:spPr>
      </p:pic>
      <p:pic>
        <p:nvPicPr>
          <p:cNvPr id="10" name="Imagem 9" descr="Uma imagem contendo Linha do tempo&#10;&#10;Descrição gerada automaticamente">
            <a:extLst>
              <a:ext uri="{FF2B5EF4-FFF2-40B4-BE49-F238E27FC236}">
                <a16:creationId xmlns:a16="http://schemas.microsoft.com/office/drawing/2014/main" xmlns="" id="{45AC4BC2-4543-1503-E5FA-0F37E99C5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5676" y="2834431"/>
            <a:ext cx="4661337" cy="2148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871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 smtClean="0">
                <a:cs typeface="Calibri"/>
              </a:rPr>
              <a:t>Conversão A/D</a:t>
            </a:r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 descr="Gráfico, Histograma&#10;&#10;Descrição gerada automaticamente">
            <a:extLst>
              <a:ext uri="{FF2B5EF4-FFF2-40B4-BE49-F238E27FC236}">
                <a16:creationId xmlns:a16="http://schemas.microsoft.com/office/drawing/2014/main" xmlns="" id="{EB2EA2BA-34F1-1696-E286-961D4CF199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5469" y="1788037"/>
            <a:ext cx="2743200" cy="3781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9844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FFT</a:t>
            </a:r>
          </a:p>
          <a:p>
            <a:endParaRPr lang="pt-BR" sz="2100" dirty="0">
              <a:cs typeface="Calibri"/>
            </a:endParaRPr>
          </a:p>
        </p:txBody>
      </p:sp>
      <p:pic>
        <p:nvPicPr>
          <p:cNvPr id="4" name="Imagem 3" descr="Audio Processing in Python Part I: Sampling, Nyquist, and the Fast Fourier  Transform — Maker Portal">
            <a:extLst>
              <a:ext uri="{FF2B5EF4-FFF2-40B4-BE49-F238E27FC236}">
                <a16:creationId xmlns:a16="http://schemas.microsoft.com/office/drawing/2014/main" xmlns="" id="{81440BA4-2934-B7E5-83EE-8B33869647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3809" y="2690359"/>
            <a:ext cx="5973648" cy="330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32567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235449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 YES/NO</a:t>
            </a: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  <a:p>
            <a:endParaRPr lang="pt-BR" sz="2100" dirty="0">
              <a:cs typeface="Calibri"/>
            </a:endParaRPr>
          </a:p>
        </p:txBody>
      </p:sp>
      <p:pic>
        <p:nvPicPr>
          <p:cNvPr id="6" name="Imagem 5" descr="Gráfico, Histograma&#10;&#10;Descrição gerada automaticamente">
            <a:extLst>
              <a:ext uri="{FF2B5EF4-FFF2-40B4-BE49-F238E27FC236}">
                <a16:creationId xmlns:a16="http://schemas.microsoft.com/office/drawing/2014/main" xmlns="" id="{52137290-02FE-2923-05CF-FBF6AB14CA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8879" y="1951780"/>
            <a:ext cx="6413678" cy="443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0629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Espectrograma</a:t>
            </a:r>
          </a:p>
          <a:p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>
                <a:cs typeface="Calibri"/>
              </a:rPr>
              <a:t>Um espectrograma é uma forma de visualizar a intensidade de um sinal através do tempo e em várias frequências.</a:t>
            </a:r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endParaRPr lang="pt-BR"/>
          </a:p>
          <a:p>
            <a:pPr marL="342900" indent="-342900">
              <a:buFont typeface="Arial"/>
              <a:buChar char="•"/>
            </a:pPr>
            <a:r>
              <a:rPr lang="pt-BR" sz="2100">
                <a:cs typeface="Calibri"/>
              </a:rPr>
              <a:t>Os espectrogramas são gráficos de duas dimensões (frequência x tempo), com a terceira dimensão, a amplitude, sendo representada pela variação das cores</a:t>
            </a:r>
            <a:endParaRPr lang="pt-BR"/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91799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17081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16 mil amostras por segundo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FFT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Espectrograma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Janelas</a:t>
            </a:r>
          </a:p>
        </p:txBody>
      </p:sp>
      <p:pic>
        <p:nvPicPr>
          <p:cNvPr id="10" name="Imagem 9" descr="Revista ESPACIOS | Vol. 38 (Nº 17) Año 2017">
            <a:extLst>
              <a:ext uri="{FF2B5EF4-FFF2-40B4-BE49-F238E27FC236}">
                <a16:creationId xmlns:a16="http://schemas.microsoft.com/office/drawing/2014/main" xmlns="" id="{2871AE58-B26C-A3D7-CB2A-19F38C7D52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245" y="2772675"/>
            <a:ext cx="6059508" cy="3942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5034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Tela de computador&#10;&#10;Descrição gerada automaticamente">
            <a:extLst>
              <a:ext uri="{FF2B5EF4-FFF2-40B4-BE49-F238E27FC236}">
                <a16:creationId xmlns:a16="http://schemas.microsoft.com/office/drawing/2014/main" xmlns="" id="{EB965E12-0D86-F8FD-9B1C-D5D88A9B8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5950" y="1915577"/>
            <a:ext cx="6445875" cy="431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4263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Filtros </a:t>
            </a:r>
            <a:r>
              <a:rPr lang="pt-BR" sz="2100" dirty="0" smtClean="0">
                <a:cs typeface="Calibri"/>
              </a:rPr>
              <a:t>Mel</a:t>
            </a:r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>
                <a:cs typeface="Calibri"/>
              </a:rPr>
              <a:t>A escala Mel relaciona a frequência percebida, ou tom, de um tom puro à sua frequência real medida. </a:t>
            </a:r>
            <a:endParaRPr lang="pt-BR" sz="2100" dirty="0"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pt-BR" sz="2100" dirty="0" smtClean="0">
                <a:cs typeface="Calibri"/>
              </a:rPr>
              <a:t>Leva em conta que seres humanos </a:t>
            </a:r>
            <a:r>
              <a:rPr lang="pt-BR" sz="2100" dirty="0">
                <a:cs typeface="Calibri"/>
              </a:rPr>
              <a:t>são muito melhores em discernir pequenas mudanças no tom em frequências baixas do que em frequências altas.</a:t>
            </a:r>
          </a:p>
        </p:txBody>
      </p:sp>
      <p:pic>
        <p:nvPicPr>
          <p:cNvPr id="4" name="Imagem 3" descr="Foto em preto e branco&#10;&#10;Descrição gerada automaticamente">
            <a:extLst>
              <a:ext uri="{FF2B5EF4-FFF2-40B4-BE49-F238E27FC236}">
                <a16:creationId xmlns:a16="http://schemas.microsoft.com/office/drawing/2014/main" xmlns="" id="{4799D43E-44E9-3CEC-97EB-1D878A259D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9132" y="3620550"/>
            <a:ext cx="5748269" cy="22678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xmlns="" id="{2F10DF1C-5F73-0279-ADEA-F985BB9E549E}"/>
              </a:ext>
            </a:extLst>
          </p:cNvPr>
          <p:cNvSpPr txBox="1"/>
          <p:nvPr/>
        </p:nvSpPr>
        <p:spPr>
          <a:xfrm>
            <a:off x="2137893" y="5937161"/>
            <a:ext cx="716494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hlinkClick r:id="rId5"/>
              </a:rPr>
              <a:t>https://towardsdatascience.com/getting-to-know-the-mel-spectrogram-31bca3e2d9d0</a:t>
            </a:r>
            <a:endParaRPr lang="pt-BR"/>
          </a:p>
          <a:p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1801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546275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Sinal de áudio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6" name="Imagem 5" descr="Tela de computador&#10;&#10;Descrição gerada automaticamente">
            <a:extLst>
              <a:ext uri="{FF2B5EF4-FFF2-40B4-BE49-F238E27FC236}">
                <a16:creationId xmlns:a16="http://schemas.microsoft.com/office/drawing/2014/main" xmlns="" id="{8B28ED4D-F8D9-231C-F9F6-4FACE8FC27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7922" y="1602569"/>
            <a:ext cx="6435142" cy="4339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4351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Processo de classificação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4" name="Imagem 3" descr="Diagrama&#10;&#10;Descrição gerada automaticamente">
            <a:extLst>
              <a:ext uri="{FF2B5EF4-FFF2-40B4-BE49-F238E27FC236}">
                <a16:creationId xmlns:a16="http://schemas.microsoft.com/office/drawing/2014/main" xmlns="" id="{0FE8F640-DC11-07C1-C09B-7C910150C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6908" y="1971376"/>
            <a:ext cx="7733762" cy="3773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9010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Processo de classificação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  <p:pic>
        <p:nvPicPr>
          <p:cNvPr id="6" name="Imagem 5" descr="Uma imagem contendo Diagrama&#10;&#10;Descrição gerada automaticamente">
            <a:extLst>
              <a:ext uri="{FF2B5EF4-FFF2-40B4-BE49-F238E27FC236}">
                <a16:creationId xmlns:a16="http://schemas.microsoft.com/office/drawing/2014/main" xmlns="" id="{264D96E5-BE08-8547-83F9-4654DA97A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5414" y="2498706"/>
            <a:ext cx="8098664" cy="312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147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Identificação de palavras chave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:a16="http://schemas.microsoft.com/office/drawing/2014/main" xmlns="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xmlns="" id="{27022250-EDA2-A1F5-045A-AA201CCD4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403556" cy="408887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  <a:p>
            <a:pPr marL="342900" indent="-342900"/>
            <a:endParaRPr lang="pt-BR" sz="2100" dirty="0">
              <a:ea typeface="+mn-lt"/>
              <a:cs typeface="+mn-lt"/>
            </a:endParaRPr>
          </a:p>
          <a:p>
            <a:pPr marL="0" indent="0">
              <a:buNone/>
            </a:pPr>
            <a:endParaRPr lang="pt-BR" sz="2100" dirty="0">
              <a:ea typeface="+mn-lt"/>
              <a:cs typeface="+mn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xmlns="" id="{E7FE208E-167A-2C88-4BBD-E8BC04B2F99D}"/>
              </a:ext>
            </a:extLst>
          </p:cNvPr>
          <p:cNvSpPr txBox="1"/>
          <p:nvPr/>
        </p:nvSpPr>
        <p:spPr>
          <a:xfrm>
            <a:off x="546538" y="1308538"/>
            <a:ext cx="10131342" cy="30654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2100" dirty="0"/>
              <a:t>Trabalho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Pense em uma aplicação para identificação de palavras chave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Faça um detalhamento da aplicação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Quais serão os comandos ou palavras chave?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Plote os espectrogramas das </a:t>
            </a:r>
            <a:r>
              <a:rPr lang="pt-BR" sz="2100" dirty="0" smtClean="0">
                <a:cs typeface="Calibri"/>
              </a:rPr>
              <a:t>palavras </a:t>
            </a:r>
            <a:r>
              <a:rPr lang="pt-BR" sz="2100" dirty="0">
                <a:cs typeface="Calibri"/>
              </a:rPr>
              <a:t>chave.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Treine uma rede neural no </a:t>
            </a:r>
            <a:r>
              <a:rPr lang="pt-BR" sz="2100" dirty="0" err="1">
                <a:cs typeface="Calibri"/>
              </a:rPr>
              <a:t>edge</a:t>
            </a:r>
            <a:r>
              <a:rPr lang="pt-BR" sz="2100" dirty="0">
                <a:cs typeface="Calibri"/>
              </a:rPr>
              <a:t> impulse.</a:t>
            </a:r>
          </a:p>
          <a:p>
            <a:pPr marL="228600" indent="-228600">
              <a:spcBef>
                <a:spcPct val="20000"/>
              </a:spcBef>
              <a:buFont typeface="Arial"/>
              <a:buChar char="•"/>
            </a:pPr>
            <a:r>
              <a:rPr lang="pt-BR" sz="2100" dirty="0">
                <a:cs typeface="Calibri"/>
              </a:rPr>
              <a:t>Criar um </a:t>
            </a:r>
            <a:r>
              <a:rPr lang="pt-BR" sz="2100" dirty="0" err="1">
                <a:cs typeface="Calibri"/>
              </a:rPr>
              <a:t>power</a:t>
            </a:r>
            <a:r>
              <a:rPr lang="pt-BR" sz="2100" dirty="0">
                <a:cs typeface="Calibri"/>
              </a:rPr>
              <a:t> point com todos as informações.</a:t>
            </a:r>
          </a:p>
          <a:p>
            <a:pPr marL="342900" indent="-342900">
              <a:buFont typeface="Arial"/>
              <a:buChar char="•"/>
            </a:pPr>
            <a:endParaRPr lang="pt-BR" sz="21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5204544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15865</TotalTime>
  <Words>583</Words>
  <Application>Microsoft Office PowerPoint</Application>
  <PresentationFormat>Widescreen</PresentationFormat>
  <Paragraphs>234</Paragraphs>
  <Slides>33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Calibri Light</vt:lpstr>
      <vt:lpstr>Tema do Office</vt:lpstr>
      <vt:lpstr>1_Tema do Office</vt:lpstr>
      <vt:lpstr>TP557 - Tópicos avançados em IoT e Machine Learning: 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  <vt:lpstr>Identificação de palavras chave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2688</cp:revision>
  <dcterms:created xsi:type="dcterms:W3CDTF">2020-01-20T13:50:05Z</dcterms:created>
  <dcterms:modified xsi:type="dcterms:W3CDTF">2025-05-25T01:12:03Z</dcterms:modified>
</cp:coreProperties>
</file>