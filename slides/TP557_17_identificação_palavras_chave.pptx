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0"/>
  </p:notesMasterIdLst>
  <p:handoutMasterIdLst>
    <p:handoutMasterId r:id="rId51"/>
  </p:handoutMasterIdLst>
  <p:sldIdLst>
    <p:sldId id="256" r:id="rId3"/>
    <p:sldId id="583" r:id="rId4"/>
    <p:sldId id="584" r:id="rId5"/>
    <p:sldId id="585" r:id="rId6"/>
    <p:sldId id="586" r:id="rId7"/>
    <p:sldId id="587" r:id="rId8"/>
    <p:sldId id="626" r:id="rId9"/>
    <p:sldId id="627" r:id="rId10"/>
    <p:sldId id="628" r:id="rId11"/>
    <p:sldId id="629" r:id="rId12"/>
    <p:sldId id="588" r:id="rId13"/>
    <p:sldId id="589" r:id="rId14"/>
    <p:sldId id="590" r:id="rId15"/>
    <p:sldId id="591" r:id="rId16"/>
    <p:sldId id="630" r:id="rId17"/>
    <p:sldId id="631" r:id="rId18"/>
    <p:sldId id="592" r:id="rId19"/>
    <p:sldId id="593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3" r:id="rId28"/>
    <p:sldId id="609" r:id="rId29"/>
    <p:sldId id="602" r:id="rId30"/>
    <p:sldId id="632" r:id="rId31"/>
    <p:sldId id="605" r:id="rId32"/>
    <p:sldId id="607" r:id="rId33"/>
    <p:sldId id="618" r:id="rId34"/>
    <p:sldId id="616" r:id="rId35"/>
    <p:sldId id="617" r:id="rId36"/>
    <p:sldId id="619" r:id="rId37"/>
    <p:sldId id="612" r:id="rId38"/>
    <p:sldId id="620" r:id="rId39"/>
    <p:sldId id="621" r:id="rId40"/>
    <p:sldId id="623" r:id="rId41"/>
    <p:sldId id="608" r:id="rId42"/>
    <p:sldId id="622" r:id="rId43"/>
    <p:sldId id="624" r:id="rId44"/>
    <p:sldId id="613" r:id="rId45"/>
    <p:sldId id="625" r:id="rId46"/>
    <p:sldId id="611" r:id="rId47"/>
    <p:sldId id="614" r:id="rId48"/>
    <p:sldId id="615" r:id="rId4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9826DF-A671-422C-9377-691337246D86}" v="251" dt="2023-11-08T01:50:09.601"/>
    <p1510:client id="{D507F67F-F41F-4C89-8534-FD6B820F93E9}" v="1788" dt="2023-11-08T13:10:47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microsoft.com/office/2015/10/relationships/revisionInfo" Target="revisionInfo.xml"/><Relationship Id="rId8" Type="http://schemas.openxmlformats.org/officeDocument/2006/relationships/slide" Target="slides/slide6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9200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0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9304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824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D78F398-9CC3-9515-1715-4E9F2BA8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41B49647-B1D9-3690-544C-48253A2D0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E505D12-CEF9-99C4-CB80-8B5CB5D6E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C50BB72A-2E0E-BA75-997F-E680B715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5641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2E035C-7D58-D619-DCDD-73C9DC0A1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F24A4C1-A3AC-7C5A-908B-FD15AF08A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C09DDA38-9234-A383-655C-53122DF53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1A976D-866B-AA6A-844E-B69245B12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9540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A03E995-E62F-EEF7-6954-EC0591C3F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40BBE361-8700-45D3-E762-328A8A188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FA1F62E-E10B-55A0-3599-3964EF0B4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93B2710-6E5F-F5F4-77D3-02B4B7BA0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9389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98A91C-2807-5CE0-2A42-67F5A5AC8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8FC6D615-AFDA-0626-5673-C9A6DFC58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09CDC793-A600-B3D5-E628-B08F44A28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241EE455-9D43-773C-3FC1-084394755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27808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3776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04312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37269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96942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85D51EB-9FA9-34BA-8278-D3DABB694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8E3A7AA-5E82-60A1-A11A-FD10F7EC6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2D2E503D-3D66-9366-C42C-3794F296E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A5F0FCBC-572D-4FE1-A83C-DB11ACDD5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84374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C8C9724-2F09-F67C-70F5-C8CBACC3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4C238FD-3E10-9EA5-695C-4F60E4933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A7C8D84-3660-01EF-DFBC-C73153736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5D2B751-EC60-65F0-C8F0-970CAE8D2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91475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3867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996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10848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27714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93507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35928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20949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6000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77734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64640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15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256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8C7B42-D7EE-8567-8403-A0057E31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85599B4-F513-1653-4D19-2B16DC3B4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22889E9F-CBC8-1FD1-07D3-1325DE684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E15B7A42-0095-21F2-5806-ABD80A6FD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45518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36216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79750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22814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24213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822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62196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945428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689926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50539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6961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19043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9339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38198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9747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53722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277095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3219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130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png"/><Relationship Id="rId4" Type="http://schemas.openxmlformats.org/officeDocument/2006/relationships/hyperlink" Target="https://arxiv.org/pdf/1804.03209.pdf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hyperlink" Target="https://commonvoice.mozilla.org/en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gif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towardsdatascience.com/getting-to-know-the-mel-spectrogram-31bca3e2d9d0" TargetMode="External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gi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Machine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Identificação de palavras chave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1FA8D34-24C9-78EC-8544-4D0E039A56D6}"/>
              </a:ext>
            </a:extLst>
          </p:cNvPr>
          <p:cNvSpPr txBox="1"/>
          <p:nvPr/>
        </p:nvSpPr>
        <p:spPr>
          <a:xfrm>
            <a:off x="3447245" y="5937161"/>
            <a:ext cx="347300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Crédito: Marcelo Rovai-</a:t>
            </a:r>
            <a:r>
              <a:rPr lang="en-US" dirty="0" err="1"/>
              <a:t>Unifei</a:t>
            </a:r>
            <a:endParaRPr lang="en-US" dirty="0" err="1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xmlns="" id="{F1574431-CAE3-5841-DA4A-C44F3C66D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14963" cy="25880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 identificação de palavras-chave (do inglês, </a:t>
            </a:r>
            <a:r>
              <a:rPr lang="pt-BR" sz="2100" i="1" dirty="0" err="1">
                <a:ea typeface="Calibri"/>
                <a:cs typeface="Calibri"/>
              </a:rPr>
              <a:t>key</a:t>
            </a:r>
            <a:r>
              <a:rPr lang="pt-BR" sz="2100" i="1" dirty="0">
                <a:ea typeface="Calibri"/>
                <a:cs typeface="Calibri"/>
              </a:rPr>
              <a:t> word </a:t>
            </a:r>
            <a:r>
              <a:rPr lang="pt-BR" sz="2100" i="1" dirty="0" err="1">
                <a:ea typeface="Calibri"/>
                <a:cs typeface="Calibri"/>
              </a:rPr>
              <a:t>spotting</a:t>
            </a:r>
            <a:r>
              <a:rPr lang="pt-BR" sz="2100" i="1" dirty="0">
                <a:ea typeface="Calibri"/>
                <a:cs typeface="Calibri"/>
              </a:rPr>
              <a:t> </a:t>
            </a:r>
            <a:r>
              <a:rPr lang="pt-BR" sz="2100" dirty="0">
                <a:ea typeface="Calibri"/>
                <a:cs typeface="Calibri"/>
              </a:rPr>
              <a:t>- KWS) é uma técnica importante para aplicações de reconhecimento de fala.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Ela permite aos usuários </a:t>
            </a:r>
            <a:r>
              <a:rPr lang="pt-BR" sz="2100" b="1" i="1" dirty="0">
                <a:solidFill>
                  <a:srgbClr val="7030A0"/>
                </a:solidFill>
                <a:ea typeface="Calibri"/>
                <a:cs typeface="Calibri"/>
              </a:rPr>
              <a:t>ativar</a:t>
            </a:r>
            <a:r>
              <a:rPr lang="pt-BR" sz="2100" b="1" i="1" dirty="0">
                <a:solidFill>
                  <a:srgbClr val="00B050"/>
                </a:solidFill>
                <a:ea typeface="Calibri"/>
                <a:cs typeface="Calibri"/>
              </a:rPr>
              <a:t> dispositivos falando uma palavra-chave</a:t>
            </a:r>
            <a:r>
              <a:rPr lang="pt-BR" sz="2100" dirty="0">
                <a:ea typeface="Calibri"/>
                <a:cs typeface="Calibri"/>
              </a:rPr>
              <a:t>.</a:t>
            </a:r>
          </a:p>
          <a:p>
            <a:pPr marL="0" indent="0">
              <a:buNone/>
            </a:pPr>
            <a:endParaRPr lang="pt-BR" sz="2100" dirty="0">
              <a:ea typeface="Calibri"/>
              <a:cs typeface="Calibri"/>
            </a:endParaRPr>
          </a:p>
        </p:txBody>
      </p:sp>
      <p:pic>
        <p:nvPicPr>
          <p:cNvPr id="9" name="Imagem 8" descr="Diagrama&#10;&#10;Descrição gerada automaticamente">
            <a:extLst>
              <a:ext uri="{FF2B5EF4-FFF2-40B4-BE49-F238E27FC236}">
                <a16:creationId xmlns:a16="http://schemas.microsoft.com/office/drawing/2014/main" xmlns="" id="{5D4BF007-EB70-20D5-2AAD-D3F7715F3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2236" y="2455399"/>
            <a:ext cx="6963794" cy="356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Identificação de vidro quebrado (segurança)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8" name="Imagem 7" descr="Loja de roupas tem vidro quebrado e notebook furtado - Coluna Ponto de  Vista - O site de notícias de São Gabriel e região">
            <a:extLst>
              <a:ext uri="{FF2B5EF4-FFF2-40B4-BE49-F238E27FC236}">
                <a16:creationId xmlns:a16="http://schemas.microsoft.com/office/drawing/2014/main" xmlns="" id="{8A673561-4919-0278-4D5B-6C394E069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930" y="1604492"/>
            <a:ext cx="3402170" cy="4550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13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Detecção de anomalias (indústria)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4" name="Imagem 3" descr="Falhas em motores elétricos: saiba quais são as principais.">
            <a:extLst>
              <a:ext uri="{FF2B5EF4-FFF2-40B4-BE49-F238E27FC236}">
                <a16:creationId xmlns:a16="http://schemas.microsoft.com/office/drawing/2014/main" xmlns="" id="{91BC3B7C-C301-C6FB-02F9-60A5EDEF1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268" y="182249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915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detecção de ronco, tosse e choro.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5" name="Imagem 4" descr="Existe cirurgia para o ronco? - Rinoclínica">
            <a:extLst>
              <a:ext uri="{FF2B5EF4-FFF2-40B4-BE49-F238E27FC236}">
                <a16:creationId xmlns:a16="http://schemas.microsoft.com/office/drawing/2014/main" xmlns="" id="{FBD5927C-2418-A870-243D-F2FD1DB0E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86" y="2520033"/>
            <a:ext cx="4749085" cy="2858976"/>
          </a:xfrm>
          <a:prstGeom prst="rect">
            <a:avLst/>
          </a:prstGeom>
        </p:spPr>
      </p:pic>
      <p:pic>
        <p:nvPicPr>
          <p:cNvPr id="10" name="Imagem 9" descr="Choro de bebê: identificando e interpretando os diferentes tipos">
            <a:extLst>
              <a:ext uri="{FF2B5EF4-FFF2-40B4-BE49-F238E27FC236}">
                <a16:creationId xmlns:a16="http://schemas.microsoft.com/office/drawing/2014/main" xmlns="" id="{EBD8A59C-9383-68F0-9A4F-E47CD57761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99" y="2718128"/>
            <a:ext cx="3752492" cy="247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35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Latência e largura de banda;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Precisão e personalização;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Segurança e privacidade;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Bateria e memória.</a:t>
            </a:r>
          </a:p>
        </p:txBody>
      </p:sp>
    </p:spTree>
    <p:extLst>
      <p:ext uri="{BB962C8B-B14F-4D97-AF65-F5344CB8AC3E}">
        <p14:creationId xmlns:p14="http://schemas.microsoft.com/office/powerpoint/2010/main" val="2017533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110234-0E73-98AF-EA59-B2631D57C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4CC15D7-046D-F1FD-E63F-55D9B05C1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6515185A-1774-D154-9360-F163E6F8FC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644BCCF-31E3-2798-A64C-602A697A42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566063AD-DCEE-79DF-7859-4E38FC9F4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Latência e largura de banda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142FBDE4-865E-B5B4-F5F6-931A580ED7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036" y="2258085"/>
            <a:ext cx="4220164" cy="22767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66E5D21-6354-1C31-32C4-98FEFAF601A1}"/>
              </a:ext>
            </a:extLst>
          </p:cNvPr>
          <p:cNvSpPr txBox="1"/>
          <p:nvPr/>
        </p:nvSpPr>
        <p:spPr>
          <a:xfrm>
            <a:off x="6248400" y="2551837"/>
            <a:ext cx="5197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Latência: Os dispositivos devem responder rapidamente ao usuário, de preferência, em tempo real.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Banda: Minimizar a quantidade de dados enviados através da rede, que é algo lento e caro.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677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12FFAA-C4C8-D90B-D024-EC33E332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85D1163-5F32-EDE6-6BE7-6AC1E47F1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3BB6FAB-8310-500E-44FE-945DA1AE68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332FFA8E-1B03-FB69-5301-52A3BB261A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D9272651-BA13-D762-4715-E52272FBF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Acurácia e personalização;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696E6EB4-3B27-11A6-A5D0-6F461811E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47" y="2359212"/>
            <a:ext cx="4697506" cy="25459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78D2AC1-3048-58BD-8F12-4B65F9747760}"/>
              </a:ext>
            </a:extLst>
          </p:cNvPr>
          <p:cNvSpPr txBox="1"/>
          <p:nvPr/>
        </p:nvSpPr>
        <p:spPr>
          <a:xfrm>
            <a:off x="6248400" y="2551837"/>
            <a:ext cx="51973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Acurácia: dispositivo deve ouvir o tempo todo, mas ser ativado no momento correto.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Personalização: Ser ativado apenas com o(s) usuário(s) e não com ruído (ou outras pessoas).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761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9E7FA1-1E0D-5B73-19D0-60ACE8135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9197C89-87F1-0F32-317E-70FD2049A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954383D1-DECA-0613-112C-7934261B05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E19EF7E-9747-956D-666B-4347787F31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BC873A38-5221-FCD1-4B6E-0EFAC6A9E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Segurança e privacidade;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7B6BE228-9EAF-09C2-6B15-93DA25154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41" y="2444428"/>
            <a:ext cx="4948518" cy="25997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CCF5EB09-2CDC-5506-0B1E-871039B52626}"/>
              </a:ext>
            </a:extLst>
          </p:cNvPr>
          <p:cNvSpPr txBox="1"/>
          <p:nvPr/>
        </p:nvSpPr>
        <p:spPr>
          <a:xfrm>
            <a:off x="6248400" y="2551837"/>
            <a:ext cx="51973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Segurança e Privacidade: Proteger os dados que estão sendo enviados para a nuvem.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Enviar para nuvem apenas os dados necessários e nada além disso!</a:t>
            </a:r>
          </a:p>
        </p:txBody>
      </p:sp>
    </p:spTree>
    <p:extLst>
      <p:ext uri="{BB962C8B-B14F-4D97-AF65-F5344CB8AC3E}">
        <p14:creationId xmlns:p14="http://schemas.microsoft.com/office/powerpoint/2010/main" val="3226806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10D1FCA-6D2E-C1B6-5A0D-D3333005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97E256E-F71A-AE2E-2E89-EF1E0E7C3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8585906-6E04-F4A8-7F61-F502B8055D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767B0C1C-8C42-3B83-7932-941BE4307C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030D869D-79C4-34B3-D3B0-475B079C3D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Bateria e memória.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9A7A1B7-59D2-4E21-1AAF-0F1E877F1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36" y="2280023"/>
            <a:ext cx="4589929" cy="25011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6BA8406B-C966-8442-8C42-F803C21B803D}"/>
              </a:ext>
            </a:extLst>
          </p:cNvPr>
          <p:cNvSpPr txBox="1"/>
          <p:nvPr/>
        </p:nvSpPr>
        <p:spPr>
          <a:xfrm>
            <a:off x="6248400" y="2551837"/>
            <a:ext cx="5197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Bateria: o consumo deve ser mínimo, pois os dispositivos são, em geral, alimentados por pequenas baterias.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Memória: aplicações serão executadas em dispositivos com restrições de memória.</a:t>
            </a:r>
          </a:p>
        </p:txBody>
      </p:sp>
    </p:spTree>
    <p:extLst>
      <p:ext uri="{BB962C8B-B14F-4D97-AF65-F5344CB8AC3E}">
        <p14:creationId xmlns:p14="http://schemas.microsoft.com/office/powerpoint/2010/main" val="4130691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Espaço Reservado para Conteúdo 3" descr="Gráfico&#10;&#10;Descrição gerada automaticamente">
            <a:extLst>
              <a:ext uri="{FF2B5EF4-FFF2-40B4-BE49-F238E27FC236}">
                <a16:creationId xmlns:a16="http://schemas.microsoft.com/office/drawing/2014/main" xmlns="" id="{38A9EED1-B5BC-2318-4247-31F032D263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09675" y="1808270"/>
            <a:ext cx="9038822" cy="3652675"/>
          </a:xfrm>
        </p:spPr>
      </p:pic>
      <p:sp>
        <p:nvSpPr>
          <p:cNvPr id="5" name="Retângulo 4"/>
          <p:cNvSpPr/>
          <p:nvPr/>
        </p:nvSpPr>
        <p:spPr>
          <a:xfrm>
            <a:off x="4293476" y="5502787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Precisão e personalização;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Segurança e privacidade;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Bateria e memória.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8E90221A-C72D-32BA-0641-7272C58B24C5}"/>
              </a:ext>
            </a:extLst>
          </p:cNvPr>
          <p:cNvSpPr txBox="1">
            <a:spLocks/>
          </p:cNvSpPr>
          <p:nvPr/>
        </p:nvSpPr>
        <p:spPr>
          <a:xfrm>
            <a:off x="304800" y="1066800"/>
            <a:ext cx="9038822" cy="46593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11" indent="-228611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1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25" indent="-190510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38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53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6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8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9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11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930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pt-BR" sz="2100" dirty="0">
                <a:ea typeface="Calibri"/>
                <a:cs typeface="Calibri"/>
              </a:rPr>
              <a:t>Anatomia de uma aplicação de </a:t>
            </a:r>
            <a:r>
              <a:rPr lang="pt-BR" sz="2100" dirty="0" err="1">
                <a:ea typeface="Calibri"/>
                <a:cs typeface="Calibri"/>
              </a:rPr>
              <a:t>keyword</a:t>
            </a:r>
            <a:r>
              <a:rPr lang="pt-BR" sz="2100" dirty="0">
                <a:ea typeface="Calibri"/>
                <a:cs typeface="Calibri"/>
              </a:rPr>
              <a:t> </a:t>
            </a:r>
            <a:r>
              <a:rPr lang="pt-BR" sz="2100" dirty="0" err="1">
                <a:ea typeface="Calibri"/>
                <a:cs typeface="Calibri"/>
              </a:rPr>
              <a:t>spotting</a:t>
            </a:r>
            <a:endParaRPr lang="pt-BR" sz="21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7404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60E35055-92AF-42EA-CBED-E1A00E49E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8175" y="1471806"/>
            <a:ext cx="10439399" cy="4112297"/>
          </a:xfrm>
        </p:spPr>
      </p:pic>
      <p:sp>
        <p:nvSpPr>
          <p:cNvPr id="4" name="Retângulo 3"/>
          <p:cNvSpPr/>
          <p:nvPr/>
        </p:nvSpPr>
        <p:spPr>
          <a:xfrm>
            <a:off x="4992797" y="1481783"/>
            <a:ext cx="17602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Banda e latência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60339EA-BF2C-A166-F590-01D19E5CA62D}"/>
              </a:ext>
            </a:extLst>
          </p:cNvPr>
          <p:cNvSpPr txBox="1"/>
          <p:nvPr/>
        </p:nvSpPr>
        <p:spPr>
          <a:xfrm>
            <a:off x="3552497" y="5726714"/>
            <a:ext cx="5055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Não é prático enviar dados o tempo todo para nuvem!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Imaginem a </a:t>
            </a:r>
            <a:r>
              <a:rPr lang="pt-BR" dirty="0" err="1"/>
              <a:t>Alexa</a:t>
            </a:r>
            <a:r>
              <a:rPr lang="pt-BR" dirty="0"/>
              <a:t> fazendo isso o tempo todo.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01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 descr="Uma imagem contendo Ícone&#10;&#10;Descrição gerada automaticamente">
            <a:extLst>
              <a:ext uri="{FF2B5EF4-FFF2-40B4-BE49-F238E27FC236}">
                <a16:creationId xmlns:a16="http://schemas.microsoft.com/office/drawing/2014/main" xmlns="" id="{4FC1AB43-8B89-57A4-B783-CCF53A5ABB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71487" y="1565334"/>
            <a:ext cx="9998868" cy="4210989"/>
          </a:xfrm>
        </p:spPr>
      </p:pic>
      <p:sp>
        <p:nvSpPr>
          <p:cNvPr id="4" name="Retângulo 3"/>
          <p:cNvSpPr/>
          <p:nvPr/>
        </p:nvSpPr>
        <p:spPr>
          <a:xfrm>
            <a:off x="5617779" y="128487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Banda e latência;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Segurança e privacidade;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B0B12D3-9C92-8A4F-F094-E93AD44D2854}"/>
              </a:ext>
            </a:extLst>
          </p:cNvPr>
          <p:cNvSpPr txBox="1"/>
          <p:nvPr/>
        </p:nvSpPr>
        <p:spPr>
          <a:xfrm>
            <a:off x="2863669" y="5992679"/>
            <a:ext cx="5965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KWS só liga o dispositivo no momento em que detecta a palavra chave, “filtrando” os dados enviados.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2110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0525" y="2454167"/>
            <a:ext cx="9403556" cy="12980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E o dataset?</a:t>
            </a:r>
          </a:p>
        </p:txBody>
      </p:sp>
    </p:spTree>
    <p:extLst>
      <p:ext uri="{BB962C8B-B14F-4D97-AF65-F5344CB8AC3E}">
        <p14:creationId xmlns:p14="http://schemas.microsoft.com/office/powerpoint/2010/main" val="3056303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CAB396E-0F0F-85B4-2E6D-B6A671B86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FE6A276-C8D9-B1CD-D72A-ECEF1CE17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98B317D-7510-4A32-2D26-A512F96FFA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56A6A034-EE53-228B-71CF-91AC6CAE2D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ECA8D103-E449-E065-AF05-C33851FCD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Como construímos um bom conjunto de dados?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Quem são os usuários?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Apenas jovens, mulheres, idosos ou público em geral?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De qual região?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O que eles precisam?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Qual a tarefa sendo resolvida?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Quais palavras essa tarefa precisa que sejam identificadas?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Como o mundo real torna isso difícil?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Ambiente fechado ou aberto?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Uma fábrica?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Ruído</a:t>
            </a:r>
          </a:p>
        </p:txBody>
      </p:sp>
    </p:spTree>
    <p:extLst>
      <p:ext uri="{BB962C8B-B14F-4D97-AF65-F5344CB8AC3E}">
        <p14:creationId xmlns:p14="http://schemas.microsoft.com/office/powerpoint/2010/main" val="789949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044542A-10F7-1F52-61F3-555C4421A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155F72-1610-5A01-03F3-800B98ED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83D86486-BE9A-1C04-6178-BF536120A90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504BC3A2-F9D8-61A8-846B-B90C461D70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8D1595CA-9008-6FE6-C3E2-8D3E57436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Como construímos um bom conjunto de dados?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Quem são os usuários?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Apenas jovens, mulheres, idosos ou público em geral?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De qual região?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O que eles precisam?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Qual a tarefa sendo resolvida?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Quais palavras essa tarefa precisa que sejam identificadas?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Como o mundo real torna isso difícil?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Ambiente fechado ou aberto?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Uma fábrica?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Ruído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79389E3-2011-6C84-94A6-EFE5E7FDA52B}"/>
              </a:ext>
            </a:extLst>
          </p:cNvPr>
          <p:cNvSpPr txBox="1"/>
          <p:nvPr/>
        </p:nvSpPr>
        <p:spPr>
          <a:xfrm>
            <a:off x="3920358" y="5626537"/>
            <a:ext cx="57879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>
                <a:solidFill>
                  <a:srgbClr val="FF0000"/>
                </a:solidFill>
              </a:rPr>
              <a:t>Existem alguns </a:t>
            </a:r>
            <a:r>
              <a:rPr lang="pt-BR" sz="2800" dirty="0" err="1">
                <a:solidFill>
                  <a:srgbClr val="FF0000"/>
                </a:solidFill>
              </a:rPr>
              <a:t>datasets</a:t>
            </a:r>
            <a:r>
              <a:rPr lang="pt-BR" sz="2800" dirty="0">
                <a:solidFill>
                  <a:srgbClr val="FF0000"/>
                </a:solidFill>
              </a:rPr>
              <a:t> disponíveis, mas não são muitos...</a:t>
            </a:r>
            <a:endParaRPr 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0382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pt-BR" sz="2100" dirty="0">
                <a:ea typeface="+mn-lt"/>
                <a:cs typeface="+mn-lt"/>
                <a:hlinkClick r:id="rId4"/>
              </a:rPr>
              <a:t>https://arxiv.org/pdf/1804.03209.pdf</a:t>
            </a: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Texto&#10;&#10;Descrição gerada automaticamente">
            <a:extLst>
              <a:ext uri="{FF2B5EF4-FFF2-40B4-BE49-F238E27FC236}">
                <a16:creationId xmlns:a16="http://schemas.microsoft.com/office/drawing/2014/main" xmlns="" id="{AF3A8AA1-0043-4100-B85D-DF62057A57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555" y="1589164"/>
            <a:ext cx="8857450" cy="2588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97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Primeira versão contém exemplos de 10 palavras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Yes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No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Left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Right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Go 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Stop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One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Two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Four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Six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4136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Segunda versão: 35 palavras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2618 voluntários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Mais de mil gravações de cada palavra.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Tabela&#10;&#10;Descrição gerada automaticamente">
            <a:extLst>
              <a:ext uri="{FF2B5EF4-FFF2-40B4-BE49-F238E27FC236}">
                <a16:creationId xmlns:a16="http://schemas.microsoft.com/office/drawing/2014/main" xmlns="" id="{5321A63C-10CA-E3E9-52AC-61ADA0E95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200" y="571321"/>
            <a:ext cx="2557658" cy="612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2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b="1" dirty="0">
                <a:ea typeface="+mn-lt"/>
                <a:cs typeface="+mn-lt"/>
              </a:rPr>
              <a:t>Curadoria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Verificação de palavras ditas de forma errada.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Retirar ou normalizar gravações com volume baixo.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Retirar momentos de silêncio.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23218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Mozilla common </a:t>
            </a:r>
            <a:r>
              <a:rPr lang="pt-BR" sz="2100" dirty="0" err="1">
                <a:ea typeface="+mn-lt"/>
                <a:cs typeface="+mn-lt"/>
              </a:rPr>
              <a:t>voice</a:t>
            </a:r>
            <a:r>
              <a:rPr lang="pt-BR" sz="2100" dirty="0">
                <a:ea typeface="+mn-lt"/>
                <a:cs typeface="+mn-lt"/>
              </a:rPr>
              <a:t>: </a:t>
            </a:r>
            <a:r>
              <a:rPr lang="pt-BR" sz="2100" dirty="0" err="1">
                <a:ea typeface="+mn-lt"/>
                <a:cs typeface="+mn-lt"/>
              </a:rPr>
              <a:t>crowdsourcing</a:t>
            </a:r>
            <a:r>
              <a:rPr lang="pt-BR" sz="2100" dirty="0">
                <a:ea typeface="+mn-lt"/>
                <a:cs typeface="+mn-lt"/>
              </a:rPr>
              <a:t> </a:t>
            </a:r>
            <a:r>
              <a:rPr lang="pt-BR" sz="2100" dirty="0" err="1">
                <a:ea typeface="+mn-lt"/>
                <a:cs typeface="+mn-lt"/>
              </a:rPr>
              <a:t>platform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  <a:hlinkClick r:id="rId4"/>
              </a:rPr>
              <a:t>https://commonvoice.mozilla.org/en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Uma imagem contendo Gráfico&#10;&#10;Descrição gerada automaticamente">
            <a:extLst>
              <a:ext uri="{FF2B5EF4-FFF2-40B4-BE49-F238E27FC236}">
                <a16:creationId xmlns:a16="http://schemas.microsoft.com/office/drawing/2014/main" xmlns="" id="{6D488898-78EA-3903-A088-6BF9F379A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2092853"/>
            <a:ext cx="7786154" cy="3062817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3742" y="2088620"/>
            <a:ext cx="3133725" cy="306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791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Questões a serem levantadas para controle de qualidade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Quais frequências devem ser gravadas?</a:t>
            </a:r>
          </a:p>
          <a:p>
            <a:pPr marL="609614" lvl="1" indent="-342900"/>
            <a:r>
              <a:rPr lang="pt-BR" sz="1834" dirty="0">
                <a:ea typeface="+mn-lt"/>
                <a:cs typeface="+mn-lt"/>
              </a:rPr>
              <a:t>Deve-se manter apenas o que nós conseguimos ouvir.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Qualidade do microfone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Ruído ambiente</a:t>
            </a:r>
          </a:p>
          <a:p>
            <a:pPr marL="609614" lvl="1" indent="-342900"/>
            <a:r>
              <a:rPr lang="pt-BR" sz="1834" dirty="0">
                <a:ea typeface="+mn-lt"/>
                <a:cs typeface="+mn-lt"/>
              </a:rPr>
              <a:t>Modelo treinado com um dataset gravado em um ambiente silencioso e inferência feita em ambiente ruidoso.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82815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2343807" y="2328042"/>
            <a:ext cx="675815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3600" dirty="0">
                <a:cs typeface="Calibri"/>
              </a:rPr>
              <a:t>Como será o pré-processamento dos dados para entrada no modelo?</a:t>
            </a:r>
          </a:p>
        </p:txBody>
      </p:sp>
    </p:spTree>
    <p:extLst>
      <p:ext uri="{BB962C8B-B14F-4D97-AF65-F5344CB8AC3E}">
        <p14:creationId xmlns:p14="http://schemas.microsoft.com/office/powerpoint/2010/main" val="1893186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xmlns="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304" y="1724036"/>
            <a:ext cx="3965026" cy="2644927"/>
          </a:xfrm>
          <a:prstGeom prst="rect">
            <a:avLst/>
          </a:prstGeom>
        </p:spPr>
      </p:pic>
      <p:pic>
        <p:nvPicPr>
          <p:cNvPr id="6" name="Imagem 5" descr="How to convert audio signal into electrical signal - Quora">
            <a:extLst>
              <a:ext uri="{FF2B5EF4-FFF2-40B4-BE49-F238E27FC236}">
                <a16:creationId xmlns:a16="http://schemas.microsoft.com/office/drawing/2014/main" xmlns="" id="{1BE4D219-6150-169B-48B6-6F34E1E7D5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663084"/>
            <a:ext cx="4818990" cy="2778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27432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  <a:endParaRPr lang="pt-BR" sz="2100" dirty="0" err="1"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4F7182DE-EAA7-32AF-EDC5-AF65B88F0449}"/>
              </a:ext>
            </a:extLst>
          </p:cNvPr>
          <p:cNvSpPr txBox="1"/>
          <p:nvPr/>
        </p:nvSpPr>
        <p:spPr>
          <a:xfrm>
            <a:off x="2989755" y="5455741"/>
            <a:ext cx="31916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7030A0"/>
                </a:solidFill>
              </a:rPr>
              <a:t>Podemos amostrar o sinal do microfone e usar como entrada do modelo?</a:t>
            </a:r>
            <a:endParaRPr lang="en-US" b="1" i="1" dirty="0">
              <a:solidFill>
                <a:srgbClr val="7030A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xmlns="" id="{F2F40667-9E8D-95EE-174B-DFE4C0F27666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845269" y="3932270"/>
            <a:ext cx="851968" cy="1523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58FA283B-560B-24D5-7F52-664253B671E7}"/>
              </a:ext>
            </a:extLst>
          </p:cNvPr>
          <p:cNvSpPr/>
          <p:nvPr/>
        </p:nvSpPr>
        <p:spPr>
          <a:xfrm>
            <a:off x="5330058" y="2589961"/>
            <a:ext cx="851338" cy="9205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A/D</a:t>
            </a:r>
            <a:endParaRPr lang="en-US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xmlns="" id="{2544948B-0E32-200E-59BC-ED717F4094A8}"/>
              </a:ext>
            </a:extLst>
          </p:cNvPr>
          <p:cNvSpPr/>
          <p:nvPr/>
        </p:nvSpPr>
        <p:spPr>
          <a:xfrm>
            <a:off x="6299200" y="2985547"/>
            <a:ext cx="581045" cy="2032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m 8" descr="Uma imagem contendo Diagrama&#10;&#10;Descrição gerada automaticamente">
            <a:extLst>
              <a:ext uri="{FF2B5EF4-FFF2-40B4-BE49-F238E27FC236}">
                <a16:creationId xmlns:a16="http://schemas.microsoft.com/office/drawing/2014/main" xmlns="" id="{5B3D6B05-C09F-B8F4-E3E1-A806D16AFA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0316"/>
          <a:stretch>
            <a:fillRect/>
          </a:stretch>
        </p:blipFill>
        <p:spPr>
          <a:xfrm>
            <a:off x="8044617" y="4064740"/>
            <a:ext cx="2459829" cy="201023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5CB9CF20-610D-917B-27F6-838B5AFF0983}"/>
              </a:ext>
            </a:extLst>
          </p:cNvPr>
          <p:cNvSpPr txBox="1"/>
          <p:nvPr/>
        </p:nvSpPr>
        <p:spPr>
          <a:xfrm>
            <a:off x="5244228" y="3562938"/>
            <a:ext cx="9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16 </a:t>
            </a:r>
            <a:r>
              <a:rPr lang="pt-BR" dirty="0" err="1"/>
              <a:t>KSps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47611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xmlns="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814" y="989813"/>
            <a:ext cx="3965026" cy="2644927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70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capturadas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b="1" dirty="0">
                <a:solidFill>
                  <a:srgbClr val="FF0000"/>
                </a:solidFill>
                <a:cs typeface="Calibri"/>
              </a:rPr>
              <a:t>Não dá para usar como entrada de uma rede neural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9" name="Imagem 8" descr="Uma imagem contendo Diagrama&#10;&#10;Descrição gerada automaticamente">
            <a:extLst>
              <a:ext uri="{FF2B5EF4-FFF2-40B4-BE49-F238E27FC236}">
                <a16:creationId xmlns:a16="http://schemas.microsoft.com/office/drawing/2014/main" xmlns="" id="{5B3D6B05-C09F-B8F4-E3E1-A806D16AF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814" y="3480623"/>
            <a:ext cx="2743200" cy="281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289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9007365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áudio: palavras ligado e desligado</a:t>
            </a:r>
          </a:p>
          <a:p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Temos sinais contínuos, assim, onde a palavra começa?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Como alinhar no início da palavra?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Como extrair as partes importantes do sinal?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10" name="Imagem 9" descr="Uma imagem contendo Linha do tempo&#10;&#10;Descrição gerada automaticamente">
            <a:extLst>
              <a:ext uri="{FF2B5EF4-FFF2-40B4-BE49-F238E27FC236}">
                <a16:creationId xmlns:a16="http://schemas.microsoft.com/office/drawing/2014/main" xmlns="" id="{45AC4BC2-4543-1503-E5FA-0F37E99C5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9250" y="3327400"/>
            <a:ext cx="6625942" cy="305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68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YES/NO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xmlns="" id="{38F1EDB7-93C8-1ADB-1ED1-C2B6EB7C3E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0795" y="1695933"/>
            <a:ext cx="7304466" cy="4829147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175642" y="3925840"/>
            <a:ext cx="2715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rgbClr val="00B050"/>
                </a:solidFill>
              </a:rPr>
              <a:t>Diferenças em intensidade</a:t>
            </a:r>
          </a:p>
        </p:txBody>
      </p:sp>
    </p:spTree>
    <p:extLst>
      <p:ext uri="{BB962C8B-B14F-4D97-AF65-F5344CB8AC3E}">
        <p14:creationId xmlns:p14="http://schemas.microsoft.com/office/powerpoint/2010/main" val="2518404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0618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ligado/desligado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 descr="Uma imagem contendo Linha do tempo&#10;&#10;Descrição gerada automaticamente">
            <a:extLst>
              <a:ext uri="{FF2B5EF4-FFF2-40B4-BE49-F238E27FC236}">
                <a16:creationId xmlns:a16="http://schemas.microsoft.com/office/drawing/2014/main" xmlns="" id="{52625DBB-3857-6A57-5890-3E81B799C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469" y="2597947"/>
            <a:ext cx="5580992" cy="2568622"/>
          </a:xfrm>
          <a:prstGeom prst="rect">
            <a:avLst/>
          </a:prstGeom>
        </p:spPr>
      </p:pic>
      <p:pic>
        <p:nvPicPr>
          <p:cNvPr id="10" name="Imagem 9" descr="Uma imagem contendo Linha do tempo&#10;&#10;Descrição gerada automaticamente">
            <a:extLst>
              <a:ext uri="{FF2B5EF4-FFF2-40B4-BE49-F238E27FC236}">
                <a16:creationId xmlns:a16="http://schemas.microsoft.com/office/drawing/2014/main" xmlns="" id="{45AC4BC2-4543-1503-E5FA-0F37E99C5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676" y="2834431"/>
            <a:ext cx="4661337" cy="21482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C6BF194C-D7C4-BEF9-1062-80E5EBA5D563}"/>
              </a:ext>
            </a:extLst>
          </p:cNvPr>
          <p:cNvSpPr txBox="1"/>
          <p:nvPr/>
        </p:nvSpPr>
        <p:spPr>
          <a:xfrm>
            <a:off x="4514192" y="5312721"/>
            <a:ext cx="359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/>
              <a:t>A diferença entre esses áudios não é muito visível...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988718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49B442-5686-89C8-B860-17E4543F1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86DAA02-0743-52AD-9FA7-629FD0384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68135082-DF08-71F8-0E77-7A083755819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B9DD8E1E-1F88-18FD-F6E3-B02B52E1FC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4A7B674C-1FDB-836F-C35E-84BAC0923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B2A8BBC3-94D9-FF28-DA2B-BE4F0B8ED9D0}"/>
              </a:ext>
            </a:extLst>
          </p:cNvPr>
          <p:cNvSpPr txBox="1"/>
          <p:nvPr/>
        </p:nvSpPr>
        <p:spPr>
          <a:xfrm>
            <a:off x="3773214" y="2898085"/>
            <a:ext cx="5462751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3600" dirty="0"/>
              <a:t>O que podemos fazer?</a:t>
            </a:r>
          </a:p>
          <a:p>
            <a:pPr algn="ctr"/>
            <a:endParaRPr lang="pt-BR" sz="3600" dirty="0">
              <a:cs typeface="Calibri"/>
            </a:endParaRPr>
          </a:p>
          <a:p>
            <a:pPr algn="ctr"/>
            <a:endParaRPr lang="pt-BR" sz="36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0281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9161818" cy="170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Aplicar FFT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à trechos </a:t>
            </a:r>
            <a:r>
              <a:rPr lang="pt-BR" sz="2100" dirty="0">
                <a:cs typeface="Calibri"/>
              </a:rPr>
              <a:t>do sinal de áudio para extrair as componentes do sinal e criar um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espectrograma</a:t>
            </a:r>
            <a:r>
              <a:rPr lang="pt-BR" sz="2100" dirty="0">
                <a:cs typeface="Calibri"/>
              </a:rPr>
              <a:t>.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024" y="2653862"/>
            <a:ext cx="9088125" cy="345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567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32778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Espectrograma</a:t>
            </a:r>
          </a:p>
          <a:p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Um espectrograma é uma forma de visualizar a intensidade de um sinal através do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tempo e em várias frequências</a:t>
            </a:r>
            <a:r>
              <a:rPr lang="pt-BR" sz="2100" dirty="0">
                <a:cs typeface="Calibri"/>
              </a:rPr>
              <a:t>.</a:t>
            </a:r>
          </a:p>
          <a:p>
            <a:pPr marL="342900" indent="-342900">
              <a:buFont typeface="Arial"/>
              <a:buChar char="•"/>
            </a:pPr>
            <a:endParaRPr lang="pt-BR" dirty="0"/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Os espectrogramas são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gráficos de duas dimensões</a:t>
            </a:r>
            <a:r>
              <a:rPr lang="pt-BR" sz="2100" i="1" dirty="0">
                <a:solidFill>
                  <a:srgbClr val="7030A0"/>
                </a:solidFill>
                <a:cs typeface="Calibri"/>
              </a:rPr>
              <a:t> </a:t>
            </a:r>
            <a:r>
              <a:rPr lang="pt-BR" sz="2100" dirty="0">
                <a:cs typeface="Calibri"/>
              </a:rPr>
              <a:t>(frequência x tempo), com a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terceira dimensão</a:t>
            </a:r>
            <a:r>
              <a:rPr lang="pt-BR" sz="2100" dirty="0">
                <a:cs typeface="Calibri"/>
              </a:rPr>
              <a:t>, a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amplitude</a:t>
            </a:r>
            <a:r>
              <a:rPr lang="pt-BR" sz="2100" dirty="0">
                <a:cs typeface="Calibri"/>
              </a:rPr>
              <a:t>, sendo representada pela variação das cores.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São criados aplicando-se FFT à trechos (i.e., janelas) do sinal.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79179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3"/>
            <a:ext cx="5587874" cy="3716074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8986345" y="3105807"/>
            <a:ext cx="218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Aplica-se FFT à janela</a:t>
            </a:r>
          </a:p>
        </p:txBody>
      </p:sp>
    </p:spTree>
    <p:extLst>
      <p:ext uri="{BB962C8B-B14F-4D97-AF65-F5344CB8AC3E}">
        <p14:creationId xmlns:p14="http://schemas.microsoft.com/office/powerpoint/2010/main" val="2936766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2"/>
            <a:ext cx="5587874" cy="3762133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8571741" y="3244334"/>
            <a:ext cx="27636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Move-se a janela e aplica-se a FFT à nova janela</a:t>
            </a:r>
          </a:p>
          <a:p>
            <a:pPr algn="ctr"/>
            <a:r>
              <a:rPr lang="pt-BR" dirty="0"/>
              <a:t>(pode haver sobreposição)</a:t>
            </a:r>
          </a:p>
        </p:txBody>
      </p:sp>
    </p:spTree>
    <p:extLst>
      <p:ext uri="{BB962C8B-B14F-4D97-AF65-F5344CB8AC3E}">
        <p14:creationId xmlns:p14="http://schemas.microsoft.com/office/powerpoint/2010/main" val="280579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2"/>
            <a:ext cx="5587874" cy="3706808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8571741" y="3244334"/>
            <a:ext cx="2763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Move-se a janela e aplica-se a FFT à nova janela</a:t>
            </a:r>
          </a:p>
        </p:txBody>
      </p:sp>
    </p:spTree>
    <p:extLst>
      <p:ext uri="{BB962C8B-B14F-4D97-AF65-F5344CB8AC3E}">
        <p14:creationId xmlns:p14="http://schemas.microsoft.com/office/powerpoint/2010/main" val="13257016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2114550"/>
            <a:ext cx="10972927" cy="33876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3735256" y="5709902"/>
            <a:ext cx="4633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 união de todas as </a:t>
            </a:r>
            <a:r>
              <a:rPr lang="pt-BR" dirty="0" err="1"/>
              <a:t>FFTs</a:t>
            </a:r>
            <a:r>
              <a:rPr lang="pt-BR" dirty="0"/>
              <a:t> forma o </a:t>
            </a:r>
            <a:r>
              <a:rPr lang="pt-BR" dirty="0" err="1"/>
              <a:t>espectograma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27639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31649" y="1118615"/>
            <a:ext cx="5462751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</p:txBody>
      </p:sp>
      <p:pic>
        <p:nvPicPr>
          <p:cNvPr id="4" name="Imagem 3" descr="Tela de computador&#10;&#10;Descrição gerada automaticamente">
            <a:extLst>
              <a:ext uri="{FF2B5EF4-FFF2-40B4-BE49-F238E27FC236}">
                <a16:creationId xmlns:a16="http://schemas.microsoft.com/office/drawing/2014/main" xmlns="" id="{EB965E12-0D86-F8FD-9B1C-D5D88A9B8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3918" y="1308538"/>
            <a:ext cx="7100964" cy="4753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4263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187" y="945092"/>
            <a:ext cx="8086827" cy="543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6131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656" y="1505082"/>
            <a:ext cx="7517062" cy="3644636"/>
          </a:xfrm>
          <a:prstGeom prst="rect">
            <a:avLst/>
          </a:prstGeom>
        </p:spPr>
      </p:pic>
      <p:sp>
        <p:nvSpPr>
          <p:cNvPr id="8" name="Retângulo 7"/>
          <p:cNvSpPr/>
          <p:nvPr/>
        </p:nvSpPr>
        <p:spPr>
          <a:xfrm>
            <a:off x="2401614" y="52621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/>
              <a:t>Frequências mais baixas são muito mais nítidas para nós, ou seja, elas são menos atenuadas.</a:t>
            </a:r>
          </a:p>
        </p:txBody>
      </p:sp>
    </p:spTree>
    <p:extLst>
      <p:ext uri="{BB962C8B-B14F-4D97-AF65-F5344CB8AC3E}">
        <p14:creationId xmlns:p14="http://schemas.microsoft.com/office/powerpoint/2010/main" val="41307137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656" y="1505082"/>
            <a:ext cx="7517062" cy="3644636"/>
          </a:xfrm>
          <a:prstGeom prst="rect">
            <a:avLst/>
          </a:prstGeom>
        </p:spPr>
      </p:pic>
      <p:sp>
        <p:nvSpPr>
          <p:cNvPr id="8" name="Retângulo 7"/>
          <p:cNvSpPr/>
          <p:nvPr/>
        </p:nvSpPr>
        <p:spPr>
          <a:xfrm>
            <a:off x="1849656" y="5262145"/>
            <a:ext cx="751706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Humanos </a:t>
            </a:r>
            <a:r>
              <a:rPr lang="pt-BR" b="1" i="1" dirty="0">
                <a:solidFill>
                  <a:srgbClr val="00B050"/>
                </a:solidFill>
              </a:rPr>
              <a:t>não percebem frequências linearmente</a:t>
            </a:r>
            <a:r>
              <a:rPr lang="pt-BR" dirty="0"/>
              <a:t>. </a:t>
            </a:r>
          </a:p>
          <a:p>
            <a:r>
              <a:rPr lang="pt-BR" dirty="0"/>
              <a:t>Somos </a:t>
            </a:r>
            <a:r>
              <a:rPr lang="pt-BR" b="1" i="1" dirty="0">
                <a:solidFill>
                  <a:srgbClr val="00B050"/>
                </a:solidFill>
              </a:rPr>
              <a:t>mais sensíveis às diferenças entre frequências mais baixas </a:t>
            </a:r>
            <a:r>
              <a:rPr lang="pt-BR" dirty="0"/>
              <a:t>do que entre frequências mais altas.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2F10DF1C-5F73-0279-ADEA-F985BB9E549E}"/>
              </a:ext>
            </a:extLst>
          </p:cNvPr>
          <p:cNvSpPr txBox="1"/>
          <p:nvPr/>
        </p:nvSpPr>
        <p:spPr>
          <a:xfrm>
            <a:off x="2411927" y="6550416"/>
            <a:ext cx="716494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hlinkClick r:id="rId5"/>
              </a:rPr>
              <a:t>https://towardsdatascience.com/getting-to-know-the-mel-spectrogram-31bca3e2d9d0</a:t>
            </a:r>
            <a:endParaRPr lang="pt-BR" sz="1400" dirty="0"/>
          </a:p>
          <a:p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1801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1026" name="Picture 2" descr="Mel Scale measures human perception of pitch (Source, by permission of Prof Barry Truax)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19" y="1375413"/>
            <a:ext cx="4851249" cy="4783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006578" y="1735645"/>
            <a:ext cx="6053958" cy="30931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100" dirty="0">
                <a:cs typeface="Calibri"/>
              </a:rPr>
              <a:t>A escala Mel é uma escala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perceptual</a:t>
            </a:r>
            <a:r>
              <a:rPr lang="pt-BR" sz="2100" dirty="0">
                <a:cs typeface="Calibri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100" dirty="0">
                <a:cs typeface="Calibri"/>
              </a:rPr>
              <a:t>Ela relaciona a </a:t>
            </a:r>
            <a:r>
              <a:rPr lang="pt-BR" sz="2100" b="1" i="1" dirty="0">
                <a:solidFill>
                  <a:srgbClr val="00B050"/>
                </a:solidFill>
                <a:cs typeface="Calibri"/>
              </a:rPr>
              <a:t>frequência percebida de um tom puro à sua frequência real </a:t>
            </a:r>
            <a:r>
              <a:rPr lang="pt-BR" sz="2100" dirty="0">
                <a:cs typeface="Calibri"/>
              </a:rPr>
              <a:t>medida. 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Leva em conta que seres humanos são muito melhores em </a:t>
            </a:r>
            <a:r>
              <a:rPr lang="pt-BR" sz="2100" b="1" i="1" dirty="0">
                <a:solidFill>
                  <a:srgbClr val="7030A0"/>
                </a:solidFill>
                <a:cs typeface="Calibri"/>
              </a:rPr>
              <a:t>discernir pequenas mudanças no tom em frequências baixas </a:t>
            </a:r>
            <a:r>
              <a:rPr lang="pt-BR" sz="2100" dirty="0">
                <a:cs typeface="Calibri"/>
              </a:rPr>
              <a:t>do que em frequências altas.</a:t>
            </a:r>
          </a:p>
          <a:p>
            <a:pPr marL="800100" lvl="1" indent="-342900">
              <a:buFont typeface="Arial"/>
              <a:buChar char="•"/>
            </a:pPr>
            <a:r>
              <a:rPr lang="pt-BR" sz="2100" dirty="0">
                <a:cs typeface="Calibri"/>
              </a:rPr>
              <a:t>Nosso ouvido não percebe todas as frequências igualmente.</a:t>
            </a:r>
          </a:p>
        </p:txBody>
      </p:sp>
    </p:spTree>
    <p:extLst>
      <p:ext uri="{BB962C8B-B14F-4D97-AF65-F5344CB8AC3E}">
        <p14:creationId xmlns:p14="http://schemas.microsoft.com/office/powerpoint/2010/main" val="10718019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403" y="2752186"/>
            <a:ext cx="8582957" cy="3280397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304800" y="1447828"/>
            <a:ext cx="9911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bancos de filtros de Mel são aplicados ao espectrograma.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Atenuam mais frequências mais altas.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Esses filtros </a:t>
            </a:r>
            <a:r>
              <a:rPr lang="pt-BR" b="1" i="1" dirty="0">
                <a:solidFill>
                  <a:srgbClr val="7030A0"/>
                </a:solidFill>
              </a:rPr>
              <a:t>ajudam a distinguir melhor as palavras </a:t>
            </a:r>
            <a:r>
              <a:rPr lang="pt-BR" dirty="0"/>
              <a:t>(imagem do espectrograma).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banco de filtros Mel aplica mais filtros nas faixas </a:t>
            </a:r>
            <a:r>
              <a:rPr lang="pt-BR" b="1" dirty="0"/>
              <a:t>onde o ouvido humano tem maior resolução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04142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403" y="2752186"/>
            <a:ext cx="8582957" cy="3280397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304800" y="1447828"/>
            <a:ext cx="9911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maioria das informações linguísticas está concentrada nas faixas de frequência mais baixas, onde: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Os bancos de filtros Mel têm </a:t>
            </a:r>
            <a:r>
              <a:rPr lang="pt-BR" b="1" i="1" dirty="0">
                <a:solidFill>
                  <a:srgbClr val="7030A0"/>
                </a:solidFill>
              </a:rPr>
              <a:t>maior densidade de filtros</a:t>
            </a:r>
            <a:r>
              <a:rPr lang="pt-B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Isso permite extrair </a:t>
            </a:r>
            <a:r>
              <a:rPr lang="pt-BR" b="1" i="1" dirty="0">
                <a:solidFill>
                  <a:srgbClr val="7030A0"/>
                </a:solidFill>
              </a:rPr>
              <a:t>representações mais discriminativas da fala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646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Espectrograma versus MFCC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3934" y="1680031"/>
            <a:ext cx="8696160" cy="434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4351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MFCC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546538" y="1813034"/>
            <a:ext cx="97168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Uma Transformada Discreta de Cosseno é aplicada a cada banco de filtros para extrair coeficientes </a:t>
            </a:r>
            <a:r>
              <a:rPr lang="pt-BR" dirty="0" err="1"/>
              <a:t>cepstrais</a:t>
            </a:r>
            <a:r>
              <a:rPr lang="pt-BR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13 coeficientes </a:t>
            </a:r>
            <a:r>
              <a:rPr lang="pt-BR" dirty="0" smtClean="0"/>
              <a:t>são, geralmente, mantidos, </a:t>
            </a:r>
            <a:r>
              <a:rPr lang="pt-BR" dirty="0"/>
              <a:t>o restante é descartado, pois representam mudanças rápidas que não são úteis para reconhecimento de fala.</a:t>
            </a:r>
          </a:p>
        </p:txBody>
      </p:sp>
    </p:spTree>
    <p:extLst>
      <p:ext uri="{BB962C8B-B14F-4D97-AF65-F5344CB8AC3E}">
        <p14:creationId xmlns:p14="http://schemas.microsoft.com/office/powerpoint/2010/main" val="37294861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Processo de classificação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xmlns="" id="{0FE8F640-DC11-07C1-C09B-7C910150C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908" y="1971376"/>
            <a:ext cx="7733762" cy="377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9010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Processo de classificação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6" name="Imagem 5" descr="Uma imagem contendo Diagrama&#10;&#10;Descrição gerada automaticamente">
            <a:extLst>
              <a:ext uri="{FF2B5EF4-FFF2-40B4-BE49-F238E27FC236}">
                <a16:creationId xmlns:a16="http://schemas.microsoft.com/office/drawing/2014/main" xmlns="" id="{264D96E5-BE08-8547-83F9-4654DA97A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5414" y="2498706"/>
            <a:ext cx="8098664" cy="312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147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30654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Trabalho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Pense em uma aplicação para identificação de palavras chave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Elabore um detalhamento da aplicação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Quais serão os comandos ou palavras chave?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Plote os espectrogramas das palavras chave.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Treine uma rede neural no </a:t>
            </a:r>
            <a:r>
              <a:rPr lang="pt-BR" sz="2100" dirty="0" err="1">
                <a:cs typeface="Calibri"/>
              </a:rPr>
              <a:t>edge</a:t>
            </a:r>
            <a:r>
              <a:rPr lang="pt-BR" sz="2100" dirty="0">
                <a:cs typeface="Calibri"/>
              </a:rPr>
              <a:t> impulse.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smtClean="0">
                <a:cs typeface="Calibri"/>
              </a:rPr>
              <a:t>Crie </a:t>
            </a:r>
            <a:r>
              <a:rPr lang="pt-BR" sz="2100" dirty="0">
                <a:cs typeface="Calibri"/>
              </a:rPr>
              <a:t>um </a:t>
            </a:r>
            <a:r>
              <a:rPr lang="pt-BR" sz="2100" dirty="0" err="1">
                <a:cs typeface="Calibri"/>
              </a:rPr>
              <a:t>power</a:t>
            </a:r>
            <a:r>
              <a:rPr lang="pt-BR" sz="2100" dirty="0">
                <a:cs typeface="Calibri"/>
              </a:rPr>
              <a:t> point com todos as informações.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20454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16065</TotalTime>
  <Words>1307</Words>
  <Application>Microsoft Office PowerPoint</Application>
  <PresentationFormat>Widescreen</PresentationFormat>
  <Paragraphs>342</Paragraphs>
  <Slides>47</Slides>
  <Notes>47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47</vt:i4>
      </vt:variant>
    </vt:vector>
  </HeadingPairs>
  <TitlesOfParts>
    <vt:vector size="52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2738</cp:revision>
  <dcterms:created xsi:type="dcterms:W3CDTF">2020-01-20T13:50:05Z</dcterms:created>
  <dcterms:modified xsi:type="dcterms:W3CDTF">2025-06-26T01:08:09Z</dcterms:modified>
</cp:coreProperties>
</file>