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4"/>
  </p:notesMasterIdLst>
  <p:handoutMasterIdLst>
    <p:handoutMasterId r:id="rId45"/>
  </p:handoutMasterIdLst>
  <p:sldIdLst>
    <p:sldId id="256" r:id="rId3"/>
    <p:sldId id="583" r:id="rId4"/>
    <p:sldId id="584" r:id="rId5"/>
    <p:sldId id="585" r:id="rId6"/>
    <p:sldId id="586" r:id="rId7"/>
    <p:sldId id="587" r:id="rId8"/>
    <p:sldId id="588" r:id="rId9"/>
    <p:sldId id="589" r:id="rId10"/>
    <p:sldId id="590" r:id="rId11"/>
    <p:sldId id="591" r:id="rId12"/>
    <p:sldId id="592" r:id="rId13"/>
    <p:sldId id="593" r:id="rId14"/>
    <p:sldId id="595" r:id="rId15"/>
    <p:sldId id="596" r:id="rId16"/>
    <p:sldId id="597" r:id="rId17"/>
    <p:sldId id="598" r:id="rId18"/>
    <p:sldId id="599" r:id="rId19"/>
    <p:sldId id="600" r:id="rId20"/>
    <p:sldId id="601" r:id="rId21"/>
    <p:sldId id="603" r:id="rId22"/>
    <p:sldId id="609" r:id="rId23"/>
    <p:sldId id="602" r:id="rId24"/>
    <p:sldId id="604" r:id="rId25"/>
    <p:sldId id="605" r:id="rId26"/>
    <p:sldId id="607" r:id="rId27"/>
    <p:sldId id="618" r:id="rId28"/>
    <p:sldId id="616" r:id="rId29"/>
    <p:sldId id="617" r:id="rId30"/>
    <p:sldId id="619" r:id="rId31"/>
    <p:sldId id="612" r:id="rId32"/>
    <p:sldId id="620" r:id="rId33"/>
    <p:sldId id="621" r:id="rId34"/>
    <p:sldId id="623" r:id="rId35"/>
    <p:sldId id="608" r:id="rId36"/>
    <p:sldId id="622" r:id="rId37"/>
    <p:sldId id="624" r:id="rId38"/>
    <p:sldId id="613" r:id="rId39"/>
    <p:sldId id="625" r:id="rId40"/>
    <p:sldId id="611" r:id="rId41"/>
    <p:sldId id="614" r:id="rId42"/>
    <p:sldId id="615" r:id="rId43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826DF-A671-422C-9377-691337246D86}" v="251" dt="2023-11-08T01:50:09.601"/>
    <p1510:client id="{D507F67F-F41F-4C89-8534-FD6B820F93E9}" v="1788" dt="2023-11-08T13:10:47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2567" autoAdjust="0"/>
  </p:normalViewPr>
  <p:slideViewPr>
    <p:cSldViewPr snapToGrid="0">
      <p:cViewPr varScale="1">
        <p:scale>
          <a:sx n="61" d="100"/>
          <a:sy n="61" d="100"/>
        </p:scale>
        <p:origin x="1332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11/06/2025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36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20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0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30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824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377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431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726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694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386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996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084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771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350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5928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094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600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773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4640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91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25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638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6216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975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2814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4213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2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2196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4542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8992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505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6961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904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339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3819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747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5372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7709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219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13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0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6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96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9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5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7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1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11/06/2025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hyperlink" Target="https://arxiv.org/pdf/1804.03209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commonvoice.mozilla.org/en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towardsdatascience.com/getting-to-know-the-mel-spectrogram-31bca3e2d9d0" TargetMode="Externa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Machine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Identificação de palavras chave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="" xmlns:a16="http://schemas.microsoft.com/office/drawing/2014/main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2D82026D-D2EA-05D7-61F2-DEE04704DB7E}"/>
              </a:ext>
            </a:extLst>
          </p:cNvPr>
          <p:cNvSpPr txBox="1"/>
          <p:nvPr/>
        </p:nvSpPr>
        <p:spPr>
          <a:xfrm>
            <a:off x="8068201" y="59330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Samuel Baraldi Mafra</a:t>
            </a:r>
          </a:p>
          <a:p>
            <a:r>
              <a:rPr lang="pt-BR" dirty="0"/>
              <a:t>samuelbmafra@inatel.br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1FA8D34-24C9-78EC-8544-4D0E039A56D6}"/>
              </a:ext>
            </a:extLst>
          </p:cNvPr>
          <p:cNvSpPr txBox="1"/>
          <p:nvPr/>
        </p:nvSpPr>
        <p:spPr>
          <a:xfrm>
            <a:off x="3447245" y="5937161"/>
            <a:ext cx="34730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Crédito: Marcelo Rovai-</a:t>
            </a:r>
            <a:r>
              <a:rPr lang="en-US" dirty="0" err="1"/>
              <a:t>Unifei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="" xmlns:a16="http://schemas.microsoft.com/office/drawing/2014/main" id="{F1574431-CAE3-5841-DA4A-C44F3C66D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714963" cy="25880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/>
            <a:r>
              <a:rPr lang="pt-BR" sz="2100" dirty="0">
                <a:ea typeface="Calibri"/>
                <a:cs typeface="Calibri"/>
              </a:rPr>
              <a:t>A </a:t>
            </a:r>
            <a:r>
              <a:rPr lang="pt-BR" sz="2100" dirty="0" smtClean="0">
                <a:ea typeface="Calibri"/>
                <a:cs typeface="Calibri"/>
              </a:rPr>
              <a:t>identificação de </a:t>
            </a:r>
            <a:r>
              <a:rPr lang="pt-BR" sz="2100" dirty="0">
                <a:ea typeface="Calibri"/>
                <a:cs typeface="Calibri"/>
              </a:rPr>
              <a:t>palavras-chave </a:t>
            </a:r>
            <a:r>
              <a:rPr lang="pt-BR" sz="2100" dirty="0" smtClean="0">
                <a:ea typeface="Calibri"/>
                <a:cs typeface="Calibri"/>
              </a:rPr>
              <a:t>(do inglês </a:t>
            </a:r>
            <a:r>
              <a:rPr lang="pt-BR" sz="2100" i="1" dirty="0" err="1" smtClean="0">
                <a:ea typeface="Calibri"/>
                <a:cs typeface="Calibri"/>
              </a:rPr>
              <a:t>key</a:t>
            </a:r>
            <a:r>
              <a:rPr lang="pt-BR" sz="2100" i="1" dirty="0" smtClean="0">
                <a:ea typeface="Calibri"/>
                <a:cs typeface="Calibri"/>
              </a:rPr>
              <a:t> </a:t>
            </a:r>
            <a:r>
              <a:rPr lang="pt-BR" sz="2100" i="1" dirty="0" err="1" smtClean="0">
                <a:ea typeface="Calibri"/>
                <a:cs typeface="Calibri"/>
              </a:rPr>
              <a:t>word</a:t>
            </a:r>
            <a:r>
              <a:rPr lang="pt-BR" sz="2100" i="1" dirty="0" smtClean="0">
                <a:ea typeface="Calibri"/>
                <a:cs typeface="Calibri"/>
              </a:rPr>
              <a:t> </a:t>
            </a:r>
            <a:r>
              <a:rPr lang="pt-BR" sz="2100" i="1" dirty="0" err="1" smtClean="0">
                <a:ea typeface="Calibri"/>
                <a:cs typeface="Calibri"/>
              </a:rPr>
              <a:t>spotting</a:t>
            </a:r>
            <a:r>
              <a:rPr lang="pt-BR" sz="2100" i="1" dirty="0" smtClean="0">
                <a:ea typeface="Calibri"/>
                <a:cs typeface="Calibri"/>
              </a:rPr>
              <a:t> </a:t>
            </a:r>
            <a:r>
              <a:rPr lang="pt-BR" sz="2100" dirty="0" smtClean="0">
                <a:ea typeface="Calibri"/>
                <a:cs typeface="Calibri"/>
              </a:rPr>
              <a:t>- KWS</a:t>
            </a:r>
            <a:r>
              <a:rPr lang="pt-BR" sz="2100" dirty="0">
                <a:ea typeface="Calibri"/>
                <a:cs typeface="Calibri"/>
              </a:rPr>
              <a:t>) é uma técnica importante para aplicações de </a:t>
            </a:r>
            <a:r>
              <a:rPr lang="pt-BR" sz="2100" dirty="0" smtClean="0">
                <a:ea typeface="Calibri"/>
                <a:cs typeface="Calibri"/>
              </a:rPr>
              <a:t>fala.</a:t>
            </a:r>
          </a:p>
          <a:p>
            <a:pPr marL="228600" indent="-228600"/>
            <a:r>
              <a:rPr lang="pt-BR" sz="2100" dirty="0" smtClean="0">
                <a:ea typeface="Calibri"/>
                <a:cs typeface="Calibri"/>
              </a:rPr>
              <a:t>Ela permite </a:t>
            </a:r>
            <a:r>
              <a:rPr lang="pt-BR" sz="2100" dirty="0">
                <a:ea typeface="Calibri"/>
                <a:cs typeface="Calibri"/>
              </a:rPr>
              <a:t>aos usuários </a:t>
            </a:r>
            <a:r>
              <a:rPr lang="pt-BR" sz="2100" b="1" i="1" dirty="0">
                <a:solidFill>
                  <a:srgbClr val="00B050"/>
                </a:solidFill>
                <a:ea typeface="Calibri"/>
                <a:cs typeface="Calibri"/>
              </a:rPr>
              <a:t>ativar dispositivos falando uma </a:t>
            </a:r>
            <a:r>
              <a:rPr lang="pt-BR" sz="2100" b="1" i="1" dirty="0" smtClean="0">
                <a:solidFill>
                  <a:srgbClr val="00B050"/>
                </a:solidFill>
                <a:ea typeface="Calibri"/>
                <a:cs typeface="Calibri"/>
              </a:rPr>
              <a:t>palavra-chave</a:t>
            </a:r>
            <a:r>
              <a:rPr lang="pt-BR" sz="2100" dirty="0"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endParaRPr lang="pt-BR" sz="2100" dirty="0">
              <a:ea typeface="Calibri"/>
              <a:cs typeface="Calibri"/>
            </a:endParaRPr>
          </a:p>
        </p:txBody>
      </p:sp>
      <p:pic>
        <p:nvPicPr>
          <p:cNvPr id="9" name="Imagem 8" descr="Diagrama&#10;&#10;Descrição gerada automaticamente">
            <a:extLst>
              <a:ext uri="{FF2B5EF4-FFF2-40B4-BE49-F238E27FC236}">
                <a16:creationId xmlns="" xmlns:a16="http://schemas.microsoft.com/office/drawing/2014/main" id="{5D4BF007-EB70-20D5-2AAD-D3F7715F3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36" y="2455399"/>
            <a:ext cx="6963794" cy="356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9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4033B045-4489-0231-EE88-C9350CBD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038822" cy="4659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/>
            <a:r>
              <a:rPr lang="pt-BR" sz="2100" dirty="0">
                <a:ea typeface="Calibri"/>
                <a:cs typeface="Calibri"/>
              </a:rPr>
              <a:t>Aplicações: Identificação de vidro quebrado (segurança)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8" name="Imagem 7" descr="Loja de roupas tem vidro quebrado e notebook furtado - Coluna Ponto de  Vista - O site de notícias de São Gabriel e região">
            <a:extLst>
              <a:ext uri="{FF2B5EF4-FFF2-40B4-BE49-F238E27FC236}">
                <a16:creationId xmlns="" xmlns:a16="http://schemas.microsoft.com/office/drawing/2014/main" id="{8A673561-4919-0278-4D5B-6C394E069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930" y="1604492"/>
            <a:ext cx="3402170" cy="455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4033B045-4489-0231-EE88-C9350CBD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038822" cy="4659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/>
            <a:r>
              <a:rPr lang="pt-BR" sz="2100" dirty="0">
                <a:ea typeface="Calibri"/>
                <a:cs typeface="Calibri"/>
              </a:rPr>
              <a:t>Aplicações: Detecção de anomalias (indústria)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4" name="Imagem 3" descr="Falhas em motores elétricos: saiba quais são as principais.">
            <a:extLst>
              <a:ext uri="{FF2B5EF4-FFF2-40B4-BE49-F238E27FC236}">
                <a16:creationId xmlns="" xmlns:a16="http://schemas.microsoft.com/office/drawing/2014/main" id="{91BC3B7C-C301-C6FB-02F9-60A5EDEF1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268" y="182249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1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4033B045-4489-0231-EE88-C9350CBD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038822" cy="4659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/>
            <a:r>
              <a:rPr lang="pt-BR" sz="2100" dirty="0">
                <a:ea typeface="Calibri"/>
                <a:cs typeface="Calibri"/>
              </a:rPr>
              <a:t>Aplicações: detecção de roncos e choros 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5" name="Imagem 4" descr="Existe cirurgia para o ronco? - Rinoclínica">
            <a:extLst>
              <a:ext uri="{FF2B5EF4-FFF2-40B4-BE49-F238E27FC236}">
                <a16:creationId xmlns="" xmlns:a16="http://schemas.microsoft.com/office/drawing/2014/main" id="{FBD5927C-2418-A870-243D-F2FD1DB0E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86" y="2520033"/>
            <a:ext cx="4749085" cy="2858976"/>
          </a:xfrm>
          <a:prstGeom prst="rect">
            <a:avLst/>
          </a:prstGeom>
        </p:spPr>
      </p:pic>
      <p:pic>
        <p:nvPicPr>
          <p:cNvPr id="10" name="Imagem 9" descr="Choro de bebê: identificando e interpretando os diferentes tipos">
            <a:extLst>
              <a:ext uri="{FF2B5EF4-FFF2-40B4-BE49-F238E27FC236}">
                <a16:creationId xmlns="" xmlns:a16="http://schemas.microsoft.com/office/drawing/2014/main" id="{EBD8A59C-9383-68F0-9A4F-E47CD5776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9" y="2718128"/>
            <a:ext cx="3752492" cy="24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35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4033B045-4489-0231-EE88-C9350CBD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038822" cy="4659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100" dirty="0">
                <a:ea typeface="Calibri"/>
                <a:cs typeface="Calibri"/>
              </a:rPr>
              <a:t>Desafios:</a:t>
            </a:r>
            <a:endParaRPr lang="pt-BR" dirty="0">
              <a:ea typeface="Calibri"/>
              <a:cs typeface="Calibri"/>
            </a:endParaRPr>
          </a:p>
          <a:p>
            <a:pPr marL="228600" indent="-228600"/>
            <a:r>
              <a:rPr lang="pt-BR" sz="2100" dirty="0">
                <a:ea typeface="Calibri"/>
                <a:cs typeface="Calibri"/>
              </a:rPr>
              <a:t>Banda e latência;</a:t>
            </a:r>
          </a:p>
          <a:p>
            <a:pPr marL="228600" indent="-228600"/>
            <a:r>
              <a:rPr lang="pt-BR" sz="2100" dirty="0">
                <a:ea typeface="Calibri"/>
                <a:cs typeface="Calibri"/>
              </a:rPr>
              <a:t>Precisão e personalização;</a:t>
            </a:r>
          </a:p>
          <a:p>
            <a:pPr marL="228600" indent="-228600"/>
            <a:r>
              <a:rPr lang="pt-BR" sz="2100" dirty="0">
                <a:ea typeface="Calibri"/>
                <a:cs typeface="Calibri"/>
              </a:rPr>
              <a:t>Segurança e privacidade;</a:t>
            </a:r>
          </a:p>
          <a:p>
            <a:pPr marL="228600" indent="-228600"/>
            <a:r>
              <a:rPr lang="pt-BR" sz="2100" dirty="0">
                <a:ea typeface="Calibri"/>
                <a:cs typeface="Calibri"/>
              </a:rPr>
              <a:t>Bateria e memória.</a:t>
            </a:r>
          </a:p>
        </p:txBody>
      </p:sp>
    </p:spTree>
    <p:extLst>
      <p:ext uri="{BB962C8B-B14F-4D97-AF65-F5344CB8AC3E}">
        <p14:creationId xmlns:p14="http://schemas.microsoft.com/office/powerpoint/2010/main" val="2017533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Espaço Reservado para Conteúdo 3" descr="Gráfico&#10;&#10;Descrição gerada automaticamente">
            <a:extLst>
              <a:ext uri="{FF2B5EF4-FFF2-40B4-BE49-F238E27FC236}">
                <a16:creationId xmlns="" xmlns:a16="http://schemas.microsoft.com/office/drawing/2014/main" id="{38A9EED1-B5BC-2318-4247-31F032D26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09675" y="1808270"/>
            <a:ext cx="9038822" cy="3652675"/>
          </a:xfrm>
        </p:spPr>
      </p:pic>
      <p:sp>
        <p:nvSpPr>
          <p:cNvPr id="5" name="Retângulo 4"/>
          <p:cNvSpPr/>
          <p:nvPr/>
        </p:nvSpPr>
        <p:spPr>
          <a:xfrm>
            <a:off x="4293476" y="55027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/>
            <a:r>
              <a:rPr lang="pt-BR" b="1" dirty="0">
                <a:solidFill>
                  <a:srgbClr val="FF0000"/>
                </a:solidFill>
                <a:ea typeface="Calibri"/>
                <a:cs typeface="Calibri"/>
              </a:rPr>
              <a:t>Precisão e personalização;</a:t>
            </a:r>
          </a:p>
          <a:p>
            <a:pPr marL="228600" indent="-228600"/>
            <a:r>
              <a:rPr lang="pt-BR" b="1" dirty="0">
                <a:solidFill>
                  <a:srgbClr val="FF0000"/>
                </a:solidFill>
                <a:ea typeface="Calibri"/>
                <a:cs typeface="Calibri"/>
              </a:rPr>
              <a:t>Segurança e privacidade;</a:t>
            </a:r>
          </a:p>
          <a:p>
            <a:pPr marL="228600" indent="-228600"/>
            <a:r>
              <a:rPr lang="pt-BR" b="1" dirty="0">
                <a:solidFill>
                  <a:srgbClr val="FF0000"/>
                </a:solidFill>
                <a:ea typeface="Calibri"/>
                <a:cs typeface="Calibri"/>
              </a:rPr>
              <a:t>Bateria e memória.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40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="" xmlns:a16="http://schemas.microsoft.com/office/drawing/2014/main" id="{60E35055-92AF-42EA-CBED-E1A00E49E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8175" y="1471806"/>
            <a:ext cx="10439399" cy="4112297"/>
          </a:xfrm>
        </p:spPr>
      </p:pic>
      <p:sp>
        <p:nvSpPr>
          <p:cNvPr id="4" name="Retângulo 3"/>
          <p:cNvSpPr/>
          <p:nvPr/>
        </p:nvSpPr>
        <p:spPr>
          <a:xfrm>
            <a:off x="4992797" y="1481783"/>
            <a:ext cx="1760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ea typeface="Calibri"/>
                <a:cs typeface="Calibri"/>
              </a:rPr>
              <a:t>Banda e latência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0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Espaço Reservado para Conteúdo 5" descr="Uma imagem contendo Ícone&#10;&#10;Descrição gerada automaticamente">
            <a:extLst>
              <a:ext uri="{FF2B5EF4-FFF2-40B4-BE49-F238E27FC236}">
                <a16:creationId xmlns="" xmlns:a16="http://schemas.microsoft.com/office/drawing/2014/main" id="{4FC1AB43-8B89-57A4-B783-CCF53A5AB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1487" y="1565334"/>
            <a:ext cx="9998868" cy="4210989"/>
          </a:xfrm>
        </p:spPr>
      </p:pic>
      <p:sp>
        <p:nvSpPr>
          <p:cNvPr id="4" name="Retângulo 3"/>
          <p:cNvSpPr/>
          <p:nvPr/>
        </p:nvSpPr>
        <p:spPr>
          <a:xfrm>
            <a:off x="5617779" y="12848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/>
            <a:r>
              <a:rPr lang="pt-BR" b="1" dirty="0">
                <a:solidFill>
                  <a:srgbClr val="FF0000"/>
                </a:solidFill>
                <a:ea typeface="Calibri"/>
                <a:cs typeface="Calibri"/>
              </a:rPr>
              <a:t>Banda e </a:t>
            </a:r>
            <a:r>
              <a:rPr lang="pt-BR" b="1" dirty="0" smtClean="0">
                <a:solidFill>
                  <a:srgbClr val="FF0000"/>
                </a:solidFill>
                <a:ea typeface="Calibri"/>
                <a:cs typeface="Calibri"/>
              </a:rPr>
              <a:t>latência;</a:t>
            </a:r>
            <a:endParaRPr lang="pt-BR" b="1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228600" indent="-228600"/>
            <a:r>
              <a:rPr lang="pt-BR" b="1" dirty="0">
                <a:solidFill>
                  <a:srgbClr val="FF0000"/>
                </a:solidFill>
                <a:ea typeface="Calibri"/>
                <a:cs typeface="Calibri"/>
              </a:rPr>
              <a:t>Segurança e privacidade;</a:t>
            </a:r>
            <a:endParaRPr lang="pt-BR" b="1" dirty="0">
              <a:solidFill>
                <a:srgbClr val="FF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211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100" dirty="0">
                <a:ea typeface="+mn-lt"/>
                <a:cs typeface="+mn-lt"/>
              </a:rPr>
              <a:t>Como construímos um bom conjunto de dados?</a:t>
            </a:r>
            <a:endParaRPr lang="pt-BR" dirty="0">
              <a:ea typeface="Calibri"/>
              <a:cs typeface="Calibri"/>
            </a:endParaRPr>
          </a:p>
          <a:p>
            <a:pPr marL="228600" indent="-228600"/>
            <a:r>
              <a:rPr lang="pt-BR" sz="2100" dirty="0">
                <a:ea typeface="+mn-lt"/>
                <a:cs typeface="+mn-lt"/>
              </a:rPr>
              <a:t>Quem são os usuários?</a:t>
            </a:r>
            <a:endParaRPr lang="pt-BR" dirty="0"/>
          </a:p>
          <a:p>
            <a:pPr marL="228600" indent="-228600"/>
            <a:r>
              <a:rPr lang="pt-BR" sz="2100" dirty="0">
                <a:ea typeface="+mn-lt"/>
                <a:cs typeface="+mn-lt"/>
              </a:rPr>
              <a:t>O que eles precisam?</a:t>
            </a:r>
            <a:endParaRPr lang="pt-BR" dirty="0"/>
          </a:p>
          <a:p>
            <a:pPr marL="228600" indent="-228600"/>
            <a:r>
              <a:rPr lang="pt-BR" sz="2100" dirty="0">
                <a:ea typeface="+mn-lt"/>
                <a:cs typeface="+mn-lt"/>
              </a:rPr>
              <a:t>Que tarefa eles estão tentando resolver?</a:t>
            </a:r>
            <a:endParaRPr lang="pt-BR" dirty="0"/>
          </a:p>
          <a:p>
            <a:pPr marL="228600" indent="-228600"/>
            <a:r>
              <a:rPr lang="pt-BR" sz="2100" dirty="0">
                <a:ea typeface="+mn-lt"/>
                <a:cs typeface="+mn-lt"/>
              </a:rPr>
              <a:t>Como eles interagem com o sistema?</a:t>
            </a:r>
            <a:endParaRPr lang="pt-BR" dirty="0"/>
          </a:p>
          <a:p>
            <a:pPr marL="228600" indent="-228600"/>
            <a:r>
              <a:rPr lang="pt-BR" sz="2100" dirty="0">
                <a:ea typeface="+mn-lt"/>
                <a:cs typeface="+mn-lt"/>
              </a:rPr>
              <a:t>Como o mundo real torna isso difícil?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630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sz="2100" dirty="0">
                <a:ea typeface="+mn-lt"/>
                <a:cs typeface="+mn-lt"/>
                <a:hlinkClick r:id="rId4"/>
              </a:rPr>
              <a:t>https://arxiv.org/pdf/1804.03209.pdf</a:t>
            </a:r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cs typeface="Calibri"/>
            </a:endParaRPr>
          </a:p>
        </p:txBody>
      </p:sp>
      <p:pic>
        <p:nvPicPr>
          <p:cNvPr id="4" name="Imagem 3" descr="Texto&#10;&#10;Descrição gerada automaticamente">
            <a:extLst>
              <a:ext uri="{FF2B5EF4-FFF2-40B4-BE49-F238E27FC236}">
                <a16:creationId xmlns="" xmlns:a16="http://schemas.microsoft.com/office/drawing/2014/main" id="{AF3A8AA1-0043-4100-B85D-DF62057A5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555" y="1589164"/>
            <a:ext cx="8857450" cy="258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9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sz="2100" dirty="0" smtClean="0">
                <a:ea typeface="+mn-lt"/>
                <a:cs typeface="+mn-lt"/>
              </a:rPr>
              <a:t>Primeira </a:t>
            </a:r>
            <a:r>
              <a:rPr lang="pt-BR" sz="2100" dirty="0">
                <a:ea typeface="+mn-lt"/>
                <a:cs typeface="+mn-lt"/>
              </a:rPr>
              <a:t>versão </a:t>
            </a:r>
            <a:r>
              <a:rPr lang="pt-BR" sz="2100" dirty="0" smtClean="0">
                <a:ea typeface="+mn-lt"/>
                <a:cs typeface="+mn-lt"/>
              </a:rPr>
              <a:t>contém exemplos de 10 </a:t>
            </a:r>
            <a:r>
              <a:rPr lang="pt-BR" sz="2100" dirty="0">
                <a:ea typeface="+mn-lt"/>
                <a:cs typeface="+mn-lt"/>
              </a:rPr>
              <a:t>palavras</a:t>
            </a: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Yes</a:t>
            </a: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No</a:t>
            </a:r>
          </a:p>
          <a:p>
            <a:pPr marL="342900" indent="-342900"/>
            <a:r>
              <a:rPr lang="pt-BR" sz="2100" dirty="0" err="1">
                <a:ea typeface="+mn-lt"/>
                <a:cs typeface="+mn-lt"/>
              </a:rPr>
              <a:t>Left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 err="1">
                <a:ea typeface="+mn-lt"/>
                <a:cs typeface="+mn-lt"/>
              </a:rPr>
              <a:t>Right</a:t>
            </a: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Go </a:t>
            </a: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Stop</a:t>
            </a:r>
          </a:p>
          <a:p>
            <a:pPr marL="342900" indent="-342900"/>
            <a:r>
              <a:rPr lang="pt-BR" sz="2100" dirty="0" err="1">
                <a:ea typeface="+mn-lt"/>
                <a:cs typeface="+mn-lt"/>
              </a:rPr>
              <a:t>One</a:t>
            </a:r>
          </a:p>
          <a:p>
            <a:pPr marL="342900" indent="-342900"/>
            <a:r>
              <a:rPr lang="pt-BR" sz="2100" dirty="0" err="1">
                <a:ea typeface="+mn-lt"/>
                <a:cs typeface="+mn-lt"/>
              </a:rPr>
              <a:t>Two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Four</a:t>
            </a: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Six</a:t>
            </a: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413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100" dirty="0">
                <a:ea typeface="+mn-lt"/>
                <a:cs typeface="+mn-lt"/>
              </a:rPr>
              <a:t>Segunda versão: 35 palavras</a:t>
            </a: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2618 voluntários</a:t>
            </a: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Mais de mil gravações de cada palavra.</a:t>
            </a: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 descr="Tabela&#10;&#10;Descrição gerada automaticamente">
            <a:extLst>
              <a:ext uri="{FF2B5EF4-FFF2-40B4-BE49-F238E27FC236}">
                <a16:creationId xmlns="" xmlns:a16="http://schemas.microsoft.com/office/drawing/2014/main" id="{5321A63C-10CA-E3E9-52AC-61ADA0E95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571321"/>
            <a:ext cx="2557658" cy="612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2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100" b="1" dirty="0" smtClean="0">
                <a:ea typeface="+mn-lt"/>
                <a:cs typeface="+mn-lt"/>
              </a:rPr>
              <a:t>Curadoria</a:t>
            </a:r>
          </a:p>
          <a:p>
            <a:pPr marL="342900" indent="-342900"/>
            <a:r>
              <a:rPr lang="pt-BR" sz="2100" dirty="0" smtClean="0">
                <a:ea typeface="+mn-lt"/>
                <a:cs typeface="+mn-lt"/>
              </a:rPr>
              <a:t>Validação </a:t>
            </a:r>
            <a:r>
              <a:rPr lang="pt-BR" sz="2100" dirty="0">
                <a:ea typeface="+mn-lt"/>
                <a:cs typeface="+mn-lt"/>
              </a:rPr>
              <a:t>do </a:t>
            </a:r>
            <a:r>
              <a:rPr lang="pt-BR" sz="2100" dirty="0" err="1" smtClean="0">
                <a:ea typeface="+mn-lt"/>
                <a:cs typeface="+mn-lt"/>
              </a:rPr>
              <a:t>dataset</a:t>
            </a:r>
            <a:r>
              <a:rPr lang="pt-BR" sz="2100" dirty="0" smtClean="0">
                <a:ea typeface="+mn-lt"/>
                <a:cs typeface="+mn-lt"/>
              </a:rPr>
              <a:t>.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Verificação de palavras </a:t>
            </a:r>
            <a:r>
              <a:rPr lang="pt-BR" sz="2100" dirty="0" smtClean="0">
                <a:ea typeface="+mn-lt"/>
                <a:cs typeface="+mn-lt"/>
              </a:rPr>
              <a:t>ditas de forma errada.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Retirar gravações </a:t>
            </a:r>
            <a:r>
              <a:rPr lang="pt-BR" sz="2100" dirty="0" smtClean="0">
                <a:ea typeface="+mn-lt"/>
                <a:cs typeface="+mn-lt"/>
              </a:rPr>
              <a:t>baixas.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Retirar momentos de </a:t>
            </a:r>
            <a:r>
              <a:rPr lang="pt-BR" sz="2100" dirty="0" smtClean="0">
                <a:ea typeface="+mn-lt"/>
                <a:cs typeface="+mn-lt"/>
              </a:rPr>
              <a:t>sil</a:t>
            </a:r>
            <a:r>
              <a:rPr lang="pt-BR" sz="2100" dirty="0" smtClean="0">
                <a:ea typeface="+mn-lt"/>
                <a:cs typeface="+mn-lt"/>
              </a:rPr>
              <a:t>êncio</a:t>
            </a:r>
            <a:r>
              <a:rPr lang="pt-BR" sz="2100" dirty="0" smtClean="0">
                <a:ea typeface="+mn-lt"/>
                <a:cs typeface="+mn-lt"/>
              </a:rPr>
              <a:t>.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321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100" dirty="0" smtClean="0">
                <a:ea typeface="+mn-lt"/>
                <a:cs typeface="+mn-lt"/>
              </a:rPr>
              <a:t>Mozilla </a:t>
            </a:r>
            <a:r>
              <a:rPr lang="pt-BR" sz="2100" dirty="0">
                <a:ea typeface="+mn-lt"/>
                <a:cs typeface="+mn-lt"/>
              </a:rPr>
              <a:t>common </a:t>
            </a:r>
            <a:r>
              <a:rPr lang="pt-BR" sz="2100" dirty="0" err="1" smtClean="0">
                <a:ea typeface="+mn-lt"/>
                <a:cs typeface="+mn-lt"/>
              </a:rPr>
              <a:t>voice</a:t>
            </a:r>
            <a:r>
              <a:rPr lang="pt-BR" sz="2100" dirty="0" smtClean="0">
                <a:ea typeface="+mn-lt"/>
                <a:cs typeface="+mn-lt"/>
              </a:rPr>
              <a:t>: </a:t>
            </a:r>
            <a:r>
              <a:rPr lang="pt-BR" sz="2100" dirty="0" err="1" smtClean="0">
                <a:ea typeface="+mn-lt"/>
                <a:cs typeface="+mn-lt"/>
              </a:rPr>
              <a:t>crowdsourcing</a:t>
            </a:r>
            <a:r>
              <a:rPr lang="pt-BR" sz="2100" dirty="0" smtClean="0">
                <a:ea typeface="+mn-lt"/>
                <a:cs typeface="+mn-lt"/>
              </a:rPr>
              <a:t> </a:t>
            </a:r>
            <a:r>
              <a:rPr lang="pt-BR" sz="2100" dirty="0" err="1" smtClean="0">
                <a:ea typeface="+mn-lt"/>
                <a:cs typeface="+mn-lt"/>
              </a:rPr>
              <a:t>platform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  <a:hlinkClick r:id="rId4"/>
              </a:rPr>
              <a:t>https://commonvoice.mozilla.org/en</a:t>
            </a: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 descr="Uma imagem contendo Gráfico&#10;&#10;Descrição gerada automaticamente">
            <a:extLst>
              <a:ext uri="{FF2B5EF4-FFF2-40B4-BE49-F238E27FC236}">
                <a16:creationId xmlns="" xmlns:a16="http://schemas.microsoft.com/office/drawing/2014/main" id="{6D488898-78EA-3903-A088-6BF9F379A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092853"/>
            <a:ext cx="7786154" cy="306281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3742" y="2088620"/>
            <a:ext cx="31337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7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100" dirty="0">
                <a:ea typeface="+mn-lt"/>
                <a:cs typeface="+mn-lt"/>
              </a:rPr>
              <a:t>Questões a serem </a:t>
            </a:r>
            <a:r>
              <a:rPr lang="pt-BR" sz="2100" dirty="0" smtClean="0">
                <a:ea typeface="+mn-lt"/>
                <a:cs typeface="+mn-lt"/>
              </a:rPr>
              <a:t>levantadas para controle de qualidade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Quais </a:t>
            </a:r>
            <a:r>
              <a:rPr lang="pt-BR" sz="2100" dirty="0" smtClean="0">
                <a:ea typeface="+mn-lt"/>
                <a:cs typeface="+mn-lt"/>
              </a:rPr>
              <a:t>frequências devem </a:t>
            </a:r>
            <a:r>
              <a:rPr lang="pt-BR" sz="2100" dirty="0">
                <a:ea typeface="+mn-lt"/>
                <a:cs typeface="+mn-lt"/>
              </a:rPr>
              <a:t>ser </a:t>
            </a:r>
            <a:r>
              <a:rPr lang="pt-BR" sz="2100" dirty="0" smtClean="0">
                <a:ea typeface="+mn-lt"/>
                <a:cs typeface="+mn-lt"/>
              </a:rPr>
              <a:t>gravadas?</a:t>
            </a:r>
          </a:p>
          <a:p>
            <a:pPr marL="609614" lvl="1" indent="-342900"/>
            <a:r>
              <a:rPr lang="pt-BR" sz="1834" dirty="0" smtClean="0">
                <a:ea typeface="+mn-lt"/>
                <a:cs typeface="+mn-lt"/>
              </a:rPr>
              <a:t>Deve-se manter apenas o que nós conseguimos ouvir.</a:t>
            </a:r>
            <a:endParaRPr lang="pt-BR" sz="1834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Qualidade do </a:t>
            </a:r>
            <a:r>
              <a:rPr lang="pt-BR" sz="2100" dirty="0" smtClean="0">
                <a:ea typeface="+mn-lt"/>
                <a:cs typeface="+mn-lt"/>
              </a:rPr>
              <a:t>microfone</a:t>
            </a:r>
            <a:endParaRPr lang="pt-BR" sz="2100" dirty="0">
              <a:ea typeface="+mn-lt"/>
              <a:cs typeface="+mn-lt"/>
            </a:endParaRPr>
          </a:p>
          <a:p>
            <a:pPr marL="342900" indent="-342900"/>
            <a:r>
              <a:rPr lang="pt-BR" sz="2100" dirty="0">
                <a:ea typeface="+mn-lt"/>
                <a:cs typeface="+mn-lt"/>
              </a:rPr>
              <a:t>Ruído ambiente</a:t>
            </a: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281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 descr="Sound Wave Record. Audio Amplitude. Nois Gráfico por microvectorone ·  Creative Fabrica">
            <a:extLst>
              <a:ext uri="{FF2B5EF4-FFF2-40B4-BE49-F238E27FC236}">
                <a16:creationId xmlns="" xmlns:a16="http://schemas.microsoft.com/office/drawing/2014/main" id="{0645C1B4-7526-BF36-F1E3-5CD931540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676" y="2382434"/>
            <a:ext cx="3965026" cy="2644927"/>
          </a:xfrm>
          <a:prstGeom prst="rect">
            <a:avLst/>
          </a:prstGeom>
        </p:spPr>
      </p:pic>
      <p:pic>
        <p:nvPicPr>
          <p:cNvPr id="6" name="Imagem 5" descr="How to convert audio signal into electrical signal - Quora">
            <a:extLst>
              <a:ext uri="{FF2B5EF4-FFF2-40B4-BE49-F238E27FC236}">
                <a16:creationId xmlns="" xmlns:a16="http://schemas.microsoft.com/office/drawing/2014/main" id="{1BE4D219-6150-169B-48B6-6F34E1E7D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88" y="2256604"/>
            <a:ext cx="4818990" cy="277834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27432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</a:t>
            </a:r>
            <a:endParaRPr lang="pt-BR" sz="2100" dirty="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318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 descr="Sound Wave Record. Audio Amplitude. Nois Gráfico por microvectorone ·  Creative Fabrica">
            <a:extLst>
              <a:ext uri="{FF2B5EF4-FFF2-40B4-BE49-F238E27FC236}">
                <a16:creationId xmlns="" xmlns:a16="http://schemas.microsoft.com/office/drawing/2014/main" id="{0645C1B4-7526-BF36-F1E3-5CD931540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14" y="989813"/>
            <a:ext cx="3965026" cy="2644927"/>
          </a:xfrm>
          <a:prstGeom prst="rect">
            <a:avLst/>
          </a:prstGeom>
        </p:spPr>
      </p:pic>
      <p:pic>
        <p:nvPicPr>
          <p:cNvPr id="6" name="Imagem 5" descr="How to convert audio signal into electrical signal - Quora">
            <a:extLst>
              <a:ext uri="{FF2B5EF4-FFF2-40B4-BE49-F238E27FC236}">
                <a16:creationId xmlns="" xmlns:a16="http://schemas.microsoft.com/office/drawing/2014/main" id="{1BE4D219-6150-169B-48B6-6F34E1E7D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88" y="2256604"/>
            <a:ext cx="4818990" cy="277834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27432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</a:t>
            </a:r>
            <a:endParaRPr lang="pt-BR" sz="2100" dirty="0" err="1">
              <a:cs typeface="Calibri"/>
            </a:endParaRPr>
          </a:p>
        </p:txBody>
      </p:sp>
      <p:pic>
        <p:nvPicPr>
          <p:cNvPr id="9" name="Imagem 8" descr="Uma imagem contendo Diagrama&#10;&#10;Descrição gerada automaticamente">
            <a:extLst>
              <a:ext uri="{FF2B5EF4-FFF2-40B4-BE49-F238E27FC236}">
                <a16:creationId xmlns="" xmlns:a16="http://schemas.microsoft.com/office/drawing/2014/main" id="{5B3D6B05-C09F-B8F4-E3E1-A806D16AF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814" y="3480623"/>
            <a:ext cx="2743200" cy="281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61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 descr="Sound Wave Record. Audio Amplitude. Nois Gráfico por microvectorone ·  Creative Fabrica">
            <a:extLst>
              <a:ext uri="{FF2B5EF4-FFF2-40B4-BE49-F238E27FC236}">
                <a16:creationId xmlns="" xmlns:a16="http://schemas.microsoft.com/office/drawing/2014/main" id="{0645C1B4-7526-BF36-F1E3-5CD931540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14" y="989813"/>
            <a:ext cx="3965026" cy="264492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5462751" cy="1708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16 mil amostras </a:t>
            </a:r>
            <a:r>
              <a:rPr lang="pt-BR" sz="2100" dirty="0" smtClean="0">
                <a:cs typeface="Calibri"/>
              </a:rPr>
              <a:t>capturadas por </a:t>
            </a:r>
            <a:r>
              <a:rPr lang="pt-BR" sz="2100" dirty="0">
                <a:cs typeface="Calibri"/>
              </a:rPr>
              <a:t>segundo</a:t>
            </a:r>
          </a:p>
          <a:p>
            <a:pPr marL="342900" indent="-342900">
              <a:buFont typeface="Arial"/>
              <a:buChar char="•"/>
            </a:pPr>
            <a:r>
              <a:rPr lang="pt-BR" sz="2100" b="1" dirty="0">
                <a:solidFill>
                  <a:srgbClr val="FF0000"/>
                </a:solidFill>
                <a:cs typeface="Calibri"/>
              </a:rPr>
              <a:t>Não dá para </a:t>
            </a:r>
            <a:r>
              <a:rPr lang="pt-BR" sz="2100" b="1" dirty="0" smtClean="0">
                <a:solidFill>
                  <a:srgbClr val="FF0000"/>
                </a:solidFill>
                <a:cs typeface="Calibri"/>
              </a:rPr>
              <a:t>usar como </a:t>
            </a:r>
            <a:r>
              <a:rPr lang="pt-BR" sz="2100" b="1" dirty="0">
                <a:solidFill>
                  <a:srgbClr val="FF0000"/>
                </a:solidFill>
                <a:cs typeface="Calibri"/>
              </a:rPr>
              <a:t>entrada </a:t>
            </a:r>
            <a:r>
              <a:rPr lang="pt-BR" sz="2100" b="1" dirty="0" smtClean="0">
                <a:solidFill>
                  <a:srgbClr val="FF0000"/>
                </a:solidFill>
                <a:cs typeface="Calibri"/>
              </a:rPr>
              <a:t>de uma </a:t>
            </a:r>
            <a:r>
              <a:rPr lang="pt-BR" sz="2100" b="1" dirty="0">
                <a:solidFill>
                  <a:srgbClr val="FF0000"/>
                </a:solidFill>
                <a:cs typeface="Calibri"/>
              </a:rPr>
              <a:t>rede neural</a:t>
            </a:r>
          </a:p>
          <a:p>
            <a:endParaRPr lang="pt-BR" sz="2100" dirty="0">
              <a:cs typeface="Calibri"/>
            </a:endParaRPr>
          </a:p>
        </p:txBody>
      </p:sp>
      <p:pic>
        <p:nvPicPr>
          <p:cNvPr id="9" name="Imagem 8" descr="Uma imagem contendo Diagrama&#10;&#10;Descrição gerada automaticamente">
            <a:extLst>
              <a:ext uri="{FF2B5EF4-FFF2-40B4-BE49-F238E27FC236}">
                <a16:creationId xmlns="" xmlns:a16="http://schemas.microsoft.com/office/drawing/2014/main" id="{5B3D6B05-C09F-B8F4-E3E1-A806D16AF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814" y="3480623"/>
            <a:ext cx="2743200" cy="281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8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9007365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</a:t>
            </a:r>
            <a:r>
              <a:rPr lang="pt-BR" sz="2100" dirty="0" smtClean="0"/>
              <a:t>áudio: palavras ligado e desligado</a:t>
            </a:r>
            <a:endParaRPr lang="pt-BR" sz="2100" dirty="0"/>
          </a:p>
          <a:p>
            <a:endParaRPr lang="pt-BR" sz="21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100" dirty="0" smtClean="0">
                <a:cs typeface="Calibri"/>
              </a:rPr>
              <a:t>Temos sinais contínuos, assim, onde </a:t>
            </a:r>
            <a:r>
              <a:rPr lang="pt-BR" sz="2100" dirty="0">
                <a:cs typeface="Calibri"/>
              </a:rPr>
              <a:t>a palavra começa?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Como </a:t>
            </a:r>
            <a:r>
              <a:rPr lang="pt-BR" sz="2100" dirty="0" smtClean="0">
                <a:cs typeface="Calibri"/>
              </a:rPr>
              <a:t>alinhar no início da palavra?</a:t>
            </a:r>
            <a:endParaRPr lang="pt-BR" sz="21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Como </a:t>
            </a:r>
            <a:r>
              <a:rPr lang="pt-BR" sz="2100" dirty="0" smtClean="0">
                <a:cs typeface="Calibri"/>
              </a:rPr>
              <a:t>extrair as partes </a:t>
            </a:r>
            <a:r>
              <a:rPr lang="pt-BR" sz="2100" dirty="0">
                <a:cs typeface="Calibri"/>
              </a:rPr>
              <a:t>importantes do </a:t>
            </a:r>
            <a:r>
              <a:rPr lang="pt-BR" sz="2100" dirty="0" smtClean="0">
                <a:cs typeface="Calibri"/>
              </a:rPr>
              <a:t>sinal?</a:t>
            </a:r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</p:txBody>
      </p:sp>
      <p:pic>
        <p:nvPicPr>
          <p:cNvPr id="10" name="Imagem 9" descr="Uma imagem contendo Linha do tempo&#10;&#10;Descrição gerada automaticamente">
            <a:extLst>
              <a:ext uri="{FF2B5EF4-FFF2-40B4-BE49-F238E27FC236}">
                <a16:creationId xmlns="" xmlns:a16="http://schemas.microsoft.com/office/drawing/2014/main" id="{45AC4BC2-4543-1503-E5FA-0F37E99C5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250" y="3327400"/>
            <a:ext cx="6625942" cy="305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68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5462751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 YES/NO</a:t>
            </a:r>
          </a:p>
          <a:p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  <a:p>
            <a:endParaRPr lang="pt-BR" sz="21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="" xmlns:a16="http://schemas.microsoft.com/office/drawing/2014/main" id="{38F1EDB7-93C8-1ADB-1ED1-C2B6EB7C3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795" y="1695933"/>
            <a:ext cx="7304466" cy="4829147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9175642" y="3925840"/>
            <a:ext cx="2715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00B050"/>
                </a:solidFill>
              </a:rPr>
              <a:t>Diferenças em intensidade</a:t>
            </a:r>
            <a:endParaRPr lang="pt-BR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404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5462751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 ligado/desligado</a:t>
            </a:r>
          </a:p>
          <a:p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</p:txBody>
      </p:sp>
      <p:pic>
        <p:nvPicPr>
          <p:cNvPr id="6" name="Imagem 5" descr="Uma imagem contendo Linha do tempo&#10;&#10;Descrição gerada automaticamente">
            <a:extLst>
              <a:ext uri="{FF2B5EF4-FFF2-40B4-BE49-F238E27FC236}">
                <a16:creationId xmlns="" xmlns:a16="http://schemas.microsoft.com/office/drawing/2014/main" id="{52625DBB-3857-6A57-5890-3E81B799C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69" y="2597947"/>
            <a:ext cx="5580992" cy="2568622"/>
          </a:xfrm>
          <a:prstGeom prst="rect">
            <a:avLst/>
          </a:prstGeom>
        </p:spPr>
      </p:pic>
      <p:pic>
        <p:nvPicPr>
          <p:cNvPr id="10" name="Imagem 9" descr="Uma imagem contendo Linha do tempo&#10;&#10;Descrição gerada automaticamente">
            <a:extLst>
              <a:ext uri="{FF2B5EF4-FFF2-40B4-BE49-F238E27FC236}">
                <a16:creationId xmlns="" xmlns:a16="http://schemas.microsoft.com/office/drawing/2014/main" id="{45AC4BC2-4543-1503-E5FA-0F37E99C5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676" y="2834431"/>
            <a:ext cx="4661337" cy="214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71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546275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16 mil amostras por segundo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 smtClean="0">
                <a:cs typeface="Calibri"/>
              </a:rPr>
              <a:t>Conversão A/D</a:t>
            </a:r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</p:txBody>
      </p:sp>
      <p:pic>
        <p:nvPicPr>
          <p:cNvPr id="6" name="Imagem 5" descr="Gráfico, Histograma&#10;&#10;Descrição gerada automaticamente">
            <a:extLst>
              <a:ext uri="{FF2B5EF4-FFF2-40B4-BE49-F238E27FC236}">
                <a16:creationId xmlns="" xmlns:a16="http://schemas.microsoft.com/office/drawing/2014/main" id="{EB2EA2BA-34F1-1696-E286-961D4CF19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69" y="1788037"/>
            <a:ext cx="2743200" cy="378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84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916181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16 mil amostras por segundo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 smtClean="0">
                <a:cs typeface="Calibri"/>
              </a:rPr>
              <a:t>Aplicar FFT à trechos do sinal de áudio para extrair as componentes do sinal</a:t>
            </a:r>
            <a:endParaRPr lang="pt-BR" sz="2100" dirty="0">
              <a:cs typeface="Calibri"/>
            </a:endParaRPr>
          </a:p>
          <a:p>
            <a:endParaRPr lang="pt-BR" sz="2100" dirty="0">
              <a:cs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534" y="2475187"/>
            <a:ext cx="9088125" cy="345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5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10131342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áudio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Espectrograma</a:t>
            </a:r>
          </a:p>
          <a:p>
            <a:endParaRPr lang="pt-BR" sz="21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Um espectrograma é uma forma de visualizar a intensidade de um sinal através do tempo e em várias frequências.</a:t>
            </a:r>
          </a:p>
          <a:p>
            <a:pPr marL="342900" indent="-342900">
              <a:buFont typeface="Arial"/>
              <a:buChar char="•"/>
            </a:pPr>
            <a:endParaRPr lang="pt-BR" dirty="0"/>
          </a:p>
          <a:p>
            <a:pPr marL="342900" indent="-342900">
              <a:buFont typeface="Arial"/>
              <a:buChar char="•"/>
            </a:pPr>
            <a:r>
              <a:rPr lang="pt-BR" sz="2100" dirty="0">
                <a:cs typeface="Calibri"/>
              </a:rPr>
              <a:t>Os espectrogramas são gráficos de duas dimensões (frequência x tempo), com a terceira dimensão, a amplitude, sendo representada pela variação das </a:t>
            </a:r>
            <a:r>
              <a:rPr lang="pt-BR" sz="2100" dirty="0" smtClean="0">
                <a:cs typeface="Calibri"/>
              </a:rPr>
              <a:t>cores.</a:t>
            </a:r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100" dirty="0" smtClean="0">
                <a:cs typeface="Calibri"/>
              </a:rPr>
              <a:t>São criados aplicando-se FFT à trechos (i.e., janelas) do sinal.</a:t>
            </a:r>
            <a:endParaRPr lang="pt-BR" dirty="0"/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917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591" y="1672563"/>
            <a:ext cx="5587874" cy="3716074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8986345" y="3105807"/>
            <a:ext cx="218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Aplica-se FFT à janela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676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591" y="1672562"/>
            <a:ext cx="5587874" cy="3762133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8571741" y="3244334"/>
            <a:ext cx="2763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Move-se a janela e aplica-se a FFT à nova janela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5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591" y="1672562"/>
            <a:ext cx="5587874" cy="3706808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8571741" y="3244334"/>
            <a:ext cx="2763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Move-se a janela e aplica-se a FFT à nova janela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70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114550"/>
            <a:ext cx="10972927" cy="3387615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3735256" y="5709902"/>
            <a:ext cx="4518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 união de todas as </a:t>
            </a:r>
            <a:r>
              <a:rPr lang="pt-BR" dirty="0" err="1" smtClean="0"/>
              <a:t>FFTs</a:t>
            </a:r>
            <a:r>
              <a:rPr lang="pt-BR" dirty="0" smtClean="0"/>
              <a:t> forma o </a:t>
            </a:r>
            <a:r>
              <a:rPr lang="pt-BR" dirty="0" err="1" smtClean="0"/>
              <a:t>spectograma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276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31649" y="1118615"/>
            <a:ext cx="546275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Sinal de </a:t>
            </a:r>
            <a:r>
              <a:rPr lang="pt-BR" sz="2100" dirty="0" smtClean="0"/>
              <a:t>áudio</a:t>
            </a:r>
            <a:endParaRPr lang="pt-BR" sz="2100" dirty="0"/>
          </a:p>
        </p:txBody>
      </p:sp>
      <p:pic>
        <p:nvPicPr>
          <p:cNvPr id="4" name="Imagem 3" descr="Tela de computador&#10;&#10;Descrição gerada automaticamente">
            <a:extLst>
              <a:ext uri="{FF2B5EF4-FFF2-40B4-BE49-F238E27FC236}">
                <a16:creationId xmlns="" xmlns:a16="http://schemas.microsoft.com/office/drawing/2014/main" id="{EB965E12-0D86-F8FD-9B1C-D5D88A9B8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918" y="1308538"/>
            <a:ext cx="7100964" cy="47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26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187" y="945092"/>
            <a:ext cx="8086827" cy="54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13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656" y="1505082"/>
            <a:ext cx="7517062" cy="3644636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2401614" y="526214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F</a:t>
            </a:r>
            <a:r>
              <a:rPr lang="pt-BR" dirty="0" smtClean="0"/>
              <a:t>requências mais </a:t>
            </a:r>
            <a:r>
              <a:rPr lang="pt-BR" dirty="0"/>
              <a:t>baixas são muito mais nítidas para </a:t>
            </a:r>
            <a:r>
              <a:rPr lang="pt-BR" dirty="0" smtClean="0"/>
              <a:t>nós, ou seja, elas são menos atenuadas.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0713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656" y="1505082"/>
            <a:ext cx="7517062" cy="3644636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849656" y="5262145"/>
            <a:ext cx="75170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Humanos </a:t>
            </a:r>
            <a:r>
              <a:rPr lang="pt-BR" b="1" i="1" dirty="0">
                <a:solidFill>
                  <a:srgbClr val="00B050"/>
                </a:solidFill>
              </a:rPr>
              <a:t>não percebem frequências linearmente</a:t>
            </a:r>
            <a:r>
              <a:rPr lang="pt-BR" dirty="0"/>
              <a:t>. </a:t>
            </a:r>
            <a:endParaRPr lang="pt-BR" dirty="0" smtClean="0"/>
          </a:p>
          <a:p>
            <a:r>
              <a:rPr lang="pt-BR" dirty="0" smtClean="0"/>
              <a:t>Somos </a:t>
            </a:r>
            <a:r>
              <a:rPr lang="pt-BR" b="1" i="1" dirty="0">
                <a:solidFill>
                  <a:srgbClr val="00B050"/>
                </a:solidFill>
              </a:rPr>
              <a:t>mais sensíveis às diferenças entre frequências mais baixas </a:t>
            </a:r>
            <a:r>
              <a:rPr lang="pt-BR" dirty="0"/>
              <a:t>do que entre frequências mais altas.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="" xmlns:a16="http://schemas.microsoft.com/office/drawing/2014/main" id="{2F10DF1C-5F73-0279-ADEA-F985BB9E549E}"/>
              </a:ext>
            </a:extLst>
          </p:cNvPr>
          <p:cNvSpPr txBox="1"/>
          <p:nvPr/>
        </p:nvSpPr>
        <p:spPr>
          <a:xfrm>
            <a:off x="2411927" y="6550416"/>
            <a:ext cx="71649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hlinkClick r:id="rId5"/>
              </a:rPr>
              <a:t>https://towardsdatascience.com/getting-to-know-the-mel-spectrogram-31bca3e2d9d0</a:t>
            </a:r>
            <a:endParaRPr lang="pt-BR" sz="1400" dirty="0"/>
          </a:p>
          <a:p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1801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1026" name="Picture 2" descr="Mel Scale measures human perception of pitch (Source, by permission of Prof Barry Truax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19" y="1375413"/>
            <a:ext cx="4851249" cy="478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006578" y="1735645"/>
            <a:ext cx="6053958" cy="30931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>
                <a:cs typeface="Calibri"/>
              </a:rPr>
              <a:t>A escala Mel é uma escala </a:t>
            </a:r>
            <a:r>
              <a:rPr lang="pt-BR" sz="2100" dirty="0" smtClean="0">
                <a:cs typeface="Calibri"/>
              </a:rPr>
              <a:t>perceptual.</a:t>
            </a:r>
            <a:endParaRPr lang="pt-BR" sz="21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dirty="0" smtClean="0">
                <a:cs typeface="Calibri"/>
              </a:rPr>
              <a:t>Ela </a:t>
            </a:r>
            <a:r>
              <a:rPr lang="pt-BR" sz="2100" dirty="0">
                <a:cs typeface="Calibri"/>
              </a:rPr>
              <a:t>relaciona a </a:t>
            </a:r>
            <a:r>
              <a:rPr lang="pt-BR" sz="2100" b="1" i="1" dirty="0">
                <a:solidFill>
                  <a:srgbClr val="00B050"/>
                </a:solidFill>
                <a:cs typeface="Calibri"/>
              </a:rPr>
              <a:t>frequência </a:t>
            </a:r>
            <a:r>
              <a:rPr lang="pt-BR" sz="2100" b="1" i="1" dirty="0" smtClean="0">
                <a:solidFill>
                  <a:srgbClr val="00B050"/>
                </a:solidFill>
                <a:cs typeface="Calibri"/>
              </a:rPr>
              <a:t>percebida de </a:t>
            </a:r>
            <a:r>
              <a:rPr lang="pt-BR" sz="2100" b="1" i="1" dirty="0">
                <a:solidFill>
                  <a:srgbClr val="00B050"/>
                </a:solidFill>
                <a:cs typeface="Calibri"/>
              </a:rPr>
              <a:t>um tom puro à sua frequência real </a:t>
            </a:r>
            <a:r>
              <a:rPr lang="pt-BR" sz="2100" dirty="0">
                <a:cs typeface="Calibri"/>
              </a:rPr>
              <a:t>medida. </a:t>
            </a:r>
          </a:p>
          <a:p>
            <a:pPr marL="342900" indent="-342900">
              <a:buFont typeface="Arial"/>
              <a:buChar char="•"/>
            </a:pPr>
            <a:r>
              <a:rPr lang="pt-BR" sz="2100" dirty="0" smtClean="0">
                <a:cs typeface="Calibri"/>
              </a:rPr>
              <a:t>Leva em conta que seres humanos </a:t>
            </a:r>
            <a:r>
              <a:rPr lang="pt-BR" sz="2100" dirty="0">
                <a:cs typeface="Calibri"/>
              </a:rPr>
              <a:t>são muito melhores em discernir pequenas mudanças no tom em frequências baixas do que em frequências altas</a:t>
            </a:r>
            <a:r>
              <a:rPr lang="pt-BR" sz="2100" dirty="0" smtClean="0">
                <a:cs typeface="Calibri"/>
              </a:rPr>
              <a:t>.</a:t>
            </a:r>
          </a:p>
          <a:p>
            <a:pPr marL="800100" lvl="1" indent="-342900">
              <a:buFont typeface="Arial"/>
              <a:buChar char="•"/>
            </a:pPr>
            <a:r>
              <a:rPr lang="pt-BR" sz="2100" dirty="0">
                <a:cs typeface="Calibri"/>
              </a:rPr>
              <a:t>Nosso </a:t>
            </a:r>
            <a:r>
              <a:rPr lang="pt-BR" sz="2100" dirty="0">
                <a:cs typeface="Calibri"/>
              </a:rPr>
              <a:t>ouvido </a:t>
            </a:r>
            <a:r>
              <a:rPr lang="pt-BR" sz="2100" dirty="0">
                <a:cs typeface="Calibri"/>
              </a:rPr>
              <a:t>não </a:t>
            </a:r>
            <a:r>
              <a:rPr lang="pt-BR" sz="2100" dirty="0">
                <a:cs typeface="Calibri"/>
              </a:rPr>
              <a:t>percebe todas as frequências igualmente.</a:t>
            </a:r>
          </a:p>
        </p:txBody>
      </p:sp>
    </p:spTree>
    <p:extLst>
      <p:ext uri="{BB962C8B-B14F-4D97-AF65-F5344CB8AC3E}">
        <p14:creationId xmlns:p14="http://schemas.microsoft.com/office/powerpoint/2010/main" val="1071801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403" y="2752186"/>
            <a:ext cx="8582957" cy="3280397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04800" y="1447828"/>
            <a:ext cx="9911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bancos de </a:t>
            </a:r>
            <a:r>
              <a:rPr lang="pt-BR" dirty="0" smtClean="0"/>
              <a:t>filtros de Mel </a:t>
            </a:r>
            <a:r>
              <a:rPr lang="pt-BR" dirty="0"/>
              <a:t>são aplicados ao </a:t>
            </a:r>
            <a:r>
              <a:rPr lang="pt-BR" dirty="0" smtClean="0"/>
              <a:t>espectrograma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Atenuam mais frequências mais altas.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Esses filtros ajudam a distinguir melhor as palavras (imagem do espectrograma).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banco de filtros Mel aplica mais filtros nas faixas </a:t>
            </a:r>
            <a:r>
              <a:rPr lang="pt-BR" b="1" dirty="0"/>
              <a:t>onde o ouvido humano tem maior </a:t>
            </a:r>
            <a:r>
              <a:rPr lang="pt-BR" b="1" dirty="0" smtClean="0"/>
              <a:t>resolução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0414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403" y="2752186"/>
            <a:ext cx="8582957" cy="3280397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04800" y="1447828"/>
            <a:ext cx="9911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maioria das informações linguísticas </a:t>
            </a:r>
            <a:r>
              <a:rPr lang="pt-BR" dirty="0" smtClean="0"/>
              <a:t>está </a:t>
            </a:r>
            <a:r>
              <a:rPr lang="pt-BR" dirty="0"/>
              <a:t>concentrada nas faixas de frequência mais baixas, onde: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Os bancos de filtros Mel têm maior densidade de filtros.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Isso permite extrair representações mais discriminativas da fala.</a:t>
            </a:r>
          </a:p>
        </p:txBody>
      </p:sp>
    </p:spTree>
    <p:extLst>
      <p:ext uri="{BB962C8B-B14F-4D97-AF65-F5344CB8AC3E}">
        <p14:creationId xmlns:p14="http://schemas.microsoft.com/office/powerpoint/2010/main" val="1159646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546275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 smtClean="0"/>
              <a:t>Espectrograma versus MFCC</a:t>
            </a:r>
            <a:endParaRPr lang="pt-BR" sz="2100" dirty="0"/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934" y="1680031"/>
            <a:ext cx="8696160" cy="434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35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546275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 smtClean="0"/>
              <a:t>MFCC</a:t>
            </a:r>
            <a:endParaRPr lang="pt-BR" sz="2100" dirty="0"/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46538" y="1813034"/>
            <a:ext cx="9716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Uma Transformada Discreta de Cosseno é aplicada a</a:t>
            </a:r>
            <a:r>
              <a:rPr lang="pt-BR" dirty="0" smtClean="0"/>
              <a:t> </a:t>
            </a:r>
            <a:r>
              <a:rPr lang="pt-BR" dirty="0"/>
              <a:t>cada banco de filtros para extrair coeficientes </a:t>
            </a:r>
            <a:r>
              <a:rPr lang="pt-BR" dirty="0" err="1"/>
              <a:t>cepstrais</a:t>
            </a:r>
            <a:r>
              <a:rPr lang="pt-BR" dirty="0"/>
              <a:t>. </a:t>
            </a: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13 </a:t>
            </a:r>
            <a:r>
              <a:rPr lang="pt-BR" dirty="0"/>
              <a:t>coeficientes são geralmente retidos, o restante é descartado, pois representam mudanças rápidas que não são úteis para reconhecimento de fala.</a:t>
            </a:r>
          </a:p>
        </p:txBody>
      </p:sp>
    </p:spTree>
    <p:extLst>
      <p:ext uri="{BB962C8B-B14F-4D97-AF65-F5344CB8AC3E}">
        <p14:creationId xmlns:p14="http://schemas.microsoft.com/office/powerpoint/2010/main" val="3729486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1013134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Processo de classificação</a:t>
            </a:r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="" xmlns:a16="http://schemas.microsoft.com/office/drawing/2014/main" id="{0FE8F640-DC11-07C1-C09B-7C910150C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908" y="1971376"/>
            <a:ext cx="7733762" cy="377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01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1013134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Processo de classificação</a:t>
            </a:r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</p:txBody>
      </p:sp>
      <p:pic>
        <p:nvPicPr>
          <p:cNvPr id="6" name="Imagem 5" descr="Uma imagem contendo Diagrama&#10;&#10;Descrição gerada automaticamente">
            <a:extLst>
              <a:ext uri="{FF2B5EF4-FFF2-40B4-BE49-F238E27FC236}">
                <a16:creationId xmlns="" xmlns:a16="http://schemas.microsoft.com/office/drawing/2014/main" id="{264D96E5-BE08-8547-83F9-4654DA97A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414" y="2498706"/>
            <a:ext cx="8098664" cy="312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4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Identificação de palavras chave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="" xmlns:a16="http://schemas.microsoft.com/office/drawing/2014/main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="" xmlns:a16="http://schemas.microsoft.com/office/drawing/2014/main" id="{27022250-EDA2-A1F5-045A-AA201CCD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403556" cy="408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  <a:p>
            <a:pPr marL="342900" indent="-342900"/>
            <a:endParaRPr lang="pt-BR" sz="2100" dirty="0">
              <a:ea typeface="+mn-lt"/>
              <a:cs typeface="+mn-lt"/>
            </a:endParaRPr>
          </a:p>
          <a:p>
            <a:pPr marL="0" indent="0">
              <a:buNone/>
            </a:pPr>
            <a:endParaRPr lang="pt-BR" sz="2100" dirty="0">
              <a:ea typeface="+mn-lt"/>
              <a:cs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="" xmlns:a16="http://schemas.microsoft.com/office/drawing/2014/main" id="{E7FE208E-167A-2C88-4BBD-E8BC04B2F99D}"/>
              </a:ext>
            </a:extLst>
          </p:cNvPr>
          <p:cNvSpPr txBox="1"/>
          <p:nvPr/>
        </p:nvSpPr>
        <p:spPr>
          <a:xfrm>
            <a:off x="546538" y="1308538"/>
            <a:ext cx="10131342" cy="30654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100" dirty="0"/>
              <a:t>Trabalho</a:t>
            </a:r>
          </a:p>
          <a:p>
            <a:pPr marL="228600" indent="-228600">
              <a:spcBef>
                <a:spcPct val="20000"/>
              </a:spcBef>
              <a:buFont typeface="Arial"/>
              <a:buChar char="•"/>
            </a:pPr>
            <a:r>
              <a:rPr lang="pt-BR" sz="2100" dirty="0">
                <a:cs typeface="Calibri"/>
              </a:rPr>
              <a:t>Pense em uma aplicação para identificação de palavras chave</a:t>
            </a:r>
          </a:p>
          <a:p>
            <a:pPr marL="228600" indent="-228600">
              <a:spcBef>
                <a:spcPct val="20000"/>
              </a:spcBef>
              <a:buFont typeface="Arial"/>
              <a:buChar char="•"/>
            </a:pPr>
            <a:r>
              <a:rPr lang="pt-BR" sz="2100" smtClean="0">
                <a:cs typeface="Calibri"/>
              </a:rPr>
              <a:t>Elabore um </a:t>
            </a:r>
            <a:r>
              <a:rPr lang="pt-BR" sz="2100" dirty="0">
                <a:cs typeface="Calibri"/>
              </a:rPr>
              <a:t>detalhamento da aplicação</a:t>
            </a:r>
          </a:p>
          <a:p>
            <a:pPr marL="228600" indent="-228600">
              <a:spcBef>
                <a:spcPct val="20000"/>
              </a:spcBef>
              <a:buFont typeface="Arial"/>
              <a:buChar char="•"/>
            </a:pPr>
            <a:r>
              <a:rPr lang="pt-BR" sz="2100" dirty="0">
                <a:cs typeface="Calibri"/>
              </a:rPr>
              <a:t>Quais serão os comandos ou palavras chave?</a:t>
            </a:r>
          </a:p>
          <a:p>
            <a:pPr marL="228600" indent="-228600">
              <a:spcBef>
                <a:spcPct val="20000"/>
              </a:spcBef>
              <a:buFont typeface="Arial"/>
              <a:buChar char="•"/>
            </a:pPr>
            <a:r>
              <a:rPr lang="pt-BR" sz="2100" dirty="0">
                <a:cs typeface="Calibri"/>
              </a:rPr>
              <a:t>Plote os espectrogramas das </a:t>
            </a:r>
            <a:r>
              <a:rPr lang="pt-BR" sz="2100" dirty="0" smtClean="0">
                <a:cs typeface="Calibri"/>
              </a:rPr>
              <a:t>palavras </a:t>
            </a:r>
            <a:r>
              <a:rPr lang="pt-BR" sz="2100" dirty="0">
                <a:cs typeface="Calibri"/>
              </a:rPr>
              <a:t>chave.</a:t>
            </a:r>
          </a:p>
          <a:p>
            <a:pPr marL="228600" indent="-228600">
              <a:spcBef>
                <a:spcPct val="20000"/>
              </a:spcBef>
              <a:buFont typeface="Arial"/>
              <a:buChar char="•"/>
            </a:pPr>
            <a:r>
              <a:rPr lang="pt-BR" sz="2100" dirty="0">
                <a:cs typeface="Calibri"/>
              </a:rPr>
              <a:t>Treine uma rede neural no </a:t>
            </a:r>
            <a:r>
              <a:rPr lang="pt-BR" sz="2100" dirty="0" err="1">
                <a:cs typeface="Calibri"/>
              </a:rPr>
              <a:t>edge</a:t>
            </a:r>
            <a:r>
              <a:rPr lang="pt-BR" sz="2100" dirty="0">
                <a:cs typeface="Calibri"/>
              </a:rPr>
              <a:t> impulse.</a:t>
            </a:r>
          </a:p>
          <a:p>
            <a:pPr marL="228600" indent="-228600">
              <a:spcBef>
                <a:spcPct val="20000"/>
              </a:spcBef>
              <a:buFont typeface="Arial"/>
              <a:buChar char="•"/>
            </a:pPr>
            <a:r>
              <a:rPr lang="pt-BR" sz="2100" dirty="0">
                <a:cs typeface="Calibri"/>
              </a:rPr>
              <a:t>Criar um </a:t>
            </a:r>
            <a:r>
              <a:rPr lang="pt-BR" sz="2100" dirty="0" err="1">
                <a:cs typeface="Calibri"/>
              </a:rPr>
              <a:t>power</a:t>
            </a:r>
            <a:r>
              <a:rPr lang="pt-BR" sz="2100" dirty="0">
                <a:cs typeface="Calibri"/>
              </a:rPr>
              <a:t> point com todos as informações.</a:t>
            </a:r>
          </a:p>
          <a:p>
            <a:pPr marL="342900" indent="-342900">
              <a:buFont typeface="Arial"/>
              <a:buChar char="•"/>
            </a:pPr>
            <a:endParaRPr lang="pt-BR" sz="21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2045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ós Modelo 1" id="{1890BCC5-262A-4203-9447-FAC66B7F6DAC}" vid="{D23E53B5-32D4-4E89-8BD3-27CFCC7177E3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15983</TotalTime>
  <Words>891</Words>
  <Application>Microsoft Office PowerPoint</Application>
  <PresentationFormat>Widescreen</PresentationFormat>
  <Paragraphs>289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Tema do Office</vt:lpstr>
      <vt:lpstr>1_Tema do Office</vt:lpstr>
      <vt:lpstr>TP557 - Tópicos avançados em IoT e Machine Learning: 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  <vt:lpstr>Identificação de palavras chave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2714</cp:revision>
  <dcterms:created xsi:type="dcterms:W3CDTF">2020-01-20T13:50:05Z</dcterms:created>
  <dcterms:modified xsi:type="dcterms:W3CDTF">2025-06-12T02:23:24Z</dcterms:modified>
</cp:coreProperties>
</file>