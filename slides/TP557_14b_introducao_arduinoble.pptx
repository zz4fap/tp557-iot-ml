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256" r:id="rId3"/>
    <p:sldId id="583" r:id="rId4"/>
    <p:sldId id="584" r:id="rId5"/>
    <p:sldId id="585" r:id="rId6"/>
    <p:sldId id="594" r:id="rId7"/>
    <p:sldId id="590" r:id="rId8"/>
    <p:sldId id="595" r:id="rId9"/>
    <p:sldId id="587" r:id="rId10"/>
    <p:sldId id="588" r:id="rId11"/>
    <p:sldId id="598" r:id="rId12"/>
    <p:sldId id="599" r:id="rId13"/>
    <p:sldId id="600" r:id="rId14"/>
    <p:sldId id="601" r:id="rId15"/>
    <p:sldId id="589" r:id="rId16"/>
    <p:sldId id="602" r:id="rId17"/>
    <p:sldId id="603" r:id="rId18"/>
    <p:sldId id="604" r:id="rId19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930" y="96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28/05/2025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36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IMU é </a:t>
            </a:r>
            <a:r>
              <a:rPr lang="en-US" b="0" i="0" dirty="0" err="1">
                <a:solidFill>
                  <a:srgbClr val="404040"/>
                </a:solidFill>
                <a:effectLst/>
                <a:latin typeface="quote-cjk-patch"/>
              </a:rPr>
              <a:t>usado</a:t>
            </a: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 para </a:t>
            </a:r>
            <a:r>
              <a:rPr lang="en-US" b="0" i="0" dirty="0" err="1">
                <a:solidFill>
                  <a:srgbClr val="404040"/>
                </a:solidFill>
                <a:effectLst/>
                <a:latin typeface="quote-cjk-patch"/>
              </a:rPr>
              <a:t>detecção</a:t>
            </a: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 de </a:t>
            </a:r>
            <a:r>
              <a:rPr lang="en-US" b="0" i="0" dirty="0" err="1">
                <a:solidFill>
                  <a:srgbClr val="404040"/>
                </a:solidFill>
                <a:effectLst/>
                <a:latin typeface="quote-cjk-patch"/>
              </a:rPr>
              <a:t>movimento</a:t>
            </a: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, 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Complementa o GPS em lugares sem sinal, etc.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449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529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913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111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7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50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958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6802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72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160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https://colab.research.google.com/github/zz4fap/tp557-iot-ml/blob/main/examples/4_2_12_OV7675ImageViewer.ipynb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854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2043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894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962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Aqui os alunos devem entrar no </a:t>
            </a:r>
            <a:r>
              <a:rPr lang="pt-BR" sz="1200" dirty="0" err="1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kaggle</a:t>
            </a:r>
            <a:r>
              <a:rPr lang="pt-BR" sz="12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baixar um dataset e treinar no </a:t>
            </a:r>
            <a:r>
              <a:rPr lang="pt-BR" sz="1200" dirty="0" err="1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edge</a:t>
            </a:r>
            <a:r>
              <a:rPr lang="pt-BR" sz="12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impulse, tarefa para ser feita durante a aula.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Projeto do Samuel: </a:t>
            </a:r>
            <a:r>
              <a:rPr lang="pt-BR" sz="12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https://studio.edgeimpulse.com/public/294644/live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Neste trabalho pedi aos alunos para tirar fotos com o celular e criar o próprio banco de dados a ser testado no </a:t>
            </a:r>
            <a:r>
              <a:rPr lang="pt-BR" sz="1200" dirty="0" err="1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edge</a:t>
            </a:r>
            <a:r>
              <a:rPr lang="pt-BR" sz="12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impulse.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36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0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0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6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96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5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9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5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7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1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5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1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arduino.cc/en/software/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olab.research.google.com/github/zz4fap/tp557-iot-ml/blob/main/examples/4_2_12_OV7675ImageViewer.ipynb" TargetMode="Externa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9772072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b="1" i="1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D82026D-D2EA-05D7-61F2-DEE04704DB7E}"/>
              </a:ext>
            </a:extLst>
          </p:cNvPr>
          <p:cNvSpPr txBox="1"/>
          <p:nvPr/>
        </p:nvSpPr>
        <p:spPr>
          <a:xfrm>
            <a:off x="8068201" y="59330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Samuel Baraldi Mafra</a:t>
            </a:r>
          </a:p>
          <a:p>
            <a:r>
              <a:rPr lang="pt-BR" dirty="0"/>
              <a:t>samuelbmafra@inatel.br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E3CB96-F009-DF5F-F24C-345E978F9844}"/>
              </a:ext>
            </a:extLst>
          </p:cNvPr>
          <p:cNvSpPr txBox="1"/>
          <p:nvPr/>
        </p:nvSpPr>
        <p:spPr>
          <a:xfrm>
            <a:off x="3364089" y="60154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Créditos: Prof. Marcelo Rovai UNIFEI 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2F8F08AA-51A0-6F78-8968-E9C73046B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8540" y="1681311"/>
            <a:ext cx="3071126" cy="1950889"/>
          </a:xfr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F6F60B2-04EE-308E-FA87-B6CD3BCF4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458" y="1633448"/>
            <a:ext cx="6857249" cy="444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9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74DDEDF1-6CA2-FB64-6E3C-04AE91995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38561" y="1936288"/>
            <a:ext cx="4580017" cy="1158340"/>
          </a:xfr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A6256F9-E71F-5C55-931F-920D3EE33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329" y="3966572"/>
            <a:ext cx="6675698" cy="128789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773687D-4F94-4B43-1BE0-A376E33CD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549" y="2065839"/>
            <a:ext cx="1356478" cy="1028789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299200" y="4906595"/>
            <a:ext cx="29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753139" y="6291470"/>
            <a:ext cx="3181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*Não está instalado em algumas versões.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E04E0-3E29-4403-B1CC-06C5F286C5B7}"/>
              </a:ext>
            </a:extLst>
          </p:cNvPr>
          <p:cNvSpPr txBox="1"/>
          <p:nvPr/>
        </p:nvSpPr>
        <p:spPr>
          <a:xfrm>
            <a:off x="1358329" y="1278929"/>
            <a:ext cx="347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Sensores e protocolo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BEEB3-63D5-8FE3-5824-DE0EA0AFE988}"/>
              </a:ext>
            </a:extLst>
          </p:cNvPr>
          <p:cNvSpPr txBox="1"/>
          <p:nvPr/>
        </p:nvSpPr>
        <p:spPr>
          <a:xfrm>
            <a:off x="3704313" y="3123344"/>
            <a:ext cx="2743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0" i="0" dirty="0">
                <a:effectLst/>
              </a:rPr>
              <a:t>unidade de medição inercial (IMU): acelerômetro, giroscópio e magnetômetro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9740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48" y="1237835"/>
            <a:ext cx="11706225" cy="481965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04800" y="906798"/>
            <a:ext cx="228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Instalando o hardware</a:t>
            </a:r>
          </a:p>
        </p:txBody>
      </p:sp>
    </p:spTree>
    <p:extLst>
      <p:ext uri="{BB962C8B-B14F-4D97-AF65-F5344CB8AC3E}">
        <p14:creationId xmlns:p14="http://schemas.microsoft.com/office/powerpoint/2010/main" val="24794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pic>
        <p:nvPicPr>
          <p:cNvPr id="6" name="Espaço Reservado para Conteúdo 5" descr="Uma imagem contendo circuito, geladeira&#10;&#10;Descrição gerada automaticamente">
            <a:extLst>
              <a:ext uri="{FF2B5EF4-FFF2-40B4-BE49-F238E27FC236}">
                <a16:creationId xmlns:a16="http://schemas.microsoft.com/office/drawing/2014/main" id="{1C7C2E39-67BD-BA03-6B16-C5FF70E26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14621" y="344311"/>
            <a:ext cx="4507067" cy="6009424"/>
          </a:xfrm>
        </p:spPr>
      </p:pic>
    </p:spTree>
    <p:extLst>
      <p:ext uri="{BB962C8B-B14F-4D97-AF65-F5344CB8AC3E}">
        <p14:creationId xmlns:p14="http://schemas.microsoft.com/office/powerpoint/2010/main" val="391268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436FF3C-D123-329E-F533-DDBF74135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2178" y="1080570"/>
            <a:ext cx="8963378" cy="488538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121C7B-6730-1C1E-3D8E-C75CAC767CB5}"/>
              </a:ext>
            </a:extLst>
          </p:cNvPr>
          <p:cNvSpPr txBox="1"/>
          <p:nvPr/>
        </p:nvSpPr>
        <p:spPr>
          <a:xfrm>
            <a:off x="2827283" y="61793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https://www.arduino.cc/en/software/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3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366" y="1292086"/>
            <a:ext cx="8836963" cy="499208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0754139" y="562554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Console</a:t>
            </a:r>
          </a:p>
        </p:txBody>
      </p:sp>
      <p:cxnSp>
        <p:nvCxnSpPr>
          <p:cNvPr id="8" name="Conector de seta reta 7"/>
          <p:cNvCxnSpPr>
            <a:stCxn id="5" idx="1"/>
          </p:cNvCxnSpPr>
          <p:nvPr/>
        </p:nvCxnSpPr>
        <p:spPr>
          <a:xfrm flipH="1">
            <a:off x="10396329" y="5810213"/>
            <a:ext cx="3578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15487" y="1431235"/>
            <a:ext cx="1020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Menus e barra de tarefas</a:t>
            </a: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1035904" y="1754401"/>
            <a:ext cx="377687" cy="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856844" y="3342860"/>
            <a:ext cx="1020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Área de código</a:t>
            </a:r>
          </a:p>
        </p:txBody>
      </p:sp>
      <p:cxnSp>
        <p:nvCxnSpPr>
          <p:cNvPr id="16" name="Conector de seta reta 15"/>
          <p:cNvCxnSpPr>
            <a:stCxn id="15" idx="1"/>
          </p:cNvCxnSpPr>
          <p:nvPr/>
        </p:nvCxnSpPr>
        <p:spPr>
          <a:xfrm flipH="1">
            <a:off x="10545417" y="3666026"/>
            <a:ext cx="311427" cy="1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42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D33CBD79-FD67-FF8E-BDC6-1D30CC7CF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17599" y="1029646"/>
            <a:ext cx="9053689" cy="4798708"/>
          </a:xfrm>
        </p:spPr>
      </p:pic>
    </p:spTree>
    <p:extLst>
      <p:ext uri="{BB962C8B-B14F-4D97-AF65-F5344CB8AC3E}">
        <p14:creationId xmlns:p14="http://schemas.microsoft.com/office/powerpoint/2010/main" val="385394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EE6CC178-193F-4F49-3930-5E4D43248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9600" y="835321"/>
            <a:ext cx="9471378" cy="5187358"/>
          </a:xfrm>
        </p:spPr>
      </p:pic>
      <p:sp>
        <p:nvSpPr>
          <p:cNvPr id="3" name="CaixaDeTexto 2"/>
          <p:cNvSpPr txBox="1"/>
          <p:nvPr/>
        </p:nvSpPr>
        <p:spPr>
          <a:xfrm>
            <a:off x="10167730" y="3806687"/>
            <a:ext cx="16300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Lib</a:t>
            </a:r>
            <a:r>
              <a:rPr lang="pt-BR" sz="1400" dirty="0"/>
              <a:t> para magnetômetro, acelerômetro e giroscópio.</a:t>
            </a:r>
          </a:p>
        </p:txBody>
      </p:sp>
      <p:cxnSp>
        <p:nvCxnSpPr>
          <p:cNvPr id="5" name="Conector de seta reta 4"/>
          <p:cNvCxnSpPr/>
          <p:nvPr/>
        </p:nvCxnSpPr>
        <p:spPr>
          <a:xfrm flipH="1" flipV="1">
            <a:off x="8488017" y="3806687"/>
            <a:ext cx="189776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48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2596B6-9FD2-2F7D-80F1-B2F04E2D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Exemplo: IMU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4" y="1525787"/>
            <a:ext cx="5838825" cy="471308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3" y="1240036"/>
            <a:ext cx="4010027" cy="4736481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6429373" y="4829175"/>
            <a:ext cx="4124327" cy="5048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401" y="5712829"/>
            <a:ext cx="380624" cy="26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37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2596B6-9FD2-2F7D-80F1-B2F04E2D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Exemplo: Microfone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47799"/>
            <a:ext cx="6086934" cy="482917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175" y="1447799"/>
            <a:ext cx="4333873" cy="4520189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6734175" y="5572125"/>
            <a:ext cx="4333873" cy="5048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3837" y="6353173"/>
            <a:ext cx="509587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69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2596B6-9FD2-2F7D-80F1-B2F04E2D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019175"/>
            <a:ext cx="5486400" cy="301730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Exemplo: Câmera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523137"/>
            <a:ext cx="5850831" cy="467763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211" y="1019175"/>
            <a:ext cx="4128913" cy="204905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3211" y="3142308"/>
            <a:ext cx="4330522" cy="2081212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6649860" y="2790825"/>
            <a:ext cx="4333873" cy="277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006" y="5524500"/>
            <a:ext cx="48101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85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2596B6-9FD2-2F7D-80F1-B2F04E2D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019175"/>
            <a:ext cx="5486400" cy="301730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Exemplo: Câmera</a:t>
            </a:r>
          </a:p>
          <a:p>
            <a:pPr marL="0" indent="0">
              <a:buNone/>
            </a:pPr>
            <a:endParaRPr lang="pt-BR" dirty="0"/>
          </a:p>
        </p:txBody>
      </p:sp>
      <p:grpSp>
        <p:nvGrpSpPr>
          <p:cNvPr id="8" name="Grupo 7"/>
          <p:cNvGrpSpPr/>
          <p:nvPr/>
        </p:nvGrpSpPr>
        <p:grpSpPr>
          <a:xfrm>
            <a:off x="838201" y="1447800"/>
            <a:ext cx="9038872" cy="4699568"/>
            <a:chOff x="1162402" y="1622128"/>
            <a:chExt cx="8895645" cy="4582390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2402" y="1622128"/>
              <a:ext cx="8895645" cy="4582390"/>
            </a:xfrm>
            <a:prstGeom prst="rect">
              <a:avLst/>
            </a:prstGeom>
          </p:spPr>
        </p:pic>
        <p:sp>
          <p:nvSpPr>
            <p:cNvPr id="7" name="Retângulo 6"/>
            <p:cNvSpPr/>
            <p:nvPr/>
          </p:nvSpPr>
          <p:spPr>
            <a:xfrm>
              <a:off x="1276352" y="5684818"/>
              <a:ext cx="3781424" cy="277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9" name="Retângulo 8"/>
          <p:cNvSpPr/>
          <p:nvPr/>
        </p:nvSpPr>
        <p:spPr>
          <a:xfrm>
            <a:off x="2355573" y="6511576"/>
            <a:ext cx="778151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hlinkClick r:id="rId5"/>
              </a:rPr>
              <a:t>https://colab.research.google.com/github/zz4fap/tp557-iot-ml/blob/main/examples/4_2_12_OV7675ImageViewer.ipynb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46192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2596B6-9FD2-2F7D-80F1-B2F04E2D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Exemplo: </a:t>
            </a:r>
            <a:r>
              <a:rPr lang="pt-BR" dirty="0" err="1"/>
              <a:t>Blink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E9E28C1-4D92-B334-3211-B30C0F042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033" y="1950646"/>
            <a:ext cx="3958341" cy="383043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04" y="1470660"/>
            <a:ext cx="6224187" cy="493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37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2596B6-9FD2-2F7D-80F1-B2F04E2D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019175"/>
            <a:ext cx="5486400" cy="301730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Exemplo: </a:t>
            </a:r>
            <a:r>
              <a:rPr lang="pt-BR" dirty="0" err="1"/>
              <a:t>KeyWord</a:t>
            </a:r>
            <a:r>
              <a:rPr lang="pt-BR" dirty="0"/>
              <a:t> </a:t>
            </a:r>
            <a:r>
              <a:rPr lang="pt-BR" dirty="0" err="1"/>
              <a:t>Spotting</a:t>
            </a:r>
            <a:r>
              <a:rPr lang="pt-BR" dirty="0"/>
              <a:t> (</a:t>
            </a:r>
            <a:r>
              <a:rPr lang="pt-BR" dirty="0" err="1"/>
              <a:t>micro_speech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25399"/>
            <a:ext cx="4170086" cy="449151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617" y="1019175"/>
            <a:ext cx="5000625" cy="226695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5461" y="3360208"/>
            <a:ext cx="5329651" cy="257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2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b="1" i="1" dirty="0"/>
              <a:t>Arduino nano BLE 33 </a:t>
            </a:r>
            <a:r>
              <a:rPr lang="pt-BR" b="1" i="1" dirty="0" err="1"/>
              <a:t>sense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2596B6-9FD2-2F7D-80F1-B2F04E2D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019175"/>
            <a:ext cx="5486400" cy="301730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Exemplo: Person </a:t>
            </a:r>
            <a:r>
              <a:rPr lang="pt-BR" dirty="0" err="1"/>
              <a:t>detection</a:t>
            </a:r>
            <a:r>
              <a:rPr lang="pt-BR" dirty="0"/>
              <a:t> (</a:t>
            </a:r>
            <a:r>
              <a:rPr lang="pt-BR" dirty="0" err="1"/>
              <a:t>person_detection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65" y="1629558"/>
            <a:ext cx="4290391" cy="464792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878" y="3694481"/>
            <a:ext cx="4736410" cy="231273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313" y="1526369"/>
            <a:ext cx="4547390" cy="19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92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Tarefa para casa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1468" dirty="0">
                <a:ea typeface="Calibri" panose="020F0502020204030204" pitchFamily="34" charset="0"/>
                <a:cs typeface="Arial" panose="020B0604020202020204" pitchFamily="34" charset="0"/>
              </a:rPr>
              <a:t>Execute um dos projetos criados na última aula no Arduino nano BLE 33 </a:t>
            </a:r>
            <a:r>
              <a:rPr lang="pt-BR" sz="1468" dirty="0" err="1">
                <a:ea typeface="Calibri" panose="020F0502020204030204" pitchFamily="34" charset="0"/>
                <a:cs typeface="Arial" panose="020B0604020202020204" pitchFamily="34" charset="0"/>
              </a:rPr>
              <a:t>sense</a:t>
            </a:r>
            <a:r>
              <a:rPr lang="pt-BR" sz="1468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pt-BR" sz="1468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9835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ós Modelo 1" id="{1890BCC5-262A-4203-9447-FAC66B7F6DAC}" vid="{D23E53B5-32D4-4E89-8BD3-27CFCC7177E3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16326</TotalTime>
  <Words>371</Words>
  <Application>Microsoft Office PowerPoint</Application>
  <PresentationFormat>Widescreen</PresentationFormat>
  <Paragraphs>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quote-cjk-patch</vt:lpstr>
      <vt:lpstr>Tema do Office</vt:lpstr>
      <vt:lpstr>1_Tema do Office</vt:lpstr>
      <vt:lpstr>TP557 - Tópicos avançados em IoT e Machine Learning: 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Arduino nano BLE 33 sense</vt:lpstr>
      <vt:lpstr>Edge Impulse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2382</cp:revision>
  <dcterms:created xsi:type="dcterms:W3CDTF">2020-01-20T13:50:05Z</dcterms:created>
  <dcterms:modified xsi:type="dcterms:W3CDTF">2025-05-29T00:59:55Z</dcterms:modified>
</cp:coreProperties>
</file>