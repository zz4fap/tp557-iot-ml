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7"/>
  </p:notesMasterIdLst>
  <p:handoutMasterIdLst>
    <p:handoutMasterId r:id="rId28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13" r:id="rId20"/>
    <p:sldId id="611" r:id="rId21"/>
    <p:sldId id="612" r:id="rId22"/>
    <p:sldId id="615" r:id="rId23"/>
    <p:sldId id="632" r:id="rId24"/>
    <p:sldId id="631" r:id="rId25"/>
    <p:sldId id="616" r:id="rId2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5400" autoAdjust="0"/>
  </p:normalViewPr>
  <p:slideViewPr>
    <p:cSldViewPr snapToGrid="0">
      <p:cViewPr varScale="1">
        <p:scale>
          <a:sx n="105" d="100"/>
          <a:sy n="105" d="100"/>
        </p:scale>
        <p:origin x="1158" y="11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</a:t>
            </a:r>
            <a:r>
              <a:rPr lang="pt-BR" u="sng" dirty="0"/>
              <a:t>colab.research.google.com/github/zz4fap/tp557-iot-ml/blob/main/examples/k_means_centros_de_distribuição.ipynb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A2740-8B0A-7165-D2BD-59C9A1952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79CAD1E-261A-D9C8-AED4-6A238B4FE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8B61AE-055E-B2A2-6C0A-9F8545045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232234-9E28-099D-9A25-5AF9D7A3B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59481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67093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scikit-learn.org/stable/modules/outlier_detection.html#overview-of-outlier-detection-methods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k_means_centros_de_distribui&#231;&#227;o.ipynb" TargetMode="Externa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zz4fap/tp557-iot-ml/blob/main/examples/k_means_anomaly_detection.ipynb" TargetMode="Externa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png"/><Relationship Id="rId4" Type="http://schemas.openxmlformats.org/officeDocument/2006/relationships/hyperlink" Target="https://docs.edgeimpulse.com/docs/tutorials/end-to-end-tutorials/time-series/continuous-motion-recognition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</a:t>
            </a:r>
            <a:r>
              <a:rPr lang="pt-BR" b="1" i="1" dirty="0">
                <a:solidFill>
                  <a:srgbClr val="7030A0"/>
                </a:solidFill>
              </a:rPr>
              <a:t>não existem rótulos</a:t>
            </a:r>
            <a:r>
              <a:rPr lang="pt-BR" dirty="0"/>
              <a:t>.</a:t>
            </a:r>
          </a:p>
          <a:p>
            <a:r>
              <a:rPr lang="pt-BR" dirty="0"/>
              <a:t>Esses algoritmos </a:t>
            </a:r>
            <a:r>
              <a:rPr lang="pt-BR" b="1" i="1" dirty="0">
                <a:solidFill>
                  <a:srgbClr val="0070C0"/>
                </a:solidFill>
              </a:rPr>
              <a:t>descobrem padrões ocultos ou agrupamentos de dados</a:t>
            </a:r>
            <a:r>
              <a:rPr lang="pt-BR" dirty="0"/>
              <a:t>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 (i.e., </a:t>
            </a:r>
            <a:r>
              <a:rPr lang="pt-BR" i="1" dirty="0"/>
              <a:t>clusterização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</a:t>
            </a:r>
            <a:r>
              <a:rPr lang="pt-BR" b="1" i="1" dirty="0">
                <a:solidFill>
                  <a:srgbClr val="00B050"/>
                </a:solidFill>
              </a:rPr>
              <a:t>dividir os dados em vários grupos ou clusters</a:t>
            </a:r>
            <a:r>
              <a:rPr lang="pt-BR" dirty="0"/>
              <a:t>, de modo que as amostras dentro de cada grupo sejam </a:t>
            </a:r>
            <a:r>
              <a:rPr lang="pt-BR" b="1" i="1" dirty="0">
                <a:solidFill>
                  <a:srgbClr val="7030A0"/>
                </a:solidFill>
              </a:rPr>
              <a:t>mais comparáveis ​​entre si e diferentes das amostras dentro dos outros grupos</a:t>
            </a:r>
            <a:r>
              <a:rPr lang="pt-BR" dirty="0"/>
              <a:t>.</a:t>
            </a:r>
          </a:p>
          <a:p>
            <a:r>
              <a:rPr lang="pt-BR" dirty="0"/>
              <a:t> É essencialmente um </a:t>
            </a:r>
            <a:r>
              <a:rPr lang="pt-BR" b="1" i="1" dirty="0">
                <a:solidFill>
                  <a:schemeClr val="accent1"/>
                </a:solidFill>
              </a:rPr>
              <a:t>agrupamento de amostras com base em quão semelhantes (ou próximos)</a:t>
            </a:r>
            <a:r>
              <a:rPr lang="pt-BR" dirty="0"/>
              <a:t>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</a:t>
            </a:r>
            <a:r>
              <a:rPr lang="pt-BR" b="1" i="1" dirty="0">
                <a:solidFill>
                  <a:srgbClr val="7030A0"/>
                </a:solidFill>
              </a:rPr>
              <a:t>agrupar amostras semelhantes </a:t>
            </a:r>
            <a:r>
              <a:rPr lang="pt-BR" dirty="0"/>
              <a:t>e descobrir padrões subjacentes.</a:t>
            </a:r>
          </a:p>
          <a:p>
            <a:pPr lvl="1"/>
            <a:r>
              <a:rPr lang="pt-BR" dirty="0"/>
              <a:t>Semelhante aqui é no sentido de </a:t>
            </a:r>
            <a:r>
              <a:rPr lang="pt-BR" b="1" i="1" dirty="0">
                <a:solidFill>
                  <a:srgbClr val="7030A0"/>
                </a:solidFill>
              </a:rPr>
              <a:t>proximidade</a:t>
            </a:r>
            <a:r>
              <a:rPr lang="pt-BR" dirty="0"/>
              <a:t>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FF89C7B-D1B2-2FC5-A9C9-E593B0D40D00}"/>
              </a:ext>
            </a:extLst>
          </p:cNvPr>
          <p:cNvSpPr txBox="1"/>
          <p:nvPr/>
        </p:nvSpPr>
        <p:spPr>
          <a:xfrm>
            <a:off x="1153033" y="4495377"/>
            <a:ext cx="94145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novos centroides são calculados como a média aritmética (centro geométrico) das amostras pertencentes a cada cluster.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 em equipamentos</a:t>
            </a:r>
          </a:p>
          <a:p>
            <a:pPr lvl="1"/>
            <a:r>
              <a:rPr lang="pt-BR" dirty="0"/>
              <a:t>Detecção de movimentos anômalos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39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4C47A3-058C-79BA-4495-77705E36B75F}"/>
              </a:ext>
            </a:extLst>
          </p:cNvPr>
          <p:cNvSpPr txBox="1"/>
          <p:nvPr/>
        </p:nvSpPr>
        <p:spPr>
          <a:xfrm>
            <a:off x="8537757" y="3229455"/>
            <a:ext cx="334944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 err="1"/>
              <a:t>Disrupção</a:t>
            </a:r>
            <a:r>
              <a:rPr lang="pt-BR" sz="1200" dirty="0"/>
              <a:t> de serviços de </a:t>
            </a:r>
            <a:r>
              <a:rPr lang="pt-BR" sz="1200" dirty="0" err="1"/>
              <a:t>telecom</a:t>
            </a:r>
            <a:endParaRPr lang="pt-B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Compras fraudulentas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Fraudes em pagamentos e pedidos de exames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Comportamento anormal de máquinas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Contas comprometidas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Invasões em redes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Vazamentos de água e energia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Identificar objetos em imagens sem variação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2CDDB-D885-653D-F29A-F22D7F769F27}"/>
              </a:ext>
            </a:extLst>
          </p:cNvPr>
          <p:cNvSpPr txBox="1"/>
          <p:nvPr/>
        </p:nvSpPr>
        <p:spPr>
          <a:xfrm>
            <a:off x="2348730" y="6596390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6"/>
              </a:rPr>
              <a:t>https://scikit-learn.org/stable/modules/outlier_detection.html#overview-of-outlier-detection-methods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309284" y="5704891"/>
            <a:ext cx="64314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</a:t>
            </a:r>
            <a:r>
              <a:rPr lang="pt-BR" u="sng" dirty="0">
                <a:hlinkClick r:id="rId6"/>
              </a:rPr>
              <a:t>colab.research.google.com/github/zz4fap/tp557-iot-ml/blob/main/examples/k_means_centros_de_distribuição.ipynb</a:t>
            </a:r>
            <a:endParaRPr lang="pt-BR" u="sng" dirty="0"/>
          </a:p>
          <a:p>
            <a:endParaRPr lang="pt-BR" u="sng" dirty="0"/>
          </a:p>
        </p:txBody>
      </p:sp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084676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anomalias com K-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means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0249" y="1517183"/>
            <a:ext cx="5229390" cy="42300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DAC69C-2FEA-9925-46A8-2A2F62EAAD71}"/>
              </a:ext>
            </a:extLst>
          </p:cNvPr>
          <p:cNvSpPr txBox="1"/>
          <p:nvPr/>
        </p:nvSpPr>
        <p:spPr>
          <a:xfrm>
            <a:off x="2855214" y="6034195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https://colab.research.google.com/github/zz4fap/tp557-iot-ml/blob/main/examples/k_means_anomaly_detection.ipynb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79EA-D73A-EFF7-6124-FAD5890EF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37074C-5689-05AD-4E6E-3B8E45AAE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40F19B3-6833-93B5-0679-FC818E9185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A43CB4B-9384-D6F7-EF9A-370C3840A9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5EF48E8-8E35-2277-3FBF-A8C857C17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084676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no Edge Impulse possíveis anomalias nos dados do ciclo logístico, e.g., quedas.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CD4FE33-F017-FD74-6F5F-CF4D4415C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9705" y="2128881"/>
            <a:ext cx="5229390" cy="423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7463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 baseie no seguinte tutorial: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https://docs.edgeimpulse.com/docs/tutorials/end-to-end-tutorials/time-series/continuous-motion-recognition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0651" y="2585226"/>
            <a:ext cx="7719738" cy="315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77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16410</TotalTime>
  <Words>801</Words>
  <Application>Microsoft Office PowerPoint</Application>
  <PresentationFormat>Widescreen</PresentationFormat>
  <Paragraphs>160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2419</cp:revision>
  <dcterms:created xsi:type="dcterms:W3CDTF">2020-01-20T13:50:05Z</dcterms:created>
  <dcterms:modified xsi:type="dcterms:W3CDTF">2025-06-09T20:38:00Z</dcterms:modified>
</cp:coreProperties>
</file>