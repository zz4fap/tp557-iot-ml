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585" r:id="rId4"/>
    <p:sldId id="586" r:id="rId5"/>
    <p:sldId id="588" r:id="rId6"/>
    <p:sldId id="587" r:id="rId7"/>
    <p:sldId id="589" r:id="rId8"/>
    <p:sldId id="623" r:id="rId9"/>
    <p:sldId id="624" r:id="rId10"/>
    <p:sldId id="625" r:id="rId11"/>
    <p:sldId id="622" r:id="rId12"/>
    <p:sldId id="628" r:id="rId13"/>
    <p:sldId id="627" r:id="rId14"/>
    <p:sldId id="626" r:id="rId15"/>
    <p:sldId id="629" r:id="rId16"/>
    <p:sldId id="584" r:id="rId17"/>
    <p:sldId id="630" r:id="rId18"/>
    <p:sldId id="591" r:id="rId19"/>
    <p:sldId id="613" r:id="rId20"/>
    <p:sldId id="611" r:id="rId21"/>
    <p:sldId id="612" r:id="rId22"/>
    <p:sldId id="615" r:id="rId23"/>
    <p:sldId id="631" r:id="rId24"/>
    <p:sldId id="616" r:id="rId2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67" autoAdjust="0"/>
  </p:normalViewPr>
  <p:slideViewPr>
    <p:cSldViewPr snapToGrid="0">
      <p:cViewPr varScale="1">
        <p:scale>
          <a:sx n="91" d="100"/>
          <a:sy n="91" d="100"/>
        </p:scale>
        <p:origin x="1674" y="9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21/05/2025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44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5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87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031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30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D2A1-5359-2B35-87A2-CB62DA9A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CCF2D8-39A8-6970-A91C-CA1BB1172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A0BCB8-A319-F2B9-61A9-80B79A20C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30ECDE-57AD-7D93-14A4-A77602871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40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03E3-9C23-DFB4-E656-EE817B7B6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7E6B73-509B-606A-BA52-ECD9A9019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7DD88D-B209-FE30-9F24-9AD224BF1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209F62-F946-427E-D702-876E44243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637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0B8E-ACCA-F7FC-062F-E911F5C53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BBB11C-3D4E-BD82-F35A-38E1761E0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D90C90-61FD-F2FA-BABE-D96B4D666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1AAE74-6902-1DF5-1CE0-D34FA2800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798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778D-274C-4550-BFA6-2BF2EE13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5AD5E8-765A-E917-B919-F1F6AE347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90C0BF-FC56-01AC-3AD0-5B5E6D0FB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EF1718-29E8-7DF3-052E-E040AF947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73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570B-6F22-A16C-FB7C-644660A0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988FE9-CE61-8F19-30AA-F0093DA95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56B3B1-0912-3AF5-3099-3CC1931A0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8F2BE0-E2B3-AC2B-9D52-752913B7C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06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70F4-9A55-E975-D43C-FCEA3ED2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DFCAA5-FC8C-DD9C-AFC5-CB278DE7F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03E6E9-E099-A9A5-653E-6F0722996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4EBEF5-7321-520D-7991-F3CC5AF3A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29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DD9A-FB73-B3DA-6F9F-A22549E2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9B0F2D-8473-FC35-AF28-ECE2A1829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9962D3-EA60-94A8-A6D4-C3161BED1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62ECEA-4026-B0E1-9730-4E6CBBB39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431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843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5CAB-F21A-9D08-F98D-00EB95ED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72ECCF-390F-6700-31C9-EBB590D43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7FA9D6-B2FE-523B-86B7-0EFD6452D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BD4D4D-75F0-64AD-BA32-1AF4C4593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828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</a:t>
            </a:r>
            <a:r>
              <a:rPr lang="pt-BR" u="sng" dirty="0"/>
              <a:t>colab.research.google.com/github/zz4fap/tp557-iot-ml/blob/main/examples/k_means_centros_de_distribuição.ipynb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124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398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8D850-966F-45A6-8DE7-15B891E7D40D}" type="slidenum">
              <a:rPr kumimoji="0" lang="pt-BR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046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8D850-966F-45A6-8DE7-15B891E7D40D}" type="slidenum">
              <a:rPr kumimoji="0" lang="pt-BR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153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8D850-966F-45A6-8DE7-15B891E7D40D}" type="slidenum">
              <a:rPr kumimoji="0" lang="pt-BR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324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8D850-966F-45A6-8DE7-15B891E7D40D}" type="slidenum">
              <a:rPr kumimoji="0" lang="pt-BR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6709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8D850-966F-45A6-8DE7-15B891E7D40D}" type="slidenum">
              <a:rPr kumimoji="0" lang="pt-BR" sz="2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9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0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6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9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olab.research.google.com/github/zz4fap/tp557-iot-ml/blob/main/examples/k_means_centros_de_distribui&#231;&#227;o.ipynb" TargetMode="Externa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hyperlink" Target="https://docs.edgeimpulse.com/docs/tutorials/end-to-end-tutorials/time-series/continuous-motion-recognition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br>
              <a:rPr lang="pt-BR" dirty="0"/>
            </a:br>
            <a:r>
              <a:rPr lang="pt-BR" b="1" i="1" dirty="0"/>
              <a:t>Detecção de anomalias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82026D-D2EA-05D7-61F2-DEE04704DB7E}"/>
              </a:ext>
            </a:extLst>
          </p:cNvPr>
          <p:cNvSpPr txBox="1"/>
          <p:nvPr/>
        </p:nvSpPr>
        <p:spPr>
          <a:xfrm>
            <a:off x="8068201" y="59330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Samuel Baraldi Mafra</a:t>
            </a:r>
          </a:p>
          <a:p>
            <a:r>
              <a:rPr lang="pt-BR" dirty="0"/>
              <a:t>samuelbmafra@inatel.br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Aprendizado não-supervisionado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785131" cy="4713889"/>
          </a:xfrm>
        </p:spPr>
        <p:txBody>
          <a:bodyPr>
            <a:normAutofit/>
          </a:bodyPr>
          <a:lstStyle/>
          <a:p>
            <a:r>
              <a:rPr lang="pt-BR" dirty="0"/>
              <a:t>Diferentemente do aprendizado supervisionado, no aprendizado não-supervisionado, não existem rótulos.</a:t>
            </a:r>
          </a:p>
          <a:p>
            <a:r>
              <a:rPr lang="pt-BR" dirty="0"/>
              <a:t>Esses algoritmos descobrem padrões ocultos ou agrupamentos de dados sem a necessidade de rótulos.</a:t>
            </a:r>
          </a:p>
          <a:p>
            <a:r>
              <a:rPr lang="pt-BR" dirty="0"/>
              <a:t>São usados em problemas de</a:t>
            </a:r>
          </a:p>
          <a:p>
            <a:pPr lvl="1"/>
            <a:r>
              <a:rPr lang="pt-BR" dirty="0"/>
              <a:t>Segmentação</a:t>
            </a:r>
          </a:p>
          <a:p>
            <a:pPr lvl="1"/>
            <a:r>
              <a:rPr lang="pt-BR" dirty="0"/>
              <a:t>Agrupamento</a:t>
            </a:r>
          </a:p>
          <a:p>
            <a:pPr lvl="1"/>
            <a:r>
              <a:rPr lang="pt-BR" dirty="0"/>
              <a:t>Redução de dimensionalidade</a:t>
            </a:r>
          </a:p>
          <a:p>
            <a:pPr lvl="1"/>
            <a:r>
              <a:rPr lang="pt-BR" b="1" i="1" dirty="0">
                <a:solidFill>
                  <a:srgbClr val="FF0000"/>
                </a:solidFill>
              </a:rPr>
              <a:t>Detecção de anomalias</a:t>
            </a:r>
          </a:p>
        </p:txBody>
      </p:sp>
    </p:spTree>
    <p:extLst>
      <p:ext uri="{BB962C8B-B14F-4D97-AF65-F5344CB8AC3E}">
        <p14:creationId xmlns:p14="http://schemas.microsoft.com/office/powerpoint/2010/main" val="16815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8734097" cy="76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Aprendizado supervisionado versus não supervisionado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 descr="Unsupervised machine learning">
            <a:extLst>
              <a:ext uri="{FF2B5EF4-FFF2-40B4-BE49-F238E27FC236}">
                <a16:creationId xmlns:a16="http://schemas.microsoft.com/office/drawing/2014/main" id="{9C9BB3FA-B234-195B-6E78-1F5F1A0B5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89" y="4424868"/>
            <a:ext cx="6371808" cy="243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upervised machine learning">
            <a:extLst>
              <a:ext uri="{FF2B5EF4-FFF2-40B4-BE49-F238E27FC236}">
                <a16:creationId xmlns:a16="http://schemas.microsoft.com/office/drawing/2014/main" id="{85D641D0-2AF2-0E0D-20E1-BE0FB83D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89" y="945092"/>
            <a:ext cx="5787974" cy="273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12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Clusterização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66801"/>
            <a:ext cx="10100441" cy="2737556"/>
          </a:xfrm>
        </p:spPr>
        <p:txBody>
          <a:bodyPr>
            <a:normAutofit/>
          </a:bodyPr>
          <a:lstStyle/>
          <a:p>
            <a:r>
              <a:rPr lang="pt-BR" dirty="0"/>
              <a:t>A forma mais simples e conhecida de aprendizado não-supervisionado é a clusterização ou agrupamento.</a:t>
            </a:r>
          </a:p>
          <a:p>
            <a:r>
              <a:rPr lang="pt-BR" dirty="0"/>
              <a:t>O objetivo do agrupamento é dividir os dados em vários grupos ou clusters, de modo que os pontos de dados dentro de cada grupo sejam mais comparáveis ​​entre si e diferentes dos pontos de dados dentro dos outros grupos.</a:t>
            </a:r>
          </a:p>
          <a:p>
            <a:r>
              <a:rPr lang="pt-BR" dirty="0"/>
              <a:t> É essencialmente um agrupamento de coisas com base em quão semelhantes (ou próximos) e diferentes elas são entre si.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098" name="Picture 2" descr="What is K-means Clustering and it's use cases ? | by Avijit das | Medium">
            <a:extLst>
              <a:ext uri="{FF2B5EF4-FFF2-40B4-BE49-F238E27FC236}">
                <a16:creationId xmlns:a16="http://schemas.microsoft.com/office/drawing/2014/main" id="{056C7919-93FD-E63C-B36E-CC710CDD6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30" y="3804357"/>
            <a:ext cx="6272390" cy="26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18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>
            <a:normAutofit/>
          </a:bodyPr>
          <a:lstStyle/>
          <a:p>
            <a:r>
              <a:rPr lang="pt-BR" dirty="0"/>
              <a:t>O algoritmo de clusterização mais conhecido é o K-</a:t>
            </a:r>
            <a:r>
              <a:rPr lang="pt-BR" dirty="0" err="1"/>
              <a:t>means</a:t>
            </a:r>
            <a:r>
              <a:rPr lang="pt-BR" dirty="0"/>
              <a:t>.</a:t>
            </a:r>
          </a:p>
          <a:p>
            <a:r>
              <a:rPr lang="pt-BR" dirty="0"/>
              <a:t>O objetivo do K-</a:t>
            </a:r>
            <a:r>
              <a:rPr lang="pt-BR" dirty="0" err="1"/>
              <a:t>means</a:t>
            </a:r>
            <a:r>
              <a:rPr lang="pt-BR" dirty="0"/>
              <a:t> é simples: agrupar pontos de dados semelhantes e descobrir padrões subjacentes.</a:t>
            </a:r>
          </a:p>
          <a:p>
            <a:pPr lvl="1"/>
            <a:r>
              <a:rPr lang="pt-BR" dirty="0"/>
              <a:t>Semelhante aqui é no sentido de proximidade.</a:t>
            </a:r>
          </a:p>
          <a:p>
            <a:r>
              <a:rPr lang="pt-BR" dirty="0"/>
              <a:t>Para atingir este objetivo, o K-</a:t>
            </a:r>
            <a:r>
              <a:rPr lang="pt-BR" dirty="0" err="1"/>
              <a:t>means</a:t>
            </a:r>
            <a:r>
              <a:rPr lang="pt-BR" dirty="0"/>
              <a:t> procura um número fixo (k) de clusters em um conjunto de dados.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098" name="Picture 2" descr="K-Means Clustering Algorithm - Javatpoint">
            <a:extLst>
              <a:ext uri="{FF2B5EF4-FFF2-40B4-BE49-F238E27FC236}">
                <a16:creationId xmlns:a16="http://schemas.microsoft.com/office/drawing/2014/main" id="{45592E60-7087-AC09-6FA1-B6EBEB448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326" y="3327400"/>
            <a:ext cx="53435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44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K-</a:t>
            </a:r>
            <a:r>
              <a:rPr lang="pt-BR" dirty="0" err="1"/>
              <a:t>means</a:t>
            </a:r>
            <a:r>
              <a:rPr lang="pt-BR" sz="3000" dirty="0"/>
              <a:t> </a:t>
            </a:r>
            <a:r>
              <a:rPr lang="pt-BR" dirty="0" err="1"/>
              <a:t>pseudo-código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2CD0-3AFD-013C-16CC-B158E81DC1CA}"/>
                  </a:ext>
                </a:extLst>
              </p:cNvPr>
              <p:cNvSpPr txBox="1"/>
              <p:nvPr/>
            </p:nvSpPr>
            <p:spPr>
              <a:xfrm>
                <a:off x="1221786" y="2204015"/>
                <a:ext cx="9545228" cy="224676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sz="2000" b="1" dirty="0"/>
                  <a:t>Entradas</a:t>
                </a:r>
                <a:r>
                  <a:rPr lang="pt-BR" sz="2000" dirty="0"/>
                  <a:t>: conjunto de exemplos e número de clusters,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000" dirty="0"/>
                  <a:t>. </a:t>
                </a:r>
                <a:endParaRPr lang="pt-BR" sz="20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sz="2000" b="1" dirty="0"/>
                  <a:t>Defina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000" dirty="0"/>
                  <a:t> centroides iniciais (geralmente, feito de forma aleatória).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sz="2000" b="1" dirty="0"/>
                  <a:t>Repita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sz="2000" dirty="0"/>
                  <a:t>Calcule a distância de cada exemplo, </a:t>
                </a:r>
                <a14:m>
                  <m:oMath xmlns:m="http://schemas.openxmlformats.org/officeDocument/2006/math">
                    <m:r>
                      <a:rPr lang="pt-B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para cada um dos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000" dirty="0"/>
                  <a:t> centroides e atribua cada exemplo ao cluster mais próximo.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pt-BR" sz="2000" dirty="0"/>
                  <a:t>Calcule o novo centroide de cada cluster.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t-BR" sz="2000" b="1" dirty="0"/>
                  <a:t>Enquanto </a:t>
                </a:r>
                <a:r>
                  <a:rPr lang="pt-BR" sz="2000" dirty="0"/>
                  <a:t>as posições dos centroides continuarem mudando.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0E2CD0-3AFD-013C-16CC-B158E81DC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786" y="2204015"/>
                <a:ext cx="9545228" cy="2246769"/>
              </a:xfrm>
              <a:prstGeom prst="rect">
                <a:avLst/>
              </a:prstGeom>
              <a:blipFill>
                <a:blip r:embed="rId4"/>
                <a:stretch>
                  <a:fillRect l="-638" t="-1351" b="-378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0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FE513-AB4A-132F-B33C-C1A69C4E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C5611-534A-CB77-C071-F477937D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7E7F13EA-3BD1-43C2-79EA-B881793AD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A0891BC2-FEAE-19E7-B671-ECE0FACC07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7C2E78-E437-28C4-0BAF-D2D2AC1C9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536F-38AB-58C5-0FFB-41BDB557E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422" y="1856677"/>
            <a:ext cx="6315956" cy="50013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EA9FAE-D371-68E0-2CB7-9C8893491B3B}"/>
              </a:ext>
            </a:extLst>
          </p:cNvPr>
          <p:cNvSpPr txBox="1"/>
          <p:nvPr/>
        </p:nvSpPr>
        <p:spPr>
          <a:xfrm>
            <a:off x="303430" y="2475186"/>
            <a:ext cx="2532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1. Define-se o número de clusters, K =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4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C6B89-4D49-2EC0-F063-638BD6935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115AF-9415-9558-8D7C-7CA5F9E9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55584ECE-67DE-1FFA-9FE4-D3C3D41364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A9D0FB6C-59DD-7620-EBAF-21BB030E5B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6F58C6-8849-231E-3B12-60D9682E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3FE92-0D0B-AECE-B64E-FC9D2F3EA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601" y="1913835"/>
            <a:ext cx="6258798" cy="4944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947541-89EC-69EF-1918-6EFD56E0B3C2}"/>
              </a:ext>
            </a:extLst>
          </p:cNvPr>
          <p:cNvSpPr txBox="1"/>
          <p:nvPr/>
        </p:nvSpPr>
        <p:spPr>
          <a:xfrm>
            <a:off x="65746" y="2490952"/>
            <a:ext cx="2900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Escolhe</a:t>
            </a:r>
            <a:r>
              <a:rPr lang="en-US" dirty="0"/>
              <a:t>-se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centroides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cluster de forma </a:t>
            </a:r>
            <a:r>
              <a:rPr lang="en-US" dirty="0" err="1"/>
              <a:t>aleatória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37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19100-E668-77C4-3183-771B95B2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CA554-D396-DCCB-4744-F3695D6F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3380BF6D-7A0A-C11E-50C6-1F567BA3A3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52BFF569-F440-2D60-8296-D8243B2988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298857-CD80-B8D1-6E62-55E6C3A64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684BB-EFF7-DBA8-3519-25CE2A1A9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837" y="1885256"/>
            <a:ext cx="6268325" cy="4972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267D7C-379A-003E-4048-8D4DDD969EB6}"/>
              </a:ext>
            </a:extLst>
          </p:cNvPr>
          <p:cNvSpPr txBox="1"/>
          <p:nvPr/>
        </p:nvSpPr>
        <p:spPr>
          <a:xfrm>
            <a:off x="101600" y="2865735"/>
            <a:ext cx="26521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3. Atribui-se cada amostra ao </a:t>
            </a:r>
            <a:r>
              <a:rPr lang="pt-BR" b="0" i="0" dirty="0" err="1">
                <a:solidFill>
                  <a:srgbClr val="404040"/>
                </a:solidFill>
                <a:effectLst/>
              </a:rPr>
              <a:t>centróide</a:t>
            </a:r>
            <a:r>
              <a:rPr lang="pt-BR" b="0" i="0" dirty="0">
                <a:solidFill>
                  <a:srgbClr val="404040"/>
                </a:solidFill>
                <a:effectLst/>
              </a:rPr>
              <a:t> mais próximo com base na distância euclidiana.</a:t>
            </a:r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11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78FD1-DBF4-DCA8-F1BC-B3E89729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02D84-8C44-E80A-6CE1-1C285A07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3E14BFEB-7725-6B4D-C589-A43632C980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DDC94C5F-D329-0D03-2D55-303CAEA465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330112-2C2B-538C-EFFC-0C5273ED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74BBD-11DB-833A-341F-F134DDD11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074" y="1913835"/>
            <a:ext cx="6277851" cy="49441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63ADD3-D956-76C5-F130-F38465877D67}"/>
              </a:ext>
            </a:extLst>
          </p:cNvPr>
          <p:cNvSpPr txBox="1"/>
          <p:nvPr/>
        </p:nvSpPr>
        <p:spPr>
          <a:xfrm>
            <a:off x="101600" y="2577501"/>
            <a:ext cx="299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4. Recalcula-se o centroide do clusters.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640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75298-302A-6135-F195-096473ED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28DF8-D69B-BFFF-D2B4-A925DD43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A4C3F9D2-0307-0450-4E41-55D3298E64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A5277E26-0B39-A36B-7447-436FDC3E02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702F57-B420-BA92-57FC-CDEAF0E0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9E2474-44BE-43D0-EE2F-D03349050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422" y="1913835"/>
            <a:ext cx="6315956" cy="49441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FEC406-7A7E-5D78-DF69-D2416A2375C3}"/>
              </a:ext>
            </a:extLst>
          </p:cNvPr>
          <p:cNvSpPr txBox="1"/>
          <p:nvPr/>
        </p:nvSpPr>
        <p:spPr>
          <a:xfrm>
            <a:off x="304800" y="2629284"/>
            <a:ext cx="2531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5. Repete-se os passos 3 e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145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972DB-1A29-C878-AC52-B084A233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F31A0-EB34-A3FB-D3AD-8E88098E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A22086E9-56E3-EC28-E48A-9069376FF0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E1A13779-07EA-5350-121F-C4141832B9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61F4C5-B5F4-E3F6-B686-4C94C3880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44109-9098-CA3C-766B-DFEB05AE1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290" y="1932888"/>
            <a:ext cx="6230219" cy="4925112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7FEC406-7A7E-5D78-DF69-D2416A2375C3}"/>
              </a:ext>
            </a:extLst>
          </p:cNvPr>
          <p:cNvSpPr txBox="1"/>
          <p:nvPr/>
        </p:nvSpPr>
        <p:spPr>
          <a:xfrm>
            <a:off x="304800" y="2629284"/>
            <a:ext cx="2531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5. Repete-se os passos 3 e 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37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17B56-95CF-5EB4-1950-84D108AD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42745-4759-3504-B537-1A643C25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84E44FE8-BA6E-9F6F-1997-0AD869D77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21DB31B1-11EA-8016-35EE-14EA7345F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D17EBA-F020-2A71-B133-21937AD7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55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Funcionamento do K-</a:t>
            </a:r>
            <a:r>
              <a:rPr lang="pt-BR" dirty="0" err="1"/>
              <a:t>means</a:t>
            </a:r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08A47C-C93C-D40B-F5DC-3C29F2EEE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180" y="1961467"/>
            <a:ext cx="6201640" cy="4896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76C1A9-3731-8BF9-861E-3D686FEA4F43}"/>
              </a:ext>
            </a:extLst>
          </p:cNvPr>
          <p:cNvSpPr txBox="1"/>
          <p:nvPr/>
        </p:nvSpPr>
        <p:spPr>
          <a:xfrm>
            <a:off x="141890" y="2629285"/>
            <a:ext cx="29548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404040"/>
                </a:solidFill>
                <a:effectLst/>
              </a:rPr>
              <a:t>Repete-se os passos 3-4</a:t>
            </a:r>
            <a:r>
              <a:rPr lang="pt-BR" dirty="0"/>
              <a:t> </a:t>
            </a:r>
            <a:r>
              <a:rPr lang="pt-BR" b="0" i="0" dirty="0">
                <a:solidFill>
                  <a:srgbClr val="404040"/>
                </a:solidFill>
                <a:effectLst/>
              </a:rPr>
              <a:t>até que um dos seguintes ocorra: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A soma das distâncias entre os pontos de dados e o centroide correspondente seja minimizada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Não haja alteração nos centroides</a:t>
            </a:r>
            <a:endParaRPr lang="pt-BR" dirty="0"/>
          </a:p>
          <a:p>
            <a:pPr marL="342900" indent="-342900">
              <a:buFont typeface="+mj-lt"/>
              <a:buAutoNum type="arabicPeriod"/>
            </a:pPr>
            <a:r>
              <a:rPr lang="pt-BR" b="0" i="0" dirty="0">
                <a:solidFill>
                  <a:srgbClr val="404040"/>
                </a:solidFill>
                <a:effectLst/>
              </a:rPr>
              <a:t>O número máximo de iterações seja atingido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00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b="4339"/>
          <a:stretch/>
        </p:blipFill>
        <p:spPr>
          <a:xfrm>
            <a:off x="6484577" y="3172615"/>
            <a:ext cx="4460195" cy="286358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 descr="Univariate Anomaly Detection | Anomaly Detection Algorithms">
            <a:extLst>
              <a:ext uri="{FF2B5EF4-FFF2-40B4-BE49-F238E27FC236}">
                <a16:creationId xmlns:a16="http://schemas.microsoft.com/office/drawing/2014/main" id="{D6FF8611-2758-C1DA-8FC6-10C7681C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574" y="3632200"/>
            <a:ext cx="3823026" cy="285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10589172" cy="2737556"/>
          </a:xfrm>
        </p:spPr>
        <p:txBody>
          <a:bodyPr>
            <a:normAutofit/>
          </a:bodyPr>
          <a:lstStyle/>
          <a:p>
            <a:r>
              <a:rPr lang="pt-BR" dirty="0"/>
              <a:t>A detecção de anomalias é a identificação de itens, eventos ou observações raras que levantam suspeitas por diferirem significativamente da maioria dos dados.</a:t>
            </a:r>
          </a:p>
          <a:p>
            <a:r>
              <a:rPr lang="pt-BR" dirty="0"/>
              <a:t>Exemplos</a:t>
            </a:r>
          </a:p>
          <a:p>
            <a:pPr lvl="1"/>
            <a:r>
              <a:rPr lang="pt-BR" dirty="0"/>
              <a:t>Detecção de spam</a:t>
            </a:r>
          </a:p>
          <a:p>
            <a:pPr lvl="1"/>
            <a:r>
              <a:rPr lang="pt-BR" dirty="0"/>
              <a:t>Detecção de fraude de cartão de crédito</a:t>
            </a:r>
          </a:p>
          <a:p>
            <a:pPr lvl="1"/>
            <a:r>
              <a:rPr lang="pt-BR" dirty="0"/>
              <a:t>Detecção de falhas</a:t>
            </a:r>
          </a:p>
          <a:p>
            <a:pPr lvl="1"/>
            <a:r>
              <a:rPr lang="pt-BR" dirty="0"/>
              <a:t>Detecção de movimento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92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/>
          <a:lstStyle/>
          <a:p>
            <a:r>
              <a:rPr lang="pt-BR" dirty="0"/>
              <a:t>Aplicações</a:t>
            </a:r>
          </a:p>
        </p:txBody>
      </p:sp>
      <p:pic>
        <p:nvPicPr>
          <p:cNvPr id="2050" name="Picture 2" descr="Anomaly Detection Real World Scenarios Approaches and Live Implementation -  YouTube">
            <a:extLst>
              <a:ext uri="{FF2B5EF4-FFF2-40B4-BE49-F238E27FC236}">
                <a16:creationId xmlns:a16="http://schemas.microsoft.com/office/drawing/2014/main" id="{FDE7A801-6226-C67C-506A-7A9F297D2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67" y="1445508"/>
            <a:ext cx="8387017" cy="471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16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E1AD8-1AE2-9D66-D1D0-BECEA32F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62F63-8B67-2CA5-F1E0-70285F8A5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22FDC0BB-96C6-D071-6072-8265FA475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D2FBB85-B0FE-5D58-DBE2-4C312CB1B3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9EED01-E2A7-FCA9-AE40-ABE3206A5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/>
          <a:lstStyle/>
          <a:p>
            <a:r>
              <a:rPr lang="pt-BR" dirty="0"/>
              <a:t>Algoritmos</a:t>
            </a:r>
          </a:p>
          <a:p>
            <a:pPr lvl="1"/>
            <a:r>
              <a:rPr lang="pt-BR" dirty="0"/>
              <a:t>K-</a:t>
            </a:r>
            <a:r>
              <a:rPr lang="pt-BR" dirty="0" err="1"/>
              <a:t>means</a:t>
            </a:r>
            <a:r>
              <a:rPr lang="pt-BR" dirty="0"/>
              <a:t> usando a  área do centroide</a:t>
            </a:r>
          </a:p>
          <a:p>
            <a:pPr lvl="1"/>
            <a:r>
              <a:rPr lang="pt-BR" dirty="0" err="1"/>
              <a:t>Isolation</a:t>
            </a:r>
            <a:r>
              <a:rPr lang="pt-BR" dirty="0"/>
              <a:t> Forest</a:t>
            </a:r>
          </a:p>
          <a:p>
            <a:pPr lvl="1"/>
            <a:r>
              <a:rPr lang="pt-BR" dirty="0" err="1"/>
              <a:t>One-Class</a:t>
            </a:r>
            <a:r>
              <a:rPr lang="pt-BR" dirty="0"/>
              <a:t> SVM</a:t>
            </a:r>
          </a:p>
          <a:p>
            <a:pPr lvl="1"/>
            <a:r>
              <a:rPr lang="pt-BR" dirty="0"/>
              <a:t>Local Outlier Factor</a:t>
            </a:r>
          </a:p>
          <a:p>
            <a:pPr lvl="1"/>
            <a:r>
              <a:rPr lang="pt-BR" dirty="0"/>
              <a:t>Etc.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D15ED-AE97-5474-7E5D-B644432B2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916" y="2833412"/>
            <a:ext cx="3623052" cy="3269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97941-A588-8F4A-49EA-1C5B6528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728" y="2833412"/>
            <a:ext cx="3686332" cy="326910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2EF8AE6-9567-78CC-094E-7578F2C11532}"/>
              </a:ext>
            </a:extLst>
          </p:cNvPr>
          <p:cNvSpPr/>
          <p:nvPr/>
        </p:nvSpPr>
        <p:spPr>
          <a:xfrm>
            <a:off x="5573986" y="4070566"/>
            <a:ext cx="840828" cy="5885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60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0482DB-F365-0A83-E102-37A8EB7EACEF}"/>
              </a:ext>
            </a:extLst>
          </p:cNvPr>
          <p:cNvSpPr txBox="1"/>
          <p:nvPr/>
        </p:nvSpPr>
        <p:spPr>
          <a:xfrm>
            <a:off x="846667" y="988201"/>
            <a:ext cx="822959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Exemplo: Escolha de Locais para Centros de Distribuição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6146" name="Picture 2" descr="Centro de Distribuição: uma solução mais que viável – Novidá">
            <a:extLst>
              <a:ext uri="{FF2B5EF4-FFF2-40B4-BE49-F238E27FC236}">
                <a16:creationId xmlns:a16="http://schemas.microsoft.com/office/drawing/2014/main" id="{4EEAF6B8-1AE8-82F9-6BD7-E45E945A8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80" y="2298121"/>
            <a:ext cx="5787320" cy="316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pa do Brasil">
            <a:extLst>
              <a:ext uri="{FF2B5EF4-FFF2-40B4-BE49-F238E27FC236}">
                <a16:creationId xmlns:a16="http://schemas.microsoft.com/office/drawing/2014/main" id="{BBEA9087-A8E1-78C5-981B-C50D7CF46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067" y="2025586"/>
            <a:ext cx="4307416" cy="35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2309284" y="5704891"/>
            <a:ext cx="64314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</a:t>
            </a:r>
            <a:r>
              <a:rPr lang="pt-BR" u="sng" dirty="0">
                <a:hlinkClick r:id="rId6"/>
              </a:rPr>
              <a:t>colab.research.google.com/github/zz4fap/tp557-iot-ml/blob/main/examples/k_means_centros_de_distribuição.ipynb</a:t>
            </a:r>
            <a:endParaRPr lang="pt-BR" u="sng" dirty="0"/>
          </a:p>
          <a:p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949754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K-</a:t>
            </a:r>
            <a:r>
              <a:rPr lang="pt-BR" dirty="0" err="1"/>
              <a:t>means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1B432F-F570-AEC0-CFFF-C1D9196D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1"/>
            <a:ext cx="9810044" cy="27375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0482DB-F365-0A83-E102-37A8EB7EACEF}"/>
              </a:ext>
            </a:extLst>
          </p:cNvPr>
          <p:cNvSpPr txBox="1"/>
          <p:nvPr/>
        </p:nvSpPr>
        <p:spPr>
          <a:xfrm>
            <a:off x="846667" y="988201"/>
            <a:ext cx="8229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Como escolher o K ótimo?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050" name="Picture 2" descr="Base Teórica do K-Means! Aprenda a Lógica desse Algoritmo Hoje!">
            <a:extLst>
              <a:ext uri="{FF2B5EF4-FFF2-40B4-BE49-F238E27FC236}">
                <a16:creationId xmlns:a16="http://schemas.microsoft.com/office/drawing/2014/main" id="{0694ADFD-EB2E-2BF0-18BE-B07E4CD60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381" y="1605398"/>
            <a:ext cx="7549885" cy="344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EF69E85-6440-34FE-5C8A-A5F37765D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439" y="5536951"/>
            <a:ext cx="2377646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4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de containers ao longo do ciclo logístico</a:t>
            </a:r>
          </a:p>
        </p:txBody>
      </p:sp>
      <p:pic>
        <p:nvPicPr>
          <p:cNvPr id="1026" name="Picture 2" descr="Free photo industrial containers box for logistic import export business.">
            <a:extLst>
              <a:ext uri="{FF2B5EF4-FFF2-40B4-BE49-F238E27FC236}">
                <a16:creationId xmlns:a16="http://schemas.microsoft.com/office/drawing/2014/main" id="{FDC07977-F662-66CB-7534-103E83976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141" y="1819275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979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Movimentação de containers ao longo do ciclo logístico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Classificação de 5 estados do container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Parado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Sendo erguido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No mar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No caminhão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solidFill>
                  <a:srgbClr val="FF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Anomalia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(e.g., container caindo no mar, empilhadeira tombando)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245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0084676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Trabalho: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Incluir no Edge Impulse possíveis anomalias nos dados do ciclo logístico, e.g., quedas.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705" y="2128881"/>
            <a:ext cx="5229390" cy="423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1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Detecção de anomalias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Trabalho: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 baseie no seguinte tutorial: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https://docs.edgeimpulse.com/docs/tutorials/end-to-end-tutorials/time-series/continuous-motion-recognition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651" y="2585226"/>
            <a:ext cx="7719738" cy="31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77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ctr">
              <a:lnSpc>
                <a:spcPct val="107000"/>
              </a:lnSpc>
              <a:spcAft>
                <a:spcPts val="533"/>
              </a:spcAft>
              <a:buNone/>
            </a:pPr>
            <a:endParaRPr lang="pt-BR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ctr">
              <a:lnSpc>
                <a:spcPct val="107000"/>
              </a:lnSpc>
              <a:spcAft>
                <a:spcPts val="533"/>
              </a:spcAft>
              <a:buNone/>
            </a:pPr>
            <a:endParaRPr lang="pt-BR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ctr">
              <a:lnSpc>
                <a:spcPct val="107000"/>
              </a:lnSpc>
              <a:spcAft>
                <a:spcPts val="533"/>
              </a:spcAft>
              <a:buNone/>
            </a:pPr>
            <a:endParaRPr lang="pt-BR" sz="2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ctr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400" dirty="0">
                <a:ea typeface="Calibri" panose="020F0502020204030204" pitchFamily="34" charset="0"/>
                <a:cs typeface="Arial" panose="020B0604020202020204" pitchFamily="34" charset="0"/>
              </a:rPr>
              <a:t>Acompanhamento do trabalho final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226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ós Modelo 1" id="{1890BCC5-262A-4203-9447-FAC66B7F6DAC}" vid="{D23E53B5-32D4-4E89-8BD3-27CFCC7177E3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16312</TotalTime>
  <Words>686</Words>
  <Application>Microsoft Office PowerPoint</Application>
  <PresentationFormat>Widescreen</PresentationFormat>
  <Paragraphs>146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Tema do Office</vt:lpstr>
      <vt:lpstr>1_Tema do Office</vt:lpstr>
      <vt:lpstr>TP557 - Tópicos avançados em IoT e Machine Learning: Detecção de anomalias</vt:lpstr>
      <vt:lpstr>Aprendizado não-supervisionado</vt:lpstr>
      <vt:lpstr>Aprendizado supervisionado versus não supervisionado</vt:lpstr>
      <vt:lpstr>Clusterização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K-means</vt:lpstr>
      <vt:lpstr>Detecção de anomalias</vt:lpstr>
      <vt:lpstr>Detecção de anomalias</vt:lpstr>
      <vt:lpstr>Detecção de anomalias</vt:lpstr>
      <vt:lpstr>K-means</vt:lpstr>
      <vt:lpstr>K-means</vt:lpstr>
      <vt:lpstr>Detecção de anomalias</vt:lpstr>
      <vt:lpstr>Detecção de anomalias</vt:lpstr>
      <vt:lpstr>Detecção de anomalias</vt:lpstr>
      <vt:lpstr>Detecção de anomalias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2409</cp:revision>
  <dcterms:created xsi:type="dcterms:W3CDTF">2020-01-20T13:50:05Z</dcterms:created>
  <dcterms:modified xsi:type="dcterms:W3CDTF">2025-05-21T17:01:29Z</dcterms:modified>
</cp:coreProperties>
</file>