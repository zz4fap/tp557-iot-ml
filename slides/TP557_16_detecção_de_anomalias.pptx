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60" r:id="rId2"/>
  </p:sldMasterIdLst>
  <p:notesMasterIdLst>
    <p:notesMasterId r:id="rId28"/>
  </p:notesMasterIdLst>
  <p:handoutMasterIdLst>
    <p:handoutMasterId r:id="rId29"/>
  </p:handoutMasterIdLst>
  <p:sldIdLst>
    <p:sldId id="256" r:id="rId3"/>
    <p:sldId id="585" r:id="rId4"/>
    <p:sldId id="586" r:id="rId5"/>
    <p:sldId id="588" r:id="rId6"/>
    <p:sldId id="587" r:id="rId7"/>
    <p:sldId id="589" r:id="rId8"/>
    <p:sldId id="623" r:id="rId9"/>
    <p:sldId id="624" r:id="rId10"/>
    <p:sldId id="625" r:id="rId11"/>
    <p:sldId id="622" r:id="rId12"/>
    <p:sldId id="628" r:id="rId13"/>
    <p:sldId id="627" r:id="rId14"/>
    <p:sldId id="626" r:id="rId15"/>
    <p:sldId id="629" r:id="rId16"/>
    <p:sldId id="584" r:id="rId17"/>
    <p:sldId id="630" r:id="rId18"/>
    <p:sldId id="621" r:id="rId19"/>
    <p:sldId id="591" r:id="rId20"/>
    <p:sldId id="593" r:id="rId21"/>
    <p:sldId id="603" r:id="rId22"/>
    <p:sldId id="613" r:id="rId23"/>
    <p:sldId id="611" r:id="rId24"/>
    <p:sldId id="612" r:id="rId25"/>
    <p:sldId id="615" r:id="rId26"/>
    <p:sldId id="616" r:id="rId27"/>
  </p:sldIdLst>
  <p:sldSz cx="12192000" cy="6858000"/>
  <p:notesSz cx="7315200" cy="96012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F1F5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9352" autoAdjust="0"/>
    <p:restoredTop sz="82567" autoAdjust="0"/>
  </p:normalViewPr>
  <p:slideViewPr>
    <p:cSldViewPr snapToGrid="0">
      <p:cViewPr varScale="1">
        <p:scale>
          <a:sx n="91" d="100"/>
          <a:sy n="91" d="100"/>
        </p:scale>
        <p:origin x="1674" y="90"/>
      </p:cViewPr>
      <p:guideLst/>
    </p:cSldViewPr>
  </p:slideViewPr>
  <p:outlineViewPr>
    <p:cViewPr>
      <p:scale>
        <a:sx n="33" d="100"/>
        <a:sy n="33" d="100"/>
      </p:scale>
      <p:origin x="0" y="-8862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" Type="http://schemas.openxmlformats.org/officeDocument/2006/relationships/slide" Target="slides/slide1.xml"/><Relationship Id="rId21" Type="http://schemas.openxmlformats.org/officeDocument/2006/relationships/slide" Target="slides/slide19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tableStyles" Target="tableStyles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29" Type="http://schemas.openxmlformats.org/officeDocument/2006/relationships/handoutMaster" Target="handoutMasters/handout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theme" Target="theme/theme1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viewProps" Target="viewProp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presProps" Target="presProps.xml"/><Relationship Id="rId8" Type="http://schemas.openxmlformats.org/officeDocument/2006/relationships/slide" Target="slides/slide6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4143589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144F1436-6906-4D93-B7A2-786C327BFA14}" type="datetimeFigureOut">
              <a:rPr lang="nl-BE" smtClean="0"/>
              <a:t>13/05/2025</a:t>
            </a:fld>
            <a:endParaRPr lang="nl-B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1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4143589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F7E56D9B-79AD-444A-AFED-DEC23408F8B4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16353311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5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4143592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AA8CD09E-2914-4F47-B6C1-51B2C31814C9}" type="datetimeFigureOut">
              <a:rPr lang="pt-BR" smtClean="0"/>
              <a:t>13/05/2025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-7721600" y="4740275"/>
            <a:ext cx="22758400" cy="12801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168634" tIns="84317" rIns="168634" bIns="84317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731522" y="18254135"/>
            <a:ext cx="5852160" cy="14935200"/>
          </a:xfrm>
          <a:prstGeom prst="rect">
            <a:avLst/>
          </a:prstGeom>
        </p:spPr>
        <p:txBody>
          <a:bodyPr vert="horz" lIns="168634" tIns="84317" rIns="168634" bIns="84317" rtlCol="0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5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4143592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6FC8D850-966F-45A6-8DE7-15B891E7D40D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418147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baseline="0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074746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4564471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45544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7598737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6603196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3753038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DAD2A1-5359-2B35-87A2-CB62DA9AC2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E3CCF2D8-39A8-6970-A91C-CA1BB1172B7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D2A0BCB8-A319-F2B9-61A9-80B79A20C8A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7430ECDE-57AD-7D93-14A4-A7760287138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864038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6003E3-9C23-DFB4-E656-EE817B7B63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A47E6B73-509B-606A-BA52-ECD9A901942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1E7DD88D-B209-FE30-9F24-9AD224BF1EC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4A209F62-F946-427E-D702-876E44243A3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8163740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790B8E-ACCA-F7FC-062F-E911F5C53D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77BBB11C-3D4E-BD82-F35A-38E1761E0CF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88D90C90-61FD-F2FA-BABE-D96B4D6667D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281AAE74-6902-1DF5-1CE0-D34FA280033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7679891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C8778D-274C-4550-BFA6-2BF2EE1372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C35AD5E8-765A-E917-B919-F1F6AE347F5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9D90C0BF-FC56-01AC-3AD0-5B5E6D0FB45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41EF1718-29E8-7DF3-052E-E040AF94729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867346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CE570B-6F22-A16C-FB7C-644660A08E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54988FE9-CE61-8F19-30AA-F0093DA959F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FF56B3B1-0912-3AF5-3099-3CC1931A01B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EA8F2BE0-E2B3-AC2B-9D52-752913B7CF4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6950653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F770F4-9A55-E975-D43C-FCEA3ED2C1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AEDFCAA5-FC8C-DD9C-AFC5-CB278DE7F74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D403E6E9-E099-A9A5-653E-6F072299692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384EBEF5-7321-520D-7991-F3CC5AF3A56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822989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D8DD9A-FB73-B3DA-6F9F-A22549E2AC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E99B0F2D-8473-FC35-AF28-ECE2A182900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8C9962D3-EA60-94A8-A6D4-C3161BED15B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1A62ECEA-4026-B0E1-9730-4E6CBBB3936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3943195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14905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4584320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955CAB-F21A-9D08-F98D-00EB95ED34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0D72ECCF-390F-6700-31C9-EBB590D4368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577FA9D6-B2FE-523B-86B7-0EFD6452DDF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1DBD4D4D-75F0-64AD-BA32-1AF4C4593BD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81828047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7012450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40651076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07187450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82398735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FC8D850-966F-45A6-8DE7-15B891E7D40D}" type="slidenum">
              <a:rPr kumimoji="0" lang="pt-BR" sz="2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22</a:t>
            </a:fld>
            <a:endParaRPr kumimoji="0" lang="pt-BR" sz="2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316046025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FC8D850-966F-45A6-8DE7-15B891E7D40D}" type="slidenum">
              <a:rPr kumimoji="0" lang="pt-BR" sz="2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23</a:t>
            </a:fld>
            <a:endParaRPr kumimoji="0" lang="pt-BR" sz="2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824153992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FC8D850-966F-45A6-8DE7-15B891E7D40D}" type="slidenum">
              <a:rPr kumimoji="0" lang="pt-BR" sz="2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24</a:t>
            </a:fld>
            <a:endParaRPr kumimoji="0" lang="pt-BR" sz="2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389324630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FC8D850-966F-45A6-8DE7-15B891E7D40D}" type="slidenum">
              <a:rPr kumimoji="0" lang="pt-BR" sz="2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25</a:t>
            </a:fld>
            <a:endParaRPr kumimoji="0" lang="pt-BR" sz="2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2719506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DB9B4FF-B06E-403C-A326-BDC64D8FF94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247BDFCE-746E-45BF-A319-4733D58D163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EDE2778-5372-4104-B96D-968184DA82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13/05/2025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1DD0F41-C861-4051-988D-3024A37A4B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07E5967E-D980-431A-A5DB-3F0C5030A8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497542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1BD44A5-8F21-4626-A01D-48A1C874B1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79E8085-65A9-48AA-951D-71D978BFF4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F05BE1AF-51EA-425D-B188-DE7BD67500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13/05/2025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21BE632-29CF-4CB9-B365-C9EF38F89B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0CF3DD1-9AEC-4A57-B461-4E4DD86FAC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879079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4AB2FF0-A4D7-4E28-991D-FF26140D59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E2AC45B0-4145-40DB-8E61-1054611706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50F1D3FB-740A-4EBA-A309-2CE71D12EC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13/05/2025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BDCAB18F-8715-4465-A940-F9C193A2AC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353466C6-8248-429F-8056-FF040BF509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652279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7BB9F0-F14B-4A91-B2B7-35BC47FE4D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C1FC1C4-73DA-47A6-8496-B0B457F7D39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E92F06A8-A449-4D92-9912-76873E529B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938070A4-BC2F-4D55-BD8D-DEAF11BB9E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13/05/2025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45CC2DB8-844A-465F-BA9A-7734C80C7F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4CC606A8-097B-4040-94E0-CD8C88280D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985444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6D66686-0143-4CB6-8C09-BA326F1E7A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0227AB85-F59E-4BCE-B846-4FA0992C2F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3373456C-7319-4D0A-827D-D29F6B083F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4CD109D0-2E83-4262-8029-A871CEC4740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AD706E3A-CFBB-4A6C-A65F-D0360A9E74F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4172C0E5-5AF0-4805-BB51-443733CD2B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13/05/2025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0E801648-156F-497E-99CF-797DF48051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EEE23D32-80E7-4796-A137-66BF842E4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22454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BCE2379-C78F-47E1-8CFC-B846E7AF14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342600A9-7F92-4E22-9D94-E4717252A8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13/05/2025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192E6BED-F546-40CC-A2DF-99CBA85365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6091CC40-A8C4-4063-80EB-CC50996216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4413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DD19515C-212C-4EAE-84A3-8FF4BC844F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13/05/2025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94D3D120-B3E8-4C96-861D-7A4F12F49B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42E49B68-FA1B-468B-9F17-D5C09243D4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812321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C17BCBE-A897-4319-85EC-D87909C249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226F885-0204-4913-868B-4B8B82576F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00F9F784-A858-441B-8AB5-6970981417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A4DC363A-5000-472E-8B17-02E7DCB884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13/05/2025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5548425D-2C21-4C56-BAD4-662978775C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C63E9726-E64C-42B2-AE8A-8C235A956B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886100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1086A78-3E74-450C-96A6-CA8AC37AF7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5F5B7312-975A-4DBC-9B2F-3652ADA006F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AAF805F5-1DFF-41C6-944C-7D79FE0D096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02113D81-8665-4516-BD81-C6A1F254EE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13/05/2025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2B00C88B-FF32-40AA-A187-727D96FD78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A04D1A2D-69F7-4B8F-A730-BC26DC340B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346468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36C49F-3E68-4175-81BA-3C3FEE4430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426FA736-3DD3-4D4E-B57B-BBE1D8F7D42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9E8855C-D8FD-48F6-B14E-861E0DE4D9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13/05/2025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97C0BB88-2F21-42A5-ACFF-83DA47F2D3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CB462B3-1F22-4C05-B4B8-7A279FB7D5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534815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EAEAB728-701C-4207-A9D5-23FF45C6050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BA8C8CCF-7823-480A-9A19-0F664DD17E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721D5734-7B1F-425D-942F-6EB7334402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13/05/2025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E1AAEAC-F08D-45FE-89EC-B1B349A868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BAA44493-9911-47B2-87A6-C2141A972B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824547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420283"/>
            <a:ext cx="5181600" cy="980017"/>
          </a:xfrm>
        </p:spPr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914400" y="2590800"/>
            <a:ext cx="4267200" cy="11684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0481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0963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91444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21926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52407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182889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13370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43852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pt-BR"/>
              <a:t>Clique para editar o estilo do subtítulo Mestre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66037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710391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1542" y="2937934"/>
            <a:ext cx="5181600" cy="908050"/>
          </a:xfrm>
        </p:spPr>
        <p:txBody>
          <a:bodyPr anchor="t"/>
          <a:lstStyle>
            <a:lvl1pPr algn="l">
              <a:defRPr sz="2667" b="1" cap="all"/>
            </a:lvl1pPr>
          </a:lstStyle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81542" y="1937809"/>
            <a:ext cx="5181600" cy="1000125"/>
          </a:xfrm>
        </p:spPr>
        <p:txBody>
          <a:bodyPr anchor="b"/>
          <a:lstStyle>
            <a:lvl1pPr marL="0" indent="0">
              <a:buNone/>
              <a:defRPr sz="1333">
                <a:solidFill>
                  <a:schemeClr val="tx1">
                    <a:tint val="75000"/>
                  </a:schemeClr>
                </a:solidFill>
              </a:defRPr>
            </a:lvl1pPr>
            <a:lvl2pPr marL="304815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2pPr>
            <a:lvl3pPr marL="609630" indent="0">
              <a:buNone/>
              <a:defRPr sz="1067">
                <a:solidFill>
                  <a:schemeClr val="tx1">
                    <a:tint val="75000"/>
                  </a:schemeClr>
                </a:solidFill>
              </a:defRPr>
            </a:lvl3pPr>
            <a:lvl4pPr marL="914446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4pPr>
            <a:lvl5pPr marL="1219261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5pPr>
            <a:lvl6pPr marL="1524076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6pPr>
            <a:lvl7pPr marL="1828891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7pPr>
            <a:lvl8pPr marL="2133707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8pPr>
            <a:lvl9pPr marL="2438522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666371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04800" y="1066800"/>
            <a:ext cx="2692400" cy="3017309"/>
          </a:xfrm>
        </p:spPr>
        <p:txBody>
          <a:bodyPr/>
          <a:lstStyle>
            <a:lvl1pPr>
              <a:defRPr sz="1867"/>
            </a:lvl1pPr>
            <a:lvl2pPr>
              <a:defRPr sz="1600"/>
            </a:lvl2pPr>
            <a:lvl3pPr>
              <a:defRPr sz="1333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098800" y="1066800"/>
            <a:ext cx="2692400" cy="3017309"/>
          </a:xfrm>
        </p:spPr>
        <p:txBody>
          <a:bodyPr/>
          <a:lstStyle>
            <a:lvl1pPr>
              <a:defRPr sz="1867"/>
            </a:lvl1pPr>
            <a:lvl2pPr>
              <a:defRPr sz="1600"/>
            </a:lvl2pPr>
            <a:lvl3pPr>
              <a:defRPr sz="1333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5/13/2025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239650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04800" y="1023409"/>
            <a:ext cx="2693459" cy="426508"/>
          </a:xfrm>
        </p:spPr>
        <p:txBody>
          <a:bodyPr anchor="b"/>
          <a:lstStyle>
            <a:lvl1pPr marL="0" indent="0">
              <a:buNone/>
              <a:defRPr sz="1600" b="1"/>
            </a:lvl1pPr>
            <a:lvl2pPr marL="304815" indent="0">
              <a:buNone/>
              <a:defRPr sz="1333" b="1"/>
            </a:lvl2pPr>
            <a:lvl3pPr marL="609630" indent="0">
              <a:buNone/>
              <a:defRPr sz="1200" b="1"/>
            </a:lvl3pPr>
            <a:lvl4pPr marL="914446" indent="0">
              <a:buNone/>
              <a:defRPr sz="1067" b="1"/>
            </a:lvl4pPr>
            <a:lvl5pPr marL="1219261" indent="0">
              <a:buNone/>
              <a:defRPr sz="1067" b="1"/>
            </a:lvl5pPr>
            <a:lvl6pPr marL="1524076" indent="0">
              <a:buNone/>
              <a:defRPr sz="1067" b="1"/>
            </a:lvl6pPr>
            <a:lvl7pPr marL="1828891" indent="0">
              <a:buNone/>
              <a:defRPr sz="1067" b="1"/>
            </a:lvl7pPr>
            <a:lvl8pPr marL="2133707" indent="0">
              <a:buNone/>
              <a:defRPr sz="1067" b="1"/>
            </a:lvl8pPr>
            <a:lvl9pPr marL="2438522" indent="0">
              <a:buNone/>
              <a:defRPr sz="1067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04800" y="1449917"/>
            <a:ext cx="2693459" cy="2634192"/>
          </a:xfrm>
        </p:spPr>
        <p:txBody>
          <a:bodyPr/>
          <a:lstStyle>
            <a:lvl1pPr>
              <a:defRPr sz="1600"/>
            </a:lvl1pPr>
            <a:lvl2pPr>
              <a:defRPr sz="1333"/>
            </a:lvl2pPr>
            <a:lvl3pPr>
              <a:defRPr sz="1200"/>
            </a:lvl3pPr>
            <a:lvl4pPr>
              <a:defRPr sz="1067"/>
            </a:lvl4pPr>
            <a:lvl5pPr>
              <a:defRPr sz="1067"/>
            </a:lvl5pPr>
            <a:lvl6pPr>
              <a:defRPr sz="1067"/>
            </a:lvl6pPr>
            <a:lvl7pPr>
              <a:defRPr sz="1067"/>
            </a:lvl7pPr>
            <a:lvl8pPr>
              <a:defRPr sz="1067"/>
            </a:lvl8pPr>
            <a:lvl9pPr>
              <a:defRPr sz="1067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096684" y="1023409"/>
            <a:ext cx="2694517" cy="426508"/>
          </a:xfrm>
        </p:spPr>
        <p:txBody>
          <a:bodyPr anchor="b"/>
          <a:lstStyle>
            <a:lvl1pPr marL="0" indent="0">
              <a:buNone/>
              <a:defRPr sz="1600" b="1"/>
            </a:lvl1pPr>
            <a:lvl2pPr marL="304815" indent="0">
              <a:buNone/>
              <a:defRPr sz="1333" b="1"/>
            </a:lvl2pPr>
            <a:lvl3pPr marL="609630" indent="0">
              <a:buNone/>
              <a:defRPr sz="1200" b="1"/>
            </a:lvl3pPr>
            <a:lvl4pPr marL="914446" indent="0">
              <a:buNone/>
              <a:defRPr sz="1067" b="1"/>
            </a:lvl4pPr>
            <a:lvl5pPr marL="1219261" indent="0">
              <a:buNone/>
              <a:defRPr sz="1067" b="1"/>
            </a:lvl5pPr>
            <a:lvl6pPr marL="1524076" indent="0">
              <a:buNone/>
              <a:defRPr sz="1067" b="1"/>
            </a:lvl6pPr>
            <a:lvl7pPr marL="1828891" indent="0">
              <a:buNone/>
              <a:defRPr sz="1067" b="1"/>
            </a:lvl7pPr>
            <a:lvl8pPr marL="2133707" indent="0">
              <a:buNone/>
              <a:defRPr sz="1067" b="1"/>
            </a:lvl8pPr>
            <a:lvl9pPr marL="2438522" indent="0">
              <a:buNone/>
              <a:defRPr sz="1067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096684" y="1449917"/>
            <a:ext cx="2694517" cy="2634192"/>
          </a:xfrm>
        </p:spPr>
        <p:txBody>
          <a:bodyPr/>
          <a:lstStyle>
            <a:lvl1pPr>
              <a:defRPr sz="1600"/>
            </a:lvl1pPr>
            <a:lvl2pPr>
              <a:defRPr sz="1333"/>
            </a:lvl2pPr>
            <a:lvl3pPr>
              <a:defRPr sz="1200"/>
            </a:lvl3pPr>
            <a:lvl4pPr>
              <a:defRPr sz="1067"/>
            </a:lvl4pPr>
            <a:lvl5pPr>
              <a:defRPr sz="1067"/>
            </a:lvl5pPr>
            <a:lvl6pPr>
              <a:defRPr sz="1067"/>
            </a:lvl6pPr>
            <a:lvl7pPr>
              <a:defRPr sz="1067"/>
            </a:lvl7pPr>
            <a:lvl8pPr>
              <a:defRPr sz="1067"/>
            </a:lvl8pPr>
            <a:lvl9pPr>
              <a:defRPr sz="1067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5/13/2025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262993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5/13/2025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25548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5/13/2025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6929511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0" y="182033"/>
            <a:ext cx="2005542" cy="774700"/>
          </a:xfrm>
        </p:spPr>
        <p:txBody>
          <a:bodyPr anchor="b"/>
          <a:lstStyle>
            <a:lvl1pPr algn="l">
              <a:defRPr sz="1333" b="1"/>
            </a:lvl1pPr>
          </a:lstStyle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383367" y="182034"/>
            <a:ext cx="3407833" cy="3902075"/>
          </a:xfrm>
        </p:spPr>
        <p:txBody>
          <a:bodyPr/>
          <a:lstStyle>
            <a:lvl1pPr>
              <a:defRPr sz="2133"/>
            </a:lvl1pPr>
            <a:lvl2pPr>
              <a:defRPr sz="1867"/>
            </a:lvl2pPr>
            <a:lvl3pPr>
              <a:defRPr sz="1600"/>
            </a:lvl3pPr>
            <a:lvl4pPr>
              <a:defRPr sz="1333"/>
            </a:lvl4pPr>
            <a:lvl5pPr>
              <a:defRPr sz="1333"/>
            </a:lvl5pPr>
            <a:lvl6pPr>
              <a:defRPr sz="1333"/>
            </a:lvl6pPr>
            <a:lvl7pPr>
              <a:defRPr sz="1333"/>
            </a:lvl7pPr>
            <a:lvl8pPr>
              <a:defRPr sz="1333"/>
            </a:lvl8pPr>
            <a:lvl9pPr>
              <a:defRPr sz="1333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04800" y="956734"/>
            <a:ext cx="2005542" cy="3127375"/>
          </a:xfrm>
        </p:spPr>
        <p:txBody>
          <a:bodyPr/>
          <a:lstStyle>
            <a:lvl1pPr marL="0" indent="0">
              <a:buNone/>
              <a:defRPr sz="933"/>
            </a:lvl1pPr>
            <a:lvl2pPr marL="304815" indent="0">
              <a:buNone/>
              <a:defRPr sz="800"/>
            </a:lvl2pPr>
            <a:lvl3pPr marL="609630" indent="0">
              <a:buNone/>
              <a:defRPr sz="667"/>
            </a:lvl3pPr>
            <a:lvl4pPr marL="914446" indent="0">
              <a:buNone/>
              <a:defRPr sz="600"/>
            </a:lvl4pPr>
            <a:lvl5pPr marL="1219261" indent="0">
              <a:buNone/>
              <a:defRPr sz="600"/>
            </a:lvl5pPr>
            <a:lvl6pPr marL="1524076" indent="0">
              <a:buNone/>
              <a:defRPr sz="600"/>
            </a:lvl6pPr>
            <a:lvl7pPr marL="1828891" indent="0">
              <a:buNone/>
              <a:defRPr sz="600"/>
            </a:lvl7pPr>
            <a:lvl8pPr marL="2133707" indent="0">
              <a:buNone/>
              <a:defRPr sz="600"/>
            </a:lvl8pPr>
            <a:lvl9pPr marL="2438522" indent="0">
              <a:buNone/>
              <a:defRPr sz="6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5/13/2025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7445532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94859" y="3200400"/>
            <a:ext cx="3657600" cy="377825"/>
          </a:xfrm>
        </p:spPr>
        <p:txBody>
          <a:bodyPr anchor="b"/>
          <a:lstStyle>
            <a:lvl1pPr algn="l">
              <a:defRPr sz="1333" b="1"/>
            </a:lvl1pPr>
          </a:lstStyle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194859" y="408517"/>
            <a:ext cx="3657600" cy="2743200"/>
          </a:xfrm>
        </p:spPr>
        <p:txBody>
          <a:bodyPr/>
          <a:lstStyle>
            <a:lvl1pPr marL="0" indent="0">
              <a:buNone/>
              <a:defRPr sz="2133"/>
            </a:lvl1pPr>
            <a:lvl2pPr marL="304815" indent="0">
              <a:buNone/>
              <a:defRPr sz="1867"/>
            </a:lvl2pPr>
            <a:lvl3pPr marL="609630" indent="0">
              <a:buNone/>
              <a:defRPr sz="1600"/>
            </a:lvl3pPr>
            <a:lvl4pPr marL="914446" indent="0">
              <a:buNone/>
              <a:defRPr sz="1333"/>
            </a:lvl4pPr>
            <a:lvl5pPr marL="1219261" indent="0">
              <a:buNone/>
              <a:defRPr sz="1333"/>
            </a:lvl5pPr>
            <a:lvl6pPr marL="1524076" indent="0">
              <a:buNone/>
              <a:defRPr sz="1333"/>
            </a:lvl6pPr>
            <a:lvl7pPr marL="1828891" indent="0">
              <a:buNone/>
              <a:defRPr sz="1333"/>
            </a:lvl7pPr>
            <a:lvl8pPr marL="2133707" indent="0">
              <a:buNone/>
              <a:defRPr sz="1333"/>
            </a:lvl8pPr>
            <a:lvl9pPr marL="2438522" indent="0">
              <a:buNone/>
              <a:defRPr sz="1333"/>
            </a:lvl9pPr>
          </a:lstStyle>
          <a:p>
            <a:r>
              <a:rPr lang="pt-BR"/>
              <a:t>Clique no ícone para adicionar uma imagem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94859" y="3578225"/>
            <a:ext cx="3657600" cy="536575"/>
          </a:xfrm>
        </p:spPr>
        <p:txBody>
          <a:bodyPr/>
          <a:lstStyle>
            <a:lvl1pPr marL="0" indent="0">
              <a:buNone/>
              <a:defRPr sz="933"/>
            </a:lvl1pPr>
            <a:lvl2pPr marL="304815" indent="0">
              <a:buNone/>
              <a:defRPr sz="800"/>
            </a:lvl2pPr>
            <a:lvl3pPr marL="609630" indent="0">
              <a:buNone/>
              <a:defRPr sz="667"/>
            </a:lvl3pPr>
            <a:lvl4pPr marL="914446" indent="0">
              <a:buNone/>
              <a:defRPr sz="600"/>
            </a:lvl4pPr>
            <a:lvl5pPr marL="1219261" indent="0">
              <a:buNone/>
              <a:defRPr sz="600"/>
            </a:lvl5pPr>
            <a:lvl6pPr marL="1524076" indent="0">
              <a:buNone/>
              <a:defRPr sz="600"/>
            </a:lvl6pPr>
            <a:lvl7pPr marL="1828891" indent="0">
              <a:buNone/>
              <a:defRPr sz="600"/>
            </a:lvl7pPr>
            <a:lvl8pPr marL="2133707" indent="0">
              <a:buNone/>
              <a:defRPr sz="600"/>
            </a:lvl8pPr>
            <a:lvl9pPr marL="2438522" indent="0">
              <a:buNone/>
              <a:defRPr sz="6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5/13/2025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7707649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5901709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419600" y="183092"/>
            <a:ext cx="1371600" cy="3901017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04800" y="183092"/>
            <a:ext cx="4013200" cy="3901017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555827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E69A0273-1966-4A1B-9370-4C1CE50363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3B9CF87A-0448-49A7-AB25-EBC1D56A40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2EF7B1F2-BB5A-44D0-816D-16AD2C71430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289F7E-B80B-496E-81B4-D396C37C9454}" type="datetimeFigureOut">
              <a:rPr lang="pt-BR" smtClean="0"/>
              <a:t>13/05/2025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703F94C-2CC8-4DAA-BC35-14FC3E841D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4051336-7048-457A-8B61-D94291D7164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362929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04800" y="183092"/>
            <a:ext cx="5486400" cy="762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04800" y="1066800"/>
            <a:ext cx="5486400" cy="301730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04800" y="4237567"/>
            <a:ext cx="1422400" cy="2434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5/13/2025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082800" y="4237567"/>
            <a:ext cx="1930400" cy="2434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368800" y="4237567"/>
            <a:ext cx="1422400" cy="2434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91102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ctr" defTabSz="609630" rtl="0" eaLnBrk="1" latinLnBrk="0" hangingPunct="1">
        <a:spcBef>
          <a:spcPct val="0"/>
        </a:spcBef>
        <a:buNone/>
        <a:defRPr sz="2933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11" indent="-228611" algn="l" defTabSz="609630" rtl="0" eaLnBrk="1" latinLnBrk="0" hangingPunct="1">
        <a:spcBef>
          <a:spcPct val="20000"/>
        </a:spcBef>
        <a:buFont typeface="Arial" pitchFamily="34" charset="0"/>
        <a:buChar char="•"/>
        <a:defRPr sz="2133" kern="1200">
          <a:solidFill>
            <a:schemeClr val="tx1"/>
          </a:solidFill>
          <a:latin typeface="+mn-lt"/>
          <a:ea typeface="+mn-ea"/>
          <a:cs typeface="+mn-cs"/>
        </a:defRPr>
      </a:lvl1pPr>
      <a:lvl2pPr marL="495325" indent="-190510" algn="l" defTabSz="609630" rtl="0" eaLnBrk="1" latinLnBrk="0" hangingPunct="1">
        <a:spcBef>
          <a:spcPct val="20000"/>
        </a:spcBef>
        <a:buFont typeface="Arial" pitchFamily="34" charset="0"/>
        <a:buChar char="–"/>
        <a:defRPr sz="1867" kern="1200">
          <a:solidFill>
            <a:schemeClr val="tx1"/>
          </a:solidFill>
          <a:latin typeface="+mn-lt"/>
          <a:ea typeface="+mn-ea"/>
          <a:cs typeface="+mn-cs"/>
        </a:defRPr>
      </a:lvl2pPr>
      <a:lvl3pPr marL="762038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066853" indent="-152408" algn="l" defTabSz="609630" rtl="0" eaLnBrk="1" latinLnBrk="0" hangingPunct="1">
        <a:spcBef>
          <a:spcPct val="20000"/>
        </a:spcBef>
        <a:buFont typeface="Arial" pitchFamily="34" charset="0"/>
        <a:buChar char="–"/>
        <a:defRPr sz="1333" kern="1200">
          <a:solidFill>
            <a:schemeClr val="tx1"/>
          </a:solidFill>
          <a:latin typeface="+mn-lt"/>
          <a:ea typeface="+mn-ea"/>
          <a:cs typeface="+mn-cs"/>
        </a:defRPr>
      </a:lvl4pPr>
      <a:lvl5pPr marL="1371669" indent="-152408" algn="l" defTabSz="609630" rtl="0" eaLnBrk="1" latinLnBrk="0" hangingPunct="1">
        <a:spcBef>
          <a:spcPct val="20000"/>
        </a:spcBef>
        <a:buFont typeface="Arial" pitchFamily="34" charset="0"/>
        <a:buChar char="»"/>
        <a:defRPr sz="1333" kern="1200">
          <a:solidFill>
            <a:schemeClr val="tx1"/>
          </a:solidFill>
          <a:latin typeface="+mn-lt"/>
          <a:ea typeface="+mn-ea"/>
          <a:cs typeface="+mn-cs"/>
        </a:defRPr>
      </a:lvl5pPr>
      <a:lvl6pPr marL="1676484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333" kern="1200">
          <a:solidFill>
            <a:schemeClr val="tx1"/>
          </a:solidFill>
          <a:latin typeface="+mn-lt"/>
          <a:ea typeface="+mn-ea"/>
          <a:cs typeface="+mn-cs"/>
        </a:defRPr>
      </a:lvl6pPr>
      <a:lvl7pPr marL="1981299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333" kern="1200">
          <a:solidFill>
            <a:schemeClr val="tx1"/>
          </a:solidFill>
          <a:latin typeface="+mn-lt"/>
          <a:ea typeface="+mn-ea"/>
          <a:cs typeface="+mn-cs"/>
        </a:defRPr>
      </a:lvl7pPr>
      <a:lvl8pPr marL="2286114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333" kern="1200">
          <a:solidFill>
            <a:schemeClr val="tx1"/>
          </a:solidFill>
          <a:latin typeface="+mn-lt"/>
          <a:ea typeface="+mn-ea"/>
          <a:cs typeface="+mn-cs"/>
        </a:defRPr>
      </a:lvl8pPr>
      <a:lvl9pPr marL="2590930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33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1pPr>
      <a:lvl2pPr marL="304815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2pPr>
      <a:lvl3pPr marL="609630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3pPr>
      <a:lvl4pPr marL="914446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1219261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1524076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6pPr>
      <a:lvl7pPr marL="1828891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2133707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8pPr>
      <a:lvl9pPr marL="2438522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jpe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6.jpeg"/><Relationship Id="rId4" Type="http://schemas.openxmlformats.org/officeDocument/2006/relationships/image" Target="../media/image5.jpe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9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0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1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4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5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6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9.jpe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23.jpeg"/><Relationship Id="rId4" Type="http://schemas.openxmlformats.org/officeDocument/2006/relationships/image" Target="../media/image22.jpe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24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3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27.jpe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3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3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63783" y="819807"/>
            <a:ext cx="9772072" cy="2690156"/>
          </a:xfrm>
        </p:spPr>
        <p:txBody>
          <a:bodyPr>
            <a:normAutofit/>
          </a:bodyPr>
          <a:lstStyle/>
          <a:p>
            <a:r>
              <a:rPr lang="pt-BR" sz="5400" dirty="0"/>
              <a:t>TP557 - Tópicos avançados em IoT e </a:t>
            </a:r>
            <a:r>
              <a:rPr lang="pt-BR" sz="5400" dirty="0" err="1"/>
              <a:t>Machine</a:t>
            </a:r>
            <a:r>
              <a:rPr lang="pt-BR" sz="5400" dirty="0"/>
              <a:t> Learning:</a:t>
            </a:r>
            <a:br>
              <a:rPr lang="pt-BR" dirty="0"/>
            </a:br>
            <a:r>
              <a:rPr lang="pt-BR" b="1" i="1" dirty="0"/>
              <a:t>Detecção de anomalias</a:t>
            </a:r>
          </a:p>
        </p:txBody>
      </p:sp>
      <p:pic>
        <p:nvPicPr>
          <p:cNvPr id="1026" name="Picture 2" descr="Logo">
            <a:extLst>
              <a:ext uri="{FF2B5EF4-FFF2-40B4-BE49-F238E27FC236}">
                <a16:creationId xmlns:a16="http://schemas.microsoft.com/office/drawing/2014/main" id="{3F2642E0-4F6A-4196-8F58-E77D36E9A33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759" b="28872"/>
          <a:stretch/>
        </p:blipFill>
        <p:spPr bwMode="auto">
          <a:xfrm>
            <a:off x="393306" y="5780602"/>
            <a:ext cx="2261388" cy="677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2" name="Picture 2" descr="Image result for machine learning">
            <a:extLst>
              <a:ext uri="{FF2B5EF4-FFF2-40B4-BE49-F238E27FC236}">
                <a16:creationId xmlns:a16="http://schemas.microsoft.com/office/drawing/2014/main" id="{810CE0A2-4102-44A6-A370-175E7896CDC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193" t="8107" r="14530" b="5794"/>
          <a:stretch/>
        </p:blipFill>
        <p:spPr bwMode="auto">
          <a:xfrm>
            <a:off x="6785107" y="3429000"/>
            <a:ext cx="2261389" cy="22370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" descr="IoT Group">
            <a:extLst>
              <a:ext uri="{FF2B5EF4-FFF2-40B4-BE49-F238E27FC236}">
                <a16:creationId xmlns:a16="http://schemas.microsoft.com/office/drawing/2014/main" id="{AC034F57-E830-B6E7-6790-12FDBBDB297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" r="63551" b="22561"/>
          <a:stretch/>
        </p:blipFill>
        <p:spPr bwMode="auto">
          <a:xfrm>
            <a:off x="2899985" y="3509963"/>
            <a:ext cx="2509138" cy="20099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CaixaDeTexto 4">
            <a:extLst>
              <a:ext uri="{FF2B5EF4-FFF2-40B4-BE49-F238E27FC236}">
                <a16:creationId xmlns:a16="http://schemas.microsoft.com/office/drawing/2014/main" id="{2D82026D-D2EA-05D7-61F2-DEE04704DB7E}"/>
              </a:ext>
            </a:extLst>
          </p:cNvPr>
          <p:cNvSpPr txBox="1"/>
          <p:nvPr/>
        </p:nvSpPr>
        <p:spPr>
          <a:xfrm>
            <a:off x="8068201" y="5933002"/>
            <a:ext cx="4004345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/>
              <a:t>Samuel Baraldi Mafra</a:t>
            </a:r>
          </a:p>
          <a:p>
            <a:r>
              <a:rPr lang="pt-BR" dirty="0"/>
              <a:t>samuelbmafra@inatel.br</a:t>
            </a:r>
          </a:p>
        </p:txBody>
      </p:sp>
    </p:spTree>
    <p:extLst>
      <p:ext uri="{BB962C8B-B14F-4D97-AF65-F5344CB8AC3E}">
        <p14:creationId xmlns:p14="http://schemas.microsoft.com/office/powerpoint/2010/main" val="6866526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Aprendizado não-supervisionado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5F1B432F-F570-AEC0-CFFF-C1D9196D72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785131" cy="4713889"/>
          </a:xfrm>
        </p:spPr>
        <p:txBody>
          <a:bodyPr>
            <a:normAutofit/>
          </a:bodyPr>
          <a:lstStyle/>
          <a:p>
            <a:r>
              <a:rPr lang="pt-BR" dirty="0"/>
              <a:t>Diferentemente do aprendizado supervisionado, no aprendizado não-supervisionado, não existem rótulos.</a:t>
            </a:r>
          </a:p>
          <a:p>
            <a:r>
              <a:rPr lang="pt-BR" dirty="0"/>
              <a:t>Esses algoritmos descobrem padrões ocultos ou agrupamentos de dados sem a necessidade de rótulos.</a:t>
            </a:r>
          </a:p>
          <a:p>
            <a:r>
              <a:rPr lang="pt-BR" dirty="0"/>
              <a:t>São usados em problemas de</a:t>
            </a:r>
          </a:p>
          <a:p>
            <a:pPr lvl="1"/>
            <a:r>
              <a:rPr lang="pt-BR" dirty="0"/>
              <a:t>Segmentação</a:t>
            </a:r>
          </a:p>
          <a:p>
            <a:pPr lvl="1"/>
            <a:r>
              <a:rPr lang="pt-BR" dirty="0"/>
              <a:t>Agrupamento</a:t>
            </a:r>
          </a:p>
          <a:p>
            <a:pPr lvl="1"/>
            <a:r>
              <a:rPr lang="pt-BR" dirty="0"/>
              <a:t>Redução de dimensionalidade</a:t>
            </a:r>
          </a:p>
          <a:p>
            <a:pPr lvl="1"/>
            <a:r>
              <a:rPr lang="pt-BR" b="1" i="1" dirty="0">
                <a:solidFill>
                  <a:srgbClr val="FF0000"/>
                </a:solidFill>
              </a:rPr>
              <a:t>Detecção de anomalias</a:t>
            </a:r>
          </a:p>
        </p:txBody>
      </p:sp>
    </p:spTree>
    <p:extLst>
      <p:ext uri="{BB962C8B-B14F-4D97-AF65-F5344CB8AC3E}">
        <p14:creationId xmlns:p14="http://schemas.microsoft.com/office/powerpoint/2010/main" val="168152605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8734097" cy="7620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pt-BR" dirty="0"/>
              <a:t>Aprendizado supervisionado versus não supervisionado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5F1B432F-F570-AEC0-CFFF-C1D9196D72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1"/>
            <a:ext cx="9810044" cy="2737556"/>
          </a:xfrm>
        </p:spPr>
        <p:txBody>
          <a:bodyPr/>
          <a:lstStyle/>
          <a:p>
            <a:pPr marL="0" indent="0">
              <a:buNone/>
            </a:pPr>
            <a:endParaRPr lang="pt-BR" dirty="0"/>
          </a:p>
          <a:p>
            <a:pPr marL="0" indent="0">
              <a:buNone/>
            </a:pPr>
            <a:endParaRPr lang="pt-BR" dirty="0"/>
          </a:p>
        </p:txBody>
      </p:sp>
      <p:pic>
        <p:nvPicPr>
          <p:cNvPr id="3074" name="Picture 2" descr="Unsupervised machine learning">
            <a:extLst>
              <a:ext uri="{FF2B5EF4-FFF2-40B4-BE49-F238E27FC236}">
                <a16:creationId xmlns:a16="http://schemas.microsoft.com/office/drawing/2014/main" id="{9C9BB3FA-B234-195B-6E78-1F5F1A0B5DD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67089" y="4424868"/>
            <a:ext cx="6371808" cy="24331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6" name="Picture 4" descr="Supervised machine learning">
            <a:extLst>
              <a:ext uri="{FF2B5EF4-FFF2-40B4-BE49-F238E27FC236}">
                <a16:creationId xmlns:a16="http://schemas.microsoft.com/office/drawing/2014/main" id="{85D641D0-2AF2-0E0D-20E1-BE0FB83D483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67089" y="945092"/>
            <a:ext cx="5787974" cy="27375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94012573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Clusterização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5F1B432F-F570-AEC0-CFFF-C1D9196D72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799" y="1066801"/>
            <a:ext cx="10100441" cy="2737556"/>
          </a:xfrm>
        </p:spPr>
        <p:txBody>
          <a:bodyPr>
            <a:normAutofit/>
          </a:bodyPr>
          <a:lstStyle/>
          <a:p>
            <a:r>
              <a:rPr lang="pt-BR" dirty="0"/>
              <a:t>A forma mais simples e conhecida de aprendizado não-supervisionado é a clusterização ou agrupamento.</a:t>
            </a:r>
          </a:p>
          <a:p>
            <a:r>
              <a:rPr lang="pt-BR" dirty="0"/>
              <a:t>O objetivo do agrupamento é dividir os dados em vários grupos ou clusters, de modo que os pontos de dados dentro de cada grupo sejam mais comparáveis ​​entre si e diferentes dos pontos de dados dentro dos outros grupos.</a:t>
            </a:r>
          </a:p>
          <a:p>
            <a:r>
              <a:rPr lang="pt-BR" dirty="0"/>
              <a:t> É essencialmente um agrupamento de coisas com base em quão semelhantes (ou próximos) e diferentes elas são entre si. </a:t>
            </a:r>
          </a:p>
          <a:p>
            <a:pPr marL="0" indent="0">
              <a:buNone/>
            </a:pPr>
            <a:endParaRPr lang="pt-BR" dirty="0"/>
          </a:p>
        </p:txBody>
      </p:sp>
      <p:pic>
        <p:nvPicPr>
          <p:cNvPr id="4098" name="Picture 2" descr="What is K-means Clustering and it's use cases ? | by Avijit das | Medium">
            <a:extLst>
              <a:ext uri="{FF2B5EF4-FFF2-40B4-BE49-F238E27FC236}">
                <a16:creationId xmlns:a16="http://schemas.microsoft.com/office/drawing/2014/main" id="{056C7919-93FD-E63C-B36E-CC710CDD604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29830" y="3804357"/>
            <a:ext cx="6272390" cy="26541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1218070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K-</a:t>
            </a:r>
            <a:r>
              <a:rPr lang="pt-BR" dirty="0" err="1"/>
              <a:t>means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5F1B432F-F570-AEC0-CFFF-C1D9196D72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1"/>
            <a:ext cx="9810044" cy="2737556"/>
          </a:xfrm>
        </p:spPr>
        <p:txBody>
          <a:bodyPr>
            <a:normAutofit/>
          </a:bodyPr>
          <a:lstStyle/>
          <a:p>
            <a:r>
              <a:rPr lang="pt-BR" dirty="0"/>
              <a:t>O algoritmo de clusterização mais conhecido é o K-</a:t>
            </a:r>
            <a:r>
              <a:rPr lang="pt-BR" dirty="0" err="1"/>
              <a:t>means</a:t>
            </a:r>
            <a:r>
              <a:rPr lang="pt-BR" dirty="0"/>
              <a:t>.</a:t>
            </a:r>
          </a:p>
          <a:p>
            <a:r>
              <a:rPr lang="pt-BR" dirty="0"/>
              <a:t>O objetivo do K-</a:t>
            </a:r>
            <a:r>
              <a:rPr lang="pt-BR" dirty="0" err="1"/>
              <a:t>means</a:t>
            </a:r>
            <a:r>
              <a:rPr lang="pt-BR" dirty="0"/>
              <a:t> é simples: agrupar pontos de dados semelhantes e descobrir padrões subjacentes.</a:t>
            </a:r>
          </a:p>
          <a:p>
            <a:pPr lvl="1"/>
            <a:r>
              <a:rPr lang="pt-BR" dirty="0"/>
              <a:t>Semelhante aqui é no sentido de proximidade.</a:t>
            </a:r>
          </a:p>
          <a:p>
            <a:r>
              <a:rPr lang="pt-BR" dirty="0"/>
              <a:t>Para atingir este objetivo, o K-</a:t>
            </a:r>
            <a:r>
              <a:rPr lang="pt-BR" dirty="0" err="1"/>
              <a:t>means</a:t>
            </a:r>
            <a:r>
              <a:rPr lang="pt-BR" dirty="0"/>
              <a:t> procura um número fixo (k) de clusters em um conjunto de dados.</a:t>
            </a:r>
          </a:p>
          <a:p>
            <a:pPr marL="0" indent="0">
              <a:buNone/>
            </a:pPr>
            <a:endParaRPr lang="pt-BR" dirty="0"/>
          </a:p>
        </p:txBody>
      </p:sp>
      <p:pic>
        <p:nvPicPr>
          <p:cNvPr id="4098" name="Picture 2" descr="K-Means Clustering Algorithm - Javatpoint">
            <a:extLst>
              <a:ext uri="{FF2B5EF4-FFF2-40B4-BE49-F238E27FC236}">
                <a16:creationId xmlns:a16="http://schemas.microsoft.com/office/drawing/2014/main" id="{45592E60-7087-AC09-6FA1-B6EBEB4488E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32326" y="3327400"/>
            <a:ext cx="5343525" cy="26955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64244389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K-</a:t>
            </a:r>
            <a:r>
              <a:rPr lang="pt-BR" dirty="0" err="1"/>
              <a:t>means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5F1B432F-F570-AEC0-CFFF-C1D9196D72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1"/>
            <a:ext cx="9810044" cy="5588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pt-BR" dirty="0"/>
              <a:t>K-</a:t>
            </a:r>
            <a:r>
              <a:rPr lang="pt-BR" dirty="0" err="1"/>
              <a:t>means</a:t>
            </a:r>
            <a:r>
              <a:rPr lang="pt-BR" sz="3000" dirty="0"/>
              <a:t> </a:t>
            </a:r>
            <a:r>
              <a:rPr lang="pt-BR" dirty="0" err="1"/>
              <a:t>pseudo-código</a:t>
            </a:r>
            <a:endParaRPr lang="pt-BR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A60E2CD0-3AFD-013C-16CC-B158E81DC1CA}"/>
                  </a:ext>
                </a:extLst>
              </p:cNvPr>
              <p:cNvSpPr txBox="1"/>
              <p:nvPr/>
            </p:nvSpPr>
            <p:spPr>
              <a:xfrm>
                <a:off x="1221786" y="2204015"/>
                <a:ext cx="9545228" cy="2246769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pt-BR" sz="2000" b="1" dirty="0"/>
                  <a:t>Entradas</a:t>
                </a:r>
                <a:r>
                  <a:rPr lang="pt-BR" sz="2000" dirty="0"/>
                  <a:t>: conjunto de exemplos e número de clusters, </a:t>
                </a:r>
                <a14:m>
                  <m:oMath xmlns:m="http://schemas.openxmlformats.org/officeDocument/2006/math">
                    <m:r>
                      <a:rPr lang="pt-BR" sz="2000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pt-BR" sz="2000" dirty="0"/>
                  <a:t>. </a:t>
                </a:r>
                <a:endParaRPr lang="pt-BR" sz="2000" b="1" dirty="0"/>
              </a:p>
              <a:p>
                <a:pPr marL="342900" indent="-342900">
                  <a:buFont typeface="+mj-lt"/>
                  <a:buAutoNum type="arabicPeriod"/>
                </a:pPr>
                <a:r>
                  <a:rPr lang="pt-BR" sz="2000" b="1" dirty="0"/>
                  <a:t>Defina</a:t>
                </a:r>
                <a:r>
                  <a:rPr lang="pt-BR" sz="2000" dirty="0"/>
                  <a:t> </a:t>
                </a:r>
                <a14:m>
                  <m:oMath xmlns:m="http://schemas.openxmlformats.org/officeDocument/2006/math">
                    <m:r>
                      <a:rPr lang="pt-BR" sz="2000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pt-BR" sz="2000" dirty="0"/>
                  <a:t> centroides iniciais (geralmente, feito de forma aleatória).</a:t>
                </a:r>
              </a:p>
              <a:p>
                <a:pPr marL="342900" indent="-342900">
                  <a:buFont typeface="+mj-lt"/>
                  <a:buAutoNum type="arabicPeriod"/>
                </a:pPr>
                <a:r>
                  <a:rPr lang="pt-BR" sz="2000" b="1" dirty="0"/>
                  <a:t>Repita</a:t>
                </a:r>
              </a:p>
              <a:p>
                <a:pPr marL="800100" lvl="1" indent="-342900">
                  <a:buFont typeface="+mj-lt"/>
                  <a:buAutoNum type="alphaLcParenR"/>
                </a:pPr>
                <a:r>
                  <a:rPr lang="pt-BR" sz="2000" dirty="0"/>
                  <a:t>Calcule a distância de cada exemplo, </a:t>
                </a:r>
                <a14:m>
                  <m:oMath xmlns:m="http://schemas.openxmlformats.org/officeDocument/2006/math">
                    <m:r>
                      <a:rPr lang="pt-BR" sz="2000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sz="2000" b="1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pt-BR" sz="2000" b="1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pt-BR" sz="2000" dirty="0"/>
                  <a:t>para cada um dos </a:t>
                </a:r>
                <a14:m>
                  <m:oMath xmlns:m="http://schemas.openxmlformats.org/officeDocument/2006/math">
                    <m:r>
                      <a:rPr lang="pt-BR" sz="2000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pt-BR" sz="2000" dirty="0"/>
                  <a:t> centroides e atribua cada exemplo ao cluster mais próximo.</a:t>
                </a:r>
              </a:p>
              <a:p>
                <a:pPr marL="800100" lvl="1" indent="-342900">
                  <a:buFont typeface="+mj-lt"/>
                  <a:buAutoNum type="alphaLcParenR"/>
                </a:pPr>
                <a:r>
                  <a:rPr lang="pt-BR" sz="2000" dirty="0"/>
                  <a:t>Calcule o novo centroide de cada cluster.</a:t>
                </a:r>
              </a:p>
              <a:p>
                <a:pPr marL="342900" indent="-342900">
                  <a:buFont typeface="+mj-lt"/>
                  <a:buAutoNum type="arabicPeriod"/>
                </a:pPr>
                <a:r>
                  <a:rPr lang="pt-BR" sz="2000" b="1" dirty="0"/>
                  <a:t>Enquanto </a:t>
                </a:r>
                <a:r>
                  <a:rPr lang="pt-BR" sz="2000" dirty="0"/>
                  <a:t>as posições dos centroides continuarem mudando.</a:t>
                </a: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A60E2CD0-3AFD-013C-16CC-B158E81DC1C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21786" y="2204015"/>
                <a:ext cx="9545228" cy="2246769"/>
              </a:xfrm>
              <a:prstGeom prst="rect">
                <a:avLst/>
              </a:prstGeom>
              <a:blipFill>
                <a:blip r:embed="rId4"/>
                <a:stretch>
                  <a:fillRect l="-638" t="-1351" b="-3784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960741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A1FE513-AB4A-132F-B33C-C1A69C4E90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5BC5611-534A-CB77-C071-F477937D3B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K-</a:t>
            </a:r>
            <a:r>
              <a:rPr lang="pt-BR" dirty="0" err="1"/>
              <a:t>means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7E7F13EA-3BD1-43C2-79EA-B881793AD8A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A0891BC2-FEAE-19E7-B671-ECE0FACC07C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747C2E78-E437-28C4-0BAF-D2D2AC1C96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1"/>
            <a:ext cx="9810044" cy="5588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pt-BR" dirty="0"/>
              <a:t>Funcionamento do K-</a:t>
            </a:r>
            <a:r>
              <a:rPr lang="pt-BR" dirty="0" err="1"/>
              <a:t>means</a:t>
            </a:r>
            <a:endParaRPr lang="pt-BR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98B536F-38AB-58C5-0FFB-41BDB557E9E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36422" y="1856677"/>
            <a:ext cx="6315956" cy="5001323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04EA9FAE-D371-68E0-2CB7-9C8893491B3B}"/>
              </a:ext>
            </a:extLst>
          </p:cNvPr>
          <p:cNvSpPr txBox="1"/>
          <p:nvPr/>
        </p:nvSpPr>
        <p:spPr>
          <a:xfrm>
            <a:off x="303430" y="2475186"/>
            <a:ext cx="25329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/>
              <a:t>1. Define-se o número de clusters, K = 3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1034705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86C6B89-4D49-2EC0-F063-638BD69354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81115AF-9415-9558-8D7C-7CA5F9E9ED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K-</a:t>
            </a:r>
            <a:r>
              <a:rPr lang="pt-BR" dirty="0" err="1"/>
              <a:t>means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55584ECE-67DE-1FFA-9FE4-D3C3D4136411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A9D0FB6C-59DD-7620-EBAF-21BB030E5B51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EC6F58C6-8849-231E-3B12-60D9682EF4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1"/>
            <a:ext cx="9810044" cy="5588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pt-BR" dirty="0"/>
              <a:t>Funcionamento do K-</a:t>
            </a:r>
            <a:r>
              <a:rPr lang="pt-BR" dirty="0" err="1"/>
              <a:t>means</a:t>
            </a:r>
            <a:endParaRPr lang="pt-BR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9F3FE92-0D0B-AECE-B64E-FC9D2F3EADB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66601" y="1913835"/>
            <a:ext cx="6258798" cy="4944165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5D947541-89EC-69EF-1918-6EFD56E0B3C2}"/>
              </a:ext>
            </a:extLst>
          </p:cNvPr>
          <p:cNvSpPr txBox="1"/>
          <p:nvPr/>
        </p:nvSpPr>
        <p:spPr>
          <a:xfrm>
            <a:off x="65746" y="2490952"/>
            <a:ext cx="290085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2. </a:t>
            </a:r>
            <a:r>
              <a:rPr lang="en-US" dirty="0" err="1"/>
              <a:t>Escolhe</a:t>
            </a:r>
            <a:r>
              <a:rPr lang="en-US" dirty="0"/>
              <a:t>-se </a:t>
            </a:r>
            <a:r>
              <a:rPr lang="en-US" dirty="0" err="1"/>
              <a:t>os</a:t>
            </a:r>
            <a:r>
              <a:rPr lang="en-US" dirty="0"/>
              <a:t> </a:t>
            </a:r>
            <a:r>
              <a:rPr lang="en-US" dirty="0" err="1"/>
              <a:t>centroides</a:t>
            </a:r>
            <a:r>
              <a:rPr lang="en-US" dirty="0"/>
              <a:t> para </a:t>
            </a:r>
            <a:r>
              <a:rPr lang="en-US" dirty="0" err="1"/>
              <a:t>cada</a:t>
            </a:r>
            <a:r>
              <a:rPr lang="en-US" dirty="0"/>
              <a:t> cluster de forma </a:t>
            </a:r>
            <a:r>
              <a:rPr lang="en-US" dirty="0" err="1"/>
              <a:t>aleatória</a:t>
            </a: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15937735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2119100-E668-77C4-3183-771B95B265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EBCA554-D396-DCCB-4744-F3695D6FD5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K-</a:t>
            </a:r>
            <a:r>
              <a:rPr lang="pt-BR" dirty="0" err="1"/>
              <a:t>means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3380BF6D-7A0A-C11E-50C6-1F567BA3A3D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52BFF569-F440-2D60-8296-D8243B2988E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E0298857-CD80-B8D1-6E62-55E6C3A64A4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1"/>
            <a:ext cx="9810044" cy="5588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pt-BR" dirty="0"/>
              <a:t>Funcionamento do K-</a:t>
            </a:r>
            <a:r>
              <a:rPr lang="pt-BR" dirty="0" err="1"/>
              <a:t>means</a:t>
            </a:r>
            <a:endParaRPr lang="pt-BR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C0684BB-EFF7-DBA8-3519-25CE2A1A963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61837" y="1885256"/>
            <a:ext cx="6268325" cy="4972744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38267D7C-379A-003E-4048-8D4DDD969EB6}"/>
              </a:ext>
            </a:extLst>
          </p:cNvPr>
          <p:cNvSpPr txBox="1"/>
          <p:nvPr/>
        </p:nvSpPr>
        <p:spPr>
          <a:xfrm>
            <a:off x="101600" y="2865735"/>
            <a:ext cx="265211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b="0" i="0" dirty="0">
                <a:solidFill>
                  <a:srgbClr val="404040"/>
                </a:solidFill>
                <a:effectLst/>
              </a:rPr>
              <a:t>3. Atribui-se cada amostra ao </a:t>
            </a:r>
            <a:r>
              <a:rPr lang="pt-BR" b="0" i="0" dirty="0" err="1">
                <a:solidFill>
                  <a:srgbClr val="404040"/>
                </a:solidFill>
                <a:effectLst/>
              </a:rPr>
              <a:t>centróide</a:t>
            </a:r>
            <a:r>
              <a:rPr lang="pt-BR" b="0" i="0" dirty="0">
                <a:solidFill>
                  <a:srgbClr val="404040"/>
                </a:solidFill>
                <a:effectLst/>
              </a:rPr>
              <a:t> mais próximo com base na distância euclidiana.</a:t>
            </a:r>
            <a:br>
              <a:rPr lang="pt-BR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4111790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F378FD1-DBF4-DCA8-F1BC-B3E89729AA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7002D84-8C44-E80A-6CE1-1C285A07DF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K-</a:t>
            </a:r>
            <a:r>
              <a:rPr lang="pt-BR" dirty="0" err="1"/>
              <a:t>means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3E14BFEB-7725-6B4D-C589-A43632C9800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DDC94C5F-D329-0D03-2D55-303CAEA46575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C330112-2C2B-538C-EFFC-0C5273ED92D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1"/>
            <a:ext cx="9810044" cy="5588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pt-BR" dirty="0"/>
              <a:t>Funcionamento do K-</a:t>
            </a:r>
            <a:r>
              <a:rPr lang="pt-BR" dirty="0" err="1"/>
              <a:t>means</a:t>
            </a:r>
            <a:endParaRPr lang="pt-BR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4A874BBD-11DB-833A-341F-F134DDD1110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57074" y="1913835"/>
            <a:ext cx="6277851" cy="4944165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FB63ADD3-D956-76C5-F130-F38465877D67}"/>
              </a:ext>
            </a:extLst>
          </p:cNvPr>
          <p:cNvSpPr txBox="1"/>
          <p:nvPr/>
        </p:nvSpPr>
        <p:spPr>
          <a:xfrm>
            <a:off x="101600" y="2577501"/>
            <a:ext cx="299895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b="0" i="0" dirty="0">
                <a:solidFill>
                  <a:srgbClr val="404040"/>
                </a:solidFill>
                <a:effectLst/>
              </a:rPr>
              <a:t>4. Recalcula-se o centroide do clusters.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8264061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BB75298-302A-6135-F195-096473EDA4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7828DF8-D69B-BFFF-D2B4-A925DD4371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K-</a:t>
            </a:r>
            <a:r>
              <a:rPr lang="pt-BR" dirty="0" err="1"/>
              <a:t>means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A4C3F9D2-0307-0450-4E41-55D3298E641B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A5277E26-0B39-A36B-7447-436FDC3E025E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83702F57-B420-BA92-57FC-CDEAF0E0463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1"/>
            <a:ext cx="9810044" cy="5588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pt-BR" dirty="0"/>
              <a:t>Funcionamento do K-</a:t>
            </a:r>
            <a:r>
              <a:rPr lang="pt-BR" dirty="0" err="1"/>
              <a:t>means</a:t>
            </a:r>
            <a:endParaRPr lang="pt-BR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E9E2474-44BE-43D0-EE2F-D03349050DA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36422" y="1913835"/>
            <a:ext cx="6315956" cy="4944165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E7FEC406-7A7E-5D78-DF69-D2416A2375C3}"/>
              </a:ext>
            </a:extLst>
          </p:cNvPr>
          <p:cNvSpPr txBox="1"/>
          <p:nvPr/>
        </p:nvSpPr>
        <p:spPr>
          <a:xfrm>
            <a:off x="304800" y="2629284"/>
            <a:ext cx="253162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b="0" i="0" dirty="0">
                <a:solidFill>
                  <a:srgbClr val="404040"/>
                </a:solidFill>
                <a:effectLst/>
              </a:rPr>
              <a:t>5. Repete-se os passos 3 e 4.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9114519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49972DB-1A29-C878-AC52-B084A233C6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23F31A0-EB34-A3FB-D3AD-8E88098E62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K-</a:t>
            </a:r>
            <a:r>
              <a:rPr lang="pt-BR" dirty="0" err="1"/>
              <a:t>means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A22086E9-56E3-EC28-E48A-9069376FF07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E1A13779-07EA-5350-121F-C4141832B95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B461F4C5-B5F4-E3F6-B686-4C94C38803D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1"/>
            <a:ext cx="9810044" cy="5588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pt-BR" dirty="0"/>
              <a:t>Funcionamento do K-</a:t>
            </a:r>
            <a:r>
              <a:rPr lang="pt-BR" dirty="0" err="1"/>
              <a:t>means</a:t>
            </a:r>
            <a:endParaRPr lang="pt-BR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D544109-9098-CA3C-766B-DFEB05AE1F3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79290" y="1932888"/>
            <a:ext cx="6230219" cy="4925112"/>
          </a:xfrm>
          <a:prstGeom prst="rect">
            <a:avLst/>
          </a:prstGeom>
        </p:spPr>
      </p:pic>
      <p:sp>
        <p:nvSpPr>
          <p:cNvPr id="9" name="TextBox 9">
            <a:extLst>
              <a:ext uri="{FF2B5EF4-FFF2-40B4-BE49-F238E27FC236}">
                <a16:creationId xmlns:a16="http://schemas.microsoft.com/office/drawing/2014/main" id="{E7FEC406-7A7E-5D78-DF69-D2416A2375C3}"/>
              </a:ext>
            </a:extLst>
          </p:cNvPr>
          <p:cNvSpPr txBox="1"/>
          <p:nvPr/>
        </p:nvSpPr>
        <p:spPr>
          <a:xfrm>
            <a:off x="304800" y="2629284"/>
            <a:ext cx="253162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b="0" i="0" dirty="0">
                <a:solidFill>
                  <a:srgbClr val="404040"/>
                </a:solidFill>
                <a:effectLst/>
              </a:rPr>
              <a:t>5. Repete-se os passos 3 e 4.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2593731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9317B56-95CF-5EB4-1950-84D108AD8D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8642745-4759-3504-B537-1A643C2557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K-</a:t>
            </a:r>
            <a:r>
              <a:rPr lang="pt-BR" dirty="0" err="1"/>
              <a:t>means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84E44FE8-BA6E-9F6F-1997-0AD869D77E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21DB31B1-11EA-8016-35EE-14EA7345F531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63D17EBA-F020-2A71-B133-21937AD74F9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1"/>
            <a:ext cx="9810044" cy="5588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pt-BR" dirty="0"/>
              <a:t>Funcionamento do K-</a:t>
            </a:r>
            <a:r>
              <a:rPr lang="pt-BR" dirty="0" err="1"/>
              <a:t>means</a:t>
            </a:r>
            <a:endParaRPr lang="pt-BR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F08A47C-C93C-D40B-F5DC-3C29F2EEEE6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95180" y="1961467"/>
            <a:ext cx="6201640" cy="4896533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4376C1A9-3731-8BF9-861E-3D686FEA4F43}"/>
              </a:ext>
            </a:extLst>
          </p:cNvPr>
          <p:cNvSpPr txBox="1"/>
          <p:nvPr/>
        </p:nvSpPr>
        <p:spPr>
          <a:xfrm>
            <a:off x="141890" y="2629285"/>
            <a:ext cx="2954890" cy="3139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b="0" i="0" dirty="0">
                <a:solidFill>
                  <a:srgbClr val="404040"/>
                </a:solidFill>
                <a:effectLst/>
              </a:rPr>
              <a:t>Repete-se os passos 3-4</a:t>
            </a:r>
            <a:r>
              <a:rPr lang="pt-BR" dirty="0"/>
              <a:t> </a:t>
            </a:r>
            <a:r>
              <a:rPr lang="pt-BR" b="0" i="0" dirty="0">
                <a:solidFill>
                  <a:srgbClr val="404040"/>
                </a:solidFill>
                <a:effectLst/>
              </a:rPr>
              <a:t>até que um dos seguintes ocorra:</a:t>
            </a:r>
            <a:endParaRPr lang="pt-BR" dirty="0"/>
          </a:p>
          <a:p>
            <a:pPr marL="342900" indent="-342900">
              <a:buFont typeface="+mj-lt"/>
              <a:buAutoNum type="arabicPeriod"/>
            </a:pPr>
            <a:r>
              <a:rPr lang="pt-BR" b="0" i="0" dirty="0">
                <a:solidFill>
                  <a:srgbClr val="404040"/>
                </a:solidFill>
                <a:effectLst/>
              </a:rPr>
              <a:t>A soma das distâncias entre os pontos de dados e o centroide correspondente seja minimizada</a:t>
            </a:r>
            <a:endParaRPr lang="pt-BR" dirty="0"/>
          </a:p>
          <a:p>
            <a:pPr marL="342900" indent="-342900">
              <a:buFont typeface="+mj-lt"/>
              <a:buAutoNum type="arabicPeriod"/>
            </a:pPr>
            <a:r>
              <a:rPr lang="pt-BR" b="0" i="0" dirty="0">
                <a:solidFill>
                  <a:srgbClr val="404040"/>
                </a:solidFill>
                <a:effectLst/>
              </a:rPr>
              <a:t>Não haja alteração nos centroides</a:t>
            </a:r>
            <a:endParaRPr lang="pt-BR" dirty="0"/>
          </a:p>
          <a:p>
            <a:pPr marL="342900" indent="-342900">
              <a:buFont typeface="+mj-lt"/>
              <a:buAutoNum type="arabicPeriod"/>
            </a:pPr>
            <a:r>
              <a:rPr lang="pt-BR" b="0" i="0" dirty="0">
                <a:solidFill>
                  <a:srgbClr val="404040"/>
                </a:solidFill>
                <a:effectLst/>
              </a:rPr>
              <a:t>O número máximo de iterações seja atingido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9810028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/>
          <p:cNvPicPr>
            <a:picLocks noChangeAspect="1"/>
          </p:cNvPicPr>
          <p:nvPr/>
        </p:nvPicPr>
        <p:blipFill rotWithShape="1">
          <a:blip r:embed="rId4"/>
          <a:srcRect b="4339"/>
          <a:stretch/>
        </p:blipFill>
        <p:spPr>
          <a:xfrm>
            <a:off x="6484577" y="3172615"/>
            <a:ext cx="4460195" cy="2863583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Detecção de anomalias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1026" name="Picture 2" descr="Univariate Anomaly Detection | Anomaly Detection Algorithms">
            <a:extLst>
              <a:ext uri="{FF2B5EF4-FFF2-40B4-BE49-F238E27FC236}">
                <a16:creationId xmlns:a16="http://schemas.microsoft.com/office/drawing/2014/main" id="{D6FF8611-2758-C1DA-8FC6-10C7681C129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74574" y="3632200"/>
            <a:ext cx="3823026" cy="28568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5F1B432F-F570-AEC0-CFFF-C1D9196D72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1"/>
            <a:ext cx="10589172" cy="2737556"/>
          </a:xfrm>
        </p:spPr>
        <p:txBody>
          <a:bodyPr>
            <a:normAutofit/>
          </a:bodyPr>
          <a:lstStyle/>
          <a:p>
            <a:r>
              <a:rPr lang="pt-BR" dirty="0"/>
              <a:t>A detecção de anomalias é a identificação de itens, eventos ou observações raras que levantam suspeitas por diferirem significativamente da maioria dos dados.</a:t>
            </a:r>
          </a:p>
          <a:p>
            <a:r>
              <a:rPr lang="pt-BR" dirty="0"/>
              <a:t>Exemplos</a:t>
            </a:r>
          </a:p>
          <a:p>
            <a:pPr lvl="1"/>
            <a:r>
              <a:rPr lang="pt-BR" dirty="0"/>
              <a:t>Detecção de spam</a:t>
            </a:r>
          </a:p>
          <a:p>
            <a:pPr lvl="1"/>
            <a:r>
              <a:rPr lang="pt-BR" dirty="0"/>
              <a:t>Detecção de fraude de cartão de crédito</a:t>
            </a:r>
          </a:p>
          <a:p>
            <a:pPr lvl="1"/>
            <a:r>
              <a:rPr lang="pt-BR" dirty="0"/>
              <a:t>Detecção de falhas</a:t>
            </a:r>
          </a:p>
          <a:p>
            <a:pPr lvl="1"/>
            <a:r>
              <a:rPr lang="pt-BR" dirty="0"/>
              <a:t>Detecção de movimento</a:t>
            </a:r>
          </a:p>
          <a:p>
            <a:pPr lvl="1"/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11692982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Detecção de anomalias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5F1B432F-F570-AEC0-CFFF-C1D9196D72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1"/>
            <a:ext cx="9810044" cy="2737556"/>
          </a:xfrm>
        </p:spPr>
        <p:txBody>
          <a:bodyPr/>
          <a:lstStyle/>
          <a:p>
            <a:r>
              <a:rPr lang="pt-BR" dirty="0"/>
              <a:t>Aplicações</a:t>
            </a:r>
          </a:p>
        </p:txBody>
      </p:sp>
      <p:pic>
        <p:nvPicPr>
          <p:cNvPr id="2050" name="Picture 2" descr="Anomaly Detection Real World Scenarios Approaches and Live Implementation -  YouTube">
            <a:extLst>
              <a:ext uri="{FF2B5EF4-FFF2-40B4-BE49-F238E27FC236}">
                <a16:creationId xmlns:a16="http://schemas.microsoft.com/office/drawing/2014/main" id="{FDE7A801-6226-C67C-506A-7A9F297D280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48267" y="1445508"/>
            <a:ext cx="8387017" cy="47176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93616416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42E1AD8-1AE2-9D66-D1D0-BECEA32F14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1362F63-8B67-2CA5-F1E0-70285F8A5D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Detecção de anomalias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22FDC0BB-96C6-D071-6072-8265FA475D3B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D2FBB85-B0FE-5D58-DBE2-4C312CB1B3A1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F19EED01-E2A7-FCA9-AE40-ABE3206A5DB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1"/>
            <a:ext cx="9810044" cy="2737556"/>
          </a:xfrm>
        </p:spPr>
        <p:txBody>
          <a:bodyPr/>
          <a:lstStyle/>
          <a:p>
            <a:r>
              <a:rPr lang="pt-BR" dirty="0"/>
              <a:t>Algoritmos</a:t>
            </a:r>
          </a:p>
          <a:p>
            <a:pPr lvl="1"/>
            <a:r>
              <a:rPr lang="pt-BR" dirty="0"/>
              <a:t>K-</a:t>
            </a:r>
            <a:r>
              <a:rPr lang="pt-BR" dirty="0" err="1"/>
              <a:t>means</a:t>
            </a:r>
            <a:r>
              <a:rPr lang="pt-BR" dirty="0"/>
              <a:t> usando a  área do centroide</a:t>
            </a:r>
          </a:p>
          <a:p>
            <a:pPr lvl="1"/>
            <a:r>
              <a:rPr lang="pt-BR" dirty="0" err="1"/>
              <a:t>Isolation</a:t>
            </a:r>
            <a:r>
              <a:rPr lang="pt-BR" dirty="0"/>
              <a:t> Forest</a:t>
            </a:r>
          </a:p>
          <a:p>
            <a:pPr lvl="1"/>
            <a:r>
              <a:rPr lang="pt-BR" dirty="0" err="1"/>
              <a:t>One-Class</a:t>
            </a:r>
            <a:r>
              <a:rPr lang="pt-BR" dirty="0"/>
              <a:t> SVM</a:t>
            </a:r>
          </a:p>
          <a:p>
            <a:pPr lvl="1"/>
            <a:r>
              <a:rPr lang="pt-BR" dirty="0"/>
              <a:t>Local Outlier Factor</a:t>
            </a:r>
          </a:p>
          <a:p>
            <a:pPr lvl="1"/>
            <a:r>
              <a:rPr lang="pt-BR" dirty="0"/>
              <a:t>Etc.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74D15ED-AE97-5474-7E5D-B644432B2D4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72916" y="2833412"/>
            <a:ext cx="3623052" cy="3269104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14197941-A588-8F4A-49EA-1C5B6528F76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27728" y="2833412"/>
            <a:ext cx="3686332" cy="3269104"/>
          </a:xfrm>
          <a:prstGeom prst="rect">
            <a:avLst/>
          </a:prstGeom>
        </p:spPr>
      </p:pic>
      <p:sp>
        <p:nvSpPr>
          <p:cNvPr id="10" name="Arrow: Right 9">
            <a:extLst>
              <a:ext uri="{FF2B5EF4-FFF2-40B4-BE49-F238E27FC236}">
                <a16:creationId xmlns:a16="http://schemas.microsoft.com/office/drawing/2014/main" id="{02EF8AE6-9567-78CC-094E-7578F2C11532}"/>
              </a:ext>
            </a:extLst>
          </p:cNvPr>
          <p:cNvSpPr/>
          <p:nvPr/>
        </p:nvSpPr>
        <p:spPr>
          <a:xfrm>
            <a:off x="5573986" y="4070566"/>
            <a:ext cx="840828" cy="58858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256003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016FD1-6296-97BB-4C76-AD710414CC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472478-144F-3D25-9C47-48A21F2E7C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17930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K-</a:t>
            </a:r>
            <a:r>
              <a:rPr lang="pt-BR" dirty="0" err="1"/>
              <a:t>means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5F1B432F-F570-AEC0-CFFF-C1D9196D72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1"/>
            <a:ext cx="9810044" cy="2737556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pt-BR" dirty="0"/>
          </a:p>
          <a:p>
            <a:pPr marL="0" indent="0">
              <a:buNone/>
            </a:pPr>
            <a:endParaRPr lang="pt-BR" dirty="0"/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470482DB-F365-0A83-E102-37A8EB7EACEF}"/>
              </a:ext>
            </a:extLst>
          </p:cNvPr>
          <p:cNvSpPr txBox="1"/>
          <p:nvPr/>
        </p:nvSpPr>
        <p:spPr>
          <a:xfrm>
            <a:off x="846667" y="988201"/>
            <a:ext cx="8229599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pt-B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Exemplo: </a:t>
            </a:r>
            <a:r>
              <a:rPr lang="pt-BR" b="0" i="0" dirty="0">
                <a:solidFill>
                  <a:srgbClr val="404040"/>
                </a:solidFill>
                <a:effectLst/>
                <a:latin typeface="DeepSeek-CJK-patch"/>
              </a:rPr>
              <a:t>Escolha de Locais para Centros de Distribuição</a:t>
            </a:r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</p:txBody>
      </p:sp>
      <p:pic>
        <p:nvPicPr>
          <p:cNvPr id="6146" name="Picture 2" descr="Centro de Distribuição: uma solução mais que viável – Novidá">
            <a:extLst>
              <a:ext uri="{FF2B5EF4-FFF2-40B4-BE49-F238E27FC236}">
                <a16:creationId xmlns:a16="http://schemas.microsoft.com/office/drawing/2014/main" id="{4EEAF6B8-1AE8-82F9-6BD7-E45E945A8CB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7880" y="2298121"/>
            <a:ext cx="5787320" cy="31696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2" descr="Mapa do Brasil">
            <a:extLst>
              <a:ext uri="{FF2B5EF4-FFF2-40B4-BE49-F238E27FC236}">
                <a16:creationId xmlns:a16="http://schemas.microsoft.com/office/drawing/2014/main" id="{BBEA9087-A8E1-78C5-981B-C50D7CF4635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87067" y="2025586"/>
            <a:ext cx="4307416" cy="35575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4975400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K-</a:t>
            </a:r>
            <a:r>
              <a:rPr lang="pt-BR" dirty="0" err="1"/>
              <a:t>means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5F1B432F-F570-AEC0-CFFF-C1D9196D72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1"/>
            <a:ext cx="9810044" cy="2737556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pt-BR" dirty="0"/>
          </a:p>
          <a:p>
            <a:pPr marL="0" indent="0">
              <a:buNone/>
            </a:pPr>
            <a:endParaRPr lang="pt-BR" dirty="0"/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470482DB-F365-0A83-E102-37A8EB7EACEF}"/>
              </a:ext>
            </a:extLst>
          </p:cNvPr>
          <p:cNvSpPr txBox="1"/>
          <p:nvPr/>
        </p:nvSpPr>
        <p:spPr>
          <a:xfrm>
            <a:off x="846667" y="988201"/>
            <a:ext cx="8229599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pt-B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Exemplo: Centros de distribuição</a:t>
            </a:r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</p:txBody>
      </p:sp>
      <p:pic>
        <p:nvPicPr>
          <p:cNvPr id="8194" name="Picture 2">
            <a:extLst>
              <a:ext uri="{FF2B5EF4-FFF2-40B4-BE49-F238E27FC236}">
                <a16:creationId xmlns:a16="http://schemas.microsoft.com/office/drawing/2014/main" id="{495C0F98-25B1-BB0B-22CE-238E6C7C5DE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23294" y="2239786"/>
            <a:ext cx="5419725" cy="39814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8162772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K-</a:t>
            </a:r>
            <a:r>
              <a:rPr lang="pt-BR" dirty="0" err="1"/>
              <a:t>means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5F1B432F-F570-AEC0-CFFF-C1D9196D72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1"/>
            <a:ext cx="9810044" cy="2737556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pt-BR" dirty="0"/>
          </a:p>
          <a:p>
            <a:pPr marL="0" indent="0">
              <a:buNone/>
            </a:pPr>
            <a:endParaRPr lang="pt-BR" dirty="0"/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470482DB-F365-0A83-E102-37A8EB7EACEF}"/>
              </a:ext>
            </a:extLst>
          </p:cNvPr>
          <p:cNvSpPr txBox="1"/>
          <p:nvPr/>
        </p:nvSpPr>
        <p:spPr>
          <a:xfrm>
            <a:off x="745067" y="989885"/>
            <a:ext cx="8229599" cy="5355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pt-B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Exemplo: Centros de distribuição</a:t>
            </a:r>
          </a:p>
          <a:p>
            <a:endParaRPr lang="pt-BR" dirty="0"/>
          </a:p>
          <a:p>
            <a:r>
              <a:rPr lang="pt-BR" dirty="0"/>
              <a:t>Considerar a adição de mais lojas: sendo 21 só em São Paulo.</a:t>
            </a:r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56711646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K-</a:t>
            </a:r>
            <a:r>
              <a:rPr lang="pt-BR" dirty="0" err="1"/>
              <a:t>means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5F1B432F-F570-AEC0-CFFF-C1D9196D72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1"/>
            <a:ext cx="9810044" cy="2737556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pt-BR" dirty="0"/>
          </a:p>
          <a:p>
            <a:pPr marL="0" indent="0">
              <a:buNone/>
            </a:pPr>
            <a:endParaRPr lang="pt-BR" dirty="0"/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470482DB-F365-0A83-E102-37A8EB7EACEF}"/>
              </a:ext>
            </a:extLst>
          </p:cNvPr>
          <p:cNvSpPr txBox="1"/>
          <p:nvPr/>
        </p:nvSpPr>
        <p:spPr>
          <a:xfrm>
            <a:off x="846667" y="988201"/>
            <a:ext cx="8229599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dirty="0"/>
              <a:t>Como escolher o K ótimo?</a:t>
            </a:r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</p:txBody>
      </p:sp>
      <p:pic>
        <p:nvPicPr>
          <p:cNvPr id="2050" name="Picture 2" descr="Base Teórica do K-Means! Aprenda a Lógica desse Algoritmo Hoje!">
            <a:extLst>
              <a:ext uri="{FF2B5EF4-FFF2-40B4-BE49-F238E27FC236}">
                <a16:creationId xmlns:a16="http://schemas.microsoft.com/office/drawing/2014/main" id="{0694ADFD-EB2E-2BF0-18BE-B07E4CD60A5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26381" y="1605398"/>
            <a:ext cx="7549885" cy="34440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Imagem 7">
            <a:extLst>
              <a:ext uri="{FF2B5EF4-FFF2-40B4-BE49-F238E27FC236}">
                <a16:creationId xmlns:a16="http://schemas.microsoft.com/office/drawing/2014/main" id="{EEF69E85-6440-34FE-5C8A-A5F37765D29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86439" y="5536951"/>
            <a:ext cx="2377646" cy="7849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464279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Detecção de anomalias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60963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pt-BR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60963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pt-BR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Movimentação de containers ao longo do ciclo logístico</a:t>
            </a:r>
          </a:p>
        </p:txBody>
      </p:sp>
      <p:pic>
        <p:nvPicPr>
          <p:cNvPr id="1026" name="Picture 2" descr="Free photo industrial containers box for logistic import export business.">
            <a:extLst>
              <a:ext uri="{FF2B5EF4-FFF2-40B4-BE49-F238E27FC236}">
                <a16:creationId xmlns:a16="http://schemas.microsoft.com/office/drawing/2014/main" id="{FDC07977-F662-66CB-7534-103E8397691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42141" y="1819275"/>
            <a:ext cx="5962650" cy="39719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0097939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Detecção de anomalias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60963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pt-BR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60963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pt-BR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Movimentação de containers ao longo do ciclo logístico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Classificação de 5 estados do container 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Parado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Sendo erguido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No mar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No caminhão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solidFill>
                  <a:srgbClr val="FF000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Anomalia 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(e.g., container caindo no mar, empilhadeira tombando)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7624530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Detecção de anomalias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60963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pt-BR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60963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pt-BR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Trabalho: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Incluir e analisar no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edge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impulse possíveis anomalias nos dados da movimentação da cadeira de rodas pela cabeça.</a:t>
            </a:r>
          </a:p>
        </p:txBody>
      </p:sp>
    </p:spTree>
    <p:extLst>
      <p:ext uri="{BB962C8B-B14F-4D97-AF65-F5344CB8AC3E}">
        <p14:creationId xmlns:p14="http://schemas.microsoft.com/office/powerpoint/2010/main" val="391031819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60963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pt-BR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60963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pt-BR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152408" indent="0" algn="ctr">
              <a:lnSpc>
                <a:spcPct val="107000"/>
              </a:lnSpc>
              <a:spcAft>
                <a:spcPts val="533"/>
              </a:spcAft>
              <a:buNone/>
            </a:pPr>
            <a:endParaRPr lang="pt-BR" sz="24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ctr">
              <a:lnSpc>
                <a:spcPct val="107000"/>
              </a:lnSpc>
              <a:spcAft>
                <a:spcPts val="533"/>
              </a:spcAft>
              <a:buNone/>
            </a:pPr>
            <a:endParaRPr lang="pt-BR" sz="24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ctr">
              <a:lnSpc>
                <a:spcPct val="107000"/>
              </a:lnSpc>
              <a:spcAft>
                <a:spcPts val="533"/>
              </a:spcAft>
              <a:buNone/>
            </a:pPr>
            <a:endParaRPr lang="pt-BR" sz="24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ctr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400" dirty="0">
                <a:ea typeface="Calibri" panose="020F0502020204030204" pitchFamily="34" charset="0"/>
                <a:cs typeface="Arial" panose="020B0604020202020204" pitchFamily="34" charset="0"/>
              </a:rPr>
              <a:t>Acompanhamento do trabalho final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60226339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Tema do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emplate Pós Modelo 1" id="{1890BCC5-262A-4203-9447-FAC66B7F6DAC}" vid="{D23E53B5-32D4-4E89-8BD3-27CFCC7177E3}"/>
    </a:ext>
  </a:extLst>
</a:theme>
</file>

<file path=ppt/theme/theme3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16045</TotalTime>
  <Words>620</Words>
  <Application>Microsoft Office PowerPoint</Application>
  <PresentationFormat>Widescreen</PresentationFormat>
  <Paragraphs>176</Paragraphs>
  <Slides>25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25</vt:i4>
      </vt:variant>
    </vt:vector>
  </HeadingPairs>
  <TitlesOfParts>
    <vt:vector size="32" baseType="lpstr">
      <vt:lpstr>Arial</vt:lpstr>
      <vt:lpstr>Calibri</vt:lpstr>
      <vt:lpstr>Calibri Light</vt:lpstr>
      <vt:lpstr>Cambria Math</vt:lpstr>
      <vt:lpstr>DeepSeek-CJK-patch</vt:lpstr>
      <vt:lpstr>Tema do Office</vt:lpstr>
      <vt:lpstr>1_Tema do Office</vt:lpstr>
      <vt:lpstr>TP557 - Tópicos avançados em IoT e Machine Learning: Detecção de anomalias</vt:lpstr>
      <vt:lpstr>Aprendizado não-supervisionado</vt:lpstr>
      <vt:lpstr>Aprendizado supervisionado versus não supervisionado</vt:lpstr>
      <vt:lpstr>Clusterização</vt:lpstr>
      <vt:lpstr>K-means</vt:lpstr>
      <vt:lpstr>K-means</vt:lpstr>
      <vt:lpstr>K-means</vt:lpstr>
      <vt:lpstr>K-means</vt:lpstr>
      <vt:lpstr>K-means</vt:lpstr>
      <vt:lpstr>K-means</vt:lpstr>
      <vt:lpstr>K-means</vt:lpstr>
      <vt:lpstr>K-means</vt:lpstr>
      <vt:lpstr>K-means</vt:lpstr>
      <vt:lpstr>Detecção de anomalias</vt:lpstr>
      <vt:lpstr>Detecção de anomalias</vt:lpstr>
      <vt:lpstr>Detecção de anomalias</vt:lpstr>
      <vt:lpstr>PowerPoint Presentation</vt:lpstr>
      <vt:lpstr>K-means</vt:lpstr>
      <vt:lpstr>K-means</vt:lpstr>
      <vt:lpstr>K-means</vt:lpstr>
      <vt:lpstr>K-means</vt:lpstr>
      <vt:lpstr>Detecção de anomalias</vt:lpstr>
      <vt:lpstr>Detecção de anomalias</vt:lpstr>
      <vt:lpstr>Detecção de anomalias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TP555 - Inteligência Artificial e Machine Learning</dc:title>
  <dc:creator>Felipe Augusto Pereira de Figueiredo</dc:creator>
  <cp:lastModifiedBy>Felipe Augusto Pereira de Figueiredo</cp:lastModifiedBy>
  <cp:revision>2401</cp:revision>
  <dcterms:created xsi:type="dcterms:W3CDTF">2020-01-20T13:50:05Z</dcterms:created>
  <dcterms:modified xsi:type="dcterms:W3CDTF">2025-05-14T01:20:15Z</dcterms:modified>
</cp:coreProperties>
</file>