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1"/>
  </p:notesMasterIdLst>
  <p:handoutMasterIdLst>
    <p:handoutMasterId r:id="rId42"/>
  </p:handoutMasterIdLst>
  <p:sldIdLst>
    <p:sldId id="256" r:id="rId3"/>
    <p:sldId id="583" r:id="rId4"/>
    <p:sldId id="584" r:id="rId5"/>
    <p:sldId id="617" r:id="rId6"/>
    <p:sldId id="618" r:id="rId7"/>
    <p:sldId id="585" r:id="rId8"/>
    <p:sldId id="586" r:id="rId9"/>
    <p:sldId id="588" r:id="rId10"/>
    <p:sldId id="587" r:id="rId11"/>
    <p:sldId id="619" r:id="rId12"/>
    <p:sldId id="589" r:id="rId13"/>
    <p:sldId id="590" r:id="rId14"/>
    <p:sldId id="591" r:id="rId15"/>
    <p:sldId id="614" r:id="rId16"/>
    <p:sldId id="598" r:id="rId17"/>
    <p:sldId id="592" r:id="rId18"/>
    <p:sldId id="593" r:id="rId19"/>
    <p:sldId id="597" r:id="rId20"/>
    <p:sldId id="603" r:id="rId21"/>
    <p:sldId id="594" r:id="rId22"/>
    <p:sldId id="595" r:id="rId23"/>
    <p:sldId id="596" r:id="rId24"/>
    <p:sldId id="599" r:id="rId25"/>
    <p:sldId id="600" r:id="rId26"/>
    <p:sldId id="601" r:id="rId27"/>
    <p:sldId id="602" r:id="rId28"/>
    <p:sldId id="613" r:id="rId29"/>
    <p:sldId id="610" r:id="rId30"/>
    <p:sldId id="604" r:id="rId31"/>
    <p:sldId id="605" r:id="rId32"/>
    <p:sldId id="606" r:id="rId33"/>
    <p:sldId id="607" r:id="rId34"/>
    <p:sldId id="608" r:id="rId35"/>
    <p:sldId id="609" r:id="rId36"/>
    <p:sldId id="611" r:id="rId37"/>
    <p:sldId id="612" r:id="rId38"/>
    <p:sldId id="615" r:id="rId39"/>
    <p:sldId id="616" r:id="rId4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44ABB-9657-6DA9-2FB6-DBD0202B0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57A8168-6204-FC6A-54EF-7ED070F18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DD17A59-59C0-1863-74A5-8CF28A016B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94DF04E-78BC-6F0C-E709-8B78E8FC73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66809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6B865-C020-9DE0-6006-E764210C7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510CF5-3C4D-8693-C486-62F64F1FF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EF85D7A-CC75-DC59-0F38-4B9DA415B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477E74-7EEB-66D4-5183-ECE5C66385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3598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258E3-4964-4042-8FEE-C76193FC6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EC1B94-CADD-86CA-0D80-2D1283263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8214764-D5E4-6A26-47B8-1E1E46DC0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1EE33-103B-9784-78D9-C7BF95BFF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30486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0645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07685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849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3168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6510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8824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71874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1278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39314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91152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8443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17337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395355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12480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58589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1605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4473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12832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1076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4184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25630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Em análise de dados, a detecção de anomalias é a identificação de itens, eventos ou observações raras que levantam suspeitas por diferirem significativamente da maioria dos dados.</a:t>
            </a:r>
          </a:p>
          <a:p>
            <a:r>
              <a:rPr lang="pt-BR" dirty="0"/>
              <a:t>O objetivo de modelos de detecção de anomalias é identificar estes itens, eventos ou observações raras.</a:t>
            </a: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4225" y="2838121"/>
            <a:ext cx="5379400" cy="4019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67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BB9CFE-6A1E-773F-748F-0B1511B0C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E7C36-1A69-455D-9B3F-CE6A188B6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70C22B8-A518-637D-8E29-4AD8BA96F2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9DDBA47E-08FA-1589-A6B0-D175C8DB38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EC2F8FC-0419-713D-914B-351007B70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783615" cy="2737556"/>
          </a:xfrm>
        </p:spPr>
        <p:txBody>
          <a:bodyPr/>
          <a:lstStyle/>
          <a:p>
            <a:r>
              <a:rPr lang="pt-BR" dirty="0"/>
              <a:t>Aprendizado não supervisionado</a:t>
            </a:r>
          </a:p>
          <a:p>
            <a:endParaRPr lang="pt-BR" dirty="0"/>
          </a:p>
          <a:p>
            <a:pPr marL="0" indent="0">
              <a:buNone/>
            </a:pPr>
            <a:r>
              <a:rPr lang="pt-BR" dirty="0"/>
              <a:t>Em geral, detecção de anomalias é feita com modelos de </a:t>
            </a:r>
            <a:r>
              <a:rPr lang="pt-BR" b="1" i="1" dirty="0">
                <a:solidFill>
                  <a:srgbClr val="FF0000"/>
                </a:solidFill>
              </a:rPr>
              <a:t>aprendizado não-supervisionado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236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EE645A-2B34-7E0A-B495-9E08115C1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30007A-DB4C-2A4F-4BEA-C99F6D3A4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6D0996EA-75F6-5DB3-31CE-34545741D6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3DF04D3-3E62-0CE8-4BAE-3E988ACCB2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15BC1C-3221-26E6-2166-E19D2A6E4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0385" y="2565400"/>
            <a:ext cx="7131270" cy="189098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Mas o que são esses modelos?</a:t>
            </a:r>
          </a:p>
        </p:txBody>
      </p:sp>
    </p:spTree>
    <p:extLst>
      <p:ext uri="{BB962C8B-B14F-4D97-AF65-F5344CB8AC3E}">
        <p14:creationId xmlns:p14="http://schemas.microsoft.com/office/powerpoint/2010/main" val="263454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Aprendizado não supervisionado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dirty="0"/>
              <a:t>Os algoritmos de aprendizado não supervisionado </a:t>
            </a:r>
            <a:r>
              <a:rPr lang="pt-BR" b="1" i="1" dirty="0">
                <a:solidFill>
                  <a:srgbClr val="FF0000"/>
                </a:solidFill>
              </a:rPr>
              <a:t>agrupam</a:t>
            </a:r>
            <a:r>
              <a:rPr lang="pt-BR" dirty="0"/>
              <a:t> conjuntos de dados não rotulados. </a:t>
            </a:r>
          </a:p>
          <a:p>
            <a:r>
              <a:rPr lang="pt-BR" dirty="0"/>
              <a:t>Esses algoritmos descobrem padrões ocultos ou agrupamentos de dados sem a necessidade de rótulos ou de intervenção humana.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0947" y="4393301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6457" y="1623490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não supervisionado mais conhecido é o de clusterização ou agrupamento.</a:t>
            </a:r>
          </a:p>
          <a:p>
            <a:r>
              <a:rPr lang="pt-BR" dirty="0"/>
              <a:t>O objetivo do agrupamento é dividir os dados em vários grupos ou clusters, de modo que os pontos de dados dentro de cada grupo sejam mais comparáveis ​​entre si e diferentes dos pontos de dados dentro dos outros grupos.</a:t>
            </a:r>
          </a:p>
          <a:p>
            <a:r>
              <a:rPr lang="pt-BR" dirty="0"/>
              <a:t> É essencialmente um agrupamento de coisas com base em quão semelhantes (ou próximos)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7788" y="3327400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dirty="0" err="1"/>
              <a:t>clustering</a:t>
            </a:r>
            <a:endParaRPr lang="pt-BR" dirty="0"/>
          </a:p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agrupar pontos de dados semelhantes e descobrir padrões subjacentes.</a:t>
            </a:r>
          </a:p>
          <a:p>
            <a:pPr lvl="1"/>
            <a:r>
              <a:rPr lang="pt-BR" dirty="0"/>
              <a:t>Semelhante aqui é no sentido de proximidade.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ED026-2C15-F909-7F1A-1BCDF565F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8352F-A491-0CCE-B312-D63883E2D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E6BEEB2-491E-A507-3C4A-03CFF373EE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185DCD3-5B1D-7A6C-C8CA-67E143D16E6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99811FC-ABB6-E014-BB5F-F6A45A11A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dirty="0" err="1"/>
              <a:t>clustering</a:t>
            </a:r>
            <a:endParaRPr lang="pt-BR" dirty="0"/>
          </a:p>
          <a:p>
            <a:r>
              <a:rPr lang="pt-BR" dirty="0"/>
              <a:t>É usado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7B7683-5837-BFBE-BFE1-735C62F0B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220" y="2626493"/>
            <a:ext cx="7213229" cy="3261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2938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122" name="Picture 2" descr="python - When using the K-Means Clustering Algorithm, is it possible to  have a set of data which results in an Infinite Loop? - Stack Overflow">
            <a:extLst>
              <a:ext uri="{FF2B5EF4-FFF2-40B4-BE49-F238E27FC236}">
                <a16:creationId xmlns:a16="http://schemas.microsoft.com/office/drawing/2014/main" id="{42B409DD-27A2-FCB0-8589-328539C35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945092"/>
            <a:ext cx="9716440" cy="4877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148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7156" y="1821535"/>
            <a:ext cx="619125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3074" name="Picture 2" descr="Mapa do Brasil">
            <a:extLst>
              <a:ext uri="{FF2B5EF4-FFF2-40B4-BE49-F238E27FC236}">
                <a16:creationId xmlns:a16="http://schemas.microsoft.com/office/drawing/2014/main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9511" y="1983132"/>
            <a:ext cx="5260622" cy="4344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3736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A0FC1B7-A101-0508-054B-D8349F031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7323" y="2146261"/>
            <a:ext cx="4778154" cy="41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69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852AE06-D862-AB3A-2E4A-809895A9D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470" y="2142067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9060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95C0F98-25B1-BB0B-22CE-238E6C7C5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3294" y="2239786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16277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DB2E93-FBF7-2C19-4172-472216829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2" y="2942530"/>
            <a:ext cx="3955123" cy="137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13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745067" y="989885"/>
            <a:ext cx="82295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r>
              <a:rPr lang="pt-BR" dirty="0"/>
              <a:t>Considerar a adição de mais lojas: sendo 21 só em São Paulo.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67116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4C03338-7885-1632-F15A-D8024E40A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472" y="2273653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92289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0A2B4FC7-A3CC-A0F0-4230-65FE1716A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7032" y="1974461"/>
            <a:ext cx="5994213" cy="3903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65134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1DA67FB-2631-AF8D-50AD-718296A5CA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243" y="2776154"/>
            <a:ext cx="4755292" cy="150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466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EA0F2AD4-3B41-DAF2-6F90-94BD234A07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34" y="1759128"/>
            <a:ext cx="8334375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57575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Dados de meios de transporte: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Rodovias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Ferrovias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Aeroportos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Rios navegáveis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Portos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00785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Dados de meios de transporte: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Custo de frete;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Quantidade de empresas transportadoras;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Índice de sinistros (roubos de carga e acidentes).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725126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Dados de meios de transporte:</a:t>
            </a:r>
          </a:p>
          <a:p>
            <a:endParaRPr lang="pt-BR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Oferta e custo de mão de obra;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Oferta e custo de mão de obra “qualificada” (técnicos, engenheiros, gerentes, executivos);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Tributos municipais e estaduais;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Localização dos fornecedores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Preços de aluguel de galpões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814832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Outliers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Os dados de treinamento contêm valores discrepantes que são definidos como observações distantes das demais.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Os estimadores de detecção de outliers tentam, portanto, ajustar as regiões onde os dados de treinamento estão mais concentrados, ignorando as observações desviantes.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rgbClr val="212529"/>
              </a:solidFill>
              <a:latin typeface="-apple-system"/>
            </a:endParaRPr>
          </a:p>
          <a:p>
            <a:r>
              <a:rPr lang="pt-BR" dirty="0" err="1">
                <a:solidFill>
                  <a:srgbClr val="212529"/>
                </a:solidFill>
                <a:latin typeface="-apple-system"/>
              </a:rPr>
              <a:t>Novelty</a:t>
            </a:r>
            <a:endParaRPr lang="pt-BR" dirty="0">
              <a:solidFill>
                <a:srgbClr val="212529"/>
              </a:solidFill>
              <a:latin typeface="-apple-system"/>
            </a:endParaRPr>
          </a:p>
          <a:p>
            <a:endParaRPr lang="pt-BR" dirty="0">
              <a:solidFill>
                <a:srgbClr val="212529"/>
              </a:solidFill>
              <a:latin typeface="-apple-syste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Os dados de treinamento não são poluídos por valores discrepantes e estamos interessados ​​em detectar se uma </a:t>
            </a:r>
            <a:r>
              <a:rPr lang="pt-BR" b="1" i="0" dirty="0">
                <a:solidFill>
                  <a:srgbClr val="212529"/>
                </a:solidFill>
                <a:effectLst/>
                <a:latin typeface="-apple-system"/>
              </a:rPr>
              <a:t>nova</a:t>
            </a: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 observação é um valor discrepante.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 Neste contexto, um outlier também é chamado de novidade</a:t>
            </a: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534016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b="0" i="0" dirty="0">
              <a:solidFill>
                <a:srgbClr val="242424"/>
              </a:solidFill>
              <a:effectLst/>
              <a:latin typeface="sohne"/>
            </a:endParaRP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7B27A31-FF46-6D9B-7B7B-AE78D453C9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534" y="1181980"/>
            <a:ext cx="6835732" cy="2507197"/>
          </a:xfrm>
          <a:prstGeom prst="rect">
            <a:avLst/>
          </a:prstGeom>
        </p:spPr>
      </p:pic>
      <p:pic>
        <p:nvPicPr>
          <p:cNvPr id="1026" name="Picture 2" descr="The Challenges of Ensuring IoT Security | Invicti">
            <a:extLst>
              <a:ext uri="{FF2B5EF4-FFF2-40B4-BE49-F238E27FC236}">
                <a16:creationId xmlns:a16="http://schemas.microsoft.com/office/drawing/2014/main" id="{7E4E8E32-645C-3525-0CA4-78DD2ED50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7711" y="4024396"/>
            <a:ext cx="4778022" cy="2508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7041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756356" y="998967"/>
            <a:ext cx="822959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Ameaças à segurança em redes </a:t>
            </a:r>
            <a:r>
              <a:rPr lang="pt-BR" sz="2000" b="0" i="0" dirty="0" err="1">
                <a:solidFill>
                  <a:srgbClr val="242424"/>
                </a:solidFill>
                <a:effectLst/>
                <a:latin typeface="sohne"/>
              </a:rPr>
              <a:t>IoT</a:t>
            </a:r>
            <a:endParaRPr lang="pt-BR" sz="2000" b="0" i="0" dirty="0">
              <a:solidFill>
                <a:srgbClr val="242424"/>
              </a:solidFill>
              <a:effectLst/>
              <a:latin typeface="sohn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Aumento rápido de dispositivos conectados;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Troca intensa de dados sensíveis através de redes;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Disponibilidade de conjuntos de dados de tráfego de rede do mundo real.</a:t>
            </a:r>
          </a:p>
          <a:p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Detecção e classificação de novidades baseadas em 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Análise Automatizada de Tráfego de Rede (NTA);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Detecção: identifique ameaças nunca antes vistas;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0" i="0" dirty="0">
                <a:solidFill>
                  <a:srgbClr val="242424"/>
                </a:solidFill>
                <a:effectLst/>
                <a:latin typeface="sohne"/>
              </a:rPr>
              <a:t>Classificação: categoriza vestígios de ameaças conhecidas.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7898474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DF079FE-0EFE-3067-0DC3-B7BB425D701C}"/>
              </a:ext>
            </a:extLst>
          </p:cNvPr>
          <p:cNvSpPr txBox="1"/>
          <p:nvPr/>
        </p:nvSpPr>
        <p:spPr>
          <a:xfrm>
            <a:off x="1456266" y="1512249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IoT Network Intrusion:</a:t>
            </a:r>
          </a:p>
          <a:p>
            <a:r>
              <a:rPr lang="en-US" dirty="0"/>
              <a:t>10% of ≈3M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Mirai,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Man-in-the-middle,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DoS,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Scanning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46BC624-C522-49D6-CFFF-4FFB18A2A777}"/>
              </a:ext>
            </a:extLst>
          </p:cNvPr>
          <p:cNvSpPr txBox="1"/>
          <p:nvPr/>
        </p:nvSpPr>
        <p:spPr>
          <a:xfrm>
            <a:off x="1467555" y="4040772"/>
            <a:ext cx="8116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https://ieee-dataport.org/open-access/iot-network-intrusion-dataset</a:t>
            </a:r>
          </a:p>
        </p:txBody>
      </p:sp>
    </p:spTree>
    <p:extLst>
      <p:ext uri="{BB962C8B-B14F-4D97-AF65-F5344CB8AC3E}">
        <p14:creationId xmlns:p14="http://schemas.microsoft.com/office/powerpoint/2010/main" val="18633211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ADF72E0-677F-530E-FE9F-BB8758F23E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4408" y="1128813"/>
            <a:ext cx="6043184" cy="500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2333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6764048-7B68-9DB3-0313-F6C9A730F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847" y="2442124"/>
            <a:ext cx="9998306" cy="197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4369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E186F46-9317-70E2-BDCE-B5031FFAF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29" y="3327400"/>
            <a:ext cx="9937341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834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(ex.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e analisar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 possíveis anomalias nos dados da movimentação da cadeira de rodas pela cabeça.</a:t>
            </a:r>
          </a:p>
        </p:txBody>
      </p:sp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15927</TotalTime>
  <Words>857</Words>
  <Application>Microsoft Office PowerPoint</Application>
  <PresentationFormat>Widescreen</PresentationFormat>
  <Paragraphs>406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-apple-system</vt:lpstr>
      <vt:lpstr>Arial</vt:lpstr>
      <vt:lpstr>Calibri</vt:lpstr>
      <vt:lpstr>Calibri Light</vt:lpstr>
      <vt:lpstr>Cambria Math</vt:lpstr>
      <vt:lpstr>sohne</vt:lpstr>
      <vt:lpstr>Tema do Office</vt:lpstr>
      <vt:lpstr>1_Tema do Office</vt:lpstr>
      <vt:lpstr>TP557 - Tópicos avançados em IoT e Machine Learning: 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Detecção de anomalias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2381</cp:revision>
  <dcterms:created xsi:type="dcterms:W3CDTF">2020-01-20T13:50:05Z</dcterms:created>
  <dcterms:modified xsi:type="dcterms:W3CDTF">2025-05-07T20:02:15Z</dcterms:modified>
</cp:coreProperties>
</file>