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8"/>
  </p:notesMasterIdLst>
  <p:handoutMasterIdLst>
    <p:handoutMasterId r:id="rId29"/>
  </p:handoutMasterIdLst>
  <p:sldIdLst>
    <p:sldId id="256" r:id="rId3"/>
    <p:sldId id="585" r:id="rId4"/>
    <p:sldId id="586" r:id="rId5"/>
    <p:sldId id="588" r:id="rId6"/>
    <p:sldId id="587" r:id="rId7"/>
    <p:sldId id="589" r:id="rId8"/>
    <p:sldId id="623" r:id="rId9"/>
    <p:sldId id="624" r:id="rId10"/>
    <p:sldId id="625" r:id="rId11"/>
    <p:sldId id="622" r:id="rId12"/>
    <p:sldId id="628" r:id="rId13"/>
    <p:sldId id="627" r:id="rId14"/>
    <p:sldId id="626" r:id="rId15"/>
    <p:sldId id="629" r:id="rId16"/>
    <p:sldId id="584" r:id="rId17"/>
    <p:sldId id="630" r:id="rId18"/>
    <p:sldId id="591" r:id="rId19"/>
    <p:sldId id="621" r:id="rId20"/>
    <p:sldId id="593" r:id="rId21"/>
    <p:sldId id="603" r:id="rId22"/>
    <p:sldId id="613" r:id="rId23"/>
    <p:sldId id="611" r:id="rId24"/>
    <p:sldId id="612" r:id="rId25"/>
    <p:sldId id="615" r:id="rId26"/>
    <p:sldId id="616" r:id="rId2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61" d="100"/>
          <a:sy n="61" d="100"/>
        </p:scale>
        <p:origin x="1332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13/05/2025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644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987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031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530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DAD2A1-5359-2B35-87A2-CB62DA9AC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3CCF2D8-39A8-6970-A91C-CA1BB1172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2A0BCB8-A319-F2B9-61A9-80B79A20C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430ECDE-57AD-7D93-14A4-A77602871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40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E6003E3-9C23-DFB4-E656-EE817B7B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A47E6B73-509B-606A-BA52-ECD9A9019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E7DD88D-B209-FE30-9F24-9AD224BF1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A209F62-F946-427E-D702-876E44243A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637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790B8E-ACCA-F7FC-062F-E911F5C53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77BBB11C-3D4E-BD82-F35A-38E1761E0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8D90C90-61FD-F2FA-BABE-D96B4D666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281AAE74-6902-1DF5-1CE0-D34FA2800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6798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DC8778D-274C-4550-BFA6-2BF2EE13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C35AD5E8-765A-E917-B919-F1F6AE347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9D90C0BF-FC56-01AC-3AD0-5B5E6D0FB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1EF1718-29E8-7DF3-052E-E040AF947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673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CE570B-6F22-A16C-FB7C-644660A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54988FE9-CE61-8F19-30AA-F0093DA95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FF56B3B1-0912-3AF5-3099-3CC1931A0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EA8F2BE0-E2B3-AC2B-9D52-752913B7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506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8F770F4-9A55-E975-D43C-FCEA3ED2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AEDFCAA5-FC8C-DD9C-AFC5-CB278DE7F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403E6E9-E099-A9A5-653E-6F0722996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84EBEF5-7321-520D-7991-F3CC5AF3A5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229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D8DD9A-FB73-B3DA-6F9F-A22549E2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99B0F2D-8473-FC35-AF28-ECE2A1829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C9962D3-EA60-94A8-A6D4-C3161BED1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A62ECEA-4026-B0E1-9730-4E6CBBB39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431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49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843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E955CAB-F21A-9D08-F98D-00EB95ED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0D72ECCF-390F-6700-31C9-EBB590D43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77FA9D6-B2FE-523B-86B7-0EFD6452D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DBD4D4D-75F0-64AD-BA32-1AF4C4593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8280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24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6510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71874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3987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539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93246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Detecção de anomalias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713889"/>
          </a:xfrm>
        </p:spPr>
        <p:txBody>
          <a:bodyPr>
            <a:normAutofit/>
          </a:bodyPr>
          <a:lstStyle/>
          <a:p>
            <a:r>
              <a:rPr lang="pt-BR" dirty="0"/>
              <a:t>Diferentemente do aprendizado supervisionado, no aprendizado não-supervisionado, não existem rótulos.</a:t>
            </a:r>
          </a:p>
          <a:p>
            <a:r>
              <a:rPr lang="pt-BR" dirty="0"/>
              <a:t>Esses algoritmos descobrem padrões ocultos ou agrupamentos de dados sem a necessidade de rótulos.</a:t>
            </a:r>
          </a:p>
          <a:p>
            <a:r>
              <a:rPr lang="pt-BR" dirty="0"/>
              <a:t>São usados em problemas de</a:t>
            </a:r>
          </a:p>
          <a:p>
            <a:pPr lvl="1"/>
            <a:r>
              <a:rPr lang="pt-BR" dirty="0"/>
              <a:t>Segmentação</a:t>
            </a:r>
          </a:p>
          <a:p>
            <a:pPr lvl="1"/>
            <a:r>
              <a:rPr lang="pt-BR" dirty="0"/>
              <a:t>Agrupamento</a:t>
            </a:r>
          </a:p>
          <a:p>
            <a:pPr lvl="1"/>
            <a:r>
              <a:rPr lang="pt-BR" dirty="0"/>
              <a:t>Redução de dimensionalidade</a:t>
            </a:r>
          </a:p>
          <a:p>
            <a:pPr lvl="1"/>
            <a:r>
              <a:rPr lang="pt-BR" b="1" i="1" dirty="0">
                <a:solidFill>
                  <a:srgbClr val="FF0000"/>
                </a:solidFill>
              </a:rPr>
              <a:t>Detecção de anomalias</a:t>
            </a:r>
          </a:p>
        </p:txBody>
      </p:sp>
    </p:spTree>
    <p:extLst>
      <p:ext uri="{BB962C8B-B14F-4D97-AF65-F5344CB8AC3E}">
        <p14:creationId xmlns:p14="http://schemas.microsoft.com/office/powerpoint/2010/main" val="1681526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734097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Aprendizado supervisionado versus não 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074" name="Picture 2" descr="Unsupervised machine learning">
            <a:extLst>
              <a:ext uri="{FF2B5EF4-FFF2-40B4-BE49-F238E27FC236}">
                <a16:creationId xmlns:a16="http://schemas.microsoft.com/office/drawing/2014/main" xmlns="" id="{9C9BB3FA-B234-195B-6E78-1F5F1A0B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4424868"/>
            <a:ext cx="6371808" cy="243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upervised machine learning">
            <a:extLst>
              <a:ext uri="{FF2B5EF4-FFF2-40B4-BE49-F238E27FC236}">
                <a16:creationId xmlns:a16="http://schemas.microsoft.com/office/drawing/2014/main" xmlns="" id="{85D641D0-2AF2-0E0D-20E1-BE0FB83D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945092"/>
            <a:ext cx="5787974" cy="273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12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Clusterização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100441" cy="2737556"/>
          </a:xfrm>
        </p:spPr>
        <p:txBody>
          <a:bodyPr>
            <a:normAutofit/>
          </a:bodyPr>
          <a:lstStyle/>
          <a:p>
            <a:r>
              <a:rPr lang="pt-BR" dirty="0"/>
              <a:t>A forma mais simples e conhecida de aprendizado não-supervisionado é a clusterização ou agrupamento.</a:t>
            </a:r>
          </a:p>
          <a:p>
            <a:r>
              <a:rPr lang="pt-BR" dirty="0"/>
              <a:t>O objetivo do agrupamento é dividir os dados em vários grupos ou clusters, de modo que os pontos de dados dentro de cada grupo sejam mais comparáveis ​​entre si e diferentes dos pontos de dados dentro dos outros grupos.</a:t>
            </a:r>
          </a:p>
          <a:p>
            <a:r>
              <a:rPr lang="pt-BR" dirty="0"/>
              <a:t> É essencialmente um agrupamento de coisas com base em quão semelhantes (ou próximos) e diferentes elas são entre si.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What is K-means Clustering and it's use cases ? | by Avijit das | Medium">
            <a:extLst>
              <a:ext uri="{FF2B5EF4-FFF2-40B4-BE49-F238E27FC236}">
                <a16:creationId xmlns:a16="http://schemas.microsoft.com/office/drawing/2014/main" xmlns="" id="{056C7919-93FD-E63C-B36E-CC710CDD6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830" y="3804357"/>
            <a:ext cx="6272390" cy="26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80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O algoritmo de clusterização mais conhecido é 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 objetivo do K-</a:t>
            </a:r>
            <a:r>
              <a:rPr lang="pt-BR" dirty="0" err="1"/>
              <a:t>means</a:t>
            </a:r>
            <a:r>
              <a:rPr lang="pt-BR" dirty="0"/>
              <a:t> é simples: agrupar pontos de dados semelhantes e descobrir padrões subjacentes.</a:t>
            </a:r>
          </a:p>
          <a:p>
            <a:pPr lvl="1"/>
            <a:r>
              <a:rPr lang="pt-BR" dirty="0"/>
              <a:t>Semelhante aqui é no sentido de proximidade.</a:t>
            </a:r>
          </a:p>
          <a:p>
            <a:r>
              <a:rPr lang="pt-BR" dirty="0"/>
              <a:t>Para atingir este objetivo, o K-</a:t>
            </a:r>
            <a:r>
              <a:rPr lang="pt-BR" dirty="0" err="1"/>
              <a:t>means</a:t>
            </a:r>
            <a:r>
              <a:rPr lang="pt-BR" dirty="0"/>
              <a:t> procura um número fixo (k) de clusters em um conjunto de dados.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K-Means Clustering Algorithm - Javatpoint">
            <a:extLst>
              <a:ext uri="{FF2B5EF4-FFF2-40B4-BE49-F238E27FC236}">
                <a16:creationId xmlns:a16="http://schemas.microsoft.com/office/drawing/2014/main" xmlns="" id="{45592E60-7087-AC09-6FA1-B6EBE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26" y="3327400"/>
            <a:ext cx="5343525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443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sz="3000" dirty="0"/>
              <a:t> </a:t>
            </a:r>
            <a:r>
              <a:rPr lang="pt-BR" dirty="0" err="1"/>
              <a:t>pseudo-código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="" id="{A60E2CD0-3AFD-013C-16CC-B158E81DC1CA}"/>
                  </a:ext>
                </a:extLst>
              </p:cNvPr>
              <p:cNvSpPr txBox="1"/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2000" b="1" dirty="0"/>
                  <a:t>Entradas</a:t>
                </a:r>
                <a:r>
                  <a:rPr lang="pt-BR" sz="20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. </a:t>
                </a:r>
                <a:endParaRPr lang="pt-BR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Defina</a:t>
                </a:r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/>
                  <a:t>para cada um dos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Enquanto </a:t>
                </a:r>
                <a:r>
                  <a:rPr lang="pt-BR" sz="20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blipFill>
                <a:blip r:embed="rId4"/>
                <a:stretch>
                  <a:fillRect l="-638" t="-1351" b="-378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607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8A1FE513-AB4A-132F-B33C-C1A69C4E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5BC5611-534A-CB77-C071-F477937D3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7E7F13EA-3BD1-43C2-79EA-B881793AD8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0891BC2-FEAE-19E7-B671-ECE0FACC0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747C2E78-E437-28C4-0BAF-D2D2AC1C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1. Define-se o número de clusters, K =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34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B86C6B89-4D49-2EC0-F063-638BD6935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81115AF-9415-9558-8D7C-7CA5F9E9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55584ECE-67DE-1FFA-9FE4-D3C3D41364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9D0FB6C-59DD-7620-EBAF-21BB030E5B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C6F58C6-8849-231E-3B12-60D9682EF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937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42119100-E668-77C4-3183-771B95B26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EBCA554-D396-DCCB-4744-F3695D6FD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3380BF6D-7A0A-C11E-50C6-1F567BA3A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52BFF569-F440-2D60-8296-D8243B2988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0298857-CD80-B8D1-6E62-55E6C3A64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</a:t>
            </a:r>
            <a:r>
              <a:rPr lang="pt-BR" b="0" i="0" dirty="0" err="1">
                <a:solidFill>
                  <a:srgbClr val="404040"/>
                </a:solidFill>
                <a:effectLst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</a:rPr>
              <a:t> mais próximo com base na distância euclidiana.</a:t>
            </a:r>
            <a:r>
              <a:rPr lang="pt-BR" dirty="0"/>
              <a:t/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117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1F378FD1-DBF4-DCA8-F1BC-B3E89729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002D84-8C44-E80A-6CE1-1C285A07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3E14BFEB-7725-6B4D-C589-A43632C980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DDC94C5F-D329-0D03-2D55-303CAEA465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C330112-2C2B-538C-EFFC-0C5273ED9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64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9BB75298-302A-6135-F195-096473ED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828DF8-D69B-BFFF-D2B4-A925DD437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4C3F9D2-0307-0450-4E41-55D3298E64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5277E26-0B39-A36B-7447-436FDC3E02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83702F57-B420-BA92-57FC-CDEAF0E04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145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749972DB-1A29-C878-AC52-B084A233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23F31A0-EB34-A3FB-D3AD-8E88098E6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22086E9-56E3-EC28-E48A-9069376FF0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E1A13779-07EA-5350-121F-C4141832B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B461F4C5-B5F4-E3F6-B686-4C94C3880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937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69317B56-95CF-5EB4-1950-84D108AD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8642745-4759-3504-B537-1A643C25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84E44FE8-BA6E-9F6F-1997-0AD869D77E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21DB31B1-11EA-8016-35EE-14EA7345F5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63D17EBA-F020-2A71-B133-21937AD7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seguintes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os pontos de dados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10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b="4339"/>
          <a:stretch/>
        </p:blipFill>
        <p:spPr>
          <a:xfrm>
            <a:off x="6484577" y="3172615"/>
            <a:ext cx="4460195" cy="286358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26" name="Picture 2" descr="Univariate Anomaly Detection | Anomaly Detection Algorithms">
            <a:extLst>
              <a:ext uri="{FF2B5EF4-FFF2-40B4-BE49-F238E27FC236}">
                <a16:creationId xmlns:a16="http://schemas.microsoft.com/office/drawing/2014/main" xmlns="" id="{D6FF8611-2758-C1DA-8FC6-10C7681C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4574" y="3632200"/>
            <a:ext cx="3823026" cy="2856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10589172" cy="2737556"/>
          </a:xfrm>
        </p:spPr>
        <p:txBody>
          <a:bodyPr>
            <a:normAutofit/>
          </a:bodyPr>
          <a:lstStyle/>
          <a:p>
            <a:r>
              <a:rPr lang="pt-BR" dirty="0"/>
              <a:t>A detecção de anomalias é a identificação de itens, eventos ou observações raras que levantam suspeitas por diferirem significativamente da maioria dos dados.</a:t>
            </a:r>
          </a:p>
          <a:p>
            <a:r>
              <a:rPr lang="pt-BR" dirty="0"/>
              <a:t>Exemplos</a:t>
            </a:r>
          </a:p>
          <a:p>
            <a:pPr lvl="1"/>
            <a:r>
              <a:rPr lang="pt-BR" dirty="0"/>
              <a:t>Detecção de spam</a:t>
            </a:r>
          </a:p>
          <a:p>
            <a:pPr lvl="1"/>
            <a:r>
              <a:rPr lang="pt-BR" dirty="0"/>
              <a:t>Detecção de fraude de cartão de crédito</a:t>
            </a:r>
          </a:p>
          <a:p>
            <a:pPr lvl="1"/>
            <a:r>
              <a:rPr lang="pt-BR" dirty="0"/>
              <a:t>Detecção de falhas</a:t>
            </a:r>
          </a:p>
          <a:p>
            <a:pPr lvl="1"/>
            <a:r>
              <a:rPr lang="pt-BR" dirty="0"/>
              <a:t>Detecção de movimento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692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Aplicações</a:t>
            </a:r>
          </a:p>
        </p:txBody>
      </p:sp>
      <p:pic>
        <p:nvPicPr>
          <p:cNvPr id="2050" name="Picture 2" descr="Anomaly Detection Real World Scenarios Approaches and Live Implementation -  YouTube">
            <a:extLst>
              <a:ext uri="{FF2B5EF4-FFF2-40B4-BE49-F238E27FC236}">
                <a16:creationId xmlns:a16="http://schemas.microsoft.com/office/drawing/2014/main" xmlns="" id="{FDE7A801-6226-C67C-506A-7A9F297D2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267" y="1445508"/>
            <a:ext cx="8387017" cy="471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616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042E1AD8-1AE2-9D66-D1D0-BECEA32F1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1362F63-8B67-2CA5-F1E0-70285F8A5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22FDC0BB-96C6-D071-6072-8265FA475D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D2FBB85-B0FE-5D58-DBE2-4C312CB1B3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F19EED01-E2A7-FCA9-AE40-ABE3206A5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Algoritmos</a:t>
            </a:r>
          </a:p>
          <a:p>
            <a:pPr lvl="1"/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dirty="0"/>
              <a:t> usando a  área do centroide</a:t>
            </a:r>
          </a:p>
          <a:p>
            <a:pPr lvl="1"/>
            <a:r>
              <a:rPr lang="pt-BR" dirty="0" err="1"/>
              <a:t>Isolation</a:t>
            </a:r>
            <a:r>
              <a:rPr lang="pt-BR" dirty="0"/>
              <a:t> Forest</a:t>
            </a:r>
          </a:p>
          <a:p>
            <a:pPr lvl="1"/>
            <a:r>
              <a:rPr lang="pt-BR" dirty="0" err="1"/>
              <a:t>One-Class</a:t>
            </a:r>
            <a:r>
              <a:rPr lang="pt-BR" dirty="0"/>
              <a:t> SVM</a:t>
            </a:r>
          </a:p>
          <a:p>
            <a:pPr lvl="1"/>
            <a:r>
              <a:rPr lang="pt-BR" dirty="0"/>
              <a:t>Local Outlier Factor</a:t>
            </a:r>
          </a:p>
          <a:p>
            <a:pPr lvl="1"/>
            <a:r>
              <a:rPr lang="pt-BR" dirty="0"/>
              <a:t>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874D15ED-AE97-5474-7E5D-B644432B2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16" y="2833412"/>
            <a:ext cx="3623052" cy="3269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14197941-A588-8F4A-49EA-1C5B6528F7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728" y="2833412"/>
            <a:ext cx="3686332" cy="3269104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xmlns="" id="{02EF8AE6-9567-78CC-094E-7578F2C11532}"/>
              </a:ext>
            </a:extLst>
          </p:cNvPr>
          <p:cNvSpPr/>
          <p:nvPr/>
        </p:nvSpPr>
        <p:spPr>
          <a:xfrm>
            <a:off x="5573986" y="4070566"/>
            <a:ext cx="840828" cy="5885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560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</a:t>
            </a:r>
            <a:r>
              <a:rPr lang="pt-BR" dirty="0"/>
              <a:t>Escolha de Locais para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146" name="Picture 2" descr="Centro de Distribuição: uma solução mais que viável – Novidá">
            <a:extLst>
              <a:ext uri="{FF2B5EF4-FFF2-40B4-BE49-F238E27FC236}">
                <a16:creationId xmlns:a16="http://schemas.microsoft.com/office/drawing/2014/main" xmlns="" id="{4EEAF6B8-1AE8-82F9-6BD7-E45E945A8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80" y="2298121"/>
            <a:ext cx="5787320" cy="316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Mapa do Brasil">
            <a:extLst>
              <a:ext uri="{FF2B5EF4-FFF2-40B4-BE49-F238E27FC236}">
                <a16:creationId xmlns:a16="http://schemas.microsoft.com/office/drawing/2014/main" xmlns="" id="{BBEA9087-A8E1-78C5-981B-C50D7CF46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067" y="2025586"/>
            <a:ext cx="4307416" cy="35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754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016FD1-6296-97BB-4C76-AD710414C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472478-144F-3D25-9C47-48A21F2E7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79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xmlns="" id="{495C0F98-25B1-BB0B-22CE-238E6C7C5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3294" y="2239786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1627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745067" y="989885"/>
            <a:ext cx="8229599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r>
              <a:rPr lang="pt-BR" dirty="0"/>
              <a:t>Considerar a adição de mais lojas: sendo 21 só em São Paulo.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671164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escolher o K ótimo?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xmlns="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381" y="1605398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439" y="5536951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42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5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Anomalia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(e.g., container caindo no mar, empilhadeira tombando)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2453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Incluir e analisar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 possíveis anomalias nos dados da movimentação da cadeira de rodas pela cabeça.</a:t>
            </a:r>
          </a:p>
        </p:txBody>
      </p:sp>
    </p:spTree>
    <p:extLst>
      <p:ext uri="{BB962C8B-B14F-4D97-AF65-F5344CB8AC3E}">
        <p14:creationId xmlns:p14="http://schemas.microsoft.com/office/powerpoint/2010/main" val="39103181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400" dirty="0">
                <a:ea typeface="Calibri" panose="020F0502020204030204" pitchFamily="34" charset="0"/>
                <a:cs typeface="Arial" panose="020B0604020202020204" pitchFamily="34" charset="0"/>
              </a:rPr>
              <a:t>Acompanhamento do trabalho final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2263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16046</TotalTime>
  <Words>573</Words>
  <Application>Microsoft Office PowerPoint</Application>
  <PresentationFormat>Widescreen</PresentationFormat>
  <Paragraphs>176</Paragraphs>
  <Slides>25</Slides>
  <Notes>24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Tema do Office</vt:lpstr>
      <vt:lpstr>1_Tema do Office</vt:lpstr>
      <vt:lpstr>TP557 - Tópicos avançados em IoT e Machine Learning: Detecção de anomalias</vt:lpstr>
      <vt:lpstr>Aprendizado não-supervisionado</vt:lpstr>
      <vt:lpstr>Aprendizado supervisionado versus não supervisionado</vt:lpstr>
      <vt:lpstr>Clusterização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K-means</vt:lpstr>
      <vt:lpstr>Apresentação do PowerPoint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2403</cp:revision>
  <dcterms:created xsi:type="dcterms:W3CDTF">2020-01-20T13:50:05Z</dcterms:created>
  <dcterms:modified xsi:type="dcterms:W3CDTF">2025-05-14T01:44:12Z</dcterms:modified>
</cp:coreProperties>
</file>