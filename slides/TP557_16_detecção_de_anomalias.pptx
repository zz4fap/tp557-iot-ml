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37"/>
  </p:notesMasterIdLst>
  <p:handoutMasterIdLst>
    <p:handoutMasterId r:id="rId38"/>
  </p:handoutMasterIdLst>
  <p:sldIdLst>
    <p:sldId id="256" r:id="rId3"/>
    <p:sldId id="585" r:id="rId4"/>
    <p:sldId id="586" r:id="rId5"/>
    <p:sldId id="588" r:id="rId6"/>
    <p:sldId id="587" r:id="rId7"/>
    <p:sldId id="589" r:id="rId8"/>
    <p:sldId id="623" r:id="rId9"/>
    <p:sldId id="624" r:id="rId10"/>
    <p:sldId id="625" r:id="rId11"/>
    <p:sldId id="622" r:id="rId12"/>
    <p:sldId id="628" r:id="rId13"/>
    <p:sldId id="627" r:id="rId14"/>
    <p:sldId id="626" r:id="rId15"/>
    <p:sldId id="629" r:id="rId16"/>
    <p:sldId id="584" r:id="rId17"/>
    <p:sldId id="621" r:id="rId18"/>
    <p:sldId id="591" r:id="rId19"/>
    <p:sldId id="598" r:id="rId20"/>
    <p:sldId id="592" r:id="rId21"/>
    <p:sldId id="593" r:id="rId22"/>
    <p:sldId id="597" r:id="rId23"/>
    <p:sldId id="603" r:id="rId24"/>
    <p:sldId id="594" r:id="rId25"/>
    <p:sldId id="595" r:id="rId26"/>
    <p:sldId id="596" r:id="rId27"/>
    <p:sldId id="600" r:id="rId28"/>
    <p:sldId id="601" r:id="rId29"/>
    <p:sldId id="602" r:id="rId30"/>
    <p:sldId id="613" r:id="rId31"/>
    <p:sldId id="610" r:id="rId32"/>
    <p:sldId id="611" r:id="rId33"/>
    <p:sldId id="612" r:id="rId34"/>
    <p:sldId id="615" r:id="rId35"/>
    <p:sldId id="616" r:id="rId36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82567" autoAdjust="0"/>
  </p:normalViewPr>
  <p:slideViewPr>
    <p:cSldViewPr snapToGrid="0">
      <p:cViewPr varScale="1">
        <p:scale>
          <a:sx n="61" d="100"/>
          <a:sy n="61" d="100"/>
        </p:scale>
        <p:origin x="1332" y="78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handoutMaster" Target="handoutMasters/handout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12/05/2025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12/05/2025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56447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4554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759873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660319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375303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BDAD2A1-5359-2B35-87A2-CB62DA9AC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E3CCF2D8-39A8-6970-A91C-CA1BB1172B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D2A0BCB8-A319-F2B9-61A9-80B79A20C8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7430ECDE-57AD-7D93-14A4-A776028713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6403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E6003E3-9C23-DFB4-E656-EE817B7B6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A47E6B73-509B-606A-BA52-ECD9A90194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1E7DD88D-B209-FE30-9F24-9AD224BF1E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A209F62-F946-427E-D702-876E44243A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16374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1790B8E-ACCA-F7FC-062F-E911F5C53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77BBB11C-3D4E-BD82-F35A-38E1761E0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88D90C90-61FD-F2FA-BABE-D96B4D6667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281AAE74-6902-1DF5-1CE0-D34FA28003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67989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DC8778D-274C-4550-BFA6-2BF2EE137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C35AD5E8-765A-E917-B919-F1F6AE347F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9D90C0BF-FC56-01AC-3AD0-5B5E6D0FB4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1EF1718-29E8-7DF3-052E-E040AF9472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86734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5CE570B-6F22-A16C-FB7C-644660A08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54988FE9-CE61-8F19-30AA-F0093DA959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FF56B3B1-0912-3AF5-3099-3CC1931A01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EA8F2BE0-E2B3-AC2B-9D52-752913B7CF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95065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8F770F4-9A55-E975-D43C-FCEA3ED2C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AEDFCAA5-FC8C-DD9C-AFC5-CB278DE7F7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D403E6E9-E099-A9A5-653E-6F07229969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384EBEF5-7321-520D-7991-F3CC5AF3A5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2298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1D8DD9A-FB73-B3DA-6F9F-A22549E2A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E99B0F2D-8473-FC35-AF28-ECE2A18290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8C9962D3-EA60-94A8-A6D4-C3161BED15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1A62ECEA-4026-B0E1-9730-4E6CBBB393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943195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14905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58432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01245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7484920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231685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4065107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4882410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0718745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912784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3393148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911521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173377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0395355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4124803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239873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0585891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C8D850-966F-45A6-8DE7-15B891E7D40D}" type="slidenum">
              <a:rPr kumimoji="0" lang="pt-BR" sz="2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pt-BR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1604602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C8D850-966F-45A6-8DE7-15B891E7D40D}" type="slidenum">
              <a:rPr kumimoji="0" lang="pt-BR" sz="2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pt-BR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415399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C8D850-966F-45A6-8DE7-15B891E7D40D}" type="slidenum">
              <a:rPr kumimoji="0" lang="pt-BR" sz="2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pt-BR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8932463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C8D850-966F-45A6-8DE7-15B891E7D40D}" type="slidenum">
              <a:rPr kumimoji="0" lang="pt-BR" sz="2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pt-BR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71950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12/05/2025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12/05/2025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12/05/2025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12/05/2025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9.jpe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1.jpeg"/><Relationship Id="rId4" Type="http://schemas.openxmlformats.org/officeDocument/2006/relationships/image" Target="../media/image20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1.jpe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r>
              <a:rPr lang="pt-BR" dirty="0"/>
              <a:t/>
            </a:r>
            <a:br>
              <a:rPr lang="pt-BR" dirty="0"/>
            </a:br>
            <a:r>
              <a:rPr lang="pt-BR" b="1" i="1" dirty="0"/>
              <a:t>Detecção de anomalias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xmlns="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xmlns="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Aprendizado não-supervisionado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785131" cy="4713889"/>
          </a:xfrm>
        </p:spPr>
        <p:txBody>
          <a:bodyPr>
            <a:normAutofit/>
          </a:bodyPr>
          <a:lstStyle/>
          <a:p>
            <a:r>
              <a:rPr lang="pt-BR" dirty="0"/>
              <a:t>Diferentemente do aprendizado supervisionado, no aprendizado não-supervisionado, não existem rótulos.</a:t>
            </a:r>
          </a:p>
          <a:p>
            <a:r>
              <a:rPr lang="pt-BR" dirty="0"/>
              <a:t>Esses algoritmos descobrem padrões ocultos ou agrupamentos de dados sem a necessidade de rótulos.</a:t>
            </a:r>
          </a:p>
          <a:p>
            <a:r>
              <a:rPr lang="pt-BR" dirty="0"/>
              <a:t>São usados em problemas de</a:t>
            </a:r>
          </a:p>
          <a:p>
            <a:pPr lvl="1"/>
            <a:r>
              <a:rPr lang="pt-BR" dirty="0"/>
              <a:t>Segmentação</a:t>
            </a:r>
          </a:p>
          <a:p>
            <a:pPr lvl="1"/>
            <a:r>
              <a:rPr lang="pt-BR" dirty="0"/>
              <a:t>Agrupamento</a:t>
            </a:r>
          </a:p>
          <a:p>
            <a:pPr lvl="1"/>
            <a:r>
              <a:rPr lang="pt-BR" dirty="0"/>
              <a:t>Redução de dimensionalidade</a:t>
            </a:r>
          </a:p>
          <a:p>
            <a:pPr lvl="1"/>
            <a:r>
              <a:rPr lang="pt-BR" b="1" i="1" dirty="0">
                <a:solidFill>
                  <a:srgbClr val="FF0000"/>
                </a:solidFill>
              </a:rPr>
              <a:t>Detecção de anomalias</a:t>
            </a:r>
          </a:p>
        </p:txBody>
      </p:sp>
    </p:spTree>
    <p:extLst>
      <p:ext uri="{BB962C8B-B14F-4D97-AF65-F5344CB8AC3E}">
        <p14:creationId xmlns:p14="http://schemas.microsoft.com/office/powerpoint/2010/main" val="1681526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8734097" cy="762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Aprendizado supervisionado versus não supervisionado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/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3074" name="Picture 2" descr="Unsupervised machine learning">
            <a:extLst>
              <a:ext uri="{FF2B5EF4-FFF2-40B4-BE49-F238E27FC236}">
                <a16:creationId xmlns:a16="http://schemas.microsoft.com/office/drawing/2014/main" xmlns="" id="{9C9BB3FA-B234-195B-6E78-1F5F1A0B5D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89" y="4424868"/>
            <a:ext cx="6371808" cy="24331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Supervised machine learning">
            <a:extLst>
              <a:ext uri="{FF2B5EF4-FFF2-40B4-BE49-F238E27FC236}">
                <a16:creationId xmlns:a16="http://schemas.microsoft.com/office/drawing/2014/main" xmlns="" id="{85D641D0-2AF2-0E0D-20E1-BE0FB83D48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89" y="945092"/>
            <a:ext cx="5787974" cy="27375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40125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smtClean="0"/>
              <a:t>Clusterização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1"/>
            <a:ext cx="10100441" cy="2737556"/>
          </a:xfrm>
        </p:spPr>
        <p:txBody>
          <a:bodyPr>
            <a:normAutofit/>
          </a:bodyPr>
          <a:lstStyle/>
          <a:p>
            <a:r>
              <a:rPr lang="pt-BR" dirty="0"/>
              <a:t>A forma mais simples e conhecida de aprendizado não-supervisionado é a clusterização ou agrupamento.</a:t>
            </a:r>
          </a:p>
          <a:p>
            <a:r>
              <a:rPr lang="pt-BR" dirty="0"/>
              <a:t>O objetivo do agrupamento é dividir os dados em vários grupos ou clusters, de modo que os pontos de dados dentro de cada grupo sejam mais comparáveis ​​entre si e diferentes dos pontos de dados dentro dos outros grupos.</a:t>
            </a:r>
          </a:p>
          <a:p>
            <a:r>
              <a:rPr lang="pt-BR" dirty="0"/>
              <a:t> É essencialmente um agrupamento de coisas com base em quão semelhantes (ou próximos) e diferentes elas são entre si. 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4098" name="Picture 2" descr="What is K-means Clustering and it's use cases ? | by Avijit das | Medium">
            <a:extLst>
              <a:ext uri="{FF2B5EF4-FFF2-40B4-BE49-F238E27FC236}">
                <a16:creationId xmlns:a16="http://schemas.microsoft.com/office/drawing/2014/main" xmlns="" id="{056C7919-93FD-E63C-B36E-CC710CDD60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9830" y="3804357"/>
            <a:ext cx="6272390" cy="265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2180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r>
              <a:rPr lang="pt-BR" dirty="0"/>
              <a:t>O algoritmo de clusterização mais conhecido é o K-</a:t>
            </a:r>
            <a:r>
              <a:rPr lang="pt-BR" dirty="0" err="1"/>
              <a:t>means</a:t>
            </a:r>
            <a:r>
              <a:rPr lang="pt-BR" dirty="0"/>
              <a:t>.</a:t>
            </a:r>
          </a:p>
          <a:p>
            <a:r>
              <a:rPr lang="pt-BR" dirty="0"/>
              <a:t>O objetivo do K-</a:t>
            </a:r>
            <a:r>
              <a:rPr lang="pt-BR" dirty="0" err="1"/>
              <a:t>means</a:t>
            </a:r>
            <a:r>
              <a:rPr lang="pt-BR" dirty="0"/>
              <a:t> é simples: agrupar pontos de dados semelhantes e descobrir padrões subjacentes.</a:t>
            </a:r>
          </a:p>
          <a:p>
            <a:pPr lvl="1"/>
            <a:r>
              <a:rPr lang="pt-BR" dirty="0"/>
              <a:t>Semelhante aqui é no sentido de proximidade.</a:t>
            </a:r>
          </a:p>
          <a:p>
            <a:r>
              <a:rPr lang="pt-BR" dirty="0"/>
              <a:t>Para atingir este objetivo, o K-</a:t>
            </a:r>
            <a:r>
              <a:rPr lang="pt-BR" dirty="0" err="1"/>
              <a:t>means</a:t>
            </a:r>
            <a:r>
              <a:rPr lang="pt-BR" dirty="0"/>
              <a:t> procura um número fixo (k) de clusters em um conjunto de dados.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4098" name="Picture 2" descr="K-Means Clustering Algorithm - Javatpoint">
            <a:extLst>
              <a:ext uri="{FF2B5EF4-FFF2-40B4-BE49-F238E27FC236}">
                <a16:creationId xmlns:a16="http://schemas.microsoft.com/office/drawing/2014/main" xmlns="" id="{45592E60-7087-AC09-6FA1-B6EBEB4488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2326" y="3327400"/>
            <a:ext cx="5343525" cy="2695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424438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K-</a:t>
            </a:r>
            <a:r>
              <a:rPr lang="pt-BR" dirty="0" err="1"/>
              <a:t>means</a:t>
            </a:r>
            <a:r>
              <a:rPr lang="pt-BR" sz="3000" dirty="0"/>
              <a:t> </a:t>
            </a:r>
            <a:r>
              <a:rPr lang="pt-BR" dirty="0" err="1"/>
              <a:t>pseudo-código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xmlns="" id="{A60E2CD0-3AFD-013C-16CC-B158E81DC1CA}"/>
                  </a:ext>
                </a:extLst>
              </p:cNvPr>
              <p:cNvSpPr txBox="1"/>
              <p:nvPr/>
            </p:nvSpPr>
            <p:spPr>
              <a:xfrm>
                <a:off x="1221786" y="2204015"/>
                <a:ext cx="9545228" cy="224676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pt-BR" sz="2000" b="1" dirty="0"/>
                  <a:t>Entradas</a:t>
                </a:r>
                <a:r>
                  <a:rPr lang="pt-BR" sz="2000" dirty="0"/>
                  <a:t>: conjunto de exemplos e número de clusters, </a:t>
                </a:r>
                <a14:m>
                  <m:oMath xmlns:m="http://schemas.openxmlformats.org/officeDocument/2006/math">
                    <m:r>
                      <a:rPr lang="pt-BR" sz="2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2000" dirty="0"/>
                  <a:t>. </a:t>
                </a:r>
                <a:endParaRPr lang="pt-BR" sz="2000" b="1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sz="2000" b="1" dirty="0"/>
                  <a:t>Defina</a:t>
                </a:r>
                <a:r>
                  <a:rPr lang="pt-BR" sz="2000" dirty="0"/>
                  <a:t> </a:t>
                </a:r>
                <a14:m>
                  <m:oMath xmlns:m="http://schemas.openxmlformats.org/officeDocument/2006/math">
                    <m:r>
                      <a:rPr lang="pt-BR" sz="2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2000" dirty="0"/>
                  <a:t> centroides iniciais (geralmente, feito de forma aleatória).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sz="2000" b="1" dirty="0"/>
                  <a:t>Repita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sz="2000" dirty="0"/>
                  <a:t>Calcule a distância de cada exemplo, </a:t>
                </a:r>
                <a14:m>
                  <m:oMath xmlns:m="http://schemas.openxmlformats.org/officeDocument/2006/math">
                    <m:r>
                      <a:rPr lang="pt-BR" sz="200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sz="2000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000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000" dirty="0"/>
                  <a:t>para cada um dos </a:t>
                </a:r>
                <a14:m>
                  <m:oMath xmlns:m="http://schemas.openxmlformats.org/officeDocument/2006/math">
                    <m:r>
                      <a:rPr lang="pt-BR" sz="2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2000" dirty="0"/>
                  <a:t> centroides e atribua cada exemplo ao cluster mais próximo.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sz="2000" dirty="0"/>
                  <a:t>Calcule o novo centroide de cada cluster.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sz="2000" b="1" dirty="0"/>
                  <a:t>Enquanto </a:t>
                </a:r>
                <a:r>
                  <a:rPr lang="pt-BR" sz="2000" dirty="0"/>
                  <a:t>as posições dos centroides continuarem mudando.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60E2CD0-3AFD-013C-16CC-B158E81DC1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1786" y="2204015"/>
                <a:ext cx="9545228" cy="2246769"/>
              </a:xfrm>
              <a:prstGeom prst="rect">
                <a:avLst/>
              </a:prstGeom>
              <a:blipFill>
                <a:blip r:embed="rId4"/>
                <a:stretch>
                  <a:fillRect l="-638" t="-1351" b="-378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6074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8A1FE513-AB4A-132F-B33C-C1A69C4E9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E5BC5611-534A-CB77-C071-F477937D3B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7E7F13EA-3BD1-43C2-79EA-B881793AD8A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A0891BC2-FEAE-19E7-B671-ECE0FACC07C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747C2E78-E437-28C4-0BAF-D2D2AC1C96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F98B536F-38AB-58C5-0FFB-41BDB557E9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6422" y="1856677"/>
            <a:ext cx="6315956" cy="500132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04EA9FAE-D371-68E0-2CB7-9C8893491B3B}"/>
              </a:ext>
            </a:extLst>
          </p:cNvPr>
          <p:cNvSpPr txBox="1"/>
          <p:nvPr/>
        </p:nvSpPr>
        <p:spPr>
          <a:xfrm>
            <a:off x="303430" y="2475186"/>
            <a:ext cx="2532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/>
              <a:t>1. Define-se o número de clusters, K </a:t>
            </a:r>
            <a:r>
              <a:rPr lang="pt-BR" dirty="0"/>
              <a:t>= 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03470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B86C6B89-4D49-2EC0-F063-638BD6935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81115AF-9415-9558-8D7C-7CA5F9E9E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55584ECE-67DE-1FFA-9FE4-D3C3D413641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A9D0FB6C-59DD-7620-EBAF-21BB030E5B5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C6F58C6-8849-231E-3B12-60D9682EF4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69F3FE92-0D0B-AECE-B64E-FC9D2F3EAD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6601" y="1913835"/>
            <a:ext cx="6258798" cy="494416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5D947541-89EC-69EF-1918-6EFD56E0B3C2}"/>
              </a:ext>
            </a:extLst>
          </p:cNvPr>
          <p:cNvSpPr txBox="1"/>
          <p:nvPr/>
        </p:nvSpPr>
        <p:spPr>
          <a:xfrm>
            <a:off x="65746" y="2490952"/>
            <a:ext cx="29008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2. </a:t>
            </a:r>
            <a:r>
              <a:rPr lang="en-US" dirty="0" err="1" smtClean="0"/>
              <a:t>Escolhe</a:t>
            </a:r>
            <a:r>
              <a:rPr lang="en-US" dirty="0" smtClean="0"/>
              <a:t>-se </a:t>
            </a:r>
            <a:r>
              <a:rPr lang="en-US" dirty="0" err="1" smtClean="0"/>
              <a:t>os</a:t>
            </a:r>
            <a:r>
              <a:rPr lang="en-US" dirty="0" smtClean="0"/>
              <a:t> </a:t>
            </a:r>
            <a:r>
              <a:rPr lang="en-US" dirty="0" err="1" smtClean="0"/>
              <a:t>centroides</a:t>
            </a:r>
            <a:r>
              <a:rPr lang="en-US" dirty="0" smtClean="0"/>
              <a:t> para </a:t>
            </a:r>
            <a:r>
              <a:rPr lang="en-US" dirty="0" err="1" smtClean="0"/>
              <a:t>cada</a:t>
            </a:r>
            <a:r>
              <a:rPr lang="en-US" dirty="0" smtClean="0"/>
              <a:t> cluster de forma </a:t>
            </a:r>
            <a:r>
              <a:rPr lang="en-US" dirty="0" err="1" smtClean="0"/>
              <a:t>aleatória</a:t>
            </a:r>
            <a:r>
              <a:rPr lang="en-US" dirty="0" smtClean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3773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42119100-E668-77C4-3183-771B95B26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4EBCA554-D396-DCCB-4744-F3695D6FD5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3380BF6D-7A0A-C11E-50C6-1F567BA3A3D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52BFF569-F440-2D60-8296-D8243B2988E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0298857-CD80-B8D1-6E62-55E6C3A64A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1C0684BB-EFF7-DBA8-3519-25CE2A1A96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1837" y="1885256"/>
            <a:ext cx="6268325" cy="497274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38267D7C-379A-003E-4048-8D4DDD969EB6}"/>
              </a:ext>
            </a:extLst>
          </p:cNvPr>
          <p:cNvSpPr txBox="1"/>
          <p:nvPr/>
        </p:nvSpPr>
        <p:spPr>
          <a:xfrm>
            <a:off x="101600" y="2865735"/>
            <a:ext cx="265211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 smtClean="0">
                <a:solidFill>
                  <a:srgbClr val="404040"/>
                </a:solidFill>
                <a:effectLst/>
              </a:rPr>
              <a:t>3. Atribui-se </a:t>
            </a:r>
            <a:r>
              <a:rPr lang="pt-BR" b="0" i="0" dirty="0">
                <a:solidFill>
                  <a:srgbClr val="404040"/>
                </a:solidFill>
                <a:effectLst/>
              </a:rPr>
              <a:t>cada amostra ao </a:t>
            </a:r>
            <a:r>
              <a:rPr lang="pt-BR" b="0" i="0" dirty="0" err="1">
                <a:solidFill>
                  <a:srgbClr val="404040"/>
                </a:solidFill>
                <a:effectLst/>
              </a:rPr>
              <a:t>centróide</a:t>
            </a:r>
            <a:r>
              <a:rPr lang="pt-BR" b="0" i="0" dirty="0">
                <a:solidFill>
                  <a:srgbClr val="404040"/>
                </a:solidFill>
                <a:effectLst/>
              </a:rPr>
              <a:t> mais próximo com base na distância euclidiana.</a:t>
            </a:r>
            <a:r>
              <a:rPr lang="pt-BR" dirty="0"/>
              <a:t/>
            </a:r>
            <a:br>
              <a:rPr lang="pt-B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11179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1F378FD1-DBF4-DCA8-F1BC-B3E89729A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7002D84-8C44-E80A-6CE1-1C285A07D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3E14BFEB-7725-6B4D-C589-A43632C9800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DDC94C5F-D329-0D03-2D55-303CAEA4657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C330112-2C2B-538C-EFFC-0C5273ED92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4A874BBD-11DB-833A-341F-F134DDD111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7074" y="1913835"/>
            <a:ext cx="6277851" cy="494416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FB63ADD3-D956-76C5-F130-F38465877D67}"/>
              </a:ext>
            </a:extLst>
          </p:cNvPr>
          <p:cNvSpPr txBox="1"/>
          <p:nvPr/>
        </p:nvSpPr>
        <p:spPr>
          <a:xfrm>
            <a:off x="101600" y="2577501"/>
            <a:ext cx="29989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 smtClean="0">
                <a:solidFill>
                  <a:srgbClr val="404040"/>
                </a:solidFill>
                <a:effectLst/>
              </a:rPr>
              <a:t>4. Recalcula-se </a:t>
            </a:r>
            <a:r>
              <a:rPr lang="pt-BR" b="0" i="0" dirty="0">
                <a:solidFill>
                  <a:srgbClr val="404040"/>
                </a:solidFill>
                <a:effectLst/>
              </a:rPr>
              <a:t>o centroide do clusters.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26406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9BB75298-302A-6135-F195-096473EDA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7828DF8-D69B-BFFF-D2B4-A925DD437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A4C3F9D2-0307-0450-4E41-55D3298E641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A5277E26-0B39-A36B-7447-436FDC3E025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83702F57-B420-BA92-57FC-CDEAF0E046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BE9E2474-44BE-43D0-EE2F-D03349050D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6422" y="1913835"/>
            <a:ext cx="6315956" cy="494416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E7FEC406-7A7E-5D78-DF69-D2416A2375C3}"/>
              </a:ext>
            </a:extLst>
          </p:cNvPr>
          <p:cNvSpPr txBox="1"/>
          <p:nvPr/>
        </p:nvSpPr>
        <p:spPr>
          <a:xfrm>
            <a:off x="304800" y="2629284"/>
            <a:ext cx="25316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 smtClean="0">
                <a:solidFill>
                  <a:srgbClr val="404040"/>
                </a:solidFill>
                <a:effectLst/>
              </a:rPr>
              <a:t>5. Repete-se </a:t>
            </a:r>
            <a:r>
              <a:rPr lang="pt-BR" b="0" i="0" dirty="0">
                <a:solidFill>
                  <a:srgbClr val="404040"/>
                </a:solidFill>
                <a:effectLst/>
              </a:rPr>
              <a:t>os passos 3 e 4.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11451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749972DB-1A29-C878-AC52-B084A233C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23F31A0-EB34-A3FB-D3AD-8E88098E62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A22086E9-56E3-EC28-E48A-9069376FF07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E1A13779-07EA-5350-121F-C4141832B9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B461F4C5-B5F4-E3F6-B686-4C94C38803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CD544109-9098-CA3C-766B-DFEB05AE1F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9290" y="1932888"/>
            <a:ext cx="6230219" cy="4925112"/>
          </a:xfrm>
          <a:prstGeom prst="rect">
            <a:avLst/>
          </a:prstGeom>
        </p:spPr>
      </p:pic>
      <p:sp>
        <p:nvSpPr>
          <p:cNvPr id="9" name="TextBox 9">
            <a:extLst>
              <a:ext uri="{FF2B5EF4-FFF2-40B4-BE49-F238E27FC236}">
                <a16:creationId xmlns:a16="http://schemas.microsoft.com/office/drawing/2014/main" xmlns="" id="{E7FEC406-7A7E-5D78-DF69-D2416A2375C3}"/>
              </a:ext>
            </a:extLst>
          </p:cNvPr>
          <p:cNvSpPr txBox="1"/>
          <p:nvPr/>
        </p:nvSpPr>
        <p:spPr>
          <a:xfrm>
            <a:off x="304800" y="2629284"/>
            <a:ext cx="25316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 smtClean="0">
                <a:solidFill>
                  <a:srgbClr val="404040"/>
                </a:solidFill>
                <a:effectLst/>
              </a:rPr>
              <a:t>5. Repete-se </a:t>
            </a:r>
            <a:r>
              <a:rPr lang="pt-BR" b="0" i="0" dirty="0">
                <a:solidFill>
                  <a:srgbClr val="404040"/>
                </a:solidFill>
                <a:effectLst/>
              </a:rPr>
              <a:t>os passos 3 e 4.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59373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69317B56-95CF-5EB4-1950-84D108AD8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48642745-4759-3504-B537-1A643C255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84E44FE8-BA6E-9F6F-1997-0AD869D77E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21DB31B1-11EA-8016-35EE-14EA7345F53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63D17EBA-F020-2A71-B133-21937AD74F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9F08A47C-C93C-D40B-F5DC-3C29F2EEEE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5180" y="1961467"/>
            <a:ext cx="6201640" cy="489653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4376C1A9-3731-8BF9-861E-3D686FEA4F43}"/>
              </a:ext>
            </a:extLst>
          </p:cNvPr>
          <p:cNvSpPr txBox="1"/>
          <p:nvPr/>
        </p:nvSpPr>
        <p:spPr>
          <a:xfrm>
            <a:off x="141890" y="2629285"/>
            <a:ext cx="295489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 smtClean="0">
                <a:solidFill>
                  <a:srgbClr val="404040"/>
                </a:solidFill>
                <a:effectLst/>
              </a:rPr>
              <a:t>Repete-se os </a:t>
            </a:r>
            <a:r>
              <a:rPr lang="pt-BR" b="0" i="0" dirty="0">
                <a:solidFill>
                  <a:srgbClr val="404040"/>
                </a:solidFill>
                <a:effectLst/>
              </a:rPr>
              <a:t>passos </a:t>
            </a:r>
            <a:r>
              <a:rPr lang="pt-BR" b="0" i="0" dirty="0" smtClean="0">
                <a:solidFill>
                  <a:srgbClr val="404040"/>
                </a:solidFill>
                <a:effectLst/>
              </a:rPr>
              <a:t>3-4</a:t>
            </a:r>
            <a:r>
              <a:rPr lang="pt-BR" dirty="0"/>
              <a:t> </a:t>
            </a:r>
            <a:r>
              <a:rPr lang="pt-BR" b="0" i="0" dirty="0" smtClean="0">
                <a:solidFill>
                  <a:srgbClr val="404040"/>
                </a:solidFill>
                <a:effectLst/>
              </a:rPr>
              <a:t>até </a:t>
            </a:r>
            <a:r>
              <a:rPr lang="pt-BR" b="0" i="0" dirty="0">
                <a:solidFill>
                  <a:srgbClr val="404040"/>
                </a:solidFill>
                <a:effectLst/>
              </a:rPr>
              <a:t>que um dos seguintes </a:t>
            </a:r>
            <a:r>
              <a:rPr lang="pt-BR" b="0" i="0" dirty="0" smtClean="0">
                <a:solidFill>
                  <a:srgbClr val="404040"/>
                </a:solidFill>
                <a:effectLst/>
              </a:rPr>
              <a:t>ocorra:</a:t>
            </a:r>
            <a:endParaRPr lang="pt-BR" dirty="0"/>
          </a:p>
          <a:p>
            <a:pPr marL="342900" indent="-342900">
              <a:buFont typeface="+mj-lt"/>
              <a:buAutoNum type="arabicPeriod"/>
            </a:pPr>
            <a:r>
              <a:rPr lang="pt-BR" b="0" i="0" dirty="0" smtClean="0">
                <a:solidFill>
                  <a:srgbClr val="404040"/>
                </a:solidFill>
                <a:effectLst/>
              </a:rPr>
              <a:t>A </a:t>
            </a:r>
            <a:r>
              <a:rPr lang="pt-BR" b="0" i="0" dirty="0">
                <a:solidFill>
                  <a:srgbClr val="404040"/>
                </a:solidFill>
                <a:effectLst/>
              </a:rPr>
              <a:t>soma das distâncias entre os pontos de dados e o </a:t>
            </a:r>
            <a:r>
              <a:rPr lang="pt-BR" b="0" i="0" dirty="0" err="1">
                <a:solidFill>
                  <a:srgbClr val="404040"/>
                </a:solidFill>
                <a:effectLst/>
              </a:rPr>
              <a:t>centróide</a:t>
            </a:r>
            <a:r>
              <a:rPr lang="pt-BR" b="0" i="0" dirty="0">
                <a:solidFill>
                  <a:srgbClr val="404040"/>
                </a:solidFill>
                <a:effectLst/>
              </a:rPr>
              <a:t> correspondente seja </a:t>
            </a:r>
            <a:r>
              <a:rPr lang="pt-BR" b="0" i="0" dirty="0" smtClean="0">
                <a:solidFill>
                  <a:srgbClr val="404040"/>
                </a:solidFill>
                <a:effectLst/>
              </a:rPr>
              <a:t>minimizada</a:t>
            </a:r>
            <a:endParaRPr lang="pt-BR" dirty="0"/>
          </a:p>
          <a:p>
            <a:pPr marL="342900" indent="-342900">
              <a:buFont typeface="+mj-lt"/>
              <a:buAutoNum type="arabicPeriod"/>
            </a:pPr>
            <a:r>
              <a:rPr lang="pt-BR" b="0" i="0" dirty="0" smtClean="0">
                <a:solidFill>
                  <a:srgbClr val="404040"/>
                </a:solidFill>
                <a:effectLst/>
              </a:rPr>
              <a:t>Não </a:t>
            </a:r>
            <a:r>
              <a:rPr lang="pt-BR" b="0" i="0" dirty="0">
                <a:solidFill>
                  <a:srgbClr val="404040"/>
                </a:solidFill>
                <a:effectLst/>
              </a:rPr>
              <a:t>haja alteração nos </a:t>
            </a:r>
            <a:r>
              <a:rPr lang="pt-BR" b="0" i="0" dirty="0" smtClean="0">
                <a:solidFill>
                  <a:srgbClr val="404040"/>
                </a:solidFill>
                <a:effectLst/>
              </a:rPr>
              <a:t>centroides</a:t>
            </a:r>
            <a:endParaRPr lang="pt-BR" dirty="0"/>
          </a:p>
          <a:p>
            <a:pPr marL="342900" indent="-342900">
              <a:buFont typeface="+mj-lt"/>
              <a:buAutoNum type="arabicPeriod"/>
            </a:pPr>
            <a:r>
              <a:rPr lang="pt-BR" b="0" i="0" dirty="0" smtClean="0">
                <a:solidFill>
                  <a:srgbClr val="404040"/>
                </a:solidFill>
                <a:effectLst/>
              </a:rPr>
              <a:t>O </a:t>
            </a:r>
            <a:r>
              <a:rPr lang="pt-BR" b="0" i="0" dirty="0">
                <a:solidFill>
                  <a:srgbClr val="404040"/>
                </a:solidFill>
                <a:effectLst/>
              </a:rPr>
              <a:t>número máximo de iterações seja atingido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81002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b="4339"/>
          <a:stretch/>
        </p:blipFill>
        <p:spPr>
          <a:xfrm>
            <a:off x="6484577" y="3172615"/>
            <a:ext cx="4460195" cy="2863583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026" name="Picture 2" descr="Univariate Anomaly Detection | Anomaly Detection Algorithms">
            <a:extLst>
              <a:ext uri="{FF2B5EF4-FFF2-40B4-BE49-F238E27FC236}">
                <a16:creationId xmlns:a16="http://schemas.microsoft.com/office/drawing/2014/main" xmlns="" id="{D6FF8611-2758-C1DA-8FC6-10C7681C12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74574" y="3632200"/>
            <a:ext cx="3823026" cy="28568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10589172" cy="2737556"/>
          </a:xfrm>
        </p:spPr>
        <p:txBody>
          <a:bodyPr>
            <a:normAutofit/>
          </a:bodyPr>
          <a:lstStyle/>
          <a:p>
            <a:r>
              <a:rPr lang="pt-BR" dirty="0"/>
              <a:t>A</a:t>
            </a:r>
            <a:r>
              <a:rPr lang="pt-BR" dirty="0" smtClean="0"/>
              <a:t> </a:t>
            </a:r>
            <a:r>
              <a:rPr lang="pt-BR" dirty="0"/>
              <a:t>detecção de anomalias é a identificação de itens, eventos ou observações raras que levantam suspeitas por diferirem significativamente da maioria dos dados</a:t>
            </a:r>
            <a:r>
              <a:rPr lang="pt-BR" dirty="0" smtClean="0"/>
              <a:t>.</a:t>
            </a:r>
          </a:p>
          <a:p>
            <a:r>
              <a:rPr lang="pt-BR" dirty="0" smtClean="0"/>
              <a:t>Exemplos</a:t>
            </a:r>
          </a:p>
          <a:p>
            <a:pPr lvl="1"/>
            <a:r>
              <a:rPr lang="pt-BR" dirty="0" smtClean="0"/>
              <a:t>Detecção de spam</a:t>
            </a:r>
          </a:p>
          <a:p>
            <a:pPr lvl="1"/>
            <a:r>
              <a:rPr lang="pt-BR" dirty="0" smtClean="0"/>
              <a:t>Detecção de fraude de cartão de crédito</a:t>
            </a:r>
          </a:p>
          <a:p>
            <a:pPr lvl="1"/>
            <a:r>
              <a:rPr lang="pt-BR" dirty="0" smtClean="0"/>
              <a:t>Detecção de falhas</a:t>
            </a:r>
          </a:p>
          <a:p>
            <a:pPr lvl="1"/>
            <a:r>
              <a:rPr lang="pt-BR" dirty="0" smtClean="0"/>
              <a:t>Detecção de movimento</a:t>
            </a:r>
            <a:endParaRPr lang="pt-BR" dirty="0" smtClean="0"/>
          </a:p>
          <a:p>
            <a:pPr lvl="1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169298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/>
          <a:lstStyle/>
          <a:p>
            <a:r>
              <a:rPr lang="pt-BR" dirty="0"/>
              <a:t>Aplicações</a:t>
            </a:r>
          </a:p>
        </p:txBody>
      </p:sp>
      <p:pic>
        <p:nvPicPr>
          <p:cNvPr id="2050" name="Picture 2" descr="Anomaly Detection Real World Scenarios Approaches and Live Implementation -  YouTube">
            <a:extLst>
              <a:ext uri="{FF2B5EF4-FFF2-40B4-BE49-F238E27FC236}">
                <a16:creationId xmlns:a16="http://schemas.microsoft.com/office/drawing/2014/main" xmlns="" id="{FDE7A801-6226-C67C-506A-7A9F297D28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8267" y="1445508"/>
            <a:ext cx="8387017" cy="4717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361641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9016FD1-6296-97BB-4C76-AD710414C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2472478-144F-3D25-9C47-48A21F2E7C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793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Exemplo</a:t>
            </a:r>
            <a:r>
              <a:rPr lang="pt-BR" dirty="0"/>
              <a:t>: Centros de distribuição</a:t>
            </a:r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6146" name="Picture 2" descr="Centro de Distribuição: uma solução mais que viável – Novidá">
            <a:extLst>
              <a:ext uri="{FF2B5EF4-FFF2-40B4-BE49-F238E27FC236}">
                <a16:creationId xmlns:a16="http://schemas.microsoft.com/office/drawing/2014/main" xmlns="" id="{4EEAF6B8-1AE8-82F9-6BD7-E45E945A8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880" y="2298121"/>
            <a:ext cx="5787320" cy="3169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Mapa do Brasil">
            <a:extLst>
              <a:ext uri="{FF2B5EF4-FFF2-40B4-BE49-F238E27FC236}">
                <a16:creationId xmlns:a16="http://schemas.microsoft.com/office/drawing/2014/main" xmlns="" id="{BBEA9087-A8E1-78C5-981B-C50D7CF463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067" y="2025586"/>
            <a:ext cx="4307416" cy="3557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97540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Exemplo: Centros de distribuição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2A0FC1B7-A101-0508-054B-D8349F0314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7323" y="2146261"/>
            <a:ext cx="4778154" cy="4168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43697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Exemplo: Centros de distribuição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xmlns="" id="{0852AE06-D862-AB3A-2E4A-809895A9DA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7470" y="2142067"/>
            <a:ext cx="5419725" cy="3981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09060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Exemplo: Centros de distribuição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xmlns="" id="{495C0F98-25B1-BB0B-22CE-238E6C7C5D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3294" y="2239786"/>
            <a:ext cx="5419725" cy="3981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816277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Exemplo: Centros de distribuição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8DB2E93-FBF7-2C19-4172-4722168296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4442" y="2942530"/>
            <a:ext cx="3955123" cy="1379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213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470482DB-F365-0A83-E102-37A8EB7EACEF}"/>
              </a:ext>
            </a:extLst>
          </p:cNvPr>
          <p:cNvSpPr txBox="1"/>
          <p:nvPr/>
        </p:nvSpPr>
        <p:spPr>
          <a:xfrm>
            <a:off x="745067" y="989885"/>
            <a:ext cx="8229599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Exemplo: Centros de distribuição</a:t>
            </a:r>
          </a:p>
          <a:p>
            <a:endParaRPr lang="pt-BR" dirty="0"/>
          </a:p>
          <a:p>
            <a:r>
              <a:rPr lang="pt-BR" dirty="0"/>
              <a:t>Considerar a adição de mais lojas: sendo 21 só em São Paulo.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5671164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Exemplo: Centros de distribuição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xmlns="" id="{64C03338-7885-1632-F15A-D8024E40A4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7472" y="2273653"/>
            <a:ext cx="5419725" cy="3981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992289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Exemplo: Centros de distribuição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xmlns="" id="{0A2B4FC7-A3CC-A0F0-4230-65FE1716A6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7032" y="1974461"/>
            <a:ext cx="5994213" cy="39032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65134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Exemplo: Centros de distribuição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D1DA67FB-2631-AF8D-50AD-718296A5CA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23243" y="2776154"/>
            <a:ext cx="4755292" cy="1508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6466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Dados de meios de transporte:</a:t>
            </a:r>
          </a:p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Rodovias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Ferrovias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Aeroportos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Rios navegáveis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Portos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2700785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Dados de meios de transporte:</a:t>
            </a:r>
          </a:p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Custo de frete;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Quantidade de empresas transportadoras;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Índice de sinistros (roubos de carga e acidentes).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725126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Dados de meios de transporte:</a:t>
            </a:r>
          </a:p>
          <a:p>
            <a:endParaRPr lang="pt-BR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242424"/>
                </a:solidFill>
                <a:effectLst/>
                <a:latin typeface="sohne"/>
              </a:rPr>
              <a:t>Oferta e custo de mão de obra;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242424"/>
                </a:solidFill>
                <a:effectLst/>
                <a:latin typeface="sohne"/>
              </a:rPr>
              <a:t>Oferta e custo de mão de obra “qualificada” (técnicos, engenheiros, gerentes, executivos);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242424"/>
                </a:solidFill>
                <a:effectLst/>
                <a:latin typeface="sohne"/>
              </a:rPr>
              <a:t>Tributos municipais e estaduais;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242424"/>
                </a:solidFill>
                <a:effectLst/>
                <a:latin typeface="sohne"/>
              </a:rPr>
              <a:t>Localização dos fornecedores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242424"/>
                </a:solidFill>
                <a:effectLst/>
                <a:latin typeface="sohne"/>
              </a:rPr>
              <a:t>Preços de aluguel de galpões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814832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Como escolher o K ótimo?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2050" name="Picture 2" descr="Base Teórica do K-Means! Aprenda a Lógica desse Algoritmo Hoje!">
            <a:extLst>
              <a:ext uri="{FF2B5EF4-FFF2-40B4-BE49-F238E27FC236}">
                <a16:creationId xmlns:a16="http://schemas.microsoft.com/office/drawing/2014/main" xmlns="" id="{0694ADFD-EB2E-2BF0-18BE-B07E4CD60A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6381" y="1605398"/>
            <a:ext cx="7549885" cy="3444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EEF69E85-6440-34FE-5C8A-A5F37765D2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6439" y="5536951"/>
            <a:ext cx="2377646" cy="784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46427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7017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212529"/>
                </a:solidFill>
                <a:effectLst/>
                <a:latin typeface="-apple-system"/>
              </a:rPr>
              <a:t>Outliers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212529"/>
                </a:solidFill>
                <a:effectLst/>
                <a:latin typeface="-apple-system"/>
              </a:rPr>
              <a:t>Os dados de treinamento contêm valores discrepantes que são definidos como observações distantes das demais. 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212529"/>
                </a:solidFill>
                <a:effectLst/>
                <a:latin typeface="-apple-system"/>
              </a:rPr>
              <a:t>Os estimadores de detecção de outliers tentam, portanto, ajustar as regiões onde os dados de treinamento estão mais concentrados, ignorando as observações desviantes.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solidFill>
                <a:srgbClr val="212529"/>
              </a:solidFill>
              <a:latin typeface="-apple-system"/>
            </a:endParaRPr>
          </a:p>
          <a:p>
            <a:r>
              <a:rPr lang="pt-BR" dirty="0" err="1">
                <a:solidFill>
                  <a:srgbClr val="212529"/>
                </a:solidFill>
                <a:latin typeface="-apple-system"/>
              </a:rPr>
              <a:t>Novelty</a:t>
            </a:r>
            <a:endParaRPr lang="pt-BR" dirty="0">
              <a:solidFill>
                <a:srgbClr val="212529"/>
              </a:solidFill>
              <a:latin typeface="-apple-system"/>
            </a:endParaRPr>
          </a:p>
          <a:p>
            <a:endParaRPr lang="pt-BR" dirty="0">
              <a:solidFill>
                <a:srgbClr val="212529"/>
              </a:solidFill>
              <a:latin typeface="-apple-system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212529"/>
                </a:solidFill>
                <a:effectLst/>
                <a:latin typeface="-apple-system"/>
              </a:rPr>
              <a:t>Os dados de treinamento não são poluídos por valores discrepantes e estamos interessados ​​em detectar se uma </a:t>
            </a:r>
            <a:r>
              <a:rPr lang="pt-BR" b="1" i="0" dirty="0">
                <a:solidFill>
                  <a:srgbClr val="212529"/>
                </a:solidFill>
                <a:effectLst/>
                <a:latin typeface="-apple-system"/>
              </a:rPr>
              <a:t>nova</a:t>
            </a:r>
            <a:r>
              <a:rPr lang="pt-BR" b="0" i="0" dirty="0">
                <a:solidFill>
                  <a:srgbClr val="212529"/>
                </a:solidFill>
                <a:effectLst/>
                <a:latin typeface="-apple-system"/>
              </a:rPr>
              <a:t> observação é um valor discrepante.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b="0" i="0" dirty="0">
                <a:solidFill>
                  <a:srgbClr val="212529"/>
                </a:solidFill>
                <a:effectLst/>
                <a:latin typeface="-apple-system"/>
              </a:rPr>
              <a:t> Neste contexto, um outlier também é chamado de novidade</a:t>
            </a:r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5340168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de containers ao longo do ciclo logístico</a:t>
            </a:r>
          </a:p>
        </p:txBody>
      </p:sp>
      <p:pic>
        <p:nvPicPr>
          <p:cNvPr id="1026" name="Picture 2" descr="Free photo industrial containers box for logistic import export business.">
            <a:extLst>
              <a:ext uri="{FF2B5EF4-FFF2-40B4-BE49-F238E27FC236}">
                <a16:creationId xmlns:a16="http://schemas.microsoft.com/office/drawing/2014/main" xmlns="" id="{FDC07977-F662-66CB-7534-103E839769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2141" y="1819275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09793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de containers ao longo do ciclo logístico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Classificação de 5 estados do container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Parado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Sendo erguido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No mar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No caminhão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Anomalia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(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e.g.,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container caindo no mar, empilhadeira tombando)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624530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Trabalho: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Incluir e analisar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impulse possíveis anomalias nos dados da movimentação da cadeira de rodas pela cabeça.</a:t>
            </a:r>
          </a:p>
        </p:txBody>
      </p:sp>
    </p:spTree>
    <p:extLst>
      <p:ext uri="{BB962C8B-B14F-4D97-AF65-F5344CB8AC3E}">
        <p14:creationId xmlns:p14="http://schemas.microsoft.com/office/powerpoint/2010/main" val="39103181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ctr">
              <a:lnSpc>
                <a:spcPct val="107000"/>
              </a:lnSpc>
              <a:spcAft>
                <a:spcPts val="533"/>
              </a:spcAft>
              <a:buNone/>
            </a:pPr>
            <a:endParaRPr lang="pt-BR" sz="24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ctr">
              <a:lnSpc>
                <a:spcPct val="107000"/>
              </a:lnSpc>
              <a:spcAft>
                <a:spcPts val="533"/>
              </a:spcAft>
              <a:buNone/>
            </a:pPr>
            <a:endParaRPr lang="pt-BR" sz="24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ctr">
              <a:lnSpc>
                <a:spcPct val="107000"/>
              </a:lnSpc>
              <a:spcAft>
                <a:spcPts val="533"/>
              </a:spcAft>
              <a:buNone/>
            </a:pPr>
            <a:endParaRPr lang="pt-BR" sz="24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ctr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400" dirty="0">
                <a:ea typeface="Calibri" panose="020F0502020204030204" pitchFamily="34" charset="0"/>
                <a:cs typeface="Arial" panose="020B0604020202020204" pitchFamily="34" charset="0"/>
              </a:rPr>
              <a:t>Acompanhamento do trabalho final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02263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15996</TotalTime>
  <Words>701</Words>
  <Application>Microsoft Office PowerPoint</Application>
  <PresentationFormat>Widescreen</PresentationFormat>
  <Paragraphs>353</Paragraphs>
  <Slides>34</Slides>
  <Notes>33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34</vt:i4>
      </vt:variant>
    </vt:vector>
  </HeadingPairs>
  <TitlesOfParts>
    <vt:vector size="42" baseType="lpstr">
      <vt:lpstr>-apple-system</vt:lpstr>
      <vt:lpstr>Arial</vt:lpstr>
      <vt:lpstr>Calibri</vt:lpstr>
      <vt:lpstr>Calibri Light</vt:lpstr>
      <vt:lpstr>Cambria Math</vt:lpstr>
      <vt:lpstr>sohne</vt:lpstr>
      <vt:lpstr>Tema do Office</vt:lpstr>
      <vt:lpstr>1_Tema do Office</vt:lpstr>
      <vt:lpstr>TP557 - Tópicos avançados em IoT e Machine Learning: Detecção de anomalias</vt:lpstr>
      <vt:lpstr>Aprendizado não-supervisionado</vt:lpstr>
      <vt:lpstr>Aprendizado supervisionado versus não supervisionado</vt:lpstr>
      <vt:lpstr>Clusterização</vt:lpstr>
      <vt:lpstr>K-means</vt:lpstr>
      <vt:lpstr>K-means</vt:lpstr>
      <vt:lpstr>K-means</vt:lpstr>
      <vt:lpstr>K-means</vt:lpstr>
      <vt:lpstr>K-means</vt:lpstr>
      <vt:lpstr>K-means</vt:lpstr>
      <vt:lpstr>K-means</vt:lpstr>
      <vt:lpstr>K-means</vt:lpstr>
      <vt:lpstr>K-means</vt:lpstr>
      <vt:lpstr>Detecção de anomalias</vt:lpstr>
      <vt:lpstr>Detecção de anomalias</vt:lpstr>
      <vt:lpstr>Apresentação do PowerPoint</vt:lpstr>
      <vt:lpstr>K-means</vt:lpstr>
      <vt:lpstr>K-means</vt:lpstr>
      <vt:lpstr>K-means</vt:lpstr>
      <vt:lpstr>K-means</vt:lpstr>
      <vt:lpstr>K-means</vt:lpstr>
      <vt:lpstr>K-means</vt:lpstr>
      <vt:lpstr>K-means</vt:lpstr>
      <vt:lpstr>K-means</vt:lpstr>
      <vt:lpstr>K-means</vt:lpstr>
      <vt:lpstr>K-means</vt:lpstr>
      <vt:lpstr>K-means</vt:lpstr>
      <vt:lpstr>K-means</vt:lpstr>
      <vt:lpstr>K-means</vt:lpstr>
      <vt:lpstr>Detecção de anomalias</vt:lpstr>
      <vt:lpstr>Detecção de anomalias</vt:lpstr>
      <vt:lpstr>Detecção de anomalias</vt:lpstr>
      <vt:lpstr>Detecção de anomalias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2395</cp:revision>
  <dcterms:created xsi:type="dcterms:W3CDTF">2020-01-20T13:50:05Z</dcterms:created>
  <dcterms:modified xsi:type="dcterms:W3CDTF">2025-05-13T02:10:05Z</dcterms:modified>
</cp:coreProperties>
</file>