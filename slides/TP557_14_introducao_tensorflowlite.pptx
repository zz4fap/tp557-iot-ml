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6247" autoAdjust="0"/>
  </p:normalViewPr>
  <p:slideViewPr>
    <p:cSldViewPr snapToGrid="0">
      <p:cViewPr varScale="1">
        <p:scale>
          <a:sx n="104" d="100"/>
          <a:sy n="104" d="100"/>
        </p:scale>
        <p:origin x="1194" y="10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uffman_coding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1800"/>
              </a:lnSpc>
              <a:buNone/>
            </a:pPr>
            <a:r>
              <a:rPr lang="en-US" b="1" i="0" dirty="0">
                <a:solidFill>
                  <a:srgbClr val="242424"/>
                </a:solidFill>
                <a:effectLst/>
                <a:latin typeface="sohne"/>
              </a:rPr>
              <a:t>Huffman Encoding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Encoding is an optional step that is sometimes taken to further reduce the model size by storing the data in a maximally efficient way: often via the famed </a:t>
            </a:r>
            <a:r>
              <a:rPr lang="en-US" b="0" i="0" u="sng" dirty="0">
                <a:solidFill>
                  <a:srgbClr val="242424"/>
                </a:solidFill>
                <a:effectLst/>
                <a:latin typeface="source-serif-pro"/>
                <a:hlinkClick r:id="rId3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model is compressed using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principles. This is an optional step and it simply encodes the weights with a binary code being the most frequent weights assigned to the codes with fewer bits.</a:t>
            </a:r>
          </a:p>
          <a:p>
            <a:endParaRPr lang="en-US" dirty="0"/>
          </a:p>
          <a:p>
            <a:r>
              <a:rPr lang="en-US" dirty="0"/>
              <a:t>References</a:t>
            </a:r>
          </a:p>
          <a:p>
            <a:r>
              <a:rPr lang="en-US" dirty="0"/>
              <a:t>[1] https://medium.com/data-science/tiny-machine-learning-the-next-ai-revolution-495c26463868</a:t>
            </a:r>
          </a:p>
          <a:p>
            <a:r>
              <a:rPr lang="en-US" dirty="0"/>
              <a:t>[2] https://medium.com/marionete/tinyml-models-whats-happening-behind-the-scenes-5e61d1555be9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492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**TensorFlow Lite** e **TensorFlow Lite Micro** são duas versões do TensorFlow projetadas para dispositivos com recursos limitados, mas possuem diferenças importantes em termos de escopo e aplicação:</a:t>
            </a:r>
          </a:p>
          <a:p>
            <a:endParaRPr lang="pt-BR" dirty="0"/>
          </a:p>
          <a:p>
            <a:r>
              <a:rPr lang="pt-BR" dirty="0"/>
              <a:t>### 1. **TensorFlow Lite (</a:t>
            </a:r>
            <a:r>
              <a:rPr lang="pt-BR" dirty="0" err="1"/>
              <a:t>TFLite</a:t>
            </a:r>
            <a:r>
              <a:rPr lang="pt-BR" dirty="0"/>
              <a:t>)**</a:t>
            </a:r>
          </a:p>
          <a:p>
            <a:r>
              <a:rPr lang="pt-BR" dirty="0"/>
              <a:t>   - **Foco**: Dispositivos móveis e embarcados com recursos moderados (como smartphones, tablets e dispositivos IoT com sistemas operacionais, como Linux embarcado).</a:t>
            </a:r>
          </a:p>
          <a:p>
            <a:r>
              <a:rPr lang="pt-BR" dirty="0"/>
              <a:t>   - **Hardware-alvo**: CPUs, GPUs e aceleradores especializados (como </a:t>
            </a:r>
            <a:r>
              <a:rPr lang="pt-BR" dirty="0" err="1"/>
              <a:t>DSPs</a:t>
            </a:r>
            <a:r>
              <a:rPr lang="pt-BR" dirty="0"/>
              <a:t> e </a:t>
            </a:r>
            <a:r>
              <a:rPr lang="pt-BR" dirty="0" err="1"/>
              <a:t>NPUs</a:t>
            </a:r>
            <a:r>
              <a:rPr lang="pt-BR" dirty="0"/>
              <a:t>) em dispositivos Android/iOS ou sistemas embarcados mais robustos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Raspberry</a:t>
            </a:r>
            <a:r>
              <a:rPr lang="pt-BR" dirty="0"/>
              <a:t> Pi).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Suporte a modelos de machine learning para inferência (não treinamento).</a:t>
            </a:r>
          </a:p>
          <a:p>
            <a:r>
              <a:rPr lang="pt-BR" dirty="0"/>
              <a:t>     - Otimizado para eficiência computacional e de memória.</a:t>
            </a:r>
          </a:p>
          <a:p>
            <a:r>
              <a:rPr lang="pt-BR" dirty="0"/>
              <a:t>     - Inclui APIs para Android, iOS e Python (em sistemas embarcados).</a:t>
            </a:r>
          </a:p>
          <a:p>
            <a:r>
              <a:rPr lang="pt-BR" dirty="0"/>
              <a:t>     - Pode usar delegados (</a:t>
            </a:r>
            <a:r>
              <a:rPr lang="pt-BR" dirty="0" err="1"/>
              <a:t>delegates</a:t>
            </a:r>
            <a:r>
              <a:rPr lang="pt-BR" dirty="0"/>
              <a:t>) para acelerar operações em hardware específico (</a:t>
            </a:r>
            <a:r>
              <a:rPr lang="pt-BR" dirty="0" err="1"/>
              <a:t>ex</a:t>
            </a:r>
            <a:r>
              <a:rPr lang="pt-BR" dirty="0"/>
              <a:t>: GPU, </a:t>
            </a:r>
            <a:r>
              <a:rPr lang="pt-BR" dirty="0" err="1"/>
              <a:t>Hexagon</a:t>
            </a:r>
            <a:r>
              <a:rPr lang="pt-BR" dirty="0"/>
              <a:t> DSP, Coral Edge TPU).</a:t>
            </a:r>
          </a:p>
          <a:p>
            <a:r>
              <a:rPr lang="pt-BR" dirty="0"/>
              <a:t>   - **Casos de uso**: Aplicativos móveis com reconhecimento de voz, classificação de imagens, etc.</a:t>
            </a:r>
          </a:p>
          <a:p>
            <a:endParaRPr lang="pt-BR" dirty="0"/>
          </a:p>
          <a:p>
            <a:r>
              <a:rPr lang="pt-BR" dirty="0"/>
              <a:t>### 2. **TensorFlow Lite Micro (TF Micro)**</a:t>
            </a:r>
          </a:p>
          <a:p>
            <a:r>
              <a:rPr lang="pt-BR" dirty="0"/>
              <a:t>   - **Foco**: Microcontroladores (</a:t>
            </a:r>
            <a:r>
              <a:rPr lang="pt-BR" dirty="0" err="1"/>
              <a:t>MCUs</a:t>
            </a:r>
            <a:r>
              <a:rPr lang="pt-BR" dirty="0"/>
              <a:t>) e dispositivos extremamente limitados em recursos (sem sistema operacional, com pouca memória e poder de processamento).</a:t>
            </a:r>
          </a:p>
          <a:p>
            <a:r>
              <a:rPr lang="pt-BR" dirty="0"/>
              <a:t>   - **Hardware-alvo**: Microcontroladores como ARM </a:t>
            </a:r>
            <a:r>
              <a:rPr lang="pt-BR" dirty="0" err="1"/>
              <a:t>Cortex</a:t>
            </a:r>
            <a:r>
              <a:rPr lang="pt-BR" dirty="0"/>
              <a:t>-M, ESP32 e outros chips de baixo consumo (</a:t>
            </a:r>
            <a:r>
              <a:rPr lang="pt-BR" dirty="0" err="1"/>
              <a:t>ex</a:t>
            </a:r>
            <a:r>
              <a:rPr lang="pt-BR" dirty="0"/>
              <a:t>: Arduino Nano 33 BLE, STM32).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Biblioteca minimalista, sem dependências de SO (rodando em "</a:t>
            </a:r>
            <a:r>
              <a:rPr lang="pt-BR" dirty="0" err="1"/>
              <a:t>bare</a:t>
            </a:r>
            <a:r>
              <a:rPr lang="pt-BR" dirty="0"/>
              <a:t>-metal").</a:t>
            </a:r>
          </a:p>
          <a:p>
            <a:r>
              <a:rPr lang="pt-BR" dirty="0"/>
              <a:t>     - Modelos executados diretamente no MCU, sem alocação dinâmica de memória.</a:t>
            </a:r>
          </a:p>
          <a:p>
            <a:r>
              <a:rPr lang="pt-BR" dirty="0"/>
              <a:t>     - Suporte apenas para inferência, com modelos </a:t>
            </a:r>
            <a:r>
              <a:rPr lang="pt-BR" dirty="0" err="1"/>
              <a:t>pré</a:t>
            </a:r>
            <a:r>
              <a:rPr lang="pt-BR" dirty="0"/>
              <a:t>-treinados e convertidos para um formato otimizado.</a:t>
            </a:r>
          </a:p>
          <a:p>
            <a:r>
              <a:rPr lang="pt-BR" dirty="0"/>
              <a:t>     - Sem suporte a operações complexas ou delegados de hardware (em geral, roda apenas na CPU do MCU).</a:t>
            </a:r>
          </a:p>
          <a:p>
            <a:r>
              <a:rPr lang="pt-BR" dirty="0"/>
              <a:t>   - **Casos de uso**: </a:t>
            </a:r>
            <a:r>
              <a:rPr lang="pt-BR" dirty="0" err="1"/>
              <a:t>Wearables</a:t>
            </a:r>
            <a:r>
              <a:rPr lang="pt-BR" dirty="0"/>
              <a:t>, sensores inteligentes, dispositivos IoT de baixo custo com restrições severas de energia e memória (</a:t>
            </a:r>
            <a:r>
              <a:rPr lang="pt-BR" dirty="0" err="1"/>
              <a:t>ex</a:t>
            </a:r>
            <a:r>
              <a:rPr lang="pt-BR" dirty="0"/>
              <a:t>: detecção de palavras-chave em microcontroladores).</a:t>
            </a:r>
          </a:p>
          <a:p>
            <a:endParaRPr lang="pt-BR" dirty="0"/>
          </a:p>
          <a:p>
            <a:r>
              <a:rPr lang="pt-BR" dirty="0"/>
              <a:t>### **Principais diferenças**</a:t>
            </a:r>
          </a:p>
          <a:p>
            <a:r>
              <a:rPr lang="pt-BR" dirty="0"/>
              <a:t>| Característica               | TensorFlow Lite           | TensorFlow Lite Micro       |</a:t>
            </a:r>
          </a:p>
          <a:p>
            <a:r>
              <a:rPr lang="pt-BR" dirty="0"/>
              <a:t>|------------------------------|---------------------------|-----------------------------|</a:t>
            </a:r>
          </a:p>
          <a:p>
            <a:r>
              <a:rPr lang="pt-BR" dirty="0"/>
              <a:t>| **Dispositivos-alvo**        | Smartphones, </a:t>
            </a:r>
            <a:r>
              <a:rPr lang="pt-BR" dirty="0" err="1"/>
              <a:t>Raspberry</a:t>
            </a:r>
            <a:r>
              <a:rPr lang="pt-BR" dirty="0"/>
              <a:t> Pi | Microcontroladores (</a:t>
            </a:r>
            <a:r>
              <a:rPr lang="pt-BR" dirty="0" err="1"/>
              <a:t>MCUs</a:t>
            </a:r>
            <a:r>
              <a:rPr lang="pt-BR" dirty="0"/>
              <a:t>)   |</a:t>
            </a:r>
          </a:p>
          <a:p>
            <a:r>
              <a:rPr lang="pt-BR" dirty="0"/>
              <a:t>| **Sistema Operacional**      | Requer OS (Android, Linux)| Bare-metal (sem OS)         |</a:t>
            </a:r>
          </a:p>
          <a:p>
            <a:r>
              <a:rPr lang="pt-BR" dirty="0"/>
              <a:t>| **Memória RAM**              | </a:t>
            </a:r>
            <a:r>
              <a:rPr lang="pt-BR" dirty="0" err="1"/>
              <a:t>MBs</a:t>
            </a:r>
            <a:r>
              <a:rPr lang="pt-BR" dirty="0"/>
              <a:t> a </a:t>
            </a:r>
            <a:r>
              <a:rPr lang="pt-BR" dirty="0" err="1"/>
              <a:t>GBs</a:t>
            </a:r>
            <a:r>
              <a:rPr lang="pt-BR" dirty="0"/>
              <a:t>                 | </a:t>
            </a:r>
            <a:r>
              <a:rPr lang="pt-BR" dirty="0" err="1"/>
              <a:t>KBs</a:t>
            </a:r>
            <a:r>
              <a:rPr lang="pt-BR" dirty="0"/>
              <a:t> (</a:t>
            </a:r>
            <a:r>
              <a:rPr lang="pt-BR" dirty="0" err="1"/>
              <a:t>ex</a:t>
            </a:r>
            <a:r>
              <a:rPr lang="pt-BR" dirty="0"/>
              <a:t>: 16KB - 512KB)      |</a:t>
            </a:r>
          </a:p>
          <a:p>
            <a:r>
              <a:rPr lang="pt-BR" dirty="0"/>
              <a:t>| **Hardware suportado**       | CPU, GPU, NPU, DSP        | Apenas CPU do MCU           |</a:t>
            </a:r>
          </a:p>
          <a:p>
            <a:r>
              <a:rPr lang="pt-BR" dirty="0"/>
              <a:t>| **Delegados de aceleração**  | Sim (GPU, Coral TPU, </a:t>
            </a:r>
            <a:r>
              <a:rPr lang="pt-BR" dirty="0" err="1"/>
              <a:t>etc</a:t>
            </a:r>
            <a:r>
              <a:rPr lang="pt-BR" dirty="0"/>
              <a:t>) | Não                         |</a:t>
            </a:r>
          </a:p>
          <a:p>
            <a:r>
              <a:rPr lang="pt-BR" dirty="0"/>
              <a:t>| **Uso típico**               | Apps móveis, </a:t>
            </a:r>
            <a:r>
              <a:rPr lang="pt-BR" dirty="0" err="1"/>
              <a:t>edge</a:t>
            </a:r>
            <a:r>
              <a:rPr lang="pt-BR" dirty="0"/>
              <a:t> devices | Sensores, </a:t>
            </a:r>
            <a:r>
              <a:rPr lang="pt-BR" dirty="0" err="1"/>
              <a:t>wearables</a:t>
            </a:r>
            <a:r>
              <a:rPr lang="pt-BR" dirty="0"/>
              <a:t> tinyML  |</a:t>
            </a:r>
          </a:p>
          <a:p>
            <a:endParaRPr lang="pt-BR" dirty="0"/>
          </a:p>
          <a:p>
            <a:r>
              <a:rPr lang="pt-BR" dirty="0"/>
              <a:t>### **Exemplo de aplicação**</a:t>
            </a:r>
          </a:p>
          <a:p>
            <a:r>
              <a:rPr lang="pt-BR" dirty="0"/>
              <a:t>- **</a:t>
            </a:r>
            <a:r>
              <a:rPr lang="pt-BR" dirty="0" err="1"/>
              <a:t>TFLite</a:t>
            </a:r>
            <a:r>
              <a:rPr lang="pt-BR" dirty="0"/>
              <a:t>**: Um app de tradução em tempo real no smartphone.  </a:t>
            </a:r>
          </a:p>
          <a:p>
            <a:r>
              <a:rPr lang="pt-BR" dirty="0"/>
              <a:t>- **TF Micro**: Um sensor de vibração em uma máquina industrial que detecta falhas usando um microcontrolador.</a:t>
            </a:r>
          </a:p>
          <a:p>
            <a:endParaRPr lang="pt-BR" dirty="0"/>
          </a:p>
          <a:p>
            <a:r>
              <a:rPr lang="pt-BR" dirty="0"/>
              <a:t>Ambos são parte do ecossistema TensorFlow para implantação eficiente, mas o **Micro** é uma versão ainda mais enxuta para ambientes extremamente restritos.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9969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imagem anexada compara características do **TensorFlow** (a versão completa) e do **TensorFlow Lite** em cinco categorias:  </a:t>
            </a:r>
          </a:p>
          <a:p>
            <a:endParaRPr lang="pt-BR" dirty="0"/>
          </a:p>
          <a:p>
            <a:r>
              <a:rPr lang="pt-BR" dirty="0"/>
              <a:t>1. **Topologia**  </a:t>
            </a:r>
          </a:p>
          <a:p>
            <a:r>
              <a:rPr lang="pt-BR" dirty="0"/>
              <a:t>   - **TensorFlow**: Suporta topologias **variáveis** (modelos dinâmicos, treinamento, grafos complexos).  </a:t>
            </a:r>
          </a:p>
          <a:p>
            <a:r>
              <a:rPr lang="pt-BR" dirty="0"/>
              <a:t>   - **TensorFlow Lite**: Topologias **fixas** (modelos </a:t>
            </a:r>
            <a:r>
              <a:rPr lang="pt-BR" dirty="0" err="1"/>
              <a:t>pré</a:t>
            </a:r>
            <a:r>
              <a:rPr lang="pt-BR" dirty="0"/>
              <a:t>-treinados e convertidos para inferência, sem modificações pós-conversão).  </a:t>
            </a:r>
          </a:p>
          <a:p>
            <a:endParaRPr lang="pt-BR" dirty="0"/>
          </a:p>
          <a:p>
            <a:r>
              <a:rPr lang="pt-BR" dirty="0"/>
              <a:t>2. **Pesos (</a:t>
            </a:r>
            <a:r>
              <a:rPr lang="pt-BR" dirty="0" err="1"/>
              <a:t>Weights</a:t>
            </a:r>
            <a:r>
              <a:rPr lang="pt-BR" dirty="0"/>
              <a:t>)**  </a:t>
            </a:r>
          </a:p>
          <a:p>
            <a:r>
              <a:rPr lang="pt-BR" dirty="0"/>
              <a:t>   - **TensorFlow**: Pesos **variáveis** (ajustáveis durante o treinamento).  </a:t>
            </a:r>
          </a:p>
          <a:p>
            <a:r>
              <a:rPr lang="pt-BR" dirty="0"/>
              <a:t>   - **TensorFlow Lite**: Pesos **fixos** (otimizados e congelados após conversão do modelo).  </a:t>
            </a:r>
          </a:p>
          <a:p>
            <a:endParaRPr lang="pt-BR" dirty="0"/>
          </a:p>
          <a:p>
            <a:r>
              <a:rPr lang="pt-BR" dirty="0"/>
              <a:t>3. **Tamanho Binário (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)**  </a:t>
            </a:r>
          </a:p>
          <a:p>
            <a:r>
              <a:rPr lang="pt-BR" dirty="0"/>
              <a:t>   - **TensorFlow**: Tamanho **não prioritário** (biblioteca grande, focada em funcionalidade).  </a:t>
            </a:r>
          </a:p>
          <a:p>
            <a:r>
              <a:rPr lang="pt-BR" dirty="0"/>
              <a:t>   - **TensorFlow Lite**: Tamanho **alta prioridade** (biblioteca minimalista para dispositivos com recursos limitados).  </a:t>
            </a:r>
          </a:p>
          <a:p>
            <a:endParaRPr lang="pt-BR" dirty="0"/>
          </a:p>
          <a:p>
            <a:r>
              <a:rPr lang="pt-BR" dirty="0"/>
              <a:t>4. **Computação Distribuída (</a:t>
            </a:r>
            <a:r>
              <a:rPr lang="pt-BR" dirty="0" err="1"/>
              <a:t>Distributed</a:t>
            </a:r>
            <a:r>
              <a:rPr lang="pt-BR" dirty="0"/>
              <a:t> Compute)**  </a:t>
            </a:r>
          </a:p>
          <a:p>
            <a:r>
              <a:rPr lang="pt-BR" dirty="0"/>
              <a:t>   - **TensorFlow**: **Suportada** (para treinamento em múltiplos dispositivos/GPUs).  </a:t>
            </a:r>
          </a:p>
          <a:p>
            <a:r>
              <a:rPr lang="pt-BR" dirty="0"/>
              <a:t>   - **TensorFlow Lite**: **Não suportada** (focado em inferência local em um único dispositivo).  </a:t>
            </a:r>
          </a:p>
          <a:p>
            <a:endParaRPr lang="pt-BR" dirty="0"/>
          </a:p>
          <a:p>
            <a:r>
              <a:rPr lang="pt-BR" dirty="0"/>
              <a:t>5. **Perfil do Desenvolvedor (</a:t>
            </a:r>
            <a:r>
              <a:rPr lang="pt-BR" dirty="0" err="1"/>
              <a:t>Developer</a:t>
            </a:r>
            <a:r>
              <a:rPr lang="pt-BR" dirty="0"/>
              <a:t> Background)**  </a:t>
            </a:r>
          </a:p>
          <a:p>
            <a:r>
              <a:rPr lang="pt-BR" dirty="0"/>
              <a:t>   - **TensorFlow**: **Pesquisadores de ML** (quem precisa de flexibilidade para treinar e experimentar).  </a:t>
            </a:r>
          </a:p>
          <a:p>
            <a:r>
              <a:rPr lang="pt-BR" dirty="0"/>
              <a:t>   - **TensorFlow Lite**: **Desenvolvedores de aplicativos** (quem precisa implantar modelos leves em dispositivos móveis/embarcados).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9167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### **Características Analisadas**  </a:t>
            </a:r>
          </a:p>
          <a:p>
            <a:r>
              <a:rPr lang="pt-BR" dirty="0"/>
              <a:t>1. **</a:t>
            </a:r>
            <a:r>
              <a:rPr lang="pt-BR" dirty="0" err="1"/>
              <a:t>Needs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OS** (Requer um Sistema Operacional)  </a:t>
            </a:r>
          </a:p>
          <a:p>
            <a:r>
              <a:rPr lang="pt-BR" dirty="0"/>
              <a:t>   - **TensorFlow**: **Sim** (depende de um SO completo, como Linux/Windows/</a:t>
            </a:r>
            <a:r>
              <a:rPr lang="pt-BR" dirty="0" err="1"/>
              <a:t>macOS</a:t>
            </a:r>
            <a:r>
              <a:rPr lang="pt-BR" dirty="0"/>
              <a:t>).  </a:t>
            </a:r>
          </a:p>
          <a:p>
            <a:r>
              <a:rPr lang="pt-BR" dirty="0"/>
              <a:t>   - **TensorFlow Lite**: **Sim** (rodando em Android, iOS ou Linux embarcado).  </a:t>
            </a:r>
          </a:p>
          <a:p>
            <a:r>
              <a:rPr lang="pt-BR" dirty="0"/>
              <a:t>   - **TensorFlow Lite Micro**: **Não** (projetado para rodar em *</a:t>
            </a:r>
            <a:r>
              <a:rPr lang="pt-BR" dirty="0" err="1"/>
              <a:t>bare</a:t>
            </a:r>
            <a:r>
              <a:rPr lang="pt-BR" dirty="0"/>
              <a:t>-metal*, sem SO, como microcontroladores).  </a:t>
            </a:r>
          </a:p>
          <a:p>
            <a:endParaRPr lang="pt-BR" dirty="0"/>
          </a:p>
          <a:p>
            <a:r>
              <a:rPr lang="pt-BR" dirty="0"/>
              <a:t>2. **</a:t>
            </a:r>
            <a:r>
              <a:rPr lang="pt-BR" dirty="0" err="1"/>
              <a:t>Memory</a:t>
            </a:r>
            <a:r>
              <a:rPr lang="pt-BR" dirty="0"/>
              <a:t> Mapping </a:t>
            </a:r>
            <a:r>
              <a:rPr lang="pt-BR" dirty="0" err="1"/>
              <a:t>of</a:t>
            </a:r>
            <a:r>
              <a:rPr lang="pt-BR" dirty="0"/>
              <a:t> Models** (Mapeamento de Memória de Modelos)  </a:t>
            </a:r>
          </a:p>
          <a:p>
            <a:r>
              <a:rPr lang="pt-BR" dirty="0"/>
              <a:t>   - **TensorFlow**: **Não** (modelos são carregados dinamicamente, sem otimização extrema de memória).  </a:t>
            </a:r>
          </a:p>
          <a:p>
            <a:r>
              <a:rPr lang="pt-BR" dirty="0"/>
              <a:t>   - **TensorFlow Lite**: **Sim** (usa técnicas de mapeamento de memória para reduzir consumo em dispositivos móveis/embarcados).  </a:t>
            </a:r>
          </a:p>
          <a:p>
            <a:r>
              <a:rPr lang="pt-BR" dirty="0"/>
              <a:t>   - **TensorFlow Lite Micro**: **Sim** (otimização extrema para operar com pouca RAM, evitando alocações dinâmicas).  </a:t>
            </a:r>
          </a:p>
          <a:p>
            <a:endParaRPr lang="pt-BR" dirty="0"/>
          </a:p>
          <a:p>
            <a:r>
              <a:rPr lang="pt-BR" dirty="0"/>
              <a:t>3. **</a:t>
            </a:r>
            <a:r>
              <a:rPr lang="pt-BR" dirty="0" err="1"/>
              <a:t>Delegation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Accelerators</a:t>
            </a:r>
            <a:r>
              <a:rPr lang="pt-BR" dirty="0"/>
              <a:t>** (Uso de Aceleradores Hardware)  </a:t>
            </a:r>
          </a:p>
          <a:p>
            <a:r>
              <a:rPr lang="pt-BR" dirty="0"/>
              <a:t>   - **TensorFlow**: **Sim** (suporta GPUs, </a:t>
            </a:r>
            <a:r>
              <a:rPr lang="pt-BR" dirty="0" err="1"/>
              <a:t>TPUs</a:t>
            </a:r>
            <a:r>
              <a:rPr lang="pt-BR" dirty="0"/>
              <a:t>, e outros aceleradores para treinamento/inferência).  </a:t>
            </a:r>
          </a:p>
          <a:p>
            <a:r>
              <a:rPr lang="pt-BR" dirty="0"/>
              <a:t>   - **TensorFlow Lite**: **Sim** (usa delegados para </a:t>
            </a:r>
            <a:r>
              <a:rPr lang="pt-BR" dirty="0" err="1"/>
              <a:t>NPUs</a:t>
            </a:r>
            <a:r>
              <a:rPr lang="pt-BR" dirty="0"/>
              <a:t>, GPUs, </a:t>
            </a:r>
            <a:r>
              <a:rPr lang="pt-BR" dirty="0" err="1"/>
              <a:t>DSPs</a:t>
            </a:r>
            <a:r>
              <a:rPr lang="pt-BR" dirty="0"/>
              <a:t>, como Coral Edge TPU ou </a:t>
            </a:r>
            <a:r>
              <a:rPr lang="pt-BR" dirty="0" err="1"/>
              <a:t>Hexagon</a:t>
            </a:r>
            <a:r>
              <a:rPr lang="pt-BR" dirty="0"/>
              <a:t> DSP).  </a:t>
            </a:r>
          </a:p>
          <a:p>
            <a:r>
              <a:rPr lang="pt-BR" dirty="0"/>
              <a:t>   - **TensorFlow Lite Micro**: **Não** (roda apenas na CPU do microcontrolador, sem suporte a aceleradores externos).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**Keras Model,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, and Concrete Functions: Differences and Relationships**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1. **Keras Model**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high-level API for building and training neural networks in TensorFlow. It provides an object-oriented interface (e.g., `Sequential`, `Functional`, or custom subclasses of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Easy to define architectures (layers, activations, etc.).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Built-in training loops (`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()`), evaluation, and prediction.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Can be saved/loaded in two formats: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(default,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universal format).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**HDF5** (legacy, limited to model architecture and weights).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Ideal for training, prototyping, and saving models in a user-friendly way.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2.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**universal serialization format** for models. It is not specific to Keras.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Saves the **complete model**: architecture, weights, optimizer state, and computation graph.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Includes **signatures**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for deployment (e.g., TensorFlow Serving).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Platform-agnostic: works across Python, C++, TensorFlow Lite, etc.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**How to Create**: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Keras models.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lower-level APIs (e.g., custom models built with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Deployment, cross-platform compatibility, and serving via TensorFlow Serving.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3. **Concrete Function**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**traced, optimized computation graph** with fixed input shapes and data types. Generated when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function is called with specific inputs.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Created during model serialization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 or manual tracing.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Represents a portion of the model's computation (e.g., forward pass, training step).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Stored inside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to enable efficient execution (e.g., GPU/TPU acceleration).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Enables graph execution for performance.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Defines input signatures for serving (e.g., `@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=...)`).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**Key Differences**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**Aspect**              | **Keras Model**                          |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                         | **Concrete Function**                  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|-------------------------|------------------------------------------|-----------------------------------------|------------------------------------------|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**Scope**               | High-level model definition API.         | Serialization format for any TF model.  | Traced, optimized subgraph (part of a model).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**Serialization**       | Can be saved as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or HDF5.    | Contains Keras models, variables, graphs, and concrete functions. | Serialized as part of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**Flexibility**         | Limited to Keras APIs.                   | Supports any TensorFlow model (Keras, custom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`, etc.). | Created from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code.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**Input Constraints**   | Dynamic shapes by default.               | May include multiple signatures with fixed/concrete input shapes. | Requires fixed input shapes/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dtypes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**Relationship Between Them**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A **Keras Model** can be saved as a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The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contains **concrete functions** (e.g., the forward pass `__call__` method of the Keras model).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Lower-level models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are saved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()`, which traces and stores their methods as **concrete functions** in the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**Example Workflow**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1. **Define a Keras Model**: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model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tf.keras.Sequential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model.compile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2. **Save as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  #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format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3. **Inspect Concrete Functions**: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tf.saved_model.load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print(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loaded_model.signatures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  # Shows '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' and other signatures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4. **Concrete Functions in Custom Models**: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class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def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__call__(self, inputs):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...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(), 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**When to Use Each**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**Keras Model**: Rapid prototyping, training, and saving in a user-friendly format.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Deploying models to production, sharing across platforms, or using TensorFlow Serving.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**Concrete Function**: Optimizing custom model logic (e.g., custom layers/training loops) or enforcing input constraints.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1.png"/><Relationship Id="rId4" Type="http://schemas.openxmlformats.org/officeDocument/2006/relationships/image" Target="../media/image3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3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7.jp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3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8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01000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2731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executados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</a:t>
            </a:r>
            <a:r>
              <a:rPr lang="pt-BR" sz="2600" b="1" i="1" u="none" strike="noStrike" dirty="0">
                <a:solidFill>
                  <a:srgbClr val="7030A0"/>
                </a:solidFill>
                <a:effectLst/>
              </a:rPr>
              <a:t>não poderão ignorar </a:t>
            </a:r>
            <a:r>
              <a:rPr lang="pt-BR" sz="2600" b="0" i="0" u="none" strike="noStrike" dirty="0">
                <a:effectLst/>
              </a:rPr>
              <a:t>o custo de energia dos programas que escrevem... Você precisa de ferramentas que forneçam </a:t>
            </a:r>
            <a:r>
              <a:rPr lang="pt-BR" sz="2600" b="0" i="1" u="none" strike="noStrike" dirty="0">
                <a:effectLst/>
              </a:rPr>
              <a:t>feedback</a:t>
            </a:r>
            <a:r>
              <a:rPr lang="pt-BR" sz="2600" b="0" i="0" u="none" strike="noStrike" dirty="0">
                <a:effectLst/>
              </a:rPr>
              <a:t>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131629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512629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445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98971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2696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sem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 </a:t>
            </a:r>
            <a:r>
              <a:rPr lang="en-US" sz="2000" dirty="0">
                <a:ea typeface="Calibri" panose="020F0502020204030204" pitchFamily="34" charset="0"/>
                <a:cs typeface="Arial" panose="020B0604020202020204" pitchFamily="34" charset="0"/>
              </a:rPr>
              <a:t>com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recursos</a:t>
            </a:r>
            <a:r>
              <a:rPr lang="en-US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moderados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Tensorflow Lite Micro: o foco são </a:t>
            </a:r>
            <a:r>
              <a:rPr lang="pt-BR" sz="1600" dirty="0">
                <a:solidFill>
                  <a:srgbClr val="404040"/>
                </a:solidFill>
                <a:latin typeface="quote-cjk-patch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icrocontroladores e dispositivos </a:t>
            </a:r>
            <a:r>
              <a:rPr lang="pt-BR" sz="1600" b="1" i="1" dirty="0">
                <a:solidFill>
                  <a:schemeClr val="accent1"/>
                </a:solidFill>
                <a:effectLst/>
                <a:latin typeface="quote-cjk-patch"/>
              </a:rPr>
              <a:t>extremamente limitados em recursos 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(sem sistema operacional, com pouca memória e poder de processamento).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" t="6261" b="12967"/>
          <a:stretch/>
        </p:blipFill>
        <p:spPr bwMode="auto">
          <a:xfrm>
            <a:off x="2122715" y="3632200"/>
            <a:ext cx="7307196" cy="2941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otimizado para eficiência computacional e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 APIs para Android, iOS e Python.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Pode usar </a:t>
            </a:r>
            <a:r>
              <a:rPr lang="pt-BR" sz="2000" i="1" dirty="0" err="1">
                <a:ea typeface="Calibri" panose="020F0502020204030204" pitchFamily="34" charset="0"/>
                <a:cs typeface="Arial" panose="020B0604020202020204" pitchFamily="34" charset="0"/>
              </a:rPr>
              <a:t>delegates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acelerar operações em hardware específico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GPU, DSP, Coral Edge TPU).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e segurança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com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94CC68-2F61-2A13-9FB7-29CAF3E4F33D}"/>
              </a:ext>
            </a:extLst>
          </p:cNvPr>
          <p:cNvSpPr txBox="1"/>
          <p:nvPr/>
        </p:nvSpPr>
        <p:spPr>
          <a:xfrm>
            <a:off x="9062791" y="2958068"/>
            <a:ext cx="132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Pesos </a:t>
            </a:r>
            <a:r>
              <a:rPr lang="en-US" sz="1400" b="1" i="0" dirty="0" err="1">
                <a:solidFill>
                  <a:srgbClr val="404040"/>
                </a:solidFill>
                <a:effectLst/>
                <a:latin typeface="quote-cjk-patch"/>
              </a:rPr>
              <a:t>fixos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AEEE3-40FB-47FE-5885-2FB7EF90DCA7}"/>
              </a:ext>
            </a:extLst>
          </p:cNvPr>
          <p:cNvSpPr txBox="1"/>
          <p:nvPr/>
        </p:nvSpPr>
        <p:spPr>
          <a:xfrm>
            <a:off x="9056914" y="2508172"/>
            <a:ext cx="2667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s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uporta treinamento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D4DB7A-8F09-0776-B640-0EAA67A41E5C}"/>
              </a:ext>
            </a:extLst>
          </p:cNvPr>
          <p:cNvSpPr txBox="1"/>
          <p:nvPr/>
        </p:nvSpPr>
        <p:spPr>
          <a:xfrm>
            <a:off x="9056914" y="3488529"/>
            <a:ext cx="2231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404040"/>
                </a:solidFill>
                <a:latin typeface="quote-cjk-patch"/>
              </a:rPr>
              <a:t>B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iblioteca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 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minimalista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1122E4-D9B3-6653-7F06-8FC9A408C724}"/>
              </a:ext>
            </a:extLst>
          </p:cNvPr>
          <p:cNvSpPr txBox="1"/>
          <p:nvPr/>
        </p:nvSpPr>
        <p:spPr>
          <a:xfrm>
            <a:off x="9056914" y="3980497"/>
            <a:ext cx="31350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I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nferência local em um único dispositivo. Não faz treino/inferência em vários dispositivos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572CF-FF6F-BAAD-649E-D1E616148492}"/>
              </a:ext>
            </a:extLst>
          </p:cNvPr>
          <p:cNvSpPr txBox="1"/>
          <p:nvPr/>
        </p:nvSpPr>
        <p:spPr>
          <a:xfrm>
            <a:off x="9053212" y="4846866"/>
            <a:ext cx="2917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apresenta f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lexibilidade para treinar e experimentar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1" y="2905518"/>
            <a:ext cx="2057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Roda em </a:t>
            </a:r>
            <a:r>
              <a:rPr lang="pt-BR" sz="1200" dirty="0" err="1"/>
              <a:t>bare</a:t>
            </a:r>
            <a:r>
              <a:rPr lang="pt-BR" sz="1200" dirty="0"/>
              <a:t> metal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Mapeamento estático de memória. Sabemos onde está na memória.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241359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249041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CC1F87-990B-BB79-F5E6-2F280A4FF433}"/>
              </a:ext>
            </a:extLst>
          </p:cNvPr>
          <p:cNvSpPr txBox="1"/>
          <p:nvPr/>
        </p:nvSpPr>
        <p:spPr>
          <a:xfrm>
            <a:off x="7249042" y="2844852"/>
            <a:ext cx="1645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Android, iOS ou Linux embarcado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DB690B-E5A0-178B-BF39-D462A5CF3321}"/>
              </a:ext>
            </a:extLst>
          </p:cNvPr>
          <p:cNvSpPr txBox="1"/>
          <p:nvPr/>
        </p:nvSpPr>
        <p:spPr>
          <a:xfrm>
            <a:off x="9296595" y="3410727"/>
            <a:ext cx="20630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quote-cjk-patch"/>
              </a:rPr>
              <a:t>O</a:t>
            </a:r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timização extrema para operar com pouca RAM, evitando alocações dinâmicas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80A21A-FDCA-E7CE-30BA-D6CD9D544AE3}"/>
              </a:ext>
            </a:extLst>
          </p:cNvPr>
          <p:cNvSpPr txBox="1"/>
          <p:nvPr/>
        </p:nvSpPr>
        <p:spPr>
          <a:xfrm>
            <a:off x="9296595" y="4213417"/>
            <a:ext cx="2125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Roda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quote-cjk-patch"/>
              </a:rPr>
              <a:t>apenas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 no MCU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pode ser usado para criar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imagem: O TensorFlow Lite pode ser usado para criar modelos que classifiquem imagens.</a:t>
            </a:r>
          </a:p>
        </p:txBody>
      </p:sp>
      <p:pic>
        <p:nvPicPr>
          <p:cNvPr id="1026" name="Picture 2" descr="10 Papers You Should Read to Understand Image Classification in the Deep  Learning Era | by Ethan Yanjia Li | TDS Archive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4"/>
          <a:stretch/>
        </p:blipFill>
        <p:spPr bwMode="auto">
          <a:xfrm>
            <a:off x="1943101" y="2495238"/>
            <a:ext cx="6776357" cy="384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Detecção, rastreamento e segmentação de objetos: O TensorFlow Lite pode ser usado para criar modelos que identifiquem, segmentem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98529" cy="502375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</a:t>
            </a:r>
            <a:r>
              <a:rPr lang="pt-BR" b="1" i="1" dirty="0">
                <a:solidFill>
                  <a:schemeClr val="accent1"/>
                </a:solidFill>
              </a:rPr>
              <a:t>formato aberto e eficiente </a:t>
            </a:r>
            <a:r>
              <a:rPr lang="pt-BR" dirty="0"/>
              <a:t>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 err="1"/>
              <a:t>FlatBuffers</a:t>
            </a:r>
            <a:r>
              <a:rPr lang="pt-BR" dirty="0"/>
              <a:t>: biblioteca e formato d</a:t>
            </a:r>
            <a:r>
              <a:rPr lang="pt-BR" b="0" i="0" dirty="0">
                <a:effectLst/>
              </a:rPr>
              <a:t>esenvolvidos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É uma biblioteca de </a:t>
            </a:r>
            <a:r>
              <a:rPr lang="pt-BR" b="1" i="1" dirty="0">
                <a:solidFill>
                  <a:srgbClr val="00B050"/>
                </a:solidFill>
              </a:rPr>
              <a:t>serialização</a:t>
            </a:r>
            <a:r>
              <a:rPr lang="pt-BR" dirty="0"/>
              <a:t> </a:t>
            </a:r>
            <a:r>
              <a:rPr lang="pt-BR" dirty="0" err="1"/>
              <a:t>multiplataforma</a:t>
            </a:r>
            <a:r>
              <a:rPr lang="pt-BR" dirty="0"/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</a:rPr>
              <a:t>Flatbuffers</a:t>
            </a:r>
            <a:r>
              <a:rPr lang="pt-BR" b="0" i="0" dirty="0">
                <a:effectLst/>
              </a:rPr>
              <a:t> é especialmente útil em cenários em que a </a:t>
            </a:r>
            <a:r>
              <a:rPr lang="pt-BR" b="1" i="1" dirty="0">
                <a:solidFill>
                  <a:schemeClr val="accent6"/>
                </a:solidFill>
                <a:effectLst/>
              </a:rPr>
              <a:t>velocidade de transferência e o tamanho compacto dos dados são essenciais</a:t>
            </a:r>
            <a:r>
              <a:rPr lang="pt-BR" b="0" i="0" dirty="0">
                <a:effectLst/>
              </a:rPr>
              <a:t>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Usando um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modelo existente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consulte os exemplos de TensorFlow Lite para escolher um modelo existente. Os modelos podem ou não conter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metadados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*.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288" y="2855584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</a:t>
            </a:r>
            <a:endParaRPr lang="pt-BR" dirty="0"/>
          </a:p>
        </p:txBody>
      </p:sp>
      <p:sp>
        <p:nvSpPr>
          <p:cNvPr id="8" name="Retângulo 7"/>
          <p:cNvSpPr/>
          <p:nvPr/>
        </p:nvSpPr>
        <p:spPr>
          <a:xfrm>
            <a:off x="9600389" y="3175105"/>
            <a:ext cx="243376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/>
              <a:t>*Os </a:t>
            </a:r>
            <a:r>
              <a:rPr lang="pt-BR" sz="1200" dirty="0" err="1"/>
              <a:t>metadados</a:t>
            </a:r>
            <a:r>
              <a:rPr lang="pt-BR" sz="1200" dirty="0"/>
              <a:t>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Criando um modelo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use o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Model </a:t>
            </a:r>
            <a:r>
              <a:rPr lang="pt-BR" sz="2000" b="1" i="1" dirty="0" err="1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treinamento necessários e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reduzir o tempo de treinamento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1034142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Convertendo um modelo do TensorFlow em um do TensorFlow Lite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use o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Converter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converter modelos. Durante a conversão, você pode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aplicar otimizações como a quantização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formato aberto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interoperabilidade entre frameworks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r>
              <a:rPr lang="pt-BR" dirty="0"/>
              <a:t>Aplicando operações de </a:t>
            </a:r>
          </a:p>
          <a:p>
            <a:pPr lvl="1"/>
            <a:r>
              <a:rPr lang="pt-BR" dirty="0"/>
              <a:t>Quantização,</a:t>
            </a:r>
          </a:p>
          <a:p>
            <a:pPr lvl="1"/>
            <a:r>
              <a:rPr lang="pt-BR" dirty="0"/>
              <a:t>Clusterização,</a:t>
            </a:r>
          </a:p>
          <a:p>
            <a:pPr lvl="1"/>
            <a:r>
              <a:rPr lang="pt-BR" dirty="0"/>
              <a:t>Poda,</a:t>
            </a:r>
          </a:p>
          <a:p>
            <a:pPr lvl="1"/>
            <a:r>
              <a:rPr lang="pt-BR" dirty="0"/>
              <a:t>Etc.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</a:t>
            </a:r>
            <a:r>
              <a:rPr lang="pt-BR" b="1" i="1" dirty="0">
                <a:solidFill>
                  <a:schemeClr val="accent1"/>
                </a:solidFill>
              </a:rPr>
              <a:t>valores absolutos próximos de zero</a:t>
            </a:r>
            <a:r>
              <a:rPr lang="pt-BR" dirty="0"/>
              <a:t>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r>
              <a:rPr lang="pt-BR" dirty="0"/>
              <a:t>Em ambos os casos, (1) e (2), reduz-se o número de parâmetros no modelo.</a:t>
            </a:r>
          </a:p>
          <a:p>
            <a:pPr marL="304815" lvl="1" indent="0">
              <a:buNone/>
            </a:pPr>
            <a:endParaRPr lang="pt-BR" dirty="0"/>
          </a:p>
          <a:p>
            <a:pPr marL="381001" indent="-342900"/>
            <a:r>
              <a:rPr lang="pt-BR" dirty="0"/>
              <a:t>(1) é implementado </a:t>
            </a:r>
            <a:r>
              <a:rPr lang="pt-BR" b="1" i="1" dirty="0">
                <a:solidFill>
                  <a:schemeClr val="accent1"/>
                </a:solidFill>
              </a:rPr>
              <a:t>removendo-se todos os pesos </a:t>
            </a:r>
            <a:r>
              <a:rPr lang="pt-BR" dirty="0"/>
              <a:t>que tenham </a:t>
            </a:r>
            <a:r>
              <a:rPr lang="pt-BR" b="1" i="1" dirty="0">
                <a:solidFill>
                  <a:srgbClr val="7030A0"/>
                </a:solidFill>
              </a:rPr>
              <a:t>valor absoluto abaixo de um determinado limiar</a:t>
            </a:r>
            <a:r>
              <a:rPr lang="pt-BR" dirty="0"/>
              <a:t>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invés de remover apenas pesos, as ativações durante o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(2), ao apresentar um conjunto de dados à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Você pode observar que alguns neurônios sempre produzem valores próximos de zero.</a:t>
            </a:r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mesma camada tiverem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pesos muito semelhantes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Assim, a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redundância de pesos</a:t>
            </a:r>
            <a:r>
              <a:rPr lang="pt-BR" b="1" i="1" dirty="0">
                <a:solidFill>
                  <a:srgbClr val="242424"/>
                </a:solidFill>
                <a:effectLst/>
                <a:latin typeface="source-serif-pro"/>
              </a:rPr>
              <a:t> 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pode significar que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um neurônio pode ser removido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reduzindo a precisão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16974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dispositivos com grandes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geladeiras, máquinas de lavar, etc.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escrito em C++ 11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 requer uma plataforma de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32 bits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para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biblioteca para o Arduino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plataforma de desenvolvimento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 </a:t>
            </a:r>
            <a:r>
              <a:rPr lang="pt-BR" sz="1734" b="1" i="1" dirty="0">
                <a:solidFill>
                  <a:srgbClr val="0070C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sistema operacional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usando o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329" y="1059175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7030A0"/>
                </a:solidFill>
                <a:hlinkClick r:id="rId6"/>
              </a:rPr>
              <a:t>Exemplo: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D7B81D-76BB-FC35-FA68-DE57AF457D0B}"/>
              </a:ext>
            </a:extLst>
          </p:cNvPr>
          <p:cNvSpPr txBox="1"/>
          <p:nvPr/>
        </p:nvSpPr>
        <p:spPr>
          <a:xfrm>
            <a:off x="9254837" y="3158836"/>
            <a:ext cx="24661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Encontrar um modelo que aproxime o comportamento por trás das amostras ruidosas.</a:t>
            </a:r>
            <a:endParaRPr lang="en-US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guiado: classificação de grãos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durante 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dataset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treinar um modelo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e realizar inferências no celular.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6028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dataset de imagens com o seu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16438</TotalTime>
  <Words>5231</Words>
  <Application>Microsoft Office PowerPoint</Application>
  <PresentationFormat>Widescreen</PresentationFormat>
  <Paragraphs>524</Paragraphs>
  <Slides>72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quote-cjk-patch</vt:lpstr>
      <vt:lpstr>Roboto</vt:lpstr>
      <vt:lpstr>sohne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2486</cp:revision>
  <dcterms:created xsi:type="dcterms:W3CDTF">2020-01-20T13:50:05Z</dcterms:created>
  <dcterms:modified xsi:type="dcterms:W3CDTF">2025-05-26T20:20:48Z</dcterms:modified>
</cp:coreProperties>
</file>