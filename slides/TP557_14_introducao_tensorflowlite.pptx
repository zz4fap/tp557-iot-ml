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</p:sldMasterIdLst>
  <p:notesMasterIdLst>
    <p:notesMasterId r:id="rId76"/>
  </p:notesMasterIdLst>
  <p:handoutMasterIdLst>
    <p:handoutMasterId r:id="rId77"/>
  </p:handoutMasterIdLst>
  <p:sldIdLst>
    <p:sldId id="256" r:id="rId4"/>
    <p:sldId id="298" r:id="rId5"/>
    <p:sldId id="390" r:id="rId6"/>
    <p:sldId id="545" r:id="rId7"/>
    <p:sldId id="554" r:id="rId8"/>
    <p:sldId id="553" r:id="rId9"/>
    <p:sldId id="580" r:id="rId10"/>
    <p:sldId id="546" r:id="rId11"/>
    <p:sldId id="547" r:id="rId12"/>
    <p:sldId id="549" r:id="rId13"/>
    <p:sldId id="550" r:id="rId14"/>
    <p:sldId id="531" r:id="rId15"/>
    <p:sldId id="509" r:id="rId16"/>
    <p:sldId id="510" r:id="rId17"/>
    <p:sldId id="521" r:id="rId18"/>
    <p:sldId id="511" r:id="rId19"/>
    <p:sldId id="512" r:id="rId20"/>
    <p:sldId id="522" r:id="rId21"/>
    <p:sldId id="523" r:id="rId22"/>
    <p:sldId id="524" r:id="rId23"/>
    <p:sldId id="525" r:id="rId24"/>
    <p:sldId id="516" r:id="rId25"/>
    <p:sldId id="517" r:id="rId26"/>
    <p:sldId id="518" r:id="rId27"/>
    <p:sldId id="519" r:id="rId28"/>
    <p:sldId id="520" r:id="rId29"/>
    <p:sldId id="544" r:id="rId30"/>
    <p:sldId id="542" r:id="rId31"/>
    <p:sldId id="541" r:id="rId32"/>
    <p:sldId id="543" r:id="rId33"/>
    <p:sldId id="555" r:id="rId34"/>
    <p:sldId id="537" r:id="rId35"/>
    <p:sldId id="581" r:id="rId36"/>
    <p:sldId id="538" r:id="rId37"/>
    <p:sldId id="539" r:id="rId38"/>
    <p:sldId id="535" r:id="rId39"/>
    <p:sldId id="533" r:id="rId40"/>
    <p:sldId id="534" r:id="rId41"/>
    <p:sldId id="526" r:id="rId42"/>
    <p:sldId id="528" r:id="rId43"/>
    <p:sldId id="556" r:id="rId44"/>
    <p:sldId id="557" r:id="rId45"/>
    <p:sldId id="558" r:id="rId46"/>
    <p:sldId id="559" r:id="rId47"/>
    <p:sldId id="560" r:id="rId48"/>
    <p:sldId id="561" r:id="rId49"/>
    <p:sldId id="562" r:id="rId50"/>
    <p:sldId id="563" r:id="rId51"/>
    <p:sldId id="564" r:id="rId52"/>
    <p:sldId id="565" r:id="rId53"/>
    <p:sldId id="566" r:id="rId54"/>
    <p:sldId id="567" r:id="rId55"/>
    <p:sldId id="568" r:id="rId56"/>
    <p:sldId id="569" r:id="rId57"/>
    <p:sldId id="570" r:id="rId58"/>
    <p:sldId id="571" r:id="rId59"/>
    <p:sldId id="572" r:id="rId60"/>
    <p:sldId id="574" r:id="rId61"/>
    <p:sldId id="585" r:id="rId62"/>
    <p:sldId id="575" r:id="rId63"/>
    <p:sldId id="578" r:id="rId64"/>
    <p:sldId id="579" r:id="rId65"/>
    <p:sldId id="577" r:id="rId66"/>
    <p:sldId id="576" r:id="rId67"/>
    <p:sldId id="527" r:id="rId68"/>
    <p:sldId id="552" r:id="rId69"/>
    <p:sldId id="551" r:id="rId70"/>
    <p:sldId id="529" r:id="rId71"/>
    <p:sldId id="530" r:id="rId72"/>
    <p:sldId id="582" r:id="rId73"/>
    <p:sldId id="583" r:id="rId74"/>
    <p:sldId id="584" r:id="rId7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8620" autoAdjust="0"/>
  </p:normalViewPr>
  <p:slideViewPr>
    <p:cSldViewPr snapToGrid="0">
      <p:cViewPr varScale="1">
        <p:scale>
          <a:sx n="98" d="100"/>
          <a:sy n="98" d="100"/>
        </p:scale>
        <p:origin x="1398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viewProps" Target="viewProp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77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18/04/2025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api_docs/python/tf/Graph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Ops</a:t>
            </a:r>
            <a:r>
              <a:rPr lang="pt-BR" dirty="0"/>
              <a:t> de operações. Tensorflow lite e micro suportam uma quantidade muito menor de operações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13900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Delegates</a:t>
            </a:r>
            <a:r>
              <a:rPr lang="pt-BR" dirty="0"/>
              <a:t>: https://ai.google.dev/edge/litert/performance/delegates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110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Pegada de memória (</a:t>
            </a:r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) refere-se à quantidade total de memória RAM que um programa ou sistema utiliza durante sua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6487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https://ai.google.dev/edge/litert/models/convert_tf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 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Padrão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do TensorFlow): 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Armazena o modelo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completamente serializado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, incluindo arquitetura, pesos, otimizadores e metadados.</a:t>
            </a:r>
          </a:p>
          <a:p>
            <a:pPr algn="l">
              <a:spcBef>
                <a:spcPts val="1372"/>
              </a:spcBef>
              <a:spcAft>
                <a:spcPts val="1029"/>
              </a:spcAft>
              <a:buNone/>
            </a:pP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Extensão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: Pasta com arquivos .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pb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(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protocol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buffer) + diretório 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variables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.</a:t>
            </a:r>
            <a:b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</a:br>
            <a:b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</a:b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HDF5 (.h5 ou .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keras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)</a:t>
            </a:r>
            <a:endParaRPr lang="pt-BR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Descrição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: Formato herdado do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Keras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(ainda amplamente usado). Salva o modelo em um único arquivo, mas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pode não incluir metadados ou 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custom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 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layers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A </a:t>
            </a:r>
            <a:r>
              <a:rPr lang="en-US" b="1" i="0" dirty="0" err="1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ConcreteFunction</a:t>
            </a:r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 can be thought of as a wrapper around a </a:t>
            </a:r>
            <a:r>
              <a:rPr lang="en-US" b="1" i="0" dirty="0" err="1">
                <a:solidFill>
                  <a:srgbClr val="1A73E8"/>
                </a:solidFill>
                <a:effectLst/>
                <a:latin typeface="Roboto" panose="02000000000000000000" pitchFamily="2" charset="0"/>
                <a:hlinkClick r:id="rId3"/>
              </a:rPr>
              <a:t>tf.Graph</a:t>
            </a:r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52603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995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09518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195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52212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7606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77204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91389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39432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43387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8429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00065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F0E9C-7771-CB58-FC65-ACE0A4793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68C8716-8DEE-2D37-3468-792CD29DF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3A64F34-6657-3369-44E5-4F518D008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 err="1">
                <a:solidFill>
                  <a:srgbClr val="404040"/>
                </a:solidFill>
                <a:effectLst/>
                <a:latin typeface="Menlo"/>
              </a:rPr>
              <a:t>Referencia</a:t>
            </a:r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>: https://ai.google.dev/edge/litert/models/post_training_quantization</a:t>
            </a:r>
          </a:p>
          <a:p>
            <a:br>
              <a:rPr lang="en-US" b="0" i="0" dirty="0">
                <a:solidFill>
                  <a:srgbClr val="404040"/>
                </a:solidFill>
                <a:effectLst/>
                <a:latin typeface="Menlo"/>
              </a:rPr>
            </a:br>
            <a:r>
              <a:rPr lang="en-US" b="0" i="0" dirty="0" err="1">
                <a:solidFill>
                  <a:srgbClr val="404040"/>
                </a:solidFill>
                <a:effectLst/>
                <a:latin typeface="Menlo"/>
              </a:rPr>
              <a:t>representative_dataset</a:t>
            </a:r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>(): 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Essa função é usada durante a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conversão de um modelo TensorFlow para TensorFlow Lite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com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quantização pós-treinamento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(post-training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quantization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). Ela fornece exemplos de dados de entrada para que o conversor do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TFLite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calibre os intervalos dinâmicos dos tensores do modelo, otimizando-o para tamanho e velocidade.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8B58186-6517-20F2-EF9E-54119A8D01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97749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73131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35754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47359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22847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463061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60569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Projeto Samuel: 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https://studio.edgeimpulse.com/public/294644/live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503758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os alunos devem entrar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, baixar um dataset e treinar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impulse, tarefa para ser feita durante a aula.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Neste trabalho pedi aos alunos para tirar fotos com o celular e criar o próprio banco de dados a ser testado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48741" y="3014100"/>
            <a:ext cx="9022800" cy="8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O PRIMEIRO TÍTULO</a:t>
            </a:r>
          </a:p>
        </p:txBody>
      </p:sp>
      <p:cxnSp>
        <p:nvCxnSpPr>
          <p:cNvPr id="9" name="Google Shape;17;p3"/>
          <p:cNvCxnSpPr/>
          <p:nvPr userDrawn="1"/>
        </p:nvCxnSpPr>
        <p:spPr>
          <a:xfrm>
            <a:off x="1252860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18;p3"/>
          <p:cNvSpPr/>
          <p:nvPr userDrawn="1"/>
        </p:nvSpPr>
        <p:spPr>
          <a:xfrm flipH="1">
            <a:off x="843408" y="3023204"/>
            <a:ext cx="819200" cy="819200"/>
          </a:xfrm>
          <a:prstGeom prst="ellipse">
            <a:avLst/>
          </a:prstGeom>
          <a:solidFill>
            <a:srgbClr val="0070C0"/>
          </a:solidFill>
          <a:ln w="2857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grpSp>
        <p:nvGrpSpPr>
          <p:cNvPr id="11" name="Google Shape;118;p18"/>
          <p:cNvGrpSpPr/>
          <p:nvPr userDrawn="1"/>
        </p:nvGrpSpPr>
        <p:grpSpPr>
          <a:xfrm>
            <a:off x="1035391" y="3227475"/>
            <a:ext cx="391864" cy="393547"/>
            <a:chOff x="2594050" y="1631825"/>
            <a:chExt cx="439625" cy="439625"/>
          </a:xfrm>
        </p:grpSpPr>
        <p:sp>
          <p:nvSpPr>
            <p:cNvPr id="12" name="Google Shape;119;p18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3" name="Google Shape;120;p18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4" name="Google Shape;121;p18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5" name="Google Shape;122;p18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</p:grpSp>
      <p:pic>
        <p:nvPicPr>
          <p:cNvPr id="16" name="Imagem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7895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ique aqui para adicionar seu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20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0429D44C-024F-49BA-BA92-6BA652B41B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</p:spTree>
    <p:extLst>
      <p:ext uri="{BB962C8B-B14F-4D97-AF65-F5344CB8AC3E}">
        <p14:creationId xmlns:p14="http://schemas.microsoft.com/office/powerpoint/2010/main" val="38477176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9" name="Imagem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92FEC62A-AEF6-4001-BB11-823B08650E7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  <p:sp>
        <p:nvSpPr>
          <p:cNvPr id="10" name="Google Shape;14;p3">
            <a:extLst>
              <a:ext uri="{FF2B5EF4-FFF2-40B4-BE49-F238E27FC236}">
                <a16:creationId xmlns:a16="http://schemas.microsoft.com/office/drawing/2014/main" id="{137F0C9D-A7E1-438A-AC82-A6EC7B2C200F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805553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2" name="Google Shape;14;p3">
            <a:extLst>
              <a:ext uri="{FF2B5EF4-FFF2-40B4-BE49-F238E27FC236}">
                <a16:creationId xmlns:a16="http://schemas.microsoft.com/office/drawing/2014/main" id="{9D3AA249-572A-43DC-88A4-DDB8F15E43B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65377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E55CBC1E-334C-401B-8582-9E8D56E2C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2623929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C0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9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2" name="Imagem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C54F93D9-1F86-4299-9A39-CDC0441F1E4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928346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11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1E9A4DC9-1926-455C-BB66-B463FFEA4C9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424401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cap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3000" dirty="0"/>
          </a:p>
        </p:txBody>
      </p:sp>
      <p:cxnSp>
        <p:nvCxnSpPr>
          <p:cNvPr id="7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11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67541" y="3074200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subtítulo</a:t>
            </a:r>
          </a:p>
        </p:txBody>
      </p:sp>
    </p:spTree>
    <p:extLst>
      <p:ext uri="{BB962C8B-B14F-4D97-AF65-F5344CB8AC3E}">
        <p14:creationId xmlns:p14="http://schemas.microsoft.com/office/powerpoint/2010/main" val="413123522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7575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9" name="Imagem 1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088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473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</p:sldLayoutIdLst>
  <p:txStyles>
    <p:titleStyle>
      <a:lvl1pPr algn="ctr" defTabSz="1219078" rtl="0" eaLnBrk="1" latinLnBrk="0" hangingPunct="1">
        <a:spcBef>
          <a:spcPct val="0"/>
        </a:spcBef>
        <a:buNone/>
        <a:defRPr sz="586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54" indent="-457154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4266" kern="1200">
          <a:solidFill>
            <a:schemeClr val="tx1"/>
          </a:solidFill>
          <a:latin typeface="+mn-lt"/>
          <a:ea typeface="+mn-ea"/>
          <a:cs typeface="+mn-cs"/>
        </a:defRPr>
      </a:lvl1pPr>
      <a:lvl2pPr marL="990501" indent="-380962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848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387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2666" kern="1200">
          <a:solidFill>
            <a:schemeClr val="tx1"/>
          </a:solidFill>
          <a:latin typeface="+mn-lt"/>
          <a:ea typeface="+mn-ea"/>
          <a:cs typeface="+mn-cs"/>
        </a:defRPr>
      </a:lvl4pPr>
      <a:lvl5pPr marL="2742926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»"/>
        <a:defRPr sz="2666" kern="1200">
          <a:solidFill>
            <a:schemeClr val="tx1"/>
          </a:solidFill>
          <a:latin typeface="+mn-lt"/>
          <a:ea typeface="+mn-ea"/>
          <a:cs typeface="+mn-cs"/>
        </a:defRPr>
      </a:lvl5pPr>
      <a:lvl6pPr marL="3352465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2004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1543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1082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tinyurl.com/edgemlbooks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tensorflow.org/mlir/tfl_ops" TargetMode="Externa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tensorflow/examples/tree/master/lite/examples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lite/models/modify/model_maker?hl=pt-br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colab.research.google.com/github/zz4fap/tp557-iot-ml/blob/main/examples/Training_Hello_world_Model_for_Microcontroller.ipynb" TargetMode="Externa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3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6.png"/><Relationship Id="rId4" Type="http://schemas.openxmlformats.org/officeDocument/2006/relationships/image" Target="../media/image3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7.png"/><Relationship Id="rId4" Type="http://schemas.openxmlformats.org/officeDocument/2006/relationships/image" Target="../media/image3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8.png"/><Relationship Id="rId4" Type="http://schemas.openxmlformats.org/officeDocument/2006/relationships/image" Target="../media/image3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9.png"/><Relationship Id="rId4" Type="http://schemas.openxmlformats.org/officeDocument/2006/relationships/image" Target="../media/image35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0.png"/><Relationship Id="rId4" Type="http://schemas.openxmlformats.org/officeDocument/2006/relationships/image" Target="../media/image3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3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3.png"/><Relationship Id="rId4" Type="http://schemas.openxmlformats.org/officeDocument/2006/relationships/image" Target="../media/image3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4.png"/><Relationship Id="rId4" Type="http://schemas.openxmlformats.org/officeDocument/2006/relationships/image" Target="../media/image35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5.png"/><Relationship Id="rId4" Type="http://schemas.openxmlformats.org/officeDocument/2006/relationships/image" Target="../media/image3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5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35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netron.app/" TargetMode="Externa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2.png"/><Relationship Id="rId4" Type="http://schemas.openxmlformats.org/officeDocument/2006/relationships/image" Target="../media/image35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3.png"/><Relationship Id="rId4" Type="http://schemas.openxmlformats.org/officeDocument/2006/relationships/image" Target="../media/image35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7.jpeg"/><Relationship Id="rId5" Type="http://schemas.openxmlformats.org/officeDocument/2006/relationships/hyperlink" Target="https://www.kaggle.com/datasets/gpiosenka/coffee-bean-dataset-resized-224-x-224" TargetMode="External"/><Relationship Id="rId4" Type="http://schemas.openxmlformats.org/officeDocument/2006/relationships/hyperlink" Target="https://edgeimpulse.com/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 err="1"/>
              <a:t>TensorFlow</a:t>
            </a:r>
            <a:r>
              <a:rPr lang="pt-BR" b="1" i="1" dirty="0"/>
              <a:t> Lite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3093156" y="6015453"/>
            <a:ext cx="4822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Créditos: Prof. Marcelo Rovai UNIFEI 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3578588"/>
          </a:xfrm>
        </p:spPr>
        <p:txBody>
          <a:bodyPr/>
          <a:lstStyle/>
          <a:p>
            <a:r>
              <a:rPr lang="pt-BR" dirty="0"/>
              <a:t>Possui pós-doutorado na Universidade Federal do Paraná (2015-2018). </a:t>
            </a:r>
          </a:p>
          <a:p>
            <a:r>
              <a:rPr lang="pt-BR" dirty="0"/>
              <a:t>Doutor em Ciências na área de telecomunicações e redes pela Universidade Tecnológica Federal do Paraná (2015). </a:t>
            </a:r>
          </a:p>
          <a:p>
            <a:r>
              <a:rPr lang="pt-BR" dirty="0"/>
              <a:t>Mestre em Engenharia Elétrica com ênfase em telecomunicações pela Universidade Federal do Paraná (2012). </a:t>
            </a:r>
          </a:p>
          <a:p>
            <a:r>
              <a:rPr lang="pt-BR" dirty="0"/>
              <a:t>Engenheiro Eletricista pela Universidade do Estado de Santa Catarina (2010).</a:t>
            </a:r>
          </a:p>
          <a:p>
            <a:endParaRPr lang="pt-BR" dirty="0"/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611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4464496"/>
          </a:xfrm>
        </p:spPr>
        <p:txBody>
          <a:bodyPr/>
          <a:lstStyle/>
          <a:p>
            <a:r>
              <a:rPr lang="pt-BR" dirty="0"/>
              <a:t>Instituto Nacional de Telecomunicações - Inatel.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 de graduação em engenharia de computação;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e pesquisador nos cursos de mestrado e doutorado em telecomunicações;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cursos de especialização em 5G,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redes de telecomunicação;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Coordenador do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Inatel. </a:t>
            </a:r>
          </a:p>
          <a:p>
            <a:pPr lvl="1"/>
            <a:endParaRPr lang="pt-BR" sz="2333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t-BR" dirty="0"/>
              <a:t> </a:t>
            </a:r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377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TinyML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266" name="Picture 2" descr="Tiny Machine Learning: The Next AI Revolution | by Matthew Stewart, PhD |  Towards Data Science">
            <a:extLst>
              <a:ext uri="{FF2B5EF4-FFF2-40B4-BE49-F238E27FC236}">
                <a16:creationId xmlns:a16="http://schemas.microsoft.com/office/drawing/2014/main" id="{6D4387EF-198D-6CC9-FBBC-B1958F1A5F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627" y="1484489"/>
            <a:ext cx="8367305" cy="4636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8759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/>
          </a:bodyPr>
          <a:lstStyle/>
          <a:p>
            <a:r>
              <a:rPr lang="pt-BR" dirty="0"/>
              <a:t>Características dos dispositivos </a:t>
            </a:r>
            <a:r>
              <a:rPr lang="pt-BR" dirty="0" err="1"/>
              <a:t>IoT</a:t>
            </a:r>
            <a:r>
              <a:rPr lang="pt-BR" dirty="0"/>
              <a:t>:</a:t>
            </a:r>
          </a:p>
          <a:p>
            <a:r>
              <a:rPr lang="pt-BR" dirty="0"/>
              <a:t>Baixo consumo de energia;</a:t>
            </a:r>
          </a:p>
          <a:p>
            <a:r>
              <a:rPr lang="pt-BR" dirty="0"/>
              <a:t>Baixo poder computacional;</a:t>
            </a:r>
          </a:p>
          <a:p>
            <a:r>
              <a:rPr lang="pt-BR" dirty="0"/>
              <a:t>Baixo custo.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86984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 fontScale="85000" lnSpcReduction="10000"/>
          </a:bodyPr>
          <a:lstStyle/>
          <a:p>
            <a:pPr algn="l" rtl="0" fontAlgn="base"/>
            <a:r>
              <a:rPr lang="pt-BR" sz="2600" b="0" i="0" u="none" strike="noStrike" dirty="0">
                <a:effectLst/>
              </a:rPr>
              <a:t>A energia de processamento depende basicamente do número de ciclos de </a:t>
            </a:r>
            <a:r>
              <a:rPr lang="pt-BR" sz="2600" b="0" i="0" u="none" strike="noStrike" dirty="0" err="1">
                <a:effectLst/>
              </a:rPr>
              <a:t>clock</a:t>
            </a:r>
            <a:r>
              <a:rPr lang="pt-BR" sz="2600" b="0" i="0" u="none" strike="noStrike" dirty="0">
                <a:effectLst/>
              </a:rPr>
              <a:t> executadas pelo microcontrolador.</a:t>
            </a:r>
            <a:r>
              <a:rPr lang="en-US" sz="2600" b="0" i="0" dirty="0">
                <a:effectLst/>
              </a:rPr>
              <a:t>​</a:t>
            </a:r>
          </a:p>
          <a:p>
            <a:pPr marL="0" indent="0" algn="l" rtl="0" fontAlgn="base">
              <a:buNone/>
            </a:pPr>
            <a:endParaRPr lang="pt-BR" sz="2600" b="0" i="0" dirty="0">
              <a:effectLst/>
            </a:endParaRPr>
          </a:p>
          <a:p>
            <a:pPr algn="l" rtl="0" fontAlgn="base"/>
            <a:r>
              <a:rPr lang="pt-BR" sz="2600" b="0" i="0" u="none" strike="noStrike" dirty="0">
                <a:effectLst/>
              </a:rPr>
              <a:t>"Os programadores não poderão ignorar o custo de energia dos programas que escrevem ... Você precisa de ferramentas que forneçam feedback e digam o quão boas são suas decisões. Atualmente, as ferramentas não fornecem esse tipo de feedback.” (Steve </a:t>
            </a:r>
            <a:r>
              <a:rPr lang="pt-BR" sz="2600" b="0" i="0" u="none" strike="noStrike" dirty="0" err="1">
                <a:effectLst/>
              </a:rPr>
              <a:t>Furber</a:t>
            </a:r>
            <a:r>
              <a:rPr lang="pt-BR" sz="2600" b="0" i="0" u="none" strike="noStrike" dirty="0">
                <a:effectLst/>
              </a:rPr>
              <a:t>, ARM, 2010)</a:t>
            </a:r>
            <a:endParaRPr lang="en-US" sz="2600" b="0" i="0" dirty="0">
              <a:effectLst/>
            </a:endParaRP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29072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Processamento tradicional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4C0988EC-1EED-C341-8C2F-16519CE649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66289" y="1440460"/>
            <a:ext cx="8626588" cy="3299746"/>
          </a:xfrm>
        </p:spPr>
      </p:pic>
    </p:spTree>
    <p:extLst>
      <p:ext uri="{BB962C8B-B14F-4D97-AF65-F5344CB8AC3E}">
        <p14:creationId xmlns:p14="http://schemas.microsoft.com/office/powerpoint/2010/main" val="3801133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30913158-1403-FD7C-13DD-FEE88A4A77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23244" y="1656357"/>
            <a:ext cx="8545689" cy="3116307"/>
          </a:xfrm>
        </p:spPr>
      </p:pic>
    </p:spTree>
    <p:extLst>
      <p:ext uri="{BB962C8B-B14F-4D97-AF65-F5344CB8AC3E}">
        <p14:creationId xmlns:p14="http://schemas.microsoft.com/office/powerpoint/2010/main" val="2623398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05A8F147-70FE-941B-F2CB-2C124F8D5F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95022" y="1969297"/>
            <a:ext cx="8861778" cy="2716205"/>
          </a:xfrm>
        </p:spPr>
      </p:pic>
    </p:spTree>
    <p:extLst>
      <p:ext uri="{BB962C8B-B14F-4D97-AF65-F5344CB8AC3E}">
        <p14:creationId xmlns:p14="http://schemas.microsoft.com/office/powerpoint/2010/main" val="475612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A5DFCE40-4CA2-BEBF-45F2-5DA44B4A8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19199" y="1590391"/>
            <a:ext cx="9256889" cy="3677217"/>
          </a:xfrm>
        </p:spPr>
      </p:pic>
    </p:spTree>
    <p:extLst>
      <p:ext uri="{BB962C8B-B14F-4D97-AF65-F5344CB8AC3E}">
        <p14:creationId xmlns:p14="http://schemas.microsoft.com/office/powerpoint/2010/main" val="1840262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ABD88AAA-EE48-F346-F093-EAE7966DAE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51466" y="1640213"/>
            <a:ext cx="8624711" cy="3374374"/>
          </a:xfrm>
        </p:spPr>
      </p:pic>
    </p:spTree>
    <p:extLst>
      <p:ext uri="{BB962C8B-B14F-4D97-AF65-F5344CB8AC3E}">
        <p14:creationId xmlns:p14="http://schemas.microsoft.com/office/powerpoint/2010/main" val="305983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1D183AB4-0114-C958-8DAD-03DD590E20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307346" y="986294"/>
            <a:ext cx="3556739" cy="4682212"/>
          </a:xfr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32179B82-25F5-6138-2B69-45619B216CCB}"/>
              </a:ext>
            </a:extLst>
          </p:cNvPr>
          <p:cNvSpPr txBox="1">
            <a:spLocks/>
          </p:cNvSpPr>
          <p:nvPr/>
        </p:nvSpPr>
        <p:spPr>
          <a:xfrm>
            <a:off x="-260085" y="284692"/>
            <a:ext cx="6559285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609630" rtl="0" eaLnBrk="1" latinLnBrk="0" hangingPunct="1">
              <a:spcBef>
                <a:spcPct val="0"/>
              </a:spcBef>
              <a:buNone/>
              <a:defRPr sz="293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Referência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E716D6C-1B36-DABF-B509-335987079969}"/>
              </a:ext>
            </a:extLst>
          </p:cNvPr>
          <p:cNvSpPr txBox="1"/>
          <p:nvPr/>
        </p:nvSpPr>
        <p:spPr>
          <a:xfrm>
            <a:off x="2762956" y="5871706"/>
            <a:ext cx="62258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Tinyml</a:t>
            </a:r>
            <a:r>
              <a:rPr lang="en-US" dirty="0"/>
              <a:t>: Machine Learning with </a:t>
            </a:r>
            <a:r>
              <a:rPr lang="en-US" dirty="0" err="1"/>
              <a:t>Tensorflow</a:t>
            </a:r>
            <a:r>
              <a:rPr lang="en-US" dirty="0"/>
              <a:t> Lite on Arduino and Ultra-Low-Power Microcontrollers</a:t>
            </a:r>
            <a:endParaRPr lang="pt-B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D26F54-CF3F-3EF1-9173-C3D19AD97F6E}"/>
              </a:ext>
            </a:extLst>
          </p:cNvPr>
          <p:cNvSpPr txBox="1"/>
          <p:nvPr/>
        </p:nvSpPr>
        <p:spPr>
          <a:xfrm>
            <a:off x="8684173" y="5211729"/>
            <a:ext cx="3392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https://tinyurl.com/edgemlbooks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9609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Conteúdo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Introdução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é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Por que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Benefícios de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 pode fazer?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Visão geral do fluxo de trabalho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Convertendo um modelo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em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</p:txBody>
      </p:sp>
    </p:spTree>
    <p:extLst>
      <p:ext uri="{BB962C8B-B14F-4D97-AF65-F5344CB8AC3E}">
        <p14:creationId xmlns:p14="http://schemas.microsoft.com/office/powerpoint/2010/main" val="2627688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O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TensorFlow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Lite é um conjunto de ferramentas para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machine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learning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no dispositivo que ajuda os desenvolvedores a executar modelos em dispositivos móveis, incorporados e de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IoT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3027"/>
            <a:ext cx="63817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4663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é uma biblioteca de aprendizado de máquina geral que pode ser usada para treinar e implantar modelos de aprendizado de máquina em uma variedade de plataformas, incluindo computadores, dispositivos móveis e dispositivos incorporados.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Lite é uma versão reduzida do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que é otimizada para desempenho e eficiência em dispositivos móveis e incorporados.</a:t>
            </a: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29000"/>
            <a:ext cx="63817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02667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Auxilia na criação de aplicações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edgeML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, que possuem as seguintes características: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Baixa latência (não há ida e volta para um servidor),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Maior privacidade (nenhum dado pessoal sai do dispositivo),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Pouca ou nenhuma necessidade de conectividade a Internet,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Modelos d menor tamanho (tamanho reduzido do modelo e do binário)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Menor consumo de energia (inferência eficiente e falta de conexões de rede)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298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Suporte a várias plataformas, inclusive dispositivos Android e iOS, Linux incorporado e microcontroladores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Compatibilidade com diversas linguagens, incluindo Java, Swift,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Objective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-C, C++ e Python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Alto desempenho com aceleração de hardware e otimização de modelos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5624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7083F4F6-6882-226E-8924-F3F893CE7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01152" y="1475553"/>
            <a:ext cx="7498730" cy="4313294"/>
          </a:xfrm>
        </p:spPr>
      </p:pic>
    </p:spTree>
    <p:extLst>
      <p:ext uri="{BB962C8B-B14F-4D97-AF65-F5344CB8AC3E}">
        <p14:creationId xmlns:p14="http://schemas.microsoft.com/office/powerpoint/2010/main" val="3230843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0942837E-A7AA-0552-CCE5-E9F444D393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846667" y="1271099"/>
            <a:ext cx="9347200" cy="4519001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B2F112-E74E-7802-E172-46DE8F007E4C}"/>
              </a:ext>
            </a:extLst>
          </p:cNvPr>
          <p:cNvSpPr txBox="1"/>
          <p:nvPr/>
        </p:nvSpPr>
        <p:spPr>
          <a:xfrm>
            <a:off x="2093894" y="59314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Set of operations: https://www.tensorflow.org/mlir/tfl_ops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02156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id="{0FF495AE-312B-8030-46D0-CDBEBBB51C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770130" y="1406392"/>
            <a:ext cx="9853494" cy="3517383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358192-105F-2899-E13C-13ED44081794}"/>
              </a:ext>
            </a:extLst>
          </p:cNvPr>
          <p:cNvSpPr txBox="1"/>
          <p:nvPr/>
        </p:nvSpPr>
        <p:spPr>
          <a:xfrm>
            <a:off x="9301932" y="2905518"/>
            <a:ext cx="9141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(roda no </a:t>
            </a:r>
            <a:r>
              <a:rPr lang="pt-BR" sz="1200" dirty="0" err="1"/>
              <a:t>bare</a:t>
            </a:r>
            <a:r>
              <a:rPr lang="pt-BR" sz="1200" dirty="0"/>
              <a:t> metal)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AF67C9-DFE1-8B0E-A216-5183F6AA774E}"/>
              </a:ext>
            </a:extLst>
          </p:cNvPr>
          <p:cNvSpPr txBox="1"/>
          <p:nvPr/>
        </p:nvSpPr>
        <p:spPr>
          <a:xfrm>
            <a:off x="4880712" y="3367183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dinâmico de memória: memoria virtual)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5199DB-206E-9599-A701-296559F2BE0A}"/>
              </a:ext>
            </a:extLst>
          </p:cNvPr>
          <p:cNvSpPr txBox="1"/>
          <p:nvPr/>
        </p:nvSpPr>
        <p:spPr>
          <a:xfrm>
            <a:off x="7249042" y="3429000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estático de memória. Sabemos onde está na memória)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1135DD-400D-9EFF-963F-2BFBCAC9D1D1}"/>
              </a:ext>
            </a:extLst>
          </p:cNvPr>
          <p:cNvSpPr txBox="1"/>
          <p:nvPr/>
        </p:nvSpPr>
        <p:spPr>
          <a:xfrm>
            <a:off x="4880712" y="4197815"/>
            <a:ext cx="1632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e </a:t>
            </a:r>
            <a:r>
              <a:rPr lang="pt-BR" sz="1200" dirty="0" err="1"/>
              <a:t>TPUs</a:t>
            </a:r>
            <a:r>
              <a:rPr lang="pt-BR" sz="1200" dirty="0"/>
              <a:t>)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6A1622-A2AE-F348-0B7A-91A6F5F4F2F7}"/>
              </a:ext>
            </a:extLst>
          </p:cNvPr>
          <p:cNvSpPr txBox="1"/>
          <p:nvPr/>
        </p:nvSpPr>
        <p:spPr>
          <a:xfrm>
            <a:off x="7072119" y="4197814"/>
            <a:ext cx="16323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móveis, </a:t>
            </a:r>
            <a:r>
              <a:rPr lang="pt-BR" sz="1200" dirty="0" err="1"/>
              <a:t>NPUs</a:t>
            </a:r>
            <a:r>
              <a:rPr lang="pt-BR" sz="1200" dirty="0"/>
              <a:t>, </a:t>
            </a:r>
            <a:r>
              <a:rPr lang="pt-BR" sz="1200" dirty="0" err="1"/>
              <a:t>DSPs</a:t>
            </a:r>
            <a:r>
              <a:rPr lang="pt-BR" sz="1200" dirty="0"/>
              <a:t>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909774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" name="Espaço Reservado para Conteúdo 9">
            <a:extLst>
              <a:ext uri="{FF2B5EF4-FFF2-40B4-BE49-F238E27FC236}">
                <a16:creationId xmlns:a16="http://schemas.microsoft.com/office/drawing/2014/main" id="{A36D4836-D243-4019-E226-8026610A41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151466" y="1630409"/>
            <a:ext cx="8895644" cy="3393982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FABFCA8-80AF-7911-FE28-7BB08F129841}"/>
              </a:ext>
            </a:extLst>
          </p:cNvPr>
          <p:cNvSpPr txBox="1"/>
          <p:nvPr/>
        </p:nvSpPr>
        <p:spPr>
          <a:xfrm>
            <a:off x="1151465" y="5175485"/>
            <a:ext cx="94219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Base </a:t>
            </a:r>
            <a:r>
              <a:rPr lang="pt-BR" dirty="0" err="1"/>
              <a:t>binary</a:t>
            </a:r>
            <a:r>
              <a:rPr lang="pt-BR" dirty="0"/>
              <a:t> </a:t>
            </a:r>
            <a:r>
              <a:rPr lang="pt-BR" dirty="0" err="1"/>
              <a:t>size</a:t>
            </a:r>
            <a:r>
              <a:rPr lang="pt-BR" dirty="0"/>
              <a:t>: tamanho em disco ou memória flash que a biblioteca ocupa.</a:t>
            </a:r>
          </a:p>
          <a:p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: quantidade total de memória RAM usada durante a execução.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984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é um conjunto de ferramentas de machine learning que ajuda os desenvolvedores a executar modelos em dispositivos móveis, embarcados e IoT. Ele pode ser usado para criar aplicações destinadas a uma ampla variedade de tarefas, incluindo: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imagem: O TensorFlow Lite pode ser usado para criar modelos </a:t>
            </a:r>
            <a:r>
              <a:rPr lang="pt-BR" sz="2000">
                <a:ea typeface="Calibri" panose="020F0502020204030204" pitchFamily="34" charset="0"/>
                <a:cs typeface="Arial" panose="020B0604020202020204" pitchFamily="34" charset="0"/>
              </a:rPr>
              <a:t>que identifiquem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objetos em imagens, como pessoas, animais, objetos e cenas.</a:t>
            </a:r>
          </a:p>
        </p:txBody>
      </p:sp>
      <p:pic>
        <p:nvPicPr>
          <p:cNvPr id="5" name="Picture 2" descr="Iniciando Detecção Objetos com OpenCV">
            <a:extLst>
              <a:ext uri="{FF2B5EF4-FFF2-40B4-BE49-F238E27FC236}">
                <a16:creationId xmlns:a16="http://schemas.microsoft.com/office/drawing/2014/main" id="{5DF1FABF-1994-A6C9-74B0-9D3B228DE4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32491"/>
            <a:ext cx="5547678" cy="3120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8072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Detecção de objetos: O TensorFlow Lite pode ser usado para criar modelos que identifiquem e rastreiem objetos em tempo real, como carros, pessoas e animais.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Iniciando Detecção Objetos com OpenCV">
            <a:extLst>
              <a:ext uri="{FF2B5EF4-FFF2-40B4-BE49-F238E27FC236}">
                <a16:creationId xmlns:a16="http://schemas.microsoft.com/office/drawing/2014/main" id="{016F69A5-0F7D-F6FE-BD4B-32F38F497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978" y="2286706"/>
            <a:ext cx="5904090" cy="3321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24922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voz: O TensorFlow Lite pode ser usado para criar modelos de reconhecimento de fala, como comandos de voz e perguntas.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41E48C3-0E68-5029-BDEC-3CE77D8AA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431" y="2165982"/>
            <a:ext cx="6161969" cy="382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6134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Processamento de linguagem natural: O TensorFlow Lite pode ser usado para criar modelos que entendam texto, como perguntas e solicitações.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6D4BDE6-F027-E85C-A935-9890F5274C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8897" y="2185177"/>
            <a:ext cx="596265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72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Análise de vídeo: O TensorFlow Lite pode ser usado para criar modelos que analisem vídeos para detectar objetos, pessoas e comportamentos.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27+ Most Popular Computer Vision Applications in 2023">
            <a:extLst>
              <a:ext uri="{FF2B5EF4-FFF2-40B4-BE49-F238E27FC236}">
                <a16:creationId xmlns:a16="http://schemas.microsoft.com/office/drawing/2014/main" id="{A0FC0AFF-A6AC-404C-03F5-AED3DD102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8015" y="2230212"/>
            <a:ext cx="7527273" cy="3585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21061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/>
              <a:t>Um modelo do TensorFlow Lite é representado em um formato aberto e eficiente conhecido como </a:t>
            </a:r>
            <a:r>
              <a:rPr lang="pt-BR" b="1" i="1" dirty="0" err="1">
                <a:solidFill>
                  <a:srgbClr val="7030A0"/>
                </a:solidFill>
              </a:rPr>
              <a:t>FlatBuffers</a:t>
            </a:r>
            <a:r>
              <a:rPr lang="pt-BR" dirty="0"/>
              <a:t>, identificado pela extensão de arquivo .</a:t>
            </a:r>
            <a:r>
              <a:rPr lang="pt-BR" dirty="0" err="1"/>
              <a:t>tflite</a:t>
            </a:r>
            <a:r>
              <a:rPr lang="pt-BR" dirty="0"/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>
                <a:effectLst/>
                <a:latin typeface="-apple-system"/>
              </a:rPr>
              <a:t>Desenvolvida pelo Google.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>
                <a:latin typeface="-apple-system"/>
              </a:rPr>
              <a:t>É uma biblioteca de serialização </a:t>
            </a:r>
            <a:r>
              <a:rPr lang="pt-BR" dirty="0" err="1">
                <a:latin typeface="-apple-system"/>
              </a:rPr>
              <a:t>multiplataforma</a:t>
            </a:r>
            <a:r>
              <a:rPr lang="pt-BR" dirty="0">
                <a:latin typeface="-apple-system"/>
              </a:rPr>
              <a:t> eficiente para C++, C, Python, etc.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1" dirty="0"/>
              <a:t>Biblioteca que converte objetos em um formato que possa ser armazenado ou transmitido</a:t>
            </a:r>
            <a:r>
              <a:rPr lang="pt-BR" dirty="0"/>
              <a:t>.</a:t>
            </a:r>
            <a:endParaRPr lang="pt-BR" b="0" i="0" dirty="0">
              <a:effectLst/>
              <a:latin typeface="-apple-system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 err="1">
                <a:effectLst/>
                <a:latin typeface="-apple-system"/>
              </a:rPr>
              <a:t>Flatbuffers</a:t>
            </a:r>
            <a:r>
              <a:rPr lang="pt-BR" b="0" i="0" dirty="0">
                <a:effectLst/>
                <a:latin typeface="-apple-system"/>
              </a:rPr>
              <a:t> é especialmente útil em cenários em que a velocidade e o tamanho compacto dos dados são essenciais, como jogos, aplicativos móveis e sistemas de comunicação de rede.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882093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Lite: Geração de modelos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Use um modelo existente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consulte os exemplos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escolher um modelo existente. Os modelos podem ou não conter metadados.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D00DCBC-E4E6-D605-D704-02B8108A9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4888" y="2937226"/>
            <a:ext cx="7303911" cy="3110135"/>
          </a:xfrm>
          <a:prstGeom prst="rect">
            <a:avLst/>
          </a:prstGeom>
        </p:spPr>
      </p:pic>
      <p:sp>
        <p:nvSpPr>
          <p:cNvPr id="5" name="Retângulo 4"/>
          <p:cNvSpPr/>
          <p:nvPr/>
        </p:nvSpPr>
        <p:spPr>
          <a:xfrm>
            <a:off x="2496207" y="6215969"/>
            <a:ext cx="69525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https://github.com/tensorflow/examples/tree/master/lite/examples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524333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76528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Crie um modelo do TensorFlow Lite: use o TensorFlow Lite Model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Maker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criar um modelo com seu próprio conjunto de dados personalizado.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Por padrão, todos os modelos contêm metadados*.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transfer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learning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reduzir a quantidade de dados de treinamento necessários e reduzir o tempo de treinamento.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https://www.tensorflow.org/lite/models/modify/model_maker?hl=pt-br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93292B-A3D0-990C-7B97-23D946E61168}"/>
              </a:ext>
            </a:extLst>
          </p:cNvPr>
          <p:cNvSpPr txBox="1"/>
          <p:nvPr/>
        </p:nvSpPr>
        <p:spPr>
          <a:xfrm>
            <a:off x="2755359" y="5929622"/>
            <a:ext cx="609437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/>
              <a:t>*Os metadados do modelo contêm informações gerais do modelo (autor, versão, propósito, licença), dimensões esperadas das entradas/saídas, tipo dos dados (</a:t>
            </a:r>
            <a:r>
              <a:rPr lang="pt-BR" sz="1200" dirty="0" err="1"/>
              <a:t>float</a:t>
            </a:r>
            <a:r>
              <a:rPr lang="pt-BR" sz="1200" dirty="0"/>
              <a:t>, </a:t>
            </a:r>
            <a:r>
              <a:rPr lang="pt-BR" sz="1200" dirty="0" err="1"/>
              <a:t>int</a:t>
            </a:r>
            <a:r>
              <a:rPr lang="pt-BR" sz="1200" dirty="0"/>
              <a:t>), descrição das saídas, mapeamento dos rótulos em classes, taxa de amostragem de áudio, etc. o que torna o modelo </a:t>
            </a:r>
            <a:r>
              <a:rPr lang="pt-BR" sz="1200" dirty="0" err="1"/>
              <a:t>autodescritivo</a:t>
            </a:r>
            <a:r>
              <a:rPr lang="pt-BR" sz="1200" dirty="0"/>
              <a:t> e intercambiável.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25569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32933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Converta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em um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use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Converter para converter modelos. Durante a conversão, você pode aplicar otimizações como a quantização para diminuir o tamanho e a latência do modelo com pouca ou nenhuma perda na acurácia. Por padrão, nenhum dos modelos contém metadados.</a:t>
            </a:r>
          </a:p>
        </p:txBody>
      </p:sp>
      <p:pic>
        <p:nvPicPr>
          <p:cNvPr id="3074" name="Picture 2" descr="Conversor do TensorFlow Lite">
            <a:extLst>
              <a:ext uri="{FF2B5EF4-FFF2-40B4-BE49-F238E27FC236}">
                <a16:creationId xmlns:a16="http://schemas.microsoft.com/office/drawing/2014/main" id="{F2857146-E0AC-CAA4-F70C-A96D02876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190" y="2857369"/>
            <a:ext cx="4034895" cy="4000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9657A0F-79B2-55C4-2A40-58802A2AFF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3325" y="3060191"/>
            <a:ext cx="1911085" cy="30504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1453205-7E82-15DA-4AA0-5C630D24D2E2}"/>
              </a:ext>
            </a:extLst>
          </p:cNvPr>
          <p:cNvSpPr txBox="1"/>
          <p:nvPr/>
        </p:nvSpPr>
        <p:spPr>
          <a:xfrm>
            <a:off x="2490281" y="4957769"/>
            <a:ext cx="18930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Pronto para uso em Python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2B2C35-3BA4-C4F5-32E9-89F212A2DC7A}"/>
              </a:ext>
            </a:extLst>
          </p:cNvPr>
          <p:cNvSpPr txBox="1"/>
          <p:nvPr/>
        </p:nvSpPr>
        <p:spPr>
          <a:xfrm>
            <a:off x="2593932" y="5383183"/>
            <a:ext cx="1685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00" dirty="0"/>
              <a:t>Pronto para uso em C++</a:t>
            </a:r>
          </a:p>
          <a:p>
            <a:pPr algn="ctr"/>
            <a:r>
              <a:rPr lang="pt-BR" sz="1200" dirty="0"/>
              <a:t>(</a:t>
            </a:r>
            <a:r>
              <a:rPr lang="pt-BR" sz="1200" dirty="0" err="1"/>
              <a:t>flatbuffer</a:t>
            </a:r>
            <a:r>
              <a:rPr lang="pt-BR" sz="1200" dirty="0"/>
              <a:t>)</a:t>
            </a:r>
            <a:endParaRPr lang="en-US" sz="120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2ACEF39-F9F7-6CF8-B88C-D9073EF5AB19}"/>
              </a:ext>
            </a:extLst>
          </p:cNvPr>
          <p:cNvCxnSpPr>
            <a:stCxn id="5" idx="3"/>
          </p:cNvCxnSpPr>
          <p:nvPr/>
        </p:nvCxnSpPr>
        <p:spPr>
          <a:xfrm flipV="1">
            <a:off x="4383300" y="5096268"/>
            <a:ext cx="344343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9C51E97-BFBA-B423-560F-BA994AAEDC6E}"/>
              </a:ext>
            </a:extLst>
          </p:cNvPr>
          <p:cNvCxnSpPr/>
          <p:nvPr/>
        </p:nvCxnSpPr>
        <p:spPr>
          <a:xfrm flipV="1">
            <a:off x="4371920" y="5581160"/>
            <a:ext cx="344343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93720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582E9589-8177-29E1-55FB-2378173837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24514" y="2142361"/>
            <a:ext cx="8855207" cy="2979678"/>
          </a:xfr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3E2FA7D6-384A-F9CA-866B-DFF3096B442E}"/>
              </a:ext>
            </a:extLst>
          </p:cNvPr>
          <p:cNvSpPr txBox="1"/>
          <p:nvPr/>
        </p:nvSpPr>
        <p:spPr>
          <a:xfrm>
            <a:off x="768085" y="1267246"/>
            <a:ext cx="8855206" cy="388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800">
                <a:ea typeface="Calibri" panose="020F0502020204030204" pitchFamily="34" charset="0"/>
                <a:cs typeface="Arial" panose="020B0604020202020204" pitchFamily="34" charset="0"/>
              </a:rPr>
              <a:t>Quando se utiliza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outros frameworks é necessário converter primeiro para o TensorFlow.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596F07-3DD5-5330-6E2A-215F0FABF265}"/>
              </a:ext>
            </a:extLst>
          </p:cNvPr>
          <p:cNvSpPr txBox="1"/>
          <p:nvPr/>
        </p:nvSpPr>
        <p:spPr>
          <a:xfrm>
            <a:off x="2657475" y="3705225"/>
            <a:ext cx="3166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ONNX</a:t>
            </a:r>
          </a:p>
          <a:p>
            <a:pPr algn="ctr"/>
            <a:r>
              <a:rPr lang="pt-BR" dirty="0"/>
              <a:t>Transferência manual dos pesos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50919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04900"/>
            <a:ext cx="9820275" cy="3934178"/>
          </a:xfrm>
        </p:spPr>
        <p:txBody>
          <a:bodyPr>
            <a:normAutofit/>
          </a:bodyPr>
          <a:lstStyle/>
          <a:p>
            <a:r>
              <a:rPr lang="pt-BR" dirty="0"/>
              <a:t>Como modelos do </a:t>
            </a:r>
            <a:r>
              <a:rPr lang="pt-BR" dirty="0" err="1"/>
              <a:t>tensorflow</a:t>
            </a:r>
            <a:r>
              <a:rPr lang="pt-BR" dirty="0"/>
              <a:t> lite rodam em dispositivos com restrições computacionais?</a:t>
            </a:r>
          </a:p>
          <a:p>
            <a:pPr lvl="1"/>
            <a:r>
              <a:rPr lang="pt-BR" dirty="0"/>
              <a:t>Operações de poda;</a:t>
            </a:r>
          </a:p>
          <a:p>
            <a:pPr lvl="1"/>
            <a:r>
              <a:rPr lang="pt-BR" dirty="0"/>
              <a:t>Operações de quantização.</a:t>
            </a:r>
          </a:p>
        </p:txBody>
      </p:sp>
    </p:spTree>
    <p:extLst>
      <p:ext uri="{BB962C8B-B14F-4D97-AF65-F5344CB8AC3E}">
        <p14:creationId xmlns:p14="http://schemas.microsoft.com/office/powerpoint/2010/main" val="23294471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dirty="0"/>
              <a:t>Existem diferentes maneiras de podar uma rede neural.</a:t>
            </a:r>
          </a:p>
          <a:p>
            <a:pPr lvl="1"/>
            <a:r>
              <a:rPr lang="pt-BR" dirty="0"/>
              <a:t> (1) Você pode podar pesos. Isso é feito removendo pesos com valores absolutos próximos de zero, tornando a rede </a:t>
            </a:r>
            <a:r>
              <a:rPr lang="pt-BR" b="1" i="1" dirty="0">
                <a:solidFill>
                  <a:srgbClr val="FF0000"/>
                </a:solidFill>
              </a:rPr>
              <a:t>esparsa</a:t>
            </a:r>
            <a:r>
              <a:rPr lang="pt-BR" dirty="0"/>
              <a:t>. </a:t>
            </a:r>
          </a:p>
          <a:p>
            <a:pPr lvl="1"/>
            <a:r>
              <a:rPr lang="pt-BR" dirty="0"/>
              <a:t> (2) Você pode remover nós inteiros da rede. 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 É implementado removendo-se todos os pesos que tenham valor absoluto abaixo de um determinado limiar.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Em ambos os casos, reduz-se o número de parâmetros no modelo.</a:t>
            </a:r>
          </a:p>
        </p:txBody>
      </p:sp>
      <p:pic>
        <p:nvPicPr>
          <p:cNvPr id="4" name="Espaço Reservado para Conteúdo 12">
            <a:extLst>
              <a:ext uri="{FF2B5EF4-FFF2-40B4-BE49-F238E27FC236}">
                <a16:creationId xmlns:a16="http://schemas.microsoft.com/office/drawing/2014/main" id="{FD634656-5BF5-2BC4-E1C6-C77FEE17F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1299" y="4184270"/>
            <a:ext cx="6079989" cy="2557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1785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258711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Em vez de apenas pesos, as ativações nos dados de treinamento podem ser usadas como critério para remoção.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Ao executar um conjunto de dados em uma rede, certas estatísticas das ativações podem ser observadas.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 Você pode observar que alguns neurônios sempre produzem valores próximos de zero.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902842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Se dois neurônios em uma camada tiverem pesos ou ativações muito semelhantes, isso pode significar que eles estão fazendo a mesma coisa.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 redundância de pesos pode significar que um neurônio pode ser removido.</a:t>
            </a:r>
            <a:endParaRPr lang="pt-BR" dirty="0"/>
          </a:p>
        </p:txBody>
      </p:sp>
      <p:pic>
        <p:nvPicPr>
          <p:cNvPr id="4" name="Espaço Reservado para Conteúdo 9">
            <a:extLst>
              <a:ext uri="{FF2B5EF4-FFF2-40B4-BE49-F238E27FC236}">
                <a16:creationId xmlns:a16="http://schemas.microsoft.com/office/drawing/2014/main" id="{7090F274-8A04-97E4-143C-838E33ABD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844" y="2191685"/>
            <a:ext cx="9539111" cy="346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7682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quantização é uma otimização que funciona reduzindo a precisão dos números usados para representar os parâmetros de um modelo, que por padrão são números em ponto flutuante de 32 bits (4 bytes).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BAEEA87-F627-65F5-4E21-A51298ED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604" y="2769495"/>
            <a:ext cx="3266974" cy="3021705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E8522154-127B-CB62-B177-FCDB739B0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7600" y="2653752"/>
            <a:ext cx="2906919" cy="3137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1323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operação de quantização não é reversível, i.e., 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perde-se informação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Imagem Lena quantizada em 16, 8, 4 e 2 bits/pixel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4919B43-A8D0-0E72-BC89-A94FC118B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582" y="2155856"/>
            <a:ext cx="5029636" cy="4519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8438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perda de precisão pela quantização.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188D633-0B89-9550-96D0-D8140F2D4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836" y="1748644"/>
            <a:ext cx="8687553" cy="3360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8F561E-4030-950D-91DB-81E5C41C9421}"/>
              </a:ext>
            </a:extLst>
          </p:cNvPr>
          <p:cNvSpPr txBox="1"/>
          <p:nvPr/>
        </p:nvSpPr>
        <p:spPr>
          <a:xfrm>
            <a:off x="827111" y="2400300"/>
            <a:ext cx="22875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Modelos usados para classificação de imagens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C5B96F-73BD-429B-71E5-8661533D743E}"/>
              </a:ext>
            </a:extLst>
          </p:cNvPr>
          <p:cNvSpPr txBox="1"/>
          <p:nvPr/>
        </p:nvSpPr>
        <p:spPr>
          <a:xfrm>
            <a:off x="10105585" y="44483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98 MB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A6F76D-EEE4-F7C7-DB21-371215EE3178}"/>
              </a:ext>
            </a:extLst>
          </p:cNvPr>
          <p:cNvSpPr txBox="1"/>
          <p:nvPr/>
        </p:nvSpPr>
        <p:spPr>
          <a:xfrm>
            <a:off x="10105585" y="38006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14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B5392F-2564-6355-6CE3-C581E8DD87ED}"/>
              </a:ext>
            </a:extLst>
          </p:cNvPr>
          <p:cNvSpPr txBox="1"/>
          <p:nvPr/>
        </p:nvSpPr>
        <p:spPr>
          <a:xfrm>
            <a:off x="10096060" y="3116950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16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1199C5-EBE8-B6E1-6D4C-47C8FEC021AD}"/>
              </a:ext>
            </a:extLst>
          </p:cNvPr>
          <p:cNvSpPr txBox="1"/>
          <p:nvPr/>
        </p:nvSpPr>
        <p:spPr>
          <a:xfrm>
            <a:off x="9600389" y="2178903"/>
            <a:ext cx="20919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Tamanho</a:t>
            </a:r>
            <a:r>
              <a:rPr lang="en-US" b="1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antes da </a:t>
            </a:r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quantização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07392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for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Microcontrollers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(TFLM, abreviadamente) foi projetado para executar modelos de aprendizado de máquina em microcontroladores e outros dispositivos com restrições computacionais.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Ao contrário de processadores móveis de alto desempenho (como a 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Cortex-A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), os microcontroladores (série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ou ESP32) têm restrições computacionais e baixo consumo de energia e são usados em produtos como sensores, geladeira, máquinas de lavar e assim por diante.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09225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682247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microcontroladores é escrito em C++ 11 e requer uma plataforma de 32 bits.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foi testado extensivamente em diversos processadores e microcontroladores baseados na arquitetura ARM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e foi portado a outras arquiteturas, incluindo ESP32, RISC-V 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Hexagon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framework também está disponível como uma biblioteca para o Arduino.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também pode gerar projetos para ambientes de desenvolvimento, como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 é uma plataforma de desenvolvimento e sistema operacional para dispositivos IoT baseados em microcontroladores ARM </a:t>
            </a: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-M de 32 bits.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é de código aberto e pode ser incluído em qualquer projeto C++ 11.</a:t>
            </a:r>
          </a:p>
        </p:txBody>
      </p:sp>
    </p:spTree>
    <p:extLst>
      <p:ext uri="{BB962C8B-B14F-4D97-AF65-F5344CB8AC3E}">
        <p14:creationId xmlns:p14="http://schemas.microsoft.com/office/powerpoint/2010/main" val="8526249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7590F3D-5B48-A87A-562A-0F137E253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9265" y="1647990"/>
            <a:ext cx="6854114" cy="464556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E8E8FCC-49C4-82CC-F70E-1666385CF89E}"/>
              </a:ext>
            </a:extLst>
          </p:cNvPr>
          <p:cNvSpPr txBox="1"/>
          <p:nvPr/>
        </p:nvSpPr>
        <p:spPr>
          <a:xfrm>
            <a:off x="2947211" y="6442397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 err="1">
                <a:solidFill>
                  <a:srgbClr val="7030A0"/>
                </a:solidFill>
                <a:hlinkClick r:id="rId6"/>
              </a:rPr>
              <a:t>Hello</a:t>
            </a:r>
            <a:r>
              <a:rPr lang="pt-BR" dirty="0">
                <a:solidFill>
                  <a:srgbClr val="7030A0"/>
                </a:solidFill>
                <a:hlinkClick r:id="rId6"/>
              </a:rPr>
              <a:t> world for </a:t>
            </a:r>
            <a:r>
              <a:rPr lang="pt-BR" dirty="0" err="1">
                <a:solidFill>
                  <a:srgbClr val="7030A0"/>
                </a:solidFill>
                <a:hlinkClick r:id="rId6"/>
              </a:rPr>
              <a:t>microcontrollers</a:t>
            </a:r>
            <a:endParaRPr lang="pt-BR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34717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Importação de bibliotecas e definição das sementes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1F89EE25-B491-63A3-3836-CC948FFC5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839" y="2185553"/>
            <a:ext cx="6134632" cy="269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6431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E3EF363-642C-D87E-BC2E-70601C913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1725" y="2156145"/>
            <a:ext cx="8824725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7792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06DF1C46-9A68-B926-41A8-307C5C590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9986" y="2068253"/>
            <a:ext cx="7047958" cy="4330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79265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0F98BB6-F55B-F1C7-5F9B-1DFB6063B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338" y="2698668"/>
            <a:ext cx="6997218" cy="2539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4046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A0AAE5CF-CA9E-E0E3-D85D-263DFE582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085430"/>
            <a:ext cx="5936094" cy="3705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70914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BA14C0E-4E59-C74F-ABB4-621BF2E44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585" y="3013550"/>
            <a:ext cx="9295589" cy="250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4479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146" name="Picture 2">
            <a:extLst>
              <a:ext uri="{FF2B5EF4-FFF2-40B4-BE49-F238E27FC236}">
                <a16:creationId xmlns:a16="http://schemas.microsoft.com/office/drawing/2014/main" id="{7023B888-E104-91F4-07E8-6994C5329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5038"/>
            <a:ext cx="6034617" cy="376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60417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Modelo inicial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F75E6F28-3196-FC63-D959-EADE8E1DE2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5699" y="2192446"/>
            <a:ext cx="8253175" cy="1234547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5502749-27CB-FDE7-2CE8-72951656A8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1851" y="4251538"/>
            <a:ext cx="5715495" cy="242337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561CFFEC-08C1-CD4C-FC70-099988A4C9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2174" y="3627413"/>
            <a:ext cx="7773074" cy="525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5393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Treinamento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52C14F81-36BB-C55A-8659-815F379468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557" y="2862651"/>
            <a:ext cx="11834886" cy="40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45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B2B547F-A630-D1B7-2109-3DC4D19D27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299" y="2377144"/>
            <a:ext cx="7041490" cy="3414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5046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F94B7FE8-9A77-F6D6-2FC1-C8C992521A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1514" y="2046569"/>
            <a:ext cx="6722886" cy="4307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39207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Cálculo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test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714E700-976E-460D-4546-4CCC2EBEC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6270" y="2695897"/>
            <a:ext cx="6340389" cy="304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2547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8194" name="Picture 2">
            <a:extLst>
              <a:ext uri="{FF2B5EF4-FFF2-40B4-BE49-F238E27FC236}">
                <a16:creationId xmlns:a16="http://schemas.microsoft.com/office/drawing/2014/main" id="{B22F1180-E588-BC5E-E4DA-3F3672643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263336"/>
            <a:ext cx="5811308" cy="3664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54261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extra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214A25D-CB3D-3ABA-014A-B63E569C2B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5102" y="2212315"/>
            <a:ext cx="8382726" cy="3833192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521FCD22-130C-EC11-876D-016192B6F4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9166" y="6147107"/>
            <a:ext cx="7041490" cy="66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2455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218" name="Picture 2">
            <a:extLst>
              <a:ext uri="{FF2B5EF4-FFF2-40B4-BE49-F238E27FC236}">
                <a16:creationId xmlns:a16="http://schemas.microsoft.com/office/drawing/2014/main" id="{DF431961-F6F2-0B91-AECF-CB0B09189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1625" y="2325719"/>
            <a:ext cx="6274153" cy="3956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593492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Criação de um diretório para 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4469F54-A4BD-9ED2-8C9A-77D0C894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248" y="2865071"/>
            <a:ext cx="3505504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25558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D09DBB8C-50CF-C342-7D26-B48E53BC3F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67803"/>
          <a:stretch/>
        </p:blipFill>
        <p:spPr>
          <a:xfrm>
            <a:off x="2068454" y="2104596"/>
            <a:ext cx="6928790" cy="1324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4884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10FC5-B23C-9696-C380-99CFC3CF0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ADDF33-E48B-6EB9-FDED-6BAFA377E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B3608503-E083-5795-01A0-167F030EDF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8C5487-2049-F174-D552-EA6A2D7C65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359A22D-4B9F-AFD2-8384-9B03F48B7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E1F5E1D1-49D2-9AEC-D986-475051968B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86059BE0-14FC-40F2-F437-6763079BE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8454" y="2104596"/>
            <a:ext cx="6928790" cy="4113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29515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tamanhos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E2891CE-733B-3797-711B-C906AD2138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9450" y="2814258"/>
            <a:ext cx="7963590" cy="1432684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0203DA5-6627-07C8-8B60-A545B6A328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4702" y="4767248"/>
            <a:ext cx="3515031" cy="852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1748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9A60A1B2-78F9-3548-6FC2-8B05342F2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2552" y="1216025"/>
            <a:ext cx="2312140" cy="5343464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5CE19526-EDB1-1A07-E073-940FEB1415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9565" y="1066800"/>
            <a:ext cx="2587462" cy="5593607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1F3F11BC-5440-CB75-5F2E-FBBAC9055929}"/>
              </a:ext>
            </a:extLst>
          </p:cNvPr>
          <p:cNvSpPr txBox="1"/>
          <p:nvPr/>
        </p:nvSpPr>
        <p:spPr>
          <a:xfrm>
            <a:off x="8408140" y="342900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hlinkClick r:id="rId6"/>
              </a:rPr>
              <a:t>https://netron.app/</a:t>
            </a:r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5275050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E10B2ADC-5CF8-719E-81F1-C7CC0432DB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9997" y="939955"/>
            <a:ext cx="3993910" cy="5181289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80CB507E-4F73-A165-C547-5782083709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028" y="812555"/>
            <a:ext cx="4268473" cy="5308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8227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Fazendo a predição para os modelos criados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768583F4-ECF0-7B34-E22F-DF2762D32B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4544" y="2433009"/>
            <a:ext cx="6563678" cy="4241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8558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9929DAC8-BF08-D1F0-2C01-AAC59ED2D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8118" y="1886583"/>
            <a:ext cx="7105021" cy="4559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785567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D39E7734-B842-27FE-C995-D6BC09855E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233163"/>
            <a:ext cx="9294813" cy="3997973"/>
          </a:xfrm>
        </p:spPr>
      </p:pic>
    </p:spTree>
    <p:extLst>
      <p:ext uri="{BB962C8B-B14F-4D97-AF65-F5344CB8AC3E}">
        <p14:creationId xmlns:p14="http://schemas.microsoft.com/office/powerpoint/2010/main" val="281064019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id="{6481EB2B-C5C0-A860-3AAB-A895F113EA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724579"/>
            <a:ext cx="9979378" cy="3096326"/>
          </a:xfrm>
        </p:spPr>
      </p:pic>
    </p:spTree>
    <p:extLst>
      <p:ext uri="{BB962C8B-B14F-4D97-AF65-F5344CB8AC3E}">
        <p14:creationId xmlns:p14="http://schemas.microsoft.com/office/powerpoint/2010/main" val="251913089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é uma plataforma para desenvolver e implantar modelos de aprendizado de máquina em dispositivos de ponta.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fornece um conjunto de ferramentas e serviços que facilitam a coleta de dados, o treinamento de modelos e a implantação deles em dispositivos de borda.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oferece suporte a uma ampla variedade de dispositivos de ponta, incluindo microcontroladores, sistemas embarcados e dispositivos móveis.</a:t>
            </a:r>
          </a:p>
        </p:txBody>
      </p:sp>
    </p:spTree>
    <p:extLst>
      <p:ext uri="{BB962C8B-B14F-4D97-AF65-F5344CB8AC3E}">
        <p14:creationId xmlns:p14="http://schemas.microsoft.com/office/powerpoint/2010/main" val="398661167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Edge Impulse é usado por uma ampla variedade de empresas e organizações.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8EFEC104-CE53-CF10-7F4F-B8544A118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77" y="3232009"/>
            <a:ext cx="10673846" cy="82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20756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Fácil de usar: O Edge Impulse é fácil de usar, mesmo para desenvolvedores sem experiência anterior em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Abrangente: O Edge Impulse fornece um conjunto abrangente de ferramentas e serviços para desenvolver e implantar modelos de aprendizado de máquina em dispositivos de borda.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Flexível: O Edge Impulse oferece suporte a uma ampla variedade de dispositivos de borda e estruturas de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Escalável: O Edge Impulse pode ser usado para desenvolver e implantar modelos de aprendizado de máquina em um grande número de dispositivos de borda.</a:t>
            </a:r>
          </a:p>
        </p:txBody>
      </p:sp>
    </p:spTree>
    <p:extLst>
      <p:ext uri="{BB962C8B-B14F-4D97-AF65-F5344CB8AC3E}">
        <p14:creationId xmlns:p14="http://schemas.microsoft.com/office/powerpoint/2010/main" val="53443831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guiado classificação do grão de café.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https://edgeimpulse.com/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https://www.kaggle.com/datasets/gpiosenka/coffee-bean-dataset-resized-224-x-224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2290" name="Picture 2" descr="Cover image">
            <a:extLst>
              <a:ext uri="{FF2B5EF4-FFF2-40B4-BE49-F238E27FC236}">
                <a16:creationId xmlns:a16="http://schemas.microsoft.com/office/drawing/2014/main" id="{5CBA2329-193F-1539-8967-72445A367A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8443" y="3175353"/>
            <a:ext cx="6946617" cy="3499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524806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Tarefa aula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Escolher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</p:txBody>
      </p:sp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imagens com o celular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</p:txBody>
      </p:sp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2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15891</TotalTime>
  <Words>2643</Words>
  <Application>Microsoft Office PowerPoint</Application>
  <PresentationFormat>Widescreen</PresentationFormat>
  <Paragraphs>318</Paragraphs>
  <Slides>72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72</vt:i4>
      </vt:variant>
    </vt:vector>
  </HeadingPairs>
  <TitlesOfParts>
    <vt:vector size="84" baseType="lpstr">
      <vt:lpstr>-apple-system</vt:lpstr>
      <vt:lpstr>Arial</vt:lpstr>
      <vt:lpstr>Calibri</vt:lpstr>
      <vt:lpstr>Calibri Light</vt:lpstr>
      <vt:lpstr>DeepSeek-CJK-patch</vt:lpstr>
      <vt:lpstr>Menlo</vt:lpstr>
      <vt:lpstr>Montserrat</vt:lpstr>
      <vt:lpstr>Roboto</vt:lpstr>
      <vt:lpstr>source-serif-pro</vt:lpstr>
      <vt:lpstr>Tema do Office</vt:lpstr>
      <vt:lpstr>1_Tema do Office</vt:lpstr>
      <vt:lpstr>2_Tema do Office</vt:lpstr>
      <vt:lpstr>TP557 - Tópicos avançados em IoT e Machine Learning: TensorFlow Lite</vt:lpstr>
      <vt:lpstr>Samuel Baraldi Mafra</vt:lpstr>
      <vt:lpstr>Samuel Baraldi Mafra</vt:lpstr>
      <vt:lpstr>TinyML</vt:lpstr>
      <vt:lpstr>Processamento na borda com dispositivos embarcados</vt:lpstr>
      <vt:lpstr>Processamento na borda com dispositivos embarcados</vt:lpstr>
      <vt:lpstr>Processamento tradicional</vt:lpstr>
      <vt:lpstr>Processamento na borda com dispositivos embarcados</vt:lpstr>
      <vt:lpstr>Processamento na borda com dispositivos embarcados</vt:lpstr>
      <vt:lpstr>Processamento na borda com dispositivos embarcados</vt:lpstr>
      <vt:lpstr>Processamento na borda com dispositivos embarcados</vt:lpstr>
      <vt:lpstr> </vt:lpstr>
      <vt:lpstr>Conteúdo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Lite: Geração de modelos </vt:lpstr>
      <vt:lpstr>TensorFlow Lite </vt:lpstr>
      <vt:lpstr>TensorFlow Lite </vt:lpstr>
      <vt:lpstr>TensorFlow Lite </vt:lpstr>
      <vt:lpstr>TensorFlow Lite</vt:lpstr>
      <vt:lpstr>Poda de redes neurais (Pruning)</vt:lpstr>
      <vt:lpstr>Poda de redes neurais (Pruning)</vt:lpstr>
      <vt:lpstr>Poda de redes neurais (Pruning)</vt:lpstr>
      <vt:lpstr>Quantização</vt:lpstr>
      <vt:lpstr>Quantização</vt:lpstr>
      <vt:lpstr>Quantização</vt:lpstr>
      <vt:lpstr>TensorFlow Lite micro </vt:lpstr>
      <vt:lpstr>TensorFlow Lite micro 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2399</cp:revision>
  <dcterms:created xsi:type="dcterms:W3CDTF">2020-01-20T13:50:05Z</dcterms:created>
  <dcterms:modified xsi:type="dcterms:W3CDTF">2025-04-18T17:36:04Z</dcterms:modified>
</cp:coreProperties>
</file>