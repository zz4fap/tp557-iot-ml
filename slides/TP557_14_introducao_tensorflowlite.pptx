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  <p:sldMasterId id="2147483672" r:id="rId3"/>
  </p:sldMasterIdLst>
  <p:notesMasterIdLst>
    <p:notesMasterId r:id="rId75"/>
  </p:notesMasterIdLst>
  <p:handoutMasterIdLst>
    <p:handoutMasterId r:id="rId76"/>
  </p:handoutMasterIdLst>
  <p:sldIdLst>
    <p:sldId id="256" r:id="rId4"/>
    <p:sldId id="298" r:id="rId5"/>
    <p:sldId id="390" r:id="rId6"/>
    <p:sldId id="545" r:id="rId7"/>
    <p:sldId id="554" r:id="rId8"/>
    <p:sldId id="553" r:id="rId9"/>
    <p:sldId id="580" r:id="rId10"/>
    <p:sldId id="546" r:id="rId11"/>
    <p:sldId id="547" r:id="rId12"/>
    <p:sldId id="549" r:id="rId13"/>
    <p:sldId id="550" r:id="rId14"/>
    <p:sldId id="531" r:id="rId15"/>
    <p:sldId id="509" r:id="rId16"/>
    <p:sldId id="510" r:id="rId17"/>
    <p:sldId id="521" r:id="rId18"/>
    <p:sldId id="511" r:id="rId19"/>
    <p:sldId id="512" r:id="rId20"/>
    <p:sldId id="522" r:id="rId21"/>
    <p:sldId id="523" r:id="rId22"/>
    <p:sldId id="524" r:id="rId23"/>
    <p:sldId id="525" r:id="rId24"/>
    <p:sldId id="516" r:id="rId25"/>
    <p:sldId id="517" r:id="rId26"/>
    <p:sldId id="518" r:id="rId27"/>
    <p:sldId id="519" r:id="rId28"/>
    <p:sldId id="520" r:id="rId29"/>
    <p:sldId id="544" r:id="rId30"/>
    <p:sldId id="542" r:id="rId31"/>
    <p:sldId id="541" r:id="rId32"/>
    <p:sldId id="543" r:id="rId33"/>
    <p:sldId id="555" r:id="rId34"/>
    <p:sldId id="537" r:id="rId35"/>
    <p:sldId id="581" r:id="rId36"/>
    <p:sldId id="538" r:id="rId37"/>
    <p:sldId id="539" r:id="rId38"/>
    <p:sldId id="535" r:id="rId39"/>
    <p:sldId id="533" r:id="rId40"/>
    <p:sldId id="534" r:id="rId41"/>
    <p:sldId id="526" r:id="rId42"/>
    <p:sldId id="528" r:id="rId43"/>
    <p:sldId id="556" r:id="rId44"/>
    <p:sldId id="557" r:id="rId45"/>
    <p:sldId id="558" r:id="rId46"/>
    <p:sldId id="559" r:id="rId47"/>
    <p:sldId id="560" r:id="rId48"/>
    <p:sldId id="561" r:id="rId49"/>
    <p:sldId id="562" r:id="rId50"/>
    <p:sldId id="563" r:id="rId51"/>
    <p:sldId id="564" r:id="rId52"/>
    <p:sldId id="565" r:id="rId53"/>
    <p:sldId id="566" r:id="rId54"/>
    <p:sldId id="567" r:id="rId55"/>
    <p:sldId id="568" r:id="rId56"/>
    <p:sldId id="569" r:id="rId57"/>
    <p:sldId id="570" r:id="rId58"/>
    <p:sldId id="586" r:id="rId59"/>
    <p:sldId id="571" r:id="rId60"/>
    <p:sldId id="572" r:id="rId61"/>
    <p:sldId id="574" r:id="rId62"/>
    <p:sldId id="585" r:id="rId63"/>
    <p:sldId id="575" r:id="rId64"/>
    <p:sldId id="578" r:id="rId65"/>
    <p:sldId id="577" r:id="rId66"/>
    <p:sldId id="576" r:id="rId67"/>
    <p:sldId id="551" r:id="rId68"/>
    <p:sldId id="529" r:id="rId69"/>
    <p:sldId id="527" r:id="rId70"/>
    <p:sldId id="530" r:id="rId71"/>
    <p:sldId id="582" r:id="rId72"/>
    <p:sldId id="583" r:id="rId73"/>
    <p:sldId id="584" r:id="rId74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79636" autoAdjust="0"/>
  </p:normalViewPr>
  <p:slideViewPr>
    <p:cSldViewPr snapToGrid="0">
      <p:cViewPr varScale="1">
        <p:scale>
          <a:sx n="58" d="100"/>
          <a:sy n="58" d="100"/>
        </p:scale>
        <p:origin x="1440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9" Type="http://schemas.openxmlformats.org/officeDocument/2006/relationships/slide" Target="slides/slide36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76" Type="http://schemas.openxmlformats.org/officeDocument/2006/relationships/handoutMaster" Target="handoutMasters/handoutMaster1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66" Type="http://schemas.openxmlformats.org/officeDocument/2006/relationships/slide" Target="slides/slide63.xml"/><Relationship Id="rId74" Type="http://schemas.openxmlformats.org/officeDocument/2006/relationships/slide" Target="slides/slide71.xml"/><Relationship Id="rId79" Type="http://schemas.openxmlformats.org/officeDocument/2006/relationships/theme" Target="theme/theme1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77" Type="http://schemas.openxmlformats.org/officeDocument/2006/relationships/presProps" Target="presProps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80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slide" Target="slides/slide64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18/04/2025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api_docs/python/tf/Graph" TargetMode="External"/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Ops</a:t>
            </a:r>
            <a:r>
              <a:rPr lang="pt-BR" dirty="0"/>
              <a:t> de operações. Tensorflow lite e micro suportam uma quantidade muito menor de operações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139002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Delegates</a:t>
            </a:r>
            <a:r>
              <a:rPr lang="pt-BR" dirty="0"/>
              <a:t>: https://ai.google.dev/edge/litert/performance/delegates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110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Pegada de memória (</a:t>
            </a:r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) refere-se à quantidade total de memória RAM que um programa ou sistema utiliza durante sua execução.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64877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None/>
            </a:pP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https://ai.google.dev/edge/litert/models/convert_tf</a:t>
            </a: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SavedModel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 (</a:t>
            </a:r>
            <a:r>
              <a:rPr lang="en-US" b="0" i="0" dirty="0" err="1">
                <a:solidFill>
                  <a:srgbClr val="404040"/>
                </a:solidFill>
                <a:effectLst/>
                <a:latin typeface="DeepSeek-CJK-patch"/>
              </a:rPr>
              <a:t>Padrão</a:t>
            </a:r>
            <a:r>
              <a:rPr lang="en-US" b="0" i="0" dirty="0">
                <a:solidFill>
                  <a:srgbClr val="404040"/>
                </a:solidFill>
                <a:effectLst/>
                <a:latin typeface="DeepSeek-CJK-patch"/>
              </a:rPr>
              <a:t> do TensorFlow): 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Armazena o modelo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completamente serializado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, incluindo arquitetura, pesos, otimizadores e metadados.</a:t>
            </a:r>
          </a:p>
          <a:p>
            <a:pPr algn="l">
              <a:spcBef>
                <a:spcPts val="1372"/>
              </a:spcBef>
              <a:spcAft>
                <a:spcPts val="1029"/>
              </a:spcAft>
              <a:buNone/>
            </a:pP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Extensão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: Pasta com arquivos .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pb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(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protocol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buffer) + diretório 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variables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.</a:t>
            </a:r>
            <a:b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</a:b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/>
            </a:r>
            <a:b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</a:b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HDF5 (.h5 ou .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keras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)</a:t>
            </a:r>
            <a:endParaRPr lang="pt-BR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pPr algn="l">
              <a:lnSpc>
                <a:spcPts val="2143"/>
              </a:lnSpc>
              <a:spcBef>
                <a:spcPts val="1029"/>
              </a:spcBef>
              <a:spcAft>
                <a:spcPts val="1029"/>
              </a:spcAft>
              <a:buFont typeface="Arial" panose="020B0604020202020204" pitchFamily="34" charset="0"/>
              <a:buChar char="•"/>
            </a:pP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Descrição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: Formato herdado do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Keras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(ainda amplamente usado). Salva o modelo em um único arquivo, mas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pode não incluir metadados ou 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custom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 </a:t>
            </a:r>
            <a:r>
              <a:rPr lang="pt-BR" b="1" i="0" dirty="0" err="1">
                <a:solidFill>
                  <a:srgbClr val="404040"/>
                </a:solidFill>
                <a:effectLst/>
                <a:latin typeface="DeepSeek-CJK-patch"/>
              </a:rPr>
              <a:t>layers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0" i="0" dirty="0">
              <a:solidFill>
                <a:srgbClr val="404040"/>
              </a:solidFill>
              <a:effectLst/>
              <a:latin typeface="DeepSeek-CJK-patch"/>
            </a:endParaRPr>
          </a:p>
          <a:p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A </a:t>
            </a:r>
            <a:r>
              <a:rPr lang="en-US" b="1" i="0" dirty="0" err="1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ConcreteFunction</a:t>
            </a:r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 can be thought of as a wrapper around a </a:t>
            </a:r>
            <a:r>
              <a:rPr lang="en-US" b="1" i="0" dirty="0" err="1">
                <a:solidFill>
                  <a:srgbClr val="1A73E8"/>
                </a:solidFill>
                <a:effectLst/>
                <a:latin typeface="Roboto" panose="02000000000000000000" pitchFamily="2" charset="0"/>
                <a:hlinkClick r:id="rId3"/>
              </a:rPr>
              <a:t>tf.Graph</a:t>
            </a:r>
            <a:r>
              <a:rPr lang="en-US" b="1" i="0" dirty="0">
                <a:solidFill>
                  <a:srgbClr val="202124"/>
                </a:solidFill>
                <a:effectLst/>
                <a:latin typeface="Roboto" panose="02000000000000000000" pitchFamily="2" charset="0"/>
              </a:rPr>
              <a:t>.</a:t>
            </a:r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52603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 </a:t>
            </a:r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(Open Neural Network Exchange) é um formato aberto e padronizado para representar modelos de </a:t>
            </a:r>
            <a:r>
              <a:rPr lang="pt-BR" sz="1200" b="0" i="1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machine</a:t>
            </a:r>
            <a:r>
              <a:rPr lang="pt-BR" sz="1200" b="0" i="1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1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learning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(ML) e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learning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Desenvolvido por empresas como Microsoft,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Facebook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(Meta) e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Amazon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seu objetivo principal é </a:t>
            </a:r>
            <a:r>
              <a:rPr lang="pt-BR" sz="1200" b="1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facilitar a interoperabilidade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entre diferentes frameworks de ML (como TensorFlow,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PyTorch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scikit-learn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etc.), permitindo que modelos sejam treinados em um framework e usados em outro sem </a:t>
            </a:r>
            <a:r>
              <a:rPr lang="pt-BR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reimplementação</a:t>
            </a:r>
            <a:r>
              <a:rPr lang="pt-BR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16182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https://www.kaggle.com/code/ashusma/understanding-tf-lite-and-model-optimization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0995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095186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6195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652212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7606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77204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691389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39432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38853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443387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284299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300065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6AF0E9C-7771-CB58-FC65-ACE0A4793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="" xmlns:a16="http://schemas.microsoft.com/office/drawing/2014/main" id="{E68C8716-8DEE-2D37-3468-792CD29DF9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="" xmlns:a16="http://schemas.microsoft.com/office/drawing/2014/main" id="{B3A64F34-6657-3369-44E5-4F518D008B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0" i="0" dirty="0" err="1">
                <a:solidFill>
                  <a:srgbClr val="404040"/>
                </a:solidFill>
                <a:effectLst/>
                <a:latin typeface="Menlo"/>
              </a:rPr>
              <a:t>Referencia</a:t>
            </a:r>
            <a:r>
              <a:rPr lang="en-US" b="0" i="0" dirty="0">
                <a:solidFill>
                  <a:srgbClr val="404040"/>
                </a:solidFill>
                <a:effectLst/>
                <a:latin typeface="Menlo"/>
              </a:rPr>
              <a:t>: https://ai.google.dev/edge/litert/models/post_training_quantization</a:t>
            </a:r>
          </a:p>
          <a:p>
            <a:r>
              <a:rPr lang="en-US" b="0" i="0" dirty="0">
                <a:solidFill>
                  <a:srgbClr val="404040"/>
                </a:solidFill>
                <a:effectLst/>
                <a:latin typeface="Menlo"/>
              </a:rPr>
              <a:t/>
            </a:r>
            <a:br>
              <a:rPr lang="en-US" b="0" i="0" dirty="0">
                <a:solidFill>
                  <a:srgbClr val="404040"/>
                </a:solidFill>
                <a:effectLst/>
                <a:latin typeface="Menlo"/>
              </a:rPr>
            </a:br>
            <a:r>
              <a:rPr lang="en-US" b="0" i="0" dirty="0" err="1">
                <a:solidFill>
                  <a:srgbClr val="404040"/>
                </a:solidFill>
                <a:effectLst/>
                <a:latin typeface="Menlo"/>
              </a:rPr>
              <a:t>representative_dataset</a:t>
            </a:r>
            <a:r>
              <a:rPr lang="en-US" b="0" i="0" dirty="0">
                <a:solidFill>
                  <a:srgbClr val="404040"/>
                </a:solidFill>
                <a:effectLst/>
                <a:latin typeface="Menlo"/>
              </a:rPr>
              <a:t>(): 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Essa função é usada durante a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conversão de um modelo TensorFlow para TensorFlow Lite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com </a:t>
            </a:r>
            <a:r>
              <a:rPr lang="pt-BR" b="1" i="0" dirty="0">
                <a:solidFill>
                  <a:srgbClr val="404040"/>
                </a:solidFill>
                <a:effectLst/>
                <a:latin typeface="DeepSeek-CJK-patch"/>
              </a:rPr>
              <a:t>quantização pós-treinamento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 (post-training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quantization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). Ela fornece exemplos de dados de entrada para que o conversor do </a:t>
            </a:r>
            <a:r>
              <a:rPr lang="pt-BR" b="0" i="0" dirty="0" err="1">
                <a:solidFill>
                  <a:srgbClr val="404040"/>
                </a:solidFill>
                <a:effectLst/>
                <a:latin typeface="DeepSeek-CJK-patch"/>
              </a:rPr>
              <a:t>TFLite</a:t>
            </a:r>
            <a:r>
              <a:rPr lang="pt-BR" b="0" i="0" dirty="0">
                <a:solidFill>
                  <a:srgbClr val="404040"/>
                </a:solidFill>
                <a:effectLst/>
                <a:latin typeface="DeepSeek-CJK-patch"/>
              </a:rPr>
              <a:t> calibre os intervalos dinâmicos dos tensores do modelo, otimizando-o para tamanho e velocidade.</a:t>
            </a:r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98B58186-6517-20F2-EF9E-54119A8D01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997749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173131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3575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22847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5463061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605690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Projeto Samuel: 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https://studio.edgeimpulse.com/public/294644/live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503758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Aqui os alunos devem entrar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, baixar um dataset e treinar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impulse, tarefa para ser feita durante a aula.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0336699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2408" indent="0" algn="l">
              <a:lnSpc>
                <a:spcPct val="107000"/>
              </a:lnSpc>
              <a:spcAft>
                <a:spcPts val="533"/>
              </a:spcAft>
              <a:buFont typeface="Arial" panose="020B0604020202020204" pitchFamily="34" charset="0"/>
              <a:buNone/>
            </a:pP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Neste trabalho pedi aos alunos para tirar fotos com o celular e criar o próprio banco de dados a ser testado no </a:t>
            </a:r>
            <a:r>
              <a:rPr lang="pt-BR" sz="1200" dirty="0" err="1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1200" dirty="0">
                <a:solidFill>
                  <a:srgbClr val="FF000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 impulse.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2298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=""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=""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=""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=""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=""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=""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=""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=""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=""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=""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=""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=""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=""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=""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=""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=""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=""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=""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=""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=""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60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039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6637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3965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26299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5548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9295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4553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70764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59017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55827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48741" y="3014100"/>
            <a:ext cx="9022800" cy="81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O PRIMEIRO TÍTULO</a:t>
            </a:r>
          </a:p>
        </p:txBody>
      </p:sp>
      <p:cxnSp>
        <p:nvCxnSpPr>
          <p:cNvPr id="9" name="Google Shape;17;p3"/>
          <p:cNvCxnSpPr/>
          <p:nvPr userDrawn="1"/>
        </p:nvCxnSpPr>
        <p:spPr>
          <a:xfrm>
            <a:off x="1252860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18;p3"/>
          <p:cNvSpPr/>
          <p:nvPr userDrawn="1"/>
        </p:nvSpPr>
        <p:spPr>
          <a:xfrm flipH="1">
            <a:off x="843408" y="3023204"/>
            <a:ext cx="819200" cy="819200"/>
          </a:xfrm>
          <a:prstGeom prst="ellipse">
            <a:avLst/>
          </a:prstGeom>
          <a:solidFill>
            <a:srgbClr val="0070C0"/>
          </a:solidFill>
          <a:ln w="2857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grpSp>
        <p:nvGrpSpPr>
          <p:cNvPr id="11" name="Google Shape;118;p18"/>
          <p:cNvGrpSpPr/>
          <p:nvPr userDrawn="1"/>
        </p:nvGrpSpPr>
        <p:grpSpPr>
          <a:xfrm>
            <a:off x="1035391" y="3227475"/>
            <a:ext cx="391864" cy="393547"/>
            <a:chOff x="2594050" y="1631825"/>
            <a:chExt cx="439625" cy="439625"/>
          </a:xfrm>
        </p:grpSpPr>
        <p:sp>
          <p:nvSpPr>
            <p:cNvPr id="12" name="Google Shape;119;p18"/>
            <p:cNvSpPr/>
            <p:nvPr/>
          </p:nvSpPr>
          <p:spPr>
            <a:xfrm>
              <a:off x="2594050" y="1883300"/>
              <a:ext cx="188175" cy="188150"/>
            </a:xfrm>
            <a:custGeom>
              <a:avLst/>
              <a:gdLst/>
              <a:ahLst/>
              <a:cxnLst/>
              <a:rect l="l" t="t" r="r" b="b"/>
              <a:pathLst>
                <a:path w="7527" h="7526" fill="none" extrusionOk="0">
                  <a:moveTo>
                    <a:pt x="5992" y="0"/>
                  </a:moveTo>
                  <a:lnTo>
                    <a:pt x="537" y="6430"/>
                  </a:lnTo>
                  <a:lnTo>
                    <a:pt x="1" y="7526"/>
                  </a:lnTo>
                  <a:lnTo>
                    <a:pt x="1097" y="6990"/>
                  </a:lnTo>
                  <a:lnTo>
                    <a:pt x="7526" y="1534"/>
                  </a:lnTo>
                  <a:lnTo>
                    <a:pt x="5992" y="0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3" name="Google Shape;120;p18"/>
            <p:cNvSpPr/>
            <p:nvPr/>
          </p:nvSpPr>
          <p:spPr>
            <a:xfrm>
              <a:off x="2857700" y="1631825"/>
              <a:ext cx="175975" cy="176000"/>
            </a:xfrm>
            <a:custGeom>
              <a:avLst/>
              <a:gdLst/>
              <a:ahLst/>
              <a:cxnLst/>
              <a:rect l="l" t="t" r="r" b="b"/>
              <a:pathLst>
                <a:path w="7039" h="7040" fill="none" extrusionOk="0">
                  <a:moveTo>
                    <a:pt x="268" y="2704"/>
                  </a:moveTo>
                  <a:lnTo>
                    <a:pt x="4336" y="6771"/>
                  </a:lnTo>
                  <a:lnTo>
                    <a:pt x="4336" y="6771"/>
                  </a:lnTo>
                  <a:lnTo>
                    <a:pt x="4336" y="6771"/>
                  </a:lnTo>
                  <a:lnTo>
                    <a:pt x="4652" y="6917"/>
                  </a:lnTo>
                  <a:lnTo>
                    <a:pt x="4993" y="7015"/>
                  </a:lnTo>
                  <a:lnTo>
                    <a:pt x="5310" y="7039"/>
                  </a:lnTo>
                  <a:lnTo>
                    <a:pt x="5651" y="7039"/>
                  </a:lnTo>
                  <a:lnTo>
                    <a:pt x="5992" y="6966"/>
                  </a:lnTo>
                  <a:lnTo>
                    <a:pt x="6308" y="6844"/>
                  </a:lnTo>
                  <a:lnTo>
                    <a:pt x="6454" y="6747"/>
                  </a:lnTo>
                  <a:lnTo>
                    <a:pt x="6601" y="6674"/>
                  </a:lnTo>
                  <a:lnTo>
                    <a:pt x="6747" y="6552"/>
                  </a:lnTo>
                  <a:lnTo>
                    <a:pt x="6893" y="6430"/>
                  </a:lnTo>
                  <a:lnTo>
                    <a:pt x="6893" y="6430"/>
                  </a:lnTo>
                  <a:lnTo>
                    <a:pt x="6942" y="6357"/>
                  </a:lnTo>
                  <a:lnTo>
                    <a:pt x="7015" y="6260"/>
                  </a:lnTo>
                  <a:lnTo>
                    <a:pt x="7039" y="6138"/>
                  </a:lnTo>
                  <a:lnTo>
                    <a:pt x="7039" y="6041"/>
                  </a:lnTo>
                  <a:lnTo>
                    <a:pt x="7039" y="6041"/>
                  </a:lnTo>
                  <a:lnTo>
                    <a:pt x="7039" y="5943"/>
                  </a:lnTo>
                  <a:lnTo>
                    <a:pt x="7015" y="5846"/>
                  </a:lnTo>
                  <a:lnTo>
                    <a:pt x="6942" y="5748"/>
                  </a:lnTo>
                  <a:lnTo>
                    <a:pt x="6893" y="5651"/>
                  </a:lnTo>
                  <a:lnTo>
                    <a:pt x="1389" y="147"/>
                  </a:lnTo>
                  <a:lnTo>
                    <a:pt x="1389" y="147"/>
                  </a:lnTo>
                  <a:lnTo>
                    <a:pt x="1291" y="98"/>
                  </a:lnTo>
                  <a:lnTo>
                    <a:pt x="1194" y="25"/>
                  </a:lnTo>
                  <a:lnTo>
                    <a:pt x="1096" y="0"/>
                  </a:lnTo>
                  <a:lnTo>
                    <a:pt x="999" y="0"/>
                  </a:lnTo>
                  <a:lnTo>
                    <a:pt x="999" y="0"/>
                  </a:lnTo>
                  <a:lnTo>
                    <a:pt x="902" y="0"/>
                  </a:lnTo>
                  <a:lnTo>
                    <a:pt x="780" y="25"/>
                  </a:lnTo>
                  <a:lnTo>
                    <a:pt x="682" y="98"/>
                  </a:lnTo>
                  <a:lnTo>
                    <a:pt x="609" y="147"/>
                  </a:lnTo>
                  <a:lnTo>
                    <a:pt x="609" y="147"/>
                  </a:lnTo>
                  <a:lnTo>
                    <a:pt x="487" y="293"/>
                  </a:lnTo>
                  <a:lnTo>
                    <a:pt x="366" y="439"/>
                  </a:lnTo>
                  <a:lnTo>
                    <a:pt x="293" y="585"/>
                  </a:lnTo>
                  <a:lnTo>
                    <a:pt x="195" y="731"/>
                  </a:lnTo>
                  <a:lnTo>
                    <a:pt x="73" y="1048"/>
                  </a:lnTo>
                  <a:lnTo>
                    <a:pt x="0" y="1389"/>
                  </a:lnTo>
                  <a:lnTo>
                    <a:pt x="0" y="1730"/>
                  </a:lnTo>
                  <a:lnTo>
                    <a:pt x="25" y="2046"/>
                  </a:lnTo>
                  <a:lnTo>
                    <a:pt x="122" y="2387"/>
                  </a:lnTo>
                  <a:lnTo>
                    <a:pt x="268" y="2704"/>
                  </a:lnTo>
                  <a:lnTo>
                    <a:pt x="268" y="2704"/>
                  </a:lnTo>
                  <a:close/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4" name="Google Shape;121;p18"/>
            <p:cNvSpPr/>
            <p:nvPr/>
          </p:nvSpPr>
          <p:spPr>
            <a:xfrm>
              <a:off x="2662850" y="1699400"/>
              <a:ext cx="303250" cy="303250"/>
            </a:xfrm>
            <a:custGeom>
              <a:avLst/>
              <a:gdLst/>
              <a:ahLst/>
              <a:cxnLst/>
              <a:rect l="l" t="t" r="r" b="b"/>
              <a:pathLst>
                <a:path w="12130" h="12130" fill="none" extrusionOk="0">
                  <a:moveTo>
                    <a:pt x="8038" y="1"/>
                  </a:moveTo>
                  <a:lnTo>
                    <a:pt x="4872" y="3191"/>
                  </a:lnTo>
                  <a:lnTo>
                    <a:pt x="4872" y="3191"/>
                  </a:lnTo>
                  <a:lnTo>
                    <a:pt x="4628" y="3094"/>
                  </a:lnTo>
                  <a:lnTo>
                    <a:pt x="4385" y="2997"/>
                  </a:lnTo>
                  <a:lnTo>
                    <a:pt x="4092" y="2899"/>
                  </a:lnTo>
                  <a:lnTo>
                    <a:pt x="3800" y="2850"/>
                  </a:lnTo>
                  <a:lnTo>
                    <a:pt x="3484" y="2777"/>
                  </a:lnTo>
                  <a:lnTo>
                    <a:pt x="3167" y="2729"/>
                  </a:lnTo>
                  <a:lnTo>
                    <a:pt x="2850" y="2704"/>
                  </a:lnTo>
                  <a:lnTo>
                    <a:pt x="2534" y="2704"/>
                  </a:lnTo>
                  <a:lnTo>
                    <a:pt x="2534" y="2704"/>
                  </a:lnTo>
                  <a:lnTo>
                    <a:pt x="2241" y="2704"/>
                  </a:lnTo>
                  <a:lnTo>
                    <a:pt x="1949" y="2729"/>
                  </a:lnTo>
                  <a:lnTo>
                    <a:pt x="1633" y="2777"/>
                  </a:lnTo>
                  <a:lnTo>
                    <a:pt x="1316" y="2850"/>
                  </a:lnTo>
                  <a:lnTo>
                    <a:pt x="999" y="2972"/>
                  </a:lnTo>
                  <a:lnTo>
                    <a:pt x="707" y="3094"/>
                  </a:lnTo>
                  <a:lnTo>
                    <a:pt x="415" y="3289"/>
                  </a:lnTo>
                  <a:lnTo>
                    <a:pt x="147" y="3508"/>
                  </a:lnTo>
                  <a:lnTo>
                    <a:pt x="147" y="3508"/>
                  </a:lnTo>
                  <a:lnTo>
                    <a:pt x="74" y="3581"/>
                  </a:lnTo>
                  <a:lnTo>
                    <a:pt x="25" y="3678"/>
                  </a:lnTo>
                  <a:lnTo>
                    <a:pt x="1" y="3776"/>
                  </a:lnTo>
                  <a:lnTo>
                    <a:pt x="1" y="3898"/>
                  </a:lnTo>
                  <a:lnTo>
                    <a:pt x="1" y="3898"/>
                  </a:lnTo>
                  <a:lnTo>
                    <a:pt x="1" y="3995"/>
                  </a:lnTo>
                  <a:lnTo>
                    <a:pt x="25" y="4093"/>
                  </a:lnTo>
                  <a:lnTo>
                    <a:pt x="74" y="4190"/>
                  </a:lnTo>
                  <a:lnTo>
                    <a:pt x="147" y="4287"/>
                  </a:lnTo>
                  <a:lnTo>
                    <a:pt x="7843" y="11984"/>
                  </a:lnTo>
                  <a:lnTo>
                    <a:pt x="7843" y="11984"/>
                  </a:lnTo>
                  <a:lnTo>
                    <a:pt x="7941" y="12057"/>
                  </a:lnTo>
                  <a:lnTo>
                    <a:pt x="8038" y="12105"/>
                  </a:lnTo>
                  <a:lnTo>
                    <a:pt x="8135" y="12130"/>
                  </a:lnTo>
                  <a:lnTo>
                    <a:pt x="8233" y="12130"/>
                  </a:lnTo>
                  <a:lnTo>
                    <a:pt x="8233" y="12130"/>
                  </a:lnTo>
                  <a:lnTo>
                    <a:pt x="8355" y="12130"/>
                  </a:lnTo>
                  <a:lnTo>
                    <a:pt x="8452" y="12105"/>
                  </a:lnTo>
                  <a:lnTo>
                    <a:pt x="8549" y="12057"/>
                  </a:lnTo>
                  <a:lnTo>
                    <a:pt x="8622" y="11984"/>
                  </a:lnTo>
                  <a:lnTo>
                    <a:pt x="8622" y="11984"/>
                  </a:lnTo>
                  <a:lnTo>
                    <a:pt x="8842" y="11716"/>
                  </a:lnTo>
                  <a:lnTo>
                    <a:pt x="9036" y="11423"/>
                  </a:lnTo>
                  <a:lnTo>
                    <a:pt x="9158" y="11131"/>
                  </a:lnTo>
                  <a:lnTo>
                    <a:pt x="9280" y="10814"/>
                  </a:lnTo>
                  <a:lnTo>
                    <a:pt x="9353" y="10498"/>
                  </a:lnTo>
                  <a:lnTo>
                    <a:pt x="9402" y="10181"/>
                  </a:lnTo>
                  <a:lnTo>
                    <a:pt x="9426" y="9889"/>
                  </a:lnTo>
                  <a:lnTo>
                    <a:pt x="9426" y="9597"/>
                  </a:lnTo>
                  <a:lnTo>
                    <a:pt x="9426" y="9597"/>
                  </a:lnTo>
                  <a:lnTo>
                    <a:pt x="9426" y="9280"/>
                  </a:lnTo>
                  <a:lnTo>
                    <a:pt x="9402" y="8964"/>
                  </a:lnTo>
                  <a:lnTo>
                    <a:pt x="9353" y="8647"/>
                  </a:lnTo>
                  <a:lnTo>
                    <a:pt x="9280" y="8330"/>
                  </a:lnTo>
                  <a:lnTo>
                    <a:pt x="9231" y="8038"/>
                  </a:lnTo>
                  <a:lnTo>
                    <a:pt x="9134" y="7746"/>
                  </a:lnTo>
                  <a:lnTo>
                    <a:pt x="9036" y="7502"/>
                  </a:lnTo>
                  <a:lnTo>
                    <a:pt x="8939" y="7259"/>
                  </a:lnTo>
                  <a:lnTo>
                    <a:pt x="12130" y="4093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  <p:sp>
          <p:nvSpPr>
            <p:cNvPr id="15" name="Google Shape;122;p18"/>
            <p:cNvSpPr/>
            <p:nvPr/>
          </p:nvSpPr>
          <p:spPr>
            <a:xfrm>
              <a:off x="2801675" y="1740825"/>
              <a:ext cx="49950" cy="49950"/>
            </a:xfrm>
            <a:custGeom>
              <a:avLst/>
              <a:gdLst/>
              <a:ahLst/>
              <a:cxnLst/>
              <a:rect l="l" t="t" r="r" b="b"/>
              <a:pathLst>
                <a:path w="1998" h="1998" fill="none" extrusionOk="0">
                  <a:moveTo>
                    <a:pt x="1" y="1997"/>
                  </a:moveTo>
                  <a:lnTo>
                    <a:pt x="1998" y="0"/>
                  </a:lnTo>
                </a:path>
              </a:pathLst>
            </a:custGeom>
            <a:noFill/>
            <a:ln w="28575" cap="rnd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99"/>
            </a:p>
          </p:txBody>
        </p:sp>
      </p:grpSp>
      <p:pic>
        <p:nvPicPr>
          <p:cNvPr id="16" name="Imagem 15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78950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ique aqui para adicionar seu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20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39C0BA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5" name="Espaço Reservado para Conteúdo 4">
            <a:extLst>
              <a:ext uri="{FF2B5EF4-FFF2-40B4-BE49-F238E27FC236}">
                <a16:creationId xmlns="" xmlns:a16="http://schemas.microsoft.com/office/drawing/2014/main" id="{0429D44C-024F-49BA-BA92-6BA652B41B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</p:spTree>
    <p:extLst>
      <p:ext uri="{BB962C8B-B14F-4D97-AF65-F5344CB8AC3E}">
        <p14:creationId xmlns:p14="http://schemas.microsoft.com/office/powerpoint/2010/main" val="384771762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9" name="Imagem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4" name="Espaço Reservado para Conteúdo 4">
            <a:extLst>
              <a:ext uri="{FF2B5EF4-FFF2-40B4-BE49-F238E27FC236}">
                <a16:creationId xmlns="" xmlns:a16="http://schemas.microsoft.com/office/drawing/2014/main" id="{92FEC62A-AEF6-4001-BB11-823B08650E7B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pt-BR" dirty="0"/>
              <a:t>Clique aqui para adicionar seu texto</a:t>
            </a:r>
          </a:p>
        </p:txBody>
      </p:sp>
      <p:sp>
        <p:nvSpPr>
          <p:cNvPr id="10" name="Google Shape;14;p3">
            <a:extLst>
              <a:ext uri="{FF2B5EF4-FFF2-40B4-BE49-F238E27FC236}">
                <a16:creationId xmlns="" xmlns:a16="http://schemas.microsoft.com/office/drawing/2014/main" id="{137F0C9D-A7E1-438A-AC82-A6EC7B2C200F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75248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805553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7" name="Imagem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  <p:sp>
        <p:nvSpPr>
          <p:cNvPr id="12" name="Google Shape;14;p3">
            <a:extLst>
              <a:ext uri="{FF2B5EF4-FFF2-40B4-BE49-F238E27FC236}">
                <a16:creationId xmlns="" xmlns:a16="http://schemas.microsoft.com/office/drawing/2014/main" id="{9D3AA249-572A-43DC-88A4-DDB8F15E43B5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965377" y="520501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para adicionar um título</a:t>
            </a:r>
            <a:endParaRPr dirty="0"/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="" xmlns:a16="http://schemas.microsoft.com/office/drawing/2014/main" id="{E55CBC1E-334C-401B-8582-9E8D56E2C1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75248" y="1599307"/>
            <a:ext cx="9022800" cy="4229960"/>
          </a:xfrm>
          <a:prstGeom prst="rect">
            <a:avLst/>
          </a:prstGeom>
        </p:spPr>
        <p:txBody>
          <a:bodyPr/>
          <a:lstStyle>
            <a:lvl1pPr>
              <a:defRPr sz="2333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2623929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tângulo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9C0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9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2" name="Imagem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="" xmlns:a16="http://schemas.microsoft.com/office/drawing/2014/main" id="{C54F93D9-1F86-4299-9A39-CDC0441F1E4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9283469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pítul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tângulo 9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9599"/>
          </a:p>
        </p:txBody>
      </p:sp>
      <p:cxnSp>
        <p:nvCxnSpPr>
          <p:cNvPr id="11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chemeClr val="bg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4" name="Imagem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46445" y="5829268"/>
            <a:ext cx="902217" cy="864096"/>
          </a:xfrm>
          <a:prstGeom prst="rect">
            <a:avLst/>
          </a:prstGeom>
        </p:spPr>
      </p:pic>
      <p:sp>
        <p:nvSpPr>
          <p:cNvPr id="7" name="Google Shape;14;p3">
            <a:extLst>
              <a:ext uri="{FF2B5EF4-FFF2-40B4-BE49-F238E27FC236}">
                <a16:creationId xmlns="" xmlns:a16="http://schemas.microsoft.com/office/drawing/2014/main" id="{1E9A4DC9-1926-455C-BB66-B463FFEA4C98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2041092" y="2927564"/>
            <a:ext cx="9022800" cy="1002872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TÍTULO</a:t>
            </a:r>
          </a:p>
        </p:txBody>
      </p:sp>
    </p:spTree>
    <p:extLst>
      <p:ext uri="{BB962C8B-B14F-4D97-AF65-F5344CB8AC3E}">
        <p14:creationId xmlns:p14="http://schemas.microsoft.com/office/powerpoint/2010/main" val="1542440196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cap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tângulo 5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3000" dirty="0"/>
          </a:p>
        </p:txBody>
      </p:sp>
      <p:cxnSp>
        <p:nvCxnSpPr>
          <p:cNvPr id="7" name="Google Shape;65;p11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0070C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" name="Google Shape;66;p11"/>
          <p:cNvSpPr/>
          <p:nvPr userDrawn="1"/>
        </p:nvSpPr>
        <p:spPr>
          <a:xfrm>
            <a:off x="1126233" y="3294400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</p:pic>
      <p:sp>
        <p:nvSpPr>
          <p:cNvPr id="11" name="Google Shape;14;p3"/>
          <p:cNvSpPr txBox="1">
            <a:spLocks noGrp="1"/>
          </p:cNvSpPr>
          <p:nvPr>
            <p:ph type="ctrTitle" hasCustomPrompt="1"/>
          </p:nvPr>
        </p:nvSpPr>
        <p:spPr>
          <a:xfrm>
            <a:off x="1967541" y="3074200"/>
            <a:ext cx="9022800" cy="7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 rtl="0">
              <a:spcBef>
                <a:spcPts val="0"/>
              </a:spcBef>
              <a:spcAft>
                <a:spcPts val="0"/>
              </a:spcAft>
              <a:buSzPts val="3000"/>
              <a:buNone/>
              <a:defRPr sz="3333" b="1" baseline="0">
                <a:solidFill>
                  <a:srgbClr val="0070C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rPr lang="pt-BR" dirty="0"/>
              <a:t>Clique aqui para adicionar um subtítulo</a:t>
            </a:r>
          </a:p>
        </p:txBody>
      </p:sp>
    </p:spTree>
    <p:extLst>
      <p:ext uri="{BB962C8B-B14F-4D97-AF65-F5344CB8AC3E}">
        <p14:creationId xmlns:p14="http://schemas.microsoft.com/office/powerpoint/2010/main" val="413123522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39C0BA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0" name="Imagem 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75757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co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Google Shape;61;p10"/>
          <p:cNvCxnSpPr/>
          <p:nvPr userDrawn="1"/>
        </p:nvCxnSpPr>
        <p:spPr>
          <a:xfrm>
            <a:off x="1260851" y="0"/>
            <a:ext cx="0" cy="6858000"/>
          </a:xfrm>
          <a:prstGeom prst="straightConnector1">
            <a:avLst/>
          </a:prstGeom>
          <a:noFill/>
          <a:ln w="9525" cap="flat" cmpd="sng">
            <a:solidFill>
              <a:srgbClr val="999FA9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" name="Google Shape;62;p10"/>
          <p:cNvSpPr/>
          <p:nvPr userDrawn="1"/>
        </p:nvSpPr>
        <p:spPr>
          <a:xfrm>
            <a:off x="1126233" y="740701"/>
            <a:ext cx="269200" cy="269200"/>
          </a:xfrm>
          <a:prstGeom prst="ellipse">
            <a:avLst/>
          </a:prstGeom>
          <a:solidFill>
            <a:srgbClr val="0070C0"/>
          </a:solidFill>
          <a:ln w="9525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599"/>
          </a:p>
        </p:txBody>
      </p:sp>
      <p:pic>
        <p:nvPicPr>
          <p:cNvPr id="19" name="Imagem 1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75867" y="5947737"/>
            <a:ext cx="623976" cy="627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3088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7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=""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=""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=""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18/04/2025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=""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=""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110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47302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</p:sldLayoutIdLst>
  <p:txStyles>
    <p:titleStyle>
      <a:lvl1pPr algn="ctr" defTabSz="1219078" rtl="0" eaLnBrk="1" latinLnBrk="0" hangingPunct="1">
        <a:spcBef>
          <a:spcPct val="0"/>
        </a:spcBef>
        <a:buNone/>
        <a:defRPr sz="586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154" indent="-457154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4266" kern="1200">
          <a:solidFill>
            <a:schemeClr val="tx1"/>
          </a:solidFill>
          <a:latin typeface="+mn-lt"/>
          <a:ea typeface="+mn-ea"/>
          <a:cs typeface="+mn-cs"/>
        </a:defRPr>
      </a:lvl1pPr>
      <a:lvl2pPr marL="990501" indent="-380962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3733" kern="1200">
          <a:solidFill>
            <a:schemeClr val="tx1"/>
          </a:solidFill>
          <a:latin typeface="+mn-lt"/>
          <a:ea typeface="+mn-ea"/>
          <a:cs typeface="+mn-cs"/>
        </a:defRPr>
      </a:lvl2pPr>
      <a:lvl3pPr marL="1523848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3pPr>
      <a:lvl4pPr marL="2133387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–"/>
        <a:defRPr sz="2666" kern="1200">
          <a:solidFill>
            <a:schemeClr val="tx1"/>
          </a:solidFill>
          <a:latin typeface="+mn-lt"/>
          <a:ea typeface="+mn-ea"/>
          <a:cs typeface="+mn-cs"/>
        </a:defRPr>
      </a:lvl4pPr>
      <a:lvl5pPr marL="2742926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»"/>
        <a:defRPr sz="2666" kern="1200">
          <a:solidFill>
            <a:schemeClr val="tx1"/>
          </a:solidFill>
          <a:latin typeface="+mn-lt"/>
          <a:ea typeface="+mn-ea"/>
          <a:cs typeface="+mn-cs"/>
        </a:defRPr>
      </a:lvl5pPr>
      <a:lvl6pPr marL="3352465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2004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1543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1082" indent="-304770" algn="l" defTabSz="1219078" rtl="0" eaLnBrk="1" latinLnBrk="0" hangingPunct="1">
        <a:spcBef>
          <a:spcPct val="20000"/>
        </a:spcBef>
        <a:buFont typeface="Arial" panose="020B0604020202020204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39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078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617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156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695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234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773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312" algn="l" defTabSz="1219078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tinyurl.com/edgemlbooks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5" Type="http://schemas.openxmlformats.org/officeDocument/2006/relationships/hyperlink" Target="https://www.tensorflow.org/mlir/tfl_ops" TargetMode="External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github.com/tensorflow/examples/tree/master/lite/examples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ensorflow.org/lite/models/modify/model_maker?hl=pt-br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7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colab.research.google.com/github/zz4fap/tp557-iot-ml/blob/main/examples/Training_Hello_world_Model_for_Microcontroller.ipynb" TargetMode="Externa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6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8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0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2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7" Type="http://schemas.openxmlformats.org/officeDocument/2006/relationships/image" Target="../media/image4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3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6.png"/><Relationship Id="rId4" Type="http://schemas.openxmlformats.org/officeDocument/2006/relationships/image" Target="../media/image35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7.png"/><Relationship Id="rId4" Type="http://schemas.openxmlformats.org/officeDocument/2006/relationships/image" Target="../media/image35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8.png"/><Relationship Id="rId4" Type="http://schemas.openxmlformats.org/officeDocument/2006/relationships/image" Target="../media/image35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49.png"/><Relationship Id="rId4" Type="http://schemas.openxmlformats.org/officeDocument/2006/relationships/image" Target="../media/image35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0.png"/><Relationship Id="rId4" Type="http://schemas.openxmlformats.org/officeDocument/2006/relationships/image" Target="../media/image35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35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4.png"/><Relationship Id="rId4" Type="http://schemas.openxmlformats.org/officeDocument/2006/relationships/image" Target="../media/image35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5.png"/><Relationship Id="rId4" Type="http://schemas.openxmlformats.org/officeDocument/2006/relationships/image" Target="../media/image35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56.png"/><Relationship Id="rId4" Type="http://schemas.openxmlformats.org/officeDocument/2006/relationships/image" Target="../media/image35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6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8.png"/><Relationship Id="rId5" Type="http://schemas.openxmlformats.org/officeDocument/2006/relationships/image" Target="../media/image57.png"/><Relationship Id="rId4" Type="http://schemas.openxmlformats.org/officeDocument/2006/relationships/image" Target="../media/image35.pn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7.jp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hyperlink" Target="https://netron.app/" TargetMode="Externa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3.png"/><Relationship Id="rId4" Type="http://schemas.openxmlformats.org/officeDocument/2006/relationships/image" Target="../media/image35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4.png"/><Relationship Id="rId4" Type="http://schemas.openxmlformats.org/officeDocument/2006/relationships/image" Target="../media/image35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67.jpeg"/><Relationship Id="rId5" Type="http://schemas.openxmlformats.org/officeDocument/2006/relationships/hyperlink" Target="https://www.kaggle.com/datasets/gpiosenka/coffee-bean-dataset-resized-224-x-224" TargetMode="External"/><Relationship Id="rId4" Type="http://schemas.openxmlformats.org/officeDocument/2006/relationships/hyperlink" Target="https://edgeimpulse.com/" TargetMode="Externa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63783" y="819807"/>
            <a:ext cx="9772072" cy="2690156"/>
          </a:xfrm>
        </p:spPr>
        <p:txBody>
          <a:bodyPr>
            <a:normAutofit/>
          </a:bodyPr>
          <a:lstStyle/>
          <a:p>
            <a:r>
              <a:rPr lang="pt-BR" sz="5400" dirty="0"/>
              <a:t>TP557 - Tópicos avançados em IoT e </a:t>
            </a:r>
            <a:r>
              <a:rPr lang="pt-BR" sz="5400" dirty="0" err="1"/>
              <a:t>Machine</a:t>
            </a:r>
            <a:r>
              <a:rPr lang="pt-BR" sz="5400" dirty="0"/>
              <a:t> Learning:</a:t>
            </a:r>
            <a:r>
              <a:rPr lang="pt-BR" dirty="0"/>
              <a:t/>
            </a:r>
            <a:br>
              <a:rPr lang="pt-BR" dirty="0"/>
            </a:br>
            <a:r>
              <a:rPr lang="pt-BR" b="1" i="1" dirty="0" err="1"/>
              <a:t>TensorFlow</a:t>
            </a:r>
            <a:r>
              <a:rPr lang="pt-BR" b="1" i="1" dirty="0"/>
              <a:t> Lite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=""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3093156" y="6015453"/>
            <a:ext cx="48226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Créditos: Prof. Marcelo Rovai UNIFEI 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=""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=""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6785107" y="3429000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IoT Group">
            <a:extLst>
              <a:ext uri="{FF2B5EF4-FFF2-40B4-BE49-F238E27FC236}">
                <a16:creationId xmlns="" xmlns:a16="http://schemas.microsoft.com/office/drawing/2014/main" id="{AC034F57-E830-B6E7-6790-12FDBBDB297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3551" b="22561"/>
          <a:stretch/>
        </p:blipFill>
        <p:spPr bwMode="auto">
          <a:xfrm>
            <a:off x="2899985" y="3509963"/>
            <a:ext cx="2509138" cy="2009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CaixaDeTexto 4">
            <a:extLst>
              <a:ext uri="{FF2B5EF4-FFF2-40B4-BE49-F238E27FC236}">
                <a16:creationId xmlns="" xmlns:a16="http://schemas.microsoft.com/office/drawing/2014/main" id="{2D82026D-D2EA-05D7-61F2-DEE04704DB7E}"/>
              </a:ext>
            </a:extLst>
          </p:cNvPr>
          <p:cNvSpPr txBox="1"/>
          <p:nvPr/>
        </p:nvSpPr>
        <p:spPr>
          <a:xfrm>
            <a:off x="8068201" y="59330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Samuel Baraldi Mafra</a:t>
            </a:r>
          </a:p>
          <a:p>
            <a:r>
              <a:rPr lang="pt-BR" dirty="0"/>
              <a:t>samuelbmafra@inatel.br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="" xmlns:a16="http://schemas.microsoft.com/office/drawing/2014/main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="" xmlns:a16="http://schemas.microsoft.com/office/drawing/2014/main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3578588"/>
          </a:xfrm>
        </p:spPr>
        <p:txBody>
          <a:bodyPr/>
          <a:lstStyle/>
          <a:p>
            <a:r>
              <a:rPr lang="pt-BR" dirty="0"/>
              <a:t>Possui pós-doutorado na Universidade Federal do Paraná (2015-2018). </a:t>
            </a:r>
          </a:p>
          <a:p>
            <a:r>
              <a:rPr lang="pt-BR" dirty="0"/>
              <a:t>Doutor em Ciências na área de telecomunicações e redes pela Universidade Tecnológica Federal do Paraná (2015). </a:t>
            </a:r>
          </a:p>
          <a:p>
            <a:r>
              <a:rPr lang="pt-BR" dirty="0"/>
              <a:t>Mestre em Engenharia Elétrica com ênfase em telecomunicações pela Universidade Federal do Paraná (2012). </a:t>
            </a:r>
          </a:p>
          <a:p>
            <a:r>
              <a:rPr lang="pt-BR" dirty="0"/>
              <a:t>Engenheiro Eletricista pela Universidade do Estado de Santa Catarina (2010).</a:t>
            </a:r>
          </a:p>
          <a:p>
            <a:endParaRPr lang="pt-BR" dirty="0"/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="" xmlns:a16="http://schemas.microsoft.com/office/drawing/2014/main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6113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="" xmlns:a16="http://schemas.microsoft.com/office/drawing/2014/main" id="{6BC1868B-0A3A-32FE-D3E1-4C53AAE225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t-BR" dirty="0"/>
              <a:t>Samuel Baraldi Mafra</a:t>
            </a:r>
          </a:p>
        </p:txBody>
      </p:sp>
      <p:sp>
        <p:nvSpPr>
          <p:cNvPr id="10" name="Espaço Reservado para Conteúdo 9">
            <a:extLst>
              <a:ext uri="{FF2B5EF4-FFF2-40B4-BE49-F238E27FC236}">
                <a16:creationId xmlns="" xmlns:a16="http://schemas.microsoft.com/office/drawing/2014/main" id="{C237015F-47F9-757A-BA6D-89FB831D9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1491" y="1508787"/>
            <a:ext cx="6593027" cy="4464496"/>
          </a:xfrm>
        </p:spPr>
        <p:txBody>
          <a:bodyPr/>
          <a:lstStyle/>
          <a:p>
            <a:r>
              <a:rPr lang="pt-BR" dirty="0"/>
              <a:t>Instituto Nacional de Telecomunicações - Inatel.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 de graduação em engenharia de computação;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e pesquisador nos cursos de mestrado e doutorado em telecomunicações;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Professor no cursos de especialização em 5G,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e redes de telecomunicação;</a:t>
            </a:r>
          </a:p>
          <a:p>
            <a:pPr lvl="1"/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Coordenador do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IoT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Research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pt-BR" sz="2333" dirty="0" err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Group</a:t>
            </a:r>
            <a:r>
              <a:rPr lang="pt-BR" sz="2333" dirty="0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– Inatel. </a:t>
            </a:r>
          </a:p>
          <a:p>
            <a:pPr lvl="1"/>
            <a:endParaRPr lang="pt-BR" sz="2333" dirty="0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pt-BR" dirty="0"/>
              <a:t> </a:t>
            </a:r>
          </a:p>
        </p:txBody>
      </p:sp>
      <p:pic>
        <p:nvPicPr>
          <p:cNvPr id="8" name="Imagem 7" descr="Homem de camisa branca&#10;&#10;Descrição gerada automaticamente">
            <a:extLst>
              <a:ext uri="{FF2B5EF4-FFF2-40B4-BE49-F238E27FC236}">
                <a16:creationId xmlns="" xmlns:a16="http://schemas.microsoft.com/office/drawing/2014/main" id="{C6353831-F7DA-B924-AC0E-E10D33B75E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0243" y="1705606"/>
            <a:ext cx="3520685" cy="352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8377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TinyML</a:t>
            </a:r>
            <a:endParaRPr lang="pt-BR" dirty="0"/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266" name="Picture 2" descr="Tiny Machine Learning: The Next AI Revolution | by Matthew Stewart, PhD |  Towards Data Science">
            <a:extLst>
              <a:ext uri="{FF2B5EF4-FFF2-40B4-BE49-F238E27FC236}">
                <a16:creationId xmlns="" xmlns:a16="http://schemas.microsoft.com/office/drawing/2014/main" id="{6D4387EF-198D-6CC9-FBBC-B1958F1A5F7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5627" y="1484489"/>
            <a:ext cx="8367305" cy="4636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8759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="" xmlns:a16="http://schemas.microsoft.com/office/drawing/2014/main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/>
          </a:bodyPr>
          <a:lstStyle/>
          <a:p>
            <a:r>
              <a:rPr lang="pt-BR" dirty="0"/>
              <a:t>Características dos dispositivos </a:t>
            </a:r>
            <a:r>
              <a:rPr lang="pt-BR" dirty="0" err="1"/>
              <a:t>IoT</a:t>
            </a:r>
            <a:r>
              <a:rPr lang="pt-BR" dirty="0"/>
              <a:t>:</a:t>
            </a:r>
          </a:p>
          <a:p>
            <a:r>
              <a:rPr lang="pt-BR" dirty="0"/>
              <a:t>Baixo consumo de energia;</a:t>
            </a:r>
          </a:p>
          <a:p>
            <a:r>
              <a:rPr lang="pt-BR" dirty="0"/>
              <a:t>Baixo poder computacional;</a:t>
            </a:r>
          </a:p>
          <a:p>
            <a:r>
              <a:rPr lang="pt-BR" dirty="0"/>
              <a:t>Baixo custo.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869847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="" xmlns:a16="http://schemas.microsoft.com/office/drawing/2014/main" id="{D957E37B-108E-A4B3-1EF1-6A2150EFA3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799" y="1066801"/>
            <a:ext cx="9561689" cy="2565400"/>
          </a:xfrm>
        </p:spPr>
        <p:txBody>
          <a:bodyPr>
            <a:normAutofit fontScale="85000" lnSpcReduction="10000"/>
          </a:bodyPr>
          <a:lstStyle/>
          <a:p>
            <a:pPr algn="l" rtl="0" fontAlgn="base"/>
            <a:r>
              <a:rPr lang="pt-BR" sz="2600" b="0" i="0" u="none" strike="noStrike" dirty="0">
                <a:effectLst/>
              </a:rPr>
              <a:t>A energia de processamento depende basicamente do número de ciclos de </a:t>
            </a:r>
            <a:r>
              <a:rPr lang="pt-BR" sz="2600" b="0" i="0" u="none" strike="noStrike" dirty="0" err="1">
                <a:effectLst/>
              </a:rPr>
              <a:t>clock</a:t>
            </a:r>
            <a:r>
              <a:rPr lang="pt-BR" sz="2600" b="0" i="0" u="none" strike="noStrike" dirty="0">
                <a:effectLst/>
              </a:rPr>
              <a:t> executadas pelo microcontrolador.</a:t>
            </a:r>
            <a:r>
              <a:rPr lang="en-US" sz="2600" b="0" i="0" dirty="0">
                <a:effectLst/>
              </a:rPr>
              <a:t>​</a:t>
            </a:r>
          </a:p>
          <a:p>
            <a:pPr marL="0" indent="0" algn="l" rtl="0" fontAlgn="base">
              <a:buNone/>
            </a:pPr>
            <a:endParaRPr lang="pt-BR" sz="2600" b="0" i="0" dirty="0">
              <a:effectLst/>
            </a:endParaRPr>
          </a:p>
          <a:p>
            <a:pPr algn="l" rtl="0" fontAlgn="base"/>
            <a:r>
              <a:rPr lang="pt-BR" sz="2600" b="0" i="0" u="none" strike="noStrike" dirty="0">
                <a:effectLst/>
              </a:rPr>
              <a:t>"Os programadores não poderão ignorar o custo de energia dos programas que escrevem ... Você precisa de ferramentas que forneçam feedback e digam o quão boas são suas decisões. Atualmente, as ferramentas não fornecem esse tipo de feedback.” (Steve </a:t>
            </a:r>
            <a:r>
              <a:rPr lang="pt-BR" sz="2600" b="0" i="0" u="none" strike="noStrike" dirty="0" err="1">
                <a:effectLst/>
              </a:rPr>
              <a:t>Furber</a:t>
            </a:r>
            <a:r>
              <a:rPr lang="pt-BR" sz="2600" b="0" i="0" u="none" strike="noStrike" dirty="0">
                <a:effectLst/>
              </a:rPr>
              <a:t>, ARM, 2010)</a:t>
            </a:r>
            <a:endParaRPr lang="en-US" sz="2600" b="0" i="0" dirty="0">
              <a:effectLst/>
            </a:endParaRP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290724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Processamento tradicional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="" xmlns:a16="http://schemas.microsoft.com/office/drawing/2014/main" id="{4C0988EC-1EED-C341-8C2F-16519CE6496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66289" y="1440460"/>
            <a:ext cx="8626588" cy="3299746"/>
          </a:xfrm>
        </p:spPr>
      </p:pic>
    </p:spTree>
    <p:extLst>
      <p:ext uri="{BB962C8B-B14F-4D97-AF65-F5344CB8AC3E}">
        <p14:creationId xmlns:p14="http://schemas.microsoft.com/office/powerpoint/2010/main" val="38011335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="" xmlns:a16="http://schemas.microsoft.com/office/drawing/2014/main" id="{30913158-1403-FD7C-13DD-FEE88A4A77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23244" y="1656357"/>
            <a:ext cx="8545689" cy="3116307"/>
          </a:xfrm>
        </p:spPr>
      </p:pic>
    </p:spTree>
    <p:extLst>
      <p:ext uri="{BB962C8B-B14F-4D97-AF65-F5344CB8AC3E}">
        <p14:creationId xmlns:p14="http://schemas.microsoft.com/office/powerpoint/2010/main" val="262339878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="" xmlns:a16="http://schemas.microsoft.com/office/drawing/2014/main" id="{05A8F147-70FE-941B-F2CB-2C124F8D5F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95022" y="1969297"/>
            <a:ext cx="8861778" cy="2716205"/>
          </a:xfrm>
        </p:spPr>
      </p:pic>
    </p:spTree>
    <p:extLst>
      <p:ext uri="{BB962C8B-B14F-4D97-AF65-F5344CB8AC3E}">
        <p14:creationId xmlns:p14="http://schemas.microsoft.com/office/powerpoint/2010/main" val="475612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="" xmlns:a16="http://schemas.microsoft.com/office/drawing/2014/main" id="{A5DFCE40-4CA2-BEBF-45F2-5DA44B4A836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219199" y="1590391"/>
            <a:ext cx="9256889" cy="3677217"/>
          </a:xfrm>
        </p:spPr>
      </p:pic>
    </p:spTree>
    <p:extLst>
      <p:ext uri="{BB962C8B-B14F-4D97-AF65-F5344CB8AC3E}">
        <p14:creationId xmlns:p14="http://schemas.microsoft.com/office/powerpoint/2010/main" val="18402627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 fontScale="90000"/>
          </a:bodyPr>
          <a:lstStyle/>
          <a:p>
            <a:r>
              <a:rPr lang="pt-BR" dirty="0"/>
              <a:t>Processamento na borda com dispositivos embarcados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="" xmlns:a16="http://schemas.microsoft.com/office/drawing/2014/main" id="{ABD88AAA-EE48-F346-F093-EAE7966DAE3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151466" y="1640213"/>
            <a:ext cx="8624711" cy="3374374"/>
          </a:xfrm>
        </p:spPr>
      </p:pic>
    </p:spTree>
    <p:extLst>
      <p:ext uri="{BB962C8B-B14F-4D97-AF65-F5344CB8AC3E}">
        <p14:creationId xmlns:p14="http://schemas.microsoft.com/office/powerpoint/2010/main" val="3059835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="" xmlns:a16="http://schemas.microsoft.com/office/drawing/2014/main" id="{1D183AB4-0114-C958-8DAD-03DD590E20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307346" y="986294"/>
            <a:ext cx="3556739" cy="4682212"/>
          </a:xfrm>
        </p:spPr>
      </p:pic>
      <p:sp>
        <p:nvSpPr>
          <p:cNvPr id="8" name="Título 1">
            <a:extLst>
              <a:ext uri="{FF2B5EF4-FFF2-40B4-BE49-F238E27FC236}">
                <a16:creationId xmlns="" xmlns:a16="http://schemas.microsoft.com/office/drawing/2014/main" id="{32179B82-25F5-6138-2B69-45619B216CCB}"/>
              </a:ext>
            </a:extLst>
          </p:cNvPr>
          <p:cNvSpPr txBox="1">
            <a:spLocks/>
          </p:cNvSpPr>
          <p:nvPr/>
        </p:nvSpPr>
        <p:spPr>
          <a:xfrm>
            <a:off x="-260085" y="284692"/>
            <a:ext cx="6559285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ctr" defTabSz="609630" rtl="0" eaLnBrk="1" latinLnBrk="0" hangingPunct="1">
              <a:spcBef>
                <a:spcPct val="0"/>
              </a:spcBef>
              <a:buNone/>
              <a:defRPr sz="2933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Referência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="" xmlns:a16="http://schemas.microsoft.com/office/drawing/2014/main" id="{AE716D6C-1B36-DABF-B509-335987079969}"/>
              </a:ext>
            </a:extLst>
          </p:cNvPr>
          <p:cNvSpPr txBox="1"/>
          <p:nvPr/>
        </p:nvSpPr>
        <p:spPr>
          <a:xfrm>
            <a:off x="2762956" y="5871706"/>
            <a:ext cx="62258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Tinyml</a:t>
            </a:r>
            <a:r>
              <a:rPr lang="en-US" dirty="0"/>
              <a:t>: Machine Learning with </a:t>
            </a:r>
            <a:r>
              <a:rPr lang="en-US" dirty="0" err="1"/>
              <a:t>Tensorflow</a:t>
            </a:r>
            <a:r>
              <a:rPr lang="en-US" dirty="0"/>
              <a:t> Lite on Arduino and Ultra-Low-Power Microcontrollers</a:t>
            </a:r>
            <a:endParaRPr lang="pt-BR" dirty="0"/>
          </a:p>
        </p:txBody>
      </p:sp>
      <p:sp>
        <p:nvSpPr>
          <p:cNvPr id="9" name="TextBox 8">
            <a:extLst>
              <a:ext uri="{FF2B5EF4-FFF2-40B4-BE49-F238E27FC236}">
                <a16:creationId xmlns="" xmlns:a16="http://schemas.microsoft.com/office/drawing/2014/main" id="{4FD26F54-CF3F-3EF1-9173-C3D19AD97F6E}"/>
              </a:ext>
            </a:extLst>
          </p:cNvPr>
          <p:cNvSpPr txBox="1"/>
          <p:nvPr/>
        </p:nvSpPr>
        <p:spPr>
          <a:xfrm>
            <a:off x="8684173" y="5211729"/>
            <a:ext cx="33922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https://tinyurl.com/edgemlbooks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896095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Conteúdo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Introdução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é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Por que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Benefícios de usar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O que 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 pode fazer?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Visão geral do fluxo de trabalho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  <a:p>
            <a:pPr marL="723937" lvl="1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Convertendo um modelo do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em </a:t>
            </a:r>
            <a:r>
              <a:rPr lang="pt-BR" sz="2000" dirty="0" err="1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Times New Roman" panose="02020603050405020304" pitchFamily="18" charset="0"/>
              </a:rPr>
              <a:t> Lite</a:t>
            </a:r>
          </a:p>
        </p:txBody>
      </p:sp>
    </p:spTree>
    <p:extLst>
      <p:ext uri="{BB962C8B-B14F-4D97-AF65-F5344CB8AC3E}">
        <p14:creationId xmlns:p14="http://schemas.microsoft.com/office/powerpoint/2010/main" val="26276886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57223" indent="-304815" algn="just">
              <a:lnSpc>
                <a:spcPct val="107000"/>
              </a:lnSpc>
              <a:spcAft>
                <a:spcPts val="533"/>
              </a:spcAft>
            </a:pP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O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TensorFlow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Lite é um conjunto de ferramentas para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machine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learning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 no dispositivo que ajuda os desenvolvedores a executar modelos em dispositivos móveis, incorporados e de </a:t>
            </a:r>
            <a:r>
              <a:rPr lang="pt-BR" sz="2000" b="0" i="0" dirty="0" err="1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IoT</a:t>
            </a:r>
            <a:r>
              <a:rPr lang="pt-BR" sz="2000" b="0" i="0" dirty="0">
                <a:solidFill>
                  <a:srgbClr val="202124"/>
                </a:solidFill>
                <a:effectLst/>
                <a:cs typeface="Arial" panose="020B0604020202020204" pitchFamily="34" charset="0"/>
              </a:rPr>
              <a:t>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="" xmlns:a16="http://schemas.microsoft.com/office/drawing/2014/main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483027"/>
            <a:ext cx="63817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46635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é uma biblioteca de aprendizado de máquina geral que pode ser usada para treinar e implantar modelos de aprendizado de máquina em uma variedade de plataformas, incluindo computadores, dispositivos móveis e dispositivos incorporados.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Lite é uma versão reduzida do </a:t>
            </a:r>
            <a:r>
              <a:rPr lang="pt-BR" sz="2000" dirty="0" err="1">
                <a:effectLst/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 que é otimizada para desempenho e eficiência em dispositivos móveis e incorporados.</a:t>
            </a:r>
          </a:p>
        </p:txBody>
      </p:sp>
      <p:pic>
        <p:nvPicPr>
          <p:cNvPr id="1026" name="Picture 2" descr="A Basic Introduction to TensorFlow Lite | by Renu Khandelwal | Towards Data  Science">
            <a:extLst>
              <a:ext uri="{FF2B5EF4-FFF2-40B4-BE49-F238E27FC236}">
                <a16:creationId xmlns="" xmlns:a16="http://schemas.microsoft.com/office/drawing/2014/main" id="{F845FD6B-D9F2-E0BF-EF6F-6BB0700937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3429000"/>
            <a:ext cx="638175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702667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Auxilia na criação de aplicações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edgeML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, que possuem as seguintes características: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Baixa latência (não há ida e volta para um servidor),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Maior privacidade (nenhum dado pessoal sai do dispositivo),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Pouca ou nenhuma necessidade de conectividade a Internet,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Modelos d menor tamanho (tamanho reduzido do modelo e do binário) 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Menor consumo de energia (inferência eficiente e falta de conexões de rede)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02982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ffectLst/>
                <a:ea typeface="Calibri" panose="020F0502020204030204" pitchFamily="34" charset="0"/>
                <a:cs typeface="Arial" panose="020B0604020202020204" pitchFamily="34" charset="0"/>
              </a:rPr>
              <a:t>Po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 que usar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Suporte a várias plataformas, inclusive dispositivos Android e iOS, Linux incorporado e microcontroladores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Compatibilidade com diversas linguagens, incluindo Java, Swift,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Objective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-C, C++ e Python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Alto desempenho com aceleração de hardware e otimização de modelos</a:t>
            </a:r>
            <a:endParaRPr lang="pt-BR" sz="1734" dirty="0">
              <a:effectLst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56243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="" xmlns:a16="http://schemas.microsoft.com/office/drawing/2014/main" id="{7083F4F6-6882-226E-8924-F3F893CE7A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801152" y="1475553"/>
            <a:ext cx="7498730" cy="4313294"/>
          </a:xfrm>
        </p:spPr>
      </p:pic>
    </p:spTree>
    <p:extLst>
      <p:ext uri="{BB962C8B-B14F-4D97-AF65-F5344CB8AC3E}">
        <p14:creationId xmlns:p14="http://schemas.microsoft.com/office/powerpoint/2010/main" val="32308438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9" name="Espaço Reservado para Conteúdo 8">
            <a:extLst>
              <a:ext uri="{FF2B5EF4-FFF2-40B4-BE49-F238E27FC236}">
                <a16:creationId xmlns="" xmlns:a16="http://schemas.microsoft.com/office/drawing/2014/main" id="{0942837E-A7AA-0552-CCE5-E9F444D3930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846667" y="1271099"/>
            <a:ext cx="9347200" cy="4519001"/>
          </a:xfrm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41B2F112-E74E-7802-E172-46DE8F007E4C}"/>
              </a:ext>
            </a:extLst>
          </p:cNvPr>
          <p:cNvSpPr txBox="1"/>
          <p:nvPr/>
        </p:nvSpPr>
        <p:spPr>
          <a:xfrm>
            <a:off x="2093894" y="593144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5"/>
              </a:rPr>
              <a:t>Set of operations: https://www.tensorflow.org/mlir/tfl_ops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02156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1" name="Espaço Reservado para Conteúdo 10">
            <a:extLst>
              <a:ext uri="{FF2B5EF4-FFF2-40B4-BE49-F238E27FC236}">
                <a16:creationId xmlns="" xmlns:a16="http://schemas.microsoft.com/office/drawing/2014/main" id="{0FF495AE-312B-8030-46D0-CDBEBBB51C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770130" y="1406392"/>
            <a:ext cx="9853494" cy="3517383"/>
          </a:xfrm>
        </p:spPr>
      </p:pic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75358192-105F-2899-E13C-13ED44081794}"/>
              </a:ext>
            </a:extLst>
          </p:cNvPr>
          <p:cNvSpPr txBox="1"/>
          <p:nvPr/>
        </p:nvSpPr>
        <p:spPr>
          <a:xfrm>
            <a:off x="9301932" y="2905518"/>
            <a:ext cx="9141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(roda no </a:t>
            </a:r>
            <a:r>
              <a:rPr lang="pt-BR" sz="1200" dirty="0" err="1"/>
              <a:t>bare</a:t>
            </a:r>
            <a:r>
              <a:rPr lang="pt-BR" sz="1200" dirty="0"/>
              <a:t> metal)</a:t>
            </a:r>
            <a:endParaRPr lang="en-US" sz="1200" dirty="0"/>
          </a:p>
        </p:txBody>
      </p:sp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31AF67C9-DFE1-8B0E-A216-5183F6AA774E}"/>
              </a:ext>
            </a:extLst>
          </p:cNvPr>
          <p:cNvSpPr txBox="1"/>
          <p:nvPr/>
        </p:nvSpPr>
        <p:spPr>
          <a:xfrm>
            <a:off x="4880712" y="3367183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dinâmico de memória: memoria virtual)</a:t>
            </a:r>
            <a:endParaRPr lang="en-US" sz="1200" dirty="0"/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435199DB-206E-9599-A701-296559F2BE0A}"/>
              </a:ext>
            </a:extLst>
          </p:cNvPr>
          <p:cNvSpPr txBox="1"/>
          <p:nvPr/>
        </p:nvSpPr>
        <p:spPr>
          <a:xfrm>
            <a:off x="7249042" y="3429000"/>
            <a:ext cx="16323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(mapeamento estático de memória. Sabemos onde está na memória)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531135DD-400D-9EFF-963F-2BFBCAC9D1D1}"/>
              </a:ext>
            </a:extLst>
          </p:cNvPr>
          <p:cNvSpPr txBox="1"/>
          <p:nvPr/>
        </p:nvSpPr>
        <p:spPr>
          <a:xfrm>
            <a:off x="4880712" y="4197815"/>
            <a:ext cx="16323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e </a:t>
            </a:r>
            <a:r>
              <a:rPr lang="pt-BR" sz="1200" dirty="0" err="1"/>
              <a:t>TPUs</a:t>
            </a:r>
            <a:r>
              <a:rPr lang="pt-BR" sz="1200" dirty="0"/>
              <a:t>)</a:t>
            </a:r>
            <a:endParaRPr lang="en-US" sz="1200" dirty="0"/>
          </a:p>
        </p:txBody>
      </p:sp>
      <p:sp>
        <p:nvSpPr>
          <p:cNvPr id="9" name="TextBox 8">
            <a:extLst>
              <a:ext uri="{FF2B5EF4-FFF2-40B4-BE49-F238E27FC236}">
                <a16:creationId xmlns="" xmlns:a16="http://schemas.microsoft.com/office/drawing/2014/main" id="{BF6A1622-A2AE-F348-0B7A-91A6F5F4F2F7}"/>
              </a:ext>
            </a:extLst>
          </p:cNvPr>
          <p:cNvSpPr txBox="1"/>
          <p:nvPr/>
        </p:nvSpPr>
        <p:spPr>
          <a:xfrm>
            <a:off x="7072119" y="4197814"/>
            <a:ext cx="163232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200" dirty="0"/>
              <a:t>(</a:t>
            </a:r>
            <a:r>
              <a:rPr lang="pt-BR" sz="1200" dirty="0" err="1"/>
              <a:t>GPUs</a:t>
            </a:r>
            <a:r>
              <a:rPr lang="pt-BR" sz="1200" dirty="0"/>
              <a:t> móveis, </a:t>
            </a:r>
            <a:r>
              <a:rPr lang="pt-BR" sz="1200" dirty="0" err="1"/>
              <a:t>NPUs</a:t>
            </a:r>
            <a:r>
              <a:rPr lang="pt-BR" sz="1200" dirty="0"/>
              <a:t>, </a:t>
            </a:r>
            <a:r>
              <a:rPr lang="pt-BR" sz="1200" dirty="0" err="1"/>
              <a:t>DSPs</a:t>
            </a:r>
            <a:r>
              <a:rPr lang="pt-BR" sz="1200" dirty="0"/>
              <a:t>)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6909774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10" name="Espaço Reservado para Conteúdo 9">
            <a:extLst>
              <a:ext uri="{FF2B5EF4-FFF2-40B4-BE49-F238E27FC236}">
                <a16:creationId xmlns="" xmlns:a16="http://schemas.microsoft.com/office/drawing/2014/main" id="{A36D4836-D243-4019-E226-8026610A419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151466" y="1630409"/>
            <a:ext cx="8895644" cy="3393982"/>
          </a:xfrm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DFABFCA8-80AF-7911-FE28-7BB08F129841}"/>
              </a:ext>
            </a:extLst>
          </p:cNvPr>
          <p:cNvSpPr txBox="1"/>
          <p:nvPr/>
        </p:nvSpPr>
        <p:spPr>
          <a:xfrm>
            <a:off x="1151465" y="5175485"/>
            <a:ext cx="942194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Base </a:t>
            </a:r>
            <a:r>
              <a:rPr lang="pt-BR" dirty="0" err="1"/>
              <a:t>binary</a:t>
            </a:r>
            <a:r>
              <a:rPr lang="pt-BR" dirty="0"/>
              <a:t> </a:t>
            </a:r>
            <a:r>
              <a:rPr lang="pt-BR" dirty="0" err="1"/>
              <a:t>size</a:t>
            </a:r>
            <a:r>
              <a:rPr lang="pt-BR" dirty="0"/>
              <a:t>: tamanho em disco ou memória flash que a biblioteca ocupa.</a:t>
            </a:r>
          </a:p>
          <a:p>
            <a:r>
              <a:rPr lang="pt-BR" dirty="0" err="1"/>
              <a:t>Memory</a:t>
            </a:r>
            <a:r>
              <a:rPr lang="pt-BR" dirty="0"/>
              <a:t> </a:t>
            </a:r>
            <a:r>
              <a:rPr lang="pt-BR" dirty="0" err="1"/>
              <a:t>footprint</a:t>
            </a:r>
            <a:r>
              <a:rPr lang="pt-BR" dirty="0"/>
              <a:t>: quantidade total de memória RAM usada durante a execução.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69849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é um conjunto de ferramentas de machine learning que ajuda os desenvolvedores a executar modelos em dispositivos móveis, embarcados e IoT. Ele pode ser usado para criar aplicações destinadas a uma ampla variedade de tarefas, incluindo: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imagem: O TensorFlow Lite pode ser usado para criar modelos </a:t>
            </a:r>
            <a:r>
              <a:rPr lang="pt-BR" sz="2000">
                <a:ea typeface="Calibri" panose="020F0502020204030204" pitchFamily="34" charset="0"/>
                <a:cs typeface="Arial" panose="020B0604020202020204" pitchFamily="34" charset="0"/>
              </a:rPr>
              <a:t>que identifiquem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objetos em imagens, como pessoas, animais, objetos e cenas.</a:t>
            </a:r>
          </a:p>
        </p:txBody>
      </p:sp>
      <p:pic>
        <p:nvPicPr>
          <p:cNvPr id="5" name="Picture 2" descr="Iniciando Detecção Objetos com OpenCV">
            <a:extLst>
              <a:ext uri="{FF2B5EF4-FFF2-40B4-BE49-F238E27FC236}">
                <a16:creationId xmlns="" xmlns:a16="http://schemas.microsoft.com/office/drawing/2014/main" id="{5DF1FABF-1994-A6C9-74B0-9D3B228DE4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3432491"/>
            <a:ext cx="5547678" cy="31205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780723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Detecção de objetos: O TensorFlow Lite pode ser usado para criar modelos que identifiquem e rastreiem objetos em tempo real, como carros, pessoas e animais.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26" name="Picture 2" descr="Iniciando Detecção Objetos com OpenCV">
            <a:extLst>
              <a:ext uri="{FF2B5EF4-FFF2-40B4-BE49-F238E27FC236}">
                <a16:creationId xmlns="" xmlns:a16="http://schemas.microsoft.com/office/drawing/2014/main" id="{016F69A5-0F7D-F6FE-BD4B-32F38F497E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2978" y="2286706"/>
            <a:ext cx="5904090" cy="33210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24922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Reconhecimento de voz: O TensorFlow Lite pode ser usado para criar modelos de reconhecimento de fala, como comandos de voz e perguntas.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B41E48C3-0E68-5029-BDEC-3CE77D8AAD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2431" y="2165982"/>
            <a:ext cx="6161969" cy="3824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96134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Processamento de linguagem natural: O TensorFlow Lite pode ser usado para criar modelos que entendam texto, como perguntas e solicitações.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06D4BDE6-F027-E85C-A935-9890F5274C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8897" y="2185177"/>
            <a:ext cx="5962650" cy="3333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16972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Análise de vídeo: O TensorFlow Lite pode ser usado para criar modelos que analisem vídeos para detectar objetos, pessoas e comportamentos.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 descr="27+ Most Popular Computer Vision Applications in 2023">
            <a:extLst>
              <a:ext uri="{FF2B5EF4-FFF2-40B4-BE49-F238E27FC236}">
                <a16:creationId xmlns="" xmlns:a16="http://schemas.microsoft.com/office/drawing/2014/main" id="{A0FC0AFF-A6AC-404C-03F5-AED3DD1022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8015" y="2230212"/>
            <a:ext cx="7527273" cy="3585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21061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/>
              <a:t>Um modelo do TensorFlow Lite é representado em um formato aberto e eficiente conhecido como </a:t>
            </a:r>
            <a:r>
              <a:rPr lang="pt-BR" b="1" i="1" dirty="0" err="1">
                <a:solidFill>
                  <a:srgbClr val="7030A0"/>
                </a:solidFill>
              </a:rPr>
              <a:t>FlatBuffers</a:t>
            </a:r>
            <a:r>
              <a:rPr lang="pt-BR" dirty="0"/>
              <a:t>, identificado pela extensão de arquivo .</a:t>
            </a:r>
            <a:r>
              <a:rPr lang="pt-BR" dirty="0" err="1"/>
              <a:t>tflite</a:t>
            </a:r>
            <a:r>
              <a:rPr lang="pt-BR" dirty="0"/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>
                <a:effectLst/>
                <a:latin typeface="-apple-system"/>
              </a:rPr>
              <a:t>Desenvolvida pelo Google.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dirty="0">
                <a:latin typeface="-apple-system"/>
              </a:rPr>
              <a:t>É uma biblioteca de serialização </a:t>
            </a:r>
            <a:r>
              <a:rPr lang="pt-BR" dirty="0" err="1">
                <a:latin typeface="-apple-system"/>
              </a:rPr>
              <a:t>multiplataforma</a:t>
            </a:r>
            <a:r>
              <a:rPr lang="pt-BR" dirty="0">
                <a:latin typeface="-apple-system"/>
              </a:rPr>
              <a:t> eficiente para C++, C, Python, etc.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1" dirty="0"/>
              <a:t>Biblioteca que converte objetos em um formato que possa ser armazenado ou transmitido</a:t>
            </a:r>
            <a:r>
              <a:rPr lang="pt-BR" dirty="0"/>
              <a:t>.</a:t>
            </a:r>
            <a:endParaRPr lang="pt-BR" b="0" i="0" dirty="0">
              <a:effectLst/>
              <a:latin typeface="-apple-system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b="0" i="0" dirty="0" err="1">
                <a:effectLst/>
                <a:latin typeface="-apple-system"/>
              </a:rPr>
              <a:t>Flatbuffers</a:t>
            </a:r>
            <a:r>
              <a:rPr lang="pt-BR" b="0" i="0" dirty="0">
                <a:effectLst/>
                <a:latin typeface="-apple-system"/>
              </a:rPr>
              <a:t> é especialmente útil em cenários em que a velocidade e o tamanho compacto dos dados são essenciais, como jogos, aplicativos móveis e sistemas de comunicação de rede.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8820936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Lite: Geração de modelos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Use um modelo existente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consulte os exemplos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escolher um modelo existente. Os modelos podem ou não conter metadados.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2D00DCBC-E4E6-D605-D704-02B8108A92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4888" y="2937226"/>
            <a:ext cx="7303911" cy="3110135"/>
          </a:xfrm>
          <a:prstGeom prst="rect">
            <a:avLst/>
          </a:prstGeom>
        </p:spPr>
      </p:pic>
      <p:sp>
        <p:nvSpPr>
          <p:cNvPr id="5" name="Retângulo 4"/>
          <p:cNvSpPr/>
          <p:nvPr/>
        </p:nvSpPr>
        <p:spPr>
          <a:xfrm>
            <a:off x="2496207" y="6215969"/>
            <a:ext cx="69525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hlinkClick r:id="rId4"/>
              </a:rPr>
              <a:t>https://github.com/tensorflow/examples/tree/master/lite/examples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524333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76528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Crie um modelo do TensorFlow Lite: use o TensorFlow Lite Model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Maker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criar um modelo com seu próprio conjunto de dados personalizado.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Por padrão, todos os modelos contêm metadados*.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Usa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transfer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learning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reduzir a quantidade de dados de treinamento necessários e reduzir o tempo de treinamento.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3"/>
              </a:rPr>
              <a:t>https://www.tensorflow.org/lite/models/modify/model_maker?hl=pt-br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6E93292B-A3D0-990C-7B97-23D946E61168}"/>
              </a:ext>
            </a:extLst>
          </p:cNvPr>
          <p:cNvSpPr txBox="1"/>
          <p:nvPr/>
        </p:nvSpPr>
        <p:spPr>
          <a:xfrm>
            <a:off x="2755359" y="5929622"/>
            <a:ext cx="609437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/>
              <a:t>*Os metadados do modelo contêm informações gerais do modelo (autor, versão, propósito, licença), dimensões esperadas das entradas/saídas, tipo dos dados (</a:t>
            </a:r>
            <a:r>
              <a:rPr lang="pt-BR" sz="1200" dirty="0" err="1"/>
              <a:t>float</a:t>
            </a:r>
            <a:r>
              <a:rPr lang="pt-BR" sz="1200" dirty="0"/>
              <a:t>, </a:t>
            </a:r>
            <a:r>
              <a:rPr lang="pt-BR" sz="1200" dirty="0" err="1"/>
              <a:t>int</a:t>
            </a:r>
            <a:r>
              <a:rPr lang="pt-BR" sz="1200" dirty="0"/>
              <a:t>), descrição das saídas, mapeamento dos rótulos em classes, taxa de amostragem de áudio, etc. o que torna o modelo </a:t>
            </a:r>
            <a:r>
              <a:rPr lang="pt-BR" sz="1200" dirty="0" err="1"/>
              <a:t>autodescritivo</a:t>
            </a:r>
            <a:r>
              <a:rPr lang="pt-BR" sz="1200" dirty="0"/>
              <a:t> e intercambiável.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5255696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32933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É possível gerar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das seguintes maneiras: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Converta um modelo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em um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Lite: use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Converter para converter modelos. Durante a conversão, você pode aplicar otimizações como a quantização para diminuir o tamanho e a latência do modelo com pouca ou nenhuma perda na acurácia. Por padrão, nenhum dos modelos contém metadados.</a:t>
            </a:r>
          </a:p>
        </p:txBody>
      </p:sp>
      <p:pic>
        <p:nvPicPr>
          <p:cNvPr id="3074" name="Picture 2" descr="Conversor do TensorFlow Lite">
            <a:extLst>
              <a:ext uri="{FF2B5EF4-FFF2-40B4-BE49-F238E27FC236}">
                <a16:creationId xmlns="" xmlns:a16="http://schemas.microsoft.com/office/drawing/2014/main" id="{F2857146-E0AC-CAA4-F70C-A96D028762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9190" y="2857369"/>
            <a:ext cx="4034895" cy="4000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89657A0F-79B2-55C4-2A40-58802A2AFF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53325" y="3060191"/>
            <a:ext cx="1911085" cy="305048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71453205-7E82-15DA-4AA0-5C630D24D2E2}"/>
              </a:ext>
            </a:extLst>
          </p:cNvPr>
          <p:cNvSpPr txBox="1"/>
          <p:nvPr/>
        </p:nvSpPr>
        <p:spPr>
          <a:xfrm>
            <a:off x="2490281" y="4957769"/>
            <a:ext cx="189301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200" dirty="0"/>
              <a:t>Pronto para uso em Python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="" xmlns:a16="http://schemas.microsoft.com/office/drawing/2014/main" id="{762B2C35-3BA4-C4F5-32E9-89F212A2DC7A}"/>
              </a:ext>
            </a:extLst>
          </p:cNvPr>
          <p:cNvSpPr txBox="1"/>
          <p:nvPr/>
        </p:nvSpPr>
        <p:spPr>
          <a:xfrm>
            <a:off x="2593932" y="5383183"/>
            <a:ext cx="16857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sz="1200" dirty="0"/>
              <a:t>Pronto para uso em C++</a:t>
            </a:r>
          </a:p>
          <a:p>
            <a:pPr algn="ctr"/>
            <a:r>
              <a:rPr lang="pt-BR" sz="1200" dirty="0"/>
              <a:t>(</a:t>
            </a:r>
            <a:r>
              <a:rPr lang="pt-BR" sz="1200" dirty="0" err="1"/>
              <a:t>flatbuffer</a:t>
            </a:r>
            <a:r>
              <a:rPr lang="pt-BR" sz="1200" dirty="0"/>
              <a:t>)</a:t>
            </a:r>
            <a:endParaRPr lang="en-US" sz="1200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="" xmlns:a16="http://schemas.microsoft.com/office/drawing/2014/main" id="{82ACEF39-F9F7-6CF8-B88C-D9073EF5AB19}"/>
              </a:ext>
            </a:extLst>
          </p:cNvPr>
          <p:cNvCxnSpPr>
            <a:stCxn id="5" idx="3"/>
          </p:cNvCxnSpPr>
          <p:nvPr/>
        </p:nvCxnSpPr>
        <p:spPr>
          <a:xfrm flipV="1">
            <a:off x="4383300" y="5096268"/>
            <a:ext cx="344343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="" xmlns:a16="http://schemas.microsoft.com/office/drawing/2014/main" id="{E9C51E97-BFBA-B423-560F-BA994AAEDC6E}"/>
              </a:ext>
            </a:extLst>
          </p:cNvPr>
          <p:cNvCxnSpPr/>
          <p:nvPr/>
        </p:nvCxnSpPr>
        <p:spPr>
          <a:xfrm flipV="1">
            <a:off x="4371920" y="5581160"/>
            <a:ext cx="344343" cy="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937205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="" xmlns:a16="http://schemas.microsoft.com/office/drawing/2014/main" id="{582E9589-8177-29E1-55FB-2378173837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/>
          <a:stretch>
            <a:fillRect/>
          </a:stretch>
        </p:blipFill>
        <p:spPr>
          <a:xfrm>
            <a:off x="1224514" y="2142361"/>
            <a:ext cx="8855207" cy="2979678"/>
          </a:xfrm>
        </p:spPr>
      </p:pic>
      <p:sp>
        <p:nvSpPr>
          <p:cNvPr id="9" name="CaixaDeTexto 8">
            <a:extLst>
              <a:ext uri="{FF2B5EF4-FFF2-40B4-BE49-F238E27FC236}">
                <a16:creationId xmlns="" xmlns:a16="http://schemas.microsoft.com/office/drawing/2014/main" id="{3E2FA7D6-384A-F9CA-866B-DFF3096B442E}"/>
              </a:ext>
            </a:extLst>
          </p:cNvPr>
          <p:cNvSpPr txBox="1"/>
          <p:nvPr/>
        </p:nvSpPr>
        <p:spPr>
          <a:xfrm>
            <a:off x="768085" y="1267246"/>
            <a:ext cx="8855206" cy="3886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1800">
                <a:ea typeface="Calibri" panose="020F0502020204030204" pitchFamily="34" charset="0"/>
                <a:cs typeface="Arial" panose="020B0604020202020204" pitchFamily="34" charset="0"/>
              </a:rPr>
              <a:t>Quando se utiliza </a:t>
            </a:r>
            <a:r>
              <a:rPr lang="pt-BR" sz="1800" dirty="0">
                <a:ea typeface="Calibri" panose="020F0502020204030204" pitchFamily="34" charset="0"/>
                <a:cs typeface="Arial" panose="020B0604020202020204" pitchFamily="34" charset="0"/>
              </a:rPr>
              <a:t>outros frameworks é necessário converter primeiro para o TensorFlow.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2A596F07-3DD5-5330-6E2A-215F0FABF265}"/>
              </a:ext>
            </a:extLst>
          </p:cNvPr>
          <p:cNvSpPr txBox="1"/>
          <p:nvPr/>
        </p:nvSpPr>
        <p:spPr>
          <a:xfrm>
            <a:off x="2657475" y="3705225"/>
            <a:ext cx="31667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pt-BR" dirty="0"/>
              <a:t>ONNX</a:t>
            </a:r>
          </a:p>
          <a:p>
            <a:pPr algn="ctr"/>
            <a:r>
              <a:rPr lang="pt-BR" dirty="0"/>
              <a:t>Transferência manual dos pesos</a:t>
            </a:r>
            <a:endParaRPr lang="en-US" dirty="0"/>
          </a:p>
        </p:txBody>
      </p:sp>
      <p:sp>
        <p:nvSpPr>
          <p:cNvPr id="5" name="Retângulo 4"/>
          <p:cNvSpPr/>
          <p:nvPr/>
        </p:nvSpPr>
        <p:spPr>
          <a:xfrm>
            <a:off x="1814285" y="5352971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pt-BR" sz="1200" dirty="0">
                <a:solidFill>
                  <a:srgbClr val="404040"/>
                </a:solidFill>
                <a:latin typeface="DeepSeek-CJK-patch"/>
              </a:rPr>
              <a:t>O ONNX (Open Neural Network Exchange) é um formato aberto que padroniza modelos de </a:t>
            </a:r>
            <a:r>
              <a:rPr lang="pt-BR" sz="1200" i="1" dirty="0" err="1">
                <a:solidFill>
                  <a:srgbClr val="404040"/>
                </a:solidFill>
                <a:latin typeface="DeepSeek-CJK-patch"/>
              </a:rPr>
              <a:t>machine</a:t>
            </a:r>
            <a:r>
              <a:rPr lang="pt-BR" sz="1200" i="1" dirty="0">
                <a:solidFill>
                  <a:srgbClr val="404040"/>
                </a:solidFill>
                <a:latin typeface="DeepSeek-CJK-patch"/>
              </a:rPr>
              <a:t> </a:t>
            </a:r>
            <a:r>
              <a:rPr lang="pt-BR" sz="1200" i="1" dirty="0" err="1" smtClean="0">
                <a:solidFill>
                  <a:srgbClr val="404040"/>
                </a:solidFill>
                <a:latin typeface="DeepSeek-CJK-patch"/>
              </a:rPr>
              <a:t>learning</a:t>
            </a:r>
            <a:r>
              <a:rPr lang="pt-BR" sz="1200" dirty="0" smtClean="0">
                <a:solidFill>
                  <a:srgbClr val="404040"/>
                </a:solidFill>
                <a:latin typeface="DeepSeek-CJK-patch"/>
              </a:rPr>
              <a:t>, 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permitindo interoperabilidade entre frameworks como TensorFlow e </a:t>
            </a:r>
            <a:r>
              <a:rPr lang="pt-BR" sz="1200" dirty="0" err="1">
                <a:solidFill>
                  <a:srgbClr val="404040"/>
                </a:solidFill>
                <a:latin typeface="DeepSeek-CJK-patch"/>
              </a:rPr>
              <a:t>PyTorch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, sem necessidade de </a:t>
            </a:r>
            <a:r>
              <a:rPr lang="pt-BR" sz="1200" dirty="0" err="1">
                <a:solidFill>
                  <a:srgbClr val="404040"/>
                </a:solidFill>
                <a:latin typeface="DeepSeek-CJK-patch"/>
              </a:rPr>
              <a:t>reimplementação</a:t>
            </a:r>
            <a:r>
              <a:rPr lang="pt-BR" sz="1200" dirty="0">
                <a:solidFill>
                  <a:srgbClr val="404040"/>
                </a:solidFill>
                <a:latin typeface="DeepSeek-CJK-patch"/>
              </a:rPr>
              <a:t>.</a:t>
            </a:r>
            <a:endParaRPr lang="pt-BR" sz="1200" dirty="0"/>
          </a:p>
        </p:txBody>
      </p:sp>
    </p:spTree>
    <p:extLst>
      <p:ext uri="{BB962C8B-B14F-4D97-AF65-F5344CB8AC3E}">
        <p14:creationId xmlns:p14="http://schemas.microsoft.com/office/powerpoint/2010/main" val="33850919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=""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104900"/>
            <a:ext cx="9820275" cy="3934178"/>
          </a:xfrm>
        </p:spPr>
        <p:txBody>
          <a:bodyPr>
            <a:normAutofit/>
          </a:bodyPr>
          <a:lstStyle/>
          <a:p>
            <a:r>
              <a:rPr lang="pt-BR" dirty="0"/>
              <a:t>Como modelos do </a:t>
            </a:r>
            <a:r>
              <a:rPr lang="pt-BR" dirty="0" err="1"/>
              <a:t>tensorflow</a:t>
            </a:r>
            <a:r>
              <a:rPr lang="pt-BR" dirty="0"/>
              <a:t> lite rodam em dispositivos com restrições computacionais?</a:t>
            </a:r>
          </a:p>
          <a:p>
            <a:pPr lvl="1"/>
            <a:r>
              <a:rPr lang="pt-BR" dirty="0"/>
              <a:t>Operações de poda;</a:t>
            </a:r>
          </a:p>
          <a:p>
            <a:pPr lvl="1"/>
            <a:r>
              <a:rPr lang="pt-BR" dirty="0"/>
              <a:t>Operações de quantização.</a:t>
            </a:r>
          </a:p>
        </p:txBody>
      </p:sp>
    </p:spTree>
    <p:extLst>
      <p:ext uri="{BB962C8B-B14F-4D97-AF65-F5344CB8AC3E}">
        <p14:creationId xmlns:p14="http://schemas.microsoft.com/office/powerpoint/2010/main" val="232944715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=""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dirty="0"/>
              <a:t>Existem diferentes maneiras de podar uma rede neural.</a:t>
            </a:r>
          </a:p>
          <a:p>
            <a:pPr lvl="1"/>
            <a:r>
              <a:rPr lang="pt-BR" dirty="0"/>
              <a:t> (1) Você pode podar pesos. Isso é feito removendo pesos com valores absolutos próximos de zero, tornando a rede </a:t>
            </a:r>
            <a:r>
              <a:rPr lang="pt-BR" b="1" i="1" dirty="0">
                <a:solidFill>
                  <a:srgbClr val="FF0000"/>
                </a:solidFill>
              </a:rPr>
              <a:t>esparsa</a:t>
            </a:r>
            <a:r>
              <a:rPr lang="pt-BR" dirty="0"/>
              <a:t>. </a:t>
            </a:r>
          </a:p>
          <a:p>
            <a:pPr lvl="1"/>
            <a:r>
              <a:rPr lang="pt-BR" dirty="0"/>
              <a:t> (2) Você pode remover nós inteiros da rede. 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 É implementado removendo-se todos os pesos que tenham valor absoluto abaixo de um determinado limiar.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Em ambos os casos, reduz-se o número de parâmetros no modelo.</a:t>
            </a:r>
          </a:p>
        </p:txBody>
      </p:sp>
      <p:pic>
        <p:nvPicPr>
          <p:cNvPr id="4" name="Espaço Reservado para Conteúdo 12">
            <a:extLst>
              <a:ext uri="{FF2B5EF4-FFF2-40B4-BE49-F238E27FC236}">
                <a16:creationId xmlns="" xmlns:a16="http://schemas.microsoft.com/office/drawing/2014/main" id="{FD634656-5BF5-2BC4-E1C6-C77FEE17F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1299" y="4184270"/>
            <a:ext cx="6079989" cy="2557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1785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=""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258711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Em vez de apenas pesos, as ativações nos dados de treinamento podem ser usadas como critério para remoção.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Ao executar um conjunto de dados em uma rede, certas estatísticas das ativações podem ser observadas.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 Você pode observar que alguns neurônios sempre produzem valores próximos de zero.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902842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Poda de redes neurais (</a:t>
            </a:r>
            <a:r>
              <a:rPr lang="pt-BR" dirty="0" err="1"/>
              <a:t>Pruning</a:t>
            </a:r>
            <a:r>
              <a:rPr lang="pt-BR" dirty="0"/>
              <a:t>)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5" name="Espaço Reservado para Conteúdo 4">
            <a:extLst>
              <a:ext uri="{FF2B5EF4-FFF2-40B4-BE49-F238E27FC236}">
                <a16:creationId xmlns="" xmlns:a16="http://schemas.microsoft.com/office/drawing/2014/main" id="{7BA7BDF9-2959-F7FF-5D39-6C6B8E4F1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216444" cy="3934178"/>
          </a:xfrm>
        </p:spPr>
        <p:txBody>
          <a:bodyPr>
            <a:normAutofit/>
          </a:bodyPr>
          <a:lstStyle/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Se dois neurônios em uma camada tiverem pesos ou ativações muito semelhantes, isso pode significar que eles estão fazendo a mesma coisa. </a:t>
            </a:r>
          </a:p>
          <a:p>
            <a:r>
              <a:rPr lang="pt-BR" b="0" i="0" dirty="0">
                <a:solidFill>
                  <a:srgbClr val="242424"/>
                </a:solidFill>
                <a:effectLst/>
                <a:latin typeface="source-serif-pro"/>
              </a:rPr>
              <a:t>A redundância de pesos pode significar que um neurônio pode ser removido.</a:t>
            </a:r>
            <a:endParaRPr lang="pt-BR" dirty="0"/>
          </a:p>
        </p:txBody>
      </p:sp>
      <p:pic>
        <p:nvPicPr>
          <p:cNvPr id="4" name="Espaço Reservado para Conteúdo 9">
            <a:extLst>
              <a:ext uri="{FF2B5EF4-FFF2-40B4-BE49-F238E27FC236}">
                <a16:creationId xmlns="" xmlns:a16="http://schemas.microsoft.com/office/drawing/2014/main" id="{7090F274-8A04-97E4-143C-838E33ABD3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4844" y="2191685"/>
            <a:ext cx="9539111" cy="346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7682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quantização é uma otimização que funciona reduzindo a precisão dos números usados para representar os parâmetros de um modelo, que por padrão são números em ponto flutuante de 32 bits (4 bytes).</a:t>
            </a:r>
          </a:p>
        </p:txBody>
      </p:sp>
      <p:pic>
        <p:nvPicPr>
          <p:cNvPr id="9" name="Imagem 8">
            <a:extLst>
              <a:ext uri="{FF2B5EF4-FFF2-40B4-BE49-F238E27FC236}">
                <a16:creationId xmlns="" xmlns:a16="http://schemas.microsoft.com/office/drawing/2014/main" id="{1BAEEA87-F627-65F5-4E21-A51298EDC2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5604" y="2769495"/>
            <a:ext cx="3266974" cy="3021705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="" xmlns:a16="http://schemas.microsoft.com/office/drawing/2014/main" id="{E8522154-127B-CB62-B177-FCDB739B0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7600" y="2653752"/>
            <a:ext cx="2906919" cy="3137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41323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 operação de quantização não é reversível, i.e., </a:t>
            </a:r>
            <a:r>
              <a:rPr lang="pt-BR" sz="2000" b="1" i="1" dirty="0">
                <a:solidFill>
                  <a:srgbClr val="7030A0"/>
                </a:solidFill>
                <a:ea typeface="Calibri" panose="020F0502020204030204" pitchFamily="34" charset="0"/>
                <a:cs typeface="Arial" panose="020B0604020202020204" pitchFamily="34" charset="0"/>
              </a:rPr>
              <a:t>perde-se informação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Imagem Lena quantizada em 16, 8, 4 e 2 bits/pixel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0" name="Imagem 9">
            <a:extLst>
              <a:ext uri="{FF2B5EF4-FFF2-40B4-BE49-F238E27FC236}">
                <a16:creationId xmlns="" xmlns:a16="http://schemas.microsoft.com/office/drawing/2014/main" id="{44919B43-A8D0-0E72-BC89-A94FC118B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9582" y="2155856"/>
            <a:ext cx="5029636" cy="4519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78438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Quantização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de perda de precisão pela quantização.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5188D633-0B89-9550-96D0-D8140F2D4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2836" y="1748644"/>
            <a:ext cx="8687553" cy="33607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C38F561E-4030-950D-91DB-81E5C41C9421}"/>
              </a:ext>
            </a:extLst>
          </p:cNvPr>
          <p:cNvSpPr txBox="1"/>
          <p:nvPr/>
        </p:nvSpPr>
        <p:spPr>
          <a:xfrm>
            <a:off x="827111" y="2400300"/>
            <a:ext cx="228756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/>
              <a:t>Modelos usados para classificação de imagens</a:t>
            </a: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="" xmlns:a16="http://schemas.microsoft.com/office/drawing/2014/main" id="{6FC5B96F-73BD-429B-71E5-8661533D743E}"/>
              </a:ext>
            </a:extLst>
          </p:cNvPr>
          <p:cNvSpPr txBox="1"/>
          <p:nvPr/>
        </p:nvSpPr>
        <p:spPr>
          <a:xfrm>
            <a:off x="10105585" y="4448307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98 MB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="" xmlns:a16="http://schemas.microsoft.com/office/drawing/2014/main" id="{CBA6F76D-EEE4-F7C7-DB21-371215EE3178}"/>
              </a:ext>
            </a:extLst>
          </p:cNvPr>
          <p:cNvSpPr txBox="1"/>
          <p:nvPr/>
        </p:nvSpPr>
        <p:spPr>
          <a:xfrm>
            <a:off x="10105585" y="3800607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  <a:latin typeface="Montserrat" panose="00000500000000000000" pitchFamily="2" charset="0"/>
              </a:rPr>
              <a:t>14</a:t>
            </a:r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MB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="" xmlns:a16="http://schemas.microsoft.com/office/drawing/2014/main" id="{ABB5392F-2564-6355-6CE3-C581E8DD87ED}"/>
              </a:ext>
            </a:extLst>
          </p:cNvPr>
          <p:cNvSpPr txBox="1"/>
          <p:nvPr/>
        </p:nvSpPr>
        <p:spPr>
          <a:xfrm>
            <a:off x="10096060" y="3116950"/>
            <a:ext cx="119143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12529"/>
                </a:solidFill>
                <a:latin typeface="Montserrat" panose="00000500000000000000" pitchFamily="2" charset="0"/>
              </a:rPr>
              <a:t>16</a:t>
            </a:r>
            <a:r>
              <a:rPr lang="en-US" b="0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MB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="" xmlns:a16="http://schemas.microsoft.com/office/drawing/2014/main" id="{F51199C5-EBE8-B6E1-6D4C-47C8FEC021AD}"/>
              </a:ext>
            </a:extLst>
          </p:cNvPr>
          <p:cNvSpPr txBox="1"/>
          <p:nvPr/>
        </p:nvSpPr>
        <p:spPr>
          <a:xfrm>
            <a:off x="9600389" y="2178903"/>
            <a:ext cx="209195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i="0" dirty="0" err="1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Tamanho</a:t>
            </a:r>
            <a:r>
              <a:rPr lang="en-US" b="1" i="0" dirty="0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 antes da </a:t>
            </a:r>
            <a:r>
              <a:rPr lang="en-US" b="1" i="0" dirty="0" err="1">
                <a:solidFill>
                  <a:srgbClr val="212529"/>
                </a:solidFill>
                <a:effectLst/>
                <a:latin typeface="Montserrat" panose="00000500000000000000" pitchFamily="2" charset="0"/>
              </a:rPr>
              <a:t>quantização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073923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TensorFlow Lite for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Microcontrollers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(TFLM, abreviadamente) foi projetado para executar modelos de aprendizado de máquina em microcontroladores e outros dispositivos com restrições computacionais.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Ao contrário de processadores móveis de alto desempenho (como a 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Cortex-A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), os microcontroladores (série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ou ESP32) têm restrições computacionais e baixo consumo de energia e são usados em produtos como sensores, geladeira, máquinas de lavar e assim por diante.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092254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 err="1"/>
              <a:t>TensorFlow</a:t>
            </a:r>
            <a:r>
              <a:rPr lang="pt-BR" dirty="0"/>
              <a:t> Lite micro 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682247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TensorFlow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Lite para microcontroladores é escrito em C++ 11 e requer uma plataforma de 32 bits.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foi testado extensivamente em diversos processadores e microcontroladores baseados na arquitetura ARM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-M e foi portado a outras arquiteturas, incluindo ESP32, RISC-V 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Hexagon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framework também está disponível como uma biblioteca para o Arduino.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também pode gerar projetos para ambientes de desenvolvimento, como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.</a:t>
            </a:r>
          </a:p>
          <a:p>
            <a:pPr marL="762022" lvl="1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1734" dirty="0" err="1">
                <a:ea typeface="Calibri" panose="020F0502020204030204" pitchFamily="34" charset="0"/>
                <a:cs typeface="Arial" panose="020B0604020202020204" pitchFamily="34" charset="0"/>
              </a:rPr>
              <a:t>Mbed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 é uma plataforma de desenvolvimento e sistema operacional para dispositivos IoT baseados em microcontroladores ARM </a:t>
            </a:r>
            <a:r>
              <a:rPr lang="pt-BR" sz="1734" dirty="0" err="1">
                <a:ea typeface="Calibri" panose="020F0502020204030204" pitchFamily="34" charset="0"/>
                <a:cs typeface="Arial" panose="020B0604020202020204" pitchFamily="34" charset="0"/>
              </a:rPr>
              <a:t>Cortex</a:t>
            </a:r>
            <a:r>
              <a:rPr lang="pt-BR" sz="1734" dirty="0">
                <a:ea typeface="Calibri" panose="020F0502020204030204" pitchFamily="34" charset="0"/>
                <a:cs typeface="Arial" panose="020B0604020202020204" pitchFamily="34" charset="0"/>
              </a:rPr>
              <a:t>-M de 32 bits.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é de código aberto e pode ser incluído em qualquer projeto C++ 11.</a:t>
            </a:r>
          </a:p>
        </p:txBody>
      </p:sp>
    </p:spTree>
    <p:extLst>
      <p:ext uri="{BB962C8B-B14F-4D97-AF65-F5344CB8AC3E}">
        <p14:creationId xmlns:p14="http://schemas.microsoft.com/office/powerpoint/2010/main" val="8526249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="" xmlns:a16="http://schemas.microsoft.com/office/drawing/2014/main" id="{37590F3D-5B48-A87A-562A-0F137E253E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9265" y="1647990"/>
            <a:ext cx="6854114" cy="4645566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="" xmlns:a16="http://schemas.microsoft.com/office/drawing/2014/main" id="{FE8E8FCC-49C4-82CC-F70E-1666385CF89E}"/>
              </a:ext>
            </a:extLst>
          </p:cNvPr>
          <p:cNvSpPr txBox="1"/>
          <p:nvPr/>
        </p:nvSpPr>
        <p:spPr>
          <a:xfrm>
            <a:off x="2947211" y="6442397"/>
            <a:ext cx="60943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 err="1">
                <a:solidFill>
                  <a:srgbClr val="7030A0"/>
                </a:solidFill>
                <a:hlinkClick r:id="rId6"/>
              </a:rPr>
              <a:t>Hello</a:t>
            </a:r>
            <a:r>
              <a:rPr lang="pt-BR" dirty="0">
                <a:solidFill>
                  <a:srgbClr val="7030A0"/>
                </a:solidFill>
                <a:hlinkClick r:id="rId6"/>
              </a:rPr>
              <a:t> world for </a:t>
            </a:r>
            <a:r>
              <a:rPr lang="pt-BR" dirty="0" err="1">
                <a:solidFill>
                  <a:srgbClr val="7030A0"/>
                </a:solidFill>
                <a:hlinkClick r:id="rId6"/>
              </a:rPr>
              <a:t>microcontrollers</a:t>
            </a:r>
            <a:endParaRPr lang="pt-BR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34717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Importação de bibliotecas e definição das sementes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="" xmlns:a16="http://schemas.microsoft.com/office/drawing/2014/main" id="{1F89EE25-B491-63A3-3836-CC948FFC57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839" y="2185553"/>
            <a:ext cx="6134632" cy="26900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86431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9E3EF363-642C-D87E-BC2E-70601C913B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91725" y="2156145"/>
            <a:ext cx="8824725" cy="3635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577920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Geração da onda senoidal 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4098" name="Picture 2">
            <a:extLst>
              <a:ext uri="{FF2B5EF4-FFF2-40B4-BE49-F238E27FC236}">
                <a16:creationId xmlns="" xmlns:a16="http://schemas.microsoft.com/office/drawing/2014/main" id="{06DF1C46-9A68-B926-41A8-307C5C5900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99986" y="2068253"/>
            <a:ext cx="7047958" cy="43304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279265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00F98BB6-F55B-F1C7-5F9B-1DFB6063B3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2338" y="2698668"/>
            <a:ext cx="6997218" cy="2539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40468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Adição de ruído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122" name="Picture 2">
            <a:extLst>
              <a:ext uri="{FF2B5EF4-FFF2-40B4-BE49-F238E27FC236}">
                <a16:creationId xmlns="" xmlns:a16="http://schemas.microsoft.com/office/drawing/2014/main" id="{A0AAE5CF-CA9E-E0E3-D85D-263DFE582A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085430"/>
            <a:ext cx="5936094" cy="37057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709146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ABA14C0E-4E59-C74F-ABB4-621BF2E44C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585" y="3013550"/>
            <a:ext cx="9295589" cy="250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4479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Separação das amostras em treinamento, validação e teste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Train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60%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 err="1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Validation</a:t>
            </a: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 data: 20%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pt-BR" sz="1600" b="0" i="0" dirty="0">
                <a:solidFill>
                  <a:srgbClr val="212121"/>
                </a:solidFill>
                <a:effectLst/>
                <a:latin typeface="Roboto" panose="02000000000000000000" pitchFamily="2" charset="0"/>
              </a:rPr>
              <a:t>Test data: 20%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146" name="Picture 2">
            <a:extLst>
              <a:ext uri="{FF2B5EF4-FFF2-40B4-BE49-F238E27FC236}">
                <a16:creationId xmlns="" xmlns:a16="http://schemas.microsoft.com/office/drawing/2014/main" id="{7023B888-E104-91F4-07E8-6994C5329C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11" y="2485038"/>
            <a:ext cx="6034617" cy="376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604179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Modelo inicial 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88606" y="2083420"/>
            <a:ext cx="6858740" cy="1376536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8891" y="3566594"/>
            <a:ext cx="6188155" cy="520013"/>
          </a:xfrm>
          <a:prstGeom prst="rect">
            <a:avLst/>
          </a:prstGeom>
        </p:spPr>
      </p:pic>
      <p:pic>
        <p:nvPicPr>
          <p:cNvPr id="11" name="Imagem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48262" y="4193245"/>
            <a:ext cx="6424467" cy="1893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5393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Treinamento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500" y="3057072"/>
            <a:ext cx="11108999" cy="593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45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DB2B547F-A630-D1B7-2109-3DC4D19D270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25299" y="2377144"/>
            <a:ext cx="7041490" cy="3414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5046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Gráfico da métrica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para treinamento e validação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0400" y="1929190"/>
            <a:ext cx="6696527" cy="44643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39207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Cálculo do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loss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 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test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3714E700-976E-460D-4546-4CCC2EBEC1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66270" y="2695897"/>
            <a:ext cx="6340389" cy="3048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82547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7945" y="2153557"/>
            <a:ext cx="5997039" cy="3848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42612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956800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Segundo modelo com uma camada densa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extra e mais neurônios na primeira camada.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41953" y="2001837"/>
            <a:ext cx="6815047" cy="3517090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4657" y="5700231"/>
            <a:ext cx="8195389" cy="363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324557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956800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Segundo modelo com uma camada densa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extra e mais neurônios na primeira camada.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85636" y="2563018"/>
            <a:ext cx="7820728" cy="193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475423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Predição do modelo para 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teste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218" name="Picture 2">
            <a:extLst>
              <a:ext uri="{FF2B5EF4-FFF2-40B4-BE49-F238E27FC236}">
                <a16:creationId xmlns="" xmlns:a16="http://schemas.microsoft.com/office/drawing/2014/main" id="{DF431961-F6F2-0B91-AECF-CB0B091898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1625" y="2325719"/>
            <a:ext cx="6274153" cy="39560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3593492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Criação de um diretório para 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04469F54-A4BD-9ED2-8C9A-77D0C8946A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248" y="2865071"/>
            <a:ext cx="3505504" cy="1127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25558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="" xmlns:a16="http://schemas.microsoft.com/office/drawing/2014/main" id="{D09DBB8C-50CF-C342-7D26-B48E53BC3F1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67803"/>
          <a:stretch/>
        </p:blipFill>
        <p:spPr>
          <a:xfrm>
            <a:off x="2068454" y="2104596"/>
            <a:ext cx="6928790" cy="1324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04884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DCC10FC5-B23C-9696-C380-99CFC3CF0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75ADDF33-E48B-6EB9-FDED-6BAFA377E3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B3608503-E083-5795-01A0-167F030EDF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8C5487-2049-F174-D552-EA6A2D7C65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6359A22D-4B9F-AFD2-8384-9B03F48B7C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0501745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modelos: Quantização total do modelo, com exceção das entradas e saídas, para manter a interface original.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E1F5E1D1-49D2-9AEC-D986-475051968B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="" xmlns:a16="http://schemas.microsoft.com/office/drawing/2014/main" id="{86059BE0-14FC-40F2-F437-6763079BE99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31692"/>
          <a:stretch/>
        </p:blipFill>
        <p:spPr>
          <a:xfrm>
            <a:off x="2123361" y="2804160"/>
            <a:ext cx="6928790" cy="2809776"/>
          </a:xfrm>
          <a:prstGeom prst="rect">
            <a:avLst/>
          </a:prstGeom>
        </p:spPr>
      </p:pic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9084371" y="3646462"/>
            <a:ext cx="2271252" cy="112517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285660" rIns="0" bIns="14283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t-BR" altLang="pt-BR" sz="1500" b="0" i="0" u="none" strike="noStrike" cap="none" normalizeH="0" baseline="0" dirty="0" err="1" smtClean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Full</a:t>
            </a:r>
            <a:r>
              <a:rPr kumimoji="0" lang="pt-BR" altLang="pt-BR" sz="1500" b="0" i="0" u="none" strike="noStrike" cap="none" normalizeH="0" baseline="0" dirty="0" smtClean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 </a:t>
            </a:r>
            <a:r>
              <a:rPr kumimoji="0" lang="pt-BR" altLang="pt-BR" sz="1500" b="0" i="0" u="none" strike="noStrike" cap="none" normalizeH="0" baseline="0" dirty="0" err="1" smtClean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integer</a:t>
            </a:r>
            <a:r>
              <a:rPr kumimoji="0" lang="pt-BR" altLang="pt-BR" sz="1500" b="0" i="0" u="none" strike="noStrike" cap="none" normalizeH="0" baseline="0" dirty="0" smtClean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 </a:t>
            </a:r>
            <a:r>
              <a:rPr kumimoji="0" lang="pt-BR" altLang="pt-BR" sz="1500" b="0" i="0" u="none" strike="noStrike" cap="none" normalizeH="0" baseline="0" dirty="0" err="1" smtClean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quantization</a:t>
            </a:r>
            <a:r>
              <a:rPr kumimoji="0" lang="pt-BR" altLang="pt-BR" sz="1500" b="0" i="0" u="none" strike="noStrike" cap="none" normalizeH="0" baseline="0" dirty="0" smtClean="0">
                <a:ln>
                  <a:noFill/>
                </a:ln>
                <a:solidFill>
                  <a:srgbClr val="202124"/>
                </a:solidFill>
                <a:effectLst/>
                <a:latin typeface="Google Sans"/>
              </a:rPr>
              <a:t>: usa amostras para calibrar os intervalos dos tensores.</a:t>
            </a:r>
          </a:p>
        </p:txBody>
      </p:sp>
    </p:spTree>
    <p:extLst>
      <p:ext uri="{BB962C8B-B14F-4D97-AF65-F5344CB8AC3E}">
        <p14:creationId xmlns:p14="http://schemas.microsoft.com/office/powerpoint/2010/main" val="110529515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tamanhos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5" name="Imagem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0996" y="5095095"/>
            <a:ext cx="4213207" cy="1353702"/>
          </a:xfrm>
          <a:prstGeom prst="rect">
            <a:avLst/>
          </a:prstGeom>
        </p:spPr>
      </p:pic>
      <p:pic>
        <p:nvPicPr>
          <p:cNvPr id="9" name="Imagem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1396" y="2377422"/>
            <a:ext cx="6666008" cy="2509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331748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="" xmlns:a16="http://schemas.microsoft.com/office/drawing/2014/main" id="{1F3F11BC-5440-CB75-5F2E-FBBAC9055929}"/>
              </a:ext>
            </a:extLst>
          </p:cNvPr>
          <p:cNvSpPr txBox="1"/>
          <p:nvPr/>
        </p:nvSpPr>
        <p:spPr>
          <a:xfrm>
            <a:off x="4052271" y="6534834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>
                <a:hlinkClick r:id="rId4"/>
              </a:rPr>
              <a:t>https://netron.app/</a:t>
            </a:r>
            <a:endParaRPr lang="pt-BR" dirty="0"/>
          </a:p>
          <a:p>
            <a:endParaRPr lang="pt-BR" dirty="0"/>
          </a:p>
        </p:txBody>
      </p:sp>
      <p:pic>
        <p:nvPicPr>
          <p:cNvPr id="8" name="Imagem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5511" y="1003300"/>
            <a:ext cx="885825" cy="5257800"/>
          </a:xfrm>
          <a:prstGeom prst="rect">
            <a:avLst/>
          </a:prstGeom>
        </p:spPr>
      </p:pic>
      <p:pic>
        <p:nvPicPr>
          <p:cNvPr id="10" name="Imagem 9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36834" y="1019175"/>
            <a:ext cx="4400550" cy="4819650"/>
          </a:xfrm>
          <a:prstGeom prst="rect">
            <a:avLst/>
          </a:prstGeom>
        </p:spPr>
      </p:pic>
      <p:pic>
        <p:nvPicPr>
          <p:cNvPr id="11" name="Imagem 10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3483" y="1003300"/>
            <a:ext cx="1061345" cy="4822422"/>
          </a:xfrm>
          <a:prstGeom prst="rect">
            <a:avLst/>
          </a:prstGeom>
        </p:spPr>
      </p:pic>
      <p:pic>
        <p:nvPicPr>
          <p:cNvPr id="13" name="Imagem 12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10326" y="1022209"/>
            <a:ext cx="4352925" cy="4419600"/>
          </a:xfrm>
          <a:prstGeom prst="rect">
            <a:avLst/>
          </a:prstGeom>
        </p:spPr>
      </p:pic>
      <p:sp>
        <p:nvSpPr>
          <p:cNvPr id="15" name="Retângulo 14"/>
          <p:cNvSpPr/>
          <p:nvPr/>
        </p:nvSpPr>
        <p:spPr>
          <a:xfrm>
            <a:off x="8474090" y="2078182"/>
            <a:ext cx="1572177" cy="2327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Retângulo 15"/>
          <p:cNvSpPr/>
          <p:nvPr/>
        </p:nvSpPr>
        <p:spPr>
          <a:xfrm>
            <a:off x="2476339" y="2038117"/>
            <a:ext cx="1572177" cy="23275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7" name="Retângulo 16"/>
          <p:cNvSpPr/>
          <p:nvPr/>
        </p:nvSpPr>
        <p:spPr>
          <a:xfrm>
            <a:off x="6436106" y="1690419"/>
            <a:ext cx="705446" cy="4142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tângulo 17"/>
          <p:cNvSpPr/>
          <p:nvPr/>
        </p:nvSpPr>
        <p:spPr>
          <a:xfrm>
            <a:off x="6475700" y="5290002"/>
            <a:ext cx="705446" cy="41420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5275050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Conversão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Fazendo a predição para os modelos criados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="" xmlns:a16="http://schemas.microsoft.com/office/drawing/2014/main" id="{768583F4-ECF0-7B34-E22F-DF2762D32B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54544" y="2433009"/>
            <a:ext cx="6563678" cy="4241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8558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Exemplo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Hello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world seno de um ângulo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Comparação dos modelos</a:t>
            </a: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152408" indent="0" algn="just">
              <a:lnSpc>
                <a:spcPct val="107000"/>
              </a:lnSpc>
              <a:spcAft>
                <a:spcPts val="533"/>
              </a:spcAft>
              <a:buNone/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="" xmlns:a16="http://schemas.microsoft.com/office/drawing/2014/main" id="{F8826BE6-F5D4-2CCE-6892-6770A4FEE8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5331" y="1113839"/>
            <a:ext cx="1722269" cy="342930"/>
          </a:xfrm>
          <a:prstGeom prst="rect">
            <a:avLst/>
          </a:prstGeom>
        </p:spPr>
      </p:pic>
      <p:pic>
        <p:nvPicPr>
          <p:cNvPr id="10244" name="Picture 4">
            <a:extLst>
              <a:ext uri="{FF2B5EF4-FFF2-40B4-BE49-F238E27FC236}">
                <a16:creationId xmlns="" xmlns:a16="http://schemas.microsoft.com/office/drawing/2014/main" id="{9929DAC8-BF08-D1F0-2C01-AAC59ED2D3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8118" y="1886583"/>
            <a:ext cx="7105021" cy="45593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785567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é uma plataforma para desenvolver e implantar modelos de aprendizado de máquina em dispositivos de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borda. 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Ele fornece um conjunto de ferramentas e serviços que facilitam a coleta de dados, o treinamento de modelos e a implantação deles em dispositivos de borda.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Edge Impulse oferece suporte a uma ampla variedade de dispositivos de </a:t>
            </a:r>
            <a:r>
              <a:rPr lang="pt-BR" sz="2000" dirty="0" smtClean="0">
                <a:ea typeface="Calibri" panose="020F0502020204030204" pitchFamily="34" charset="0"/>
                <a:cs typeface="Arial" panose="020B0604020202020204" pitchFamily="34" charset="0"/>
              </a:rPr>
              <a:t>borda,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incluindo microcontroladores, sistemas embarcados e dispositivos móveis.</a:t>
            </a:r>
          </a:p>
        </p:txBody>
      </p:sp>
    </p:spTree>
    <p:extLst>
      <p:ext uri="{BB962C8B-B14F-4D97-AF65-F5344CB8AC3E}">
        <p14:creationId xmlns:p14="http://schemas.microsoft.com/office/powerpoint/2010/main" val="398661167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O Edge Impulse é usado por uma ampla variedade de empresas e organizações.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="" xmlns:a16="http://schemas.microsoft.com/office/drawing/2014/main" id="{8EFEC104-CE53-CF10-7F4F-B8544A118D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477" y="3232009"/>
            <a:ext cx="10673846" cy="822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920756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Espaço Reservado para Conteúdo 5">
            <a:extLst>
              <a:ext uri="{FF2B5EF4-FFF2-40B4-BE49-F238E27FC236}">
                <a16:creationId xmlns="" xmlns:a16="http://schemas.microsoft.com/office/drawing/2014/main" id="{D39E7734-B842-27FE-C995-D6BC09855E5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4800" y="1233163"/>
            <a:ext cx="9294813" cy="3997973"/>
          </a:xfrm>
        </p:spPr>
      </p:pic>
    </p:spTree>
    <p:extLst>
      <p:ext uri="{BB962C8B-B14F-4D97-AF65-F5344CB8AC3E}">
        <p14:creationId xmlns:p14="http://schemas.microsoft.com/office/powerpoint/2010/main" val="281064019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Fácil de usar: O Edge Impulse é fácil de usar, mesmo para desenvolvedores sem experiência anterior em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Abrangente: O Edge Impulse fornece um conjunto abrangente de ferramentas e serviços para desenvolver e implantar modelos de aprendizado de máquina em dispositivos de borda.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Flexível: O Edge Impulse oferece suporte a uma ampla variedade de dispositivos de borda e estruturas de aprendizado de máquina.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Escalável: O Edge Impulse pode ser usado para desenvolver e implantar modelos de aprendizado de máquina em um grande número de dispositivos de borda.</a:t>
            </a:r>
          </a:p>
        </p:txBody>
      </p:sp>
    </p:spTree>
    <p:extLst>
      <p:ext uri="{BB962C8B-B14F-4D97-AF65-F5344CB8AC3E}">
        <p14:creationId xmlns:p14="http://schemas.microsoft.com/office/powerpoint/2010/main" val="53443831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Exemplo guiado classificação do grão de café.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4"/>
              </a:rPr>
              <a:t>https://edgeimpulse.com/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: 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  <a:hlinkClick r:id="rId5"/>
              </a:rPr>
              <a:t>https://www.kaggle.com/datasets/gpiosenka/coffee-bean-dataset-resized-224-x-224</a:t>
            </a: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endParaRPr lang="pt-BR" sz="2000" dirty="0"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pic>
        <p:nvPicPr>
          <p:cNvPr id="12290" name="Picture 2" descr="Cover image">
            <a:extLst>
              <a:ext uri="{FF2B5EF4-FFF2-40B4-BE49-F238E27FC236}">
                <a16:creationId xmlns="" xmlns:a16="http://schemas.microsoft.com/office/drawing/2014/main" id="{5CBA2329-193F-1539-8967-72445A367A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8443" y="3175353"/>
            <a:ext cx="6946617" cy="34995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1524806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Tarefa aula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Escolher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kaggle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e 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</p:txBody>
      </p:sp>
    </p:spTree>
    <p:extLst>
      <p:ext uri="{BB962C8B-B14F-4D97-AF65-F5344CB8AC3E}">
        <p14:creationId xmlns:p14="http://schemas.microsoft.com/office/powerpoint/2010/main" val="298249624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="" xmlns:a16="http://schemas.microsoft.com/office/drawing/2014/main" id="{5F09B89C-3183-4D52-981A-62798DDFF2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183092"/>
            <a:ext cx="6559285" cy="762000"/>
          </a:xfrm>
        </p:spPr>
        <p:txBody>
          <a:bodyPr>
            <a:normAutofit/>
          </a:bodyPr>
          <a:lstStyle/>
          <a:p>
            <a:r>
              <a:rPr lang="pt-BR" dirty="0"/>
              <a:t>Edge Impulse</a:t>
            </a:r>
          </a:p>
        </p:txBody>
      </p:sp>
      <p:sp>
        <p:nvSpPr>
          <p:cNvPr id="3" name="AutoShape 2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0166B4DD-D72A-4A54-94A7-2C38133837F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94400" y="33274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AutoShape 4" descr="An example of graph signal reconstruction over wireless sensor network. |  Download Scientific Diagram">
            <a:extLst>
              <a:ext uri="{FF2B5EF4-FFF2-40B4-BE49-F238E27FC236}">
                <a16:creationId xmlns="" xmlns:a16="http://schemas.microsoft.com/office/drawing/2014/main" id="{14C2B67D-81A1-457E-A410-FE4350A3CC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203200" cy="20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60960" tIns="30480" rIns="60960" bIns="30480" numCol="1" anchor="t" anchorCtr="0" compatLnSpc="1">
            <a:prstTxWarp prst="textNoShape">
              <a:avLst/>
            </a:prstTxWarp>
          </a:bodyPr>
          <a:lstStyle/>
          <a:p>
            <a:pPr defTabSz="609630"/>
            <a:endParaRPr lang="pt-BR" sz="120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="" xmlns:a16="http://schemas.microsoft.com/office/drawing/2014/main" id="{0349BA64-C9D7-4730-9CA9-5C4AD9FC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9295589" cy="4330419"/>
          </a:xfrm>
        </p:spPr>
        <p:txBody>
          <a:bodyPr>
            <a:noAutofit/>
          </a:bodyPr>
          <a:lstStyle/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Trabalho </a:t>
            </a:r>
          </a:p>
          <a:p>
            <a:pPr marL="495308" indent="-342900" algn="just">
              <a:lnSpc>
                <a:spcPct val="107000"/>
              </a:lnSpc>
              <a:spcAft>
                <a:spcPts val="533"/>
              </a:spcAft>
            </a:pP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Criar um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dataset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de imagens com o celular e fazer um treinamento no </a:t>
            </a:r>
            <a:r>
              <a:rPr lang="pt-BR" sz="2000" dirty="0" err="1">
                <a:ea typeface="Calibri" panose="020F0502020204030204" pitchFamily="34" charset="0"/>
                <a:cs typeface="Arial" panose="020B0604020202020204" pitchFamily="34" charset="0"/>
              </a:rPr>
              <a:t>edge</a:t>
            </a:r>
            <a:r>
              <a:rPr lang="pt-BR" sz="2000" dirty="0">
                <a:ea typeface="Calibri" panose="020F0502020204030204" pitchFamily="34" charset="0"/>
                <a:cs typeface="Arial" panose="020B0604020202020204" pitchFamily="34" charset="0"/>
              </a:rPr>
              <a:t> impulse</a:t>
            </a:r>
          </a:p>
        </p:txBody>
      </p:sp>
    </p:spTree>
    <p:extLst>
      <p:ext uri="{BB962C8B-B14F-4D97-AF65-F5344CB8AC3E}">
        <p14:creationId xmlns:p14="http://schemas.microsoft.com/office/powerpoint/2010/main" val="101736654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o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emplate Pós Modelo 1" id="{1890BCC5-262A-4203-9447-FAC66B7F6DAC}" vid="{D23E53B5-32D4-4E89-8BD3-27CFCC7177E3}"/>
    </a:ext>
  </a:extLst>
</a:theme>
</file>

<file path=ppt/theme/theme3.xml><?xml version="1.0" encoding="utf-8"?>
<a:theme xmlns:a="http://schemas.openxmlformats.org/drawingml/2006/main" name="2_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15985</TotalTime>
  <Words>2276</Words>
  <Application>Microsoft Office PowerPoint</Application>
  <PresentationFormat>Widescreen</PresentationFormat>
  <Paragraphs>323</Paragraphs>
  <Slides>71</Slides>
  <Notes>27</Notes>
  <HiddenSlides>0</HiddenSlides>
  <MMClips>0</MMClips>
  <ScaleCrop>false</ScaleCrop>
  <HeadingPairs>
    <vt:vector size="6" baseType="variant">
      <vt:variant>
        <vt:lpstr>Fontes usadas</vt:lpstr>
      </vt:variant>
      <vt:variant>
        <vt:i4>11</vt:i4>
      </vt:variant>
      <vt:variant>
        <vt:lpstr>Tema</vt:lpstr>
      </vt:variant>
      <vt:variant>
        <vt:i4>3</vt:i4>
      </vt:variant>
      <vt:variant>
        <vt:lpstr>Títulos de slides</vt:lpstr>
      </vt:variant>
      <vt:variant>
        <vt:i4>71</vt:i4>
      </vt:variant>
    </vt:vector>
  </HeadingPairs>
  <TitlesOfParts>
    <vt:vector size="85" baseType="lpstr">
      <vt:lpstr>-apple-system</vt:lpstr>
      <vt:lpstr>Arial</vt:lpstr>
      <vt:lpstr>Calibri</vt:lpstr>
      <vt:lpstr>Calibri Light</vt:lpstr>
      <vt:lpstr>DeepSeek-CJK-patch</vt:lpstr>
      <vt:lpstr>Google Sans</vt:lpstr>
      <vt:lpstr>Menlo</vt:lpstr>
      <vt:lpstr>Montserrat</vt:lpstr>
      <vt:lpstr>Roboto</vt:lpstr>
      <vt:lpstr>source-serif-pro</vt:lpstr>
      <vt:lpstr>Times New Roman</vt:lpstr>
      <vt:lpstr>Tema do Office</vt:lpstr>
      <vt:lpstr>1_Tema do Office</vt:lpstr>
      <vt:lpstr>2_Tema do Office</vt:lpstr>
      <vt:lpstr>TP557 - Tópicos avançados em IoT e Machine Learning: TensorFlow Lite</vt:lpstr>
      <vt:lpstr>Samuel Baraldi Mafra</vt:lpstr>
      <vt:lpstr>Samuel Baraldi Mafra</vt:lpstr>
      <vt:lpstr>TinyML</vt:lpstr>
      <vt:lpstr>Processamento na borda com dispositivos embarcados</vt:lpstr>
      <vt:lpstr>Processamento na borda com dispositivos embarcados</vt:lpstr>
      <vt:lpstr>Processamento tradicional</vt:lpstr>
      <vt:lpstr>Processamento na borda com dispositivos embarcados</vt:lpstr>
      <vt:lpstr>Processamento na borda com dispositivos embarcados</vt:lpstr>
      <vt:lpstr>Processamento na borda com dispositivos embarcados</vt:lpstr>
      <vt:lpstr>Processamento na borda com dispositivos embarcados</vt:lpstr>
      <vt:lpstr> </vt:lpstr>
      <vt:lpstr>Conteúdo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 </vt:lpstr>
      <vt:lpstr>TensorFlow Lite: Geração de modelos </vt:lpstr>
      <vt:lpstr>TensorFlow Lite </vt:lpstr>
      <vt:lpstr>TensorFlow Lite </vt:lpstr>
      <vt:lpstr>TensorFlow Lite </vt:lpstr>
      <vt:lpstr>TensorFlow Lite</vt:lpstr>
      <vt:lpstr>Poda de redes neurais (Pruning)</vt:lpstr>
      <vt:lpstr>Poda de redes neurais (Pruning)</vt:lpstr>
      <vt:lpstr>Poda de redes neurais (Pruning)</vt:lpstr>
      <vt:lpstr>Quantização</vt:lpstr>
      <vt:lpstr>Quantização</vt:lpstr>
      <vt:lpstr>Quantização</vt:lpstr>
      <vt:lpstr>TensorFlow Lite micro </vt:lpstr>
      <vt:lpstr>TensorFlow Lite micro 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Exemplo</vt:lpstr>
      <vt:lpstr>Edge Impulse</vt:lpstr>
      <vt:lpstr>Edge Impulse</vt:lpstr>
      <vt:lpstr>Edge Impulse</vt:lpstr>
      <vt:lpstr>Edge Impulse</vt:lpstr>
      <vt:lpstr>Edge Impulse</vt:lpstr>
      <vt:lpstr>Edge Impulse</vt:lpstr>
      <vt:lpstr>Edge Impulse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2415</cp:revision>
  <dcterms:created xsi:type="dcterms:W3CDTF">2020-01-20T13:50:05Z</dcterms:created>
  <dcterms:modified xsi:type="dcterms:W3CDTF">2025-04-18T22:00:28Z</dcterms:modified>
</cp:coreProperties>
</file>