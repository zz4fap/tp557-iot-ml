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5"/>
  </p:notesMasterIdLst>
  <p:handoutMasterIdLst>
    <p:handoutMasterId r:id="rId76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86" r:id="rId59"/>
    <p:sldId id="571" r:id="rId60"/>
    <p:sldId id="572" r:id="rId61"/>
    <p:sldId id="574" r:id="rId62"/>
    <p:sldId id="585" r:id="rId63"/>
    <p:sldId id="575" r:id="rId64"/>
    <p:sldId id="578" r:id="rId65"/>
    <p:sldId id="577" r:id="rId66"/>
    <p:sldId id="576" r:id="rId67"/>
    <p:sldId id="551" r:id="rId68"/>
    <p:sldId id="529" r:id="rId69"/>
    <p:sldId id="527" r:id="rId70"/>
    <p:sldId id="530" r:id="rId71"/>
    <p:sldId id="582" r:id="rId72"/>
    <p:sldId id="583" r:id="rId73"/>
    <p:sldId id="584" r:id="rId7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79636" autoAdjust="0"/>
  </p:normalViewPr>
  <p:slideViewPr>
    <p:cSldViewPr snapToGrid="0">
      <p:cViewPr varScale="1">
        <p:scale>
          <a:sx n="58" d="100"/>
          <a:sy n="58" d="100"/>
        </p:scale>
        <p:origin x="1440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76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74" Type="http://schemas.openxmlformats.org/officeDocument/2006/relationships/slide" Target="slides/slide71.xml"/><Relationship Id="rId79" Type="http://schemas.openxmlformats.org/officeDocument/2006/relationships/theme" Target="theme/theme1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presProps" Target="pres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18/04/2025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api_docs/python/tf/Graph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https://ai.google.dev/edge/litert/models/convert_tf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Padrão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do TensorFlow):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Armazena o modelo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completamente serializado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, incluindo arquitetura, pesos, otimizadores e metadados.</a:t>
            </a:r>
          </a:p>
          <a:p>
            <a:pPr algn="l">
              <a:spcBef>
                <a:spcPts val="1372"/>
              </a:spcBef>
              <a:spcAft>
                <a:spcPts val="1029"/>
              </a:spcAft>
              <a:buNone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Extensão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Pasta com arquivos .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pb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protocol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buffer) + diretório 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variables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/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HDF5 (.h5 ou .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)</a:t>
            </a:r>
            <a:endParaRPr lang="pt-BR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Descrição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Formato herdado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(ainda amplamente usado). Salva o modelo em um único arquivo, mas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pode não incluir metadados ou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custom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layers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 </a:t>
            </a:r>
            <a:r>
              <a:rPr lang="en-US" b="1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ConcreteFunction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 can be thought of as a wrapper around a </a:t>
            </a:r>
            <a:r>
              <a:rPr lang="en-US" b="1" i="0" dirty="0" err="1">
                <a:solidFill>
                  <a:srgbClr val="1A73E8"/>
                </a:solidFill>
                <a:effectLst/>
                <a:latin typeface="Roboto" panose="02000000000000000000" pitchFamily="2" charset="0"/>
                <a:hlinkClick r:id="rId3"/>
              </a:rPr>
              <a:t>tf.Graph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5260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(Open Neural Network Exchange) é um formato aberto e padronizado para representar modelos de </a:t>
            </a:r>
            <a:r>
              <a:rPr lang="pt-BR" sz="1200" b="0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</a:t>
            </a:r>
            <a:r>
              <a:rPr lang="pt-BR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(ML) e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Desenvolvido por empresas como Microsoft,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(Meta) e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seu objetivo principal é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facilitar a interoperabilidade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entre diferentes frameworks de ML (como TensorFlow,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scikit-learn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etc.), permitindo que modelos sejam treinados em um framework e usados em outro sem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reimplementação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61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https://www.kaggle.com/code/ashusma/understanding-tf-lite-and-model-optimization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38853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6AF0E9C-7771-CB58-FC65-ACE0A479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E68C8716-8DEE-2D37-3468-792CD29DF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B3A64F34-6657-3369-44E5-4F518D008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Referencia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: https://ai.google.dev/edge/litert/models/post_training_quantization</a:t>
            </a:r>
          </a:p>
          <a:p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/>
            </a:r>
            <a:br>
              <a:rPr lang="en-US" b="0" i="0" dirty="0">
                <a:solidFill>
                  <a:srgbClr val="404040"/>
                </a:solidFill>
                <a:effectLst/>
                <a:latin typeface="Menlo"/>
              </a:rPr>
            </a:br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Essa função é usada durante a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conversão de um modelo TensorFlow para TensorFlow 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com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quantização pós-treinamento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(post-training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quantization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). Ela fornece exemplos de dados de entrada para que o conversor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98B58186-6517-20F2-EF9E-54119A8D0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97749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</a:t>
            </a:r>
            <a:r>
              <a:rPr lang="pt-BR" dirty="0" smtClean="0"/>
              <a:t>do Samuel</a:t>
            </a:r>
            <a:r>
              <a:rPr lang="pt-BR" dirty="0"/>
              <a:t>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l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=""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=""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=""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=""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=""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=""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=""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/example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6.png"/><Relationship Id="rId4" Type="http://schemas.openxmlformats.org/officeDocument/2006/relationships/image" Target="../media/image3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3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7.jp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hyperlink" Target="https://netron.app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3.png"/><Relationship Id="rId4" Type="http://schemas.openxmlformats.org/officeDocument/2006/relationships/image" Target="../media/image3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4.png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7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universe.roboflow.com/" TargetMode="External"/><Relationship Id="rId4" Type="http://schemas.openxmlformats.org/officeDocument/2006/relationships/hyperlink" Target="https://www.kaggle.com/datasets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=""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=""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=""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=""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=""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=""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=""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=""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=""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r>
              <a:rPr lang="pt-BR" dirty="0"/>
              <a:t>Baixo consumo de energia;</a:t>
            </a:r>
          </a:p>
          <a:p>
            <a:r>
              <a:rPr lang="pt-BR" dirty="0"/>
              <a:t>Baixo poder computacional;</a:t>
            </a:r>
          </a:p>
          <a:p>
            <a:r>
              <a:rPr lang="pt-BR" dirty="0"/>
              <a:t>Baixo custo.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=""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0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=""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=""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=""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=""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=""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=""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=""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684173" y="5211729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TensorFlow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Lite é um conjunto de ferramentas para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machine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learning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IoT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=""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3027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é uma biblioteca de aprendizado de máquina geral que pode ser usada para treinar e implantar modelos de aprendizado de máquina em uma variedade de plataformas, incluindo computadores, dispositivos móveis e dispositivos incorporados.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Lite é uma versão reduzida do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que é otimizada para desempenho e eficiência em dispositivos móveis e incorporados.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=""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29000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d menor tamanho (tamanho reduzido do modelo e do binário)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incorporado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=""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=""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=""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=""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="" xmlns:a16="http://schemas.microsoft.com/office/drawing/2014/main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criar modelos que identifiquem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=""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=""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formato aberto e eficiente 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>
                <a:latin typeface="-apple-system"/>
              </a:rPr>
              <a:t>É uma biblioteca de serialização </a:t>
            </a:r>
            <a:r>
              <a:rPr lang="pt-BR" dirty="0" err="1">
                <a:latin typeface="-apple-system"/>
              </a:rPr>
              <a:t>multiplataforma</a:t>
            </a:r>
            <a:r>
              <a:rPr lang="pt-BR" dirty="0">
                <a:latin typeface="-apple-system"/>
              </a:rPr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  <a:latin typeface="-apple-system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https://github.com/tensorflow/examples/tree/master/lite/examples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76528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TensorFlow Lite: use o TensorFlow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metadados*.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 de treinamento necessários e reduzir o tempo de treinamento.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6E93292B-A3D0-990C-7B97-23D946E61168}"/>
              </a:ext>
            </a:extLst>
          </p:cNvPr>
          <p:cNvSpPr txBox="1"/>
          <p:nvPr/>
        </p:nvSpPr>
        <p:spPr>
          <a:xfrm>
            <a:off x="2755359" y="5929622"/>
            <a:ext cx="60943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metadados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=""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71453205-7E82-15DA-4AA0-5C630D24D2E2}"/>
              </a:ext>
            </a:extLst>
          </p:cNvPr>
          <p:cNvSpPr txBox="1"/>
          <p:nvPr/>
        </p:nvSpPr>
        <p:spPr>
          <a:xfrm>
            <a:off x="2490281" y="4957769"/>
            <a:ext cx="1893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Pronto para uso em Python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762B2C35-3BA4-C4F5-32E9-89F212A2DC7A}"/>
              </a:ext>
            </a:extLst>
          </p:cNvPr>
          <p:cNvSpPr txBox="1"/>
          <p:nvPr/>
        </p:nvSpPr>
        <p:spPr>
          <a:xfrm>
            <a:off x="2593932" y="5383183"/>
            <a:ext cx="1685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00" dirty="0"/>
              <a:t>Pronto para uso em C++</a:t>
            </a:r>
          </a:p>
          <a:p>
            <a:pPr algn="ctr"/>
            <a:r>
              <a:rPr lang="pt-BR" sz="1200" dirty="0"/>
              <a:t>(</a:t>
            </a:r>
            <a:r>
              <a:rPr lang="pt-BR" sz="1200" dirty="0" err="1"/>
              <a:t>flatbuffer</a:t>
            </a:r>
            <a:r>
              <a:rPr lang="pt-BR" sz="1200" dirty="0"/>
              <a:t>)</a:t>
            </a:r>
            <a:endParaRPr lang="en-US" sz="12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="" xmlns:a16="http://schemas.microsoft.com/office/drawing/2014/main" id="{82ACEF39-F9F7-6CF8-B88C-D9073EF5AB19}"/>
              </a:ext>
            </a:extLst>
          </p:cNvPr>
          <p:cNvCxnSpPr>
            <a:stCxn id="5" idx="3"/>
          </p:cNvCxnSpPr>
          <p:nvPr/>
        </p:nvCxnSpPr>
        <p:spPr>
          <a:xfrm flipV="1">
            <a:off x="4383300" y="5096268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="" xmlns:a16="http://schemas.microsoft.com/office/drawing/2014/main" id="{E9C51E97-BFBA-B423-560F-BA994AAEDC6E}"/>
              </a:ext>
            </a:extLst>
          </p:cNvPr>
          <p:cNvCxnSpPr/>
          <p:nvPr/>
        </p:nvCxnSpPr>
        <p:spPr>
          <a:xfrm flipV="1">
            <a:off x="4371920" y="5581160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=""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=""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  <p:sp>
        <p:nvSpPr>
          <p:cNvPr id="5" name="Retângulo 4"/>
          <p:cNvSpPr/>
          <p:nvPr/>
        </p:nvSpPr>
        <p:spPr>
          <a:xfrm>
            <a:off x="1814285" y="535297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DeepSeek-CJK-patch"/>
              </a:rPr>
              <a:t>O ONNX (Open Neural Network Exchange) é um formato aberto que padroniza modelos de 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machine</a:t>
            </a:r>
            <a:r>
              <a:rPr lang="pt-BR" sz="1200" i="1" dirty="0">
                <a:solidFill>
                  <a:srgbClr val="404040"/>
                </a:solidFill>
                <a:latin typeface="DeepSeek-CJK-patch"/>
              </a:rPr>
              <a:t> </a:t>
            </a:r>
            <a:r>
              <a:rPr lang="pt-BR" sz="1200" i="1" dirty="0" err="1" smtClean="0">
                <a:solidFill>
                  <a:srgbClr val="404040"/>
                </a:solidFill>
                <a:latin typeface="DeepSeek-CJK-patch"/>
              </a:rPr>
              <a:t>learning</a:t>
            </a:r>
            <a:r>
              <a:rPr lang="pt-BR" sz="1200" dirty="0" smtClean="0">
                <a:solidFill>
                  <a:srgbClr val="404040"/>
                </a:solidFill>
                <a:latin typeface="DeepSeek-CJK-patch"/>
              </a:rPr>
              <a:t>, 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permitindo interoperabilidade entre frameworks como TensorFlow 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PyTorch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sem necessidade de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reimplementação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=""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=""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valores absolutos próximos de zero,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É implementado removendo-se todos os pesos que tenham valor absoluto abaixo de um determinado limiar.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Em ambos os casos, reduz-se o número de parâmetros no modelo.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="" xmlns:a16="http://schemas.microsoft.com/office/drawing/2014/main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=""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=""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camada tiverem pesos ou ativações muito semelhantes,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 redundância de pesos pode significar que um neurônio pode ser removido.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=""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=""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bits/pixel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=""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restrições computacionais.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geladeira, máquinas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biblioteca para o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plataforma de desenvolvimento e sistema operacional 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=""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=""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=""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8606" y="2083420"/>
            <a:ext cx="6858740" cy="1376536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8891" y="3566594"/>
            <a:ext cx="6188155" cy="520013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8262" y="4193245"/>
            <a:ext cx="6424467" cy="189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00" y="3057072"/>
            <a:ext cx="11108999" cy="59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400" y="1929190"/>
            <a:ext cx="6696527" cy="446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945" y="2153557"/>
            <a:ext cx="5997039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extra e mais neurônios na primeira camada.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1953" y="2001837"/>
            <a:ext cx="6815047" cy="3517090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57" y="5700231"/>
            <a:ext cx="8195389" cy="36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extra e mais neurônios na primeira camada.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636" y="2563018"/>
            <a:ext cx="7820728" cy="193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754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=""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7803"/>
          <a:stretch/>
        </p:blipFill>
        <p:spPr>
          <a:xfrm>
            <a:off x="2068454" y="2104596"/>
            <a:ext cx="6928790" cy="132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CC10FC5-B23C-9696-C380-99CFC3CF0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5ADDF33-E48B-6EB9-FDED-6BAFA377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B3608503-E083-5795-01A0-167F030EDF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8C5487-2049-F174-D552-EA6A2D7C65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6359A22D-4B9F-AFD2-8384-9B03F48B7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501745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modelos: Quantização total do modelo, com exceção das entradas e saídas, para manter a interface original.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E1F5E1D1-49D2-9AEC-D986-475051968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86059BE0-14FC-40F2-F437-6763079BE99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1692"/>
          <a:stretch/>
        </p:blipFill>
        <p:spPr>
          <a:xfrm>
            <a:off x="2123361" y="2804160"/>
            <a:ext cx="6928790" cy="280977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9084371" y="3646462"/>
            <a:ext cx="2271252" cy="1125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5660" rIns="0" bIns="14283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Full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integer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quantization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: usa amostras para calibrar os intervalos dos tensores.</a:t>
            </a:r>
          </a:p>
        </p:txBody>
      </p:sp>
    </p:spTree>
    <p:extLst>
      <p:ext uri="{BB962C8B-B14F-4D97-AF65-F5344CB8AC3E}">
        <p14:creationId xmlns:p14="http://schemas.microsoft.com/office/powerpoint/2010/main" val="11052951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996" y="5095095"/>
            <a:ext cx="4213207" cy="1353702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1396" y="2377422"/>
            <a:ext cx="6666008" cy="250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=""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4052271" y="653483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511" y="1003300"/>
            <a:ext cx="885825" cy="525780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6834" y="1019175"/>
            <a:ext cx="4400550" cy="481965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83" y="1003300"/>
            <a:ext cx="1061345" cy="4822422"/>
          </a:xfrm>
          <a:prstGeom prst="rect">
            <a:avLst/>
          </a:prstGeom>
        </p:spPr>
      </p:pic>
      <p:pic>
        <p:nvPicPr>
          <p:cNvPr id="13" name="Imagem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0326" y="1022209"/>
            <a:ext cx="4352925" cy="4419600"/>
          </a:xfrm>
          <a:prstGeom prst="rect">
            <a:avLst/>
          </a:prstGeom>
        </p:spPr>
      </p:pic>
      <p:sp>
        <p:nvSpPr>
          <p:cNvPr id="15" name="Retângulo 14"/>
          <p:cNvSpPr/>
          <p:nvPr/>
        </p:nvSpPr>
        <p:spPr>
          <a:xfrm>
            <a:off x="8474090" y="2078182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2476339" y="2038117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 16"/>
          <p:cNvSpPr/>
          <p:nvPr/>
        </p:nvSpPr>
        <p:spPr>
          <a:xfrm>
            <a:off x="6436106" y="1690419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/>
          <p:cNvSpPr/>
          <p:nvPr/>
        </p:nvSpPr>
        <p:spPr>
          <a:xfrm>
            <a:off x="6475700" y="5290002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=""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borda. 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borda,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=""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63474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guiado: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de grãos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=""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durante a aula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ou </a:t>
            </a:r>
            <a:r>
              <a:rPr lang="pt-BR" sz="2000" dirty="0" err="1" smtClean="0">
                <a:ea typeface="Calibri" panose="020F0502020204030204" pitchFamily="34" charset="0"/>
                <a:cs typeface="Arial" panose="020B0604020202020204" pitchFamily="34" charset="0"/>
              </a:rPr>
              <a:t>roboflow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 e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impulse.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</a:t>
            </a: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www.kaggle.com/datasets</a:t>
            </a:r>
            <a:endParaRPr lang="pt-BR" sz="1734" dirty="0" smtClean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https://universe.roboflow.com</a:t>
            </a:r>
            <a:r>
              <a:rPr lang="pt-BR" sz="1734" dirty="0" smtClean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/</a:t>
            </a:r>
            <a:endParaRPr lang="pt-BR" sz="1734" dirty="0" smtClean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19122" lvl="1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para casa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impulse.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16059</TotalTime>
  <Words>2293</Words>
  <Application>Microsoft Office PowerPoint</Application>
  <PresentationFormat>Widescreen</PresentationFormat>
  <Paragraphs>325</Paragraphs>
  <Slides>71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11</vt:i4>
      </vt:variant>
      <vt:variant>
        <vt:lpstr>Tema</vt:lpstr>
      </vt:variant>
      <vt:variant>
        <vt:i4>3</vt:i4>
      </vt:variant>
      <vt:variant>
        <vt:lpstr>Títulos de slides</vt:lpstr>
      </vt:variant>
      <vt:variant>
        <vt:i4>71</vt:i4>
      </vt:variant>
    </vt:vector>
  </HeadingPairs>
  <TitlesOfParts>
    <vt:vector size="85" baseType="lpstr">
      <vt:lpstr>-apple-system</vt:lpstr>
      <vt:lpstr>Arial</vt:lpstr>
      <vt:lpstr>Calibri</vt:lpstr>
      <vt:lpstr>Calibri Light</vt:lpstr>
      <vt:lpstr>DeepSeek-CJK-patch</vt:lpstr>
      <vt:lpstr>Google Sans</vt:lpstr>
      <vt:lpstr>Menlo</vt:lpstr>
      <vt:lpstr>Montserrat</vt:lpstr>
      <vt:lpstr>Roboto</vt:lpstr>
      <vt:lpstr>source-serif-pro</vt:lpstr>
      <vt:lpstr>Times New Roman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2418</cp:revision>
  <dcterms:created xsi:type="dcterms:W3CDTF">2020-01-20T13:50:05Z</dcterms:created>
  <dcterms:modified xsi:type="dcterms:W3CDTF">2025-04-19T02:18:45Z</dcterms:modified>
</cp:coreProperties>
</file>