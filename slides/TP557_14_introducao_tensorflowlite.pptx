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77"/>
  </p:notesMasterIdLst>
  <p:handoutMasterIdLst>
    <p:handoutMasterId r:id="rId78"/>
  </p:handoutMasterIdLst>
  <p:sldIdLst>
    <p:sldId id="256" r:id="rId4"/>
    <p:sldId id="298" r:id="rId5"/>
    <p:sldId id="390" r:id="rId6"/>
    <p:sldId id="545" r:id="rId7"/>
    <p:sldId id="554" r:id="rId8"/>
    <p:sldId id="553" r:id="rId9"/>
    <p:sldId id="580" r:id="rId10"/>
    <p:sldId id="546" r:id="rId11"/>
    <p:sldId id="547" r:id="rId12"/>
    <p:sldId id="549" r:id="rId13"/>
    <p:sldId id="550" r:id="rId14"/>
    <p:sldId id="531" r:id="rId15"/>
    <p:sldId id="509" r:id="rId16"/>
    <p:sldId id="510" r:id="rId17"/>
    <p:sldId id="521" r:id="rId18"/>
    <p:sldId id="511" r:id="rId19"/>
    <p:sldId id="512" r:id="rId20"/>
    <p:sldId id="522" r:id="rId21"/>
    <p:sldId id="523" r:id="rId22"/>
    <p:sldId id="524" r:id="rId23"/>
    <p:sldId id="525" r:id="rId24"/>
    <p:sldId id="516" r:id="rId25"/>
    <p:sldId id="517" r:id="rId26"/>
    <p:sldId id="518" r:id="rId27"/>
    <p:sldId id="519" r:id="rId28"/>
    <p:sldId id="520" r:id="rId29"/>
    <p:sldId id="544" r:id="rId30"/>
    <p:sldId id="542" r:id="rId31"/>
    <p:sldId id="541" r:id="rId32"/>
    <p:sldId id="543" r:id="rId33"/>
    <p:sldId id="555" r:id="rId34"/>
    <p:sldId id="537" r:id="rId35"/>
    <p:sldId id="581" r:id="rId36"/>
    <p:sldId id="532" r:id="rId37"/>
    <p:sldId id="538" r:id="rId38"/>
    <p:sldId id="539" r:id="rId39"/>
    <p:sldId id="535" r:id="rId40"/>
    <p:sldId id="533" r:id="rId41"/>
    <p:sldId id="534" r:id="rId42"/>
    <p:sldId id="526" r:id="rId43"/>
    <p:sldId id="528" r:id="rId44"/>
    <p:sldId id="556" r:id="rId45"/>
    <p:sldId id="557" r:id="rId46"/>
    <p:sldId id="558" r:id="rId47"/>
    <p:sldId id="559" r:id="rId48"/>
    <p:sldId id="560" r:id="rId49"/>
    <p:sldId id="561" r:id="rId50"/>
    <p:sldId id="562" r:id="rId51"/>
    <p:sldId id="563" r:id="rId52"/>
    <p:sldId id="564" r:id="rId53"/>
    <p:sldId id="565" r:id="rId54"/>
    <p:sldId id="566" r:id="rId55"/>
    <p:sldId id="567" r:id="rId56"/>
    <p:sldId id="568" r:id="rId57"/>
    <p:sldId id="569" r:id="rId58"/>
    <p:sldId id="570" r:id="rId59"/>
    <p:sldId id="571" r:id="rId60"/>
    <p:sldId id="572" r:id="rId61"/>
    <p:sldId id="573" r:id="rId62"/>
    <p:sldId id="574" r:id="rId63"/>
    <p:sldId id="575" r:id="rId64"/>
    <p:sldId id="578" r:id="rId65"/>
    <p:sldId id="579" r:id="rId66"/>
    <p:sldId id="577" r:id="rId67"/>
    <p:sldId id="576" r:id="rId68"/>
    <p:sldId id="527" r:id="rId69"/>
    <p:sldId id="552" r:id="rId70"/>
    <p:sldId id="551" r:id="rId71"/>
    <p:sldId id="529" r:id="rId72"/>
    <p:sldId id="530" r:id="rId73"/>
    <p:sldId id="582" r:id="rId74"/>
    <p:sldId id="583" r:id="rId75"/>
    <p:sldId id="584" r:id="rId76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82567" autoAdjust="0"/>
  </p:normalViewPr>
  <p:slideViewPr>
    <p:cSldViewPr snapToGrid="0">
      <p:cViewPr varScale="1">
        <p:scale>
          <a:sx n="61" d="100"/>
          <a:sy n="61" d="100"/>
        </p:scale>
        <p:origin x="1332" y="7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presProps" Target="pres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82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14/04/2025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Ops</a:t>
            </a:r>
            <a:r>
              <a:rPr lang="pt-BR" dirty="0"/>
              <a:t> de operações. Tensorflow lite e micro suportam uma quantidade muito menor de operações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1390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Pegada de memória (</a:t>
            </a:r>
            <a:r>
              <a:rPr lang="pt-BR" dirty="0" err="1"/>
              <a:t>memory</a:t>
            </a:r>
            <a:r>
              <a:rPr lang="pt-BR" dirty="0"/>
              <a:t> </a:t>
            </a:r>
            <a:r>
              <a:rPr lang="pt-BR" dirty="0" err="1"/>
              <a:t>footprint</a:t>
            </a:r>
            <a:r>
              <a:rPr lang="pt-BR" dirty="0"/>
              <a:t>) refere-se à quantidade total de memória RAM que um programa ou sistema utiliza durante sua execução.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64877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0951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9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52212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60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77204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91389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39432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4338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8429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484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00065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1731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357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7359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22847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46306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0569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0375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366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73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2298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7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5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603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10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4"/>
            <a:ext cx="5181600" cy="908050"/>
          </a:xfrm>
        </p:spPr>
        <p:txBody>
          <a:bodyPr anchor="t"/>
          <a:lstStyle>
            <a:lvl1pPr algn="l">
              <a:defRPr sz="2667" b="1" cap="all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1pPr>
            <a:lvl2pPr marL="30481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30" indent="0">
              <a:buNone/>
              <a:defRPr sz="1067">
                <a:solidFill>
                  <a:schemeClr val="tx1">
                    <a:tint val="75000"/>
                  </a:schemeClr>
                </a:solidFill>
              </a:defRPr>
            </a:lvl3pPr>
            <a:lvl4pPr marL="91444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4pPr>
            <a:lvl5pPr marL="121926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5pPr>
            <a:lvl6pPr marL="1524076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6pPr>
            <a:lvl7pPr marL="1828891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7pPr>
            <a:lvl8pPr marL="2133707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8pPr>
            <a:lvl9pPr marL="2438522" indent="0">
              <a:buNone/>
              <a:defRPr sz="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663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7"/>
            </a:lvl1pPr>
            <a:lvl2pPr>
              <a:defRPr sz="1600"/>
            </a:lvl2pPr>
            <a:lvl3pPr>
              <a:defRPr sz="1333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396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4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4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3"/>
            </a:lvl2pPr>
            <a:lvl3pPr>
              <a:defRPr sz="1200"/>
            </a:lvl3pPr>
            <a:lvl4pPr>
              <a:defRPr sz="1067"/>
            </a:lvl4pPr>
            <a:lvl5pPr>
              <a:defRPr sz="1067"/>
            </a:lvl5pPr>
            <a:lvl6pPr>
              <a:defRPr sz="1067"/>
            </a:lvl6pPr>
            <a:lvl7pPr>
              <a:defRPr sz="1067"/>
            </a:lvl7pPr>
            <a:lvl8pPr>
              <a:defRPr sz="1067"/>
            </a:lvl8pPr>
            <a:lvl9pPr>
              <a:defRPr sz="10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299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929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4"/>
            <a:ext cx="3407833" cy="3902075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4"/>
            <a:ext cx="2005542" cy="31273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45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3" b="1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3"/>
            </a:lvl1pPr>
            <a:lvl2pPr marL="304815" indent="0">
              <a:buNone/>
              <a:defRPr sz="800"/>
            </a:lvl2pPr>
            <a:lvl3pPr marL="609630" indent="0">
              <a:buNone/>
              <a:defRPr sz="667"/>
            </a:lvl3pPr>
            <a:lvl4pPr marL="914446" indent="0">
              <a:buNone/>
              <a:defRPr sz="600"/>
            </a:lvl4pPr>
            <a:lvl5pPr marL="1219261" indent="0">
              <a:buNone/>
              <a:defRPr sz="600"/>
            </a:lvl5pPr>
            <a:lvl6pPr marL="1524076" indent="0">
              <a:buNone/>
              <a:defRPr sz="600"/>
            </a:lvl6pPr>
            <a:lvl7pPr marL="1828891" indent="0">
              <a:buNone/>
              <a:defRPr sz="600"/>
            </a:lvl7pPr>
            <a:lvl8pPr marL="2133707" indent="0">
              <a:buNone/>
              <a:defRPr sz="600"/>
            </a:lvl8pPr>
            <a:lvl9pPr marL="2438522" indent="0">
              <a:buNone/>
              <a:defRPr sz="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7076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9017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5582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4;p3"/>
          <p:cNvSpPr txBox="1">
            <a:spLocks noGrp="1"/>
          </p:cNvSpPr>
          <p:nvPr>
            <p:ph type="ctrTitle" hasCustomPrompt="1"/>
          </p:nvPr>
        </p:nvSpPr>
        <p:spPr>
          <a:xfrm>
            <a:off x="1948741" y="3014100"/>
            <a:ext cx="9022800" cy="81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rgbClr val="39C0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AQUI PARA ADICIONAR O PRIMEIRO TÍTULO</a:t>
            </a:r>
          </a:p>
        </p:txBody>
      </p:sp>
      <p:cxnSp>
        <p:nvCxnSpPr>
          <p:cNvPr id="9" name="Google Shape;17;p3"/>
          <p:cNvCxnSpPr/>
          <p:nvPr userDrawn="1"/>
        </p:nvCxnSpPr>
        <p:spPr>
          <a:xfrm>
            <a:off x="1252860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18;p3"/>
          <p:cNvSpPr/>
          <p:nvPr userDrawn="1"/>
        </p:nvSpPr>
        <p:spPr>
          <a:xfrm flipH="1">
            <a:off x="843408" y="3023204"/>
            <a:ext cx="819200" cy="819200"/>
          </a:xfrm>
          <a:prstGeom prst="ellipse">
            <a:avLst/>
          </a:prstGeom>
          <a:solidFill>
            <a:srgbClr val="0070C0"/>
          </a:solidFill>
          <a:ln w="2857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grpSp>
        <p:nvGrpSpPr>
          <p:cNvPr id="11" name="Google Shape;118;p18"/>
          <p:cNvGrpSpPr/>
          <p:nvPr userDrawn="1"/>
        </p:nvGrpSpPr>
        <p:grpSpPr>
          <a:xfrm>
            <a:off x="1035391" y="3227475"/>
            <a:ext cx="391864" cy="393547"/>
            <a:chOff x="2594050" y="1631825"/>
            <a:chExt cx="439625" cy="439625"/>
          </a:xfrm>
        </p:grpSpPr>
        <p:sp>
          <p:nvSpPr>
            <p:cNvPr id="12" name="Google Shape;119;p18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99"/>
            </a:p>
          </p:txBody>
        </p:sp>
        <p:sp>
          <p:nvSpPr>
            <p:cNvPr id="13" name="Google Shape;120;p18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99"/>
            </a:p>
          </p:txBody>
        </p:sp>
        <p:sp>
          <p:nvSpPr>
            <p:cNvPr id="14" name="Google Shape;121;p18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99"/>
            </a:p>
          </p:txBody>
        </p:sp>
        <p:sp>
          <p:nvSpPr>
            <p:cNvPr id="15" name="Google Shape;122;p18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285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599"/>
            </a:p>
          </p:txBody>
        </p:sp>
      </p:grpSp>
      <p:pic>
        <p:nvPicPr>
          <p:cNvPr id="16" name="Imagem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789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ique aqui para adicionar seu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61;p10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Google Shape;62;p10"/>
          <p:cNvSpPr/>
          <p:nvPr userDrawn="1"/>
        </p:nvSpPr>
        <p:spPr>
          <a:xfrm>
            <a:off x="1126233" y="740701"/>
            <a:ext cx="269200" cy="2692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4" name="Imagem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  <p:sp>
        <p:nvSpPr>
          <p:cNvPr id="20" name="Google Shape;14;p3"/>
          <p:cNvSpPr txBox="1">
            <a:spLocks noGrp="1"/>
          </p:cNvSpPr>
          <p:nvPr>
            <p:ph type="ctrTitle" hasCustomPrompt="1"/>
          </p:nvPr>
        </p:nvSpPr>
        <p:spPr>
          <a:xfrm>
            <a:off x="1975248" y="520501"/>
            <a:ext cx="9022800" cy="7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rgbClr val="39C0B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para adicionar um título</a:t>
            </a:r>
            <a:endParaRPr dirty="0"/>
          </a:p>
        </p:txBody>
      </p:sp>
      <p:sp>
        <p:nvSpPr>
          <p:cNvPr id="15" name="Espaço Reservado para Conteúdo 4">
            <a:extLst>
              <a:ext uri="{FF2B5EF4-FFF2-40B4-BE49-F238E27FC236}">
                <a16:creationId xmlns:a16="http://schemas.microsoft.com/office/drawing/2014/main" xmlns="" id="{0429D44C-024F-49BA-BA92-6BA652B41B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75248" y="1599307"/>
            <a:ext cx="9022800" cy="4229960"/>
          </a:xfrm>
          <a:prstGeom prst="rect">
            <a:avLst/>
          </a:prstGeom>
        </p:spPr>
        <p:txBody>
          <a:bodyPr/>
          <a:lstStyle>
            <a:lvl1pPr>
              <a:defRPr sz="23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aqui para adicionar seu texto</a:t>
            </a:r>
          </a:p>
        </p:txBody>
      </p:sp>
    </p:spTree>
    <p:extLst>
      <p:ext uri="{BB962C8B-B14F-4D97-AF65-F5344CB8AC3E}">
        <p14:creationId xmlns:p14="http://schemas.microsoft.com/office/powerpoint/2010/main" val="38477176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61;p10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62;p10"/>
          <p:cNvSpPr/>
          <p:nvPr userDrawn="1"/>
        </p:nvSpPr>
        <p:spPr>
          <a:xfrm>
            <a:off x="1126233" y="740701"/>
            <a:ext cx="269200" cy="269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9" name="Imagem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  <p:sp>
        <p:nvSpPr>
          <p:cNvPr id="14" name="Espaço Reservado para Conteúdo 4">
            <a:extLst>
              <a:ext uri="{FF2B5EF4-FFF2-40B4-BE49-F238E27FC236}">
                <a16:creationId xmlns:a16="http://schemas.microsoft.com/office/drawing/2014/main" xmlns="" id="{92FEC62A-AEF6-4001-BB11-823B08650E7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75248" y="1599307"/>
            <a:ext cx="9022800" cy="4229960"/>
          </a:xfrm>
          <a:prstGeom prst="rect">
            <a:avLst/>
          </a:prstGeom>
        </p:spPr>
        <p:txBody>
          <a:bodyPr/>
          <a:lstStyle>
            <a:lvl1pPr>
              <a:defRPr sz="23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pt-BR" dirty="0"/>
              <a:t>Clique aqui para adicionar seu texto</a:t>
            </a:r>
          </a:p>
        </p:txBody>
      </p:sp>
      <p:sp>
        <p:nvSpPr>
          <p:cNvPr id="10" name="Google Shape;14;p3">
            <a:extLst>
              <a:ext uri="{FF2B5EF4-FFF2-40B4-BE49-F238E27FC236}">
                <a16:creationId xmlns:a16="http://schemas.microsoft.com/office/drawing/2014/main" xmlns="" id="{137F0C9D-A7E1-438A-AC82-A6EC7B2C200F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975248" y="520501"/>
            <a:ext cx="9022800" cy="7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para adicionar um título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05553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oogle Shape;61;p10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Google Shape;62;p10"/>
          <p:cNvSpPr/>
          <p:nvPr userDrawn="1"/>
        </p:nvSpPr>
        <p:spPr>
          <a:xfrm>
            <a:off x="1126233" y="740701"/>
            <a:ext cx="269200" cy="269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  <p:sp>
        <p:nvSpPr>
          <p:cNvPr id="12" name="Google Shape;14;p3">
            <a:extLst>
              <a:ext uri="{FF2B5EF4-FFF2-40B4-BE49-F238E27FC236}">
                <a16:creationId xmlns:a16="http://schemas.microsoft.com/office/drawing/2014/main" xmlns="" id="{9D3AA249-572A-43DC-88A4-DDB8F15E43B5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1965377" y="520501"/>
            <a:ext cx="9022800" cy="7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para adicionar um título</a:t>
            </a:r>
            <a:endParaRPr dirty="0"/>
          </a:p>
        </p:txBody>
      </p:sp>
      <p:sp>
        <p:nvSpPr>
          <p:cNvPr id="16" name="Espaço Reservado para Conteúdo 4">
            <a:extLst>
              <a:ext uri="{FF2B5EF4-FFF2-40B4-BE49-F238E27FC236}">
                <a16:creationId xmlns:a16="http://schemas.microsoft.com/office/drawing/2014/main" xmlns="" id="{E55CBC1E-334C-401B-8582-9E8D56E2C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5248" y="1599307"/>
            <a:ext cx="9022800" cy="4229960"/>
          </a:xfrm>
          <a:prstGeom prst="rect">
            <a:avLst/>
          </a:prstGeom>
        </p:spPr>
        <p:txBody>
          <a:bodyPr/>
          <a:lstStyle>
            <a:lvl1pPr>
              <a:defRPr sz="2333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2623929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9C0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599"/>
          </a:p>
        </p:txBody>
      </p:sp>
      <p:cxnSp>
        <p:nvCxnSpPr>
          <p:cNvPr id="9" name="Google Shape;65;p11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Google Shape;66;p11"/>
          <p:cNvSpPr/>
          <p:nvPr userDrawn="1"/>
        </p:nvSpPr>
        <p:spPr>
          <a:xfrm>
            <a:off x="1126233" y="3294400"/>
            <a:ext cx="269200" cy="2692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45" y="5829268"/>
            <a:ext cx="902217" cy="864096"/>
          </a:xfrm>
          <a:prstGeom prst="rect">
            <a:avLst/>
          </a:prstGeom>
        </p:spPr>
      </p:pic>
      <p:sp>
        <p:nvSpPr>
          <p:cNvPr id="7" name="Google Shape;14;p3">
            <a:extLst>
              <a:ext uri="{FF2B5EF4-FFF2-40B4-BE49-F238E27FC236}">
                <a16:creationId xmlns:a16="http://schemas.microsoft.com/office/drawing/2014/main" xmlns="" id="{C54F93D9-1F86-4299-9A39-CDC0441F1E48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041092" y="2927564"/>
            <a:ext cx="9022800" cy="10028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AQUI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5928346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9599"/>
          </a:p>
        </p:txBody>
      </p:sp>
      <p:cxnSp>
        <p:nvCxnSpPr>
          <p:cNvPr id="11" name="Google Shape;65;p11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66;p11"/>
          <p:cNvSpPr/>
          <p:nvPr userDrawn="1"/>
        </p:nvSpPr>
        <p:spPr>
          <a:xfrm>
            <a:off x="1126233" y="3294400"/>
            <a:ext cx="269200" cy="269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4" name="Imagem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6445" y="5829268"/>
            <a:ext cx="902217" cy="864096"/>
          </a:xfrm>
          <a:prstGeom prst="rect">
            <a:avLst/>
          </a:prstGeom>
        </p:spPr>
      </p:pic>
      <p:sp>
        <p:nvSpPr>
          <p:cNvPr id="7" name="Google Shape;14;p3">
            <a:extLst>
              <a:ext uri="{FF2B5EF4-FFF2-40B4-BE49-F238E27FC236}">
                <a16:creationId xmlns:a16="http://schemas.microsoft.com/office/drawing/2014/main" xmlns="" id="{1E9A4DC9-1926-455C-BB66-B463FFEA4C98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2041092" y="2927564"/>
            <a:ext cx="9022800" cy="100287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AQUI PARA ADICIONAR UM TÍTULO</a:t>
            </a:r>
          </a:p>
        </p:txBody>
      </p:sp>
    </p:spTree>
    <p:extLst>
      <p:ext uri="{BB962C8B-B14F-4D97-AF65-F5344CB8AC3E}">
        <p14:creationId xmlns:p14="http://schemas.microsoft.com/office/powerpoint/2010/main" val="15424401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3000" dirty="0"/>
          </a:p>
        </p:txBody>
      </p:sp>
      <p:cxnSp>
        <p:nvCxnSpPr>
          <p:cNvPr id="7" name="Google Shape;65;p11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Google Shape;66;p11"/>
          <p:cNvSpPr/>
          <p:nvPr userDrawn="1"/>
        </p:nvSpPr>
        <p:spPr>
          <a:xfrm>
            <a:off x="1126233" y="3294400"/>
            <a:ext cx="269200" cy="269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chemeClr val="bg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11" name="Google Shape;14;p3"/>
          <p:cNvSpPr txBox="1">
            <a:spLocks noGrp="1"/>
          </p:cNvSpPr>
          <p:nvPr>
            <p:ph type="ctrTitle" hasCustomPrompt="1"/>
          </p:nvPr>
        </p:nvSpPr>
        <p:spPr>
          <a:xfrm>
            <a:off x="1967541" y="3074200"/>
            <a:ext cx="9022800" cy="70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 b="1" baseline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pt-BR" dirty="0"/>
              <a:t>Clique aqui para adicionar um subtítulo</a:t>
            </a:r>
          </a:p>
        </p:txBody>
      </p:sp>
    </p:spTree>
    <p:extLst>
      <p:ext uri="{BB962C8B-B14F-4D97-AF65-F5344CB8AC3E}">
        <p14:creationId xmlns:p14="http://schemas.microsoft.com/office/powerpoint/2010/main" val="41312352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oogle Shape;61;p10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Google Shape;62;p10"/>
          <p:cNvSpPr/>
          <p:nvPr userDrawn="1"/>
        </p:nvSpPr>
        <p:spPr>
          <a:xfrm>
            <a:off x="1126233" y="740701"/>
            <a:ext cx="269200" cy="269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0" name="Imagem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575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co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61;p10"/>
          <p:cNvCxnSpPr/>
          <p:nvPr userDrawn="1"/>
        </p:nvCxnSpPr>
        <p:spPr>
          <a:xfrm>
            <a:off x="1260851" y="0"/>
            <a:ext cx="0" cy="68580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Google Shape;62;p10"/>
          <p:cNvSpPr/>
          <p:nvPr userDrawn="1"/>
        </p:nvSpPr>
        <p:spPr>
          <a:xfrm>
            <a:off x="1126233" y="740701"/>
            <a:ext cx="269200" cy="269200"/>
          </a:xfrm>
          <a:prstGeom prst="ellipse">
            <a:avLst/>
          </a:prstGeom>
          <a:solidFill>
            <a:srgbClr val="0070C0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99"/>
          </a:p>
        </p:txBody>
      </p:sp>
      <p:pic>
        <p:nvPicPr>
          <p:cNvPr id="19" name="Imagem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5867" y="5947737"/>
            <a:ext cx="623976" cy="62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088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14/04/2025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11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09630" rtl="0" eaLnBrk="1" latinLnBrk="0" hangingPunct="1"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11" indent="-228611" algn="l" defTabSz="60963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495325" indent="-190510" algn="l" defTabSz="60963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spcBef>
          <a:spcPct val="20000"/>
        </a:spcBef>
        <a:buFont typeface="Arial" pitchFamily="34" charset="0"/>
        <a:buChar char="–"/>
        <a:defRPr sz="1333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spcBef>
          <a:spcPct val="20000"/>
        </a:spcBef>
        <a:buFont typeface="Arial" pitchFamily="34" charset="0"/>
        <a:buChar char="»"/>
        <a:defRPr sz="1333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spcBef>
          <a:spcPct val="20000"/>
        </a:spcBef>
        <a:buFont typeface="Arial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730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ctr" defTabSz="1219078" rtl="0" eaLnBrk="1" latinLnBrk="0" hangingPunct="1">
        <a:spcBef>
          <a:spcPct val="0"/>
        </a:spcBef>
        <a:buNone/>
        <a:defRPr sz="586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4" indent="-457154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6" kern="1200">
          <a:solidFill>
            <a:schemeClr val="tx1"/>
          </a:solidFill>
          <a:latin typeface="+mn-lt"/>
          <a:ea typeface="+mn-ea"/>
          <a:cs typeface="+mn-cs"/>
        </a:defRPr>
      </a:lvl1pPr>
      <a:lvl2pPr marL="990501" indent="-380962" algn="l" defTabSz="1219078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387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6" kern="1200">
          <a:solidFill>
            <a:schemeClr val="tx1"/>
          </a:solidFill>
          <a:latin typeface="+mn-lt"/>
          <a:ea typeface="+mn-ea"/>
          <a:cs typeface="+mn-cs"/>
        </a:defRPr>
      </a:lvl4pPr>
      <a:lvl5pPr marL="2742926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»"/>
        <a:defRPr sz="2666" kern="1200">
          <a:solidFill>
            <a:schemeClr val="tx1"/>
          </a:solidFill>
          <a:latin typeface="+mn-lt"/>
          <a:ea typeface="+mn-ea"/>
          <a:cs typeface="+mn-cs"/>
        </a:defRPr>
      </a:lvl5pPr>
      <a:lvl6pPr marL="3352465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4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3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70" algn="l" defTabSz="1219078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4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tinyurl.com/edgemlbooks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tensorflow.org/mlir/tfl_ops" TargetMode="Externa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tensorflow/examples/tree/master/lite/example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lite/models/modify/model_maker?hl=pt-br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5.png"/><Relationship Id="rId4" Type="http://schemas.openxmlformats.org/officeDocument/2006/relationships/image" Target="../media/image3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6.png"/><Relationship Id="rId4" Type="http://schemas.openxmlformats.org/officeDocument/2006/relationships/image" Target="../media/image34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7.png"/><Relationship Id="rId4" Type="http://schemas.openxmlformats.org/officeDocument/2006/relationships/image" Target="../media/image3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8.png"/><Relationship Id="rId4" Type="http://schemas.openxmlformats.org/officeDocument/2006/relationships/image" Target="../media/image3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9.png"/><Relationship Id="rId4" Type="http://schemas.openxmlformats.org/officeDocument/2006/relationships/image" Target="../media/image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3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2.png"/><Relationship Id="rId4" Type="http://schemas.openxmlformats.org/officeDocument/2006/relationships/image" Target="../media/image34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png"/><Relationship Id="rId4" Type="http://schemas.openxmlformats.org/officeDocument/2006/relationships/image" Target="../media/image34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3.png"/><Relationship Id="rId4" Type="http://schemas.openxmlformats.org/officeDocument/2006/relationships/image" Target="../media/image34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4.png"/><Relationship Id="rId4" Type="http://schemas.openxmlformats.org/officeDocument/2006/relationships/image" Target="../media/image3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netron.app/" TargetMode="Externa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1.png"/><Relationship Id="rId4" Type="http://schemas.openxmlformats.org/officeDocument/2006/relationships/image" Target="../media/image34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2.png"/><Relationship Id="rId4" Type="http://schemas.openxmlformats.org/officeDocument/2006/relationships/image" Target="../media/image3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6.jpeg"/><Relationship Id="rId5" Type="http://schemas.openxmlformats.org/officeDocument/2006/relationships/hyperlink" Target="https://www.kaggle.com/datasets/gpiosenka/coffee-bean-dataset-resized-224-x-224" TargetMode="External"/><Relationship Id="rId4" Type="http://schemas.openxmlformats.org/officeDocument/2006/relationships/hyperlink" Target="https://edgeimpulse.com/" TargetMode="Externa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3783" y="819807"/>
            <a:ext cx="9772072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 err="1"/>
              <a:t>TensorFlow</a:t>
            </a:r>
            <a:r>
              <a:rPr lang="pt-BR" b="1" i="1" dirty="0"/>
              <a:t> Lite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3093156" y="6015453"/>
            <a:ext cx="4822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Créditos: Prof. Marcelo Rovai UNIFEI 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xmlns="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2D82026D-D2EA-05D7-61F2-DEE04704DB7E}"/>
              </a:ext>
            </a:extLst>
          </p:cNvPr>
          <p:cNvSpPr txBox="1"/>
          <p:nvPr/>
        </p:nvSpPr>
        <p:spPr>
          <a:xfrm>
            <a:off x="8068201" y="59330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Samuel Baraldi Mafra</a:t>
            </a:r>
          </a:p>
          <a:p>
            <a:r>
              <a:rPr lang="pt-BR" dirty="0"/>
              <a:t>samuelbmafra@inatel.br</a:t>
            </a:r>
          </a:p>
        </p:txBody>
      </p:sp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6BC1868B-0A3A-32FE-D3E1-4C53AAE225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Samuel Baraldi Mafra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xmlns="" id="{C237015F-47F9-757A-BA6D-89FB831D9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491" y="1508787"/>
            <a:ext cx="6593027" cy="3578588"/>
          </a:xfrm>
        </p:spPr>
        <p:txBody>
          <a:bodyPr/>
          <a:lstStyle/>
          <a:p>
            <a:r>
              <a:rPr lang="pt-BR" dirty="0"/>
              <a:t>Possui pós-doutorado na Universidade Federal do Paraná (2015-2018). </a:t>
            </a:r>
          </a:p>
          <a:p>
            <a:r>
              <a:rPr lang="pt-BR" dirty="0"/>
              <a:t>Doutor em Ciências na área de telecomunicações e redes pela Universidade Tecnológica Federal do Paraná (2015). </a:t>
            </a:r>
          </a:p>
          <a:p>
            <a:r>
              <a:rPr lang="pt-BR" dirty="0"/>
              <a:t>Mestre em Engenharia Elétrica com ênfase em telecomunicações pela Universidade Federal do Paraná (2012). </a:t>
            </a:r>
          </a:p>
          <a:p>
            <a:r>
              <a:rPr lang="pt-BR" dirty="0"/>
              <a:t>Engenheiro Eletricista pela Universidade do Estado de Santa Catarina (2010).</a:t>
            </a:r>
          </a:p>
          <a:p>
            <a:endParaRPr lang="pt-BR" dirty="0"/>
          </a:p>
        </p:txBody>
      </p:sp>
      <p:pic>
        <p:nvPicPr>
          <p:cNvPr id="8" name="Imagem 7" descr="Homem de camisa branca&#10;&#10;Descrição gerada automaticamente">
            <a:extLst>
              <a:ext uri="{FF2B5EF4-FFF2-40B4-BE49-F238E27FC236}">
                <a16:creationId xmlns:a16="http://schemas.microsoft.com/office/drawing/2014/main" xmlns="" id="{C6353831-F7DA-B924-AC0E-E10D33B75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243" y="1705606"/>
            <a:ext cx="3520685" cy="35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611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xmlns="" id="{6BC1868B-0A3A-32FE-D3E1-4C53AAE225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Samuel Baraldi Mafra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xmlns="" id="{C237015F-47F9-757A-BA6D-89FB831D9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1491" y="1508787"/>
            <a:ext cx="6593027" cy="4464496"/>
          </a:xfrm>
        </p:spPr>
        <p:txBody>
          <a:bodyPr/>
          <a:lstStyle/>
          <a:p>
            <a:r>
              <a:rPr lang="pt-BR" dirty="0"/>
              <a:t>Instituto Nacional de Telecomunicações - Inatel.</a:t>
            </a:r>
          </a:p>
          <a:p>
            <a:pPr lvl="1"/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no curso de graduação em engenharia de computação;</a:t>
            </a:r>
          </a:p>
          <a:p>
            <a:pPr lvl="1"/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e pesquisador nos cursos de mestrado e doutorado em telecomunicações;</a:t>
            </a:r>
          </a:p>
          <a:p>
            <a:pPr lvl="1"/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Professor no cursos de especialização em 5G, </a:t>
            </a:r>
            <a:r>
              <a:rPr lang="pt-BR" sz="2333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 redes de telecomunicação;</a:t>
            </a:r>
          </a:p>
          <a:p>
            <a:pPr lvl="1"/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Coordenador do </a:t>
            </a:r>
            <a:r>
              <a:rPr lang="pt-BR" sz="2333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IoT</a:t>
            </a:r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33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Research</a:t>
            </a:r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2333" dirty="0" err="1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lang="pt-BR" sz="2333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Inatel. </a:t>
            </a:r>
          </a:p>
          <a:p>
            <a:pPr lvl="1"/>
            <a:endParaRPr lang="pt-BR" sz="2333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dirty="0"/>
              <a:t> </a:t>
            </a:r>
          </a:p>
        </p:txBody>
      </p:sp>
      <p:pic>
        <p:nvPicPr>
          <p:cNvPr id="8" name="Imagem 7" descr="Homem de camisa branca&#10;&#10;Descrição gerada automaticamente">
            <a:extLst>
              <a:ext uri="{FF2B5EF4-FFF2-40B4-BE49-F238E27FC236}">
                <a16:creationId xmlns:a16="http://schemas.microsoft.com/office/drawing/2014/main" xmlns="" id="{C6353831-F7DA-B924-AC0E-E10D33B75E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243" y="1705606"/>
            <a:ext cx="3520685" cy="3520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377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TinyML</a:t>
            </a:r>
            <a:endParaRPr lang="pt-BR" dirty="0"/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266" name="Picture 2" descr="Tiny Machine Learning: The Next AI Revolution | by Matthew Stewart, PhD |  Towards Data Science">
            <a:extLst>
              <a:ext uri="{FF2B5EF4-FFF2-40B4-BE49-F238E27FC236}">
                <a16:creationId xmlns:a16="http://schemas.microsoft.com/office/drawing/2014/main" xmlns="" id="{6D4387EF-198D-6CC9-FBBC-B1958F1A5F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627" y="1484489"/>
            <a:ext cx="8367305" cy="4636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875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D957E37B-108E-A4B3-1EF1-6A2150EF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66801"/>
            <a:ext cx="9561689" cy="2565400"/>
          </a:xfrm>
        </p:spPr>
        <p:txBody>
          <a:bodyPr>
            <a:normAutofit/>
          </a:bodyPr>
          <a:lstStyle/>
          <a:p>
            <a:r>
              <a:rPr lang="pt-BR" dirty="0"/>
              <a:t>Características dos dispositivos </a:t>
            </a:r>
            <a:r>
              <a:rPr lang="pt-BR" dirty="0" err="1"/>
              <a:t>IoT</a:t>
            </a:r>
            <a:r>
              <a:rPr lang="pt-BR" dirty="0"/>
              <a:t>:</a:t>
            </a:r>
          </a:p>
          <a:p>
            <a:r>
              <a:rPr lang="pt-BR" dirty="0"/>
              <a:t>Baixo consumo de energia;</a:t>
            </a:r>
          </a:p>
          <a:p>
            <a:r>
              <a:rPr lang="pt-BR" dirty="0"/>
              <a:t>Baixo poder computacional;</a:t>
            </a:r>
          </a:p>
          <a:p>
            <a:r>
              <a:rPr lang="pt-BR" dirty="0"/>
              <a:t>Baixo custo.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98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D957E37B-108E-A4B3-1EF1-6A2150EFA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799" y="1066801"/>
            <a:ext cx="9561689" cy="2565400"/>
          </a:xfrm>
        </p:spPr>
        <p:txBody>
          <a:bodyPr>
            <a:normAutofit fontScale="85000" lnSpcReduction="10000"/>
          </a:bodyPr>
          <a:lstStyle/>
          <a:p>
            <a:pPr algn="l" rtl="0" fontAlgn="base"/>
            <a:r>
              <a:rPr lang="pt-BR" sz="2600" b="0" i="0" u="none" strike="noStrike" dirty="0">
                <a:effectLst/>
              </a:rPr>
              <a:t>A energia de processamento depende basicamente do número de ciclos de </a:t>
            </a:r>
            <a:r>
              <a:rPr lang="pt-BR" sz="2600" b="0" i="0" u="none" strike="noStrike" dirty="0" err="1">
                <a:effectLst/>
              </a:rPr>
              <a:t>clock</a:t>
            </a:r>
            <a:r>
              <a:rPr lang="pt-BR" sz="2600" b="0" i="0" u="none" strike="noStrike" dirty="0">
                <a:effectLst/>
              </a:rPr>
              <a:t> executadas pelo microcontrolador.</a:t>
            </a:r>
            <a:r>
              <a:rPr lang="en-US" sz="2600" b="0" i="0" dirty="0">
                <a:effectLst/>
              </a:rPr>
              <a:t>​</a:t>
            </a:r>
          </a:p>
          <a:p>
            <a:pPr marL="0" indent="0" algn="l" rtl="0" fontAlgn="base">
              <a:buNone/>
            </a:pPr>
            <a:endParaRPr lang="pt-BR" sz="2600" b="0" i="0" dirty="0">
              <a:effectLst/>
            </a:endParaRPr>
          </a:p>
          <a:p>
            <a:pPr algn="l" rtl="0" fontAlgn="base"/>
            <a:r>
              <a:rPr lang="pt-BR" sz="2600" b="0" i="0" u="none" strike="noStrike" dirty="0">
                <a:effectLst/>
              </a:rPr>
              <a:t>"Os programadores não poderão ignorar o custo de energia dos programas que escrevem ... Você precisa de ferramentas que forneçam feedback e digam o quão boas são suas decisões. Atualmente, as ferramentas não fornecem esse tipo de feedback.” (Steve </a:t>
            </a:r>
            <a:r>
              <a:rPr lang="pt-BR" sz="2600" b="0" i="0" u="none" strike="noStrike" dirty="0" err="1">
                <a:effectLst/>
              </a:rPr>
              <a:t>Furber</a:t>
            </a:r>
            <a:r>
              <a:rPr lang="pt-BR" sz="2600" b="0" i="0" u="none" strike="noStrike" dirty="0">
                <a:effectLst/>
              </a:rPr>
              <a:t>, ARM, 2010)</a:t>
            </a:r>
            <a:endParaRPr lang="en-US" sz="2600" b="0" i="0" dirty="0">
              <a:effectLst/>
            </a:endParaRP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9072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Processamento tradicional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xmlns="" id="{4C0988EC-1EED-C341-8C2F-16519CE649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66289" y="1440460"/>
            <a:ext cx="8626588" cy="3299746"/>
          </a:xfrm>
        </p:spPr>
      </p:pic>
    </p:spTree>
    <p:extLst>
      <p:ext uri="{BB962C8B-B14F-4D97-AF65-F5344CB8AC3E}">
        <p14:creationId xmlns:p14="http://schemas.microsoft.com/office/powerpoint/2010/main" val="3801133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xmlns="" id="{30913158-1403-FD7C-13DD-FEE88A4A7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23244" y="1656357"/>
            <a:ext cx="8545689" cy="3116307"/>
          </a:xfrm>
        </p:spPr>
      </p:pic>
    </p:spTree>
    <p:extLst>
      <p:ext uri="{BB962C8B-B14F-4D97-AF65-F5344CB8AC3E}">
        <p14:creationId xmlns:p14="http://schemas.microsoft.com/office/powerpoint/2010/main" val="2623398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xmlns="" id="{05A8F147-70FE-941B-F2CB-2C124F8D5F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5022" y="1969297"/>
            <a:ext cx="8861778" cy="2716205"/>
          </a:xfrm>
        </p:spPr>
      </p:pic>
    </p:spTree>
    <p:extLst>
      <p:ext uri="{BB962C8B-B14F-4D97-AF65-F5344CB8AC3E}">
        <p14:creationId xmlns:p14="http://schemas.microsoft.com/office/powerpoint/2010/main" val="475612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xmlns="" id="{A5DFCE40-4CA2-BEBF-45F2-5DA44B4A83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19199" y="1590391"/>
            <a:ext cx="9256889" cy="3677217"/>
          </a:xfrm>
        </p:spPr>
      </p:pic>
    </p:spTree>
    <p:extLst>
      <p:ext uri="{BB962C8B-B14F-4D97-AF65-F5344CB8AC3E}">
        <p14:creationId xmlns:p14="http://schemas.microsoft.com/office/powerpoint/2010/main" val="1840262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 fontScale="90000"/>
          </a:bodyPr>
          <a:lstStyle/>
          <a:p>
            <a:r>
              <a:rPr lang="pt-BR" dirty="0"/>
              <a:t>Processamento na borda com dispositivos embarcados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xmlns="" id="{ABD88AAA-EE48-F346-F093-EAE7966DAE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51466" y="1640213"/>
            <a:ext cx="8624711" cy="3374374"/>
          </a:xfrm>
        </p:spPr>
      </p:pic>
    </p:spTree>
    <p:extLst>
      <p:ext uri="{BB962C8B-B14F-4D97-AF65-F5344CB8AC3E}">
        <p14:creationId xmlns:p14="http://schemas.microsoft.com/office/powerpoint/2010/main" val="305983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xmlns="" id="{1D183AB4-0114-C958-8DAD-03DD590E20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07346" y="986294"/>
            <a:ext cx="3556739" cy="4682212"/>
          </a:xfr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xmlns="" id="{32179B82-25F5-6138-2B69-45619B216CCB}"/>
              </a:ext>
            </a:extLst>
          </p:cNvPr>
          <p:cNvSpPr txBox="1">
            <a:spLocks/>
          </p:cNvSpPr>
          <p:nvPr/>
        </p:nvSpPr>
        <p:spPr>
          <a:xfrm>
            <a:off x="-260085" y="284692"/>
            <a:ext cx="6559285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609630" rtl="0" eaLnBrk="1" latinLnBrk="0" hangingPunct="1">
              <a:spcBef>
                <a:spcPct val="0"/>
              </a:spcBef>
              <a:buNone/>
              <a:defRPr sz="29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Referência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AE716D6C-1B36-DABF-B509-335987079969}"/>
              </a:ext>
            </a:extLst>
          </p:cNvPr>
          <p:cNvSpPr txBox="1"/>
          <p:nvPr/>
        </p:nvSpPr>
        <p:spPr>
          <a:xfrm>
            <a:off x="2762956" y="5871706"/>
            <a:ext cx="62258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Tinyml</a:t>
            </a:r>
            <a:r>
              <a:rPr lang="en-US" dirty="0"/>
              <a:t>: Machine Learning with </a:t>
            </a:r>
            <a:r>
              <a:rPr lang="en-US" dirty="0" err="1"/>
              <a:t>Tensorflow</a:t>
            </a:r>
            <a:r>
              <a:rPr lang="en-US" dirty="0"/>
              <a:t> Lite on Arduino and Ultra-Low-Power Microcontrollers</a:t>
            </a:r>
            <a:endParaRPr lang="pt-B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FD26F54-CF3F-3EF1-9173-C3D19AD97F6E}"/>
              </a:ext>
            </a:extLst>
          </p:cNvPr>
          <p:cNvSpPr txBox="1"/>
          <p:nvPr/>
        </p:nvSpPr>
        <p:spPr>
          <a:xfrm>
            <a:off x="8684173" y="5211729"/>
            <a:ext cx="3392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https://tinyurl.com/edgemlbooks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60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Conteúdo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57223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Introdução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 que é 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Lite?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Por que usar 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Lite?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Benefícios de usar 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O que 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 pode fazer?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Visão geral do fluxo de trabalho do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</a:t>
            </a:r>
          </a:p>
          <a:p>
            <a:pPr marL="723937" lvl="1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Convertendo um modelo do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em </a:t>
            </a:r>
            <a:r>
              <a:rPr lang="pt-BR" sz="20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Lite</a:t>
            </a:r>
          </a:p>
        </p:txBody>
      </p:sp>
    </p:spTree>
    <p:extLst>
      <p:ext uri="{BB962C8B-B14F-4D97-AF65-F5344CB8AC3E}">
        <p14:creationId xmlns:p14="http://schemas.microsoft.com/office/powerpoint/2010/main" val="2627688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57223" indent="-304815" algn="just">
              <a:lnSpc>
                <a:spcPct val="107000"/>
              </a:lnSpc>
              <a:spcAft>
                <a:spcPts val="533"/>
              </a:spcAft>
            </a:pPr>
            <a:r>
              <a:rPr lang="pt-BR" sz="20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O </a:t>
            </a:r>
            <a:r>
              <a:rPr lang="pt-BR" sz="2000" b="0" i="0" dirty="0" err="1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TensorFlow</a:t>
            </a:r>
            <a:r>
              <a:rPr lang="pt-BR" sz="20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 Lite é um conjunto de ferramentas para </a:t>
            </a:r>
            <a:r>
              <a:rPr lang="pt-BR" sz="2000" b="0" i="0" dirty="0" err="1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machine</a:t>
            </a:r>
            <a:r>
              <a:rPr lang="pt-BR" sz="20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 </a:t>
            </a:r>
            <a:r>
              <a:rPr lang="pt-BR" sz="2000" b="0" i="0" dirty="0" err="1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learning</a:t>
            </a:r>
            <a:r>
              <a:rPr lang="pt-BR" sz="20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 no dispositivo que ajuda os desenvolvedores a executar modelos em dispositivos móveis, incorporados e de </a:t>
            </a:r>
            <a:r>
              <a:rPr lang="pt-BR" sz="2000" b="0" i="0" dirty="0" err="1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IoT</a:t>
            </a:r>
            <a:r>
              <a:rPr lang="pt-BR" sz="2000" b="0" i="0" dirty="0">
                <a:solidFill>
                  <a:srgbClr val="202124"/>
                </a:solidFill>
                <a:effectLst/>
                <a:cs typeface="Arial" panose="020B0604020202020204" pitchFamily="34" charset="0"/>
              </a:rPr>
              <a:t>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A Basic Introduction to TensorFlow Lite | by Renu Khandelwal | Towards Data  Science">
            <a:extLst>
              <a:ext uri="{FF2B5EF4-FFF2-40B4-BE49-F238E27FC236}">
                <a16:creationId xmlns:a16="http://schemas.microsoft.com/office/drawing/2014/main" xmlns="" id="{F845FD6B-D9F2-E0BF-EF6F-6BB070093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2483027"/>
            <a:ext cx="63817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4663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é uma biblioteca de aprendizado de máquina geral que pode ser usada para treinar e implantar modelos de aprendizado de máquina em uma variedade de plataformas, incluindo computadores, dispositivos móveis e dispositivos incorporados.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Lite é uma versão reduzida do </a:t>
            </a:r>
            <a:r>
              <a:rPr lang="pt-BR" sz="2000" dirty="0" err="1">
                <a:effectLst/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 que é otimizada para desempenho e eficiência em dispositivos móveis e incorporados.</a:t>
            </a:r>
          </a:p>
        </p:txBody>
      </p:sp>
      <p:pic>
        <p:nvPicPr>
          <p:cNvPr id="1026" name="Picture 2" descr="A Basic Introduction to TensorFlow Lite | by Renu Khandelwal | Towards Data  Science">
            <a:extLst>
              <a:ext uri="{FF2B5EF4-FFF2-40B4-BE49-F238E27FC236}">
                <a16:creationId xmlns:a16="http://schemas.microsoft.com/office/drawing/2014/main" xmlns="" id="{F845FD6B-D9F2-E0BF-EF6F-6BB070093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3429000"/>
            <a:ext cx="63817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266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r que usar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Auxilia na criação de aplicações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edgeML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, que possuem as seguintes características: 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>
                <a:ea typeface="Calibri" panose="020F0502020204030204" pitchFamily="34" charset="0"/>
                <a:cs typeface="Arial" panose="020B0604020202020204" pitchFamily="34" charset="0"/>
              </a:rPr>
              <a:t>Baixa latência (não há ida e volta para um servidor), 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>
                <a:ea typeface="Calibri" panose="020F0502020204030204" pitchFamily="34" charset="0"/>
                <a:cs typeface="Arial" panose="020B0604020202020204" pitchFamily="34" charset="0"/>
              </a:rPr>
              <a:t>Maior privacidade (nenhum dado pessoal sai do dispositivo),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>
                <a:ea typeface="Calibri" panose="020F0502020204030204" pitchFamily="34" charset="0"/>
                <a:cs typeface="Arial" panose="020B0604020202020204" pitchFamily="34" charset="0"/>
              </a:rPr>
              <a:t>Pouca ou nenhuma necessidade de conectividade a Internet, 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>
                <a:ea typeface="Calibri" panose="020F0502020204030204" pitchFamily="34" charset="0"/>
                <a:cs typeface="Arial" panose="020B0604020202020204" pitchFamily="34" charset="0"/>
              </a:rPr>
              <a:t>Modelos d menor tamanho (tamanho reduzido do modelo e do binário) 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1734" dirty="0">
                <a:ea typeface="Calibri" panose="020F0502020204030204" pitchFamily="34" charset="0"/>
                <a:cs typeface="Arial" panose="020B0604020202020204" pitchFamily="34" charset="0"/>
              </a:rPr>
              <a:t>Menor consumo de energia (inferência eficiente e falta de conexões de rede)</a:t>
            </a:r>
            <a:endParaRPr lang="pt-BR" sz="1734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029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ffectLst/>
                <a:ea typeface="Calibri" panose="020F0502020204030204" pitchFamily="34" charset="0"/>
                <a:cs typeface="Arial" panose="020B0604020202020204" pitchFamily="34" charset="0"/>
              </a:rPr>
              <a:t>Po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r que usar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Suporte a várias plataformas, inclusive dispositivos Android e iOS, Linux incorporado e microcontroladores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Compatibilidade com diversas linguagens, incluindo Java, Swift,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Objective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-C, C++ e Python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Alto desempenho com aceleração de hardware e otimização de modelos</a:t>
            </a:r>
            <a:endParaRPr lang="pt-BR" sz="1734" dirty="0">
              <a:effectLst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5624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xmlns="" id="{7083F4F6-6882-226E-8924-F3F893CE7A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01152" y="1475553"/>
            <a:ext cx="7498730" cy="4313294"/>
          </a:xfrm>
        </p:spPr>
      </p:pic>
    </p:spTree>
    <p:extLst>
      <p:ext uri="{BB962C8B-B14F-4D97-AF65-F5344CB8AC3E}">
        <p14:creationId xmlns:p14="http://schemas.microsoft.com/office/powerpoint/2010/main" val="3230843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9" name="Espaço Reservado para Conteúdo 8">
            <a:extLst>
              <a:ext uri="{FF2B5EF4-FFF2-40B4-BE49-F238E27FC236}">
                <a16:creationId xmlns:a16="http://schemas.microsoft.com/office/drawing/2014/main" xmlns="" id="{0942837E-A7AA-0552-CCE5-E9F444D393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46667" y="1271099"/>
            <a:ext cx="9347200" cy="4519001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41B2F112-E74E-7802-E172-46DE8F007E4C}"/>
              </a:ext>
            </a:extLst>
          </p:cNvPr>
          <p:cNvSpPr txBox="1"/>
          <p:nvPr/>
        </p:nvSpPr>
        <p:spPr>
          <a:xfrm>
            <a:off x="2093894" y="593144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Set of operations: https://www.tensorflow.org/mlir/tfl_ops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2156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xmlns="" id="{0FF495AE-312B-8030-46D0-CDBEBBB51C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70130" y="1406392"/>
            <a:ext cx="9853494" cy="3517383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5358192-105F-2899-E13C-13ED44081794}"/>
              </a:ext>
            </a:extLst>
          </p:cNvPr>
          <p:cNvSpPr txBox="1"/>
          <p:nvPr/>
        </p:nvSpPr>
        <p:spPr>
          <a:xfrm>
            <a:off x="9301932" y="2905518"/>
            <a:ext cx="914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(roda no </a:t>
            </a:r>
            <a:r>
              <a:rPr lang="pt-BR" sz="1200" dirty="0" err="1"/>
              <a:t>bare</a:t>
            </a:r>
            <a:r>
              <a:rPr lang="pt-BR" sz="1200" dirty="0"/>
              <a:t> metal)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1AF67C9-DFE1-8B0E-A216-5183F6AA774E}"/>
              </a:ext>
            </a:extLst>
          </p:cNvPr>
          <p:cNvSpPr txBox="1"/>
          <p:nvPr/>
        </p:nvSpPr>
        <p:spPr>
          <a:xfrm>
            <a:off x="4880712" y="3367183"/>
            <a:ext cx="1632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(mapeamento dinâmico de memória: memoria virtual)</a:t>
            </a:r>
            <a:endParaRPr lang="en-US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35199DB-206E-9599-A701-296559F2BE0A}"/>
              </a:ext>
            </a:extLst>
          </p:cNvPr>
          <p:cNvSpPr txBox="1"/>
          <p:nvPr/>
        </p:nvSpPr>
        <p:spPr>
          <a:xfrm>
            <a:off x="7249042" y="3429000"/>
            <a:ext cx="1632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(mapeamento estático de memória. Sabemos onde está na memória)</a:t>
            </a:r>
            <a:endParaRPr 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531135DD-400D-9EFF-963F-2BFBCAC9D1D1}"/>
              </a:ext>
            </a:extLst>
          </p:cNvPr>
          <p:cNvSpPr txBox="1"/>
          <p:nvPr/>
        </p:nvSpPr>
        <p:spPr>
          <a:xfrm>
            <a:off x="4880712" y="4197815"/>
            <a:ext cx="16323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(</a:t>
            </a:r>
            <a:r>
              <a:rPr lang="pt-BR" sz="1200" dirty="0" err="1"/>
              <a:t>GPUs</a:t>
            </a:r>
            <a:r>
              <a:rPr lang="pt-BR" sz="1200" dirty="0"/>
              <a:t> e </a:t>
            </a:r>
            <a:r>
              <a:rPr lang="pt-BR" sz="1200" dirty="0" err="1"/>
              <a:t>TPUs</a:t>
            </a:r>
            <a:r>
              <a:rPr lang="pt-BR" sz="1200" dirty="0"/>
              <a:t>)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F6A1622-A2AE-F348-0B7A-91A6F5F4F2F7}"/>
              </a:ext>
            </a:extLst>
          </p:cNvPr>
          <p:cNvSpPr txBox="1"/>
          <p:nvPr/>
        </p:nvSpPr>
        <p:spPr>
          <a:xfrm>
            <a:off x="7072119" y="4197814"/>
            <a:ext cx="1632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(</a:t>
            </a:r>
            <a:r>
              <a:rPr lang="pt-BR" sz="1200" dirty="0" err="1"/>
              <a:t>GPUs</a:t>
            </a:r>
            <a:r>
              <a:rPr lang="pt-BR" sz="1200" dirty="0"/>
              <a:t> móveis, </a:t>
            </a:r>
            <a:r>
              <a:rPr lang="pt-BR" sz="1200" dirty="0" err="1"/>
              <a:t>NPUs</a:t>
            </a:r>
            <a:r>
              <a:rPr lang="pt-BR" sz="1200" dirty="0"/>
              <a:t>, </a:t>
            </a:r>
            <a:r>
              <a:rPr lang="pt-BR" sz="1200" dirty="0" err="1"/>
              <a:t>DSPs</a:t>
            </a:r>
            <a:r>
              <a:rPr lang="pt-BR" sz="1200" dirty="0"/>
              <a:t>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90977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xmlns="" id="{A36D4836-D243-4019-E226-8026610A4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51466" y="1630409"/>
            <a:ext cx="8895644" cy="339398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DFABFCA8-80AF-7911-FE28-7BB08F129841}"/>
              </a:ext>
            </a:extLst>
          </p:cNvPr>
          <p:cNvSpPr txBox="1"/>
          <p:nvPr/>
        </p:nvSpPr>
        <p:spPr>
          <a:xfrm>
            <a:off x="1151465" y="5175485"/>
            <a:ext cx="94219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Base </a:t>
            </a:r>
            <a:r>
              <a:rPr lang="pt-BR" dirty="0" err="1"/>
              <a:t>binary</a:t>
            </a:r>
            <a:r>
              <a:rPr lang="pt-BR" dirty="0"/>
              <a:t> </a:t>
            </a:r>
            <a:r>
              <a:rPr lang="pt-BR" dirty="0" err="1"/>
              <a:t>size</a:t>
            </a:r>
            <a:r>
              <a:rPr lang="pt-BR" dirty="0"/>
              <a:t>: tamanho em disco ou memória flash que a biblioteca ocupa.</a:t>
            </a:r>
          </a:p>
          <a:p>
            <a:r>
              <a:rPr lang="pt-BR" dirty="0" err="1"/>
              <a:t>Memory</a:t>
            </a:r>
            <a:r>
              <a:rPr lang="pt-BR" dirty="0"/>
              <a:t> </a:t>
            </a:r>
            <a:r>
              <a:rPr lang="pt-BR" dirty="0" err="1"/>
              <a:t>footprint</a:t>
            </a:r>
            <a:r>
              <a:rPr lang="pt-BR" dirty="0"/>
              <a:t>: quantidade total de memória RAM usada durante a execução.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9849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 TensorFlow Lite é um conjunto de ferramentas de machine learning que ajuda os desenvolvedores a executar modelos em dispositivos móveis, embarcados e IoT. Ele pode ser usado para criar aplicações destinadas a uma ampla variedade de tarefas, incluindo: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Reconhecimento de imagem: O TensorFlow Lite pode ser usado para criar modelos </a:t>
            </a:r>
            <a:r>
              <a:rPr lang="pt-BR" sz="2000">
                <a:ea typeface="Calibri" panose="020F0502020204030204" pitchFamily="34" charset="0"/>
                <a:cs typeface="Arial" panose="020B0604020202020204" pitchFamily="34" charset="0"/>
              </a:rPr>
              <a:t>que identifiquem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objetos em imagens, como pessoas, animais, objetos e cenas.</a:t>
            </a:r>
          </a:p>
        </p:txBody>
      </p:sp>
      <p:pic>
        <p:nvPicPr>
          <p:cNvPr id="5" name="Picture 2" descr="Iniciando Detecção Objetos com OpenCV">
            <a:extLst>
              <a:ext uri="{FF2B5EF4-FFF2-40B4-BE49-F238E27FC236}">
                <a16:creationId xmlns:a16="http://schemas.microsoft.com/office/drawing/2014/main" xmlns="" id="{5DF1FABF-1994-A6C9-74B0-9D3B228DE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3432491"/>
            <a:ext cx="5547678" cy="3120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072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Detecção de objetos: O TensorFlow Lite pode ser usado para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criar modelos que identifiquem e rastreiem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objetos em tempo real, como carros, pessoas e animais.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Iniciando Detecção Objetos com OpenCV">
            <a:extLst>
              <a:ext uri="{FF2B5EF4-FFF2-40B4-BE49-F238E27FC236}">
                <a16:creationId xmlns:a16="http://schemas.microsoft.com/office/drawing/2014/main" xmlns="" id="{016F69A5-0F7D-F6FE-BD4B-32F38F497E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978" y="2286706"/>
            <a:ext cx="5904090" cy="332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24922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Reconhecimento de voz: O TensorFlow Lite pode ser usado para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criar modelos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reconhecimento de fala,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como comandos de voz e perguntas.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B41E48C3-0E68-5029-BDEC-3CE77D8A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2431" y="2165982"/>
            <a:ext cx="6161969" cy="382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61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Processamento de linguagem natural: O TensorFlow Lite pode ser usado para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criar modelos que entendam texto,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como perguntas e solicitações.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06D4BDE6-F027-E85C-A935-9890F5274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8897" y="2185177"/>
            <a:ext cx="59626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72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Análise de vídeo: O TensorFlow Lite pode ser usado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para criar modelos que analisem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vídeos para detectar objetos, pessoas e comportamentos.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27+ Most Popular Computer Vision Applications in 2023">
            <a:extLst>
              <a:ext uri="{FF2B5EF4-FFF2-40B4-BE49-F238E27FC236}">
                <a16:creationId xmlns:a16="http://schemas.microsoft.com/office/drawing/2014/main" xmlns="" id="{A0FC0AFF-A6AC-404C-03F5-AED3DD102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8015" y="2230212"/>
            <a:ext cx="7527273" cy="3585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1061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dirty="0"/>
              <a:t>Um modelo do TensorFlow Lite é representado em um formato </a:t>
            </a:r>
            <a:r>
              <a:rPr lang="pt-BR" dirty="0" smtClean="0"/>
              <a:t>aberto e eficiente </a:t>
            </a:r>
            <a:r>
              <a:rPr lang="pt-BR" dirty="0"/>
              <a:t>conhecido como </a:t>
            </a:r>
            <a:r>
              <a:rPr lang="pt-BR" b="1" i="1" dirty="0" err="1">
                <a:solidFill>
                  <a:srgbClr val="7030A0"/>
                </a:solidFill>
              </a:rPr>
              <a:t>FlatBuffers</a:t>
            </a:r>
            <a:r>
              <a:rPr lang="pt-BR" dirty="0"/>
              <a:t>, identificado pela extensão de arquivo .</a:t>
            </a:r>
            <a:r>
              <a:rPr lang="pt-BR" dirty="0" err="1"/>
              <a:t>tflite</a:t>
            </a:r>
            <a:r>
              <a:rPr lang="pt-BR" dirty="0"/>
              <a:t>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b="0" i="0" dirty="0" smtClean="0">
                <a:effectLst/>
                <a:latin typeface="-apple-system"/>
              </a:rPr>
              <a:t>Desenvolvida </a:t>
            </a:r>
            <a:r>
              <a:rPr lang="pt-BR" b="0" i="0" dirty="0">
                <a:effectLst/>
                <a:latin typeface="-apple-system"/>
              </a:rPr>
              <a:t>pelo Google</a:t>
            </a:r>
            <a:r>
              <a:rPr lang="pt-BR" b="0" i="0" dirty="0" smtClean="0">
                <a:effectLst/>
                <a:latin typeface="-apple-system"/>
              </a:rPr>
              <a:t>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dirty="0">
                <a:latin typeface="-apple-system"/>
              </a:rPr>
              <a:t>É</a:t>
            </a:r>
            <a:r>
              <a:rPr lang="pt-BR" dirty="0" smtClean="0">
                <a:latin typeface="-apple-system"/>
              </a:rPr>
              <a:t> </a:t>
            </a:r>
            <a:r>
              <a:rPr lang="pt-BR" dirty="0">
                <a:latin typeface="-apple-system"/>
              </a:rPr>
              <a:t>uma biblioteca de serialização </a:t>
            </a:r>
            <a:r>
              <a:rPr lang="pt-BR" dirty="0" err="1">
                <a:latin typeface="-apple-system"/>
              </a:rPr>
              <a:t>multiplataforma</a:t>
            </a:r>
            <a:r>
              <a:rPr lang="pt-BR" dirty="0">
                <a:latin typeface="-apple-system"/>
              </a:rPr>
              <a:t> eficiente para C</a:t>
            </a:r>
            <a:r>
              <a:rPr lang="pt-BR" dirty="0" smtClean="0">
                <a:latin typeface="-apple-system"/>
              </a:rPr>
              <a:t>++, C, Python</a:t>
            </a:r>
            <a:r>
              <a:rPr lang="pt-BR" dirty="0">
                <a:latin typeface="-apple-system"/>
              </a:rPr>
              <a:t>, </a:t>
            </a:r>
            <a:r>
              <a:rPr lang="pt-BR" dirty="0" smtClean="0">
                <a:latin typeface="-apple-system"/>
              </a:rPr>
              <a:t>etc.</a:t>
            </a:r>
          </a:p>
          <a:p>
            <a:pPr marL="762022" lvl="1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b="1" dirty="0" smtClean="0"/>
              <a:t>Biblioteca que converte </a:t>
            </a:r>
            <a:r>
              <a:rPr lang="pt-BR" b="1" dirty="0"/>
              <a:t>objetos </a:t>
            </a:r>
            <a:r>
              <a:rPr lang="pt-BR" b="1" dirty="0" smtClean="0"/>
              <a:t>em </a:t>
            </a:r>
            <a:r>
              <a:rPr lang="pt-BR" b="1" dirty="0"/>
              <a:t>um formato que possa ser armazenado ou </a:t>
            </a:r>
            <a:r>
              <a:rPr lang="pt-BR" b="1" dirty="0" smtClean="0"/>
              <a:t>transmitido</a:t>
            </a:r>
            <a:r>
              <a:rPr lang="pt-BR" dirty="0"/>
              <a:t>.</a:t>
            </a:r>
            <a:endParaRPr lang="pt-BR" b="0" i="0" dirty="0">
              <a:effectLst/>
              <a:latin typeface="-apple-system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b="0" i="0" dirty="0" err="1" smtClean="0">
                <a:effectLst/>
                <a:latin typeface="-apple-system"/>
              </a:rPr>
              <a:t>Flatbuffers</a:t>
            </a:r>
            <a:r>
              <a:rPr lang="pt-BR" b="0" i="0" dirty="0" smtClean="0">
                <a:effectLst/>
                <a:latin typeface="-apple-system"/>
              </a:rPr>
              <a:t> </a:t>
            </a:r>
            <a:r>
              <a:rPr lang="pt-BR" b="0" i="0" dirty="0">
                <a:effectLst/>
                <a:latin typeface="-apple-system"/>
              </a:rPr>
              <a:t>é especialmente útil em cenários em que a velocidade e o tamanho compacto dos dados são essenciais, como jogos, aplicativos móveis e sistemas de comunicação de rede.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88209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Lite: Geração de modelos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É possível gerar um modelo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das seguintes maneiras: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Use um modelo existente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Lite: consulte os exemplos de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para escolher um modelo existente. Os modelos podem ou não conter metadados.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2D00DCBC-E4E6-D605-D704-02B8108A9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888" y="2937226"/>
            <a:ext cx="7303911" cy="3110135"/>
          </a:xfrm>
          <a:prstGeom prst="rect">
            <a:avLst/>
          </a:prstGeom>
        </p:spPr>
      </p:pic>
      <p:sp>
        <p:nvSpPr>
          <p:cNvPr id="5" name="Retângulo 4"/>
          <p:cNvSpPr/>
          <p:nvPr/>
        </p:nvSpPr>
        <p:spPr>
          <a:xfrm>
            <a:off x="2496207" y="6215969"/>
            <a:ext cx="69525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https://github.com/tensorflow/examples/tree/master/lite/examples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24333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É possível gerar um modelo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das seguintes maneiras: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Crie um modelo do TensorFlow Lite: use o TensorFlow Lite Model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Maker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para criar um modelo com seu próprio conjunto de dados personalizado. </a:t>
            </a:r>
            <a:endParaRPr lang="pt-BR" sz="2000" dirty="0" smtClean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Por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padrão, todos os modelos contêm metadados. </a:t>
            </a:r>
            <a:endParaRPr lang="pt-BR" sz="2000" dirty="0" smtClean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Usa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transfer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learning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para reduzir a quantidade de dados de treinamento necessários e </a:t>
            </a:r>
            <a:r>
              <a:rPr lang="pt-BR" sz="2000" dirty="0" smtClean="0">
                <a:ea typeface="Calibri" panose="020F0502020204030204" pitchFamily="34" charset="0"/>
                <a:cs typeface="Arial" panose="020B0604020202020204" pitchFamily="34" charset="0"/>
              </a:rPr>
              <a:t>reduzir o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tempo de treinamento.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  <a:hlinkClick r:id="rId3"/>
              </a:rPr>
              <a:t>https://www.tensorflow.org/lite/models/modify/model_maker?hl=pt-br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5569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32933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É possível gerar um modelo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das seguintes maneiras: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Converta um modelo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em um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Lite: use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Converter para converter modelos. Durante a conversão, você pode aplicar otimizações como a quantização para diminuir o tamanho e a latência do modelo com pouca ou nenhuma perda na acurácia. Por padrão, nenhum dos modelos contém metadados.</a:t>
            </a:r>
          </a:p>
        </p:txBody>
      </p:sp>
      <p:pic>
        <p:nvPicPr>
          <p:cNvPr id="3074" name="Picture 2" descr="Conversor do TensorFlow Lite">
            <a:extLst>
              <a:ext uri="{FF2B5EF4-FFF2-40B4-BE49-F238E27FC236}">
                <a16:creationId xmlns:a16="http://schemas.microsoft.com/office/drawing/2014/main" xmlns="" id="{F2857146-E0AC-CAA4-F70C-A96D028762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9190" y="2857369"/>
            <a:ext cx="4034895" cy="4000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9372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xmlns="" id="{582E9589-8177-29E1-55FB-2378173837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24514" y="2142361"/>
            <a:ext cx="8855207" cy="2979678"/>
          </a:xfr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xmlns="" id="{3E2FA7D6-384A-F9CA-866B-DFF3096B442E}"/>
              </a:ext>
            </a:extLst>
          </p:cNvPr>
          <p:cNvSpPr txBox="1"/>
          <p:nvPr/>
        </p:nvSpPr>
        <p:spPr>
          <a:xfrm>
            <a:off x="768085" y="1267246"/>
            <a:ext cx="8855206" cy="388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1800">
                <a:ea typeface="Calibri" panose="020F0502020204030204" pitchFamily="34" charset="0"/>
                <a:cs typeface="Arial" panose="020B0604020202020204" pitchFamily="34" charset="0"/>
              </a:rPr>
              <a:t>Quando </a:t>
            </a:r>
            <a:r>
              <a:rPr lang="pt-BR" sz="1800" smtClean="0">
                <a:ea typeface="Calibri" panose="020F0502020204030204" pitchFamily="34" charset="0"/>
                <a:cs typeface="Arial" panose="020B0604020202020204" pitchFamily="34" charset="0"/>
              </a:rPr>
              <a:t>se utiliza </a:t>
            </a:r>
            <a:r>
              <a:rPr lang="pt-BR" sz="1800" dirty="0">
                <a:ea typeface="Calibri" panose="020F0502020204030204" pitchFamily="34" charset="0"/>
                <a:cs typeface="Arial" panose="020B0604020202020204" pitchFamily="34" charset="0"/>
              </a:rPr>
              <a:t>outros frameworks é necessário converter primeiro para o TensorFlow.</a:t>
            </a:r>
          </a:p>
        </p:txBody>
      </p:sp>
    </p:spTree>
    <p:extLst>
      <p:ext uri="{BB962C8B-B14F-4D97-AF65-F5344CB8AC3E}">
        <p14:creationId xmlns:p14="http://schemas.microsoft.com/office/powerpoint/2010/main" val="338509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7BA7BDF9-2959-F7FF-5D39-6C6B8E4F1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0216444" cy="3934178"/>
          </a:xfrm>
        </p:spPr>
        <p:txBody>
          <a:bodyPr>
            <a:normAutofit/>
          </a:bodyPr>
          <a:lstStyle/>
          <a:p>
            <a:r>
              <a:rPr lang="pt-BR" dirty="0"/>
              <a:t>Como o </a:t>
            </a:r>
            <a:r>
              <a:rPr lang="pt-BR" dirty="0" err="1"/>
              <a:t>tensorflow</a:t>
            </a:r>
            <a:r>
              <a:rPr lang="pt-BR" dirty="0"/>
              <a:t> lite roda em dispositivos em </a:t>
            </a:r>
            <a:r>
              <a:rPr lang="pt-BR" dirty="0" err="1"/>
              <a:t>emabarcados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Operações de poda;</a:t>
            </a:r>
          </a:p>
          <a:p>
            <a:pPr lvl="1"/>
            <a:r>
              <a:rPr lang="pt-BR" dirty="0"/>
              <a:t>Operações de quantização.</a:t>
            </a:r>
          </a:p>
        </p:txBody>
      </p:sp>
    </p:spTree>
    <p:extLst>
      <p:ext uri="{BB962C8B-B14F-4D97-AF65-F5344CB8AC3E}">
        <p14:creationId xmlns:p14="http://schemas.microsoft.com/office/powerpoint/2010/main" val="23294471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Poda de redes neurais (</a:t>
            </a:r>
            <a:r>
              <a:rPr lang="pt-BR" dirty="0" err="1"/>
              <a:t>Pruning</a:t>
            </a:r>
            <a:r>
              <a:rPr lang="pt-BR" dirty="0"/>
              <a:t>)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7BA7BDF9-2959-F7FF-5D39-6C6B8E4F1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0216444" cy="3934178"/>
          </a:xfrm>
        </p:spPr>
        <p:txBody>
          <a:bodyPr>
            <a:normAutofit/>
          </a:bodyPr>
          <a:lstStyle/>
          <a:p>
            <a:r>
              <a:rPr lang="pt-BR" dirty="0"/>
              <a:t>Existem diferentes maneiras de podar uma rede neural.</a:t>
            </a:r>
          </a:p>
          <a:p>
            <a:pPr lvl="1"/>
            <a:r>
              <a:rPr lang="pt-BR" dirty="0"/>
              <a:t> (1) Você pode podar pesos. Isso é feito definindo parâmetros individuais como zero e tornando a rede esparsa. Isso reduziria o número de parâmetros no modelo, mantendo a mesma arquitetura.</a:t>
            </a:r>
          </a:p>
          <a:p>
            <a:pPr lvl="1"/>
            <a:r>
              <a:rPr lang="pt-BR" dirty="0"/>
              <a:t> (2) Você pode remover nós inteiros da rede. Isso tornaria a própria arquitetura da rede menor, ao mesmo tempo que visava manter a precisão da rede inicial maior.</a:t>
            </a:r>
          </a:p>
        </p:txBody>
      </p:sp>
    </p:spTree>
    <p:extLst>
      <p:ext uri="{BB962C8B-B14F-4D97-AF65-F5344CB8AC3E}">
        <p14:creationId xmlns:p14="http://schemas.microsoft.com/office/powerpoint/2010/main" val="22571785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Poda de redes neurais (</a:t>
            </a:r>
            <a:r>
              <a:rPr lang="pt-BR" dirty="0" err="1"/>
              <a:t>Pruning</a:t>
            </a:r>
            <a:r>
              <a:rPr lang="pt-BR" dirty="0"/>
              <a:t>)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Espaço Reservado para Conteúdo 12">
            <a:extLst>
              <a:ext uri="{FF2B5EF4-FFF2-40B4-BE49-F238E27FC236}">
                <a16:creationId xmlns:a16="http://schemas.microsoft.com/office/drawing/2014/main" xmlns="" id="{EAC1090C-D9CA-25EE-436B-18F72CCC87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32000" y="2688650"/>
            <a:ext cx="6839384" cy="2876931"/>
          </a:xfr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67BFE557-71C9-7AEA-425B-CFDF1E9E5A7C}"/>
              </a:ext>
            </a:extLst>
          </p:cNvPr>
          <p:cNvSpPr txBox="1"/>
          <p:nvPr/>
        </p:nvSpPr>
        <p:spPr>
          <a:xfrm>
            <a:off x="948267" y="946986"/>
            <a:ext cx="86698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Remover um peso é essencialmente defini-lo como zero. Você pode minimizar o efeito na rede removendo pesos que já estão próximos de zero, ou seja, de magnitude baixa. Isto pode ser implementado removendo todos os pesos abaixo de um determinado limite.</a:t>
            </a:r>
          </a:p>
        </p:txBody>
      </p:sp>
    </p:spTree>
    <p:extLst>
      <p:ext uri="{BB962C8B-B14F-4D97-AF65-F5344CB8AC3E}">
        <p14:creationId xmlns:p14="http://schemas.microsoft.com/office/powerpoint/2010/main" val="2936037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Poda de redes neurais (</a:t>
            </a:r>
            <a:r>
              <a:rPr lang="pt-BR" dirty="0" err="1"/>
              <a:t>Pruning</a:t>
            </a:r>
            <a:r>
              <a:rPr lang="pt-BR" dirty="0"/>
              <a:t>)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7BA7BDF9-2959-F7FF-5D39-6C6B8E4F1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58711"/>
            <a:ext cx="10216444" cy="3934178"/>
          </a:xfrm>
        </p:spPr>
        <p:txBody>
          <a:bodyPr>
            <a:normAutofit/>
          </a:bodyPr>
          <a:lstStyle/>
          <a:p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Em vez de apenas pesos, as ativações nos dados de treinamento podem ser usadas como critério para remoção. </a:t>
            </a:r>
          </a:p>
          <a:p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Ao executar um conjunto de dados em uma rede, certas estatísticas das ativações podem ser observadas.</a:t>
            </a:r>
          </a:p>
          <a:p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 Você pode observar que alguns neurônios sempre produzem valores próximos de zero.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902842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Poda de redes neurais (</a:t>
            </a:r>
            <a:r>
              <a:rPr lang="pt-BR" dirty="0" err="1"/>
              <a:t>Pruning</a:t>
            </a:r>
            <a:r>
              <a:rPr lang="pt-BR" dirty="0"/>
              <a:t>)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xmlns="" id="{7BA7BDF9-2959-F7FF-5D39-6C6B8E4F1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10216444" cy="3934178"/>
          </a:xfrm>
        </p:spPr>
        <p:txBody>
          <a:bodyPr>
            <a:normAutofit/>
          </a:bodyPr>
          <a:lstStyle/>
          <a:p>
            <a:r>
              <a:rPr lang="pt-BR" b="0" i="0" dirty="0">
                <a:solidFill>
                  <a:srgbClr val="242424"/>
                </a:solidFill>
                <a:effectLst/>
                <a:latin typeface="source-serif-pro"/>
              </a:rPr>
              <a:t> A redundância de parâmetros pode significar que um neurônio pode ser removido. Se dois neurônios em uma camada tiverem pesos ou ativações muito semelhantes, isso pode significar que estão fazendo a mesma coisa. </a:t>
            </a:r>
            <a:endParaRPr lang="pt-BR" dirty="0"/>
          </a:p>
        </p:txBody>
      </p:sp>
      <p:pic>
        <p:nvPicPr>
          <p:cNvPr id="4" name="Espaço Reservado para Conteúdo 9">
            <a:extLst>
              <a:ext uri="{FF2B5EF4-FFF2-40B4-BE49-F238E27FC236}">
                <a16:creationId xmlns:a16="http://schemas.microsoft.com/office/drawing/2014/main" xmlns="" id="{7090F274-8A04-97E4-143C-838E33ABD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44" y="2191685"/>
            <a:ext cx="9539111" cy="3468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768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Quantização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 quantização é uma otimização que funciona reduzindo a precisão dos números usados para representar os parâmetros de um modelo, que por padrão são números de ponto flutuante de 32 bits.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1BAEEA87-F627-65F5-4E21-A51298EDC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5604" y="2769495"/>
            <a:ext cx="3266974" cy="3021705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E8522154-127B-CB62-B177-FCDB739B0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600" y="2653752"/>
            <a:ext cx="2906919" cy="313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1323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Quantização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 operação de quantização não é reversível.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Imagem Lena quantizada em 16, 8, 4 e 2 bits / pixel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44919B43-A8D0-0E72-BC89-A94FC118B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582" y="2155856"/>
            <a:ext cx="5029636" cy="4519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843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Quantização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Perda de precisão pela quantização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5188D633-0B89-9550-96D0-D8140F2D4E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36" y="1748644"/>
            <a:ext cx="8687553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7392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micro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for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Microcontrollers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(TFLM, abreviadamente) foi projetado para executar modelos de aprendizado de máquina em microcontroladores e outros dispositivos com apenas alguns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kilobytes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de memória.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Com a finalidade de implantar o modelo de aprendizado de máquina em dispositivos embarcados, ele também é chamado de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TinyML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é uma das estruturas de aprendizado profundo comumente usadas e, a partir da versão 2.x, eles oferecem alguns recursos de aprendizado de máquina para sistemas embarcados por meio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Ao contrário do processador móvel de alto desempenho (como a série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Cortex-A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), o microcontrolador (série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Cortex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-M ou ESP32) tem baixo consumo de energia e pode ser implantado de várias formas em produtos do cliente, como geladeira, máquina de lavar e assim por diante.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09225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 err="1"/>
              <a:t>TensorFlow</a:t>
            </a:r>
            <a:r>
              <a:rPr lang="pt-BR" dirty="0"/>
              <a:t> Lite micro 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TensorFlow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Lite para microcontroladores é escrito em C++ 11 e requer uma plataforma de 32 bits.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Ele foi testado extensivamente com muitos processadores baseados na arquitetura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Arm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Cortex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-M Series e foi portado a outras arquiteturas, incluindo ESP32. O framework está disponível como uma biblioteca Arduino.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Ele também pode gerar projetos para ambientes de desenvolvimento, como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Mbed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. Ele é de código aberto e pode ser incluído em qualquer projeto C++ 11.</a:t>
            </a:r>
          </a:p>
        </p:txBody>
      </p:sp>
    </p:spTree>
    <p:extLst>
      <p:ext uri="{BB962C8B-B14F-4D97-AF65-F5344CB8AC3E}">
        <p14:creationId xmlns:p14="http://schemas.microsoft.com/office/powerpoint/2010/main" val="8526249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37590F3D-5B48-A87A-562A-0F137E253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265" y="1647990"/>
            <a:ext cx="6854114" cy="464556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4717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Importação de bibliotecas e definição das sementes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1F89EE25-B491-63A3-3836-CC948FFC5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839" y="2185553"/>
            <a:ext cx="6134632" cy="269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6431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Geração da onda senoidal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9E3EF363-642C-D87E-BC2E-70601C913B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1725" y="2156145"/>
            <a:ext cx="8824725" cy="363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7792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Geração da onda senoidal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xmlns="" id="{06DF1C46-9A68-B926-41A8-307C5C590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9986" y="2068253"/>
            <a:ext cx="7047958" cy="433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9265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Adição de ruído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0F98BB6-F55B-F1C7-5F9B-1DFB6063B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2338" y="2698668"/>
            <a:ext cx="6997218" cy="2539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0468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Adição de ruído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xmlns="" id="{A0AAE5CF-CA9E-E0E3-D85D-263DFE582A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2085430"/>
            <a:ext cx="5936094" cy="3705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09146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Separação das amostras em treinamento, validação e teste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</a:t>
            </a: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data: 60%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Validation</a:t>
            </a: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data: 20%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Test data: 20%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ABA14C0E-4E59-C74F-ABB4-621BF2E44C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85" y="3013550"/>
            <a:ext cx="9295589" cy="250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447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Separação das amostras em treinamento, validação e teste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Train</a:t>
            </a: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data: 60%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Validation</a:t>
            </a: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data: 20%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pt-BR" sz="1600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Test data: 20%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xmlns="" id="{7023B888-E104-91F4-07E8-6994C5329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2485038"/>
            <a:ext cx="6034617" cy="3767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60417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Modelo inicial 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F75E6F28-3196-FC63-D959-EADE8E1DE2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699" y="2192446"/>
            <a:ext cx="8253175" cy="1234547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E5502749-27CB-FDE7-2CE8-72951656A8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1851" y="4251538"/>
            <a:ext cx="5715495" cy="2423370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561CFFEC-08C1-CD4C-FC70-099988A4C9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2174" y="3627413"/>
            <a:ext cx="7773074" cy="525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5393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Treinamento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52C14F81-36BB-C55A-8659-815F379468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57" y="2862651"/>
            <a:ext cx="11834886" cy="40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452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Gráfico da métrica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loss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para treinamento e validação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DB2B547F-A630-D1B7-2109-3DC4D19D27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5299" y="2377144"/>
            <a:ext cx="7041490" cy="34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50463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Gráfico da métrica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loss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para treinamento e validação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F94B7FE8-9A77-F6D6-2FC1-C8C992521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514" y="2046569"/>
            <a:ext cx="6722886" cy="430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392072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Cálculo do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loss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e predição do modelo para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de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test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3714E700-976E-460D-4546-4CCC2EBEC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6270" y="2695897"/>
            <a:ext cx="6340389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254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Predição do modelo para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de teste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xmlns="" id="{B22F1180-E588-BC5E-E4DA-3F3672643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611" y="2263336"/>
            <a:ext cx="5811308" cy="3664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54261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Segundo modelo com uma camada densa extra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214A25D-CB3D-3ABA-014A-B63E569C2B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5102" y="2212315"/>
            <a:ext cx="8382726" cy="3833192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521FCD22-130C-EC11-876D-016192B6F4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9166" y="6147107"/>
            <a:ext cx="7041490" cy="662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24557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Predição do modelo para 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de teste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DF431961-F6F2-0B91-AECF-CB0B091898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325719"/>
            <a:ext cx="6274153" cy="3956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59349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Conversão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Criação de um diretório para 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4469F54-A4BD-9ED2-8C9A-77D0C894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48" y="2865071"/>
            <a:ext cx="3505504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5558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Conversão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Criação de um diretório para 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04469F54-A4BD-9ED2-8C9A-77D0C8946A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3248" y="2865071"/>
            <a:ext cx="3505504" cy="112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87922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Conversão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D09DBB8C-50CF-C342-7D26-B48E53BC3F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8454" y="2104596"/>
            <a:ext cx="6928790" cy="411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0488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Conversão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Comparação dos tamanhos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9E2891CE-733B-3797-711B-C906AD2138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9450" y="2814258"/>
            <a:ext cx="7963590" cy="1432684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50203DA5-6627-07C8-8B60-A545B6A328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64702" y="4767248"/>
            <a:ext cx="3515031" cy="85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3174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9A60A1B2-78F9-3548-6FC2-8B05342F25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2552" y="1216025"/>
            <a:ext cx="2312140" cy="534346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xmlns="" id="{5CE19526-EDB1-1A07-E073-940FEB141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9565" y="1066800"/>
            <a:ext cx="2587462" cy="5593607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xmlns="" id="{1F3F11BC-5440-CB75-5F2E-FBBAC9055929}"/>
              </a:ext>
            </a:extLst>
          </p:cNvPr>
          <p:cNvSpPr txBox="1"/>
          <p:nvPr/>
        </p:nvSpPr>
        <p:spPr>
          <a:xfrm>
            <a:off x="8408140" y="342900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6"/>
              </a:rPr>
              <a:t>https://netron.app/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5275050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xmlns="" id="{E10B2ADC-5CF8-719E-81F1-C7CC0432D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997" y="939955"/>
            <a:ext cx="3993910" cy="5181289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xmlns="" id="{80CB507E-4F73-A165-C547-578208370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28" y="812555"/>
            <a:ext cx="4268473" cy="530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82274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Conversão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Fazendo a predição para os modelos criados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xmlns="" id="{768583F4-ECF0-7B34-E22F-DF2762D32B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544" y="2433009"/>
            <a:ext cx="6563678" cy="424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8558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Exemplo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Hello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world seno de um ângulo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Comparação dos modelos</a:t>
            </a: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52408" indent="0" algn="just">
              <a:lnSpc>
                <a:spcPct val="107000"/>
              </a:lnSpc>
              <a:spcAft>
                <a:spcPts val="533"/>
              </a:spcAft>
              <a:buNone/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xmlns="" id="{F8826BE6-F5D4-2CCE-6892-6770A4FEE8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331" y="1113839"/>
            <a:ext cx="1722269" cy="342930"/>
          </a:xfrm>
          <a:prstGeom prst="rect">
            <a:avLst/>
          </a:prstGeom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xmlns="" id="{9929DAC8-BF08-D1F0-2C01-AAC59ED2D3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118" y="1886583"/>
            <a:ext cx="7105021" cy="4559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785567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xmlns="" id="{D39E7734-B842-27FE-C995-D6BC09855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800" y="1233163"/>
            <a:ext cx="9294813" cy="3997973"/>
          </a:xfrm>
        </p:spPr>
      </p:pic>
    </p:spTree>
    <p:extLst>
      <p:ext uri="{BB962C8B-B14F-4D97-AF65-F5344CB8AC3E}">
        <p14:creationId xmlns:p14="http://schemas.microsoft.com/office/powerpoint/2010/main" val="28106401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xmlns="" id="{6481EB2B-C5C0-A860-3AAB-A895F113EA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800" y="1724579"/>
            <a:ext cx="9979378" cy="3096326"/>
          </a:xfrm>
        </p:spPr>
      </p:pic>
    </p:spTree>
    <p:extLst>
      <p:ext uri="{BB962C8B-B14F-4D97-AF65-F5344CB8AC3E}">
        <p14:creationId xmlns:p14="http://schemas.microsoft.com/office/powerpoint/2010/main" val="251913089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Edge Impulse é uma plataforma para desenvolver e implantar modelos de aprendizado de máquina em dispositivos de ponta.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Ele fornece um conjunto de ferramentas e serviços que facilitam a coleta de dados, o treinamento de modelos e a implantação deles em dispositivos de borda.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Edge Impulse oferece suporte a uma ampla variedade de dispositivos de ponta, incluindo microcontroladores, sistemas embarcados e dispositivos móveis.</a:t>
            </a:r>
          </a:p>
        </p:txBody>
      </p:sp>
    </p:spTree>
    <p:extLst>
      <p:ext uri="{BB962C8B-B14F-4D97-AF65-F5344CB8AC3E}">
        <p14:creationId xmlns:p14="http://schemas.microsoft.com/office/powerpoint/2010/main" val="39866116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O Edge Impulse é usado por uma ampla variedade de empresas e organizações.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xmlns="" id="{8EFEC104-CE53-CF10-7F4F-B8544A118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77" y="3232009"/>
            <a:ext cx="10673846" cy="82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075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Fácil de usar: O Edge Impulse é fácil de usar, mesmo para desenvolvedores sem experiência anterior em aprendizado de máquina.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Abrangente: O Edge Impulse fornece um conjunto abrangente de ferramentas e serviços para desenvolver e implantar modelos de aprendizado de máquina em dispositivos de borda.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Flexível: O Edge Impulse oferece suporte a uma ampla variedade de dispositivos de borda e estruturas de aprendizado de máquina.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Escalável: O Edge Impulse pode ser usado para desenvolver e implantar modelos de aprendizado de máquina em um grande número de dispositivos de borda.</a:t>
            </a:r>
          </a:p>
        </p:txBody>
      </p:sp>
    </p:spTree>
    <p:extLst>
      <p:ext uri="{BB962C8B-B14F-4D97-AF65-F5344CB8AC3E}">
        <p14:creationId xmlns:p14="http://schemas.microsoft.com/office/powerpoint/2010/main" val="5344383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Exemplo guiado classificação do grão de café.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  <a:hlinkClick r:id="rId4"/>
              </a:rPr>
              <a:t>https://edgeimpulse.com/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: 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  <a:hlinkClick r:id="rId5"/>
              </a:rPr>
              <a:t>https://www.kaggle.com/datasets/gpiosenka/coffee-bean-dataset-resized-224-x-224</a:t>
            </a: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endParaRPr lang="pt-BR" sz="2000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2290" name="Picture 2" descr="Cover image">
            <a:extLst>
              <a:ext uri="{FF2B5EF4-FFF2-40B4-BE49-F238E27FC236}">
                <a16:creationId xmlns:a16="http://schemas.microsoft.com/office/drawing/2014/main" xmlns="" id="{5CBA2329-193F-1539-8967-72445A367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8443" y="3175353"/>
            <a:ext cx="6946617" cy="349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524806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Tarefa aula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Escolher um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no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kaggle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e fazer um treinamento no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edge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impulse</a:t>
            </a:r>
          </a:p>
        </p:txBody>
      </p:sp>
    </p:spTree>
    <p:extLst>
      <p:ext uri="{BB962C8B-B14F-4D97-AF65-F5344CB8AC3E}">
        <p14:creationId xmlns:p14="http://schemas.microsoft.com/office/powerpoint/2010/main" val="298249624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F09B89C-3183-4D52-981A-62798DDF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3092"/>
            <a:ext cx="6559285" cy="762000"/>
          </a:xfrm>
        </p:spPr>
        <p:txBody>
          <a:bodyPr>
            <a:normAutofit/>
          </a:bodyPr>
          <a:lstStyle/>
          <a:p>
            <a:r>
              <a:rPr lang="pt-BR" dirty="0"/>
              <a:t>Edge Impulse</a:t>
            </a:r>
          </a:p>
        </p:txBody>
      </p:sp>
      <p:sp>
        <p:nvSpPr>
          <p:cNvPr id="3" name="AutoShape 2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0166B4DD-D72A-4A54-94A7-2C38133837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94400" y="33274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AutoShape 4" descr="An example of graph signal reconstruction over wireless sensor network. |  Download Scientific Diagram">
            <a:extLst>
              <a:ext uri="{FF2B5EF4-FFF2-40B4-BE49-F238E27FC236}">
                <a16:creationId xmlns:a16="http://schemas.microsoft.com/office/drawing/2014/main" xmlns="" id="{14C2B67D-81A1-457E-A410-FE4350A3CCA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203200" cy="20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0960" tIns="30480" rIns="60960" bIns="30480" numCol="1" anchor="t" anchorCtr="0" compatLnSpc="1">
            <a:prstTxWarp prst="textNoShape">
              <a:avLst/>
            </a:prstTxWarp>
          </a:bodyPr>
          <a:lstStyle/>
          <a:p>
            <a:pPr defTabSz="609630"/>
            <a:endParaRPr lang="pt-BR" sz="120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0349BA64-C9D7-4730-9CA9-5C4AD9FC7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66800"/>
            <a:ext cx="9295589" cy="4330419"/>
          </a:xfrm>
        </p:spPr>
        <p:txBody>
          <a:bodyPr>
            <a:noAutofit/>
          </a:bodyPr>
          <a:lstStyle/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Trabalho </a:t>
            </a:r>
          </a:p>
          <a:p>
            <a:pPr marL="495308" indent="-342900" algn="just">
              <a:lnSpc>
                <a:spcPct val="107000"/>
              </a:lnSpc>
              <a:spcAft>
                <a:spcPts val="533"/>
              </a:spcAft>
            </a:pP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Criar um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dataset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de imagens com o celular e fazer um treinamento no </a:t>
            </a:r>
            <a:r>
              <a:rPr lang="pt-BR" sz="2000" dirty="0" err="1">
                <a:ea typeface="Calibri" panose="020F0502020204030204" pitchFamily="34" charset="0"/>
                <a:cs typeface="Arial" panose="020B0604020202020204" pitchFamily="34" charset="0"/>
              </a:rPr>
              <a:t>edge</a:t>
            </a:r>
            <a:r>
              <a:rPr lang="pt-BR" sz="2000" dirty="0">
                <a:ea typeface="Calibri" panose="020F0502020204030204" pitchFamily="34" charset="0"/>
                <a:cs typeface="Arial" panose="020B0604020202020204" pitchFamily="34" charset="0"/>
              </a:rPr>
              <a:t> impulse</a:t>
            </a:r>
          </a:p>
        </p:txBody>
      </p:sp>
    </p:spTree>
    <p:extLst>
      <p:ext uri="{BB962C8B-B14F-4D97-AF65-F5344CB8AC3E}">
        <p14:creationId xmlns:p14="http://schemas.microsoft.com/office/powerpoint/2010/main" val="1017366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 Pós Modelo 1" id="{1890BCC5-262A-4203-9447-FAC66B7F6DAC}" vid="{D23E53B5-32D4-4E89-8BD3-27CFCC7177E3}"/>
    </a:ext>
  </a:extLst>
</a:theme>
</file>

<file path=ppt/theme/theme3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15375</TotalTime>
  <Words>2091</Words>
  <Application>Microsoft Office PowerPoint</Application>
  <PresentationFormat>Widescreen</PresentationFormat>
  <Paragraphs>288</Paragraphs>
  <Slides>73</Slides>
  <Notes>23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73</vt:i4>
      </vt:variant>
    </vt:vector>
  </HeadingPairs>
  <TitlesOfParts>
    <vt:vector size="83" baseType="lpstr">
      <vt:lpstr>-apple-system</vt:lpstr>
      <vt:lpstr>Arial</vt:lpstr>
      <vt:lpstr>Calibri</vt:lpstr>
      <vt:lpstr>Calibri Light</vt:lpstr>
      <vt:lpstr>Roboto</vt:lpstr>
      <vt:lpstr>source-serif-pro</vt:lpstr>
      <vt:lpstr>Times New Roman</vt:lpstr>
      <vt:lpstr>Tema do Office</vt:lpstr>
      <vt:lpstr>1_Tema do Office</vt:lpstr>
      <vt:lpstr>2_Tema do Office</vt:lpstr>
      <vt:lpstr>TP557 - Tópicos avançados em IoT e Machine Learning: TensorFlow Lite</vt:lpstr>
      <vt:lpstr>Samuel Baraldi Mafra</vt:lpstr>
      <vt:lpstr>Samuel Baraldi Mafra</vt:lpstr>
      <vt:lpstr>TinyML</vt:lpstr>
      <vt:lpstr>Processamento na borda com dispositivos embarcados</vt:lpstr>
      <vt:lpstr>Processamento na borda com dispositivos embarcados</vt:lpstr>
      <vt:lpstr>Processamento tradicional</vt:lpstr>
      <vt:lpstr>Processamento na borda com dispositivos embarcados</vt:lpstr>
      <vt:lpstr>Processamento na borda com dispositivos embarcados</vt:lpstr>
      <vt:lpstr>Processamento na borda com dispositivos embarcados</vt:lpstr>
      <vt:lpstr>Processamento na borda com dispositivos embarcados</vt:lpstr>
      <vt:lpstr> </vt:lpstr>
      <vt:lpstr>Conteúdo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 </vt:lpstr>
      <vt:lpstr>TensorFlow Lite: Geração de modelos </vt:lpstr>
      <vt:lpstr>TensorFlow Lite </vt:lpstr>
      <vt:lpstr>TensorFlow Lite </vt:lpstr>
      <vt:lpstr>TensorFlow Lite </vt:lpstr>
      <vt:lpstr>TensorFlow Lite</vt:lpstr>
      <vt:lpstr>Poda de redes neurais (Pruning)</vt:lpstr>
      <vt:lpstr>Poda de redes neurais (Pruning)</vt:lpstr>
      <vt:lpstr>Poda de redes neurais (Pruning)</vt:lpstr>
      <vt:lpstr>Poda de redes neurais (Pruning)</vt:lpstr>
      <vt:lpstr>Quantização</vt:lpstr>
      <vt:lpstr>Quantização</vt:lpstr>
      <vt:lpstr>Quantização</vt:lpstr>
      <vt:lpstr>TensorFlow Lite micro </vt:lpstr>
      <vt:lpstr>TensorFlow Lite micro 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Exemplo</vt:lpstr>
      <vt:lpstr>Edge Impulse</vt:lpstr>
      <vt:lpstr>Edge Impulse</vt:lpstr>
      <vt:lpstr>Edge Impulse</vt:lpstr>
      <vt:lpstr>Edge Impulse</vt:lpstr>
      <vt:lpstr>Edge Impulse</vt:lpstr>
      <vt:lpstr>Edge Impulse</vt:lpstr>
      <vt:lpstr>Edge Impulse</vt:lpstr>
      <vt:lpstr>Edge Impulse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2359</cp:revision>
  <dcterms:created xsi:type="dcterms:W3CDTF">2020-01-20T13:50:05Z</dcterms:created>
  <dcterms:modified xsi:type="dcterms:W3CDTF">2025-04-15T02:08:43Z</dcterms:modified>
</cp:coreProperties>
</file>