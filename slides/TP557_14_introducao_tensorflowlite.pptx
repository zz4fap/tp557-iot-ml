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77"/>
  </p:notesMasterIdLst>
  <p:handoutMasterIdLst>
    <p:handoutMasterId r:id="rId78"/>
  </p:handoutMasterIdLst>
  <p:sldIdLst>
    <p:sldId id="256" r:id="rId4"/>
    <p:sldId id="298" r:id="rId5"/>
    <p:sldId id="390" r:id="rId6"/>
    <p:sldId id="545" r:id="rId7"/>
    <p:sldId id="554" r:id="rId8"/>
    <p:sldId id="553" r:id="rId9"/>
    <p:sldId id="580" r:id="rId10"/>
    <p:sldId id="546" r:id="rId11"/>
    <p:sldId id="547" r:id="rId12"/>
    <p:sldId id="549" r:id="rId13"/>
    <p:sldId id="550" r:id="rId14"/>
    <p:sldId id="531" r:id="rId15"/>
    <p:sldId id="509" r:id="rId16"/>
    <p:sldId id="510" r:id="rId17"/>
    <p:sldId id="521" r:id="rId18"/>
    <p:sldId id="511" r:id="rId19"/>
    <p:sldId id="512" r:id="rId20"/>
    <p:sldId id="522" r:id="rId21"/>
    <p:sldId id="523" r:id="rId22"/>
    <p:sldId id="524" r:id="rId23"/>
    <p:sldId id="525" r:id="rId24"/>
    <p:sldId id="516" r:id="rId25"/>
    <p:sldId id="517" r:id="rId26"/>
    <p:sldId id="518" r:id="rId27"/>
    <p:sldId id="519" r:id="rId28"/>
    <p:sldId id="520" r:id="rId29"/>
    <p:sldId id="544" r:id="rId30"/>
    <p:sldId id="542" r:id="rId31"/>
    <p:sldId id="541" r:id="rId32"/>
    <p:sldId id="543" r:id="rId33"/>
    <p:sldId id="555" r:id="rId34"/>
    <p:sldId id="537" r:id="rId35"/>
    <p:sldId id="581" r:id="rId36"/>
    <p:sldId id="532" r:id="rId37"/>
    <p:sldId id="538" r:id="rId38"/>
    <p:sldId id="539" r:id="rId39"/>
    <p:sldId id="535" r:id="rId40"/>
    <p:sldId id="533" r:id="rId41"/>
    <p:sldId id="534" r:id="rId42"/>
    <p:sldId id="526" r:id="rId43"/>
    <p:sldId id="528" r:id="rId44"/>
    <p:sldId id="556" r:id="rId45"/>
    <p:sldId id="557" r:id="rId46"/>
    <p:sldId id="558" r:id="rId47"/>
    <p:sldId id="559" r:id="rId48"/>
    <p:sldId id="560" r:id="rId49"/>
    <p:sldId id="561" r:id="rId50"/>
    <p:sldId id="562" r:id="rId51"/>
    <p:sldId id="563" r:id="rId52"/>
    <p:sldId id="564" r:id="rId53"/>
    <p:sldId id="565" r:id="rId54"/>
    <p:sldId id="566" r:id="rId55"/>
    <p:sldId id="567" r:id="rId56"/>
    <p:sldId id="568" r:id="rId57"/>
    <p:sldId id="569" r:id="rId58"/>
    <p:sldId id="570" r:id="rId59"/>
    <p:sldId id="571" r:id="rId60"/>
    <p:sldId id="572" r:id="rId61"/>
    <p:sldId id="573" r:id="rId62"/>
    <p:sldId id="574" r:id="rId63"/>
    <p:sldId id="575" r:id="rId64"/>
    <p:sldId id="578" r:id="rId65"/>
    <p:sldId id="579" r:id="rId66"/>
    <p:sldId id="577" r:id="rId67"/>
    <p:sldId id="576" r:id="rId68"/>
    <p:sldId id="527" r:id="rId69"/>
    <p:sldId id="552" r:id="rId70"/>
    <p:sldId id="551" r:id="rId71"/>
    <p:sldId id="529" r:id="rId72"/>
    <p:sldId id="530" r:id="rId73"/>
    <p:sldId id="582" r:id="rId74"/>
    <p:sldId id="583" r:id="rId75"/>
    <p:sldId id="584" r:id="rId7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2567" autoAdjust="0"/>
  </p:normalViewPr>
  <p:slideViewPr>
    <p:cSldViewPr snapToGrid="0">
      <p:cViewPr varScale="1">
        <p:scale>
          <a:sx n="91" d="100"/>
          <a:sy n="91" d="100"/>
        </p:scale>
        <p:origin x="1674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presProps" Target="pres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82" Type="http://schemas.openxmlformats.org/officeDocument/2006/relationships/tableStyles" Target="tableStyles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handoutMaster" Target="handoutMasters/handoutMaster1.xml"/><Relationship Id="rId81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slide" Target="slides/slide73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14/04/2025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Ops</a:t>
            </a:r>
            <a:r>
              <a:rPr lang="pt-BR" dirty="0"/>
              <a:t> de operações. Tensorflow lite e micro suportam uma quantidade muito menor de operações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1390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09518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95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52212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606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77204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1389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39432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43387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8429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04843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00065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7313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3575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47359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2847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6306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60569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0375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48741" y="3014100"/>
            <a:ext cx="9022800" cy="8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O PRIMEIRO TÍTULO</a:t>
            </a:r>
          </a:p>
        </p:txBody>
      </p:sp>
      <p:cxnSp>
        <p:nvCxnSpPr>
          <p:cNvPr id="9" name="Google Shape;17;p3"/>
          <p:cNvCxnSpPr/>
          <p:nvPr userDrawn="1"/>
        </p:nvCxnSpPr>
        <p:spPr>
          <a:xfrm>
            <a:off x="1252860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18;p3"/>
          <p:cNvSpPr/>
          <p:nvPr userDrawn="1"/>
        </p:nvSpPr>
        <p:spPr>
          <a:xfrm flipH="1">
            <a:off x="843408" y="3023204"/>
            <a:ext cx="819200" cy="819200"/>
          </a:xfrm>
          <a:prstGeom prst="ellipse">
            <a:avLst/>
          </a:prstGeom>
          <a:solidFill>
            <a:srgbClr val="0070C0"/>
          </a:solidFill>
          <a:ln w="2857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grpSp>
        <p:nvGrpSpPr>
          <p:cNvPr id="11" name="Google Shape;118;p18"/>
          <p:cNvGrpSpPr/>
          <p:nvPr userDrawn="1"/>
        </p:nvGrpSpPr>
        <p:grpSpPr>
          <a:xfrm>
            <a:off x="1035391" y="3227475"/>
            <a:ext cx="391864" cy="393547"/>
            <a:chOff x="2594050" y="1631825"/>
            <a:chExt cx="439625" cy="439625"/>
          </a:xfrm>
        </p:grpSpPr>
        <p:sp>
          <p:nvSpPr>
            <p:cNvPr id="12" name="Google Shape;119;p18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3" name="Google Shape;120;p18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4" name="Google Shape;121;p18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5" name="Google Shape;122;p18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</p:grpSp>
      <p:pic>
        <p:nvPicPr>
          <p:cNvPr id="16" name="Imagem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7895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ique aqui para adicionar seu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20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0429D44C-024F-49BA-BA92-6BA652B41B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</p:spTree>
    <p:extLst>
      <p:ext uri="{BB962C8B-B14F-4D97-AF65-F5344CB8AC3E}">
        <p14:creationId xmlns:p14="http://schemas.microsoft.com/office/powerpoint/2010/main" val="38477176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9" name="Imagem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92FEC62A-AEF6-4001-BB11-823B08650E7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  <p:sp>
        <p:nvSpPr>
          <p:cNvPr id="10" name="Google Shape;14;p3">
            <a:extLst>
              <a:ext uri="{FF2B5EF4-FFF2-40B4-BE49-F238E27FC236}">
                <a16:creationId xmlns:a16="http://schemas.microsoft.com/office/drawing/2014/main" id="{137F0C9D-A7E1-438A-AC82-A6EC7B2C200F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05553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2" name="Google Shape;14;p3">
            <a:extLst>
              <a:ext uri="{FF2B5EF4-FFF2-40B4-BE49-F238E27FC236}">
                <a16:creationId xmlns:a16="http://schemas.microsoft.com/office/drawing/2014/main" id="{9D3AA249-572A-43DC-88A4-DDB8F15E43B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65377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E55CBC1E-334C-401B-8582-9E8D56E2C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2623929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C0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9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2" name="Imagem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C54F93D9-1F86-4299-9A39-CDC0441F1E4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928346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11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1E9A4DC9-1926-455C-BB66-B463FFEA4C9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424401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cap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000" dirty="0"/>
          </a:p>
        </p:txBody>
      </p:sp>
      <p:cxnSp>
        <p:nvCxnSpPr>
          <p:cNvPr id="7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11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67541" y="3074200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subtítulo</a:t>
            </a:r>
          </a:p>
        </p:txBody>
      </p:sp>
    </p:spTree>
    <p:extLst>
      <p:ext uri="{BB962C8B-B14F-4D97-AF65-F5344CB8AC3E}">
        <p14:creationId xmlns:p14="http://schemas.microsoft.com/office/powerpoint/2010/main" val="413123522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7575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9" name="Imagem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88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473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</p:sldLayoutIdLst>
  <p:txStyles>
    <p:titleStyle>
      <a:lvl1pPr algn="ctr" defTabSz="1219078" rtl="0" eaLnBrk="1" latinLnBrk="0" hangingPunct="1">
        <a:spcBef>
          <a:spcPct val="0"/>
        </a:spcBef>
        <a:buNone/>
        <a:defRPr sz="58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54" indent="-457154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501" indent="-380962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387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926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2465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2004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1543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1082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tinyurl.com/edgemlbooks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tensorflow.org/mlir/tfl_ops" TargetMode="Externa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lite/models/modify/model_maker?hl=pt-br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3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5.png"/><Relationship Id="rId4" Type="http://schemas.openxmlformats.org/officeDocument/2006/relationships/image" Target="../media/image3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6.png"/><Relationship Id="rId4" Type="http://schemas.openxmlformats.org/officeDocument/2006/relationships/image" Target="../media/image3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3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8.png"/><Relationship Id="rId4" Type="http://schemas.openxmlformats.org/officeDocument/2006/relationships/image" Target="../media/image34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9.png"/><Relationship Id="rId4" Type="http://schemas.openxmlformats.org/officeDocument/2006/relationships/image" Target="../media/image34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34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2.png"/><Relationship Id="rId4" Type="http://schemas.openxmlformats.org/officeDocument/2006/relationships/image" Target="../media/image34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3.png"/><Relationship Id="rId4" Type="http://schemas.openxmlformats.org/officeDocument/2006/relationships/image" Target="../media/image34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3.png"/><Relationship Id="rId4" Type="http://schemas.openxmlformats.org/officeDocument/2006/relationships/image" Target="../media/image34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4.png"/><Relationship Id="rId4" Type="http://schemas.openxmlformats.org/officeDocument/2006/relationships/image" Target="../media/image3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34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netron.app/" TargetMode="Externa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1.png"/><Relationship Id="rId4" Type="http://schemas.openxmlformats.org/officeDocument/2006/relationships/image" Target="../media/image34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2.png"/><Relationship Id="rId4" Type="http://schemas.openxmlformats.org/officeDocument/2006/relationships/image" Target="../media/image34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6.jpeg"/><Relationship Id="rId5" Type="http://schemas.openxmlformats.org/officeDocument/2006/relationships/hyperlink" Target="https://www.kaggle.com/datasets/gpiosenka/coffee-bean-dataset-resized-224-x-224" TargetMode="External"/><Relationship Id="rId4" Type="http://schemas.openxmlformats.org/officeDocument/2006/relationships/hyperlink" Target="https://edgeimpulse.com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 err="1"/>
              <a:t>TensorFlow</a:t>
            </a:r>
            <a:r>
              <a:rPr lang="pt-BR" b="1" i="1" dirty="0"/>
              <a:t> Lite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3093156" y="6015453"/>
            <a:ext cx="4822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3578588"/>
          </a:xfrm>
        </p:spPr>
        <p:txBody>
          <a:bodyPr/>
          <a:lstStyle/>
          <a:p>
            <a:r>
              <a:rPr lang="pt-BR" dirty="0"/>
              <a:t>Possui pós-doutorado na Universidade Federal do Paraná (2015-2018). </a:t>
            </a:r>
          </a:p>
          <a:p>
            <a:r>
              <a:rPr lang="pt-BR" dirty="0"/>
              <a:t>Doutor em Ciências na área de telecomunicações e redes pela Universidade Tecnológica Federal do Paraná (2015). </a:t>
            </a:r>
          </a:p>
          <a:p>
            <a:r>
              <a:rPr lang="pt-BR" dirty="0"/>
              <a:t>Mestre em Engenharia Elétrica com ênfase em telecomunicações pela Universidade Federal do Paraná (2012). </a:t>
            </a:r>
          </a:p>
          <a:p>
            <a:r>
              <a:rPr lang="pt-BR" dirty="0"/>
              <a:t>Engenheiro Eletricista pela Universidade do Estado de Santa Catarina (2010).</a:t>
            </a:r>
          </a:p>
          <a:p>
            <a:endParaRPr lang="pt-BR" dirty="0"/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611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4464496"/>
          </a:xfrm>
        </p:spPr>
        <p:txBody>
          <a:bodyPr/>
          <a:lstStyle/>
          <a:p>
            <a:r>
              <a:rPr lang="pt-BR" dirty="0"/>
              <a:t>Instituto Nacional de Telecomunicações - Inatel.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 de graduação em engenharia de computação;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e pesquisador nos cursos de mestrado e doutorado em telecomunicações;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cursos de especialização em 5G,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redes de telecomunicação;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Coordenador do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Inatel. </a:t>
            </a:r>
          </a:p>
          <a:p>
            <a:pPr lvl="1"/>
            <a:endParaRPr lang="pt-BR" sz="2333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dirty="0"/>
              <a:t> </a:t>
            </a:r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77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TinyML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266" name="Picture 2" descr="Tiny Machine Learning: The Next AI Revolution | by Matthew Stewart, PhD |  Towards Data Science">
            <a:extLst>
              <a:ext uri="{FF2B5EF4-FFF2-40B4-BE49-F238E27FC236}">
                <a16:creationId xmlns:a16="http://schemas.microsoft.com/office/drawing/2014/main" id="{6D4387EF-198D-6CC9-FBBC-B1958F1A5F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627" y="1484489"/>
            <a:ext cx="8367305" cy="4636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8759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/>
          </a:bodyPr>
          <a:lstStyle/>
          <a:p>
            <a:r>
              <a:rPr lang="pt-BR" dirty="0"/>
              <a:t>Características dos dispositivos </a:t>
            </a:r>
            <a:r>
              <a:rPr lang="pt-BR" dirty="0" err="1"/>
              <a:t>IoT</a:t>
            </a:r>
            <a:r>
              <a:rPr lang="pt-BR" dirty="0"/>
              <a:t>:</a:t>
            </a:r>
          </a:p>
          <a:p>
            <a:r>
              <a:rPr lang="pt-BR" dirty="0"/>
              <a:t>Baixo consumo de energia;</a:t>
            </a:r>
          </a:p>
          <a:p>
            <a:r>
              <a:rPr lang="pt-BR" dirty="0"/>
              <a:t>Baixo poder computacional;</a:t>
            </a:r>
          </a:p>
          <a:p>
            <a:r>
              <a:rPr lang="pt-BR" dirty="0"/>
              <a:t>Baixo custo.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86984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 fontScale="85000" lnSpcReduction="10000"/>
          </a:bodyPr>
          <a:lstStyle/>
          <a:p>
            <a:pPr algn="l" rtl="0" fontAlgn="base"/>
            <a:r>
              <a:rPr lang="pt-BR" sz="2600" b="0" i="0" u="none" strike="noStrike" dirty="0">
                <a:effectLst/>
              </a:rPr>
              <a:t>A energia de processamento depende basicamente do número de ciclos de </a:t>
            </a:r>
            <a:r>
              <a:rPr lang="pt-BR" sz="2600" b="0" i="0" u="none" strike="noStrike" dirty="0" err="1">
                <a:effectLst/>
              </a:rPr>
              <a:t>clock</a:t>
            </a:r>
            <a:r>
              <a:rPr lang="pt-BR" sz="2600" b="0" i="0" u="none" strike="noStrike" dirty="0">
                <a:effectLst/>
              </a:rPr>
              <a:t> executadas pelo microcontrolador.</a:t>
            </a:r>
            <a:r>
              <a:rPr lang="en-US" sz="2600" b="0" i="0" dirty="0">
                <a:effectLst/>
              </a:rPr>
              <a:t>​</a:t>
            </a:r>
          </a:p>
          <a:p>
            <a:pPr marL="0" indent="0" algn="l" rtl="0" fontAlgn="base">
              <a:buNone/>
            </a:pPr>
            <a:endParaRPr lang="pt-BR" sz="2600" b="0" i="0" dirty="0">
              <a:effectLst/>
            </a:endParaRPr>
          </a:p>
          <a:p>
            <a:pPr algn="l" rtl="0" fontAlgn="base"/>
            <a:r>
              <a:rPr lang="pt-BR" sz="2600" b="0" i="0" u="none" strike="noStrike" dirty="0">
                <a:effectLst/>
              </a:rPr>
              <a:t>"Os programadores não poderão ignorar o custo de energia dos programas que escrevem ... Você precisa de ferramentas que forneçam feedback e digam o quão boas são suas decisões. Atualmente, as ferramentas não fornecem esse tipo de feedback.” (Steve </a:t>
            </a:r>
            <a:r>
              <a:rPr lang="pt-BR" sz="2600" b="0" i="0" u="none" strike="noStrike" dirty="0" err="1">
                <a:effectLst/>
              </a:rPr>
              <a:t>Furber</a:t>
            </a:r>
            <a:r>
              <a:rPr lang="pt-BR" sz="2600" b="0" i="0" u="none" strike="noStrike" dirty="0">
                <a:effectLst/>
              </a:rPr>
              <a:t>, ARM, 2010)</a:t>
            </a:r>
            <a:endParaRPr lang="en-US" sz="2600" b="0" i="0" dirty="0">
              <a:effectLst/>
            </a:endParaRP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29072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Processamento tradicional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4C0988EC-1EED-C341-8C2F-16519CE649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66289" y="1440460"/>
            <a:ext cx="8626588" cy="3299746"/>
          </a:xfrm>
        </p:spPr>
      </p:pic>
    </p:spTree>
    <p:extLst>
      <p:ext uri="{BB962C8B-B14F-4D97-AF65-F5344CB8AC3E}">
        <p14:creationId xmlns:p14="http://schemas.microsoft.com/office/powerpoint/2010/main" val="3801133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30913158-1403-FD7C-13DD-FEE88A4A77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3244" y="1656357"/>
            <a:ext cx="8545689" cy="3116307"/>
          </a:xfrm>
        </p:spPr>
      </p:pic>
    </p:spTree>
    <p:extLst>
      <p:ext uri="{BB962C8B-B14F-4D97-AF65-F5344CB8AC3E}">
        <p14:creationId xmlns:p14="http://schemas.microsoft.com/office/powerpoint/2010/main" val="262339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05A8F147-70FE-941B-F2CB-2C124F8D5F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5022" y="1969297"/>
            <a:ext cx="8861778" cy="2716205"/>
          </a:xfrm>
        </p:spPr>
      </p:pic>
    </p:spTree>
    <p:extLst>
      <p:ext uri="{BB962C8B-B14F-4D97-AF65-F5344CB8AC3E}">
        <p14:creationId xmlns:p14="http://schemas.microsoft.com/office/powerpoint/2010/main" val="47561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A5DFCE40-4CA2-BEBF-45F2-5DA44B4A8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19199" y="1590391"/>
            <a:ext cx="9256889" cy="3677217"/>
          </a:xfrm>
        </p:spPr>
      </p:pic>
    </p:spTree>
    <p:extLst>
      <p:ext uri="{BB962C8B-B14F-4D97-AF65-F5344CB8AC3E}">
        <p14:creationId xmlns:p14="http://schemas.microsoft.com/office/powerpoint/2010/main" val="1840262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ABD88AAA-EE48-F346-F093-EAE7966DAE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51466" y="1640213"/>
            <a:ext cx="8624711" cy="3374374"/>
          </a:xfrm>
        </p:spPr>
      </p:pic>
    </p:spTree>
    <p:extLst>
      <p:ext uri="{BB962C8B-B14F-4D97-AF65-F5344CB8AC3E}">
        <p14:creationId xmlns:p14="http://schemas.microsoft.com/office/powerpoint/2010/main" val="305983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1D183AB4-0114-C958-8DAD-03DD590E20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07346" y="986294"/>
            <a:ext cx="3556739" cy="4682212"/>
          </a:xfr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32179B82-25F5-6138-2B69-45619B216CCB}"/>
              </a:ext>
            </a:extLst>
          </p:cNvPr>
          <p:cNvSpPr txBox="1">
            <a:spLocks/>
          </p:cNvSpPr>
          <p:nvPr/>
        </p:nvSpPr>
        <p:spPr>
          <a:xfrm>
            <a:off x="-260085" y="284692"/>
            <a:ext cx="6559285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Referência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E716D6C-1B36-DABF-B509-335987079969}"/>
              </a:ext>
            </a:extLst>
          </p:cNvPr>
          <p:cNvSpPr txBox="1"/>
          <p:nvPr/>
        </p:nvSpPr>
        <p:spPr>
          <a:xfrm>
            <a:off x="2762956" y="5871706"/>
            <a:ext cx="62258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Tinyml</a:t>
            </a:r>
            <a:r>
              <a:rPr lang="en-US" dirty="0"/>
              <a:t>: Machine Learning with </a:t>
            </a:r>
            <a:r>
              <a:rPr lang="en-US" dirty="0" err="1"/>
              <a:t>Tensorflow</a:t>
            </a:r>
            <a:r>
              <a:rPr lang="en-US" dirty="0"/>
              <a:t> Lite on Arduino and Ultra-Low-Power Microcontrollers</a:t>
            </a:r>
            <a:endParaRPr lang="pt-B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D26F54-CF3F-3EF1-9173-C3D19AD97F6E}"/>
              </a:ext>
            </a:extLst>
          </p:cNvPr>
          <p:cNvSpPr txBox="1"/>
          <p:nvPr/>
        </p:nvSpPr>
        <p:spPr>
          <a:xfrm>
            <a:off x="8684173" y="5211729"/>
            <a:ext cx="3392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https://tinyurl.com/edgemlbooks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9609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Conteúdo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Introdução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é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Por que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Benefícios de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 pode fazer?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Visão geral do fluxo de trabalho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Convertendo um modelo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em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</p:txBody>
      </p:sp>
    </p:spTree>
    <p:extLst>
      <p:ext uri="{BB962C8B-B14F-4D97-AF65-F5344CB8AC3E}">
        <p14:creationId xmlns:p14="http://schemas.microsoft.com/office/powerpoint/2010/main" val="2627688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O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TensorFlow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Lite é um conjunto de ferramentas para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machine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learning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no dispositivo que ajuda os desenvolvedores a executar modelos em dispositivos móveis, incorporados e de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IoT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3027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663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é uma biblioteca de aprendizado de máquina geral que pode ser usada para treinar e implantar modelos de aprendizado de máquina em uma variedade de plataformas, incluindo computadores, dispositivos móveis e dispositivos incorporados.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Lite é uma versão reduzida do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que é otimizada para desempenho e eficiência em dispositivos móveis e incorporados.</a:t>
            </a: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29000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0266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Auxilia na criação de aplicações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, que possuem as seguintes características: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Baixa latência (não há ida e volta para um servidor),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Maior privacidade (nenhum dado pessoal sai do dispositivo),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Pouca ou nenhuma necessidade de conectividade a Internet,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Modelos d menor tamanho (tamanho reduzido do modelo e do binário)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Menor consumo de energia (inferência eficiente e falta de conexões de rede)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98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Suporte a várias plataformas, inclusive dispositivos Android e iOS, Linux incorporado e microcontroladores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Compatibilidade com diversas linguagens, incluindo Java, Swift,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Objective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-C, C++ e Python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Alto desempenho com aceleração de hardware e otimização de modelos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5624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7083F4F6-6882-226E-8924-F3F893CE7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01152" y="1475553"/>
            <a:ext cx="7498730" cy="4313294"/>
          </a:xfrm>
        </p:spPr>
      </p:pic>
    </p:spTree>
    <p:extLst>
      <p:ext uri="{BB962C8B-B14F-4D97-AF65-F5344CB8AC3E}">
        <p14:creationId xmlns:p14="http://schemas.microsoft.com/office/powerpoint/2010/main" val="3230843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0942837E-A7AA-0552-CCE5-E9F444D393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846667" y="1271099"/>
            <a:ext cx="9347200" cy="4519001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B2F112-E74E-7802-E172-46DE8F007E4C}"/>
              </a:ext>
            </a:extLst>
          </p:cNvPr>
          <p:cNvSpPr txBox="1"/>
          <p:nvPr/>
        </p:nvSpPr>
        <p:spPr>
          <a:xfrm>
            <a:off x="2093894" y="59314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Set of operations: https://www.tensorflow.org/mlir/tfl_ops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15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0FF495AE-312B-8030-46D0-CDBEBBB51C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70130" y="1406392"/>
            <a:ext cx="9853494" cy="3517383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358192-105F-2899-E13C-13ED44081794}"/>
              </a:ext>
            </a:extLst>
          </p:cNvPr>
          <p:cNvSpPr txBox="1"/>
          <p:nvPr/>
        </p:nvSpPr>
        <p:spPr>
          <a:xfrm>
            <a:off x="9301932" y="2905518"/>
            <a:ext cx="9141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(roda no </a:t>
            </a:r>
            <a:r>
              <a:rPr lang="pt-BR" sz="1200" dirty="0" err="1"/>
              <a:t>bare</a:t>
            </a:r>
            <a:r>
              <a:rPr lang="pt-BR" sz="1200" dirty="0"/>
              <a:t> metal)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AF67C9-DFE1-8B0E-A216-5183F6AA774E}"/>
              </a:ext>
            </a:extLst>
          </p:cNvPr>
          <p:cNvSpPr txBox="1"/>
          <p:nvPr/>
        </p:nvSpPr>
        <p:spPr>
          <a:xfrm>
            <a:off x="4880712" y="3367183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dinâmico </a:t>
            </a:r>
            <a:r>
              <a:rPr lang="pt-BR" sz="1200"/>
              <a:t>de memória</a:t>
            </a:r>
            <a:r>
              <a:rPr lang="pt-BR" sz="1200" dirty="0"/>
              <a:t>: memoria virtual)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5199DB-206E-9599-A701-296559F2BE0A}"/>
              </a:ext>
            </a:extLst>
          </p:cNvPr>
          <p:cNvSpPr txBox="1"/>
          <p:nvPr/>
        </p:nvSpPr>
        <p:spPr>
          <a:xfrm>
            <a:off x="7514488" y="3429000"/>
            <a:ext cx="1171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estático de memória)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0977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id="{A36D4836-D243-4019-E226-8026610A4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51466" y="1630409"/>
            <a:ext cx="8895644" cy="3393982"/>
          </a:xfrm>
        </p:spPr>
      </p:pic>
    </p:spTree>
    <p:extLst>
      <p:ext uri="{BB962C8B-B14F-4D97-AF65-F5344CB8AC3E}">
        <p14:creationId xmlns:p14="http://schemas.microsoft.com/office/powerpoint/2010/main" val="1786984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é um conjunto de ferramentas para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machine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learning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no dispositivo que ajuda os desenvolvedores a executar modelos em dispositivos móveis, incorporados e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IoT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Ele pode ser usado para uma ampla variedade de tarefas, incluindo: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imagem: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pode ser usado para identificar objetos em imagens, como pessoas, animais, objetos e cenas.</a:t>
            </a:r>
          </a:p>
        </p:txBody>
      </p:sp>
      <p:pic>
        <p:nvPicPr>
          <p:cNvPr id="5" name="Picture 2" descr="Iniciando Detecção Objetos com OpenCV">
            <a:extLst>
              <a:ext uri="{FF2B5EF4-FFF2-40B4-BE49-F238E27FC236}">
                <a16:creationId xmlns:a16="http://schemas.microsoft.com/office/drawing/2014/main" id="{5DF1FABF-1994-A6C9-74B0-9D3B228DE4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32491"/>
            <a:ext cx="5547678" cy="3120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8072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Detecção de objeto: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pode ser usado para identificar e rastrear objetos em tempo real, como carros, pessoas e animais.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Iniciando Detecção Objetos com OpenCV">
            <a:extLst>
              <a:ext uri="{FF2B5EF4-FFF2-40B4-BE49-F238E27FC236}">
                <a16:creationId xmlns:a16="http://schemas.microsoft.com/office/drawing/2014/main" id="{016F69A5-0F7D-F6FE-BD4B-32F38F49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978" y="2286706"/>
            <a:ext cx="5904090" cy="3321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2492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voz: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pode ser usado para reconhecer fala humana, como comandos de voz e perguntas.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41E48C3-0E68-5029-BDEC-3CE77D8A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431" y="2165982"/>
            <a:ext cx="6161969" cy="382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613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Processamento de linguagem natural: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pode ser usado para entender e responder a texto natural, como perguntas e solicitações.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6D4BDE6-F027-E85C-A935-9890F5274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897" y="2185177"/>
            <a:ext cx="59626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Análise de vídeo: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pode ser usado para analisar vídeos para detectar objetos, pessoas e comportamentos.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27+ Most Popular Computer Vision Applications in 2023">
            <a:extLst>
              <a:ext uri="{FF2B5EF4-FFF2-40B4-BE49-F238E27FC236}">
                <a16:creationId xmlns:a16="http://schemas.microsoft.com/office/drawing/2014/main" id="{A0FC0AFF-A6AC-404C-03F5-AED3DD102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015" y="2230212"/>
            <a:ext cx="7527273" cy="3585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21061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Um modelo do </a:t>
            </a:r>
            <a:r>
              <a:rPr lang="pt-BR" dirty="0" err="1"/>
              <a:t>TensorFlow</a:t>
            </a:r>
            <a:r>
              <a:rPr lang="pt-BR" dirty="0"/>
              <a:t> Lite é representado em um formato aberto especial e eficiente conhecido como </a:t>
            </a:r>
            <a:r>
              <a:rPr lang="pt-BR" dirty="0" err="1"/>
              <a:t>FlatBuffers</a:t>
            </a:r>
            <a:r>
              <a:rPr lang="pt-BR" dirty="0"/>
              <a:t>, identificado pela extensão de arquivo .</a:t>
            </a:r>
            <a:r>
              <a:rPr lang="pt-BR" dirty="0" err="1"/>
              <a:t>tflite</a:t>
            </a:r>
            <a:r>
              <a:rPr lang="pt-BR" dirty="0"/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>
                <a:effectLst/>
                <a:latin typeface="-apple-system"/>
              </a:rPr>
              <a:t> Desenvolvida pelo Google.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>
                <a:effectLst/>
                <a:latin typeface="-apple-system"/>
              </a:rPr>
              <a:t> </a:t>
            </a:r>
            <a:r>
              <a:rPr lang="pt-BR" b="0" i="0" dirty="0" err="1">
                <a:effectLst/>
                <a:latin typeface="-apple-system"/>
              </a:rPr>
              <a:t>Flatbuffers</a:t>
            </a:r>
            <a:r>
              <a:rPr lang="pt-BR" b="0" i="0" dirty="0">
                <a:effectLst/>
                <a:latin typeface="-apple-system"/>
              </a:rPr>
              <a:t> é especialmente útil em cenários em que a velocidade e o tamanho compacto dos dados são essenciais, como jogos, aplicativos móveis e sistemas de comunicação de rede.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8209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Lite: Geração de modelos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Use um modelo existente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consulte os exemplos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escolher um modelo existente. Os modelos podem ou não conter metadados.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D00DCBC-E4E6-D605-D704-02B8108A9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888" y="2937226"/>
            <a:ext cx="7303911" cy="3110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433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Crie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use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Model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Maker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criar um modelo com seu próprio conjunto de dados personalizado. Por padrão, todos os modelos contêm metadados. Utiliza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transfer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learning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com modelos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pré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treinados.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https://www.tensorflow.org/lite/models/modify/model_maker?hl=pt-br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5569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32933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Converta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em um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use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Converter para converter modelos. Durante a conversão, você pode aplicar otimizações como a quantização para diminuir o tamanho e a latência do modelo com pouca ou nenhuma perda na acurácia. Por padrão, nenhum dos modelos contém metadados.</a:t>
            </a:r>
          </a:p>
        </p:txBody>
      </p:sp>
      <p:pic>
        <p:nvPicPr>
          <p:cNvPr id="3074" name="Picture 2" descr="Conversor do TensorFlow Lite">
            <a:extLst>
              <a:ext uri="{FF2B5EF4-FFF2-40B4-BE49-F238E27FC236}">
                <a16:creationId xmlns:a16="http://schemas.microsoft.com/office/drawing/2014/main" id="{F2857146-E0AC-CAA4-F70C-A96D02876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190" y="2857369"/>
            <a:ext cx="4034895" cy="4000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93720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582E9589-8177-29E1-55FB-2378173837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24514" y="2142361"/>
            <a:ext cx="8855207" cy="2979678"/>
          </a:xfr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3E2FA7D6-384A-F9CA-866B-DFF3096B442E}"/>
              </a:ext>
            </a:extLst>
          </p:cNvPr>
          <p:cNvSpPr txBox="1"/>
          <p:nvPr/>
        </p:nvSpPr>
        <p:spPr>
          <a:xfrm>
            <a:off x="768085" y="1267246"/>
            <a:ext cx="885520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Quando utiliza outros frameworks é necessário converter primeiro para o </a:t>
            </a:r>
            <a:r>
              <a:rPr lang="pt-BR" sz="18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850919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dirty="0"/>
              <a:t>Como o </a:t>
            </a:r>
            <a:r>
              <a:rPr lang="pt-BR" dirty="0" err="1"/>
              <a:t>tensorflow</a:t>
            </a:r>
            <a:r>
              <a:rPr lang="pt-BR" dirty="0"/>
              <a:t> lite roda em dispositivos em </a:t>
            </a:r>
            <a:r>
              <a:rPr lang="pt-BR" dirty="0" err="1"/>
              <a:t>emabarcados</a:t>
            </a:r>
            <a:r>
              <a:rPr lang="pt-BR" dirty="0"/>
              <a:t>?</a:t>
            </a:r>
          </a:p>
          <a:p>
            <a:pPr lvl="1"/>
            <a:r>
              <a:rPr lang="pt-BR" dirty="0"/>
              <a:t>Operações de poda;</a:t>
            </a:r>
          </a:p>
          <a:p>
            <a:pPr lvl="1"/>
            <a:r>
              <a:rPr lang="pt-BR" dirty="0"/>
              <a:t>Operações de quantização.</a:t>
            </a:r>
          </a:p>
        </p:txBody>
      </p:sp>
    </p:spTree>
    <p:extLst>
      <p:ext uri="{BB962C8B-B14F-4D97-AF65-F5344CB8AC3E}">
        <p14:creationId xmlns:p14="http://schemas.microsoft.com/office/powerpoint/2010/main" val="2329447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dirty="0"/>
              <a:t>Existem diferentes maneiras de podar uma rede neural.</a:t>
            </a:r>
          </a:p>
          <a:p>
            <a:pPr lvl="1"/>
            <a:r>
              <a:rPr lang="pt-BR" dirty="0"/>
              <a:t> (1) Você pode podar pesos. Isso é feito definindo parâmetros individuais como zero e tornando a rede esparsa. Isso reduziria o número de parâmetros no modelo, mantendo a mesma arquitetura.</a:t>
            </a:r>
          </a:p>
          <a:p>
            <a:pPr lvl="1"/>
            <a:r>
              <a:rPr lang="pt-BR" dirty="0"/>
              <a:t> (2) Você pode remover nós inteiros da rede. Isso tornaria a própria arquitetura da rede menor, ao mesmo tempo que visava manter a precisão da rede inicial maior.</a:t>
            </a:r>
          </a:p>
        </p:txBody>
      </p:sp>
    </p:spTree>
    <p:extLst>
      <p:ext uri="{BB962C8B-B14F-4D97-AF65-F5344CB8AC3E}">
        <p14:creationId xmlns:p14="http://schemas.microsoft.com/office/powerpoint/2010/main" val="2257178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3" name="Espaço Reservado para Conteúdo 12">
            <a:extLst>
              <a:ext uri="{FF2B5EF4-FFF2-40B4-BE49-F238E27FC236}">
                <a16:creationId xmlns:a16="http://schemas.microsoft.com/office/drawing/2014/main" id="{EAC1090C-D9CA-25EE-436B-18F72CCC87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032000" y="2688650"/>
            <a:ext cx="6839384" cy="2876931"/>
          </a:xfr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67BFE557-71C9-7AEA-425B-CFDF1E9E5A7C}"/>
              </a:ext>
            </a:extLst>
          </p:cNvPr>
          <p:cNvSpPr txBox="1"/>
          <p:nvPr/>
        </p:nvSpPr>
        <p:spPr>
          <a:xfrm>
            <a:off x="948267" y="946986"/>
            <a:ext cx="86698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Remover um peso é essencialmente defini-lo como zero. Você pode minimizar o efeito na rede removendo pesos que já estão próximos de zero, ou seja, de magnitude baixa. Isto pode ser implementado removendo todos os pesos abaixo de um determinado limite.</a:t>
            </a:r>
          </a:p>
        </p:txBody>
      </p:sp>
    </p:spTree>
    <p:extLst>
      <p:ext uri="{BB962C8B-B14F-4D97-AF65-F5344CB8AC3E}">
        <p14:creationId xmlns:p14="http://schemas.microsoft.com/office/powerpoint/2010/main" val="29360376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58711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Em vez de apenas pesos, as ativações nos dados de treinamento podem ser usadas como critério para remoção.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Ao executar um conjunto de dados em uma rede, certas estatísticas das ativações podem ser observadas.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 Você pode observar que alguns neurônios sempre produzem valores próximos de zero.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902842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 A redundância de parâmetros pode significar que um neurônio pode ser removido. Se dois neurônios em uma camada tiverem pesos ou ativações muito semelhantes, isso pode significar que estão fazendo a mesma coisa. </a:t>
            </a:r>
            <a:endParaRPr lang="pt-BR" dirty="0"/>
          </a:p>
        </p:txBody>
      </p:sp>
      <p:pic>
        <p:nvPicPr>
          <p:cNvPr id="4" name="Espaço Reservado para Conteúdo 9">
            <a:extLst>
              <a:ext uri="{FF2B5EF4-FFF2-40B4-BE49-F238E27FC236}">
                <a16:creationId xmlns:a16="http://schemas.microsoft.com/office/drawing/2014/main" id="{7090F274-8A04-97E4-143C-838E33ABD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844" y="2191685"/>
            <a:ext cx="9539111" cy="34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682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quantização é uma otimização que funciona reduzindo a precisão dos números usados para representar os parâmetros de um modelo, que por padrão são números de ponto flutuante de 32 bits.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BAEEA87-F627-65F5-4E21-A51298ED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604" y="2769495"/>
            <a:ext cx="3266974" cy="302170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8522154-127B-CB62-B177-FCDB739B0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600" y="2653752"/>
            <a:ext cx="2906919" cy="313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1323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operação de quantização não é reversível.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Imagem Lena quantizada em 16, 8, 4 e 2 bits / pixel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4919B43-A8D0-0E72-BC89-A94FC118B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582" y="2155856"/>
            <a:ext cx="5029636" cy="451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38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Perda de precisão pela quantização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188D633-0B89-9550-96D0-D8140F2D4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36" y="1748644"/>
            <a:ext cx="8687553" cy="3360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7392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for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Microcontrollers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(TFLM, abreviadamente) foi projetado para executar modelos de aprendizado de máquina em microcontroladores e outros dispositivos com apenas alguns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kilobytes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memória.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Com a finalidade de implantar o modelo de aprendizado de máquina em dispositivos embarcados, ele também é chamado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TinyML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é uma das estruturas de aprendizado profundo comumente usadas e, a partir da versão 2.x, eles oferecem alguns recursos de aprendizado de máquina para sistemas embarcados por meio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Ao contrário do processador móvel de alto desempenho (como a 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Cortex-A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), o microcontrolador (série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ou ESP32) tem baixo consumo de energia e pode ser implantado de várias formas em produtos do cliente, como geladeira, máquina de lavar e assim por diante.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9225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microcontroladores é escrito em C++ 11 e requer uma plataforma de 32 bits.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foi testado extensivamente com muitos processadores baseados na arquitetura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Arm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Series e foi portado a outras arquiteturas, incluindo ESP32. O framework está disponível como uma biblioteca Arduino.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também pode gerar projetos para ambientes de desenvolvimento, como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Ele é de código aberto e pode ser incluído em qualquer projeto C++ 11.</a:t>
            </a:r>
          </a:p>
        </p:txBody>
      </p:sp>
    </p:spTree>
    <p:extLst>
      <p:ext uri="{BB962C8B-B14F-4D97-AF65-F5344CB8AC3E}">
        <p14:creationId xmlns:p14="http://schemas.microsoft.com/office/powerpoint/2010/main" val="8526249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7590F3D-5B48-A87A-562A-0F137E253E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9265" y="1647990"/>
            <a:ext cx="6854114" cy="464556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4717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Importação de bibliotecas e definição das sementes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1F89EE25-B491-63A3-3836-CC948FFC5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839" y="2185553"/>
            <a:ext cx="6134632" cy="269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6431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E3EF363-642C-D87E-BC2E-70601C913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725" y="2156145"/>
            <a:ext cx="8824725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7792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06DF1C46-9A68-B926-41A8-307C5C59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86" y="2068253"/>
            <a:ext cx="7047958" cy="4330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79265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0F98BB6-F55B-F1C7-5F9B-1DFB6063B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338" y="2698668"/>
            <a:ext cx="6997218" cy="253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40468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A0AAE5CF-CA9E-E0E3-D85D-263DFE582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085430"/>
            <a:ext cx="5936094" cy="3705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0914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BA14C0E-4E59-C74F-ABB4-621BF2E44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585" y="3013550"/>
            <a:ext cx="9295589" cy="250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44793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id="{7023B888-E104-91F4-07E8-6994C5329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5038"/>
            <a:ext cx="6034617" cy="376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60417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Modelo inicial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F75E6F28-3196-FC63-D959-EADE8E1DE2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5699" y="2192446"/>
            <a:ext cx="8253175" cy="1234547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5502749-27CB-FDE7-2CE8-72951656A8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1851" y="4251538"/>
            <a:ext cx="5715495" cy="242337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561CFFEC-08C1-CD4C-FC70-099988A4C9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2174" y="3627413"/>
            <a:ext cx="7773074" cy="525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53932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Treinamento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52C14F81-36BB-C55A-8659-815F379468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557" y="2862651"/>
            <a:ext cx="11834886" cy="40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52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B2B547F-A630-D1B7-2109-3DC4D19D27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299" y="2377144"/>
            <a:ext cx="7041490" cy="341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046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F94B7FE8-9A77-F6D6-2FC1-C8C992521A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1514" y="2046569"/>
            <a:ext cx="6722886" cy="4307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92072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Cálculo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test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714E700-976E-460D-4546-4CCC2EBEC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6270" y="2695897"/>
            <a:ext cx="6340389" cy="30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254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8194" name="Picture 2">
            <a:extLst>
              <a:ext uri="{FF2B5EF4-FFF2-40B4-BE49-F238E27FC236}">
                <a16:creationId xmlns:a16="http://schemas.microsoft.com/office/drawing/2014/main" id="{B22F1180-E588-BC5E-E4DA-3F3672643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263336"/>
            <a:ext cx="5811308" cy="3664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542612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extra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214A25D-CB3D-3ABA-014A-B63E569C2B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5102" y="2212315"/>
            <a:ext cx="8382726" cy="3833192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521FCD22-130C-EC11-876D-016192B6F4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9166" y="6147107"/>
            <a:ext cx="7041490" cy="66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24557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id="{DF431961-F6F2-0B91-AECF-CB0B09189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625" y="2325719"/>
            <a:ext cx="6274153" cy="395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59349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2555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87922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D09DBB8C-50CF-C342-7D26-B48E53BC3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8454" y="2104596"/>
            <a:ext cx="6928790" cy="4113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488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tamanhos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E2891CE-733B-3797-711B-C906AD2138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9450" y="2814258"/>
            <a:ext cx="7963590" cy="1432684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0203DA5-6627-07C8-8B60-A545B6A328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4702" y="4767248"/>
            <a:ext cx="3515031" cy="852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1748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A60A1B2-78F9-3548-6FC2-8B05342F2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2552" y="1216025"/>
            <a:ext cx="2312140" cy="5343464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5CE19526-EDB1-1A07-E073-940FEB1415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9565" y="1066800"/>
            <a:ext cx="2587462" cy="5593607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1F3F11BC-5440-CB75-5F2E-FBBAC9055929}"/>
              </a:ext>
            </a:extLst>
          </p:cNvPr>
          <p:cNvSpPr txBox="1"/>
          <p:nvPr/>
        </p:nvSpPr>
        <p:spPr>
          <a:xfrm>
            <a:off x="8408140" y="342900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linkClick r:id="rId6"/>
              </a:rPr>
              <a:t>https://netron.app/</a:t>
            </a: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527505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E10B2ADC-5CF8-719E-81F1-C7CC0432DB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9997" y="939955"/>
            <a:ext cx="3993910" cy="5181289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80CB507E-4F73-A165-C547-5782083709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028" y="812555"/>
            <a:ext cx="4268473" cy="5308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82274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Fazendo a predição para os modelos criados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768583F4-ECF0-7B34-E22F-DF2762D32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4544" y="2433009"/>
            <a:ext cx="6563678" cy="424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85587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9929DAC8-BF08-D1F0-2C01-AAC59ED2D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8118" y="1886583"/>
            <a:ext cx="7105021" cy="4559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785567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D39E7734-B842-27FE-C995-D6BC09855E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233163"/>
            <a:ext cx="9294813" cy="3997973"/>
          </a:xfrm>
        </p:spPr>
      </p:pic>
    </p:spTree>
    <p:extLst>
      <p:ext uri="{BB962C8B-B14F-4D97-AF65-F5344CB8AC3E}">
        <p14:creationId xmlns:p14="http://schemas.microsoft.com/office/powerpoint/2010/main" val="281064019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6481EB2B-C5C0-A860-3AAB-A895F113EA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724579"/>
            <a:ext cx="9979378" cy="3096326"/>
          </a:xfrm>
        </p:spPr>
      </p:pic>
    </p:spTree>
    <p:extLst>
      <p:ext uri="{BB962C8B-B14F-4D97-AF65-F5344CB8AC3E}">
        <p14:creationId xmlns:p14="http://schemas.microsoft.com/office/powerpoint/2010/main" val="251913089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é uma plataforma para desenvolver e implantar modelos de aprendizado de máquina em dispositivos de ponta.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fornece um conjunto de ferramentas e serviços que facilitam a coleta de dados, o treinamento de modelos e a implantação deles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oferece suporte a uma ampla variedade de dispositivos de ponta, incluindo microcontroladores, sistemas embarcados e dispositivos móveis.</a:t>
            </a:r>
          </a:p>
        </p:txBody>
      </p:sp>
    </p:spTree>
    <p:extLst>
      <p:ext uri="{BB962C8B-B14F-4D97-AF65-F5344CB8AC3E}">
        <p14:creationId xmlns:p14="http://schemas.microsoft.com/office/powerpoint/2010/main" val="398661167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Edge Impulse é usado por uma ampla variedade de empresas e organizações.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EFEC104-CE53-CF10-7F4F-B8544A118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77" y="3232009"/>
            <a:ext cx="10673846" cy="82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20756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Fácil de usar: O Edge Impulse é fácil de usar, mesmo para desenvolvedores sem experiência anterior em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Abrangente: O Edge Impulse fornece um conjunto abrangente de ferramentas e serviços para desenvolver e implantar modelos de aprendizado de máquina em dispositivos de borda.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Flexível: O Edge Impulse oferece suporte a uma ampla variedade de dispositivos de borda e estruturas de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Escalável: O Edge Impulse pode ser usado para desenvolver e implantar modelos de aprendizado de máquina em um grande número de dispositivos de borda.</a:t>
            </a:r>
          </a:p>
        </p:txBody>
      </p:sp>
    </p:spTree>
    <p:extLst>
      <p:ext uri="{BB962C8B-B14F-4D97-AF65-F5344CB8AC3E}">
        <p14:creationId xmlns:p14="http://schemas.microsoft.com/office/powerpoint/2010/main" val="5344383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guiado classificação do grão de café.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https://edgeimpulse.com/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https://www.kaggle.com/datasets/gpiosenka/coffee-bean-dataset-resized-224-x-224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2290" name="Picture 2" descr="Cover image">
            <a:extLst>
              <a:ext uri="{FF2B5EF4-FFF2-40B4-BE49-F238E27FC236}">
                <a16:creationId xmlns:a16="http://schemas.microsoft.com/office/drawing/2014/main" id="{5CBA2329-193F-1539-8967-72445A367A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443" y="3175353"/>
            <a:ext cx="6946617" cy="3499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52480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Tarefa aula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Escolher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imagens com o celular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</p:txBody>
      </p:sp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2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15316</TotalTime>
  <Words>2223</Words>
  <Application>Microsoft Office PowerPoint</Application>
  <PresentationFormat>Widescreen</PresentationFormat>
  <Paragraphs>277</Paragraphs>
  <Slides>73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73</vt:i4>
      </vt:variant>
    </vt:vector>
  </HeadingPairs>
  <TitlesOfParts>
    <vt:vector size="82" baseType="lpstr">
      <vt:lpstr>-apple-system</vt:lpstr>
      <vt:lpstr>Arial</vt:lpstr>
      <vt:lpstr>Calibri</vt:lpstr>
      <vt:lpstr>Calibri Light</vt:lpstr>
      <vt:lpstr>Roboto</vt:lpstr>
      <vt:lpstr>source-serif-pro</vt:lpstr>
      <vt:lpstr>Tema do Office</vt:lpstr>
      <vt:lpstr>1_Tema do Office</vt:lpstr>
      <vt:lpstr>2_Tema do Office</vt:lpstr>
      <vt:lpstr>TP557 - Tópicos avançados em IoT e Machine Learning: TensorFlow Lite</vt:lpstr>
      <vt:lpstr>Samuel Baraldi Mafra</vt:lpstr>
      <vt:lpstr>Samuel Baraldi Mafra</vt:lpstr>
      <vt:lpstr>TinyML</vt:lpstr>
      <vt:lpstr>Processamento na borda com dispositivos embarcados</vt:lpstr>
      <vt:lpstr>Processamento na borda com dispositivos embarcados</vt:lpstr>
      <vt:lpstr>Processamento tradicional</vt:lpstr>
      <vt:lpstr>Processamento na borda com dispositivos embarcados</vt:lpstr>
      <vt:lpstr>Processamento na borda com dispositivos embarcados</vt:lpstr>
      <vt:lpstr>Processamento na borda com dispositivos embarcados</vt:lpstr>
      <vt:lpstr>Processamento na borda com dispositivos embarcados</vt:lpstr>
      <vt:lpstr> </vt:lpstr>
      <vt:lpstr>Conteúdo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Lite: Geração de modelos </vt:lpstr>
      <vt:lpstr>TensorFlow Lite </vt:lpstr>
      <vt:lpstr>TensorFlow Lite </vt:lpstr>
      <vt:lpstr>TensorFlow Lite </vt:lpstr>
      <vt:lpstr>TensorFlow Lite</vt:lpstr>
      <vt:lpstr>Poda de redes neurais (Pruning)</vt:lpstr>
      <vt:lpstr>Poda de redes neurais (Pruning)</vt:lpstr>
      <vt:lpstr>Poda de redes neurais (Pruning)</vt:lpstr>
      <vt:lpstr>Poda de redes neurais (Pruning)</vt:lpstr>
      <vt:lpstr>Quantização</vt:lpstr>
      <vt:lpstr>Quantização</vt:lpstr>
      <vt:lpstr>Quantização</vt:lpstr>
      <vt:lpstr>TensorFlow Lite micro </vt:lpstr>
      <vt:lpstr>TensorFlow Lite micro 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2344</cp:revision>
  <dcterms:created xsi:type="dcterms:W3CDTF">2020-01-20T13:50:05Z</dcterms:created>
  <dcterms:modified xsi:type="dcterms:W3CDTF">2025-04-14T20:38:03Z</dcterms:modified>
</cp:coreProperties>
</file>