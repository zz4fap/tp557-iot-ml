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76"/>
  </p:notesMasterIdLst>
  <p:handoutMasterIdLst>
    <p:handoutMasterId r:id="rId77"/>
  </p:handoutMasterIdLst>
  <p:sldIdLst>
    <p:sldId id="256" r:id="rId4"/>
    <p:sldId id="298" r:id="rId5"/>
    <p:sldId id="390" r:id="rId6"/>
    <p:sldId id="545" r:id="rId7"/>
    <p:sldId id="554" r:id="rId8"/>
    <p:sldId id="553" r:id="rId9"/>
    <p:sldId id="580" r:id="rId10"/>
    <p:sldId id="546" r:id="rId11"/>
    <p:sldId id="547" r:id="rId12"/>
    <p:sldId id="549" r:id="rId13"/>
    <p:sldId id="550" r:id="rId14"/>
    <p:sldId id="531" r:id="rId15"/>
    <p:sldId id="509" r:id="rId16"/>
    <p:sldId id="510" r:id="rId17"/>
    <p:sldId id="521" r:id="rId18"/>
    <p:sldId id="511" r:id="rId19"/>
    <p:sldId id="512" r:id="rId20"/>
    <p:sldId id="522" r:id="rId21"/>
    <p:sldId id="523" r:id="rId22"/>
    <p:sldId id="524" r:id="rId23"/>
    <p:sldId id="525" r:id="rId24"/>
    <p:sldId id="516" r:id="rId25"/>
    <p:sldId id="517" r:id="rId26"/>
    <p:sldId id="518" r:id="rId27"/>
    <p:sldId id="519" r:id="rId28"/>
    <p:sldId id="520" r:id="rId29"/>
    <p:sldId id="544" r:id="rId30"/>
    <p:sldId id="542" r:id="rId31"/>
    <p:sldId id="541" r:id="rId32"/>
    <p:sldId id="543" r:id="rId33"/>
    <p:sldId id="555" r:id="rId34"/>
    <p:sldId id="537" r:id="rId35"/>
    <p:sldId id="581" r:id="rId36"/>
    <p:sldId id="538" r:id="rId37"/>
    <p:sldId id="539" r:id="rId38"/>
    <p:sldId id="535" r:id="rId39"/>
    <p:sldId id="533" r:id="rId40"/>
    <p:sldId id="534" r:id="rId41"/>
    <p:sldId id="526" r:id="rId42"/>
    <p:sldId id="528" r:id="rId43"/>
    <p:sldId id="556" r:id="rId44"/>
    <p:sldId id="557" r:id="rId45"/>
    <p:sldId id="558" r:id="rId46"/>
    <p:sldId id="559" r:id="rId47"/>
    <p:sldId id="560" r:id="rId48"/>
    <p:sldId id="561" r:id="rId49"/>
    <p:sldId id="562" r:id="rId50"/>
    <p:sldId id="563" r:id="rId51"/>
    <p:sldId id="564" r:id="rId52"/>
    <p:sldId id="565" r:id="rId53"/>
    <p:sldId id="566" r:id="rId54"/>
    <p:sldId id="567" r:id="rId55"/>
    <p:sldId id="568" r:id="rId56"/>
    <p:sldId id="569" r:id="rId57"/>
    <p:sldId id="570" r:id="rId58"/>
    <p:sldId id="586" r:id="rId59"/>
    <p:sldId id="571" r:id="rId60"/>
    <p:sldId id="572" r:id="rId61"/>
    <p:sldId id="574" r:id="rId62"/>
    <p:sldId id="585" r:id="rId63"/>
    <p:sldId id="575" r:id="rId64"/>
    <p:sldId id="578" r:id="rId65"/>
    <p:sldId id="577" r:id="rId66"/>
    <p:sldId id="576" r:id="rId67"/>
    <p:sldId id="588" r:id="rId68"/>
    <p:sldId id="551" r:id="rId69"/>
    <p:sldId id="529" r:id="rId70"/>
    <p:sldId id="527" r:id="rId71"/>
    <p:sldId id="530" r:id="rId72"/>
    <p:sldId id="582" r:id="rId73"/>
    <p:sldId id="583" r:id="rId74"/>
    <p:sldId id="584" r:id="rId7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79636" autoAdjust="0"/>
  </p:normalViewPr>
  <p:slideViewPr>
    <p:cSldViewPr snapToGrid="0">
      <p:cViewPr varScale="1">
        <p:scale>
          <a:sx n="59" d="100"/>
          <a:sy n="59" d="100"/>
        </p:scale>
        <p:origin x="141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-9276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slide" Target="slides/slide63.xml"/><Relationship Id="rId74" Type="http://schemas.openxmlformats.org/officeDocument/2006/relationships/slide" Target="slides/slide71.xml"/><Relationship Id="rId79" Type="http://schemas.openxmlformats.org/officeDocument/2006/relationships/viewProps" Target="view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19/05/2025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api_docs/python/tf/Graph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Ops</a:t>
            </a:r>
            <a:r>
              <a:rPr lang="pt-BR" dirty="0"/>
              <a:t> de operações. Tensorflow lite e micro suportam uma quantidade muito menor de operações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1390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Delegates</a:t>
            </a:r>
            <a:r>
              <a:rPr lang="pt-BR" dirty="0"/>
              <a:t>: https://ai.google.dev/edge/litert/performance/delegates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110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Pegada de memória (</a:t>
            </a:r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) refere-se à quantidade total de memória RAM que um programa ou sistema utiliza durante sua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6487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**Keras Model, 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, and Concrete Functions: Differences and Relationships**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 smtClean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### 1. **Keras Model**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- **What it is**: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A high-level API for building and training neural networks in TensorFlow. It provides an object-oriented interface (e.g., `Sequential`, `Functional`, or custom subclasses of `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tf.keras.Model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`).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- **Key Features**: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- Easy to define architectures (layers, activations, etc.).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- Built-in training loops (`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model.fit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()`), evaluation, and prediction.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- Can be saved/loaded in two formats: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  - **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** (default, 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TensorFlow's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universal format).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  - **HDF5** (legacy, limited to model architecture and weights).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- **Use Case**: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Ideal for training, prototyping, and saving models in a user-friendly way.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 smtClean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 smtClean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### 2. **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- **What it is**: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TensorFlow's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**universal serialization format** for models. It is not specific to Keras.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- **Key Features**: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- Saves the **complete model**: architecture, weights, optimizer state, and computation graph.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- Includes **signatures** (e.g., `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serving_default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`) for deployment (e.g., TensorFlow Serving).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- Platform-agnostic: works across Python, C++, TensorFlow Lite, etc.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- **How to Create**: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- Via `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model.save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()` for Keras models.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- Via `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tf.saved_model.save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()` for lower-level APIs (e.g., custom models built with `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tf.Module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`).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- **Use Case**: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Deployment, cross-platform compatibility, and serving via TensorFlow Serving.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 smtClean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 smtClean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### 3. **Concrete Function**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- **What it is**: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A **traced, optimized computation graph** with fixed input shapes and data types. Generated when a `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tf.function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`-decorated function is called with specific inputs.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- **Key Features**: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- Created during model serialization (e.g., `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saved_model.save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()`) or manual tracing.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- Represents a portion of the model's computation (e.g., forward pass, training step).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- Stored inside a `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` to enable efficient execution (e.g., GPU/TPU acceleration).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- **Use Case**: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- Enables graph execution for performance.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- Defines input signatures for serving (e.g., `@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tf.function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(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input_signature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=...)`).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 smtClean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 smtClean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### **Key Differences**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 smtClean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| **Aspect**              | **Keras Model**                          | **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**                          | **Concrete Function**                   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|-------------------------|------------------------------------------|-----------------------------------------|------------------------------------------|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| **Scope**               | High-level model definition API.         | Serialization format for any TF model.  | Traced, optimized subgraph (part of a model). 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| **Serialization**       | Can be saved as `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` or HDF5.    | Contains Keras models, variables, graphs, and concrete functions. | Serialized as part of a `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`. 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| **Flexibility**         | Limited to Keras APIs.                   | Supports any TensorFlow model (Keras, custom `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tf.Module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`, etc.). | Created from `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tf.function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`-decorated code. 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| **Input Constraints**   | Dynamic shapes by default.               | May include multiple signatures with fixed/concrete input shapes. | Requires fixed input shapes/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dtypes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. 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 smtClean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 smtClean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### **Relationship Between Them**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- A **Keras Model** can be saved as a **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** (via `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model.save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()`).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- The **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** contains **concrete functions** (e.g., the forward pass `__call__` method of the Keras model).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- Lower-level models (e.g., `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tf.Module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`) are saved via `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tf.saved_model.save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()`, which traces and stores their methods as **concrete functions** in the `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`.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 smtClean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 smtClean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### **Example Workflow**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1. **Define a Keras Model**: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```python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model = 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tf.keras.Sequential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([...])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model.compile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(...)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model.fit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(...)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```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2. **Save as 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```python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model.save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("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my_model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")  # 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format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```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3. **Inspect Concrete Functions**: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```python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loaded_model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= 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tf.saved_model.load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("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my_model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")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print(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loaded_model.signatures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)  # Shows '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serving_default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' and other signatures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```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4. **Concrete Functions in Custom Models**: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```python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class 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CustomModel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(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tf.Module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):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@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tf.function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(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input_signature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=[...])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def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__call__(self, inputs):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    ...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tf.saved_model.save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(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CustomModel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(), "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custom_model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")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   ```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 smtClean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 smtClean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### **When to Use Each**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- **Keras Model**: Rapid prototyping, training, and saving in a user-friendly format.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- **</a:t>
            </a:r>
            <a:r>
              <a:rPr lang="en-US" b="0" i="0" dirty="0" err="1" smtClean="0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**: Deploying models to production, sharing across platforms, or using TensorFlow Serving.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- **Concrete Function**: Optimizing custom model logic (e.g., custom layers/training loops) or enforcing input constraints.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 smtClean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 smtClean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 smtClean="0">
                <a:solidFill>
                  <a:srgbClr val="404040"/>
                </a:solidFill>
                <a:effectLst/>
                <a:latin typeface="DeepSeek-CJK-patch"/>
              </a:rPr>
              <a:t>https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://ai.google.dev/edge/litert/models/convert_tf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Padrão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do TensorFlow):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Armazena o modelo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completamente serializado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, incluindo arquitetura, pesos, otimizadores e metadados.</a:t>
            </a:r>
          </a:p>
          <a:p>
            <a:pPr algn="l">
              <a:spcBef>
                <a:spcPts val="1372"/>
              </a:spcBef>
              <a:spcAft>
                <a:spcPts val="1029"/>
              </a:spcAft>
              <a:buNone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Extensão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Pasta com arquivos .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pb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protocol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buffer) + diretório 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variables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/>
            </a: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HDF5 (.h5 ou .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)</a:t>
            </a:r>
            <a:endParaRPr lang="pt-BR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Descrição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Formato herdado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(ainda amplamente usado). Salva o modelo em um único arquivo, mas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pode não incluir metadados ou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custom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layers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A </a:t>
            </a:r>
            <a:r>
              <a:rPr lang="en-US" b="1" i="0" dirty="0" err="1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ConcreteFunction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 can be thought of as a wrapper around a </a:t>
            </a:r>
            <a:r>
              <a:rPr lang="en-US" b="1" i="0" dirty="0" err="1">
                <a:solidFill>
                  <a:srgbClr val="1A73E8"/>
                </a:solidFill>
                <a:effectLst/>
                <a:latin typeface="Roboto" panose="02000000000000000000" pitchFamily="2" charset="0"/>
                <a:hlinkClick r:id="rId3"/>
              </a:rPr>
              <a:t>tf.Graph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5260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(Open Neural Network Exchange) é um formato aberto e padronizado para representar modelos de 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machine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(ML) 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Desenvolvido por empresas como Microsoft,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Facebook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(Meta) 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Amazon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seu objetivo principal é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facilitar a interoperabilidade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entre diferentes frameworks de ML (como TensorFlow,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scikit-learn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etc.), permitindo que modelos sejam treinados em um framework e usados em outro sem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reimplementação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16182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https://www.kaggle.com/code/ashusma/understanding-tf-lite-and-model-optimization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995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09518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95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52212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606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7204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1389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39432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38853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43387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8429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00065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6AF0E9C-7771-CB58-FC65-ACE0A4793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E68C8716-8DEE-2D37-3468-792CD29DF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B3A64F34-6657-3369-44E5-4F518D008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Referencia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: https://ai.google.dev/edge/litert/models/post_training_quantization</a:t>
            </a:r>
          </a:p>
          <a:p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/>
            </a:r>
            <a:br>
              <a:rPr lang="en-US" b="0" i="0" dirty="0">
                <a:solidFill>
                  <a:srgbClr val="404040"/>
                </a:solidFill>
                <a:effectLst/>
                <a:latin typeface="Menlo"/>
              </a:rPr>
            </a:br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representative_dataset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():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Essa função é usada durante a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conversão de um modelo TensorFlow para TensorFlow 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com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quantização pós-treinamento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(post-training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quantization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). Ela fornece exemplos de dados de entrada para que o conversor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TFLite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calibre os intervalos dinâmicos dos tensores do modelo, otimizando-o para tamanho e velocidade.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98B58186-6517-20F2-EF9E-54119A8D01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97749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7313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3575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2847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6306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https://colab.research.google.com/github/zz4fap/tp557-iot-ml/blob/main/examples/pruning_with_keras.ipynb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291730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60569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Projeto do Samuel: 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https://studio.edgeimpulse.com/public/294644/live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0375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os alunos devem entrar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, baixar um dataset e treinar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impulse, tarefa para ser feita durante a aula.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l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Neste trabalho pedi aos alunos para tirar fotos com o celular e criar o próprio banco de dados a ser testado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48741" y="3014100"/>
            <a:ext cx="9022800" cy="8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O PRIMEIRO TÍTULO</a:t>
            </a:r>
          </a:p>
        </p:txBody>
      </p:sp>
      <p:cxnSp>
        <p:nvCxnSpPr>
          <p:cNvPr id="9" name="Google Shape;17;p3"/>
          <p:cNvCxnSpPr/>
          <p:nvPr userDrawn="1"/>
        </p:nvCxnSpPr>
        <p:spPr>
          <a:xfrm>
            <a:off x="1252860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18;p3"/>
          <p:cNvSpPr/>
          <p:nvPr userDrawn="1"/>
        </p:nvSpPr>
        <p:spPr>
          <a:xfrm flipH="1">
            <a:off x="843408" y="3023204"/>
            <a:ext cx="819200" cy="819200"/>
          </a:xfrm>
          <a:prstGeom prst="ellipse">
            <a:avLst/>
          </a:prstGeom>
          <a:solidFill>
            <a:srgbClr val="0070C0"/>
          </a:solidFill>
          <a:ln w="2857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grpSp>
        <p:nvGrpSpPr>
          <p:cNvPr id="11" name="Google Shape;118;p18"/>
          <p:cNvGrpSpPr/>
          <p:nvPr userDrawn="1"/>
        </p:nvGrpSpPr>
        <p:grpSpPr>
          <a:xfrm>
            <a:off x="1035391" y="3227475"/>
            <a:ext cx="391864" cy="393547"/>
            <a:chOff x="2594050" y="1631825"/>
            <a:chExt cx="439625" cy="439625"/>
          </a:xfrm>
        </p:grpSpPr>
        <p:sp>
          <p:nvSpPr>
            <p:cNvPr id="12" name="Google Shape;119;p18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3" name="Google Shape;120;p18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4" name="Google Shape;121;p18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5" name="Google Shape;122;p18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</p:grpSp>
      <p:pic>
        <p:nvPicPr>
          <p:cNvPr id="16" name="Imagem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7895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que aqui para adicionar seu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20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xmlns="" id="{0429D44C-024F-49BA-BA92-6BA652B41B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</p:spTree>
    <p:extLst>
      <p:ext uri="{BB962C8B-B14F-4D97-AF65-F5344CB8AC3E}">
        <p14:creationId xmlns:p14="http://schemas.microsoft.com/office/powerpoint/2010/main" val="38477176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9" name="Imagem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xmlns="" id="{92FEC62A-AEF6-4001-BB11-823B08650E7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  <p:sp>
        <p:nvSpPr>
          <p:cNvPr id="10" name="Google Shape;14;p3">
            <a:extLst>
              <a:ext uri="{FF2B5EF4-FFF2-40B4-BE49-F238E27FC236}">
                <a16:creationId xmlns:a16="http://schemas.microsoft.com/office/drawing/2014/main" xmlns="" id="{137F0C9D-A7E1-438A-AC82-A6EC7B2C200F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05553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2" name="Google Shape;14;p3">
            <a:extLst>
              <a:ext uri="{FF2B5EF4-FFF2-40B4-BE49-F238E27FC236}">
                <a16:creationId xmlns:a16="http://schemas.microsoft.com/office/drawing/2014/main" xmlns="" id="{9D3AA249-572A-43DC-88A4-DDB8F15E43B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65377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xmlns="" id="{E55CBC1E-334C-401B-8582-9E8D56E2C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2623929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C0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9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xmlns="" id="{C54F93D9-1F86-4299-9A39-CDC0441F1E4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92834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11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xmlns="" id="{1E9A4DC9-1926-455C-BB66-B463FFEA4C9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424401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cap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000" dirty="0"/>
          </a:p>
        </p:txBody>
      </p:sp>
      <p:cxnSp>
        <p:nvCxnSpPr>
          <p:cNvPr id="7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11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67541" y="3074200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subtítulo</a:t>
            </a:r>
          </a:p>
        </p:txBody>
      </p:sp>
    </p:spTree>
    <p:extLst>
      <p:ext uri="{BB962C8B-B14F-4D97-AF65-F5344CB8AC3E}">
        <p14:creationId xmlns:p14="http://schemas.microsoft.com/office/powerpoint/2010/main" val="41312352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7575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9" name="Imagem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88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73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txStyles>
    <p:titleStyle>
      <a:lvl1pPr algn="ctr" defTabSz="1219078" rtl="0" eaLnBrk="1" latinLnBrk="0" hangingPunct="1">
        <a:spcBef>
          <a:spcPct val="0"/>
        </a:spcBef>
        <a:buNone/>
        <a:defRPr sz="58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54" indent="-457154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501" indent="-380962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387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926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2465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2004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1543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1082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tinyurl.com/edgemlbooks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tensorflow.org/mlir/tfl_ops" TargetMode="Externa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tensorflow/examples/tree/master/lite/examples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lite/models/modify/model_maker?hl=pt-br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colab.research.google.com/github/zz4fap/tp557-iot-ml/blob/main/examples/Training_Hello_world_Model_for_Microcontroller.ipynb" TargetMode="Externa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3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3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8.png"/><Relationship Id="rId4" Type="http://schemas.openxmlformats.org/officeDocument/2006/relationships/image" Target="../media/image3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9.png"/><Relationship Id="rId4" Type="http://schemas.openxmlformats.org/officeDocument/2006/relationships/image" Target="../media/image3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0.png"/><Relationship Id="rId4" Type="http://schemas.openxmlformats.org/officeDocument/2006/relationships/image" Target="../media/image3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1.png"/><Relationship Id="rId4" Type="http://schemas.openxmlformats.org/officeDocument/2006/relationships/image" Target="../media/image3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3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4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5.png"/><Relationship Id="rId4" Type="http://schemas.openxmlformats.org/officeDocument/2006/relationships/image" Target="../media/image3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6.png"/><Relationship Id="rId4" Type="http://schemas.openxmlformats.org/officeDocument/2006/relationships/image" Target="../media/image3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7.png"/><Relationship Id="rId4" Type="http://schemas.openxmlformats.org/officeDocument/2006/relationships/image" Target="../media/image3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36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7.jp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hyperlink" Target="https://netron.app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4.png"/><Relationship Id="rId4" Type="http://schemas.openxmlformats.org/officeDocument/2006/relationships/image" Target="../media/image3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5.png"/><Relationship Id="rId4" Type="http://schemas.openxmlformats.org/officeDocument/2006/relationships/image" Target="../media/image3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in/examples/pruning_with_keras.ipynb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colab.research.google.com/github/zz4fap/tp557-iot-ml/blob/main/examples/clustering_example.ipynb" TargetMode="Externa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8.jpeg"/><Relationship Id="rId5" Type="http://schemas.openxmlformats.org/officeDocument/2006/relationships/hyperlink" Target="https://www.kaggle.com/datasets/gpiosenka/coffee-bean-dataset-resized-224-x-224" TargetMode="External"/><Relationship Id="rId4" Type="http://schemas.openxmlformats.org/officeDocument/2006/relationships/hyperlink" Target="https://edgeimpulse.com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universe.roboflow.com/" TargetMode="External"/><Relationship Id="rId4" Type="http://schemas.openxmlformats.org/officeDocument/2006/relationships/hyperlink" Target="https://www.kaggle.com/datasets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 err="1"/>
              <a:t>TensorFlow</a:t>
            </a:r>
            <a:r>
              <a:rPr lang="pt-BR" b="1" i="1" dirty="0"/>
              <a:t> Lite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3093156" y="6015453"/>
            <a:ext cx="4822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xmlns="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xmlns="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xmlns="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3578588"/>
          </a:xfrm>
        </p:spPr>
        <p:txBody>
          <a:bodyPr/>
          <a:lstStyle/>
          <a:p>
            <a:r>
              <a:rPr lang="pt-BR" dirty="0"/>
              <a:t>Possui pós-doutorado na Universidade Federal do Paraná (2015-2018). </a:t>
            </a:r>
          </a:p>
          <a:p>
            <a:r>
              <a:rPr lang="pt-BR" dirty="0"/>
              <a:t>Doutor em Ciências na área de telecomunicações e redes pela Universidade Tecnológica Federal do Paraná (2015). </a:t>
            </a:r>
          </a:p>
          <a:p>
            <a:r>
              <a:rPr lang="pt-BR" dirty="0"/>
              <a:t>Mestre em Engenharia Elétrica com ênfase em telecomunicações pela Universidade Federal do Paraná (2012). </a:t>
            </a:r>
          </a:p>
          <a:p>
            <a:r>
              <a:rPr lang="pt-BR" dirty="0"/>
              <a:t>Engenheiro Eletricista pela Universidade do Estado de Santa Catarina (2010).</a:t>
            </a:r>
          </a:p>
          <a:p>
            <a:endParaRPr lang="pt-BR" dirty="0"/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xmlns="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611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xmlns="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xmlns="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4464496"/>
          </a:xfrm>
        </p:spPr>
        <p:txBody>
          <a:bodyPr/>
          <a:lstStyle/>
          <a:p>
            <a:r>
              <a:rPr lang="pt-BR" dirty="0"/>
              <a:t>Instituto Nacional de Telecomunicações - Inatel.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 de graduação em engenharia de computação;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e pesquisador nos cursos de mestrado e doutorado em telecomunicações;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cursos de especialização em 5G,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redes de telecomunicação;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Coordenador do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Inatel. </a:t>
            </a:r>
          </a:p>
          <a:p>
            <a:pPr lvl="1"/>
            <a:endParaRPr lang="pt-BR" sz="2333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dirty="0"/>
              <a:t> </a:t>
            </a:r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xmlns="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77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TinyML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266" name="Picture 2" descr="Tiny Machine Learning: The Next AI Revolution | by Matthew Stewart, PhD |  Towards Data Science">
            <a:extLst>
              <a:ext uri="{FF2B5EF4-FFF2-40B4-BE49-F238E27FC236}">
                <a16:creationId xmlns:a16="http://schemas.microsoft.com/office/drawing/2014/main" xmlns="" id="{6D4387EF-198D-6CC9-FBBC-B1958F1A5F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627" y="1484489"/>
            <a:ext cx="8367305" cy="4636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759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/>
          </a:bodyPr>
          <a:lstStyle/>
          <a:p>
            <a:r>
              <a:rPr lang="pt-BR" dirty="0"/>
              <a:t>Características dos dispositivos </a:t>
            </a:r>
            <a:r>
              <a:rPr lang="pt-BR" dirty="0" err="1"/>
              <a:t>IoT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Baixo consumo de energia;</a:t>
            </a:r>
          </a:p>
          <a:p>
            <a:pPr lvl="1"/>
            <a:r>
              <a:rPr lang="pt-BR" dirty="0"/>
              <a:t>Baixo poder computacional;</a:t>
            </a:r>
          </a:p>
          <a:p>
            <a:pPr lvl="1"/>
            <a:r>
              <a:rPr lang="pt-BR" dirty="0"/>
              <a:t>Baixo custo.</a:t>
            </a:r>
          </a:p>
        </p:txBody>
      </p:sp>
    </p:spTree>
    <p:extLst>
      <p:ext uri="{BB962C8B-B14F-4D97-AF65-F5344CB8AC3E}">
        <p14:creationId xmlns:p14="http://schemas.microsoft.com/office/powerpoint/2010/main" val="3486984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 fontScale="85000" lnSpcReduction="10000"/>
          </a:bodyPr>
          <a:lstStyle/>
          <a:p>
            <a:pPr algn="l" rtl="0" fontAlgn="base"/>
            <a:r>
              <a:rPr lang="pt-BR" sz="2600" b="0" i="0" u="none" strike="noStrike" dirty="0">
                <a:effectLst/>
              </a:rPr>
              <a:t>A energia de processamento depende basicamente do número de ciclos de </a:t>
            </a:r>
            <a:r>
              <a:rPr lang="pt-BR" sz="2600" b="0" i="1" u="none" strike="noStrike" dirty="0" err="1">
                <a:effectLst/>
              </a:rPr>
              <a:t>clock</a:t>
            </a:r>
            <a:r>
              <a:rPr lang="pt-BR" sz="2600" b="0" i="0" u="none" strike="noStrike" dirty="0">
                <a:effectLst/>
              </a:rPr>
              <a:t> executadas pelo microcontrolador.</a:t>
            </a:r>
            <a:r>
              <a:rPr lang="en-US" sz="2600" b="0" i="0" dirty="0">
                <a:effectLst/>
              </a:rPr>
              <a:t>​</a:t>
            </a:r>
          </a:p>
          <a:p>
            <a:pPr marL="0" indent="0" algn="l" rtl="0" fontAlgn="base">
              <a:buNone/>
            </a:pPr>
            <a:endParaRPr lang="pt-BR" sz="2600" b="0" i="0" dirty="0">
              <a:effectLst/>
            </a:endParaRPr>
          </a:p>
          <a:p>
            <a:pPr algn="l" rtl="0" fontAlgn="base"/>
            <a:r>
              <a:rPr lang="pt-BR" sz="2600" b="0" i="0" u="none" strike="noStrike" dirty="0">
                <a:effectLst/>
              </a:rPr>
              <a:t>"Os programadores não poderão ignorar o custo de energia dos programas que escrevem ... Você precisa de ferramentas que forneçam feedback e digam o quão boas são suas decisões. Atualmente, as ferramentas não fornecem esse tipo de feedback.” (Steve </a:t>
            </a:r>
            <a:r>
              <a:rPr lang="pt-BR" sz="2600" b="0" i="0" u="none" strike="noStrike" dirty="0" err="1">
                <a:effectLst/>
              </a:rPr>
              <a:t>Furber</a:t>
            </a:r>
            <a:r>
              <a:rPr lang="pt-BR" sz="2600" b="0" i="0" u="none" strike="noStrike" dirty="0">
                <a:effectLst/>
              </a:rPr>
              <a:t>, ARM, 2010)</a:t>
            </a:r>
            <a:endParaRPr lang="en-US" sz="2600" b="0" i="0" dirty="0">
              <a:effectLst/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9072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tradicional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xmlns="" id="{4C0988EC-1EED-C341-8C2F-16519CE649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6289" y="1440460"/>
            <a:ext cx="8626588" cy="3299746"/>
          </a:xfrm>
        </p:spPr>
      </p:pic>
    </p:spTree>
    <p:extLst>
      <p:ext uri="{BB962C8B-B14F-4D97-AF65-F5344CB8AC3E}">
        <p14:creationId xmlns:p14="http://schemas.microsoft.com/office/powerpoint/2010/main" val="3801133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xmlns="" id="{30913158-1403-FD7C-13DD-FEE88A4A77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3244" y="1656357"/>
            <a:ext cx="8545689" cy="3116307"/>
          </a:xfrm>
        </p:spPr>
      </p:pic>
    </p:spTree>
    <p:extLst>
      <p:ext uri="{BB962C8B-B14F-4D97-AF65-F5344CB8AC3E}">
        <p14:creationId xmlns:p14="http://schemas.microsoft.com/office/powerpoint/2010/main" val="262339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xmlns="" id="{05A8F147-70FE-941B-F2CB-2C124F8D5F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5022" y="1969297"/>
            <a:ext cx="8861778" cy="2716205"/>
          </a:xfrm>
        </p:spPr>
      </p:pic>
    </p:spTree>
    <p:extLst>
      <p:ext uri="{BB962C8B-B14F-4D97-AF65-F5344CB8AC3E}">
        <p14:creationId xmlns:p14="http://schemas.microsoft.com/office/powerpoint/2010/main" val="47561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xmlns="" id="{A5DFCE40-4CA2-BEBF-45F2-5DA44B4A8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9199" y="1590391"/>
            <a:ext cx="9256889" cy="3677217"/>
          </a:xfrm>
        </p:spPr>
      </p:pic>
    </p:spTree>
    <p:extLst>
      <p:ext uri="{BB962C8B-B14F-4D97-AF65-F5344CB8AC3E}">
        <p14:creationId xmlns:p14="http://schemas.microsoft.com/office/powerpoint/2010/main" val="1840262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xmlns="" id="{ABD88AAA-EE48-F346-F093-EAE7966DAE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51466" y="1640213"/>
            <a:ext cx="8624711" cy="3374374"/>
          </a:xfrm>
        </p:spPr>
      </p:pic>
    </p:spTree>
    <p:extLst>
      <p:ext uri="{BB962C8B-B14F-4D97-AF65-F5344CB8AC3E}">
        <p14:creationId xmlns:p14="http://schemas.microsoft.com/office/powerpoint/2010/main" val="305983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xmlns="" id="{1D183AB4-0114-C958-8DAD-03DD590E20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07346" y="986294"/>
            <a:ext cx="3556739" cy="4682212"/>
          </a:xfr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xmlns="" id="{32179B82-25F5-6138-2B69-45619B216CCB}"/>
              </a:ext>
            </a:extLst>
          </p:cNvPr>
          <p:cNvSpPr txBox="1">
            <a:spLocks/>
          </p:cNvSpPr>
          <p:nvPr/>
        </p:nvSpPr>
        <p:spPr>
          <a:xfrm>
            <a:off x="-260085" y="284692"/>
            <a:ext cx="6559285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Referência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AE716D6C-1B36-DABF-B509-335987079969}"/>
              </a:ext>
            </a:extLst>
          </p:cNvPr>
          <p:cNvSpPr txBox="1"/>
          <p:nvPr/>
        </p:nvSpPr>
        <p:spPr>
          <a:xfrm>
            <a:off x="2762956" y="5871706"/>
            <a:ext cx="6225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Tinyml</a:t>
            </a:r>
            <a:r>
              <a:rPr lang="en-US" dirty="0"/>
              <a:t>: Machine Learning with </a:t>
            </a:r>
            <a:r>
              <a:rPr lang="en-US" dirty="0" err="1"/>
              <a:t>Tensorflow</a:t>
            </a:r>
            <a:r>
              <a:rPr lang="en-US" dirty="0"/>
              <a:t> Lite on Arduino and Ultra-Low-Power Microcontrollers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4FD26F54-CF3F-3EF1-9173-C3D19AD97F6E}"/>
              </a:ext>
            </a:extLst>
          </p:cNvPr>
          <p:cNvSpPr txBox="1"/>
          <p:nvPr/>
        </p:nvSpPr>
        <p:spPr>
          <a:xfrm>
            <a:off x="8139887" y="4874272"/>
            <a:ext cx="3392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https://tinyurl.com/edgemlbooks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xmlns="" id="{55EF0266-626E-886A-6BFE-977D50E50285}"/>
              </a:ext>
            </a:extLst>
          </p:cNvPr>
          <p:cNvCxnSpPr/>
          <p:nvPr/>
        </p:nvCxnSpPr>
        <p:spPr>
          <a:xfrm flipV="1">
            <a:off x="7717971" y="5243604"/>
            <a:ext cx="805543" cy="6281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609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Conteúdo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Introdução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é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Por que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Benefícios de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 pode fazer?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Visão geral do fluxo de trabalho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Convertendo um modelo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em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</p:txBody>
      </p:sp>
    </p:spTree>
    <p:extLst>
      <p:ext uri="{BB962C8B-B14F-4D97-AF65-F5344CB8AC3E}">
        <p14:creationId xmlns:p14="http://schemas.microsoft.com/office/powerpoint/2010/main" val="2627688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829800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O TensorFlow Lite é um </a:t>
            </a:r>
            <a:r>
              <a:rPr lang="pt-BR" sz="2000" b="1" i="1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conjunto de ferramentas 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que ajuda os desenvolvedores a </a:t>
            </a:r>
            <a:r>
              <a:rPr lang="pt-BR" sz="2000" b="1" i="1" dirty="0">
                <a:solidFill>
                  <a:srgbClr val="7030A0"/>
                </a:solidFill>
                <a:effectLst/>
                <a:cs typeface="Arial" panose="020B0604020202020204" pitchFamily="34" charset="0"/>
              </a:rPr>
              <a:t>executar modelos de machine learning em dispositivos embarcados 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(móveis e IoT).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xmlns="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4553" y="2374040"/>
            <a:ext cx="7734855" cy="3798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663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TensorFlow é uma biblioteca de aprendizado de máquina geral que pode ser usada para </a:t>
            </a:r>
            <a:r>
              <a:rPr lang="pt-BR" sz="2000" b="1" i="1" dirty="0">
                <a:solidFill>
                  <a:srgbClr val="7030A0"/>
                </a:solidFill>
                <a:effectLst/>
                <a:ea typeface="Calibri" panose="020F0502020204030204" pitchFamily="34" charset="0"/>
                <a:cs typeface="Arial" panose="020B0604020202020204" pitchFamily="34" charset="0"/>
              </a:rPr>
              <a:t>treinar, implantar e executar modelos de aprendizado de máquina em uma variedade de plataformas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, incluindo computadores, dispositivos móveis e dispositivos embarcados.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TensorFlow Lite é uma versão reduzida do TensorFlow que é otimizada para desempenho e eficiência em dispositivos embarcados.</a:t>
            </a: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xmlns="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61" b="11127"/>
          <a:stretch/>
        </p:blipFill>
        <p:spPr bwMode="auto">
          <a:xfrm>
            <a:off x="1960240" y="3530600"/>
            <a:ext cx="7415242" cy="3008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0266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Auxilia na criação de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que possuem as seguintes características: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Baixa latência (não há ida e volta para um servidor),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Maior privacidade (nenhum dado pessoal sai do dispositivo),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Pouca ou nenhuma necessidade de conectividade a Internet,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Modelos com menor tamanho,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Menor consumo de energia (inferência eficiente e falta de conexões de rede)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98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Suporte a várias plataformas, inclusive dispositivos Android e iOS, Linux embarcado e microcontroladores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Compatibilidade com diversas linguagens, incluindo Java, Swift,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Objective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-C, C++ e Python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Alto desempenho com aceleração de hardware e otimização de modelos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624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xmlns="" id="{7083F4F6-6882-226E-8924-F3F893CE7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01152" y="1475553"/>
            <a:ext cx="7498730" cy="4313294"/>
          </a:xfrm>
        </p:spPr>
      </p:pic>
    </p:spTree>
    <p:extLst>
      <p:ext uri="{BB962C8B-B14F-4D97-AF65-F5344CB8AC3E}">
        <p14:creationId xmlns:p14="http://schemas.microsoft.com/office/powerpoint/2010/main" val="3230843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xmlns="" id="{0942837E-A7AA-0552-CCE5-E9F444D393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46667" y="1271099"/>
            <a:ext cx="9347200" cy="4519001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41B2F112-E74E-7802-E172-46DE8F007E4C}"/>
              </a:ext>
            </a:extLst>
          </p:cNvPr>
          <p:cNvSpPr txBox="1"/>
          <p:nvPr/>
        </p:nvSpPr>
        <p:spPr>
          <a:xfrm>
            <a:off x="2093894" y="59314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Set of operations: https://www.tensorflow.org/mlir/tfl_ops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15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xmlns="" id="{0FF495AE-312B-8030-46D0-CDBEBBB51C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770130" y="1406392"/>
            <a:ext cx="9853494" cy="3517383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75358192-105F-2899-E13C-13ED44081794}"/>
              </a:ext>
            </a:extLst>
          </p:cNvPr>
          <p:cNvSpPr txBox="1"/>
          <p:nvPr/>
        </p:nvSpPr>
        <p:spPr>
          <a:xfrm>
            <a:off x="9301932" y="2905518"/>
            <a:ext cx="9141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(roda no </a:t>
            </a:r>
            <a:r>
              <a:rPr lang="pt-BR" sz="1200" dirty="0" err="1"/>
              <a:t>bare</a:t>
            </a:r>
            <a:r>
              <a:rPr lang="pt-BR" sz="1200" dirty="0"/>
              <a:t> metal)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31AF67C9-DFE1-8B0E-A216-5183F6AA774E}"/>
              </a:ext>
            </a:extLst>
          </p:cNvPr>
          <p:cNvSpPr txBox="1"/>
          <p:nvPr/>
        </p:nvSpPr>
        <p:spPr>
          <a:xfrm>
            <a:off x="4880712" y="3367183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dinâmico de memória: memoria virtual)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435199DB-206E-9599-A701-296559F2BE0A}"/>
              </a:ext>
            </a:extLst>
          </p:cNvPr>
          <p:cNvSpPr txBox="1"/>
          <p:nvPr/>
        </p:nvSpPr>
        <p:spPr>
          <a:xfrm>
            <a:off x="7249042" y="3429000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estático de memória. Sabemos onde está na memória)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531135DD-400D-9EFF-963F-2BFBCAC9D1D1}"/>
              </a:ext>
            </a:extLst>
          </p:cNvPr>
          <p:cNvSpPr txBox="1"/>
          <p:nvPr/>
        </p:nvSpPr>
        <p:spPr>
          <a:xfrm>
            <a:off x="4880712" y="4197815"/>
            <a:ext cx="1632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e </a:t>
            </a:r>
            <a:r>
              <a:rPr lang="pt-BR" sz="1200" dirty="0" err="1"/>
              <a:t>TPUs</a:t>
            </a:r>
            <a:r>
              <a:rPr lang="pt-BR" sz="1200" dirty="0"/>
              <a:t>)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BF6A1622-A2AE-F348-0B7A-91A6F5F4F2F7}"/>
              </a:ext>
            </a:extLst>
          </p:cNvPr>
          <p:cNvSpPr txBox="1"/>
          <p:nvPr/>
        </p:nvSpPr>
        <p:spPr>
          <a:xfrm>
            <a:off x="7072119" y="4197814"/>
            <a:ext cx="1632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móveis, </a:t>
            </a:r>
            <a:r>
              <a:rPr lang="pt-BR" sz="1200" dirty="0" err="1"/>
              <a:t>NPUs</a:t>
            </a:r>
            <a:r>
              <a:rPr lang="pt-BR" sz="1200" dirty="0"/>
              <a:t>, </a:t>
            </a:r>
            <a:r>
              <a:rPr lang="pt-BR" sz="1200" dirty="0" err="1"/>
              <a:t>DSPs</a:t>
            </a:r>
            <a:r>
              <a:rPr lang="pt-BR" sz="1200" dirty="0"/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0977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xmlns="" id="{A36D4836-D243-4019-E226-8026610A4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51466" y="1630409"/>
            <a:ext cx="8895644" cy="339398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DFABFCA8-80AF-7911-FE28-7BB08F129841}"/>
              </a:ext>
            </a:extLst>
          </p:cNvPr>
          <p:cNvSpPr txBox="1"/>
          <p:nvPr/>
        </p:nvSpPr>
        <p:spPr>
          <a:xfrm>
            <a:off x="1151465" y="5175485"/>
            <a:ext cx="9421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Base </a:t>
            </a:r>
            <a:r>
              <a:rPr lang="pt-BR" dirty="0" err="1"/>
              <a:t>binary</a:t>
            </a:r>
            <a:r>
              <a:rPr lang="pt-BR" dirty="0"/>
              <a:t> </a:t>
            </a:r>
            <a:r>
              <a:rPr lang="pt-BR" dirty="0" err="1"/>
              <a:t>size</a:t>
            </a:r>
            <a:r>
              <a:rPr lang="pt-BR" dirty="0"/>
              <a:t>: tamanho em disco ou memória flash que a biblioteca ocupa.</a:t>
            </a:r>
          </a:p>
          <a:p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: quantidade total de memória RAM usada durante a execução.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84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pode ser usado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para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aplicações </a:t>
            </a:r>
            <a:r>
              <a:rPr lang="pt-BR" sz="2000" dirty="0" err="1" smtClean="0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 destinadas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uma ampla variedade de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tarefas ,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incluindo: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Classificação de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imagem: O TensorFlow Lite pode ser usado para criar modelos que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classifiquem imagens.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10 Papers You Should Read to Understand Image Classification in the Deep  Learning Era | by Ethan Yanjia Li | TDS Archive | Mediu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4"/>
          <a:stretch/>
        </p:blipFill>
        <p:spPr bwMode="auto">
          <a:xfrm>
            <a:off x="1943101" y="2495238"/>
            <a:ext cx="6776357" cy="384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8072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Detecção, rastreamento e segmentação de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objetos: O TensorFlow Lite pode ser usado para criar modelos que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identifiquem, segmentem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 rastreiem objetos em tempo real, como carros, pessoas e animais.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Iniciando Detecção Objetos com OpenCV">
            <a:extLst>
              <a:ext uri="{FF2B5EF4-FFF2-40B4-BE49-F238E27FC236}">
                <a16:creationId xmlns:a16="http://schemas.microsoft.com/office/drawing/2014/main" xmlns="" id="{016F69A5-0F7D-F6FE-BD4B-32F38F49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978" y="2286706"/>
            <a:ext cx="5904090" cy="3321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2492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voz: O TensorFlow Lite pode ser usado para criar modelos de reconhecimento de fala, como comandos de voz e perguntas.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B41E48C3-0E68-5029-BDEC-3CE77D8A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431" y="2165982"/>
            <a:ext cx="6161969" cy="382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613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Processamento de linguagem natural: O TensorFlow Lite pode ser usado para criar modelos que entendam texto, como perguntas e solicitações.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06D4BDE6-F027-E85C-A935-9890F5274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97" y="2185177"/>
            <a:ext cx="59626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Análise de vídeo: O TensorFlow Lite pode ser usado para criar modelos que analisem vídeos para detectar objetos, pessoas e comportamentos.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27+ Most Popular Computer Vision Applications in 2023">
            <a:extLst>
              <a:ext uri="{FF2B5EF4-FFF2-40B4-BE49-F238E27FC236}">
                <a16:creationId xmlns:a16="http://schemas.microsoft.com/office/drawing/2014/main" xmlns="" id="{A0FC0AFF-A6AC-404C-03F5-AED3DD102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015" y="2230212"/>
            <a:ext cx="7527273" cy="3585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21061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98529" cy="5023757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Um modelo do TensorFlow Lite é representado em um formato aberto e eficiente conhecido como </a:t>
            </a:r>
            <a:r>
              <a:rPr lang="pt-BR" b="1" i="1" dirty="0" err="1">
                <a:solidFill>
                  <a:srgbClr val="7030A0"/>
                </a:solidFill>
              </a:rPr>
              <a:t>FlatBuffers</a:t>
            </a:r>
            <a:r>
              <a:rPr lang="pt-BR" dirty="0"/>
              <a:t>, identificado pela extensão de arquivo .</a:t>
            </a:r>
            <a:r>
              <a:rPr lang="pt-BR" dirty="0" err="1"/>
              <a:t>tflite</a:t>
            </a:r>
            <a:r>
              <a:rPr lang="pt-BR" dirty="0"/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 smtClean="0"/>
              <a:t>Biblioteca e formato d</a:t>
            </a:r>
            <a:r>
              <a:rPr lang="pt-BR" b="0" i="0" dirty="0" smtClean="0">
                <a:effectLst/>
              </a:rPr>
              <a:t>esenvolvidos </a:t>
            </a:r>
            <a:r>
              <a:rPr lang="pt-BR" b="0" i="0" dirty="0">
                <a:effectLst/>
              </a:rPr>
              <a:t>pelo Google.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É uma biblioteca de </a:t>
            </a:r>
            <a:r>
              <a:rPr lang="pt-BR" b="1" i="1" dirty="0">
                <a:solidFill>
                  <a:srgbClr val="00B050"/>
                </a:solidFill>
              </a:rPr>
              <a:t>serialização</a:t>
            </a:r>
            <a:r>
              <a:rPr lang="pt-BR" dirty="0"/>
              <a:t> </a:t>
            </a:r>
            <a:r>
              <a:rPr lang="pt-BR" dirty="0" err="1"/>
              <a:t>multiplataforma</a:t>
            </a:r>
            <a:r>
              <a:rPr lang="pt-BR" dirty="0"/>
              <a:t> eficiente para C++, C, Python, etc.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1" dirty="0"/>
              <a:t>Biblioteca que converte objetos em um formato que possa ser armazenado ou transmitido</a:t>
            </a:r>
            <a:r>
              <a:rPr lang="pt-BR" dirty="0"/>
              <a:t>.</a:t>
            </a:r>
            <a:endParaRPr lang="pt-BR" b="0" i="0" dirty="0">
              <a:effectLst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 err="1">
                <a:effectLst/>
              </a:rPr>
              <a:t>Flatbuffers</a:t>
            </a:r>
            <a:r>
              <a:rPr lang="pt-BR" b="0" i="0" dirty="0">
                <a:effectLst/>
              </a:rPr>
              <a:t> é especialmente útil em cenários em que a </a:t>
            </a:r>
            <a:r>
              <a:rPr lang="pt-BR" b="1" i="1" dirty="0">
                <a:solidFill>
                  <a:schemeClr val="accent6"/>
                </a:solidFill>
                <a:effectLst/>
              </a:rPr>
              <a:t>velocidade e o tamanho compacto dos dados são essenciais</a:t>
            </a:r>
            <a:r>
              <a:rPr lang="pt-BR" b="0" i="0" dirty="0">
                <a:effectLst/>
              </a:rPr>
              <a:t>, como jogos, aplicativos móveis e sistemas de comunicação de rede.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8209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Lite: Geração de modelos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Use um </a:t>
            </a:r>
            <a:r>
              <a:rPr lang="pt-BR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modelo existente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consulte os exemplos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escolher um modelo existente. Os modelos podem ou não conter </a:t>
            </a:r>
            <a:r>
              <a:rPr lang="pt-BR" sz="2000" dirty="0" err="1" smtClean="0">
                <a:ea typeface="Calibri" panose="020F0502020204030204" pitchFamily="34" charset="0"/>
                <a:cs typeface="Arial" panose="020B0604020202020204" pitchFamily="34" charset="0"/>
              </a:rPr>
              <a:t>metadados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*.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2D00DCBC-E4E6-D605-D704-02B8108A9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288" y="2855584"/>
            <a:ext cx="7303911" cy="3110135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2496207" y="6215969"/>
            <a:ext cx="69525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https://github.com/tensorflow/examples/tree/master/lite/examples</a:t>
            </a:r>
            <a:endParaRPr lang="pt-BR" dirty="0"/>
          </a:p>
        </p:txBody>
      </p:sp>
      <p:sp>
        <p:nvSpPr>
          <p:cNvPr id="8" name="Retângulo 7"/>
          <p:cNvSpPr/>
          <p:nvPr/>
        </p:nvSpPr>
        <p:spPr>
          <a:xfrm>
            <a:off x="9600389" y="3175105"/>
            <a:ext cx="2433768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dirty="0"/>
              <a:t>*Os </a:t>
            </a:r>
            <a:r>
              <a:rPr lang="pt-BR" sz="1200" dirty="0" err="1"/>
              <a:t>metadados</a:t>
            </a:r>
            <a:r>
              <a:rPr lang="pt-BR" sz="1200" dirty="0"/>
              <a:t> do modelo contêm informações gerais do modelo (autor, versão, propósito, licença), dimensões esperadas das entradas/saídas, tipo dos dados (</a:t>
            </a:r>
            <a:r>
              <a:rPr lang="pt-BR" sz="1200" dirty="0" err="1"/>
              <a:t>float</a:t>
            </a:r>
            <a:r>
              <a:rPr lang="pt-BR" sz="1200" dirty="0"/>
              <a:t>, </a:t>
            </a:r>
            <a:r>
              <a:rPr lang="pt-BR" sz="1200" dirty="0" err="1"/>
              <a:t>int</a:t>
            </a:r>
            <a:r>
              <a:rPr lang="pt-BR" sz="1200" dirty="0"/>
              <a:t>), descrição das saídas, mapeamento dos rótulos em classes, taxa de amostragem de áudio, etc. o que torna o modelo </a:t>
            </a:r>
            <a:r>
              <a:rPr lang="pt-BR" sz="1200" dirty="0" err="1"/>
              <a:t>autodescritivo</a:t>
            </a:r>
            <a:r>
              <a:rPr lang="pt-BR" sz="1200" dirty="0"/>
              <a:t> e intercambiável.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652433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76528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Crie um modelo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do TensorFlow Lite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use o TensorFlow Lite Model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Maker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criar um modelo com seu próprio conjunto de dados personalizado.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Por padrão, todos os modelos contêm metadados*.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Usa </a:t>
            </a:r>
            <a:r>
              <a:rPr lang="pt-BR" sz="2000" b="1" i="1" dirty="0" err="1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transfer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b="1" i="1" dirty="0" err="1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learning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para reduzir a quantidade de dados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treinamento necessários e </a:t>
            </a:r>
            <a:r>
              <a:rPr lang="pt-BR" sz="2000" b="1" i="1" dirty="0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reduzir o tempo de treinamento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https://www.tensorflow.org/lite/models/modify/model_maker?hl=pt-br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6E93292B-A3D0-990C-7B97-23D946E61168}"/>
              </a:ext>
            </a:extLst>
          </p:cNvPr>
          <p:cNvSpPr txBox="1"/>
          <p:nvPr/>
        </p:nvSpPr>
        <p:spPr>
          <a:xfrm>
            <a:off x="2755359" y="5929622"/>
            <a:ext cx="609437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/>
              <a:t>*Os metadados do modelo contêm informações gerais do modelo (autor, versão, propósito, licença), dimensões esperadas das entradas/saídas, tipo dos dados (</a:t>
            </a:r>
            <a:r>
              <a:rPr lang="pt-BR" sz="1200" dirty="0" err="1"/>
              <a:t>float</a:t>
            </a:r>
            <a:r>
              <a:rPr lang="pt-BR" sz="1200" dirty="0"/>
              <a:t>, </a:t>
            </a:r>
            <a:r>
              <a:rPr lang="pt-BR" sz="1200" dirty="0" err="1"/>
              <a:t>int</a:t>
            </a:r>
            <a:r>
              <a:rPr lang="pt-BR" sz="1200" dirty="0"/>
              <a:t>), descrição das saídas, mapeamento dos rótulos em classes, taxa de amostragem de áudio, etc. o que torna o modelo </a:t>
            </a:r>
            <a:r>
              <a:rPr lang="pt-BR" sz="1200" dirty="0" err="1"/>
              <a:t>autodescritivo</a:t>
            </a:r>
            <a:r>
              <a:rPr lang="pt-BR" sz="1200" dirty="0"/>
              <a:t> e intercambiável.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255696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32933"/>
            <a:ext cx="1034142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b="1" i="1" dirty="0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Converta um modelo do </a:t>
            </a:r>
            <a:r>
              <a:rPr lang="pt-BR" sz="2000" b="1" i="1" dirty="0" err="1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b="1" i="1" dirty="0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em um do </a:t>
            </a:r>
            <a:r>
              <a:rPr lang="pt-BR" sz="2000" b="1" i="1" dirty="0" err="1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b="1" i="1" dirty="0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use o </a:t>
            </a:r>
            <a:r>
              <a:rPr lang="pt-BR" sz="2000" b="1" i="1" dirty="0" err="1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Lite Converter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converter modelos. Durante a conversão, você pode aplicar otimizações como a quantização para diminuir o tamanho e a latência do modelo com pouca ou nenhuma perda na acurácia. Por padrão, nenhum dos modelos contém metadados.</a:t>
            </a:r>
          </a:p>
        </p:txBody>
      </p:sp>
      <p:pic>
        <p:nvPicPr>
          <p:cNvPr id="3074" name="Picture 2" descr="Conversor do TensorFlow Lite">
            <a:extLst>
              <a:ext uri="{FF2B5EF4-FFF2-40B4-BE49-F238E27FC236}">
                <a16:creationId xmlns:a16="http://schemas.microsoft.com/office/drawing/2014/main" xmlns="" id="{F2857146-E0AC-CAA4-F70C-A96D02876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190" y="2857369"/>
            <a:ext cx="4034895" cy="4000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89657A0F-79B2-55C4-2A40-58802A2AFF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3325" y="3060191"/>
            <a:ext cx="1911085" cy="30504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71453205-7E82-15DA-4AA0-5C630D24D2E2}"/>
              </a:ext>
            </a:extLst>
          </p:cNvPr>
          <p:cNvSpPr txBox="1"/>
          <p:nvPr/>
        </p:nvSpPr>
        <p:spPr>
          <a:xfrm>
            <a:off x="2490281" y="4957769"/>
            <a:ext cx="18930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Pronto para uso em Python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762B2C35-3BA4-C4F5-32E9-89F212A2DC7A}"/>
              </a:ext>
            </a:extLst>
          </p:cNvPr>
          <p:cNvSpPr txBox="1"/>
          <p:nvPr/>
        </p:nvSpPr>
        <p:spPr>
          <a:xfrm>
            <a:off x="2593932" y="5383183"/>
            <a:ext cx="1685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00" dirty="0"/>
              <a:t>Pronto para uso em C++</a:t>
            </a:r>
          </a:p>
          <a:p>
            <a:pPr algn="ctr"/>
            <a:r>
              <a:rPr lang="pt-BR" sz="1200" dirty="0"/>
              <a:t>(</a:t>
            </a:r>
            <a:r>
              <a:rPr lang="pt-BR" sz="1200" dirty="0" err="1"/>
              <a:t>flatbuffer</a:t>
            </a:r>
            <a:r>
              <a:rPr lang="pt-BR" sz="1200" dirty="0"/>
              <a:t>)</a:t>
            </a:r>
            <a:endParaRPr lang="en-US" sz="12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xmlns="" id="{82ACEF39-F9F7-6CF8-B88C-D9073EF5AB19}"/>
              </a:ext>
            </a:extLst>
          </p:cNvPr>
          <p:cNvCxnSpPr>
            <a:stCxn id="5" idx="3"/>
          </p:cNvCxnSpPr>
          <p:nvPr/>
        </p:nvCxnSpPr>
        <p:spPr>
          <a:xfrm flipV="1">
            <a:off x="4383300" y="5096268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E9C51E97-BFBA-B423-560F-BA994AAEDC6E}"/>
              </a:ext>
            </a:extLst>
          </p:cNvPr>
          <p:cNvCxnSpPr/>
          <p:nvPr/>
        </p:nvCxnSpPr>
        <p:spPr>
          <a:xfrm flipV="1">
            <a:off x="4371920" y="5581160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372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xmlns="" id="{582E9589-8177-29E1-55FB-2378173837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224514" y="2142361"/>
            <a:ext cx="8855207" cy="2979678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xmlns="" id="{3E2FA7D6-384A-F9CA-866B-DFF3096B442E}"/>
              </a:ext>
            </a:extLst>
          </p:cNvPr>
          <p:cNvSpPr txBox="1"/>
          <p:nvPr/>
        </p:nvSpPr>
        <p:spPr>
          <a:xfrm>
            <a:off x="768085" y="1267246"/>
            <a:ext cx="8855206" cy="388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800">
                <a:ea typeface="Calibri" panose="020F0502020204030204" pitchFamily="34" charset="0"/>
                <a:cs typeface="Arial" panose="020B0604020202020204" pitchFamily="34" charset="0"/>
              </a:rPr>
              <a:t>Quando se utiliza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outros frameworks é necessário converter primeiro para o TensorFlow.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2A596F07-3DD5-5330-6E2A-215F0FABF265}"/>
              </a:ext>
            </a:extLst>
          </p:cNvPr>
          <p:cNvSpPr txBox="1"/>
          <p:nvPr/>
        </p:nvSpPr>
        <p:spPr>
          <a:xfrm>
            <a:off x="2657475" y="3705225"/>
            <a:ext cx="3166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ONNX</a:t>
            </a:r>
          </a:p>
          <a:p>
            <a:pPr algn="ctr"/>
            <a:r>
              <a:rPr lang="pt-BR" dirty="0"/>
              <a:t>Transferência manual dos pesos</a:t>
            </a:r>
            <a:endParaRPr lang="en-US" dirty="0"/>
          </a:p>
        </p:txBody>
      </p:sp>
      <p:sp>
        <p:nvSpPr>
          <p:cNvPr id="5" name="Retângulo 4"/>
          <p:cNvSpPr/>
          <p:nvPr/>
        </p:nvSpPr>
        <p:spPr>
          <a:xfrm>
            <a:off x="1814285" y="5352971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sz="1200" dirty="0">
                <a:solidFill>
                  <a:srgbClr val="404040"/>
                </a:solidFill>
                <a:latin typeface="DeepSeek-CJK-patch"/>
              </a:rPr>
              <a:t>O ONNX (Open Neural Network Exchange) é um formato aberto que padroniza modelos de </a:t>
            </a:r>
            <a:r>
              <a:rPr lang="pt-BR" sz="1200" i="1" dirty="0" err="1">
                <a:solidFill>
                  <a:srgbClr val="404040"/>
                </a:solidFill>
                <a:latin typeface="DeepSeek-CJK-patch"/>
              </a:rPr>
              <a:t>machine</a:t>
            </a:r>
            <a:r>
              <a:rPr lang="pt-BR" sz="1200" i="1" dirty="0">
                <a:solidFill>
                  <a:srgbClr val="404040"/>
                </a:solidFill>
                <a:latin typeface="DeepSeek-CJK-patch"/>
              </a:rPr>
              <a:t> </a:t>
            </a:r>
            <a:r>
              <a:rPr lang="pt-BR" sz="1200" i="1" dirty="0" err="1">
                <a:solidFill>
                  <a:srgbClr val="404040"/>
                </a:solidFill>
                <a:latin typeface="DeepSeek-CJK-patch"/>
              </a:rPr>
              <a:t>learning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, permitindo interoperabilidade entre frameworks como TensorFlow 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PyTorch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, sem necessidade de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reimplementação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.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385091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04900"/>
            <a:ext cx="9820275" cy="3934178"/>
          </a:xfrm>
        </p:spPr>
        <p:txBody>
          <a:bodyPr>
            <a:normAutofit/>
          </a:bodyPr>
          <a:lstStyle/>
          <a:p>
            <a:r>
              <a:rPr lang="pt-BR" dirty="0"/>
              <a:t>Como modelos do </a:t>
            </a:r>
            <a:r>
              <a:rPr lang="pt-BR" dirty="0" err="1"/>
              <a:t>tensorflow</a:t>
            </a:r>
            <a:r>
              <a:rPr lang="pt-BR" dirty="0"/>
              <a:t> lite rodam em dispositivos com restrições computacionais?</a:t>
            </a:r>
          </a:p>
          <a:p>
            <a:pPr lvl="1"/>
            <a:r>
              <a:rPr lang="pt-BR" dirty="0"/>
              <a:t>Operações de poda;</a:t>
            </a:r>
          </a:p>
          <a:p>
            <a:pPr lvl="1"/>
            <a:r>
              <a:rPr lang="pt-BR" dirty="0"/>
              <a:t>Operações de quantização.</a:t>
            </a:r>
          </a:p>
        </p:txBody>
      </p:sp>
    </p:spTree>
    <p:extLst>
      <p:ext uri="{BB962C8B-B14F-4D97-AF65-F5344CB8AC3E}">
        <p14:creationId xmlns:p14="http://schemas.microsoft.com/office/powerpoint/2010/main" val="2329447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Existem diferentes maneiras de podar uma rede neural.</a:t>
            </a:r>
          </a:p>
          <a:p>
            <a:pPr lvl="1"/>
            <a:r>
              <a:rPr lang="pt-BR" dirty="0"/>
              <a:t> (1) Você pode podar pesos. Isso é feito removendo pesos com valores absolutos próximos de zero, tornando a rede </a:t>
            </a:r>
            <a:r>
              <a:rPr lang="pt-BR" b="1" i="1" dirty="0">
                <a:solidFill>
                  <a:srgbClr val="FF0000"/>
                </a:solidFill>
              </a:rPr>
              <a:t>esparsa</a:t>
            </a:r>
            <a:r>
              <a:rPr lang="pt-BR" dirty="0"/>
              <a:t>. </a:t>
            </a:r>
          </a:p>
          <a:p>
            <a:pPr lvl="1"/>
            <a:r>
              <a:rPr lang="pt-BR" dirty="0"/>
              <a:t> (2) Você pode remover nós inteiros da rede. 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 É implementado removendo-se todos os pesos que tenham valor absoluto abaixo de um determinado limiar.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Em ambos os casos, reduz-se o número de parâmetros no modelo.</a:t>
            </a:r>
          </a:p>
        </p:txBody>
      </p:sp>
      <p:pic>
        <p:nvPicPr>
          <p:cNvPr id="4" name="Espaço Reservado para Conteúdo 12">
            <a:extLst>
              <a:ext uri="{FF2B5EF4-FFF2-40B4-BE49-F238E27FC236}">
                <a16:creationId xmlns:a16="http://schemas.microsoft.com/office/drawing/2014/main" xmlns="" id="{FD634656-5BF5-2BC4-E1C6-C77FEE17F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1299" y="4184270"/>
            <a:ext cx="6079989" cy="255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178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58711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Em vez de apenas pesos, as ativações nos dados de treinamento podem ser usadas como critério para remoção.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Ao executar um conjunto de dados em uma rede, certas estatísticas das ativações podem ser observadas.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 Você pode observar que alguns neurônios sempre produzem valores próximos de zero.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902842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Se dois neurônios em uma camada tiverem pesos ou ativações muito semelhantes, isso pode significar que eles estão fazendo a mesma coisa.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 redundância de pesos pode significar que um neurônio pode ser removido.</a:t>
            </a:r>
            <a:endParaRPr lang="pt-BR" dirty="0"/>
          </a:p>
        </p:txBody>
      </p:sp>
      <p:pic>
        <p:nvPicPr>
          <p:cNvPr id="4" name="Espaço Reservado para Conteúdo 9">
            <a:extLst>
              <a:ext uri="{FF2B5EF4-FFF2-40B4-BE49-F238E27FC236}">
                <a16:creationId xmlns:a16="http://schemas.microsoft.com/office/drawing/2014/main" xmlns="" id="{7090F274-8A04-97E4-143C-838E33ABD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844" y="2191685"/>
            <a:ext cx="9539111" cy="3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68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quantização é uma otimização que funciona reduzindo a precisão dos números usados para representar os parâmetros de um modelo, que por padrão são números em ponto flutuante de 32 bits (4 bytes).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1BAEEA87-F627-65F5-4E21-A51298ED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604" y="2769495"/>
            <a:ext cx="3266974" cy="302170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xmlns="" id="{E8522154-127B-CB62-B177-FCDB739B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600" y="2653752"/>
            <a:ext cx="2906919" cy="31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1323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operação de quantização não é reversível, i.e.,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perde-se informação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Imagem Lena quantizada em 16, 8, 4 e 2 bits/pixel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xmlns="" id="{44919B43-A8D0-0E72-BC89-A94FC118B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582" y="2155856"/>
            <a:ext cx="5029636" cy="451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38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perda de precisão pela quantização.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5188D633-0B89-9550-96D0-D8140F2D4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36" y="1748644"/>
            <a:ext cx="8687553" cy="3360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C38F561E-4030-950D-91DB-81E5C41C9421}"/>
              </a:ext>
            </a:extLst>
          </p:cNvPr>
          <p:cNvSpPr txBox="1"/>
          <p:nvPr/>
        </p:nvSpPr>
        <p:spPr>
          <a:xfrm>
            <a:off x="827111" y="2400300"/>
            <a:ext cx="22875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Modelos usados para classificação de imagens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6FC5B96F-73BD-429B-71E5-8661533D743E}"/>
              </a:ext>
            </a:extLst>
          </p:cNvPr>
          <p:cNvSpPr txBox="1"/>
          <p:nvPr/>
        </p:nvSpPr>
        <p:spPr>
          <a:xfrm>
            <a:off x="10105585" y="44483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98 MB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CBA6F76D-EEE4-F7C7-DB21-371215EE3178}"/>
              </a:ext>
            </a:extLst>
          </p:cNvPr>
          <p:cNvSpPr txBox="1"/>
          <p:nvPr/>
        </p:nvSpPr>
        <p:spPr>
          <a:xfrm>
            <a:off x="10105585" y="38006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14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ABB5392F-2564-6355-6CE3-C581E8DD87ED}"/>
              </a:ext>
            </a:extLst>
          </p:cNvPr>
          <p:cNvSpPr txBox="1"/>
          <p:nvPr/>
        </p:nvSpPr>
        <p:spPr>
          <a:xfrm>
            <a:off x="10096060" y="3116950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16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F51199C5-EBE8-B6E1-6D4C-47C8FEC021AD}"/>
              </a:ext>
            </a:extLst>
          </p:cNvPr>
          <p:cNvSpPr txBox="1"/>
          <p:nvPr/>
        </p:nvSpPr>
        <p:spPr>
          <a:xfrm>
            <a:off x="9600389" y="2178903"/>
            <a:ext cx="20919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Tamanho</a:t>
            </a:r>
            <a:r>
              <a:rPr lang="en-US" b="1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antes da </a:t>
            </a:r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quantização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0739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for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Microcontrollers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(TFLM, abreviadamente) foi projetado para executar modelos de aprendizado de máquina em microcontroladores e outros dispositivos com restrições computacionais.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Ao contrário de processadores móveis de alto desempenho (como a 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Cortex-A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), os microcontroladores (série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ou ESP32) têm restrições computacionais e baixo consumo de energia e são usados em produtos como sensores, geladeira, máquinas de lavar e assim por diante.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9225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682247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microcontroladores é escrito em C++ 11 e requer uma plataforma de 32 bits.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foi testado extensivamente em diversos processadores e microcontroladores baseados na arquitetura ARM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e foi portado a outras arquiteturas, incluindo ESP32, RISC-V 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Hexagon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framework também está disponível como uma biblioteca para o Arduino.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também pode gerar projetos para ambientes de desenvolvimento, como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 é uma plataforma de desenvolvimento e sistema operacional para dispositivos IoT baseados em microcontroladores ARM </a:t>
            </a: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-M de 32 bits.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é de código aberto e pode ser incluído em qualquer projeto C++ 11.</a:t>
            </a:r>
          </a:p>
        </p:txBody>
      </p:sp>
    </p:spTree>
    <p:extLst>
      <p:ext uri="{BB962C8B-B14F-4D97-AF65-F5344CB8AC3E}">
        <p14:creationId xmlns:p14="http://schemas.microsoft.com/office/powerpoint/2010/main" val="8526249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37590F3D-5B48-A87A-562A-0F137E25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9265" y="1647990"/>
            <a:ext cx="6854114" cy="464556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FE8E8FCC-49C4-82CC-F70E-1666385CF89E}"/>
              </a:ext>
            </a:extLst>
          </p:cNvPr>
          <p:cNvSpPr txBox="1"/>
          <p:nvPr/>
        </p:nvSpPr>
        <p:spPr>
          <a:xfrm>
            <a:off x="2947211" y="6442397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 err="1">
                <a:solidFill>
                  <a:srgbClr val="7030A0"/>
                </a:solidFill>
                <a:hlinkClick r:id="rId6"/>
              </a:rPr>
              <a:t>Hello</a:t>
            </a:r>
            <a:r>
              <a:rPr lang="pt-BR" dirty="0">
                <a:solidFill>
                  <a:srgbClr val="7030A0"/>
                </a:solidFill>
                <a:hlinkClick r:id="rId6"/>
              </a:rPr>
              <a:t> world for </a:t>
            </a:r>
            <a:r>
              <a:rPr lang="pt-BR" dirty="0" err="1">
                <a:solidFill>
                  <a:srgbClr val="7030A0"/>
                </a:solidFill>
                <a:hlinkClick r:id="rId6"/>
              </a:rPr>
              <a:t>microcontrollers</a:t>
            </a:r>
            <a:endParaRPr lang="pt-BR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34717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Importação de bibliotecas e definição das sementes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1F89EE25-B491-63A3-3836-CC948FFC5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839" y="2185553"/>
            <a:ext cx="6134632" cy="269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6431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9E3EF363-642C-D87E-BC2E-70601C913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725" y="2156145"/>
            <a:ext cx="8824725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7792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xmlns="" id="{06DF1C46-9A68-B926-41A8-307C5C59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86" y="2068253"/>
            <a:ext cx="7047958" cy="4330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7926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00F98BB6-F55B-F1C7-5F9B-1DFB6063B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338" y="2698668"/>
            <a:ext cx="6997218" cy="253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4046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xmlns="" id="{A0AAE5CF-CA9E-E0E3-D85D-263DFE582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085430"/>
            <a:ext cx="5936094" cy="3705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091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ABA14C0E-4E59-C74F-ABB4-621BF2E44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85" y="3013550"/>
            <a:ext cx="9295589" cy="250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4479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xmlns="" id="{7023B888-E104-91F4-07E8-6994C5329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5038"/>
            <a:ext cx="6034617" cy="376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60417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Modelo inicial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8606" y="2083420"/>
            <a:ext cx="6858740" cy="1376536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8891" y="3566594"/>
            <a:ext cx="6188155" cy="520013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48262" y="4193245"/>
            <a:ext cx="6424467" cy="1893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5393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Treinamento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00" y="3057072"/>
            <a:ext cx="11108999" cy="59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5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DB2B547F-A630-D1B7-2109-3DC4D19D2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299" y="2377144"/>
            <a:ext cx="7041490" cy="341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046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400" y="1929190"/>
            <a:ext cx="6696527" cy="4464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9207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Cálculo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test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3714E700-976E-460D-4546-4CCC2EBEC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6270" y="2695897"/>
            <a:ext cx="6340389" cy="30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254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945" y="2153557"/>
            <a:ext cx="5997039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4261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extra e mais neurônios na primeira camada.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1953" y="2001837"/>
            <a:ext cx="6815047" cy="3517090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4657" y="5700231"/>
            <a:ext cx="8195389" cy="36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2455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extra e mais neurônios na primeira camada.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5636" y="2563018"/>
            <a:ext cx="7820728" cy="193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7542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xmlns="" id="{DF431961-F6F2-0B91-AECF-CB0B09189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25" y="2325719"/>
            <a:ext cx="6274153" cy="395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59349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2555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D09DBB8C-50CF-C342-7D26-B48E53BC3F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7803"/>
          <a:stretch/>
        </p:blipFill>
        <p:spPr>
          <a:xfrm>
            <a:off x="2068454" y="2104596"/>
            <a:ext cx="6928790" cy="1324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488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CC10FC5-B23C-9696-C380-99CFC3CF0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5ADDF33-E48B-6EB9-FDED-6BAFA377E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B3608503-E083-5795-01A0-167F030EDF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8C5487-2049-F174-D552-EA6A2D7C65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6359A22D-4B9F-AFD2-8384-9B03F48B7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501745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modelos: Quantização total do modelo, com exceção das entradas e saídas, para manter a interface original.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E1F5E1D1-49D2-9AEC-D986-475051968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86059BE0-14FC-40F2-F437-6763079BE99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1692"/>
          <a:stretch/>
        </p:blipFill>
        <p:spPr>
          <a:xfrm>
            <a:off x="2123361" y="2804160"/>
            <a:ext cx="6928790" cy="2809776"/>
          </a:xfrm>
          <a:prstGeom prst="rect">
            <a:avLst/>
          </a:prstGeo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9084371" y="3646462"/>
            <a:ext cx="2271252" cy="1125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5660" rIns="0" bIns="14283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5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Full</a:t>
            </a:r>
            <a:r>
              <a:rPr kumimoji="0" lang="pt-BR" altLang="pt-BR" sz="15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integer</a:t>
            </a:r>
            <a:r>
              <a:rPr kumimoji="0" lang="pt-BR" altLang="pt-BR" sz="15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quantization</a:t>
            </a:r>
            <a:r>
              <a:rPr kumimoji="0" lang="pt-BR" altLang="pt-BR" sz="15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: usa amostras para calibrar os intervalos dos tensores.</a:t>
            </a:r>
          </a:p>
        </p:txBody>
      </p:sp>
    </p:spTree>
    <p:extLst>
      <p:ext uri="{BB962C8B-B14F-4D97-AF65-F5344CB8AC3E}">
        <p14:creationId xmlns:p14="http://schemas.microsoft.com/office/powerpoint/2010/main" val="11052951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tamanhos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0996" y="5095095"/>
            <a:ext cx="4213207" cy="1353702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1396" y="2377422"/>
            <a:ext cx="6666008" cy="250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1748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xmlns="" id="{1F3F11BC-5440-CB75-5F2E-FBBAC9055929}"/>
              </a:ext>
            </a:extLst>
          </p:cNvPr>
          <p:cNvSpPr txBox="1"/>
          <p:nvPr/>
        </p:nvSpPr>
        <p:spPr>
          <a:xfrm>
            <a:off x="4052271" y="653483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https://netron.app/</a:t>
            </a:r>
            <a:endParaRPr lang="pt-BR" dirty="0"/>
          </a:p>
          <a:p>
            <a:endParaRPr lang="pt-BR" dirty="0"/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5511" y="1003300"/>
            <a:ext cx="885825" cy="5257800"/>
          </a:xfrm>
          <a:prstGeom prst="rect">
            <a:avLst/>
          </a:prstGeom>
        </p:spPr>
      </p:pic>
      <p:pic>
        <p:nvPicPr>
          <p:cNvPr id="10" name="Imagem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6834" y="1019175"/>
            <a:ext cx="4400550" cy="4819650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83" y="1003300"/>
            <a:ext cx="1061345" cy="4822422"/>
          </a:xfrm>
          <a:prstGeom prst="rect">
            <a:avLst/>
          </a:prstGeom>
        </p:spPr>
      </p:pic>
      <p:pic>
        <p:nvPicPr>
          <p:cNvPr id="13" name="Imagem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10326" y="1022209"/>
            <a:ext cx="4352925" cy="4419600"/>
          </a:xfrm>
          <a:prstGeom prst="rect">
            <a:avLst/>
          </a:prstGeom>
        </p:spPr>
      </p:pic>
      <p:sp>
        <p:nvSpPr>
          <p:cNvPr id="15" name="Retângulo 14"/>
          <p:cNvSpPr/>
          <p:nvPr/>
        </p:nvSpPr>
        <p:spPr>
          <a:xfrm>
            <a:off x="8474090" y="2078182"/>
            <a:ext cx="1572177" cy="2327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/>
          <p:cNvSpPr/>
          <p:nvPr/>
        </p:nvSpPr>
        <p:spPr>
          <a:xfrm>
            <a:off x="2476339" y="2038117"/>
            <a:ext cx="1572177" cy="2327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 16"/>
          <p:cNvSpPr/>
          <p:nvPr/>
        </p:nvSpPr>
        <p:spPr>
          <a:xfrm>
            <a:off x="6436106" y="1690419"/>
            <a:ext cx="705446" cy="4142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 17"/>
          <p:cNvSpPr/>
          <p:nvPr/>
        </p:nvSpPr>
        <p:spPr>
          <a:xfrm>
            <a:off x="6475700" y="5290002"/>
            <a:ext cx="705446" cy="4142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27505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Fazendo a predição para os modelos criados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768583F4-ECF0-7B34-E22F-DF2762D32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4544" y="2433009"/>
            <a:ext cx="6563678" cy="424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855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xmlns="" id="{9929DAC8-BF08-D1F0-2C01-AAC59ED2D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8118" y="1886583"/>
            <a:ext cx="7105021" cy="4559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78556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Exemplos de clusterização e poda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0"/>
            <a:ext cx="11565775" cy="4330419"/>
          </a:xfrm>
        </p:spPr>
        <p:txBody>
          <a:bodyPr>
            <a:noAutofit/>
          </a:bodyPr>
          <a:lstStyle/>
          <a:p>
            <a:pPr marL="495308" indent="-342900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Prunning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https://colab.research.google.com/github/zz4fap/tp557-iot-ml/blob/main/examples/pruning_with_keras.ipynb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Clusterização: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://colab.research.google.com/github/zz4fap/tp557-iot-ml/blob/main/examples/clustering_example.ipynb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80129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é uma plataforma para desenvolver e implantar modelos de aprendizado de máquina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fornece um conjunto de ferramentas e serviços que facilitam a coleta de dados, o treinamento de modelos e a implantação deles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oferece suporte a uma ampla variedade de dispositivos de borda, incluindo microcontroladores, sistemas embarcados e dispositivos móveis.</a:t>
            </a:r>
          </a:p>
        </p:txBody>
      </p:sp>
    </p:spTree>
    <p:extLst>
      <p:ext uri="{BB962C8B-B14F-4D97-AF65-F5344CB8AC3E}">
        <p14:creationId xmlns:p14="http://schemas.microsoft.com/office/powerpoint/2010/main" val="398661167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Edge Impulse é usado por uma ampla variedade de empresas e organizações.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8EFEC104-CE53-CF10-7F4F-B8544A118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77" y="3232009"/>
            <a:ext cx="10673846" cy="8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20756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xmlns="" id="{D39E7734-B842-27FE-C995-D6BC09855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233163"/>
            <a:ext cx="9294813" cy="3997973"/>
          </a:xfrm>
        </p:spPr>
      </p:pic>
    </p:spTree>
    <p:extLst>
      <p:ext uri="{BB962C8B-B14F-4D97-AF65-F5344CB8AC3E}">
        <p14:creationId xmlns:p14="http://schemas.microsoft.com/office/powerpoint/2010/main" val="281064019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Fácil de usar: O Edge Impulse é fácil de usar, mesmo para desenvolvedores sem experiência anterior em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Abrangente: O Edge Impulse fornece um conjunto abrangente de ferramentas e serviços para desenvolver e implantar modelos de aprendizado de máquina em dispositivos de borda.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Flexível: O Edge Impulse oferece suporte a uma ampla variedade de dispositivos de borda e estruturas de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Escalável: O Edge Impulse pode ser usado para desenvolver e implantar modelos de aprendizado de máquina em um grande número de dispositivos de borda.</a:t>
            </a:r>
          </a:p>
        </p:txBody>
      </p:sp>
    </p:spTree>
    <p:extLst>
      <p:ext uri="{BB962C8B-B14F-4D97-AF65-F5344CB8AC3E}">
        <p14:creationId xmlns:p14="http://schemas.microsoft.com/office/powerpoint/2010/main" val="53443831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63474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guiado: classificação de grãos de café.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https://edgeimpulse.com/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https://www.kaggle.com/datasets/gpiosenka/coffee-bean-dataset-resized-224-x-224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2290" name="Picture 2" descr="Cover image">
            <a:extLst>
              <a:ext uri="{FF2B5EF4-FFF2-40B4-BE49-F238E27FC236}">
                <a16:creationId xmlns:a16="http://schemas.microsoft.com/office/drawing/2014/main" xmlns="" id="{5CBA2329-193F-1539-8967-72445A367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443" y="3175353"/>
            <a:ext cx="6946617" cy="3499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52480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Tarefa durante a aula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Escolher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ou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roboflow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https://www.kaggle.com/datasets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https://universe.roboflow.com/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19122" lvl="1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 para casa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imagens com o celular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</p:txBody>
      </p:sp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2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16295</TotalTime>
  <Words>3179</Words>
  <Application>Microsoft Office PowerPoint</Application>
  <PresentationFormat>Widescreen</PresentationFormat>
  <Paragraphs>426</Paragraphs>
  <Slides>72</Slides>
  <Notes>28</Notes>
  <HiddenSlides>0</HiddenSlides>
  <MMClips>0</MMClips>
  <ScaleCrop>false</ScaleCrop>
  <HeadingPairs>
    <vt:vector size="6" baseType="variant">
      <vt:variant>
        <vt:lpstr>Fontes usadas</vt:lpstr>
      </vt:variant>
      <vt:variant>
        <vt:i4>10</vt:i4>
      </vt:variant>
      <vt:variant>
        <vt:lpstr>Tema</vt:lpstr>
      </vt:variant>
      <vt:variant>
        <vt:i4>3</vt:i4>
      </vt:variant>
      <vt:variant>
        <vt:lpstr>Títulos de slides</vt:lpstr>
      </vt:variant>
      <vt:variant>
        <vt:i4>72</vt:i4>
      </vt:variant>
    </vt:vector>
  </HeadingPairs>
  <TitlesOfParts>
    <vt:vector size="85" baseType="lpstr">
      <vt:lpstr>Arial</vt:lpstr>
      <vt:lpstr>Calibri</vt:lpstr>
      <vt:lpstr>Calibri Light</vt:lpstr>
      <vt:lpstr>DeepSeek-CJK-patch</vt:lpstr>
      <vt:lpstr>Google Sans</vt:lpstr>
      <vt:lpstr>Menlo</vt:lpstr>
      <vt:lpstr>Montserrat</vt:lpstr>
      <vt:lpstr>Roboto</vt:lpstr>
      <vt:lpstr>source-serif-pro</vt:lpstr>
      <vt:lpstr>Times New Roman</vt:lpstr>
      <vt:lpstr>Tema do Office</vt:lpstr>
      <vt:lpstr>1_Tema do Office</vt:lpstr>
      <vt:lpstr>2_Tema do Office</vt:lpstr>
      <vt:lpstr>TP557 - Tópicos avançados em IoT e Machine Learning: TensorFlow Lite</vt:lpstr>
      <vt:lpstr>Samuel Baraldi Mafra</vt:lpstr>
      <vt:lpstr>Samuel Baraldi Mafra</vt:lpstr>
      <vt:lpstr>TinyML</vt:lpstr>
      <vt:lpstr>Processamento na borda com dispositivos embarcados</vt:lpstr>
      <vt:lpstr>Processamento na borda com dispositivos embarcados</vt:lpstr>
      <vt:lpstr>Processamento tradicional</vt:lpstr>
      <vt:lpstr>Processamento na borda com dispositivos embarcados</vt:lpstr>
      <vt:lpstr>Processamento na borda com dispositivos embarcados</vt:lpstr>
      <vt:lpstr>Processamento na borda com dispositivos embarcados</vt:lpstr>
      <vt:lpstr>Processamento na borda com dispositivos embarcados</vt:lpstr>
      <vt:lpstr> </vt:lpstr>
      <vt:lpstr>Conteúdo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Lite: Geração de modelos </vt:lpstr>
      <vt:lpstr>TensorFlow Lite </vt:lpstr>
      <vt:lpstr>TensorFlow Lite </vt:lpstr>
      <vt:lpstr>TensorFlow Lite </vt:lpstr>
      <vt:lpstr>TensorFlow Lite</vt:lpstr>
      <vt:lpstr>Poda de redes neurais (Pruning)</vt:lpstr>
      <vt:lpstr>Poda de redes neurais (Pruning)</vt:lpstr>
      <vt:lpstr>Poda de redes neurais (Pruning)</vt:lpstr>
      <vt:lpstr>Quantização</vt:lpstr>
      <vt:lpstr>Quantização</vt:lpstr>
      <vt:lpstr>Quantização</vt:lpstr>
      <vt:lpstr>TensorFlow Lite micro </vt:lpstr>
      <vt:lpstr>TensorFlow Lite micro 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Exemplos de clusterização e poda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2451</cp:revision>
  <dcterms:created xsi:type="dcterms:W3CDTF">2020-01-20T13:50:05Z</dcterms:created>
  <dcterms:modified xsi:type="dcterms:W3CDTF">2025-05-20T01:43:24Z</dcterms:modified>
</cp:coreProperties>
</file>