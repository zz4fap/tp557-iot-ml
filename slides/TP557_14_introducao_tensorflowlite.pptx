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  <p:sldMasterId id="2147483672" r:id="rId3"/>
  </p:sldMasterIdLst>
  <p:notesMasterIdLst>
    <p:notesMasterId r:id="rId74"/>
  </p:notesMasterIdLst>
  <p:handoutMasterIdLst>
    <p:handoutMasterId r:id="rId75"/>
  </p:handoutMasterIdLst>
  <p:sldIdLst>
    <p:sldId id="256" r:id="rId4"/>
    <p:sldId id="298" r:id="rId5"/>
    <p:sldId id="390" r:id="rId6"/>
    <p:sldId id="545" r:id="rId7"/>
    <p:sldId id="554" r:id="rId8"/>
    <p:sldId id="553" r:id="rId9"/>
    <p:sldId id="580" r:id="rId10"/>
    <p:sldId id="546" r:id="rId11"/>
    <p:sldId id="547" r:id="rId12"/>
    <p:sldId id="549" r:id="rId13"/>
    <p:sldId id="550" r:id="rId14"/>
    <p:sldId id="531" r:id="rId15"/>
    <p:sldId id="509" r:id="rId16"/>
    <p:sldId id="510" r:id="rId17"/>
    <p:sldId id="521" r:id="rId18"/>
    <p:sldId id="511" r:id="rId19"/>
    <p:sldId id="512" r:id="rId20"/>
    <p:sldId id="522" r:id="rId21"/>
    <p:sldId id="523" r:id="rId22"/>
    <p:sldId id="524" r:id="rId23"/>
    <p:sldId id="525" r:id="rId24"/>
    <p:sldId id="516" r:id="rId25"/>
    <p:sldId id="517" r:id="rId26"/>
    <p:sldId id="518" r:id="rId27"/>
    <p:sldId id="519" r:id="rId28"/>
    <p:sldId id="520" r:id="rId29"/>
    <p:sldId id="544" r:id="rId30"/>
    <p:sldId id="542" r:id="rId31"/>
    <p:sldId id="541" r:id="rId32"/>
    <p:sldId id="543" r:id="rId33"/>
    <p:sldId id="555" r:id="rId34"/>
    <p:sldId id="537" r:id="rId35"/>
    <p:sldId id="581" r:id="rId36"/>
    <p:sldId id="538" r:id="rId37"/>
    <p:sldId id="539" r:id="rId38"/>
    <p:sldId id="535" r:id="rId39"/>
    <p:sldId id="533" r:id="rId40"/>
    <p:sldId id="534" r:id="rId41"/>
    <p:sldId id="526" r:id="rId42"/>
    <p:sldId id="528" r:id="rId43"/>
    <p:sldId id="556" r:id="rId44"/>
    <p:sldId id="557" r:id="rId45"/>
    <p:sldId id="558" r:id="rId46"/>
    <p:sldId id="559" r:id="rId47"/>
    <p:sldId id="560" r:id="rId48"/>
    <p:sldId id="561" r:id="rId49"/>
    <p:sldId id="562" r:id="rId50"/>
    <p:sldId id="563" r:id="rId51"/>
    <p:sldId id="564" r:id="rId52"/>
    <p:sldId id="565" r:id="rId53"/>
    <p:sldId id="566" r:id="rId54"/>
    <p:sldId id="567" r:id="rId55"/>
    <p:sldId id="568" r:id="rId56"/>
    <p:sldId id="569" r:id="rId57"/>
    <p:sldId id="570" r:id="rId58"/>
    <p:sldId id="586" r:id="rId59"/>
    <p:sldId id="571" r:id="rId60"/>
    <p:sldId id="572" r:id="rId61"/>
    <p:sldId id="574" r:id="rId62"/>
    <p:sldId id="585" r:id="rId63"/>
    <p:sldId id="575" r:id="rId64"/>
    <p:sldId id="578" r:id="rId65"/>
    <p:sldId id="577" r:id="rId66"/>
    <p:sldId id="576" r:id="rId67"/>
    <p:sldId id="588" r:id="rId68"/>
    <p:sldId id="551" r:id="rId69"/>
    <p:sldId id="529" r:id="rId70"/>
    <p:sldId id="527" r:id="rId71"/>
    <p:sldId id="530" r:id="rId72"/>
    <p:sldId id="583" r:id="rId73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352" autoAdjust="0"/>
    <p:restoredTop sz="85230" autoAdjust="0"/>
  </p:normalViewPr>
  <p:slideViewPr>
    <p:cSldViewPr snapToGrid="0">
      <p:cViewPr varScale="1">
        <p:scale>
          <a:sx n="94" d="100"/>
          <a:sy n="94" d="100"/>
        </p:scale>
        <p:origin x="1554" y="90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slide" Target="slides/slide60.xml"/><Relationship Id="rId68" Type="http://schemas.openxmlformats.org/officeDocument/2006/relationships/slide" Target="slides/slide65.xml"/><Relationship Id="rId16" Type="http://schemas.openxmlformats.org/officeDocument/2006/relationships/slide" Target="slides/slide1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66" Type="http://schemas.openxmlformats.org/officeDocument/2006/relationships/slide" Target="slides/slide63.xml"/><Relationship Id="rId74" Type="http://schemas.openxmlformats.org/officeDocument/2006/relationships/notesMaster" Target="notesMasters/notesMaster1.xml"/><Relationship Id="rId79" Type="http://schemas.openxmlformats.org/officeDocument/2006/relationships/tableStyles" Target="tableStyles.xml"/><Relationship Id="rId5" Type="http://schemas.openxmlformats.org/officeDocument/2006/relationships/slide" Target="slides/slide2.xml"/><Relationship Id="rId61" Type="http://schemas.openxmlformats.org/officeDocument/2006/relationships/slide" Target="slides/slide58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slide" Target="slides/slide61.xml"/><Relationship Id="rId69" Type="http://schemas.openxmlformats.org/officeDocument/2006/relationships/slide" Target="slides/slide66.xml"/><Relationship Id="rId77" Type="http://schemas.openxmlformats.org/officeDocument/2006/relationships/viewProps" Target="viewProps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72" Type="http://schemas.openxmlformats.org/officeDocument/2006/relationships/slide" Target="slides/slide69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slide" Target="slides/slide64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openxmlformats.org/officeDocument/2006/relationships/slide" Target="slides/slide67.xml"/><Relationship Id="rId75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slide" Target="slides/slide62.xml"/><Relationship Id="rId73" Type="http://schemas.openxmlformats.org/officeDocument/2006/relationships/slide" Target="slides/slide70.xml"/><Relationship Id="rId78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76" Type="http://schemas.openxmlformats.org/officeDocument/2006/relationships/presProps" Target="presProps.xml"/><Relationship Id="rId7" Type="http://schemas.openxmlformats.org/officeDocument/2006/relationships/slide" Target="slides/slide4.xml"/><Relationship Id="rId71" Type="http://schemas.openxmlformats.org/officeDocument/2006/relationships/slide" Target="slides/slide68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26/05/2025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26/05/2025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Huffman_coding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api_docs/python/tf/Graph" TargetMode="External"/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lnSpc>
                <a:spcPts val="1800"/>
              </a:lnSpc>
              <a:buNone/>
            </a:pPr>
            <a:r>
              <a:rPr lang="en-US" b="1" i="0" dirty="0">
                <a:solidFill>
                  <a:srgbClr val="242424"/>
                </a:solidFill>
                <a:effectLst/>
                <a:latin typeface="sohne"/>
              </a:rPr>
              <a:t>Huffman Encoding</a:t>
            </a:r>
          </a:p>
          <a:p>
            <a:pPr algn="l">
              <a:lnSpc>
                <a:spcPts val="2400"/>
              </a:lnSpc>
            </a:pPr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Encoding is an optional step that is sometimes taken to further reduce the model size by storing the data in a maximally efficient way: often via the famed </a:t>
            </a:r>
            <a:r>
              <a:rPr lang="en-US" b="0" i="0" u="sng" dirty="0">
                <a:solidFill>
                  <a:srgbClr val="242424"/>
                </a:solidFill>
                <a:effectLst/>
                <a:latin typeface="source-serif-pro"/>
                <a:hlinkClick r:id="rId3"/>
              </a:rPr>
              <a:t>Huffman encoding</a:t>
            </a:r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.</a:t>
            </a:r>
          </a:p>
          <a:p>
            <a:pPr algn="l">
              <a:lnSpc>
                <a:spcPts val="2400"/>
              </a:lnSpc>
            </a:pPr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The model is compressed using </a:t>
            </a:r>
            <a:r>
              <a:rPr lang="en-US" b="1" i="0" dirty="0">
                <a:solidFill>
                  <a:srgbClr val="242424"/>
                </a:solidFill>
                <a:effectLst/>
                <a:latin typeface="source-serif-pro"/>
              </a:rPr>
              <a:t>Huffman Encoding</a:t>
            </a:r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 principles. This is an optional step and it simply encodes the weights with a binary code being the most frequent weights assigned to the codes with fewer bits.</a:t>
            </a:r>
          </a:p>
          <a:p>
            <a:endParaRPr lang="en-US" dirty="0"/>
          </a:p>
          <a:p>
            <a:r>
              <a:rPr lang="en-US" dirty="0"/>
              <a:t>References</a:t>
            </a:r>
          </a:p>
          <a:p>
            <a:r>
              <a:rPr lang="en-US" dirty="0"/>
              <a:t>[1] https://medium.com/data-science/tiny-machine-learning-the-next-ai-revolution-495c26463868</a:t>
            </a:r>
          </a:p>
          <a:p>
            <a:r>
              <a:rPr lang="en-US" dirty="0"/>
              <a:t>[2] https://medium.com/marionete/tinyml-models-whats-happening-behind-the-scenes-5e61d1555be9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14925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**TensorFlow Lite** e **TensorFlow Lite Micro** são duas versões do TensorFlow projetadas para dispositivos com recursos limitados, mas possuem diferenças importantes em termos de escopo e aplicação:</a:t>
            </a:r>
          </a:p>
          <a:p>
            <a:endParaRPr lang="pt-BR" dirty="0"/>
          </a:p>
          <a:p>
            <a:r>
              <a:rPr lang="pt-BR" dirty="0"/>
              <a:t>### 1. **TensorFlow Lite (</a:t>
            </a:r>
            <a:r>
              <a:rPr lang="pt-BR" dirty="0" err="1"/>
              <a:t>TFLite</a:t>
            </a:r>
            <a:r>
              <a:rPr lang="pt-BR" dirty="0"/>
              <a:t>)**</a:t>
            </a:r>
          </a:p>
          <a:p>
            <a:r>
              <a:rPr lang="pt-BR" dirty="0"/>
              <a:t>   - **Foco**: Dispositivos móveis e embarcados com recursos moderados (como smartphones, tablets e dispositivos IoT com sistemas operacionais, como Linux embarcado).</a:t>
            </a:r>
          </a:p>
          <a:p>
            <a:r>
              <a:rPr lang="pt-BR" dirty="0"/>
              <a:t>   - **Hardware-alvo**: CPUs, GPUs e aceleradores especializados (como </a:t>
            </a:r>
            <a:r>
              <a:rPr lang="pt-BR" dirty="0" err="1"/>
              <a:t>DSPs</a:t>
            </a:r>
            <a:r>
              <a:rPr lang="pt-BR" dirty="0"/>
              <a:t> e </a:t>
            </a:r>
            <a:r>
              <a:rPr lang="pt-BR" dirty="0" err="1"/>
              <a:t>NPUs</a:t>
            </a:r>
            <a:r>
              <a:rPr lang="pt-BR" dirty="0"/>
              <a:t>) em dispositivos Android/iOS ou sistemas embarcados mais robustos (</a:t>
            </a:r>
            <a:r>
              <a:rPr lang="pt-BR" dirty="0" err="1"/>
              <a:t>ex</a:t>
            </a:r>
            <a:r>
              <a:rPr lang="pt-BR" dirty="0"/>
              <a:t>: </a:t>
            </a:r>
            <a:r>
              <a:rPr lang="pt-BR" dirty="0" err="1"/>
              <a:t>Raspberry</a:t>
            </a:r>
            <a:r>
              <a:rPr lang="pt-BR" dirty="0"/>
              <a:t> Pi).</a:t>
            </a:r>
          </a:p>
          <a:p>
            <a:r>
              <a:rPr lang="pt-BR" dirty="0"/>
              <a:t>   - **Recursos**:</a:t>
            </a:r>
          </a:p>
          <a:p>
            <a:r>
              <a:rPr lang="pt-BR" dirty="0"/>
              <a:t>     - Suporte a modelos de machine learning para inferência (não treinamento).</a:t>
            </a:r>
          </a:p>
          <a:p>
            <a:r>
              <a:rPr lang="pt-BR" dirty="0"/>
              <a:t>     - Otimizado para eficiência computacional e de memória.</a:t>
            </a:r>
          </a:p>
          <a:p>
            <a:r>
              <a:rPr lang="pt-BR" dirty="0"/>
              <a:t>     - Inclui APIs para Android, iOS e Python (em sistemas embarcados).</a:t>
            </a:r>
          </a:p>
          <a:p>
            <a:r>
              <a:rPr lang="pt-BR" dirty="0"/>
              <a:t>     - Pode usar delegados (</a:t>
            </a:r>
            <a:r>
              <a:rPr lang="pt-BR" dirty="0" err="1"/>
              <a:t>delegates</a:t>
            </a:r>
            <a:r>
              <a:rPr lang="pt-BR" dirty="0"/>
              <a:t>) para acelerar operações em hardware específico (</a:t>
            </a:r>
            <a:r>
              <a:rPr lang="pt-BR" dirty="0" err="1"/>
              <a:t>ex</a:t>
            </a:r>
            <a:r>
              <a:rPr lang="pt-BR" dirty="0"/>
              <a:t>: GPU, </a:t>
            </a:r>
            <a:r>
              <a:rPr lang="pt-BR" dirty="0" err="1"/>
              <a:t>Hexagon</a:t>
            </a:r>
            <a:r>
              <a:rPr lang="pt-BR" dirty="0"/>
              <a:t> DSP, Coral Edge TPU).</a:t>
            </a:r>
          </a:p>
          <a:p>
            <a:r>
              <a:rPr lang="pt-BR" dirty="0"/>
              <a:t>   - **Casos de uso**: Aplicativos móveis com reconhecimento de voz, classificação de imagens, etc.</a:t>
            </a:r>
          </a:p>
          <a:p>
            <a:endParaRPr lang="pt-BR" dirty="0"/>
          </a:p>
          <a:p>
            <a:r>
              <a:rPr lang="pt-BR" dirty="0"/>
              <a:t>### 2. **TensorFlow Lite Micro (TF Micro)**</a:t>
            </a:r>
          </a:p>
          <a:p>
            <a:r>
              <a:rPr lang="pt-BR" dirty="0"/>
              <a:t>   - **Foco**: Microcontroladores (</a:t>
            </a:r>
            <a:r>
              <a:rPr lang="pt-BR" dirty="0" err="1"/>
              <a:t>MCUs</a:t>
            </a:r>
            <a:r>
              <a:rPr lang="pt-BR" dirty="0"/>
              <a:t>) e dispositivos extremamente limitados em recursos (sem sistema operacional, com pouca memória e poder de processamento).</a:t>
            </a:r>
          </a:p>
          <a:p>
            <a:r>
              <a:rPr lang="pt-BR" dirty="0"/>
              <a:t>   - **Hardware-alvo**: Microcontroladores como ARM </a:t>
            </a:r>
            <a:r>
              <a:rPr lang="pt-BR" dirty="0" err="1"/>
              <a:t>Cortex</a:t>
            </a:r>
            <a:r>
              <a:rPr lang="pt-BR" dirty="0"/>
              <a:t>-M, ESP32 e outros chips de baixo consumo (</a:t>
            </a:r>
            <a:r>
              <a:rPr lang="pt-BR" dirty="0" err="1"/>
              <a:t>ex</a:t>
            </a:r>
            <a:r>
              <a:rPr lang="pt-BR" dirty="0"/>
              <a:t>: Arduino Nano 33 BLE, STM32).</a:t>
            </a:r>
          </a:p>
          <a:p>
            <a:r>
              <a:rPr lang="pt-BR" dirty="0"/>
              <a:t>   - **Recursos**:</a:t>
            </a:r>
          </a:p>
          <a:p>
            <a:r>
              <a:rPr lang="pt-BR" dirty="0"/>
              <a:t>     - Biblioteca minimalista, sem dependências de SO (rodando em "</a:t>
            </a:r>
            <a:r>
              <a:rPr lang="pt-BR" dirty="0" err="1"/>
              <a:t>bare</a:t>
            </a:r>
            <a:r>
              <a:rPr lang="pt-BR" dirty="0"/>
              <a:t>-metal").</a:t>
            </a:r>
          </a:p>
          <a:p>
            <a:r>
              <a:rPr lang="pt-BR" dirty="0"/>
              <a:t>     - Modelos executados diretamente no MCU, sem alocação dinâmica de memória.</a:t>
            </a:r>
          </a:p>
          <a:p>
            <a:r>
              <a:rPr lang="pt-BR" dirty="0"/>
              <a:t>     - Suporte apenas para inferência, com modelos </a:t>
            </a:r>
            <a:r>
              <a:rPr lang="pt-BR" dirty="0" err="1"/>
              <a:t>pré</a:t>
            </a:r>
            <a:r>
              <a:rPr lang="pt-BR" dirty="0"/>
              <a:t>-treinados e convertidos para um formato otimizado.</a:t>
            </a:r>
          </a:p>
          <a:p>
            <a:r>
              <a:rPr lang="pt-BR" dirty="0"/>
              <a:t>     - Sem suporte a operações complexas ou delegados de hardware (em geral, roda apenas na CPU do MCU).</a:t>
            </a:r>
          </a:p>
          <a:p>
            <a:r>
              <a:rPr lang="pt-BR" dirty="0"/>
              <a:t>   - **Casos de uso**: </a:t>
            </a:r>
            <a:r>
              <a:rPr lang="pt-BR" dirty="0" err="1"/>
              <a:t>Wearables</a:t>
            </a:r>
            <a:r>
              <a:rPr lang="pt-BR" dirty="0"/>
              <a:t>, sensores inteligentes, dispositivos IoT de baixo custo com restrições severas de energia e memória (</a:t>
            </a:r>
            <a:r>
              <a:rPr lang="pt-BR" dirty="0" err="1"/>
              <a:t>ex</a:t>
            </a:r>
            <a:r>
              <a:rPr lang="pt-BR" dirty="0"/>
              <a:t>: detecção de palavras-chave em microcontroladores).</a:t>
            </a:r>
          </a:p>
          <a:p>
            <a:endParaRPr lang="pt-BR" dirty="0"/>
          </a:p>
          <a:p>
            <a:r>
              <a:rPr lang="pt-BR" dirty="0"/>
              <a:t>### **Principais diferenças**</a:t>
            </a:r>
          </a:p>
          <a:p>
            <a:r>
              <a:rPr lang="pt-BR" dirty="0"/>
              <a:t>| Característica               | TensorFlow Lite           | TensorFlow Lite Micro       |</a:t>
            </a:r>
          </a:p>
          <a:p>
            <a:r>
              <a:rPr lang="pt-BR" dirty="0"/>
              <a:t>|------------------------------|---------------------------|-----------------------------|</a:t>
            </a:r>
          </a:p>
          <a:p>
            <a:r>
              <a:rPr lang="pt-BR" dirty="0"/>
              <a:t>| **Dispositivos-alvo**        | Smartphones, </a:t>
            </a:r>
            <a:r>
              <a:rPr lang="pt-BR" dirty="0" err="1"/>
              <a:t>Raspberry</a:t>
            </a:r>
            <a:r>
              <a:rPr lang="pt-BR" dirty="0"/>
              <a:t> Pi | Microcontroladores (</a:t>
            </a:r>
            <a:r>
              <a:rPr lang="pt-BR" dirty="0" err="1"/>
              <a:t>MCUs</a:t>
            </a:r>
            <a:r>
              <a:rPr lang="pt-BR" dirty="0"/>
              <a:t>)   |</a:t>
            </a:r>
          </a:p>
          <a:p>
            <a:r>
              <a:rPr lang="pt-BR" dirty="0"/>
              <a:t>| **Sistema Operacional**      | Requer OS (Android, Linux)| Bare-metal (sem OS)         |</a:t>
            </a:r>
          </a:p>
          <a:p>
            <a:r>
              <a:rPr lang="pt-BR" dirty="0"/>
              <a:t>| **Memória RAM**              | </a:t>
            </a:r>
            <a:r>
              <a:rPr lang="pt-BR" dirty="0" err="1"/>
              <a:t>MBs</a:t>
            </a:r>
            <a:r>
              <a:rPr lang="pt-BR" dirty="0"/>
              <a:t> a </a:t>
            </a:r>
            <a:r>
              <a:rPr lang="pt-BR" dirty="0" err="1"/>
              <a:t>GBs</a:t>
            </a:r>
            <a:r>
              <a:rPr lang="pt-BR" dirty="0"/>
              <a:t>                 | </a:t>
            </a:r>
            <a:r>
              <a:rPr lang="pt-BR" dirty="0" err="1"/>
              <a:t>KBs</a:t>
            </a:r>
            <a:r>
              <a:rPr lang="pt-BR" dirty="0"/>
              <a:t> (</a:t>
            </a:r>
            <a:r>
              <a:rPr lang="pt-BR" dirty="0" err="1"/>
              <a:t>ex</a:t>
            </a:r>
            <a:r>
              <a:rPr lang="pt-BR" dirty="0"/>
              <a:t>: 16KB - 512KB)      |</a:t>
            </a:r>
          </a:p>
          <a:p>
            <a:r>
              <a:rPr lang="pt-BR" dirty="0"/>
              <a:t>| **Hardware suportado**       | CPU, GPU, NPU, DSP        | Apenas CPU do MCU           |</a:t>
            </a:r>
          </a:p>
          <a:p>
            <a:r>
              <a:rPr lang="pt-BR" dirty="0"/>
              <a:t>| **Delegados de aceleração**  | Sim (GPU, Coral TPU, </a:t>
            </a:r>
            <a:r>
              <a:rPr lang="pt-BR" dirty="0" err="1"/>
              <a:t>etc</a:t>
            </a:r>
            <a:r>
              <a:rPr lang="pt-BR" dirty="0"/>
              <a:t>) | Não                         |</a:t>
            </a:r>
          </a:p>
          <a:p>
            <a:r>
              <a:rPr lang="pt-BR" dirty="0"/>
              <a:t>| **Uso típico**               | Apps móveis, </a:t>
            </a:r>
            <a:r>
              <a:rPr lang="pt-BR" dirty="0" err="1"/>
              <a:t>edge</a:t>
            </a:r>
            <a:r>
              <a:rPr lang="pt-BR" dirty="0"/>
              <a:t> devices | Sensores, </a:t>
            </a:r>
            <a:r>
              <a:rPr lang="pt-BR" dirty="0" err="1"/>
              <a:t>wearables</a:t>
            </a:r>
            <a:r>
              <a:rPr lang="pt-BR" dirty="0"/>
              <a:t> tinyML  |</a:t>
            </a:r>
          </a:p>
          <a:p>
            <a:endParaRPr lang="pt-BR" dirty="0"/>
          </a:p>
          <a:p>
            <a:r>
              <a:rPr lang="pt-BR" dirty="0"/>
              <a:t>### **Exemplo de aplicação**</a:t>
            </a:r>
          </a:p>
          <a:p>
            <a:r>
              <a:rPr lang="pt-BR" dirty="0"/>
              <a:t>- **</a:t>
            </a:r>
            <a:r>
              <a:rPr lang="pt-BR" dirty="0" err="1"/>
              <a:t>TFLite</a:t>
            </a:r>
            <a:r>
              <a:rPr lang="pt-BR" dirty="0"/>
              <a:t>**: Um app de tradução em tempo real no smartphone.  </a:t>
            </a:r>
          </a:p>
          <a:p>
            <a:r>
              <a:rPr lang="pt-BR" dirty="0"/>
              <a:t>- **TF Micro**: Um sensor de vibração em uma máquina industrial que detecta falhas usando um microcontrolador.</a:t>
            </a:r>
          </a:p>
          <a:p>
            <a:endParaRPr lang="pt-BR" dirty="0"/>
          </a:p>
          <a:p>
            <a:r>
              <a:rPr lang="pt-BR" dirty="0"/>
              <a:t>Ambos são parte do ecossistema TensorFlow para implantação eficiente, mas o **Micro** é uma versão ainda mais enxuta para ambientes extremamente restritos.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99695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imagem anexada compara características do **TensorFlow** (a versão completa) e do **TensorFlow Lite** em cinco categorias:  </a:t>
            </a:r>
          </a:p>
          <a:p>
            <a:endParaRPr lang="pt-BR" dirty="0"/>
          </a:p>
          <a:p>
            <a:r>
              <a:rPr lang="pt-BR" dirty="0"/>
              <a:t>1. **Topologia**  </a:t>
            </a:r>
          </a:p>
          <a:p>
            <a:r>
              <a:rPr lang="pt-BR" dirty="0"/>
              <a:t>   - **TensorFlow**: Suporta topologias **variáveis** (modelos dinâmicos, treinamento, grafos complexos).  </a:t>
            </a:r>
          </a:p>
          <a:p>
            <a:r>
              <a:rPr lang="pt-BR" dirty="0"/>
              <a:t>   - **TensorFlow Lite**: Topologias **fixas** (modelos </a:t>
            </a:r>
            <a:r>
              <a:rPr lang="pt-BR" dirty="0" err="1"/>
              <a:t>pré</a:t>
            </a:r>
            <a:r>
              <a:rPr lang="pt-BR" dirty="0"/>
              <a:t>-treinados e convertidos para inferência, sem modificações pós-conversão).  </a:t>
            </a:r>
          </a:p>
          <a:p>
            <a:endParaRPr lang="pt-BR" dirty="0"/>
          </a:p>
          <a:p>
            <a:r>
              <a:rPr lang="pt-BR" dirty="0"/>
              <a:t>2. **Pesos (</a:t>
            </a:r>
            <a:r>
              <a:rPr lang="pt-BR" dirty="0" err="1"/>
              <a:t>Weights</a:t>
            </a:r>
            <a:r>
              <a:rPr lang="pt-BR" dirty="0"/>
              <a:t>)**  </a:t>
            </a:r>
          </a:p>
          <a:p>
            <a:r>
              <a:rPr lang="pt-BR" dirty="0"/>
              <a:t>   - **TensorFlow**: Pesos **variáveis** (ajustáveis durante o treinamento).  </a:t>
            </a:r>
          </a:p>
          <a:p>
            <a:r>
              <a:rPr lang="pt-BR" dirty="0"/>
              <a:t>   - **TensorFlow Lite**: Pesos **fixos** (otimizados e congelados após conversão do modelo).  </a:t>
            </a:r>
          </a:p>
          <a:p>
            <a:endParaRPr lang="pt-BR" dirty="0"/>
          </a:p>
          <a:p>
            <a:r>
              <a:rPr lang="pt-BR" dirty="0"/>
              <a:t>3. **Tamanho Binário (</a:t>
            </a:r>
            <a:r>
              <a:rPr lang="pt-BR" dirty="0" err="1"/>
              <a:t>Binary</a:t>
            </a:r>
            <a:r>
              <a:rPr lang="pt-BR" dirty="0"/>
              <a:t> </a:t>
            </a:r>
            <a:r>
              <a:rPr lang="pt-BR" dirty="0" err="1"/>
              <a:t>Size</a:t>
            </a:r>
            <a:r>
              <a:rPr lang="pt-BR" dirty="0"/>
              <a:t>)**  </a:t>
            </a:r>
          </a:p>
          <a:p>
            <a:r>
              <a:rPr lang="pt-BR" dirty="0"/>
              <a:t>   - **TensorFlow**: Tamanho **não prioritário** (biblioteca grande, focada em funcionalidade).  </a:t>
            </a:r>
          </a:p>
          <a:p>
            <a:r>
              <a:rPr lang="pt-BR" dirty="0"/>
              <a:t>   - **TensorFlow Lite**: Tamanho **alta prioridade** (biblioteca minimalista para dispositivos com recursos limitados).  </a:t>
            </a:r>
          </a:p>
          <a:p>
            <a:endParaRPr lang="pt-BR" dirty="0"/>
          </a:p>
          <a:p>
            <a:r>
              <a:rPr lang="pt-BR" dirty="0"/>
              <a:t>4. **Computação Distribuída (</a:t>
            </a:r>
            <a:r>
              <a:rPr lang="pt-BR" dirty="0" err="1"/>
              <a:t>Distributed</a:t>
            </a:r>
            <a:r>
              <a:rPr lang="pt-BR" dirty="0"/>
              <a:t> Compute)**  </a:t>
            </a:r>
          </a:p>
          <a:p>
            <a:r>
              <a:rPr lang="pt-BR" dirty="0"/>
              <a:t>   - **TensorFlow**: **Suportada** (para treinamento em múltiplos dispositivos/GPUs).  </a:t>
            </a:r>
          </a:p>
          <a:p>
            <a:r>
              <a:rPr lang="pt-BR" dirty="0"/>
              <a:t>   - **TensorFlow Lite**: **Não suportada** (focado em inferência local em um único dispositivo).  </a:t>
            </a:r>
          </a:p>
          <a:p>
            <a:endParaRPr lang="pt-BR" dirty="0"/>
          </a:p>
          <a:p>
            <a:r>
              <a:rPr lang="pt-BR" dirty="0"/>
              <a:t>5. **Perfil do Desenvolvedor (</a:t>
            </a:r>
            <a:r>
              <a:rPr lang="pt-BR" dirty="0" err="1"/>
              <a:t>Developer</a:t>
            </a:r>
            <a:r>
              <a:rPr lang="pt-BR" dirty="0"/>
              <a:t> Background)**  </a:t>
            </a:r>
          </a:p>
          <a:p>
            <a:r>
              <a:rPr lang="pt-BR" dirty="0"/>
              <a:t>   - **TensorFlow**: **Pesquisadores de ML** (quem precisa de flexibilidade para treinar e experimentar).  </a:t>
            </a:r>
          </a:p>
          <a:p>
            <a:r>
              <a:rPr lang="pt-BR" dirty="0"/>
              <a:t>   - **TensorFlow Lite**: **Desenvolvedores de aplicativos** (quem precisa implantar modelos leves em dispositivos móveis/embarcados).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191674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Ops</a:t>
            </a:r>
            <a:r>
              <a:rPr lang="pt-BR" dirty="0"/>
              <a:t> de operações. Tensorflow lite e micro suportam uma quantidade muito menor de operações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13900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Delegates</a:t>
            </a:r>
            <a:r>
              <a:rPr lang="pt-BR" dirty="0"/>
              <a:t>: https://ai.google.dev/edge/litert/performance/delegates</a:t>
            </a:r>
          </a:p>
          <a:p>
            <a:endParaRPr lang="pt-BR" dirty="0"/>
          </a:p>
          <a:p>
            <a:endParaRPr lang="pt-BR" dirty="0"/>
          </a:p>
          <a:p>
            <a:r>
              <a:rPr lang="pt-BR" dirty="0"/>
              <a:t>### **Características Analisadas**  </a:t>
            </a:r>
          </a:p>
          <a:p>
            <a:r>
              <a:rPr lang="pt-BR" dirty="0"/>
              <a:t>1. **</a:t>
            </a:r>
            <a:r>
              <a:rPr lang="pt-BR" dirty="0" err="1"/>
              <a:t>Needs</a:t>
            </a:r>
            <a:r>
              <a:rPr lang="pt-BR" dirty="0"/>
              <a:t> </a:t>
            </a:r>
            <a:r>
              <a:rPr lang="pt-BR" dirty="0" err="1"/>
              <a:t>an</a:t>
            </a:r>
            <a:r>
              <a:rPr lang="pt-BR" dirty="0"/>
              <a:t> OS** (Requer um Sistema Operacional)  </a:t>
            </a:r>
          </a:p>
          <a:p>
            <a:r>
              <a:rPr lang="pt-BR" dirty="0"/>
              <a:t>   - **TensorFlow**: **Sim** (depende de um SO completo, como Linux/Windows/</a:t>
            </a:r>
            <a:r>
              <a:rPr lang="pt-BR" dirty="0" err="1"/>
              <a:t>macOS</a:t>
            </a:r>
            <a:r>
              <a:rPr lang="pt-BR" dirty="0"/>
              <a:t>).  </a:t>
            </a:r>
          </a:p>
          <a:p>
            <a:r>
              <a:rPr lang="pt-BR" dirty="0"/>
              <a:t>   - **TensorFlow Lite**: **Sim** (rodando em Android, iOS ou Linux embarcado).  </a:t>
            </a:r>
          </a:p>
          <a:p>
            <a:r>
              <a:rPr lang="pt-BR" dirty="0"/>
              <a:t>   - **TensorFlow Lite Micro**: **Não** (projetado para rodar em *</a:t>
            </a:r>
            <a:r>
              <a:rPr lang="pt-BR" dirty="0" err="1"/>
              <a:t>bare</a:t>
            </a:r>
            <a:r>
              <a:rPr lang="pt-BR" dirty="0"/>
              <a:t>-metal*, sem SO, como microcontroladores).  </a:t>
            </a:r>
          </a:p>
          <a:p>
            <a:endParaRPr lang="pt-BR" dirty="0"/>
          </a:p>
          <a:p>
            <a:r>
              <a:rPr lang="pt-BR" dirty="0"/>
              <a:t>2. **</a:t>
            </a:r>
            <a:r>
              <a:rPr lang="pt-BR" dirty="0" err="1"/>
              <a:t>Memory</a:t>
            </a:r>
            <a:r>
              <a:rPr lang="pt-BR" dirty="0"/>
              <a:t> Mapping </a:t>
            </a:r>
            <a:r>
              <a:rPr lang="pt-BR" dirty="0" err="1"/>
              <a:t>of</a:t>
            </a:r>
            <a:r>
              <a:rPr lang="pt-BR" dirty="0"/>
              <a:t> Models** (Mapeamento de Memória de Modelos)  </a:t>
            </a:r>
          </a:p>
          <a:p>
            <a:r>
              <a:rPr lang="pt-BR" dirty="0"/>
              <a:t>   - **TensorFlow**: **Não** (modelos são carregados dinamicamente, sem otimização extrema de memória).  </a:t>
            </a:r>
          </a:p>
          <a:p>
            <a:r>
              <a:rPr lang="pt-BR" dirty="0"/>
              <a:t>   - **TensorFlow Lite**: **Sim** (usa técnicas de mapeamento de memória para reduzir consumo em dispositivos móveis/embarcados).  </a:t>
            </a:r>
          </a:p>
          <a:p>
            <a:r>
              <a:rPr lang="pt-BR" dirty="0"/>
              <a:t>   - **TensorFlow Lite Micro**: **Sim** (otimização extrema para operar com pouca RAM, evitando alocações dinâmicas).  </a:t>
            </a:r>
          </a:p>
          <a:p>
            <a:endParaRPr lang="pt-BR" dirty="0"/>
          </a:p>
          <a:p>
            <a:r>
              <a:rPr lang="pt-BR" dirty="0"/>
              <a:t>3. **</a:t>
            </a:r>
            <a:r>
              <a:rPr lang="pt-BR" dirty="0" err="1"/>
              <a:t>Delegation</a:t>
            </a:r>
            <a:r>
              <a:rPr lang="pt-BR" dirty="0"/>
              <a:t> </a:t>
            </a:r>
            <a:r>
              <a:rPr lang="pt-BR" dirty="0" err="1"/>
              <a:t>to</a:t>
            </a:r>
            <a:r>
              <a:rPr lang="pt-BR" dirty="0"/>
              <a:t> </a:t>
            </a:r>
            <a:r>
              <a:rPr lang="pt-BR" dirty="0" err="1"/>
              <a:t>Accelerators</a:t>
            </a:r>
            <a:r>
              <a:rPr lang="pt-BR" dirty="0"/>
              <a:t>** (Uso de Aceleradores Hardware)  </a:t>
            </a:r>
          </a:p>
          <a:p>
            <a:r>
              <a:rPr lang="pt-BR" dirty="0"/>
              <a:t>   - **TensorFlow**: **Sim** (suporta GPUs, </a:t>
            </a:r>
            <a:r>
              <a:rPr lang="pt-BR" dirty="0" err="1"/>
              <a:t>TPUs</a:t>
            </a:r>
            <a:r>
              <a:rPr lang="pt-BR" dirty="0"/>
              <a:t>, e outros aceleradores para treinamento/inferência).  </a:t>
            </a:r>
          </a:p>
          <a:p>
            <a:r>
              <a:rPr lang="pt-BR" dirty="0"/>
              <a:t>   - **TensorFlow Lite**: **Sim** (usa delegados para </a:t>
            </a:r>
            <a:r>
              <a:rPr lang="pt-BR" dirty="0" err="1"/>
              <a:t>NPUs</a:t>
            </a:r>
            <a:r>
              <a:rPr lang="pt-BR" dirty="0"/>
              <a:t>, GPUs, </a:t>
            </a:r>
            <a:r>
              <a:rPr lang="pt-BR" dirty="0" err="1"/>
              <a:t>DSPs</a:t>
            </a:r>
            <a:r>
              <a:rPr lang="pt-BR" dirty="0"/>
              <a:t>, como Coral Edge TPU ou </a:t>
            </a:r>
            <a:r>
              <a:rPr lang="pt-BR" dirty="0" err="1"/>
              <a:t>Hexagon</a:t>
            </a:r>
            <a:r>
              <a:rPr lang="pt-BR" dirty="0"/>
              <a:t> DSP).  </a:t>
            </a:r>
          </a:p>
          <a:p>
            <a:r>
              <a:rPr lang="pt-BR" dirty="0"/>
              <a:t>   - **TensorFlow Lite Micro**: **Não** (roda apenas na CPU do microcontrolador, sem suporte a aceleradores externos).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110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Pegada de memória (</a:t>
            </a:r>
            <a:r>
              <a:rPr lang="pt-BR" dirty="0" err="1"/>
              <a:t>memory</a:t>
            </a:r>
            <a:r>
              <a:rPr lang="pt-BR" dirty="0"/>
              <a:t> </a:t>
            </a:r>
            <a:r>
              <a:rPr lang="pt-BR" dirty="0" err="1"/>
              <a:t>footprint</a:t>
            </a:r>
            <a:r>
              <a:rPr lang="pt-BR" dirty="0"/>
              <a:t>) refere-se à quantidade total de memória RAM que um programa ou sistema utiliza durante sua execução.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64877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**Keras Model, 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, and Concrete Functions: Differences and Relationships**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### 1. **Keras Model**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- **What it is**: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A high-level API for building and training neural networks in TensorFlow. It provides an object-oriented interface (e.g., `Sequential`, `Functional`, or custom subclasses of `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tf.keras.Model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`).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- **Key Features**: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- Easy to define architectures (layers, activations, etc.).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- Built-in training loops (`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model.fit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()`), evaluation, and prediction.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- Can be saved/loaded in two formats: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  - **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** (default, 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TensorFlow's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universal format).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  - **HDF5** (legacy, limited to model architecture and weights).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- **Use Case**: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Ideal for training, prototyping, and saving models in a user-friendly way.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---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### 2. **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**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- **What it is**: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TensorFlow's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**universal serialization format** for models. It is not specific to Keras.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- **Key Features**: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- Saves the **complete model**: architecture, weights, optimizer state, and computation graph.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- Includes **signatures** (e.g., `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serving_default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`) for deployment (e.g., TensorFlow Serving).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- Platform-agnostic: works across Python, C++, TensorFlow Lite, etc.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- **How to Create**: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- Via `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model.save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()` for Keras models.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- Via `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tf.saved_model.save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()` for lower-level APIs (e.g., custom models built with `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tf.Module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`).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- **Use Case**: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Deployment, cross-platform compatibility, and serving via TensorFlow Serving.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---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### 3. **Concrete Function**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- **What it is**: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A **traced, optimized computation graph** with fixed input shapes and data types. Generated when a `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tf.function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`-decorated function is called with specific inputs.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- **Key Features**: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- Created during model serialization (e.g., `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saved_model.save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()`) or manual tracing.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- Represents a portion of the model's computation (e.g., forward pass, training step).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- Stored inside a `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` to enable efficient execution (e.g., GPU/TPU acceleration).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- **Use Case**: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- Enables graph execution for performance.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- Defines input signatures for serving (e.g., `@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tf.function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(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input_signature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=...)`).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---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### **Key Differences**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| **Aspect**              | **Keras Model**                          | **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**                          | **Concrete Function**                   |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|-------------------------|------------------------------------------|-----------------------------------------|------------------------------------------|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| **Scope**               | High-level model definition API.         | Serialization format for any TF model.  | Traced, optimized subgraph (part of a model). |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| **Serialization**       | Can be saved as `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` or HDF5.    | Contains Keras models, variables, graphs, and concrete functions. | Serialized as part of a `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`. |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| **Flexibility**         | Limited to Keras APIs.                   | Supports any TensorFlow model (Keras, custom `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tf.Module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`, etc.). | Created from `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tf.function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`-decorated code. |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| **Input Constraints**   | Dynamic shapes by default.               | May include multiple signatures with fixed/concrete input shapes. | Requires fixed input shapes/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dtypes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. |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---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### **Relationship Between Them**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- A **Keras Model** can be saved as a **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** (via `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model.save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()`).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- The **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** contains **concrete functions** (e.g., the forward pass `__call__` method of the Keras model).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- Lower-level models (e.g., `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tf.Module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`) are saved via `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tf.saved_model.save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()`, which traces and stores their methods as **concrete functions** in the `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`.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---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### **Example Workflow**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1. **Define a Keras Model**: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```python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model = 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tf.keras.Sequential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([...])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model.compile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(...)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model.fit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(...)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```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2. **Save as 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```python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model.save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("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my_model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")  # 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format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```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3. **Inspect Concrete Functions**: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```python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loaded_model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= 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tf.saved_model.load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("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my_model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")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print(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loaded_model.signatures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)  # Shows '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serving_default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' and other signatures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```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4. **Concrete Functions in Custom Models**: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```python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class 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CustomModel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(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tf.Module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):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@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tf.function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(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input_signature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=[...])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def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__call__(self, inputs):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    ...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tf.saved_model.save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(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CustomModel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(), "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custom_model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")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  ```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---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### **When to Use Each**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- **Keras Model**: Rapid prototyping, training, and saving in a user-friendly format.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- **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**: Deploying models to production, sharing across platforms, or using TensorFlow Serving.  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- **Concrete Function**: Optimizing custom model logic (e.g., custom layers/training loops) or enforcing input constraints.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https://ai.google.dev/edge/litert/models/convert_tf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 (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Padrão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do TensorFlow): 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Armazena o modelo 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completamente serializado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, incluindo arquitetura, pesos, otimizadores e metadados.</a:t>
            </a:r>
          </a:p>
          <a:p>
            <a:pPr algn="l">
              <a:spcBef>
                <a:spcPts val="1372"/>
              </a:spcBef>
              <a:spcAft>
                <a:spcPts val="1029"/>
              </a:spcAft>
              <a:buNone/>
            </a:pP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Extensão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: Pasta com arquivos .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pb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 (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protocol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 buffer) + diretório 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variables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.</a:t>
            </a:r>
            <a:b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</a:br>
            <a:b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</a:b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HDF5 (.h5 ou .</a:t>
            </a:r>
            <a:r>
              <a:rPr lang="pt-BR" b="1" i="0" dirty="0" err="1">
                <a:solidFill>
                  <a:srgbClr val="404040"/>
                </a:solidFill>
                <a:effectLst/>
                <a:latin typeface="DeepSeek-CJK-patch"/>
              </a:rPr>
              <a:t>keras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)</a:t>
            </a:r>
            <a:endParaRPr lang="pt-BR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Char char="•"/>
            </a:pP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Descrição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: Formato herdado do 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Keras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 (ainda amplamente usado). Salva o modelo em um único arquivo, mas 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pode não incluir metadados ou </a:t>
            </a:r>
            <a:r>
              <a:rPr lang="pt-BR" b="1" i="0" dirty="0" err="1">
                <a:solidFill>
                  <a:srgbClr val="404040"/>
                </a:solidFill>
                <a:effectLst/>
                <a:latin typeface="DeepSeek-CJK-patch"/>
              </a:rPr>
              <a:t>custom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 </a:t>
            </a:r>
            <a:r>
              <a:rPr lang="pt-BR" b="1" i="0" dirty="0" err="1">
                <a:solidFill>
                  <a:srgbClr val="404040"/>
                </a:solidFill>
                <a:effectLst/>
                <a:latin typeface="DeepSeek-CJK-patch"/>
              </a:rPr>
              <a:t>layers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r>
              <a:rPr lang="en-US" b="1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A </a:t>
            </a:r>
            <a:r>
              <a:rPr lang="en-US" b="1" i="0" dirty="0" err="1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ConcreteFunction</a:t>
            </a:r>
            <a:r>
              <a:rPr lang="en-US" b="1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 can be thought of as a wrapper around a </a:t>
            </a:r>
            <a:r>
              <a:rPr lang="en-US" b="1" i="0" dirty="0" err="1">
                <a:solidFill>
                  <a:srgbClr val="1A73E8"/>
                </a:solidFill>
                <a:effectLst/>
                <a:latin typeface="Roboto" panose="02000000000000000000" pitchFamily="2" charset="0"/>
                <a:hlinkClick r:id="rId3"/>
              </a:rPr>
              <a:t>tf.Graph</a:t>
            </a:r>
            <a:r>
              <a:rPr lang="en-US" b="1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.</a:t>
            </a: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52603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(Open Neural Network Exchange) é um formato aberto e padronizado para representar modelos de 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machine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learning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(ML) e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learning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Desenvolvido por empresas como Microsoft,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Facebook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(Meta) e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Amazon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seu objetivo principal é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facilitar a interoperabilidade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entre diferentes frameworks de ML (como TensorFlow,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PyTorch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scikit-learn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etc.), permitindo que modelos sejam treinados em um framework e usados em outro sem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reimplementação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16182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https://www.kaggle.com/code/ashusma/understanding-tf-lite-and-model-optimization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0995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009518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195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6522126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76064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8772049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6913896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394321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388539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433874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84299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3000653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AF0E9C-7771-CB58-FC65-ACE0A4793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68C8716-8DEE-2D37-3468-792CD29DF9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3A64F34-6657-3369-44E5-4F518D008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 err="1">
                <a:solidFill>
                  <a:srgbClr val="404040"/>
                </a:solidFill>
                <a:effectLst/>
                <a:latin typeface="Menlo"/>
              </a:rPr>
              <a:t>Referencia</a:t>
            </a:r>
            <a:r>
              <a:rPr lang="en-US" b="0" i="0" dirty="0">
                <a:solidFill>
                  <a:srgbClr val="404040"/>
                </a:solidFill>
                <a:effectLst/>
                <a:latin typeface="Menlo"/>
              </a:rPr>
              <a:t>: https://ai.google.dev/edge/litert/models/post_training_quantization</a:t>
            </a:r>
          </a:p>
          <a:p>
            <a:br>
              <a:rPr lang="en-US" b="0" i="0" dirty="0">
                <a:solidFill>
                  <a:srgbClr val="404040"/>
                </a:solidFill>
                <a:effectLst/>
                <a:latin typeface="Menlo"/>
              </a:rPr>
            </a:br>
            <a:r>
              <a:rPr lang="en-US" b="0" i="0" dirty="0" err="1">
                <a:solidFill>
                  <a:srgbClr val="404040"/>
                </a:solidFill>
                <a:effectLst/>
                <a:latin typeface="Menlo"/>
              </a:rPr>
              <a:t>representative_dataset</a:t>
            </a:r>
            <a:r>
              <a:rPr lang="en-US" b="0" i="0" dirty="0">
                <a:solidFill>
                  <a:srgbClr val="404040"/>
                </a:solidFill>
                <a:effectLst/>
                <a:latin typeface="Menlo"/>
              </a:rPr>
              <a:t>(): 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Essa função é usada durante a 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conversão de um modelo TensorFlow para TensorFlow Lite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 com 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quantização pós-treinamento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 (post-training 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quantization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). Ela fornece exemplos de dados de entrada para que o conversor do 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TFLite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 calibre os intervalos dinâmicos dos tensores do modelo, otimizando-o para tamanho e velocidade.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8B58186-6517-20F2-EF9E-54119A8D01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977493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173131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335754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228471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463061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https://colab.research.google.com/github/zz4fap/tp557-iot-ml/blob/main/examples/pruning_with_keras.ipynb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291730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605690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Aqui os alunos devem entrar no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kaggle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, baixar um dataset e treinar no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impulse, tarefa para ser feita durante a aula.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dirty="0">
              <a:solidFill>
                <a:srgbClr val="FF0000"/>
              </a:solidFill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Projeto do Samuel: 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https://studio.edgeimpulse.com/public/294644/live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dirty="0">
              <a:solidFill>
                <a:srgbClr val="FF0000"/>
              </a:solidFill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Neste trabalho pedi aos alunos para tirar fotos com o celular e criar o próprio banco de dados a ser testado no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impulse.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dirty="0">
              <a:solidFill>
                <a:srgbClr val="FF0000"/>
              </a:solidFill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dirty="0">
              <a:solidFill>
                <a:srgbClr val="FF0000"/>
              </a:solidFill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33669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26/05/2025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26/05/2025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26/05/2025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48741" y="3014100"/>
            <a:ext cx="9022800" cy="8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39C0BA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O PRIMEIRO TÍTULO</a:t>
            </a:r>
          </a:p>
        </p:txBody>
      </p:sp>
      <p:cxnSp>
        <p:nvCxnSpPr>
          <p:cNvPr id="9" name="Google Shape;17;p3"/>
          <p:cNvCxnSpPr/>
          <p:nvPr userDrawn="1"/>
        </p:nvCxnSpPr>
        <p:spPr>
          <a:xfrm>
            <a:off x="1252860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Google Shape;18;p3"/>
          <p:cNvSpPr/>
          <p:nvPr userDrawn="1"/>
        </p:nvSpPr>
        <p:spPr>
          <a:xfrm flipH="1">
            <a:off x="843408" y="3023204"/>
            <a:ext cx="819200" cy="819200"/>
          </a:xfrm>
          <a:prstGeom prst="ellipse">
            <a:avLst/>
          </a:prstGeom>
          <a:solidFill>
            <a:srgbClr val="0070C0"/>
          </a:solidFill>
          <a:ln w="2857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grpSp>
        <p:nvGrpSpPr>
          <p:cNvPr id="11" name="Google Shape;118;p18"/>
          <p:cNvGrpSpPr/>
          <p:nvPr userDrawn="1"/>
        </p:nvGrpSpPr>
        <p:grpSpPr>
          <a:xfrm>
            <a:off x="1035391" y="3227475"/>
            <a:ext cx="391864" cy="393547"/>
            <a:chOff x="2594050" y="1631825"/>
            <a:chExt cx="439625" cy="439625"/>
          </a:xfrm>
        </p:grpSpPr>
        <p:sp>
          <p:nvSpPr>
            <p:cNvPr id="12" name="Google Shape;119;p18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3" name="Google Shape;120;p18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4" name="Google Shape;121;p18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5" name="Google Shape;122;p18"/>
            <p:cNvSpPr/>
            <p:nvPr/>
          </p:nvSpPr>
          <p:spPr>
            <a:xfrm>
              <a:off x="2801675" y="1740825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</p:grpSp>
      <p:pic>
        <p:nvPicPr>
          <p:cNvPr id="16" name="Imagem 1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78950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ique aqui para adicionar seu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4" name="Imagem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20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75248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39C0BA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0429D44C-024F-49BA-BA92-6BA652B41B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pt-BR" dirty="0"/>
              <a:t>Clique aqui para adicionar seu texto</a:t>
            </a:r>
          </a:p>
        </p:txBody>
      </p:sp>
    </p:spTree>
    <p:extLst>
      <p:ext uri="{BB962C8B-B14F-4D97-AF65-F5344CB8AC3E}">
        <p14:creationId xmlns:p14="http://schemas.microsoft.com/office/powerpoint/2010/main" val="384771762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9" name="Imagem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92FEC62A-AEF6-4001-BB11-823B08650E7B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pt-BR" dirty="0"/>
              <a:t>Clique aqui para adicionar seu texto</a:t>
            </a:r>
          </a:p>
        </p:txBody>
      </p:sp>
      <p:sp>
        <p:nvSpPr>
          <p:cNvPr id="10" name="Google Shape;14;p3">
            <a:extLst>
              <a:ext uri="{FF2B5EF4-FFF2-40B4-BE49-F238E27FC236}">
                <a16:creationId xmlns:a16="http://schemas.microsoft.com/office/drawing/2014/main" id="{137F0C9D-A7E1-438A-AC82-A6EC7B2C200F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975248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8055537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7" name="Imagem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12" name="Google Shape;14;p3">
            <a:extLst>
              <a:ext uri="{FF2B5EF4-FFF2-40B4-BE49-F238E27FC236}">
                <a16:creationId xmlns:a16="http://schemas.microsoft.com/office/drawing/2014/main" id="{9D3AA249-572A-43DC-88A4-DDB8F15E43B5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965377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E55CBC1E-334C-401B-8582-9E8D56E2C1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2623929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ítul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9C0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9599"/>
          </a:p>
        </p:txBody>
      </p:sp>
      <p:cxnSp>
        <p:nvCxnSpPr>
          <p:cNvPr id="9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2" name="Imagem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6445" y="5829268"/>
            <a:ext cx="902217" cy="864096"/>
          </a:xfrm>
          <a:prstGeom prst="rect">
            <a:avLst/>
          </a:prstGeom>
        </p:spPr>
      </p:pic>
      <p:sp>
        <p:nvSpPr>
          <p:cNvPr id="7" name="Google Shape;14;p3">
            <a:extLst>
              <a:ext uri="{FF2B5EF4-FFF2-40B4-BE49-F238E27FC236}">
                <a16:creationId xmlns:a16="http://schemas.microsoft.com/office/drawing/2014/main" id="{C54F93D9-1F86-4299-9A39-CDC0441F1E48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2041092" y="2927564"/>
            <a:ext cx="9022800" cy="100287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TÍTULO</a:t>
            </a:r>
          </a:p>
        </p:txBody>
      </p:sp>
    </p:spTree>
    <p:extLst>
      <p:ext uri="{BB962C8B-B14F-4D97-AF65-F5344CB8AC3E}">
        <p14:creationId xmlns:p14="http://schemas.microsoft.com/office/powerpoint/2010/main" val="159283469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ítul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ângulo 9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9599"/>
          </a:p>
        </p:txBody>
      </p:sp>
      <p:cxnSp>
        <p:nvCxnSpPr>
          <p:cNvPr id="11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4" name="Imagem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6445" y="5829268"/>
            <a:ext cx="902217" cy="864096"/>
          </a:xfrm>
          <a:prstGeom prst="rect">
            <a:avLst/>
          </a:prstGeom>
        </p:spPr>
      </p:pic>
      <p:sp>
        <p:nvSpPr>
          <p:cNvPr id="7" name="Google Shape;14;p3">
            <a:extLst>
              <a:ext uri="{FF2B5EF4-FFF2-40B4-BE49-F238E27FC236}">
                <a16:creationId xmlns:a16="http://schemas.microsoft.com/office/drawing/2014/main" id="{1E9A4DC9-1926-455C-BB66-B463FFEA4C98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2041092" y="2927564"/>
            <a:ext cx="9022800" cy="100287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TÍTULO</a:t>
            </a:r>
          </a:p>
        </p:txBody>
      </p:sp>
    </p:spTree>
    <p:extLst>
      <p:ext uri="{BB962C8B-B14F-4D97-AF65-F5344CB8AC3E}">
        <p14:creationId xmlns:p14="http://schemas.microsoft.com/office/powerpoint/2010/main" val="154244019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cap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3000" dirty="0"/>
          </a:p>
        </p:txBody>
      </p:sp>
      <p:cxnSp>
        <p:nvCxnSpPr>
          <p:cNvPr id="7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0" name="Imagem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sp>
        <p:nvSpPr>
          <p:cNvPr id="11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67541" y="3074200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subtítulo</a:t>
            </a:r>
          </a:p>
        </p:txBody>
      </p:sp>
    </p:spTree>
    <p:extLst>
      <p:ext uri="{BB962C8B-B14F-4D97-AF65-F5344CB8AC3E}">
        <p14:creationId xmlns:p14="http://schemas.microsoft.com/office/powerpoint/2010/main" val="413123522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c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0" name="Imagem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7575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c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9" name="Imagem 1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0882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7.xml"/><Relationship Id="rId10" Type="http://schemas.openxmlformats.org/officeDocument/2006/relationships/theme" Target="../theme/theme3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26/05/2025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4730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</p:sldLayoutIdLst>
  <p:txStyles>
    <p:titleStyle>
      <a:lvl1pPr algn="ctr" defTabSz="1219078" rtl="0" eaLnBrk="1" latinLnBrk="0" hangingPunct="1">
        <a:spcBef>
          <a:spcPct val="0"/>
        </a:spcBef>
        <a:buNone/>
        <a:defRPr sz="586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54" indent="-457154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4266" kern="1200">
          <a:solidFill>
            <a:schemeClr val="tx1"/>
          </a:solidFill>
          <a:latin typeface="+mn-lt"/>
          <a:ea typeface="+mn-ea"/>
          <a:cs typeface="+mn-cs"/>
        </a:defRPr>
      </a:lvl1pPr>
      <a:lvl2pPr marL="990501" indent="-380962" algn="l" defTabSz="1219078" rtl="0" eaLnBrk="1" latinLnBrk="0" hangingPunct="1">
        <a:spcBef>
          <a:spcPct val="20000"/>
        </a:spcBef>
        <a:buFont typeface="Arial" panose="020B0604020202020204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848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387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–"/>
        <a:defRPr sz="2666" kern="1200">
          <a:solidFill>
            <a:schemeClr val="tx1"/>
          </a:solidFill>
          <a:latin typeface="+mn-lt"/>
          <a:ea typeface="+mn-ea"/>
          <a:cs typeface="+mn-cs"/>
        </a:defRPr>
      </a:lvl4pPr>
      <a:lvl5pPr marL="2742926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»"/>
        <a:defRPr sz="2666" kern="1200">
          <a:solidFill>
            <a:schemeClr val="tx1"/>
          </a:solidFill>
          <a:latin typeface="+mn-lt"/>
          <a:ea typeface="+mn-ea"/>
          <a:cs typeface="+mn-cs"/>
        </a:defRPr>
      </a:lvl5pPr>
      <a:lvl6pPr marL="3352465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6pPr>
      <a:lvl7pPr marL="3962004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7pPr>
      <a:lvl8pPr marL="4571543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8pPr>
      <a:lvl9pPr marL="5181082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39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078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17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156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695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234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773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312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tinyurl.com/edgemlbooks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www.tensorflow.org/mlir/tfl_ops" TargetMode="External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github.com/tensorflow/examples/tree/master/lite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lite/models/modify/model_maker?hl=pt-br" TargetMode="External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8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colab.research.google.com/github/zz4fap/tp557-iot-ml/blob/main/examples/Training_Hello_world_Model_for_Microcontroller.ipynb" TargetMode="Externa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7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8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9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0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1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2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36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7.png"/><Relationship Id="rId4" Type="http://schemas.openxmlformats.org/officeDocument/2006/relationships/image" Target="../media/image36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8.png"/><Relationship Id="rId4" Type="http://schemas.openxmlformats.org/officeDocument/2006/relationships/image" Target="../media/image36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9.png"/><Relationship Id="rId4" Type="http://schemas.openxmlformats.org/officeDocument/2006/relationships/image" Target="../media/image36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0.png"/><Relationship Id="rId4" Type="http://schemas.openxmlformats.org/officeDocument/2006/relationships/image" Target="../media/image36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1.png"/><Relationship Id="rId4" Type="http://schemas.openxmlformats.org/officeDocument/2006/relationships/image" Target="../media/image36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36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4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5.png"/><Relationship Id="rId4" Type="http://schemas.openxmlformats.org/officeDocument/2006/relationships/image" Target="../media/image36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6.png"/><Relationship Id="rId4" Type="http://schemas.openxmlformats.org/officeDocument/2006/relationships/image" Target="../media/image36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7.png"/><Relationship Id="rId4" Type="http://schemas.openxmlformats.org/officeDocument/2006/relationships/image" Target="../media/image36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ai.google.dev/edge/litert/models/post_training_quantization" TargetMode="External"/><Relationship Id="rId4" Type="http://schemas.openxmlformats.org/officeDocument/2006/relationships/image" Target="../media/image57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36.png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3" Type="http://schemas.openxmlformats.org/officeDocument/2006/relationships/image" Target="../media/image7.jpg"/><Relationship Id="rId7" Type="http://schemas.openxmlformats.org/officeDocument/2006/relationships/image" Target="../media/image6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hyperlink" Target="https://netron.app/" TargetMode="Externa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4.png"/><Relationship Id="rId4" Type="http://schemas.openxmlformats.org/officeDocument/2006/relationships/image" Target="../media/image36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5.png"/><Relationship Id="rId4" Type="http://schemas.openxmlformats.org/officeDocument/2006/relationships/image" Target="../media/image36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p557-iot-ml/blob/main/examples/pruning_with_keras.ipynb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colab.research.google.com/github/zz4fap/tp557-iot-ml/blob/main/examples/clustering_example.ipynb" TargetMode="Externa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/Relationships>
</file>

<file path=ppt/slides/_rels/slide7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jpeg"/><Relationship Id="rId3" Type="http://schemas.openxmlformats.org/officeDocument/2006/relationships/image" Target="../media/image7.jpg"/><Relationship Id="rId7" Type="http://schemas.openxmlformats.org/officeDocument/2006/relationships/hyperlink" Target="https://www.kaggle.com/datasets/gpiosenka/coffee-bean-dataset-resized-224-x-224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universe.roboflow.com/" TargetMode="External"/><Relationship Id="rId5" Type="http://schemas.openxmlformats.org/officeDocument/2006/relationships/hyperlink" Target="https://www.kaggle.com/datasets" TargetMode="External"/><Relationship Id="rId4" Type="http://schemas.openxmlformats.org/officeDocument/2006/relationships/hyperlink" Target="https://edgeimpulse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br>
              <a:rPr lang="pt-BR" dirty="0"/>
            </a:br>
            <a:r>
              <a:rPr lang="pt-BR" b="1" i="1" dirty="0" err="1"/>
              <a:t>TensorFlow</a:t>
            </a:r>
            <a:r>
              <a:rPr lang="pt-BR" b="1" i="1" dirty="0"/>
              <a:t> Lite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3093156" y="6015453"/>
            <a:ext cx="48226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Créditos: Prof. Marcelo Rovai UNIFEI 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6BC1868B-0A3A-32FE-D3E1-4C53AAE225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Samuel Baraldi Mafra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:a16="http://schemas.microsoft.com/office/drawing/2014/main" id="{C237015F-47F9-757A-BA6D-89FB831D9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1491" y="1508787"/>
            <a:ext cx="6593027" cy="3578588"/>
          </a:xfrm>
        </p:spPr>
        <p:txBody>
          <a:bodyPr/>
          <a:lstStyle/>
          <a:p>
            <a:r>
              <a:rPr lang="pt-BR" dirty="0"/>
              <a:t>Possui pós-doutorado na Universidade Federal do Paraná (2015-2018). </a:t>
            </a:r>
          </a:p>
          <a:p>
            <a:r>
              <a:rPr lang="pt-BR" dirty="0"/>
              <a:t>Doutor em Ciências na área de telecomunicações e redes pela Universidade Tecnológica Federal do Paraná (2015). </a:t>
            </a:r>
          </a:p>
          <a:p>
            <a:r>
              <a:rPr lang="pt-BR" dirty="0"/>
              <a:t>Mestre em Engenharia Elétrica com ênfase em telecomunicações pela Universidade Federal do Paraná (2012). </a:t>
            </a:r>
          </a:p>
          <a:p>
            <a:r>
              <a:rPr lang="pt-BR" dirty="0"/>
              <a:t>Engenheiro Eletricista pela Universidade do Estado de Santa Catarina (2010).</a:t>
            </a:r>
          </a:p>
          <a:p>
            <a:endParaRPr lang="pt-BR" dirty="0"/>
          </a:p>
        </p:txBody>
      </p:sp>
      <p:pic>
        <p:nvPicPr>
          <p:cNvPr id="8" name="Imagem 7" descr="Homem de camisa branca&#10;&#10;Descrição gerada automaticamente">
            <a:extLst>
              <a:ext uri="{FF2B5EF4-FFF2-40B4-BE49-F238E27FC236}">
                <a16:creationId xmlns:a16="http://schemas.microsoft.com/office/drawing/2014/main" id="{C6353831-F7DA-B924-AC0E-E10D33B75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0243" y="1705606"/>
            <a:ext cx="3520685" cy="352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6113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6BC1868B-0A3A-32FE-D3E1-4C53AAE225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Samuel Baraldi Mafra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:a16="http://schemas.microsoft.com/office/drawing/2014/main" id="{C237015F-47F9-757A-BA6D-89FB831D9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1491" y="1508787"/>
            <a:ext cx="6593027" cy="4464496"/>
          </a:xfrm>
        </p:spPr>
        <p:txBody>
          <a:bodyPr/>
          <a:lstStyle/>
          <a:p>
            <a:r>
              <a:rPr lang="pt-BR" dirty="0"/>
              <a:t>Instituto Nacional de Telecomunicações - Inatel.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no curso de graduação em engenharia de computação;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e pesquisador nos cursos de mestrado e doutorado em telecomunicações;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no cursos de especialização em 5G,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IoT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 redes de telecomunicação;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Coordenador do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IoT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Research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Inatel. </a:t>
            </a:r>
          </a:p>
          <a:p>
            <a:pPr lvl="1"/>
            <a:endParaRPr lang="pt-BR" sz="2333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pt-BR" dirty="0"/>
              <a:t> </a:t>
            </a:r>
          </a:p>
        </p:txBody>
      </p:sp>
      <p:pic>
        <p:nvPicPr>
          <p:cNvPr id="8" name="Imagem 7" descr="Homem de camisa branca&#10;&#10;Descrição gerada automaticamente">
            <a:extLst>
              <a:ext uri="{FF2B5EF4-FFF2-40B4-BE49-F238E27FC236}">
                <a16:creationId xmlns:a16="http://schemas.microsoft.com/office/drawing/2014/main" id="{C6353831-F7DA-B924-AC0E-E10D33B75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0243" y="1705606"/>
            <a:ext cx="3520685" cy="352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83770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TinyML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1266" name="Picture 2" descr="Tiny Machine Learning: The Next AI Revolution | by Matthew Stewart, PhD |  Towards Data Science">
            <a:extLst>
              <a:ext uri="{FF2B5EF4-FFF2-40B4-BE49-F238E27FC236}">
                <a16:creationId xmlns:a16="http://schemas.microsoft.com/office/drawing/2014/main" id="{6D4387EF-198D-6CC9-FBBC-B1958F1A5F7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5627" y="1484489"/>
            <a:ext cx="8367305" cy="4636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87594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8001000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D957E37B-108E-A4B3-1EF1-6A2150EFA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1"/>
            <a:ext cx="9561689" cy="2565400"/>
          </a:xfrm>
        </p:spPr>
        <p:txBody>
          <a:bodyPr>
            <a:normAutofit/>
          </a:bodyPr>
          <a:lstStyle/>
          <a:p>
            <a:r>
              <a:rPr lang="pt-BR" dirty="0"/>
              <a:t>Características dos dispositivos </a:t>
            </a:r>
            <a:r>
              <a:rPr lang="pt-BR" dirty="0" err="1"/>
              <a:t>IoT</a:t>
            </a:r>
            <a:r>
              <a:rPr lang="pt-BR" dirty="0"/>
              <a:t>:</a:t>
            </a:r>
          </a:p>
          <a:p>
            <a:pPr lvl="1"/>
            <a:r>
              <a:rPr lang="pt-BR" dirty="0"/>
              <a:t>Baixo consumo de energia;</a:t>
            </a:r>
          </a:p>
          <a:p>
            <a:pPr lvl="1"/>
            <a:r>
              <a:rPr lang="pt-BR" dirty="0"/>
              <a:t>Baixo poder computacional;</a:t>
            </a:r>
          </a:p>
          <a:p>
            <a:pPr lvl="1"/>
            <a:r>
              <a:rPr lang="pt-BR" dirty="0"/>
              <a:t>Baixo custo.</a:t>
            </a:r>
          </a:p>
        </p:txBody>
      </p:sp>
    </p:spTree>
    <p:extLst>
      <p:ext uri="{BB962C8B-B14F-4D97-AF65-F5344CB8AC3E}">
        <p14:creationId xmlns:p14="http://schemas.microsoft.com/office/powerpoint/2010/main" val="34869847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8273143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D957E37B-108E-A4B3-1EF1-6A2150EFA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1"/>
            <a:ext cx="9561689" cy="2565400"/>
          </a:xfrm>
        </p:spPr>
        <p:txBody>
          <a:bodyPr>
            <a:normAutofit fontScale="85000" lnSpcReduction="10000"/>
          </a:bodyPr>
          <a:lstStyle/>
          <a:p>
            <a:pPr algn="l" rtl="0" fontAlgn="base"/>
            <a:r>
              <a:rPr lang="pt-BR" sz="2600" b="0" i="0" u="none" strike="noStrike" dirty="0">
                <a:effectLst/>
              </a:rPr>
              <a:t>A energia de processamento depende basicamente do número de ciclos de </a:t>
            </a:r>
            <a:r>
              <a:rPr lang="pt-BR" sz="2600" b="0" i="1" u="none" strike="noStrike" dirty="0" err="1">
                <a:effectLst/>
              </a:rPr>
              <a:t>clock</a:t>
            </a:r>
            <a:r>
              <a:rPr lang="pt-BR" sz="2600" b="0" i="0" u="none" strike="noStrike" dirty="0">
                <a:effectLst/>
              </a:rPr>
              <a:t> executados pelo microcontrolador.</a:t>
            </a:r>
            <a:r>
              <a:rPr lang="en-US" sz="2600" b="0" i="0" dirty="0">
                <a:effectLst/>
              </a:rPr>
              <a:t>​</a:t>
            </a:r>
          </a:p>
          <a:p>
            <a:pPr marL="0" indent="0" algn="l" rtl="0" fontAlgn="base">
              <a:buNone/>
            </a:pPr>
            <a:endParaRPr lang="pt-BR" sz="2600" b="0" i="0" dirty="0">
              <a:effectLst/>
            </a:endParaRPr>
          </a:p>
          <a:p>
            <a:pPr algn="l" rtl="0" fontAlgn="base"/>
            <a:r>
              <a:rPr lang="pt-BR" sz="2600" b="0" i="0" u="none" strike="noStrike" dirty="0">
                <a:effectLst/>
              </a:rPr>
              <a:t>"Os programadores </a:t>
            </a:r>
            <a:r>
              <a:rPr lang="pt-BR" sz="2600" b="1" i="1" u="none" strike="noStrike" dirty="0">
                <a:solidFill>
                  <a:srgbClr val="7030A0"/>
                </a:solidFill>
                <a:effectLst/>
              </a:rPr>
              <a:t>não poderão ignorar </a:t>
            </a:r>
            <a:r>
              <a:rPr lang="pt-BR" sz="2600" b="0" i="0" u="none" strike="noStrike" dirty="0">
                <a:effectLst/>
              </a:rPr>
              <a:t>o custo de energia dos programas que escrevem... Você precisa de ferramentas que forneçam </a:t>
            </a:r>
            <a:r>
              <a:rPr lang="pt-BR" sz="2600" b="0" i="1" u="none" strike="noStrike" dirty="0">
                <a:effectLst/>
              </a:rPr>
              <a:t>feedback</a:t>
            </a:r>
            <a:r>
              <a:rPr lang="pt-BR" sz="2600" b="0" i="0" u="none" strike="noStrike" dirty="0">
                <a:effectLst/>
              </a:rPr>
              <a:t> e digam o quão boas são suas decisões. Atualmente, as ferramentas não fornecem esse tipo de feedback.” (Steve </a:t>
            </a:r>
            <a:r>
              <a:rPr lang="pt-BR" sz="2600" b="0" i="0" u="none" strike="noStrike" dirty="0" err="1">
                <a:effectLst/>
              </a:rPr>
              <a:t>Furber</a:t>
            </a:r>
            <a:r>
              <a:rPr lang="pt-BR" sz="2600" b="0" i="0" u="none" strike="noStrike" dirty="0">
                <a:effectLst/>
              </a:rPr>
              <a:t>, ARM, 2010)</a:t>
            </a:r>
            <a:endParaRPr lang="en-US" sz="2600" b="0" i="0" dirty="0">
              <a:effectLst/>
            </a:endParaRP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290724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Processamento tradicional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4C0988EC-1EED-C341-8C2F-16519CE649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66289" y="1440460"/>
            <a:ext cx="8626588" cy="3299746"/>
          </a:xfrm>
        </p:spPr>
      </p:pic>
    </p:spTree>
    <p:extLst>
      <p:ext uri="{BB962C8B-B14F-4D97-AF65-F5344CB8AC3E}">
        <p14:creationId xmlns:p14="http://schemas.microsoft.com/office/powerpoint/2010/main" val="38011335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8131629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id="{30913158-1403-FD7C-13DD-FEE88A4A77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23244" y="1656357"/>
            <a:ext cx="8545689" cy="3116307"/>
          </a:xfrm>
        </p:spPr>
      </p:pic>
    </p:spTree>
    <p:extLst>
      <p:ext uri="{BB962C8B-B14F-4D97-AF65-F5344CB8AC3E}">
        <p14:creationId xmlns:p14="http://schemas.microsoft.com/office/powerpoint/2010/main" val="26233987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8512629" cy="762000"/>
          </a:xfrm>
        </p:spPr>
        <p:txBody>
          <a:bodyPr>
            <a:normAutofit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id="{05A8F147-70FE-941B-F2CB-2C124F8D5F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095022" y="1969297"/>
            <a:ext cx="8861778" cy="2716205"/>
          </a:xfrm>
        </p:spPr>
      </p:pic>
    </p:spTree>
    <p:extLst>
      <p:ext uri="{BB962C8B-B14F-4D97-AF65-F5344CB8AC3E}">
        <p14:creationId xmlns:p14="http://schemas.microsoft.com/office/powerpoint/2010/main" val="4756129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8044543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id="{A5DFCE40-4CA2-BEBF-45F2-5DA44B4A83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19199" y="1590391"/>
            <a:ext cx="9256889" cy="3677217"/>
          </a:xfrm>
        </p:spPr>
      </p:pic>
    </p:spTree>
    <p:extLst>
      <p:ext uri="{BB962C8B-B14F-4D97-AF65-F5344CB8AC3E}">
        <p14:creationId xmlns:p14="http://schemas.microsoft.com/office/powerpoint/2010/main" val="1840262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8098971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id="{ABD88AAA-EE48-F346-F093-EAE7966DAE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51466" y="1640213"/>
            <a:ext cx="8624711" cy="3374374"/>
          </a:xfrm>
        </p:spPr>
      </p:pic>
    </p:spTree>
    <p:extLst>
      <p:ext uri="{BB962C8B-B14F-4D97-AF65-F5344CB8AC3E}">
        <p14:creationId xmlns:p14="http://schemas.microsoft.com/office/powerpoint/2010/main" val="3059835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1D183AB4-0114-C958-8DAD-03DD590E20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307346" y="986294"/>
            <a:ext cx="3556739" cy="4682212"/>
          </a:xfrm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id="{32179B82-25F5-6138-2B69-45619B216CCB}"/>
              </a:ext>
            </a:extLst>
          </p:cNvPr>
          <p:cNvSpPr txBox="1">
            <a:spLocks/>
          </p:cNvSpPr>
          <p:nvPr/>
        </p:nvSpPr>
        <p:spPr>
          <a:xfrm>
            <a:off x="-260085" y="284692"/>
            <a:ext cx="6559285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609630" rtl="0" eaLnBrk="1" latinLnBrk="0" hangingPunct="1">
              <a:spcBef>
                <a:spcPct val="0"/>
              </a:spcBef>
              <a:buNone/>
              <a:defRPr sz="293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Referência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E716D6C-1B36-DABF-B509-335987079969}"/>
              </a:ext>
            </a:extLst>
          </p:cNvPr>
          <p:cNvSpPr txBox="1"/>
          <p:nvPr/>
        </p:nvSpPr>
        <p:spPr>
          <a:xfrm>
            <a:off x="2762956" y="5871706"/>
            <a:ext cx="62258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Tinyml</a:t>
            </a:r>
            <a:r>
              <a:rPr lang="en-US" dirty="0"/>
              <a:t>: Machine Learning with </a:t>
            </a:r>
            <a:r>
              <a:rPr lang="en-US" dirty="0" err="1"/>
              <a:t>Tensorflow</a:t>
            </a:r>
            <a:r>
              <a:rPr lang="en-US" dirty="0"/>
              <a:t> Lite on Arduino and Ultra-Low-Power Microcontrollers</a:t>
            </a:r>
            <a:endParaRPr lang="pt-B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D26F54-CF3F-3EF1-9173-C3D19AD97F6E}"/>
              </a:ext>
            </a:extLst>
          </p:cNvPr>
          <p:cNvSpPr txBox="1"/>
          <p:nvPr/>
        </p:nvSpPr>
        <p:spPr>
          <a:xfrm>
            <a:off x="8139887" y="4874272"/>
            <a:ext cx="33922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https://tinyurl.com/edgemlbooks</a:t>
            </a:r>
            <a:endParaRPr lang="en-US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5EF0266-626E-886A-6BFE-977D50E50285}"/>
              </a:ext>
            </a:extLst>
          </p:cNvPr>
          <p:cNvCxnSpPr/>
          <p:nvPr/>
        </p:nvCxnSpPr>
        <p:spPr>
          <a:xfrm flipV="1">
            <a:off x="7717971" y="5243604"/>
            <a:ext cx="805543" cy="62810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96095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Conteúdo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57223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Introdução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O que é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Por que usar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Benefícios de usar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O que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 pode fazer?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Visão geral do fluxo de trabalho do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Convertendo um modelo do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em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</p:txBody>
      </p:sp>
    </p:spTree>
    <p:extLst>
      <p:ext uri="{BB962C8B-B14F-4D97-AF65-F5344CB8AC3E}">
        <p14:creationId xmlns:p14="http://schemas.microsoft.com/office/powerpoint/2010/main" val="2627688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829800" cy="4330419"/>
          </a:xfrm>
        </p:spPr>
        <p:txBody>
          <a:bodyPr>
            <a:noAutofit/>
          </a:bodyPr>
          <a:lstStyle/>
          <a:p>
            <a:pPr marL="457223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O TensorFlow Lite é um </a:t>
            </a:r>
            <a:r>
              <a:rPr lang="pt-BR" sz="2000" b="1" i="1" dirty="0">
                <a:solidFill>
                  <a:srgbClr val="00B050"/>
                </a:solidFill>
                <a:effectLst/>
                <a:cs typeface="Arial" panose="020B0604020202020204" pitchFamily="34" charset="0"/>
              </a:rPr>
              <a:t>conjunto de ferramentas 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que ajuda os desenvolvedores a </a:t>
            </a:r>
            <a:r>
              <a:rPr lang="pt-BR" sz="2000" b="1" i="1" dirty="0">
                <a:solidFill>
                  <a:srgbClr val="7030A0"/>
                </a:solidFill>
                <a:effectLst/>
                <a:cs typeface="Arial" panose="020B0604020202020204" pitchFamily="34" charset="0"/>
              </a:rPr>
              <a:t>executar modelos de machine learning em dispositivos embarcados 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(móveis e IoT).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A Basic Introduction to TensorFlow Lite | by Renu Khandelwal | Towards Data  Science">
            <a:extLst>
              <a:ext uri="{FF2B5EF4-FFF2-40B4-BE49-F238E27FC236}">
                <a16:creationId xmlns:a16="http://schemas.microsoft.com/office/drawing/2014/main" id="{F845FD6B-D9F2-E0BF-EF6F-6BB0700937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4553" y="2374040"/>
            <a:ext cx="7734855" cy="37981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46635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926960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O TensorFlow é uma biblioteca de aprendizado de máquina que pode ser usada para </a:t>
            </a:r>
            <a:r>
              <a:rPr lang="pt-BR" sz="2000" b="1" i="1" dirty="0">
                <a:solidFill>
                  <a:srgbClr val="7030A0"/>
                </a:solidFill>
                <a:effectLst/>
                <a:ea typeface="Calibri" panose="020F0502020204030204" pitchFamily="34" charset="0"/>
                <a:cs typeface="Arial" panose="020B0604020202020204" pitchFamily="34" charset="0"/>
              </a:rPr>
              <a:t>treinar, implantar e executar modelos de aprendizado de máquina em uma variedade de plataformas</a:t>
            </a:r>
            <a:r>
              <a:rPr lang="pt-BR" sz="20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2000" b="1" i="1" dirty="0">
                <a:solidFill>
                  <a:schemeClr val="accent6"/>
                </a:solidFill>
                <a:ea typeface="Calibri" panose="020F0502020204030204" pitchFamily="34" charset="0"/>
                <a:cs typeface="Arial" panose="020B0604020202020204" pitchFamily="34" charset="0"/>
              </a:rPr>
              <a:t>sem restrições computacionais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O TensorFlow Lite é uma versão reduzida do TensorFlow que é otimizada para desempenho e eficiência em dispositivos embarcados </a:t>
            </a:r>
            <a:r>
              <a:rPr lang="en-US" sz="2000" dirty="0">
                <a:ea typeface="Calibri" panose="020F0502020204030204" pitchFamily="34" charset="0"/>
                <a:cs typeface="Arial" panose="020B0604020202020204" pitchFamily="34" charset="0"/>
              </a:rPr>
              <a:t>com </a:t>
            </a:r>
            <a:r>
              <a:rPr lang="en-US" sz="2000" b="1" i="1" dirty="0" err="1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recursos</a:t>
            </a:r>
            <a:r>
              <a:rPr lang="en-US" sz="20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2000" b="1" i="1" dirty="0" err="1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moderados</a:t>
            </a: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Tensorflow Lite Micro: o foco são </a:t>
            </a:r>
            <a:r>
              <a:rPr lang="pt-BR" sz="1600" dirty="0">
                <a:solidFill>
                  <a:srgbClr val="404040"/>
                </a:solidFill>
                <a:latin typeface="quote-cjk-patch"/>
                <a:ea typeface="Calibri" panose="020F0502020204030204" pitchFamily="34" charset="0"/>
                <a:cs typeface="Arial" panose="020B0604020202020204" pitchFamily="34" charset="0"/>
              </a:rPr>
              <a:t>m</a:t>
            </a:r>
            <a:r>
              <a:rPr lang="pt-BR" sz="1600" b="0" i="0" dirty="0">
                <a:solidFill>
                  <a:srgbClr val="404040"/>
                </a:solidFill>
                <a:effectLst/>
                <a:latin typeface="quote-cjk-patch"/>
              </a:rPr>
              <a:t>icrocontroladores e dispositivos </a:t>
            </a:r>
            <a:r>
              <a:rPr lang="pt-BR" sz="1600" b="1" i="1" dirty="0">
                <a:solidFill>
                  <a:schemeClr val="accent1"/>
                </a:solidFill>
                <a:effectLst/>
                <a:latin typeface="quote-cjk-patch"/>
              </a:rPr>
              <a:t>extremamente limitados em recursos </a:t>
            </a:r>
            <a:r>
              <a:rPr lang="pt-BR" sz="1600" b="0" i="0" dirty="0">
                <a:solidFill>
                  <a:srgbClr val="404040"/>
                </a:solidFill>
                <a:effectLst/>
                <a:latin typeface="quote-cjk-patch"/>
              </a:rPr>
              <a:t>(sem sistema operacional, com pouca memória e poder de processamento).</a:t>
            </a:r>
            <a:endParaRPr lang="pt-BR" sz="1734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A Basic Introduction to TensorFlow Lite | by Renu Khandelwal | Towards Data  Science">
            <a:extLst>
              <a:ext uri="{FF2B5EF4-FFF2-40B4-BE49-F238E27FC236}">
                <a16:creationId xmlns:a16="http://schemas.microsoft.com/office/drawing/2014/main" id="{F845FD6B-D9F2-E0BF-EF6F-6BB0700937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57" t="6261" b="12967"/>
          <a:stretch/>
        </p:blipFill>
        <p:spPr bwMode="auto">
          <a:xfrm>
            <a:off x="2122715" y="3632200"/>
            <a:ext cx="7307196" cy="29411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702667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Po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 que usar o TensorFlow Lite?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otimizado para eficiência computacional e de memória.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Inclui APIs para Android, iOS e Python.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Pode usar </a:t>
            </a:r>
            <a:r>
              <a:rPr lang="pt-BR" sz="2000" i="1" dirty="0" err="1">
                <a:ea typeface="Calibri" panose="020F0502020204030204" pitchFamily="34" charset="0"/>
                <a:cs typeface="Arial" panose="020B0604020202020204" pitchFamily="34" charset="0"/>
              </a:rPr>
              <a:t>delegates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acelerar operações em hardware específico (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ex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: GPU, DSP, Coral Edge TPU).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Compatibilidade com diversas linguagens, incluindo Java, Swift,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Objective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-C, C++ e Python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1734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0298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Po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 que usar o TensorFlow Lite?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Auxilia na criação de aplicações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edgeML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, que possuem as seguintes características: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Baixa latência (não há ida e volta para um servidor),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Maior privacidade e segurança (nenhum dado pessoal sai do dispositivo),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Pouca ou nenhuma necessidade de conectividade com a Internet,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Modelos com menor tamanho,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Menor consumo de energia (inferência eficiente e falta de conexões de rede)</a:t>
            </a:r>
            <a:endParaRPr lang="pt-BR" sz="1734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56243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7083F4F6-6882-226E-8924-F3F893CE7A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801152" y="1475553"/>
            <a:ext cx="7498730" cy="4313294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994CC68-2F61-2A13-9FB7-29CAF3E4F33D}"/>
              </a:ext>
            </a:extLst>
          </p:cNvPr>
          <p:cNvSpPr txBox="1"/>
          <p:nvPr/>
        </p:nvSpPr>
        <p:spPr>
          <a:xfrm>
            <a:off x="9062791" y="2958068"/>
            <a:ext cx="132805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 dirty="0">
                <a:solidFill>
                  <a:srgbClr val="404040"/>
                </a:solidFill>
                <a:effectLst/>
                <a:latin typeface="quote-cjk-patch"/>
              </a:rPr>
              <a:t>Pesos </a:t>
            </a:r>
            <a:r>
              <a:rPr lang="en-US" sz="1400" b="1" i="0" dirty="0" err="1">
                <a:solidFill>
                  <a:srgbClr val="404040"/>
                </a:solidFill>
                <a:effectLst/>
                <a:latin typeface="quote-cjk-patch"/>
              </a:rPr>
              <a:t>fixos</a:t>
            </a:r>
            <a:endParaRPr 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BAEEE3-40FB-47FE-5885-2FB7EF90DCA7}"/>
              </a:ext>
            </a:extLst>
          </p:cNvPr>
          <p:cNvSpPr txBox="1"/>
          <p:nvPr/>
        </p:nvSpPr>
        <p:spPr>
          <a:xfrm>
            <a:off x="9056914" y="2508172"/>
            <a:ext cx="2667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>
                <a:solidFill>
                  <a:srgbClr val="404040"/>
                </a:solidFill>
                <a:latin typeface="quote-cjk-patch"/>
              </a:rPr>
              <a:t>Não s</a:t>
            </a:r>
            <a:r>
              <a:rPr lang="pt-BR" sz="1400" b="0" i="0" dirty="0">
                <a:solidFill>
                  <a:srgbClr val="404040"/>
                </a:solidFill>
                <a:effectLst/>
                <a:latin typeface="quote-cjk-patch"/>
              </a:rPr>
              <a:t>uporta treinamento</a:t>
            </a:r>
            <a:endParaRPr lang="en-US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D4DB7A-8F09-0776-B640-0EAA67A41E5C}"/>
              </a:ext>
            </a:extLst>
          </p:cNvPr>
          <p:cNvSpPr txBox="1"/>
          <p:nvPr/>
        </p:nvSpPr>
        <p:spPr>
          <a:xfrm>
            <a:off x="9056914" y="3488529"/>
            <a:ext cx="223157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 err="1">
                <a:solidFill>
                  <a:srgbClr val="404040"/>
                </a:solidFill>
                <a:latin typeface="quote-cjk-patch"/>
              </a:rPr>
              <a:t>B</a:t>
            </a:r>
            <a:r>
              <a:rPr lang="en-US" sz="1400" b="0" i="0" dirty="0" err="1">
                <a:solidFill>
                  <a:srgbClr val="404040"/>
                </a:solidFill>
                <a:effectLst/>
                <a:latin typeface="quote-cjk-patch"/>
              </a:rPr>
              <a:t>iblioteca</a:t>
            </a:r>
            <a:r>
              <a:rPr lang="en-US" sz="1400" b="0" i="0" dirty="0">
                <a:solidFill>
                  <a:srgbClr val="404040"/>
                </a:solidFill>
                <a:effectLst/>
                <a:latin typeface="quote-cjk-patch"/>
              </a:rPr>
              <a:t> </a:t>
            </a:r>
            <a:r>
              <a:rPr lang="en-US" sz="1400" b="0" i="0" dirty="0" err="1">
                <a:solidFill>
                  <a:srgbClr val="404040"/>
                </a:solidFill>
                <a:effectLst/>
                <a:latin typeface="quote-cjk-patch"/>
              </a:rPr>
              <a:t>minimalista</a:t>
            </a:r>
            <a:endParaRPr 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1122E4-D9B3-6653-7F06-8FC9A408C724}"/>
              </a:ext>
            </a:extLst>
          </p:cNvPr>
          <p:cNvSpPr txBox="1"/>
          <p:nvPr/>
        </p:nvSpPr>
        <p:spPr>
          <a:xfrm>
            <a:off x="9056914" y="3980497"/>
            <a:ext cx="313508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>
                <a:solidFill>
                  <a:srgbClr val="404040"/>
                </a:solidFill>
                <a:latin typeface="quote-cjk-patch"/>
              </a:rPr>
              <a:t>I</a:t>
            </a:r>
            <a:r>
              <a:rPr lang="pt-BR" sz="1400" b="0" i="0" dirty="0">
                <a:solidFill>
                  <a:srgbClr val="404040"/>
                </a:solidFill>
                <a:effectLst/>
                <a:latin typeface="quote-cjk-patch"/>
              </a:rPr>
              <a:t>nferência local em um único dispositivo. Não faz treino/inferência em vários dispositivos</a:t>
            </a:r>
            <a:endParaRPr lang="en-US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F572CF-FF6F-BAAD-649E-D1E616148492}"/>
              </a:ext>
            </a:extLst>
          </p:cNvPr>
          <p:cNvSpPr txBox="1"/>
          <p:nvPr/>
        </p:nvSpPr>
        <p:spPr>
          <a:xfrm>
            <a:off x="9053212" y="4846866"/>
            <a:ext cx="29173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>
                <a:solidFill>
                  <a:srgbClr val="404040"/>
                </a:solidFill>
                <a:latin typeface="quote-cjk-patch"/>
              </a:rPr>
              <a:t>Não apresenta f</a:t>
            </a:r>
            <a:r>
              <a:rPr lang="pt-BR" sz="1400" b="0" i="0" dirty="0">
                <a:solidFill>
                  <a:srgbClr val="404040"/>
                </a:solidFill>
                <a:effectLst/>
                <a:latin typeface="quote-cjk-patch"/>
              </a:rPr>
              <a:t>lexibilidade para treinar e experimentar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2308438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id="{0942837E-A7AA-0552-CCE5-E9F444D393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846667" y="1271099"/>
            <a:ext cx="9347200" cy="4519001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1B2F112-E74E-7802-E172-46DE8F007E4C}"/>
              </a:ext>
            </a:extLst>
          </p:cNvPr>
          <p:cNvSpPr txBox="1"/>
          <p:nvPr/>
        </p:nvSpPr>
        <p:spPr>
          <a:xfrm>
            <a:off x="2093894" y="593144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5"/>
              </a:rPr>
              <a:t>Set of operations: https://www.tensorflow.org/mlir/tfl_ops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02156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1" name="Espaço Reservado para Conteúdo 10">
            <a:extLst>
              <a:ext uri="{FF2B5EF4-FFF2-40B4-BE49-F238E27FC236}">
                <a16:creationId xmlns:a16="http://schemas.microsoft.com/office/drawing/2014/main" id="{0FF495AE-312B-8030-46D0-CDBEBBB51C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770130" y="1406392"/>
            <a:ext cx="9853494" cy="3517383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5358192-105F-2899-E13C-13ED44081794}"/>
              </a:ext>
            </a:extLst>
          </p:cNvPr>
          <p:cNvSpPr txBox="1"/>
          <p:nvPr/>
        </p:nvSpPr>
        <p:spPr>
          <a:xfrm>
            <a:off x="9301931" y="2905518"/>
            <a:ext cx="2057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Roda em </a:t>
            </a:r>
            <a:r>
              <a:rPr lang="pt-BR" sz="1200" dirty="0" err="1"/>
              <a:t>bare</a:t>
            </a:r>
            <a:r>
              <a:rPr lang="pt-BR" sz="1200" dirty="0"/>
              <a:t> metal</a:t>
            </a:r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AF67C9-DFE1-8B0E-A216-5183F6AA774E}"/>
              </a:ext>
            </a:extLst>
          </p:cNvPr>
          <p:cNvSpPr txBox="1"/>
          <p:nvPr/>
        </p:nvSpPr>
        <p:spPr>
          <a:xfrm>
            <a:off x="4880712" y="3367183"/>
            <a:ext cx="1632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(mapeamento dinâmico de memória: memoria virtual)</a:t>
            </a:r>
            <a:endParaRPr 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5199DB-206E-9599-A701-296559F2BE0A}"/>
              </a:ext>
            </a:extLst>
          </p:cNvPr>
          <p:cNvSpPr txBox="1"/>
          <p:nvPr/>
        </p:nvSpPr>
        <p:spPr>
          <a:xfrm>
            <a:off x="7249042" y="3429000"/>
            <a:ext cx="1632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Mapeamento estático de memória. Sabemos onde está na memória.</a:t>
            </a:r>
            <a:endParaRPr 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1135DD-400D-9EFF-963F-2BFBCAC9D1D1}"/>
              </a:ext>
            </a:extLst>
          </p:cNvPr>
          <p:cNvSpPr txBox="1"/>
          <p:nvPr/>
        </p:nvSpPr>
        <p:spPr>
          <a:xfrm>
            <a:off x="4880712" y="4241359"/>
            <a:ext cx="16323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</a:t>
            </a:r>
            <a:r>
              <a:rPr lang="pt-BR" sz="1200" dirty="0" err="1"/>
              <a:t>GPUs</a:t>
            </a:r>
            <a:r>
              <a:rPr lang="pt-BR" sz="1200" dirty="0"/>
              <a:t> e </a:t>
            </a:r>
            <a:r>
              <a:rPr lang="pt-BR" sz="1200" dirty="0" err="1"/>
              <a:t>TPUs</a:t>
            </a:r>
            <a:r>
              <a:rPr lang="pt-BR" sz="1200" dirty="0"/>
              <a:t>)</a:t>
            </a:r>
            <a:endParaRPr 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6A1622-A2AE-F348-0B7A-91A6F5F4F2F7}"/>
              </a:ext>
            </a:extLst>
          </p:cNvPr>
          <p:cNvSpPr txBox="1"/>
          <p:nvPr/>
        </p:nvSpPr>
        <p:spPr>
          <a:xfrm>
            <a:off x="7249041" y="4197814"/>
            <a:ext cx="16323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</a:t>
            </a:r>
            <a:r>
              <a:rPr lang="pt-BR" sz="1200" dirty="0" err="1"/>
              <a:t>GPUs</a:t>
            </a:r>
            <a:r>
              <a:rPr lang="pt-BR" sz="1200" dirty="0"/>
              <a:t> móveis, </a:t>
            </a:r>
            <a:r>
              <a:rPr lang="pt-BR" sz="1200" dirty="0" err="1"/>
              <a:t>NPUs</a:t>
            </a:r>
            <a:r>
              <a:rPr lang="pt-BR" sz="1200" dirty="0"/>
              <a:t>, </a:t>
            </a:r>
            <a:r>
              <a:rPr lang="pt-BR" sz="1200" dirty="0" err="1"/>
              <a:t>DSPs</a:t>
            </a:r>
            <a:r>
              <a:rPr lang="pt-BR" sz="1200" dirty="0"/>
              <a:t>)</a:t>
            </a:r>
            <a:endParaRPr 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0CC1F87-990B-BB79-F5E6-2F280A4FF433}"/>
              </a:ext>
            </a:extLst>
          </p:cNvPr>
          <p:cNvSpPr txBox="1"/>
          <p:nvPr/>
        </p:nvSpPr>
        <p:spPr>
          <a:xfrm>
            <a:off x="7249042" y="2844852"/>
            <a:ext cx="164532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b="0" i="0" dirty="0">
                <a:solidFill>
                  <a:srgbClr val="404040"/>
                </a:solidFill>
                <a:effectLst/>
                <a:latin typeface="quote-cjk-patch"/>
              </a:rPr>
              <a:t>Android, iOS ou Linux embarcado</a:t>
            </a:r>
            <a:endParaRPr lang="en-US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EDB690B-E5A0-178B-BF39-D462A5CF3321}"/>
              </a:ext>
            </a:extLst>
          </p:cNvPr>
          <p:cNvSpPr txBox="1"/>
          <p:nvPr/>
        </p:nvSpPr>
        <p:spPr>
          <a:xfrm>
            <a:off x="9296595" y="3410727"/>
            <a:ext cx="20630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>
                <a:solidFill>
                  <a:srgbClr val="404040"/>
                </a:solidFill>
                <a:latin typeface="quote-cjk-patch"/>
              </a:rPr>
              <a:t>O</a:t>
            </a:r>
            <a:r>
              <a:rPr lang="pt-BR" sz="1200" b="0" i="0" dirty="0">
                <a:solidFill>
                  <a:srgbClr val="404040"/>
                </a:solidFill>
                <a:effectLst/>
                <a:latin typeface="quote-cjk-patch"/>
              </a:rPr>
              <a:t>timização extrema para operar com pouca RAM, evitando alocações dinâmicas</a:t>
            </a:r>
            <a:endParaRPr lang="en-US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F80A21A-FDCA-E7CE-30BA-D6CD9D544AE3}"/>
              </a:ext>
            </a:extLst>
          </p:cNvPr>
          <p:cNvSpPr txBox="1"/>
          <p:nvPr/>
        </p:nvSpPr>
        <p:spPr>
          <a:xfrm>
            <a:off x="9296595" y="4213417"/>
            <a:ext cx="212527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dirty="0">
                <a:solidFill>
                  <a:srgbClr val="404040"/>
                </a:solidFill>
                <a:effectLst/>
                <a:latin typeface="quote-cjk-patch"/>
              </a:rPr>
              <a:t>Roda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quote-cjk-patch"/>
              </a:rPr>
              <a:t>apenas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quote-cjk-patch"/>
              </a:rPr>
              <a:t> no MCU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6909774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0" name="Espaço Reservado para Conteúdo 9">
            <a:extLst>
              <a:ext uri="{FF2B5EF4-FFF2-40B4-BE49-F238E27FC236}">
                <a16:creationId xmlns:a16="http://schemas.microsoft.com/office/drawing/2014/main" id="{A36D4836-D243-4019-E226-8026610A41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151466" y="1630409"/>
            <a:ext cx="8895644" cy="3393982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FABFCA8-80AF-7911-FE28-7BB08F129841}"/>
              </a:ext>
            </a:extLst>
          </p:cNvPr>
          <p:cNvSpPr txBox="1"/>
          <p:nvPr/>
        </p:nvSpPr>
        <p:spPr>
          <a:xfrm>
            <a:off x="1151465" y="5175485"/>
            <a:ext cx="94219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Base </a:t>
            </a:r>
            <a:r>
              <a:rPr lang="pt-BR" dirty="0" err="1"/>
              <a:t>binary</a:t>
            </a:r>
            <a:r>
              <a:rPr lang="pt-BR" dirty="0"/>
              <a:t> </a:t>
            </a:r>
            <a:r>
              <a:rPr lang="pt-BR" dirty="0" err="1"/>
              <a:t>size</a:t>
            </a:r>
            <a:r>
              <a:rPr lang="pt-BR" dirty="0"/>
              <a:t>: tamanho em disco ou memória flash que a biblioteca ocupa.</a:t>
            </a:r>
          </a:p>
          <a:p>
            <a:r>
              <a:rPr lang="pt-BR" dirty="0" err="1"/>
              <a:t>Memory</a:t>
            </a:r>
            <a:r>
              <a:rPr lang="pt-BR" dirty="0"/>
              <a:t> </a:t>
            </a:r>
            <a:r>
              <a:rPr lang="pt-BR" dirty="0" err="1"/>
              <a:t>footprint</a:t>
            </a:r>
            <a:r>
              <a:rPr lang="pt-BR" dirty="0"/>
              <a:t>: quantidade total de memória RAM usada durante a execução.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69849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TensorFlow Lite pode ser usado para criar aplicações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edgeML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destinadas a uma ampla variedade de tarefas, incluindo: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Classificação de imagem: O TensorFlow Lite pode ser usado para criar modelos que classifiquem imagens.</a:t>
            </a:r>
          </a:p>
        </p:txBody>
      </p:sp>
      <p:pic>
        <p:nvPicPr>
          <p:cNvPr id="1026" name="Picture 2" descr="10 Papers You Should Read to Understand Image Classification in the Deep  Learning Era | by Ethan Yanjia Li | TDS Archive | Medium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24"/>
          <a:stretch/>
        </p:blipFill>
        <p:spPr bwMode="auto">
          <a:xfrm>
            <a:off x="1943101" y="2495238"/>
            <a:ext cx="6776357" cy="38402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80723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Detecção, rastreamento e segmentação de objetos: O TensorFlow Lite pode ser usado para criar modelos que identifiquem, segmentem e rastreiem objetos em tempo real, como carros, pessoas e animais.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Iniciando Detecção Objetos com OpenCV">
            <a:extLst>
              <a:ext uri="{FF2B5EF4-FFF2-40B4-BE49-F238E27FC236}">
                <a16:creationId xmlns:a16="http://schemas.microsoft.com/office/drawing/2014/main" id="{016F69A5-0F7D-F6FE-BD4B-32F38F497E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2978" y="2286706"/>
            <a:ext cx="5904090" cy="33210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24922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Reconhecimento de voz: O TensorFlow Lite pode ser usado para criar modelos de reconhecimento de fala, como comandos de voz e perguntas.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B41E48C3-0E68-5029-BDEC-3CE77D8AAD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2431" y="2165982"/>
            <a:ext cx="6161969" cy="3824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6134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Processamento de linguagem natural: O TensorFlow Lite pode ser usado para criar modelos que entendam texto, como perguntas e solicitações.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6D4BDE6-F027-E85C-A935-9890F5274C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8897" y="2185177"/>
            <a:ext cx="5962650" cy="3333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16972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Análise de vídeo: O TensorFlow Lite pode ser usado para criar modelos que analisem vídeos para detectar objetos, pessoas e comportamentos.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2050" name="Picture 2" descr="27+ Most Popular Computer Vision Applications in 2023">
            <a:extLst>
              <a:ext uri="{FF2B5EF4-FFF2-40B4-BE49-F238E27FC236}">
                <a16:creationId xmlns:a16="http://schemas.microsoft.com/office/drawing/2014/main" id="{A0FC0AFF-A6AC-404C-03F5-AED3DD1022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8015" y="2230212"/>
            <a:ext cx="7527273" cy="3585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821061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998529" cy="5023757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dirty="0"/>
              <a:t>Um modelo do TensorFlow Lite é representado em um </a:t>
            </a:r>
            <a:r>
              <a:rPr lang="pt-BR" b="1" i="1" dirty="0">
                <a:solidFill>
                  <a:schemeClr val="accent1"/>
                </a:solidFill>
              </a:rPr>
              <a:t>formato aberto e eficiente </a:t>
            </a:r>
            <a:r>
              <a:rPr lang="pt-BR" dirty="0"/>
              <a:t>conhecido como </a:t>
            </a:r>
            <a:r>
              <a:rPr lang="pt-BR" b="1" i="1" dirty="0" err="1">
                <a:solidFill>
                  <a:srgbClr val="7030A0"/>
                </a:solidFill>
              </a:rPr>
              <a:t>FlatBuffers</a:t>
            </a:r>
            <a:r>
              <a:rPr lang="pt-BR" dirty="0"/>
              <a:t>, identificado pela extensão de arquivo .</a:t>
            </a:r>
            <a:r>
              <a:rPr lang="pt-BR" dirty="0" err="1"/>
              <a:t>tflite</a:t>
            </a:r>
            <a:r>
              <a:rPr lang="pt-BR" dirty="0"/>
              <a:t>.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dirty="0" err="1"/>
              <a:t>FlatBuffers</a:t>
            </a:r>
            <a:r>
              <a:rPr lang="pt-BR" dirty="0"/>
              <a:t>: biblioteca e formato d</a:t>
            </a:r>
            <a:r>
              <a:rPr lang="pt-BR" b="0" i="0" dirty="0">
                <a:effectLst/>
              </a:rPr>
              <a:t>esenvolvidos pelo Google.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dirty="0"/>
              <a:t>É uma biblioteca de </a:t>
            </a:r>
            <a:r>
              <a:rPr lang="pt-BR" b="1" i="1" dirty="0">
                <a:solidFill>
                  <a:srgbClr val="00B050"/>
                </a:solidFill>
              </a:rPr>
              <a:t>serialização</a:t>
            </a:r>
            <a:r>
              <a:rPr lang="pt-BR" dirty="0"/>
              <a:t> </a:t>
            </a:r>
            <a:r>
              <a:rPr lang="pt-BR" dirty="0" err="1"/>
              <a:t>multiplataforma</a:t>
            </a:r>
            <a:r>
              <a:rPr lang="pt-BR" dirty="0"/>
              <a:t> eficiente para C++, C, Python, etc.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b="1" dirty="0"/>
              <a:t>Biblioteca que converte objetos em um formato que possa ser armazenado ou transmitido</a:t>
            </a:r>
            <a:r>
              <a:rPr lang="pt-BR" dirty="0"/>
              <a:t>.</a:t>
            </a:r>
            <a:endParaRPr lang="pt-BR" b="0" i="0" dirty="0">
              <a:effectLst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b="0" i="0" dirty="0" err="1">
                <a:effectLst/>
              </a:rPr>
              <a:t>Flatbuffers</a:t>
            </a:r>
            <a:r>
              <a:rPr lang="pt-BR" b="0" i="0" dirty="0">
                <a:effectLst/>
              </a:rPr>
              <a:t> é especialmente útil em cenários em que a </a:t>
            </a:r>
            <a:r>
              <a:rPr lang="pt-BR" b="1" i="1" dirty="0">
                <a:solidFill>
                  <a:schemeClr val="accent6"/>
                </a:solidFill>
                <a:effectLst/>
              </a:rPr>
              <a:t>velocidade de transferência e o tamanho compacto dos dados são essenciais</a:t>
            </a:r>
            <a:r>
              <a:rPr lang="pt-BR" b="0" i="0" dirty="0">
                <a:effectLst/>
              </a:rPr>
              <a:t>, como jogos, aplicativos móveis e sistemas de comunicação de rede.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882093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Lite: Geração de modelos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Usando um </a:t>
            </a:r>
            <a:r>
              <a:rPr lang="pt-BR" sz="20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modelo existente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do TensorFlow Lite: consulte os exemplos de TensorFlow Lite para escolher um modelo existente. Os modelos podem ou não conter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metadados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*.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2D00DCBC-E4E6-D605-D704-02B8108A92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6288" y="2855584"/>
            <a:ext cx="7303911" cy="3110135"/>
          </a:xfrm>
          <a:prstGeom prst="rect">
            <a:avLst/>
          </a:prstGeom>
        </p:spPr>
      </p:pic>
      <p:sp>
        <p:nvSpPr>
          <p:cNvPr id="5" name="Retângulo 4"/>
          <p:cNvSpPr/>
          <p:nvPr/>
        </p:nvSpPr>
        <p:spPr>
          <a:xfrm>
            <a:off x="2496207" y="6215969"/>
            <a:ext cx="695259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>
                <a:hlinkClick r:id="rId4"/>
              </a:rPr>
              <a:t>https://github.com/tensorflow/examples/tree/master/lite</a:t>
            </a:r>
            <a:endParaRPr lang="pt-BR" dirty="0"/>
          </a:p>
        </p:txBody>
      </p:sp>
      <p:sp>
        <p:nvSpPr>
          <p:cNvPr id="8" name="Retângulo 7"/>
          <p:cNvSpPr/>
          <p:nvPr/>
        </p:nvSpPr>
        <p:spPr>
          <a:xfrm>
            <a:off x="9600389" y="3175105"/>
            <a:ext cx="2433768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200" dirty="0"/>
              <a:t>*Os </a:t>
            </a:r>
            <a:r>
              <a:rPr lang="pt-BR" sz="1200" dirty="0" err="1"/>
              <a:t>metadados</a:t>
            </a:r>
            <a:r>
              <a:rPr lang="pt-BR" sz="1200" dirty="0"/>
              <a:t> do modelo contêm informações gerais do modelo (autor, versão, propósito, licença), dimensões esperadas das entradas/saídas, tipo dos dados (</a:t>
            </a:r>
            <a:r>
              <a:rPr lang="pt-BR" sz="1200" dirty="0" err="1"/>
              <a:t>float</a:t>
            </a:r>
            <a:r>
              <a:rPr lang="pt-BR" sz="1200" dirty="0"/>
              <a:t>, </a:t>
            </a:r>
            <a:r>
              <a:rPr lang="pt-BR" sz="1200" dirty="0" err="1"/>
              <a:t>int</a:t>
            </a:r>
            <a:r>
              <a:rPr lang="pt-BR" sz="1200" dirty="0"/>
              <a:t>), descrição das saídas, mapeamento dos rótulos em classes, taxa de amostragem de áudio, etc. o que torna o modelo </a:t>
            </a:r>
            <a:r>
              <a:rPr lang="pt-BR" sz="1200" dirty="0" err="1"/>
              <a:t>autodescritivo</a:t>
            </a:r>
            <a:r>
              <a:rPr lang="pt-BR" sz="1200" dirty="0"/>
              <a:t> e intercambiável.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6524333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76528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Criando um modelo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do TensorFlow Lite: use o </a:t>
            </a:r>
            <a:r>
              <a:rPr lang="pt-BR" sz="2000" b="1" i="1" dirty="0">
                <a:solidFill>
                  <a:schemeClr val="accent1"/>
                </a:solidFill>
                <a:ea typeface="Calibri" panose="020F0502020204030204" pitchFamily="34" charset="0"/>
                <a:cs typeface="Arial" panose="020B0604020202020204" pitchFamily="34" charset="0"/>
              </a:rPr>
              <a:t>TensorFlow Lite Model </a:t>
            </a:r>
            <a:r>
              <a:rPr lang="pt-BR" sz="2000" b="1" i="1" dirty="0" err="1">
                <a:solidFill>
                  <a:schemeClr val="accent1"/>
                </a:solidFill>
                <a:ea typeface="Calibri" panose="020F0502020204030204" pitchFamily="34" charset="0"/>
                <a:cs typeface="Arial" panose="020B0604020202020204" pitchFamily="34" charset="0"/>
              </a:rPr>
              <a:t>Maker</a:t>
            </a:r>
            <a:r>
              <a:rPr lang="pt-BR" sz="2000" b="1" i="1" dirty="0">
                <a:solidFill>
                  <a:schemeClr val="accent1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para criar um modelo com seu próprio conjunto de dados personalizado.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Por padrão, todos os modelos contêm metadados*.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Usa </a:t>
            </a:r>
            <a:r>
              <a:rPr lang="pt-BR" sz="2000" b="1" i="1" dirty="0" err="1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transfer</a:t>
            </a:r>
            <a:r>
              <a:rPr lang="pt-BR" sz="20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2000" b="1" i="1" dirty="0" err="1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learning</a:t>
            </a:r>
            <a:r>
              <a:rPr lang="pt-BR" sz="20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para reduzir a quantidade de dados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treinamento necessários e </a:t>
            </a:r>
            <a:r>
              <a:rPr lang="pt-BR" sz="2000" b="1" i="1" dirty="0">
                <a:solidFill>
                  <a:schemeClr val="accent6"/>
                </a:solidFill>
                <a:ea typeface="Calibri" panose="020F0502020204030204" pitchFamily="34" charset="0"/>
                <a:cs typeface="Arial" panose="020B0604020202020204" pitchFamily="34" charset="0"/>
              </a:rPr>
              <a:t>reduzir o tempo de treinamento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3"/>
              </a:rPr>
              <a:t>https://www.tensorflow.org/lite/models/modify/model_maker?hl=pt-br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93292B-A3D0-990C-7B97-23D946E61168}"/>
              </a:ext>
            </a:extLst>
          </p:cNvPr>
          <p:cNvSpPr txBox="1"/>
          <p:nvPr/>
        </p:nvSpPr>
        <p:spPr>
          <a:xfrm>
            <a:off x="2755359" y="5929622"/>
            <a:ext cx="609437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/>
              <a:t>*Os metadados do modelo contêm informações gerais do modelo (autor, versão, propósito, licença), dimensões esperadas das entradas/saídas, tipo dos dados (</a:t>
            </a:r>
            <a:r>
              <a:rPr lang="pt-BR" sz="1200" dirty="0" err="1"/>
              <a:t>float</a:t>
            </a:r>
            <a:r>
              <a:rPr lang="pt-BR" sz="1200" dirty="0"/>
              <a:t>, </a:t>
            </a:r>
            <a:r>
              <a:rPr lang="pt-BR" sz="1200" dirty="0" err="1"/>
              <a:t>int</a:t>
            </a:r>
            <a:r>
              <a:rPr lang="pt-BR" sz="1200" dirty="0"/>
              <a:t>), descrição das saídas, mapeamento dos rótulos em classes, taxa de amostragem de áudio, etc. o que torna o modelo </a:t>
            </a:r>
            <a:r>
              <a:rPr lang="pt-BR" sz="1200" dirty="0" err="1"/>
              <a:t>autodescritivo</a:t>
            </a:r>
            <a:r>
              <a:rPr lang="pt-BR" sz="1200" dirty="0"/>
              <a:t> e intercambiável.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5255696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32933"/>
            <a:ext cx="1034142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b="1" i="1" dirty="0">
                <a:solidFill>
                  <a:schemeClr val="accent6"/>
                </a:solidFill>
                <a:ea typeface="Calibri" panose="020F0502020204030204" pitchFamily="34" charset="0"/>
                <a:cs typeface="Arial" panose="020B0604020202020204" pitchFamily="34" charset="0"/>
              </a:rPr>
              <a:t>Convertendo um modelo do TensorFlow em um do TensorFlow Lite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: use o </a:t>
            </a:r>
            <a:r>
              <a:rPr lang="pt-BR" sz="20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TensorFlow Lite Converter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converter modelos. Durante a conversão, você pode </a:t>
            </a:r>
            <a:r>
              <a:rPr lang="pt-BR" sz="2000" b="1" i="1" dirty="0">
                <a:solidFill>
                  <a:schemeClr val="accent1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aplicar otimizações como a quantização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diminuir o tamanho e a latência do modelo com pouca ou nenhuma perda na acurácia. Por padrão, nenhum dos modelos contém metadados.</a:t>
            </a:r>
          </a:p>
        </p:txBody>
      </p:sp>
      <p:pic>
        <p:nvPicPr>
          <p:cNvPr id="3074" name="Picture 2" descr="Conversor do TensorFlow Lite">
            <a:extLst>
              <a:ext uri="{FF2B5EF4-FFF2-40B4-BE49-F238E27FC236}">
                <a16:creationId xmlns:a16="http://schemas.microsoft.com/office/drawing/2014/main" id="{F2857146-E0AC-CAA4-F70C-A96D028762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9190" y="2857369"/>
            <a:ext cx="4034895" cy="4000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9657A0F-79B2-55C4-2A40-58802A2AFF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3325" y="3060191"/>
            <a:ext cx="1911085" cy="305048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1453205-7E82-15DA-4AA0-5C630D24D2E2}"/>
              </a:ext>
            </a:extLst>
          </p:cNvPr>
          <p:cNvSpPr txBox="1"/>
          <p:nvPr/>
        </p:nvSpPr>
        <p:spPr>
          <a:xfrm>
            <a:off x="2490281" y="4957769"/>
            <a:ext cx="18930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Pronto para uso em Python</a:t>
            </a:r>
            <a:endParaRPr 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2B2C35-3BA4-C4F5-32E9-89F212A2DC7A}"/>
              </a:ext>
            </a:extLst>
          </p:cNvPr>
          <p:cNvSpPr txBox="1"/>
          <p:nvPr/>
        </p:nvSpPr>
        <p:spPr>
          <a:xfrm>
            <a:off x="2593932" y="5383183"/>
            <a:ext cx="1685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00" dirty="0"/>
              <a:t>Pronto para uso em C++</a:t>
            </a:r>
          </a:p>
          <a:p>
            <a:pPr algn="ctr"/>
            <a:r>
              <a:rPr lang="pt-BR" sz="1200" dirty="0"/>
              <a:t>(</a:t>
            </a:r>
            <a:r>
              <a:rPr lang="pt-BR" sz="1200" dirty="0" err="1"/>
              <a:t>flatbuffer</a:t>
            </a:r>
            <a:r>
              <a:rPr lang="pt-BR" sz="1200" dirty="0"/>
              <a:t>)</a:t>
            </a:r>
            <a:endParaRPr lang="en-US" sz="1200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2ACEF39-F9F7-6CF8-B88C-D9073EF5AB19}"/>
              </a:ext>
            </a:extLst>
          </p:cNvPr>
          <p:cNvCxnSpPr>
            <a:stCxn id="5" idx="3"/>
          </p:cNvCxnSpPr>
          <p:nvPr/>
        </p:nvCxnSpPr>
        <p:spPr>
          <a:xfrm flipV="1">
            <a:off x="4383300" y="5096268"/>
            <a:ext cx="344343" cy="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9C51E97-BFBA-B423-560F-BA994AAEDC6E}"/>
              </a:ext>
            </a:extLst>
          </p:cNvPr>
          <p:cNvCxnSpPr/>
          <p:nvPr/>
        </p:nvCxnSpPr>
        <p:spPr>
          <a:xfrm flipV="1">
            <a:off x="4371920" y="5581160"/>
            <a:ext cx="344343" cy="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93720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582E9589-8177-29E1-55FB-2378173837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224514" y="2142361"/>
            <a:ext cx="8855207" cy="2979678"/>
          </a:xfr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3E2FA7D6-384A-F9CA-866B-DFF3096B442E}"/>
              </a:ext>
            </a:extLst>
          </p:cNvPr>
          <p:cNvSpPr txBox="1"/>
          <p:nvPr/>
        </p:nvSpPr>
        <p:spPr>
          <a:xfrm>
            <a:off x="768085" y="1267246"/>
            <a:ext cx="8855206" cy="388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800">
                <a:ea typeface="Calibri" panose="020F0502020204030204" pitchFamily="34" charset="0"/>
                <a:cs typeface="Arial" panose="020B0604020202020204" pitchFamily="34" charset="0"/>
              </a:rPr>
              <a:t>Quando se utiliza </a:t>
            </a: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outros frameworks é necessário converter primeiro para o TensorFlow.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596F07-3DD5-5330-6E2A-215F0FABF265}"/>
              </a:ext>
            </a:extLst>
          </p:cNvPr>
          <p:cNvSpPr txBox="1"/>
          <p:nvPr/>
        </p:nvSpPr>
        <p:spPr>
          <a:xfrm>
            <a:off x="2657475" y="3705225"/>
            <a:ext cx="31667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dirty="0"/>
              <a:t>ONNX</a:t>
            </a:r>
          </a:p>
          <a:p>
            <a:pPr algn="ctr"/>
            <a:r>
              <a:rPr lang="pt-BR" dirty="0"/>
              <a:t>Transferência manual dos pesos</a:t>
            </a:r>
            <a:endParaRPr lang="en-US" dirty="0"/>
          </a:p>
        </p:txBody>
      </p:sp>
      <p:sp>
        <p:nvSpPr>
          <p:cNvPr id="5" name="Retângulo 4"/>
          <p:cNvSpPr/>
          <p:nvPr/>
        </p:nvSpPr>
        <p:spPr>
          <a:xfrm>
            <a:off x="1814285" y="5352971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pt-BR" sz="1200" dirty="0">
                <a:solidFill>
                  <a:srgbClr val="404040"/>
                </a:solidFill>
                <a:latin typeface="DeepSeek-CJK-patch"/>
              </a:rPr>
              <a:t>O ONNX (Open Neural Network Exchange) é um </a:t>
            </a:r>
            <a:r>
              <a:rPr lang="pt-BR" sz="1200" b="1" i="1" dirty="0">
                <a:solidFill>
                  <a:schemeClr val="accent1"/>
                </a:solidFill>
                <a:latin typeface="DeepSeek-CJK-patch"/>
              </a:rPr>
              <a:t>formato aberto </a:t>
            </a:r>
            <a:r>
              <a:rPr lang="pt-BR" sz="1200" dirty="0">
                <a:solidFill>
                  <a:srgbClr val="404040"/>
                </a:solidFill>
                <a:latin typeface="DeepSeek-CJK-patch"/>
              </a:rPr>
              <a:t>que padroniza modelos de </a:t>
            </a:r>
            <a:r>
              <a:rPr lang="pt-BR" sz="1200" i="1" dirty="0" err="1">
                <a:solidFill>
                  <a:srgbClr val="404040"/>
                </a:solidFill>
                <a:latin typeface="DeepSeek-CJK-patch"/>
              </a:rPr>
              <a:t>machine</a:t>
            </a:r>
            <a:r>
              <a:rPr lang="pt-BR" sz="1200" i="1" dirty="0">
                <a:solidFill>
                  <a:srgbClr val="404040"/>
                </a:solidFill>
                <a:latin typeface="DeepSeek-CJK-patch"/>
              </a:rPr>
              <a:t> </a:t>
            </a:r>
            <a:r>
              <a:rPr lang="pt-BR" sz="1200" i="1" dirty="0" err="1">
                <a:solidFill>
                  <a:srgbClr val="404040"/>
                </a:solidFill>
                <a:latin typeface="DeepSeek-CJK-patch"/>
              </a:rPr>
              <a:t>learning</a:t>
            </a:r>
            <a:r>
              <a:rPr lang="pt-BR" sz="1200" dirty="0">
                <a:solidFill>
                  <a:srgbClr val="404040"/>
                </a:solidFill>
                <a:latin typeface="DeepSeek-CJK-patch"/>
              </a:rPr>
              <a:t>, permitindo </a:t>
            </a:r>
            <a:r>
              <a:rPr lang="pt-BR" sz="1200" b="1" i="1" dirty="0">
                <a:solidFill>
                  <a:schemeClr val="accent1"/>
                </a:solidFill>
                <a:latin typeface="DeepSeek-CJK-patch"/>
              </a:rPr>
              <a:t>interoperabilidade entre frameworks </a:t>
            </a:r>
            <a:r>
              <a:rPr lang="pt-BR" sz="1200" dirty="0">
                <a:solidFill>
                  <a:srgbClr val="404040"/>
                </a:solidFill>
                <a:latin typeface="DeepSeek-CJK-patch"/>
              </a:rPr>
              <a:t>como TensorFlow e </a:t>
            </a:r>
            <a:r>
              <a:rPr lang="pt-BR" sz="1200" dirty="0" err="1">
                <a:solidFill>
                  <a:srgbClr val="404040"/>
                </a:solidFill>
                <a:latin typeface="DeepSeek-CJK-patch"/>
              </a:rPr>
              <a:t>PyTorch</a:t>
            </a:r>
            <a:r>
              <a:rPr lang="pt-BR" sz="1200" dirty="0">
                <a:solidFill>
                  <a:srgbClr val="404040"/>
                </a:solidFill>
                <a:latin typeface="DeepSeek-CJK-patch"/>
              </a:rPr>
              <a:t>, sem necessidade de </a:t>
            </a:r>
            <a:r>
              <a:rPr lang="pt-BR" sz="1200" dirty="0" err="1">
                <a:solidFill>
                  <a:srgbClr val="404040"/>
                </a:solidFill>
                <a:latin typeface="DeepSeek-CJK-patch"/>
              </a:rPr>
              <a:t>reimplementação</a:t>
            </a:r>
            <a:r>
              <a:rPr lang="pt-BR" sz="1200" dirty="0">
                <a:solidFill>
                  <a:srgbClr val="404040"/>
                </a:solidFill>
                <a:latin typeface="DeepSeek-CJK-patch"/>
              </a:rPr>
              <a:t>.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33850919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104900"/>
            <a:ext cx="9820275" cy="3934178"/>
          </a:xfrm>
        </p:spPr>
        <p:txBody>
          <a:bodyPr>
            <a:normAutofit/>
          </a:bodyPr>
          <a:lstStyle/>
          <a:p>
            <a:r>
              <a:rPr lang="pt-BR" dirty="0"/>
              <a:t>Como modelos do </a:t>
            </a:r>
            <a:r>
              <a:rPr lang="pt-BR" dirty="0" err="1"/>
              <a:t>tensorflow</a:t>
            </a:r>
            <a:r>
              <a:rPr lang="pt-BR" dirty="0"/>
              <a:t> lite rodam em dispositivos com restrições computacionais?</a:t>
            </a:r>
          </a:p>
          <a:p>
            <a:r>
              <a:rPr lang="pt-BR" dirty="0"/>
              <a:t>Aplicando operações de </a:t>
            </a:r>
          </a:p>
          <a:p>
            <a:pPr lvl="1"/>
            <a:r>
              <a:rPr lang="pt-BR" dirty="0"/>
              <a:t>Quantização,</a:t>
            </a:r>
          </a:p>
          <a:p>
            <a:pPr lvl="1"/>
            <a:r>
              <a:rPr lang="pt-BR" dirty="0"/>
              <a:t>Clusterização,</a:t>
            </a:r>
          </a:p>
          <a:p>
            <a:pPr lvl="1"/>
            <a:r>
              <a:rPr lang="pt-BR" dirty="0"/>
              <a:t>Poda,</a:t>
            </a:r>
          </a:p>
          <a:p>
            <a:pPr lvl="1"/>
            <a:r>
              <a:rPr lang="pt-BR" dirty="0"/>
              <a:t>Etc.</a:t>
            </a:r>
          </a:p>
          <a:p>
            <a:pPr lvl="1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294471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216444" cy="3934178"/>
          </a:xfrm>
        </p:spPr>
        <p:txBody>
          <a:bodyPr>
            <a:normAutofit/>
          </a:bodyPr>
          <a:lstStyle/>
          <a:p>
            <a:r>
              <a:rPr lang="pt-BR" dirty="0"/>
              <a:t>Existem diferentes maneiras de podar uma rede neural.</a:t>
            </a:r>
          </a:p>
          <a:p>
            <a:pPr lvl="1"/>
            <a:r>
              <a:rPr lang="pt-BR" dirty="0"/>
              <a:t> (1) Você pode podar pesos. Isso é feito removendo pesos com </a:t>
            </a:r>
            <a:r>
              <a:rPr lang="pt-BR" b="1" i="1" dirty="0">
                <a:solidFill>
                  <a:schemeClr val="accent1"/>
                </a:solidFill>
              </a:rPr>
              <a:t>valores absolutos próximos de zero</a:t>
            </a:r>
            <a:r>
              <a:rPr lang="pt-BR" dirty="0"/>
              <a:t>, tornando a rede </a:t>
            </a:r>
            <a:r>
              <a:rPr lang="pt-BR" b="1" i="1" dirty="0">
                <a:solidFill>
                  <a:srgbClr val="FF0000"/>
                </a:solidFill>
              </a:rPr>
              <a:t>esparsa</a:t>
            </a:r>
            <a:r>
              <a:rPr lang="pt-BR" dirty="0"/>
              <a:t>. </a:t>
            </a:r>
          </a:p>
          <a:p>
            <a:pPr lvl="1"/>
            <a:r>
              <a:rPr lang="pt-BR" dirty="0"/>
              <a:t> (2) Você pode remover nós inteiros da rede. </a:t>
            </a:r>
          </a:p>
          <a:p>
            <a:pPr lvl="1"/>
            <a:r>
              <a:rPr lang="pt-BR" dirty="0"/>
              <a:t>Em ambos os casos, (1) e (2), reduz-se o número de parâmetros no modelo.</a:t>
            </a:r>
          </a:p>
          <a:p>
            <a:pPr marL="304815" lvl="1" indent="0">
              <a:buNone/>
            </a:pPr>
            <a:endParaRPr lang="pt-BR" dirty="0"/>
          </a:p>
          <a:p>
            <a:pPr marL="381001" indent="-342900"/>
            <a:r>
              <a:rPr lang="pt-BR" dirty="0"/>
              <a:t>(1) é implementado </a:t>
            </a:r>
            <a:r>
              <a:rPr lang="pt-BR" b="1" i="1" dirty="0">
                <a:solidFill>
                  <a:schemeClr val="accent1"/>
                </a:solidFill>
              </a:rPr>
              <a:t>removendo-se todos os pesos </a:t>
            </a:r>
            <a:r>
              <a:rPr lang="pt-BR" dirty="0"/>
              <a:t>que tenham </a:t>
            </a:r>
            <a:r>
              <a:rPr lang="pt-BR" b="1" i="1" dirty="0">
                <a:solidFill>
                  <a:srgbClr val="7030A0"/>
                </a:solidFill>
              </a:rPr>
              <a:t>valor absoluto abaixo de um determinado limiar</a:t>
            </a:r>
            <a:r>
              <a:rPr lang="pt-BR" dirty="0"/>
              <a:t>.</a:t>
            </a:r>
          </a:p>
        </p:txBody>
      </p:sp>
      <p:pic>
        <p:nvPicPr>
          <p:cNvPr id="4" name="Espaço Reservado para Conteúdo 12">
            <a:extLst>
              <a:ext uri="{FF2B5EF4-FFF2-40B4-BE49-F238E27FC236}">
                <a16:creationId xmlns:a16="http://schemas.microsoft.com/office/drawing/2014/main" id="{FD634656-5BF5-2BC4-E1C6-C77FEE17F3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1299" y="4184270"/>
            <a:ext cx="6079989" cy="2557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1785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258711"/>
            <a:ext cx="10216444" cy="3934178"/>
          </a:xfrm>
        </p:spPr>
        <p:txBody>
          <a:bodyPr>
            <a:normAutofit/>
          </a:bodyPr>
          <a:lstStyle/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Ao invés de remover apenas pesos, as ativações durante o treinamento podem ser usadas como critério para remoção. 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Em (2), ao apresentar um conjunto de dados à rede, certas estatísticas das ativações podem ser observadas.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Você pode observar que alguns neurônios sempre produzem valores próximos de zero.</a:t>
            </a:r>
          </a:p>
        </p:txBody>
      </p:sp>
    </p:spTree>
    <p:extLst>
      <p:ext uri="{BB962C8B-B14F-4D97-AF65-F5344CB8AC3E}">
        <p14:creationId xmlns:p14="http://schemas.microsoft.com/office/powerpoint/2010/main" val="36902842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216444" cy="3934178"/>
          </a:xfrm>
        </p:spPr>
        <p:txBody>
          <a:bodyPr>
            <a:normAutofit/>
          </a:bodyPr>
          <a:lstStyle/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Se dois neurônios em uma mesma camada tiverem </a:t>
            </a:r>
            <a:r>
              <a:rPr lang="pt-BR" b="1" i="1" dirty="0">
                <a:solidFill>
                  <a:srgbClr val="7030A0"/>
                </a:solidFill>
                <a:effectLst/>
                <a:latin typeface="source-serif-pro"/>
              </a:rPr>
              <a:t>pesos muito semelhantes</a:t>
            </a:r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, isso pode significar que eles estão fazendo a mesma coisa. 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Assim, a </a:t>
            </a:r>
            <a:r>
              <a:rPr lang="pt-BR" b="1" i="1" dirty="0">
                <a:solidFill>
                  <a:srgbClr val="7030A0"/>
                </a:solidFill>
                <a:effectLst/>
                <a:latin typeface="source-serif-pro"/>
              </a:rPr>
              <a:t>redundância de pesos</a:t>
            </a:r>
            <a:r>
              <a:rPr lang="pt-BR" b="1" i="1" dirty="0">
                <a:solidFill>
                  <a:srgbClr val="242424"/>
                </a:solidFill>
                <a:effectLst/>
                <a:latin typeface="source-serif-pro"/>
              </a:rPr>
              <a:t> </a:t>
            </a:r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pode significar que </a:t>
            </a:r>
            <a:r>
              <a:rPr lang="pt-BR" b="1" i="1" dirty="0">
                <a:solidFill>
                  <a:srgbClr val="7030A0"/>
                </a:solidFill>
                <a:effectLst/>
                <a:latin typeface="source-serif-pro"/>
              </a:rPr>
              <a:t>um neurônio pode ser removido</a:t>
            </a:r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.</a:t>
            </a:r>
            <a:endParaRPr lang="pt-BR" dirty="0"/>
          </a:p>
        </p:txBody>
      </p:sp>
      <p:pic>
        <p:nvPicPr>
          <p:cNvPr id="4" name="Espaço Reservado para Conteúdo 9">
            <a:extLst>
              <a:ext uri="{FF2B5EF4-FFF2-40B4-BE49-F238E27FC236}">
                <a16:creationId xmlns:a16="http://schemas.microsoft.com/office/drawing/2014/main" id="{7090F274-8A04-97E4-143C-838E33ABD3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4844" y="2191685"/>
            <a:ext cx="9539111" cy="3468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97682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 quantização é uma otimização que funciona </a:t>
            </a:r>
            <a:r>
              <a:rPr lang="pt-BR" sz="20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reduzindo a precisão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dos números usados para representar os parâmetros de um modelo, que por padrão são números em ponto flutuante de 32 bits (4 bytes).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1BAEEA87-F627-65F5-4E21-A51298EDC2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5604" y="2769495"/>
            <a:ext cx="3266974" cy="3021705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E8522154-127B-CB62-B177-FCDB739B0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7600" y="2653752"/>
            <a:ext cx="2906919" cy="3137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1323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 operação de quantização não é reversível, i.e., </a:t>
            </a:r>
            <a:r>
              <a:rPr lang="pt-BR" sz="20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perde-se informação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Imagem Lena quantizada em 16, 8, 4 e 2 bits/pixel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44919B43-A8D0-0E72-BC89-A94FC118B0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9582" y="2155856"/>
            <a:ext cx="5029636" cy="4519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84380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de perda de precisão pela quantização.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5188D633-0B89-9550-96D0-D8140F2D4E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836" y="1748644"/>
            <a:ext cx="8687553" cy="33607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38F561E-4030-950D-91DB-81E5C41C9421}"/>
              </a:ext>
            </a:extLst>
          </p:cNvPr>
          <p:cNvSpPr txBox="1"/>
          <p:nvPr/>
        </p:nvSpPr>
        <p:spPr>
          <a:xfrm>
            <a:off x="827111" y="2400300"/>
            <a:ext cx="22875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Modelos usados para classificação de imagens</a:t>
            </a:r>
            <a:endParaRPr 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C5B96F-73BD-429B-71E5-8661533D743E}"/>
              </a:ext>
            </a:extLst>
          </p:cNvPr>
          <p:cNvSpPr txBox="1"/>
          <p:nvPr/>
        </p:nvSpPr>
        <p:spPr>
          <a:xfrm>
            <a:off x="10105585" y="4448307"/>
            <a:ext cx="119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98 MB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A6F76D-EEE4-F7C7-DB21-371215EE3178}"/>
              </a:ext>
            </a:extLst>
          </p:cNvPr>
          <p:cNvSpPr txBox="1"/>
          <p:nvPr/>
        </p:nvSpPr>
        <p:spPr>
          <a:xfrm>
            <a:off x="10105585" y="3800607"/>
            <a:ext cx="119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12529"/>
                </a:solidFill>
                <a:latin typeface="Montserrat" panose="00000500000000000000" pitchFamily="2" charset="0"/>
              </a:rPr>
              <a:t>14</a:t>
            </a:r>
            <a:r>
              <a:rPr lang="en-US" b="0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 MB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B5392F-2564-6355-6CE3-C581E8DD87ED}"/>
              </a:ext>
            </a:extLst>
          </p:cNvPr>
          <p:cNvSpPr txBox="1"/>
          <p:nvPr/>
        </p:nvSpPr>
        <p:spPr>
          <a:xfrm>
            <a:off x="10096060" y="3116950"/>
            <a:ext cx="119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12529"/>
                </a:solidFill>
                <a:latin typeface="Montserrat" panose="00000500000000000000" pitchFamily="2" charset="0"/>
              </a:rPr>
              <a:t>16</a:t>
            </a:r>
            <a:r>
              <a:rPr lang="en-US" b="0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 MB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51199C5-EBE8-B6E1-6D4C-47C8FEC021AD}"/>
              </a:ext>
            </a:extLst>
          </p:cNvPr>
          <p:cNvSpPr txBox="1"/>
          <p:nvPr/>
        </p:nvSpPr>
        <p:spPr>
          <a:xfrm>
            <a:off x="9600389" y="2178903"/>
            <a:ext cx="20919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i="0" dirty="0" err="1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Tamanho</a:t>
            </a:r>
            <a:r>
              <a:rPr lang="en-US" b="1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 antes da </a:t>
            </a:r>
            <a:r>
              <a:rPr lang="en-US" b="1" i="0" dirty="0" err="1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quantização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073923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TensorFlow Lite Micro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816974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TensorFlow Lite for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Microcontrollers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(TFLM, abreviadamente) foi projetado para executar modelos de aprendizado de máquina em microcontroladores e outros </a:t>
            </a:r>
            <a:r>
              <a:rPr lang="pt-BR" sz="20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dispositivos com grandes restrições computacionais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Ao contrário de processadores móveis de alto desempenho (como a série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Cortex-A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), os microcontroladores (série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-M ou ESP32) têm restrições computacionais e baixo consumo de energia e são usados em produtos como sensores, geladeiras, máquinas de lavar, etc.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092254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TensorFlow Lite Micro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682247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para microcontroladores é </a:t>
            </a:r>
            <a:r>
              <a:rPr lang="pt-BR" sz="20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escrito em C++ 11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 requer uma plataforma de </a:t>
            </a:r>
            <a:r>
              <a:rPr lang="pt-BR" sz="20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32 bits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foi testado extensivamente em diversos processadores e microcontroladores baseados na arquitetura ARM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-M e foi portado para outras arquiteturas, incluindo ESP32, RISC-V 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Hexagon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framework também está disponível como uma </a:t>
            </a:r>
            <a:r>
              <a:rPr lang="pt-BR" sz="20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biblioteca para o Arduino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também pode gerar projetos para ambientes de desenvolvimento como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Mbed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 err="1">
                <a:ea typeface="Calibri" panose="020F0502020204030204" pitchFamily="34" charset="0"/>
                <a:cs typeface="Arial" panose="020B0604020202020204" pitchFamily="34" charset="0"/>
              </a:rPr>
              <a:t>Mbed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 é uma </a:t>
            </a:r>
            <a:r>
              <a:rPr lang="pt-BR" sz="1734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plataforma de desenvolvimento 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e </a:t>
            </a:r>
            <a:r>
              <a:rPr lang="pt-BR" sz="1734" b="1" i="1" dirty="0">
                <a:solidFill>
                  <a:srgbClr val="0070C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sistema operacional 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para dispositivos IoT baseados em microcontroladores ARM </a:t>
            </a:r>
            <a:r>
              <a:rPr lang="pt-BR" sz="1734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-M de 32 bits.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é de código aberto e pode ser incluído em qualquer projeto C++ 11.</a:t>
            </a:r>
          </a:p>
        </p:txBody>
      </p:sp>
    </p:spTree>
    <p:extLst>
      <p:ext uri="{BB962C8B-B14F-4D97-AF65-F5344CB8AC3E}">
        <p14:creationId xmlns:p14="http://schemas.microsoft.com/office/powerpoint/2010/main" val="85262491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usando o seno de um ângulo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37590F3D-5B48-A87A-562A-0F137E253E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9265" y="1647990"/>
            <a:ext cx="6854114" cy="4645566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1329" y="1059175"/>
            <a:ext cx="1722269" cy="34293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E8E8FCC-49C4-82CC-F70E-1666385CF89E}"/>
              </a:ext>
            </a:extLst>
          </p:cNvPr>
          <p:cNvSpPr txBox="1"/>
          <p:nvPr/>
        </p:nvSpPr>
        <p:spPr>
          <a:xfrm>
            <a:off x="2947211" y="6442397"/>
            <a:ext cx="60943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solidFill>
                  <a:srgbClr val="7030A0"/>
                </a:solidFill>
                <a:hlinkClick r:id="rId6"/>
              </a:rPr>
              <a:t>Exemplo: </a:t>
            </a:r>
            <a:r>
              <a:rPr lang="pt-BR" dirty="0" err="1">
                <a:solidFill>
                  <a:srgbClr val="7030A0"/>
                </a:solidFill>
                <a:hlinkClick r:id="rId6"/>
              </a:rPr>
              <a:t>Hello</a:t>
            </a:r>
            <a:r>
              <a:rPr lang="pt-BR" dirty="0">
                <a:solidFill>
                  <a:srgbClr val="7030A0"/>
                </a:solidFill>
                <a:hlinkClick r:id="rId6"/>
              </a:rPr>
              <a:t> world for </a:t>
            </a:r>
            <a:r>
              <a:rPr lang="pt-BR" dirty="0" err="1">
                <a:solidFill>
                  <a:srgbClr val="7030A0"/>
                </a:solidFill>
                <a:hlinkClick r:id="rId6"/>
              </a:rPr>
              <a:t>microcontrollers</a:t>
            </a:r>
            <a:endParaRPr lang="pt-BR" dirty="0">
              <a:solidFill>
                <a:srgbClr val="7030A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D7B81D-76BB-FC35-FA68-DE57AF457D0B}"/>
              </a:ext>
            </a:extLst>
          </p:cNvPr>
          <p:cNvSpPr txBox="1"/>
          <p:nvPr/>
        </p:nvSpPr>
        <p:spPr>
          <a:xfrm>
            <a:off x="9254837" y="3158836"/>
            <a:ext cx="246610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i="1" dirty="0">
                <a:solidFill>
                  <a:srgbClr val="00B050"/>
                </a:solidFill>
              </a:rPr>
              <a:t>Encontrar um modelo que aproxime o comportamento por trás das amostras ruidosas.</a:t>
            </a:r>
            <a:endParaRPr lang="en-US" b="1" i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347173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Importação de bibliotecas e definição das sementes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1F89EE25-B491-63A3-3836-CC948FFC57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1839" y="2185553"/>
            <a:ext cx="6134632" cy="2690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864313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Geração da onda senoidal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9E3EF363-642C-D87E-BC2E-70601C913B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1725" y="2156145"/>
            <a:ext cx="8824725" cy="3635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57792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Geração da onda senoidal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4098" name="Picture 2">
            <a:extLst>
              <a:ext uri="{FF2B5EF4-FFF2-40B4-BE49-F238E27FC236}">
                <a16:creationId xmlns:a16="http://schemas.microsoft.com/office/drawing/2014/main" id="{06DF1C46-9A68-B926-41A8-307C5C5900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9986" y="2068253"/>
            <a:ext cx="7047958" cy="43304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792654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Adição de ruído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00F98BB6-F55B-F1C7-5F9B-1DFB6063B3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2338" y="2698668"/>
            <a:ext cx="6997218" cy="2539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40468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Adição de ruído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A0AAE5CF-CA9E-E0E3-D85D-263DFE582A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085430"/>
            <a:ext cx="5936094" cy="37057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70914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Separação das amostras em treinamento, validação e teste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Train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60%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Validation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20%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Test data: 20%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BA14C0E-4E59-C74F-ABB4-621BF2E44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585" y="3013550"/>
            <a:ext cx="9295589" cy="2505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44793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Separação das amostras em treinamento, validação e teste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Train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60%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Validation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20%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Test data: 20%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146" name="Picture 2">
            <a:extLst>
              <a:ext uri="{FF2B5EF4-FFF2-40B4-BE49-F238E27FC236}">
                <a16:creationId xmlns:a16="http://schemas.microsoft.com/office/drawing/2014/main" id="{7023B888-E104-91F4-07E8-6994C5329C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485038"/>
            <a:ext cx="6034617" cy="3767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4604179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Modelo inicial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88606" y="2083420"/>
            <a:ext cx="6858740" cy="1376536"/>
          </a:xfrm>
          <a:prstGeom prst="rect">
            <a:avLst/>
          </a:prstGeom>
        </p:spPr>
      </p:pic>
      <p:pic>
        <p:nvPicPr>
          <p:cNvPr id="9" name="Imagem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78891" y="3566594"/>
            <a:ext cx="6188155" cy="520013"/>
          </a:xfrm>
          <a:prstGeom prst="rect">
            <a:avLst/>
          </a:prstGeom>
        </p:spPr>
      </p:pic>
      <p:pic>
        <p:nvPicPr>
          <p:cNvPr id="11" name="Imagem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48262" y="4193245"/>
            <a:ext cx="6424467" cy="1893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5393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Treinamento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500" y="3057072"/>
            <a:ext cx="11108999" cy="593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452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Gráfico da métrica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treinamento e validação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DB2B547F-A630-D1B7-2109-3DC4D19D27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5299" y="2377144"/>
            <a:ext cx="7041490" cy="3414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50463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Gráfico da métrica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treinamento e validação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0400" y="1929190"/>
            <a:ext cx="6696527" cy="4464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92072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Cálculo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e 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test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3714E700-976E-460D-4546-4CCC2EBEC1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6270" y="2695897"/>
            <a:ext cx="6340389" cy="3048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82547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teste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7945" y="2153557"/>
            <a:ext cx="5997039" cy="3848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542612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956800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Segundo modelo com uma camada densa extra e mais neurônios na primeira camada.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1953" y="2001837"/>
            <a:ext cx="6815047" cy="3517090"/>
          </a:xfrm>
          <a:prstGeom prst="rect">
            <a:avLst/>
          </a:prstGeom>
        </p:spPr>
      </p:pic>
      <p:pic>
        <p:nvPicPr>
          <p:cNvPr id="9" name="Imagem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54657" y="5700231"/>
            <a:ext cx="8195389" cy="363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24557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956800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Segundo modelo com uma camada densa extra e mais neurônios na primeira camada.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5636" y="2563018"/>
            <a:ext cx="7820728" cy="1935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475423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teste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218" name="Picture 2">
            <a:extLst>
              <a:ext uri="{FF2B5EF4-FFF2-40B4-BE49-F238E27FC236}">
                <a16:creationId xmlns:a16="http://schemas.microsoft.com/office/drawing/2014/main" id="{DF431961-F6F2-0B91-AECF-CB0B091898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1625" y="2325719"/>
            <a:ext cx="6274153" cy="39560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3593492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Criação de um diretório para 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04469F54-A4BD-9ED2-8C9A-77D0C8946A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3248" y="2865071"/>
            <a:ext cx="3505504" cy="1127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625558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D09DBB8C-50CF-C342-7D26-B48E53BC3F1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67803"/>
          <a:stretch/>
        </p:blipFill>
        <p:spPr>
          <a:xfrm>
            <a:off x="2068454" y="2104596"/>
            <a:ext cx="6928790" cy="1324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04884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10FC5-B23C-9696-C380-99CFC3CF0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5ADDF33-E48B-6EB9-FDED-6BAFA377E3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B3608503-E083-5795-01A0-167F030EDF7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8C5487-2049-F174-D552-EA6A2D7C652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359A22D-4B9F-AFD2-8384-9B03F48B7C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501745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modelos: Quantização total do modelo, com exceção das entradas e saídas, para manter a interface original.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E1F5E1D1-49D2-9AEC-D986-475051968B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86059BE0-14FC-40F2-F437-6763079BE99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31692"/>
          <a:stretch/>
        </p:blipFill>
        <p:spPr>
          <a:xfrm>
            <a:off x="2123361" y="2804160"/>
            <a:ext cx="6928790" cy="2809776"/>
          </a:xfrm>
          <a:prstGeom prst="rect">
            <a:avLst/>
          </a:prstGeo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9084371" y="3646462"/>
            <a:ext cx="2271252" cy="1125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285660" rIns="0" bIns="14283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5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Full</a:t>
            </a:r>
            <a:r>
              <a:rPr kumimoji="0" lang="pt-BR" altLang="pt-BR" sz="15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 </a:t>
            </a:r>
            <a:r>
              <a:rPr kumimoji="0" lang="pt-BR" altLang="pt-BR" sz="15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integer</a:t>
            </a:r>
            <a:r>
              <a:rPr kumimoji="0" lang="pt-BR" altLang="pt-BR" sz="15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 </a:t>
            </a:r>
            <a:r>
              <a:rPr kumimoji="0" lang="pt-BR" altLang="pt-BR" sz="1500" b="0" i="0" u="none" strike="noStrike" cap="none" normalizeH="0" baseline="0" dirty="0" err="1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quantization</a:t>
            </a:r>
            <a:r>
              <a:rPr kumimoji="0" lang="pt-BR" altLang="pt-BR" sz="1500" b="0" i="0" u="none" strike="noStrike" cap="none" normalizeH="0" baseline="0" dirty="0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: usa amostras para calibrar os intervalos dos tensores.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737E6D-9B2B-CD75-2ED7-5A52BC4FA047}"/>
              </a:ext>
            </a:extLst>
          </p:cNvPr>
          <p:cNvSpPr txBox="1"/>
          <p:nvPr/>
        </p:nvSpPr>
        <p:spPr>
          <a:xfrm>
            <a:off x="495801" y="6007363"/>
            <a:ext cx="105017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i="0" dirty="0">
                <a:solidFill>
                  <a:srgbClr val="404040"/>
                </a:solidFill>
                <a:effectLst/>
                <a:latin typeface="Menlo"/>
              </a:rPr>
              <a:t>*</a:t>
            </a:r>
            <a:r>
              <a:rPr lang="en-US" sz="1600" b="0" i="0" dirty="0" err="1">
                <a:solidFill>
                  <a:srgbClr val="404040"/>
                </a:solidFill>
                <a:effectLst/>
                <a:latin typeface="Menlo"/>
              </a:rPr>
              <a:t>representative_dataset</a:t>
            </a:r>
            <a:r>
              <a:rPr lang="en-US" sz="1600" b="0" i="0" dirty="0">
                <a:solidFill>
                  <a:srgbClr val="404040"/>
                </a:solidFill>
                <a:effectLst/>
                <a:latin typeface="Menlo"/>
              </a:rPr>
              <a:t>(): </a:t>
            </a:r>
            <a:r>
              <a:rPr lang="pt-BR" sz="1600" b="0" i="0" dirty="0">
                <a:solidFill>
                  <a:srgbClr val="404040"/>
                </a:solidFill>
                <a:effectLst/>
                <a:latin typeface="DeepSeek-CJK-patch"/>
              </a:rPr>
              <a:t>Essa função fornece exemplos de dados de entrada para que o conversor do </a:t>
            </a:r>
            <a:r>
              <a:rPr lang="pt-BR" sz="1600" b="0" i="0" dirty="0" err="1">
                <a:solidFill>
                  <a:srgbClr val="404040"/>
                </a:solidFill>
                <a:effectLst/>
                <a:latin typeface="DeepSeek-CJK-patch"/>
              </a:rPr>
              <a:t>TFLite</a:t>
            </a:r>
            <a:r>
              <a:rPr lang="pt-BR" sz="1600" b="0" i="0" dirty="0">
                <a:solidFill>
                  <a:srgbClr val="404040"/>
                </a:solidFill>
                <a:effectLst/>
                <a:latin typeface="DeepSeek-CJK-patch"/>
              </a:rPr>
              <a:t> calibre os intervalos dinâmicos dos tensores do modelo, otimizando-o para tamanho e velocidade.</a:t>
            </a:r>
            <a:endParaRPr lang="en-US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22E3E8-0BA6-EF7E-7220-B75578E2645B}"/>
              </a:ext>
            </a:extLst>
          </p:cNvPr>
          <p:cNvSpPr txBox="1"/>
          <p:nvPr/>
        </p:nvSpPr>
        <p:spPr>
          <a:xfrm>
            <a:off x="7758545" y="6606110"/>
            <a:ext cx="44334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hlinkClick r:id="rId5"/>
              </a:rPr>
              <a:t>https://ai.google.dev/edge/litert/models/post_training_quantization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10529515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Comparação dos tamanhos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0996" y="5095095"/>
            <a:ext cx="4213207" cy="1353702"/>
          </a:xfrm>
          <a:prstGeom prst="rect">
            <a:avLst/>
          </a:prstGeom>
        </p:spPr>
      </p:pic>
      <p:pic>
        <p:nvPicPr>
          <p:cNvPr id="9" name="Imagem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61396" y="2377422"/>
            <a:ext cx="6666008" cy="2509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31748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1F3F11BC-5440-CB75-5F2E-FBBAC9055929}"/>
              </a:ext>
            </a:extLst>
          </p:cNvPr>
          <p:cNvSpPr txBox="1"/>
          <p:nvPr/>
        </p:nvSpPr>
        <p:spPr>
          <a:xfrm>
            <a:off x="4052271" y="6534834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hlinkClick r:id="rId4"/>
              </a:rPr>
              <a:t>https://netron.app/</a:t>
            </a:r>
            <a:endParaRPr lang="pt-BR" dirty="0"/>
          </a:p>
          <a:p>
            <a:endParaRPr lang="pt-BR" dirty="0"/>
          </a:p>
        </p:txBody>
      </p:sp>
      <p:pic>
        <p:nvPicPr>
          <p:cNvPr id="8" name="Imagem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5511" y="1003300"/>
            <a:ext cx="885825" cy="5257800"/>
          </a:xfrm>
          <a:prstGeom prst="rect">
            <a:avLst/>
          </a:prstGeom>
        </p:spPr>
      </p:pic>
      <p:pic>
        <p:nvPicPr>
          <p:cNvPr id="10" name="Imagem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36834" y="1019175"/>
            <a:ext cx="4400550" cy="4819650"/>
          </a:xfrm>
          <a:prstGeom prst="rect">
            <a:avLst/>
          </a:prstGeom>
        </p:spPr>
      </p:pic>
      <p:pic>
        <p:nvPicPr>
          <p:cNvPr id="11" name="Imagem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3483" y="1003300"/>
            <a:ext cx="1061345" cy="4822422"/>
          </a:xfrm>
          <a:prstGeom prst="rect">
            <a:avLst/>
          </a:prstGeom>
        </p:spPr>
      </p:pic>
      <p:pic>
        <p:nvPicPr>
          <p:cNvPr id="13" name="Imagem 1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10326" y="1022209"/>
            <a:ext cx="4352925" cy="4419600"/>
          </a:xfrm>
          <a:prstGeom prst="rect">
            <a:avLst/>
          </a:prstGeom>
        </p:spPr>
      </p:pic>
      <p:sp>
        <p:nvSpPr>
          <p:cNvPr id="15" name="Retângulo 14"/>
          <p:cNvSpPr/>
          <p:nvPr/>
        </p:nvSpPr>
        <p:spPr>
          <a:xfrm>
            <a:off x="8474090" y="2078182"/>
            <a:ext cx="1572177" cy="23275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 15"/>
          <p:cNvSpPr/>
          <p:nvPr/>
        </p:nvSpPr>
        <p:spPr>
          <a:xfrm>
            <a:off x="2476339" y="2038117"/>
            <a:ext cx="1572177" cy="23275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7" name="Retângulo 16"/>
          <p:cNvSpPr/>
          <p:nvPr/>
        </p:nvSpPr>
        <p:spPr>
          <a:xfrm>
            <a:off x="6436106" y="1690419"/>
            <a:ext cx="705446" cy="4142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tângulo 17"/>
          <p:cNvSpPr/>
          <p:nvPr/>
        </p:nvSpPr>
        <p:spPr>
          <a:xfrm>
            <a:off x="6475700" y="5290002"/>
            <a:ext cx="705446" cy="4142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5275050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Fazendo a predição para os modelos criados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768583F4-ECF0-7B34-E22F-DF2762D32B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54544" y="2433009"/>
            <a:ext cx="6563678" cy="4241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85587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Comparação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10244" name="Picture 4">
            <a:extLst>
              <a:ext uri="{FF2B5EF4-FFF2-40B4-BE49-F238E27FC236}">
                <a16:creationId xmlns:a16="http://schemas.microsoft.com/office/drawing/2014/main" id="{9929DAC8-BF08-D1F0-2C01-AAC59ED2D3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8118" y="1886583"/>
            <a:ext cx="7105021" cy="4559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7785567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Exemplos de clusterização e poda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0"/>
            <a:ext cx="11565775" cy="4330419"/>
          </a:xfrm>
        </p:spPr>
        <p:txBody>
          <a:bodyPr>
            <a:noAutofit/>
          </a:bodyPr>
          <a:lstStyle/>
          <a:p>
            <a:pPr marL="495308" indent="-342900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Prunning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: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3"/>
              </a:rPr>
              <a:t>https://colab.research.google.com/github/zz4fap/tp557-iot-ml/blob/main/examples/pruning_with_keras.ipynb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Clusterização: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https</a:t>
            </a:r>
            <a:r>
              <a:rPr lang="pt-BR" sz="2000"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://colab.research.google.com/github/zz4fap/tp557-iot-ml/blob/main/examples/clustering_example.ipynb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801295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Edge Impulse é uma plataforma para desenvolver e implantar modelos de aprendizado de máquina em dispositivos de borda.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fornece um conjunto de ferramentas e serviços que facilitam a coleta de dados, o treinamento de modelos e a implantação deles em dispositivos de borda.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Edge Impulse oferece suporte a uma ampla variedade de dispositivos de borda, incluindo microcontroladores, sistemas embarcados e dispositivos móveis.</a:t>
            </a:r>
          </a:p>
        </p:txBody>
      </p:sp>
    </p:spTree>
    <p:extLst>
      <p:ext uri="{BB962C8B-B14F-4D97-AF65-F5344CB8AC3E}">
        <p14:creationId xmlns:p14="http://schemas.microsoft.com/office/powerpoint/2010/main" val="398661167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Edge Impulse é usado por uma ampla variedade de empresas e organizações.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8EFEC104-CE53-CF10-7F4F-B8544A118D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477" y="3232009"/>
            <a:ext cx="10673846" cy="822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20756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D39E7734-B842-27FE-C995-D6BC09855E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4800" y="1233163"/>
            <a:ext cx="9294813" cy="3997973"/>
          </a:xfrm>
        </p:spPr>
      </p:pic>
    </p:spTree>
    <p:extLst>
      <p:ext uri="{BB962C8B-B14F-4D97-AF65-F5344CB8AC3E}">
        <p14:creationId xmlns:p14="http://schemas.microsoft.com/office/powerpoint/2010/main" val="281064019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Fácil de usar: O Edge Impulse é fácil de usar, mesmo para desenvolvedores sem experiência anterior em aprendizado de máquina.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Abrangente: O Edge Impulse fornece um conjunto abrangente de ferramentas e serviços para desenvolver e implantar modelos de aprendizado de máquina em dispositivos de borda.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Flexível: O Edge Impulse oferece suporte a uma ampla variedade de dispositivos de borda e estruturas de aprendizado de máquina.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Escalável: O Edge Impulse pode ser usado para desenvolver e implantar modelos de aprendizado de máquina em um grande número de dispositivos de borda.</a:t>
            </a:r>
          </a:p>
        </p:txBody>
      </p:sp>
    </p:spTree>
    <p:extLst>
      <p:ext uri="{BB962C8B-B14F-4D97-AF65-F5344CB8AC3E}">
        <p14:creationId xmlns:p14="http://schemas.microsoft.com/office/powerpoint/2010/main" val="53443831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Tarefa para casa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Criar um dataset ou escolher um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kaggle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ou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roboflow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, treinar um modelo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impulse (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https://edgeimpulse.com/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) e realizar inferências no celular.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  <a:hlinkClick r:id="rId5"/>
              </a:rPr>
              <a:t>https://www.kaggle.com/datasets</a:t>
            </a:r>
            <a:endParaRPr lang="pt-BR" sz="1734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  <a:hlinkClick r:id="rId6"/>
              </a:rPr>
              <a:t>https://universe.roboflow.com/</a:t>
            </a:r>
            <a:endParaRPr lang="pt-BR" sz="1734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Uma opção é usar o dataset para classificação de grãos de café: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  <a:hlinkClick r:id="rId7"/>
              </a:rPr>
              <a:t>https://www.kaggle.com/datasets/gpiosenka/coffee-bean-dataset-resized-224-x-224</a:t>
            </a:r>
            <a:endParaRPr lang="pt-BR" sz="1734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19122" lvl="1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1734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2" descr="Cover image">
            <a:extLst>
              <a:ext uri="{FF2B5EF4-FFF2-40B4-BE49-F238E27FC236}">
                <a16:creationId xmlns:a16="http://schemas.microsoft.com/office/drawing/2014/main" id="{F18C0C7F-D7CC-F13A-94A5-6016588B6A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2674" y="4056205"/>
            <a:ext cx="5323826" cy="26820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8249624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2_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16737</TotalTime>
  <Words>5264</Words>
  <Application>Microsoft Office PowerPoint</Application>
  <PresentationFormat>Widescreen</PresentationFormat>
  <Paragraphs>523</Paragraphs>
  <Slides>70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70</vt:i4>
      </vt:variant>
    </vt:vector>
  </HeadingPairs>
  <TitlesOfParts>
    <vt:vector size="84" baseType="lpstr">
      <vt:lpstr>Arial</vt:lpstr>
      <vt:lpstr>Calibri</vt:lpstr>
      <vt:lpstr>Calibri Light</vt:lpstr>
      <vt:lpstr>DeepSeek-CJK-patch</vt:lpstr>
      <vt:lpstr>Google Sans</vt:lpstr>
      <vt:lpstr>Menlo</vt:lpstr>
      <vt:lpstr>Montserrat</vt:lpstr>
      <vt:lpstr>quote-cjk-patch</vt:lpstr>
      <vt:lpstr>Roboto</vt:lpstr>
      <vt:lpstr>sohne</vt:lpstr>
      <vt:lpstr>source-serif-pro</vt:lpstr>
      <vt:lpstr>Tema do Office</vt:lpstr>
      <vt:lpstr>1_Tema do Office</vt:lpstr>
      <vt:lpstr>2_Tema do Office</vt:lpstr>
      <vt:lpstr>TP557 - Tópicos avançados em IoT e Machine Learning: TensorFlow Lite</vt:lpstr>
      <vt:lpstr>Samuel Baraldi Mafra</vt:lpstr>
      <vt:lpstr>Samuel Baraldi Mafra</vt:lpstr>
      <vt:lpstr>TinyML</vt:lpstr>
      <vt:lpstr>Processamento na borda com dispositivos embarcados</vt:lpstr>
      <vt:lpstr>Processamento na borda com dispositivos embarcados</vt:lpstr>
      <vt:lpstr>Processamento tradicional</vt:lpstr>
      <vt:lpstr>Processamento na borda com dispositivos embarcados</vt:lpstr>
      <vt:lpstr>Processamento na borda com dispositivos embarcados</vt:lpstr>
      <vt:lpstr>Processamento na borda com dispositivos embarcados</vt:lpstr>
      <vt:lpstr>Processamento na borda com dispositivos embarcados</vt:lpstr>
      <vt:lpstr> </vt:lpstr>
      <vt:lpstr>Conteúdo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Lite: Geração de modelos </vt:lpstr>
      <vt:lpstr>TensorFlow Lite </vt:lpstr>
      <vt:lpstr>TensorFlow Lite </vt:lpstr>
      <vt:lpstr>TensorFlow Lite </vt:lpstr>
      <vt:lpstr>TensorFlow Lite</vt:lpstr>
      <vt:lpstr>Poda de redes neurais (Pruning)</vt:lpstr>
      <vt:lpstr>Poda de redes neurais (Pruning)</vt:lpstr>
      <vt:lpstr>Poda de redes neurais (Pruning)</vt:lpstr>
      <vt:lpstr>Quantização</vt:lpstr>
      <vt:lpstr>Quantização</vt:lpstr>
      <vt:lpstr>Quantização</vt:lpstr>
      <vt:lpstr>TensorFlow Lite Micro </vt:lpstr>
      <vt:lpstr>TensorFlow Lite Micro 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Exemplos de clusterização e poda</vt:lpstr>
      <vt:lpstr>Edge Impulse</vt:lpstr>
      <vt:lpstr>Edge Impulse</vt:lpstr>
      <vt:lpstr>Edge Impulse</vt:lpstr>
      <vt:lpstr>Edge Impulse</vt:lpstr>
      <vt:lpstr>Edge Impulse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2494</cp:revision>
  <dcterms:created xsi:type="dcterms:W3CDTF">2020-01-20T13:50:05Z</dcterms:created>
  <dcterms:modified xsi:type="dcterms:W3CDTF">2025-05-27T01:24:20Z</dcterms:modified>
</cp:coreProperties>
</file>