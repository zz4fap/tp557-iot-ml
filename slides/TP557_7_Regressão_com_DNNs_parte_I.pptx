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9"/>
  </p:notesMasterIdLst>
  <p:handoutMasterIdLst>
    <p:handoutMasterId r:id="rId40"/>
  </p:handoutMasterIdLst>
  <p:sldIdLst>
    <p:sldId id="256" r:id="rId2"/>
    <p:sldId id="406" r:id="rId3"/>
    <p:sldId id="407" r:id="rId4"/>
    <p:sldId id="431" r:id="rId5"/>
    <p:sldId id="408" r:id="rId6"/>
    <p:sldId id="410" r:id="rId7"/>
    <p:sldId id="411" r:id="rId8"/>
    <p:sldId id="409" r:id="rId9"/>
    <p:sldId id="438" r:id="rId10"/>
    <p:sldId id="413" r:id="rId11"/>
    <p:sldId id="433" r:id="rId12"/>
    <p:sldId id="414" r:id="rId13"/>
    <p:sldId id="415" r:id="rId14"/>
    <p:sldId id="416" r:id="rId15"/>
    <p:sldId id="428" r:id="rId16"/>
    <p:sldId id="429" r:id="rId17"/>
    <p:sldId id="417" r:id="rId18"/>
    <p:sldId id="435" r:id="rId19"/>
    <p:sldId id="418" r:id="rId20"/>
    <p:sldId id="419" r:id="rId21"/>
    <p:sldId id="420" r:id="rId22"/>
    <p:sldId id="421" r:id="rId23"/>
    <p:sldId id="424" r:id="rId24"/>
    <p:sldId id="423" r:id="rId25"/>
    <p:sldId id="434" r:id="rId26"/>
    <p:sldId id="422" r:id="rId27"/>
    <p:sldId id="425" r:id="rId28"/>
    <p:sldId id="427" r:id="rId29"/>
    <p:sldId id="426" r:id="rId30"/>
    <p:sldId id="405" r:id="rId31"/>
    <p:sldId id="321" r:id="rId32"/>
    <p:sldId id="437" r:id="rId33"/>
    <p:sldId id="436" r:id="rId34"/>
    <p:sldId id="293" r:id="rId35"/>
    <p:sldId id="306" r:id="rId36"/>
    <p:sldId id="430" r:id="rId37"/>
    <p:sldId id="432" r:id="rId38"/>
  </p:sldIdLst>
  <p:sldSz cx="12192000" cy="6858000"/>
  <p:notesSz cx="7315200" cy="96012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1F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3FCA41B-7398-400B-83DC-FDE8722EB923}" v="79" dt="2020-02-09T01:28:39.66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392" autoAdjust="0"/>
    <p:restoredTop sz="92373" autoAdjust="0"/>
  </p:normalViewPr>
  <p:slideViewPr>
    <p:cSldViewPr snapToGrid="0">
      <p:cViewPr varScale="1">
        <p:scale>
          <a:sx n="69" d="100"/>
          <a:sy n="69" d="100"/>
        </p:scale>
        <p:origin x="1008" y="48"/>
      </p:cViewPr>
      <p:guideLst/>
    </p:cSldViewPr>
  </p:slideViewPr>
  <p:outlineViewPr>
    <p:cViewPr>
      <p:scale>
        <a:sx n="33" d="100"/>
        <a:sy n="33" d="100"/>
      </p:scale>
      <p:origin x="0" y="-8862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handoutMaster" Target="handoutMasters/handoutMaster1.xml"/><Relationship Id="rId45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Augusto Pereira de Figueiredo" userId="e1771b70d906f94b" providerId="Windows Live" clId="Web-{B3FCA41B-7398-400B-83DC-FDE8722EB923}"/>
    <pc:docChg chg="modSld">
      <pc:chgData name="Felipe Augusto Pereira de Figueiredo" userId="e1771b70d906f94b" providerId="Windows Live" clId="Web-{B3FCA41B-7398-400B-83DC-FDE8722EB923}" dt="2020-02-09T01:40:38.055" v="257"/>
      <pc:docMkLst>
        <pc:docMk/>
      </pc:docMkLst>
      <pc:sldChg chg="modSp modNotes">
        <pc:chgData name="Felipe Augusto Pereira de Figueiredo" userId="e1771b70d906f94b" providerId="Windows Live" clId="Web-{B3FCA41B-7398-400B-83DC-FDE8722EB923}" dt="2020-02-09T01:26:20.191" v="45"/>
        <pc:sldMkLst>
          <pc:docMk/>
          <pc:sldMk cId="636059476" sldId="259"/>
        </pc:sldMkLst>
        <pc:spChg chg="mod">
          <ac:chgData name="Felipe Augusto Pereira de Figueiredo" userId="e1771b70d906f94b" providerId="Windows Live" clId="Web-{B3FCA41B-7398-400B-83DC-FDE8722EB923}" dt="2020-02-09T01:22:23.081" v="18" actId="1076"/>
          <ac:spMkLst>
            <pc:docMk/>
            <pc:sldMk cId="636059476" sldId="259"/>
            <ac:spMk id="3" creationId="{979D29AC-E01B-406F-AC75-55866B75A7CC}"/>
          </ac:spMkLst>
        </pc:spChg>
      </pc:sldChg>
      <pc:sldChg chg="modNotes">
        <pc:chgData name="Felipe Augusto Pereira de Figueiredo" userId="e1771b70d906f94b" providerId="Windows Live" clId="Web-{B3FCA41B-7398-400B-83DC-FDE8722EB923}" dt="2020-02-09T01:21:46.721" v="16"/>
        <pc:sldMkLst>
          <pc:docMk/>
          <pc:sldMk cId="248504461" sldId="267"/>
        </pc:sldMkLst>
      </pc:sldChg>
      <pc:sldChg chg="modSp modNotes">
        <pc:chgData name="Felipe Augusto Pereira de Figueiredo" userId="e1771b70d906f94b" providerId="Windows Live" clId="Web-{B3FCA41B-7398-400B-83DC-FDE8722EB923}" dt="2020-02-09T01:40:38.055" v="257"/>
        <pc:sldMkLst>
          <pc:docMk/>
          <pc:sldMk cId="2076219387" sldId="277"/>
        </pc:sldMkLst>
        <pc:spChg chg="mod">
          <ac:chgData name="Felipe Augusto Pereira de Figueiredo" userId="e1771b70d906f94b" providerId="Windows Live" clId="Web-{B3FCA41B-7398-400B-83DC-FDE8722EB923}" dt="2020-02-09T01:28:39.664" v="120" actId="14100"/>
          <ac:spMkLst>
            <pc:docMk/>
            <pc:sldMk cId="2076219387" sldId="277"/>
            <ac:spMk id="3" creationId="{5E0262E2-3A0F-4805-BCCB-6745237D1574}"/>
          </ac:spMkLst>
        </pc:spChg>
      </pc:sldChg>
    </pc:docChg>
  </pc:docChgLst>
  <pc:docChgLst>
    <pc:chgData name="Felipe Augusto Pereira de Figueiredo" userId="e1771b70d906f94b" providerId="Windows Live" clId="Web-{1FA475AF-6444-47C2-89B1-9776BABC0E66}"/>
    <pc:docChg chg="modSld">
      <pc:chgData name="Felipe Augusto Pereira de Figueiredo" userId="e1771b70d906f94b" providerId="Windows Live" clId="Web-{1FA475AF-6444-47C2-89B1-9776BABC0E66}" dt="2020-02-09T18:53:52.767" v="85"/>
      <pc:docMkLst>
        <pc:docMk/>
      </pc:docMkLst>
      <pc:sldChg chg="modNotes">
        <pc:chgData name="Felipe Augusto Pereira de Figueiredo" userId="e1771b70d906f94b" providerId="Windows Live" clId="Web-{1FA475AF-6444-47C2-89B1-9776BABC0E66}" dt="2020-02-09T18:53:52.767" v="85"/>
        <pc:sldMkLst>
          <pc:docMk/>
          <pc:sldMk cId="248504461" sldId="26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589" y="0"/>
            <a:ext cx="3169922" cy="480722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144F1436-6906-4D93-B7A2-786C327BFA14}" type="datetimeFigureOut">
              <a:rPr lang="nl-BE" smtClean="0"/>
              <a:t>21/04/2025</a:t>
            </a:fld>
            <a:endParaRPr lang="nl-B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nl-B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589" y="9120488"/>
            <a:ext cx="3169922" cy="480718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F7E56D9B-79AD-444A-AFED-DEC23408F8B4}" type="slidenum">
              <a:rPr lang="nl-BE" smtClean="0"/>
              <a:t>‹nº›</a:t>
            </a:fld>
            <a:endParaRPr lang="nl-BE"/>
          </a:p>
        </p:txBody>
      </p:sp>
    </p:spTree>
    <p:extLst>
      <p:ext uri="{BB962C8B-B14F-4D97-AF65-F5344CB8AC3E}">
        <p14:creationId xmlns:p14="http://schemas.microsoft.com/office/powerpoint/2010/main" val="316353311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5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4143592" y="1"/>
            <a:ext cx="3169922" cy="1903121"/>
          </a:xfrm>
          <a:prstGeom prst="rect">
            <a:avLst/>
          </a:prstGeom>
        </p:spPr>
        <p:txBody>
          <a:bodyPr vert="horz" lIns="168634" tIns="84317" rIns="168634" bIns="84317" rtlCol="0"/>
          <a:lstStyle>
            <a:lvl1pPr algn="r">
              <a:defRPr sz="2200"/>
            </a:lvl1pPr>
          </a:lstStyle>
          <a:p>
            <a:fld id="{AA8CD09E-2914-4F47-B6C1-51B2C31814C9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-7721600" y="4740275"/>
            <a:ext cx="22758400" cy="128016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68634" tIns="84317" rIns="168634" bIns="84317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731522" y="18254135"/>
            <a:ext cx="5852160" cy="14935200"/>
          </a:xfrm>
          <a:prstGeom prst="rect">
            <a:avLst/>
          </a:prstGeom>
        </p:spPr>
        <p:txBody>
          <a:bodyPr vert="horz" lIns="168634" tIns="84317" rIns="168634" bIns="84317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5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l">
              <a:defRPr sz="2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4143592" y="36027558"/>
            <a:ext cx="3169922" cy="1903117"/>
          </a:xfrm>
          <a:prstGeom prst="rect">
            <a:avLst/>
          </a:prstGeom>
        </p:spPr>
        <p:txBody>
          <a:bodyPr vert="horz" lIns="168634" tIns="84317" rIns="168634" bIns="84317" rtlCol="0" anchor="b"/>
          <a:lstStyle>
            <a:lvl1pPr algn="r">
              <a:defRPr sz="2200"/>
            </a:lvl1pPr>
          </a:lstStyle>
          <a:p>
            <a:fld id="{6FC8D850-966F-45A6-8DE7-15B891E7D4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418147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baseline="0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07474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2386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12059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Há uma outra coisa a destacar ao definir a primeira e, neste caso, a única camada em uma rede, você deve informar na forma de entrada.</a:t>
            </a:r>
          </a:p>
          <a:p>
            <a:r>
              <a:rPr lang="pt-BR" dirty="0"/>
              <a:t>Agora aqui nossa forma de entrada tem apenas um valor.</a:t>
            </a:r>
          </a:p>
          <a:p>
            <a:r>
              <a:rPr lang="pt-BR" dirty="0"/>
              <a:t>Estamos treinando uma rede neural em </a:t>
            </a:r>
            <a:r>
              <a:rPr lang="pt-BR" dirty="0" err="1"/>
              <a:t>xs</a:t>
            </a:r>
            <a:r>
              <a:rPr lang="pt-BR" dirty="0"/>
              <a:t> únicos para prever </a:t>
            </a:r>
            <a:r>
              <a:rPr lang="pt-BR" dirty="0" err="1"/>
              <a:t>ys</a:t>
            </a:r>
            <a:r>
              <a:rPr lang="pt-BR" dirty="0"/>
              <a:t> únicos.</a:t>
            </a:r>
          </a:p>
          <a:p>
            <a:r>
              <a:rPr lang="pt-BR" dirty="0"/>
              <a:t>Novamente, nossa forma de entrada não poderia ser mais simples.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541705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Há uma outra coisa a destacar ao definir a primeira e, neste caso, a única camada em uma rede, você deve informar na forma de entrada.</a:t>
            </a:r>
          </a:p>
          <a:p>
            <a:r>
              <a:rPr lang="pt-BR" dirty="0"/>
              <a:t>Agora aqui nossa forma de entrada tem apenas um valor.</a:t>
            </a:r>
          </a:p>
          <a:p>
            <a:r>
              <a:rPr lang="pt-BR" dirty="0"/>
              <a:t>Estamos treinando uma rede neural em </a:t>
            </a:r>
            <a:r>
              <a:rPr lang="pt-BR" dirty="0" err="1"/>
              <a:t>xs</a:t>
            </a:r>
            <a:r>
              <a:rPr lang="pt-BR" dirty="0"/>
              <a:t> únicos para prever </a:t>
            </a:r>
            <a:r>
              <a:rPr lang="pt-BR" dirty="0" err="1"/>
              <a:t>ys</a:t>
            </a:r>
            <a:r>
              <a:rPr lang="pt-BR" dirty="0"/>
              <a:t> únicos.</a:t>
            </a:r>
          </a:p>
          <a:p>
            <a:r>
              <a:rPr lang="pt-BR" dirty="0"/>
              <a:t>Novamente, nossa forma de entrada não poderia ser mais simples.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082625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Há uma outra coisa a destacar ao definir a primeira e, neste caso, a única camada em uma rede, você deve informar na forma de entrada.</a:t>
            </a:r>
          </a:p>
          <a:p>
            <a:r>
              <a:rPr lang="pt-BR" dirty="0"/>
              <a:t>Agora aqui nossa forma de entrada tem apenas um valor.</a:t>
            </a:r>
          </a:p>
          <a:p>
            <a:r>
              <a:rPr lang="pt-BR" dirty="0"/>
              <a:t>Estamos treinando uma rede neural em </a:t>
            </a:r>
            <a:r>
              <a:rPr lang="pt-BR" dirty="0" err="1"/>
              <a:t>xs</a:t>
            </a:r>
            <a:r>
              <a:rPr lang="pt-BR" dirty="0"/>
              <a:t> únicos para prever </a:t>
            </a:r>
            <a:r>
              <a:rPr lang="pt-BR" dirty="0" err="1"/>
              <a:t>ys</a:t>
            </a:r>
            <a:r>
              <a:rPr lang="pt-BR" dirty="0"/>
              <a:t> únicos.</a:t>
            </a:r>
          </a:p>
          <a:p>
            <a:r>
              <a:rPr lang="pt-BR" dirty="0"/>
              <a:t>Novamente, nossa forma de entrada não poderia ser mais simples.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89474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75825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498665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Machine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Learning, as épocas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epochs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e as iterações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iterations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são termos usados para se referir a diferentes etapas no processo de treinamento de um modelo de aprendizado de máquina.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Épocas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epochs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 Uma época é uma unidade de medida que representa uma passagem completa pelo conjunto de treinamento durante o treinamento de um modelo de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Machine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Learning. Durante uma época, o modelo utiliza todo o conjunto de treinamento para ajustar seus parâmetros com base nos dados fornecidos. Em outras palavras, cada época significa que o modelo viu e aprendeu de todos os exemplos de treinamento disponíveis. As épocas são usadas para controlar a quantidade de vezes que o modelo revisita os dados durante o treinamento, permitindo ajustar gradualmente os parâmetros para melhorar o desempenho do modelo.</a:t>
            </a:r>
          </a:p>
          <a:p>
            <a:pPr algn="l">
              <a:buFont typeface="+mj-lt"/>
              <a:buAutoNum type="arabicPeriod"/>
            </a:pP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Iterações (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iterations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): Uma iteração é uma unidade de medida que representa o número de atualizações de parâmetros que ocorrem durante o treinamento do modelo em um lote de dados. Em geral, o treinamento de modelos de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Machine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 Learning é realizado em lotes (ou </a:t>
            </a:r>
            <a:r>
              <a:rPr lang="pt-BR" b="0" i="0" dirty="0" err="1">
                <a:solidFill>
                  <a:srgbClr val="374151"/>
                </a:solidFill>
                <a:effectLst/>
                <a:latin typeface="Söhne"/>
              </a:rPr>
              <a:t>mini-lotes</a:t>
            </a:r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) de dados, onde vários exemplos são agrupados e usados para atualizar os parâmetros do modelo de uma só vez. Cada vez que um lote é usado para atualizar os parâmetros, uma iteração ocorre. Por exemplo, se o conjunto de treinamento tem 1000 exemplos e está sendo treinado em lotes de 100 exemplos, então uma época é composta por 10 iterações.</a:t>
            </a:r>
          </a:p>
          <a:p>
            <a:pPr algn="l"/>
            <a:r>
              <a:rPr lang="pt-BR" b="0" i="0" dirty="0">
                <a:solidFill>
                  <a:srgbClr val="374151"/>
                </a:solidFill>
                <a:effectLst/>
                <a:latin typeface="Söhne"/>
              </a:rPr>
              <a:t>Em resumo, uma época é uma unidade de medida que representa uma passagem completa pelo conjunto de treinamento, enquanto uma iteração é uma unidade de medida que representa o número de vezes que os parâmetros do modelo são atualizados em um lote de dados durante o treinamento. As épocas são usadas para controlar o número total de vezes que o modelo revisita os dados, enquanto as iterações são usadas para controlar o número de atualizações de parâmetros em um lote específico.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66088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Uma </a:t>
            </a:r>
            <a:r>
              <a:rPr lang="pt-BR" b="1" i="1" dirty="0">
                <a:solidFill>
                  <a:srgbClr val="00B050"/>
                </a:solidFill>
              </a:rPr>
              <a:t>iteração</a:t>
            </a:r>
            <a:r>
              <a:rPr lang="pt-BR" dirty="0"/>
              <a:t> </a:t>
            </a:r>
            <a:r>
              <a:rPr lang="pt-BR" b="0" i="0" dirty="0">
                <a:effectLst/>
              </a:rPr>
              <a:t>representa o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número de atualizações de pesos </a:t>
            </a:r>
            <a:r>
              <a:rPr lang="pt-BR" b="0" i="0" dirty="0">
                <a:effectLst/>
              </a:rPr>
              <a:t>que ocorrem durante o treinamento do modelo no conjunto de treinamento.</a:t>
            </a:r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As arquiteturas de hardware modernas (como </a:t>
            </a:r>
            <a:r>
              <a:rPr lang="pt-BR" dirty="0" err="1"/>
              <a:t>GPUs</a:t>
            </a:r>
            <a:r>
              <a:rPr lang="pt-BR" dirty="0"/>
              <a:t> e </a:t>
            </a:r>
            <a:r>
              <a:rPr lang="pt-BR" dirty="0" err="1"/>
              <a:t>TPUs</a:t>
            </a:r>
            <a:r>
              <a:rPr lang="pt-BR" dirty="0"/>
              <a:t>) são otimizadas para </a:t>
            </a:r>
            <a:r>
              <a:rPr lang="pt-BR" b="1" dirty="0"/>
              <a:t>operações vetoriais e matriciais em blocos de tamanho fixo</a:t>
            </a:r>
            <a:r>
              <a:rPr lang="pt-BR" dirty="0"/>
              <a:t>, geralmente </a:t>
            </a:r>
            <a:r>
              <a:rPr lang="pt-BR" b="1" dirty="0"/>
              <a:t>potências de 2</a:t>
            </a:r>
            <a:r>
              <a:rPr lang="pt-BR" dirty="0"/>
              <a:t>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609708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5125404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84875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817925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1618315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4787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4817499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/zz4fap/tp557-iot-ml/</a:t>
            </a:r>
            <a:r>
              <a:rPr lang="pt-BR" dirty="0" err="1"/>
              <a:t>blob</a:t>
            </a:r>
            <a:r>
              <a:rPr lang="pt-BR" dirty="0"/>
              <a:t>/master/</a:t>
            </a:r>
            <a:r>
              <a:rPr lang="pt-BR" dirty="0" err="1"/>
              <a:t>examples</a:t>
            </a:r>
            <a:r>
              <a:rPr lang="pt-BR" dirty="0"/>
              <a:t>/</a:t>
            </a:r>
            <a:r>
              <a:rPr lang="pt-BR" dirty="0" err="1"/>
              <a:t>Regressão_com_DNNs.ipynb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29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13120806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https://colab.research.google.com/github/zz4fap/tp557-iot-ml/blob/master/</a:t>
            </a:r>
            <a:r>
              <a:rPr lang="pt-BR" dirty="0" err="1"/>
              <a:t>exercises</a:t>
            </a:r>
            <a:r>
              <a:rPr lang="pt-BR" dirty="0"/>
              <a:t>/</a:t>
            </a:r>
            <a:r>
              <a:rPr lang="pt-BR" dirty="0" err="1"/>
              <a:t>Exercício_sobre_regressão_com_DNNs.ipynb</a:t>
            </a:r>
            <a:endParaRPr lang="pt-BR" dirty="0"/>
          </a:p>
          <a:p>
            <a:endParaRPr lang="pt-BR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/zz4fap/tp557-iot-ml/</a:t>
            </a:r>
            <a:r>
              <a:rPr lang="pt-BR" dirty="0" err="1"/>
              <a:t>blob</a:t>
            </a:r>
            <a:r>
              <a:rPr lang="pt-BR" dirty="0"/>
              <a:t>/master/</a:t>
            </a:r>
            <a:r>
              <a:rPr lang="pt-BR" dirty="0" err="1"/>
              <a:t>exercises</a:t>
            </a:r>
            <a:r>
              <a:rPr lang="pt-BR" dirty="0"/>
              <a:t>/</a:t>
            </a:r>
            <a:r>
              <a:rPr lang="pt-BR" dirty="0" err="1"/>
              <a:t>Exercício_sobre_regressão_com_DNN_e_dados_ruidosos.ipynb</a:t>
            </a:r>
            <a:endParaRPr lang="pt-BR" dirty="0"/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7922459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https://colab.research.google.com/github/zz4fap/tp557-iot-ml/blob/master/examples/Usando_callbacks.ipynb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222628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760F0D1C-F60F-4E43-2447-20068B050F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xmlns="" id="{FF0F71CF-B64E-0118-9DD3-2AA3F940AA8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xmlns="" id="{DA23629B-19D2-5867-EE1B-40A203A590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https://colab.research.google.com/github/zz4fap/tp557-iot-ml/blob/master/examples/Usando_callbacks.ipynb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3FA40C03-6F03-8ADB-07B8-65CC3565196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723330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https://colab.research.google.com/</a:t>
            </a:r>
            <a:r>
              <a:rPr lang="pt-BR" dirty="0" err="1"/>
              <a:t>github</a:t>
            </a:r>
            <a:r>
              <a:rPr lang="pt-BR" dirty="0"/>
              <a:t>/zz4fap/tp557-iot-ml/</a:t>
            </a:r>
            <a:r>
              <a:rPr lang="pt-BR" dirty="0" err="1"/>
              <a:t>blob</a:t>
            </a:r>
            <a:r>
              <a:rPr lang="pt-BR" dirty="0"/>
              <a:t>/master/</a:t>
            </a:r>
            <a:r>
              <a:rPr lang="pt-BR" dirty="0" err="1"/>
              <a:t>examples</a:t>
            </a:r>
            <a:r>
              <a:rPr lang="pt-BR" dirty="0"/>
              <a:t>/</a:t>
            </a:r>
            <a:r>
              <a:rPr lang="pt-BR" dirty="0" err="1"/>
              <a:t>Regressão_com_DNNs.ipynb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C8D850-966F-45A6-8DE7-15B891E7D40D}" type="slidenum">
              <a:rPr lang="pt-BR" smtClean="0"/>
              <a:t>33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580587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DB9B4FF-B06E-403C-A326-BDC64D8FF94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47BDFCE-746E-45BF-A319-4733D58D16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EDE2778-5372-4104-B96D-968184DA82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1DD0F41-C861-4051-988D-3024A37A4B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07E5967E-D980-431A-A5DB-3F0C5030A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9754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BD44A5-8F21-4626-A01D-48A1C874B1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B79E8085-65A9-48AA-951D-71D978BFF4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F05BE1AF-51EA-425D-B188-DE7BD67500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21BE632-29CF-4CB9-B365-C9EF38F89B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0CF3DD1-9AEC-4A57-B461-4E4DD86FAC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879079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4AB2FF0-A4D7-4E28-991D-FF26140D5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E2AC45B0-4145-40DB-8E61-1054611706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50F1D3FB-740A-4EBA-A309-2CE71D12E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BDCAB18F-8715-4465-A940-F9C193A2A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353466C6-8248-429F-8056-FF040BF509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652279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C7BB9F0-F14B-4A91-B2B7-35BC47FE4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C1FC1C4-73DA-47A6-8496-B0B457F7D39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E92F06A8-A449-4D92-9912-76873E529B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938070A4-BC2F-4D55-BD8D-DEAF11BB9E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45CC2DB8-844A-465F-BA9A-7734C80C7F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4CC606A8-097B-4040-94E0-CD8C88280D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5444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6D66686-0143-4CB6-8C09-BA326F1E7A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0227AB85-F59E-4BCE-B846-4FA0992C2F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xmlns="" id="{3373456C-7319-4D0A-827D-D29F6B083F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xmlns="" id="{4CD109D0-2E83-4262-8029-A871CEC4740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xmlns="" id="{AD706E3A-CFBB-4A6C-A65F-D0360A9E74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xmlns="" id="{4172C0E5-5AF0-4805-BB51-443733CD2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xmlns="" id="{0E801648-156F-497E-99CF-797DF48051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xmlns="" id="{EEE23D32-80E7-4796-A137-66BF842E4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2454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BCE2379-C78F-47E1-8CFC-B846E7AF14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xmlns="" id="{342600A9-7F92-4E22-9D94-E4717252A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xmlns="" id="{192E6BED-F546-40CC-A2DF-99CBA85365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xmlns="" id="{6091CC40-A8C4-4063-80EB-CC50996216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4413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xmlns="" id="{DD19515C-212C-4EAE-84A3-8FF4BC844F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xmlns="" id="{94D3D120-B3E8-4C96-861D-7A4F12F49B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xmlns="" id="{42E49B68-FA1B-468B-9F17-D5C09243D4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812321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C17BCBE-A897-4319-85EC-D87909C249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4226F885-0204-4913-868B-4B8B82576F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00F9F784-A858-441B-8AB5-6970981417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A4DC363A-5000-472E-8B17-02E7DCB884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5548425D-2C21-4C56-BAD4-662978775C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C63E9726-E64C-42B2-AE8A-8C235A956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86100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1086A78-3E74-450C-96A6-CA8AC37AF7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xmlns="" id="{5F5B7312-975A-4DBC-9B2F-3652ADA006F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xmlns="" id="{AAF805F5-1DFF-41C6-944C-7D79FE0D096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xmlns="" id="{02113D81-8665-4516-BD81-C6A1F254E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xmlns="" id="{2B00C88B-FF32-40AA-A187-727D96FD78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xmlns="" id="{A04D1A2D-69F7-4B8F-A730-BC26DC340B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46468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036C49F-3E68-4175-81BA-3C3FEE4430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426FA736-3DD3-4D4E-B57B-BBE1D8F7D4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99E8855C-D8FD-48F6-B14E-861E0DE4D9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97C0BB88-2F21-42A5-ACFF-83DA47F2D3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CB462B3-1F22-4C05-B4B8-7A279FB7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534815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xmlns="" id="{EAEAB728-701C-4207-A9D5-23FF45C6050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xmlns="" id="{BA8C8CCF-7823-480A-9A19-0F664DD17E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721D5734-7B1F-425D-942F-6EB733440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1E1AAEAC-F08D-45FE-89EC-B1B349A86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BAA44493-9911-47B2-87A6-C2141A972B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82454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xmlns="" id="{E69A0273-1966-4A1B-9370-4C1CE50363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xmlns="" id="{3B9CF87A-0448-49A7-AB25-EBC1D56A40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xmlns="" id="{2EF7B1F2-BB5A-44D0-816D-16AD2C7143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289F7E-B80B-496E-81B4-D396C37C9454}" type="datetimeFigureOut">
              <a:rPr lang="pt-BR" smtClean="0"/>
              <a:t>21/04/2025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xmlns="" id="{C703F94C-2CC8-4DAA-BC35-14FC3E841D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xmlns="" id="{64051336-7048-457A-8B61-D94291D7164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A7E88B7-70CE-4035-AE73-13FA6FB985D4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362929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9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7" Type="http://schemas.openxmlformats.org/officeDocument/2006/relationships/image" Target="../media/image19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image" Target="../media/image17.png"/><Relationship Id="rId4" Type="http://schemas.openxmlformats.org/officeDocument/2006/relationships/image" Target="../media/image110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Regress&#227;o_com_DNNs.ipynb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ercises/Exerc&#237;cio_sobre_regress&#227;o_com_DNNs.ipynb" TargetMode="Externa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colab.research.google.com/github/zz4fap/tp557-iot-ml/blob/master/exercises/Exerc&#237;cio_sobre_regress&#227;o_com_DNN_e_dados_ruidosos.ipynb" TargetMode="Externa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hyperlink" Target="https://keras.io/callbacks/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https://colab.research.google.com/github/zz4fap/tp557-iot-ml/blob/master/examples/Usando_callbacks.ipynb" TargetMode="External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eg"/><Relationship Id="rId5" Type="http://schemas.openxmlformats.org/officeDocument/2006/relationships/image" Target="../media/image15.png"/><Relationship Id="rId4" Type="http://schemas.openxmlformats.org/officeDocument/2006/relationships/image" Target="../media/image13.png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2" Type="http://schemas.openxmlformats.org/officeDocument/2006/relationships/image" Target="../media/image21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0.png"/><Relationship Id="rId5" Type="http://schemas.openxmlformats.org/officeDocument/2006/relationships/image" Target="../media/image24.png"/><Relationship Id="rId4" Type="http://schemas.openxmlformats.org/officeDocument/2006/relationships/image" Target="../media/image230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13" Type="http://schemas.openxmlformats.org/officeDocument/2006/relationships/image" Target="../media/image38.png"/><Relationship Id="rId18" Type="http://schemas.openxmlformats.org/officeDocument/2006/relationships/image" Target="../media/image41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12" Type="http://schemas.openxmlformats.org/officeDocument/2006/relationships/image" Target="../media/image37.png"/><Relationship Id="rId17" Type="http://schemas.openxmlformats.org/officeDocument/2006/relationships/image" Target="../media/image40.png"/><Relationship Id="rId2" Type="http://schemas.openxmlformats.org/officeDocument/2006/relationships/image" Target="../media/image23.png"/><Relationship Id="rId16" Type="http://schemas.openxmlformats.org/officeDocument/2006/relationships/image" Target="../media/image2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png"/><Relationship Id="rId11" Type="http://schemas.openxmlformats.org/officeDocument/2006/relationships/image" Target="../media/image36.png"/><Relationship Id="rId5" Type="http://schemas.openxmlformats.org/officeDocument/2006/relationships/image" Target="../media/image30.png"/><Relationship Id="rId15" Type="http://schemas.openxmlformats.org/officeDocument/2006/relationships/image" Target="../media/image25.png"/><Relationship Id="rId10" Type="http://schemas.openxmlformats.org/officeDocument/2006/relationships/image" Target="../media/image35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Relationship Id="rId14" Type="http://schemas.openxmlformats.org/officeDocument/2006/relationships/image" Target="../media/image3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819807"/>
            <a:ext cx="9144000" cy="2690156"/>
          </a:xfrm>
        </p:spPr>
        <p:txBody>
          <a:bodyPr>
            <a:normAutofit/>
          </a:bodyPr>
          <a:lstStyle/>
          <a:p>
            <a:r>
              <a:rPr lang="pt-BR" sz="5400" dirty="0"/>
              <a:t>TP557 - Tópicos avançados em IoT e </a:t>
            </a:r>
            <a:r>
              <a:rPr lang="pt-BR" sz="5400" dirty="0" err="1"/>
              <a:t>Machine</a:t>
            </a:r>
            <a:r>
              <a:rPr lang="pt-BR" sz="5400" dirty="0"/>
              <a:t> Learning:</a:t>
            </a:r>
            <a:r>
              <a:rPr lang="pt-BR" dirty="0"/>
              <a:t/>
            </a:r>
            <a:br>
              <a:rPr lang="pt-BR" dirty="0"/>
            </a:br>
            <a:r>
              <a:rPr lang="pt-BR" b="1" i="1" dirty="0"/>
              <a:t>Regressão com </a:t>
            </a:r>
            <a:r>
              <a:rPr lang="pt-BR" b="1" i="1" dirty="0" err="1"/>
              <a:t>DNNs</a:t>
            </a:r>
            <a:r>
              <a:rPr lang="pt-BR" b="1" i="1" dirty="0"/>
              <a:t> (Parte I)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30EB894-B7D4-434C-9D1A-A14094D9BEEC}"/>
              </a:ext>
            </a:extLst>
          </p:cNvPr>
          <p:cNvSpPr txBox="1"/>
          <p:nvPr/>
        </p:nvSpPr>
        <p:spPr>
          <a:xfrm>
            <a:off x="7915801" y="5780602"/>
            <a:ext cx="4004345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2000" dirty="0"/>
              <a:t>Felipe Augusto Pereira de Figueiredo</a:t>
            </a:r>
          </a:p>
          <a:p>
            <a:r>
              <a:rPr lang="pt-BR" dirty="0"/>
              <a:t>felipe.figueiredo@inatel.br</a:t>
            </a:r>
          </a:p>
        </p:txBody>
      </p:sp>
      <p:pic>
        <p:nvPicPr>
          <p:cNvPr id="1026" name="Picture 2" descr="Logo">
            <a:extLst>
              <a:ext uri="{FF2B5EF4-FFF2-40B4-BE49-F238E27FC236}">
                <a16:creationId xmlns:a16="http://schemas.microsoft.com/office/drawing/2014/main" xmlns="" id="{3F2642E0-4F6A-4196-8F58-E77D36E9A3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759" b="28872"/>
          <a:stretch/>
        </p:blipFill>
        <p:spPr bwMode="auto">
          <a:xfrm>
            <a:off x="393306" y="5780602"/>
            <a:ext cx="2261388" cy="6771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2" name="Picture 2" descr="Image result for machine learning">
            <a:extLst>
              <a:ext uri="{FF2B5EF4-FFF2-40B4-BE49-F238E27FC236}">
                <a16:creationId xmlns:a16="http://schemas.microsoft.com/office/drawing/2014/main" xmlns="" id="{810CE0A2-4102-44A6-A370-175E7896CDC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93" t="8107" r="14530" b="5794"/>
          <a:stretch/>
        </p:blipFill>
        <p:spPr bwMode="auto">
          <a:xfrm>
            <a:off x="6785107" y="3429000"/>
            <a:ext cx="2261389" cy="2237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 descr="IoT Group">
            <a:extLst>
              <a:ext uri="{FF2B5EF4-FFF2-40B4-BE49-F238E27FC236}">
                <a16:creationId xmlns:a16="http://schemas.microsoft.com/office/drawing/2014/main" xmlns="" id="{AC034F57-E830-B6E7-6790-12FDBBDB29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r="63551" b="22561"/>
          <a:stretch/>
        </p:blipFill>
        <p:spPr bwMode="auto">
          <a:xfrm>
            <a:off x="2899985" y="3509963"/>
            <a:ext cx="2509138" cy="20099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866526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EECB3FED-5D1A-7084-5333-A3B2FA75F6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vamos ver?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5FE7774-7186-A846-D8DE-518B2CBF4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199" y="1825624"/>
            <a:ext cx="11039062" cy="5032376"/>
          </a:xfrm>
        </p:spPr>
        <p:txBody>
          <a:bodyPr>
            <a:normAutofit/>
          </a:bodyPr>
          <a:lstStyle/>
          <a:p>
            <a:r>
              <a:rPr lang="pt-BR" dirty="0"/>
              <a:t>Anteriormente, vimos como minimizar iterativamente a função de erro usando o gradiente descendente.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Inicializa-se os pesos, em geral, com valores aleatórios;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Mede-se o erro causado pelo valor atual dos pesos;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Usa-se a informação obtida através do erro (i.e., vetor gradiente) para atualizar os pesos;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Repete-se o processo até a convergência ou até que um critério de parada seja atingido.</a:t>
            </a:r>
          </a:p>
          <a:p>
            <a:r>
              <a:rPr lang="pt-BR" dirty="0"/>
              <a:t>Em termos gerais, é assim que as redes neurais são treinadas.</a:t>
            </a:r>
          </a:p>
          <a:p>
            <a:r>
              <a:rPr lang="pt-BR" dirty="0"/>
              <a:t>Portanto, neste tópico, nós veremos como criar uma rede neural que atinja o mesmo objetivo do exemplo anterior, encontrar uma </a:t>
            </a:r>
            <a:r>
              <a:rPr lang="pt-BR" b="1" i="1" dirty="0">
                <a:solidFill>
                  <a:srgbClr val="00B050"/>
                </a:solidFill>
              </a:rPr>
              <a:t>função linear</a:t>
            </a:r>
            <a:r>
              <a:rPr lang="pt-BR" dirty="0"/>
              <a:t> que aproxime um conjunto de dados.</a:t>
            </a:r>
          </a:p>
        </p:txBody>
      </p:sp>
    </p:spTree>
    <p:extLst>
      <p:ext uri="{BB962C8B-B14F-4D97-AF65-F5344CB8AC3E}">
        <p14:creationId xmlns:p14="http://schemas.microsoft.com/office/powerpoint/2010/main" val="5297399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C4C8F1-9434-104F-8710-FE431298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Conjunto de dados de treinamento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6F74F9F4-136D-CEE1-5233-02754FB87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355771" y="1825624"/>
                <a:ext cx="6564086" cy="5032375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Ao lado temos o conjunto de dados que usamos anteriormente.</a:t>
                </a:r>
              </a:p>
              <a:p>
                <a:r>
                  <a:rPr lang="pt-BR" dirty="0"/>
                  <a:t>Nosso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objetivo</a:t>
                </a:r>
                <a:r>
                  <a:rPr lang="pt-BR" dirty="0"/>
                  <a:t> é encontrar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modelo que mapeie</a:t>
                </a:r>
                <a:r>
                  <a:rPr lang="pt-BR" dirty="0"/>
                  <a:t> os valores de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de forma ótima (no sentido da minimização do erro).</a:t>
                </a:r>
              </a:p>
              <a:p>
                <a:r>
                  <a:rPr lang="pt-BR" dirty="0"/>
                  <a:t>Antes, nós usamos 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gradiente descendente</a:t>
                </a:r>
                <a:r>
                  <a:rPr lang="pt-BR" dirty="0"/>
                  <a:t> para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otimizar os pesos de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função hipótese com formato de reta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Agora, treinaremos uma rede neural para resolver o problema do mapeamento.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F74F9F4-136D-CEE1-5233-02754FB87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355771" y="1825624"/>
                <a:ext cx="6564086" cy="5032375"/>
              </a:xfrm>
              <a:blipFill>
                <a:blip r:embed="rId2"/>
                <a:stretch>
                  <a:fillRect l="-1673" t="-2663" r="-2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A2B44CCB-C6EA-ABAB-B703-F236121B306C}"/>
                  </a:ext>
                </a:extLst>
              </p:cNvPr>
              <p:cNvSpPr txBox="1"/>
              <p:nvPr/>
            </p:nvSpPr>
            <p:spPr>
              <a:xfrm>
                <a:off x="838200" y="1947542"/>
                <a:ext cx="4275711" cy="107721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𝒙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−1, 0, 1, 2, 3, 4</m:t>
                          </m:r>
                        </m:e>
                      </m:d>
                    </m:oMath>
                  </m:oMathPara>
                </a14:m>
                <a:endParaRPr lang="pt-BR" sz="3200" b="0" i="1" dirty="0">
                  <a:latin typeface="Cambria Math" panose="02040503050406030204" pitchFamily="18" charset="0"/>
                </a:endParaRPr>
              </a:p>
              <a:p>
                <a:pPr algn="just"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pt-BR" sz="3200" b="1" i="1" smtClean="0">
                          <a:latin typeface="Cambria Math" panose="02040503050406030204" pitchFamily="18" charset="0"/>
                        </a:rPr>
                        <m:t>𝒚</m:t>
                      </m:r>
                      <m:r>
                        <a:rPr lang="pt-BR" sz="3200" b="0" i="1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{"/>
                          <m:endChr m:val="}"/>
                          <m:ctrlPr>
                            <a:rPr lang="pt-BR" sz="32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3200" b="0" i="1" smtClean="0">
                              <a:latin typeface="Cambria Math" panose="02040503050406030204" pitchFamily="18" charset="0"/>
                            </a:rPr>
                            <m:t>−3, −1, 1, 3, 5, 7</m:t>
                          </m:r>
                        </m:e>
                      </m:d>
                    </m:oMath>
                  </m:oMathPara>
                </a14:m>
                <a:endParaRPr lang="pt-BR" sz="3200" dirty="0"/>
              </a:p>
            </p:txBody>
          </p:sp>
        </mc:Choice>
        <mc:Fallback xmlns=""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id="{A2B44CCB-C6EA-ABAB-B703-F236121B30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1947542"/>
                <a:ext cx="4275711" cy="1077218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144337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FC4C8F1-9434-104F-8710-FE4312988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modelo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6F74F9F4-136D-CEE1-5233-02754FB87A9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6437744" y="1825624"/>
                <a:ext cx="5541819" cy="5032375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Notem que independentemente se estamos usando </a:t>
                </a:r>
                <a:r>
                  <a:rPr lang="pt-BR" b="1" i="1" dirty="0"/>
                  <a:t>hiperplanos</a:t>
                </a:r>
                <a:r>
                  <a:rPr lang="pt-BR" dirty="0"/>
                  <a:t>, </a:t>
                </a:r>
                <a:r>
                  <a:rPr lang="pt-BR" b="1" i="1" dirty="0"/>
                  <a:t>polinômios</a:t>
                </a:r>
                <a:r>
                  <a:rPr lang="pt-BR" dirty="0"/>
                  <a:t> ou </a:t>
                </a:r>
                <a:r>
                  <a:rPr lang="pt-BR" b="1" i="1" dirty="0"/>
                  <a:t>redes neurais</a:t>
                </a:r>
                <a:r>
                  <a:rPr lang="pt-BR" dirty="0"/>
                  <a:t>, em todos os casos temos uma </a:t>
                </a:r>
                <a:r>
                  <a:rPr lang="pt-BR" b="1" i="1" dirty="0">
                    <a:solidFill>
                      <a:srgbClr val="7030A0"/>
                    </a:solidFill>
                  </a:rPr>
                  <a:t>função</a:t>
                </a:r>
                <a:r>
                  <a:rPr lang="pt-BR" dirty="0"/>
                  <a:t> (i.e.,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modelo</a:t>
                </a:r>
                <a:r>
                  <a:rPr lang="pt-BR" dirty="0"/>
                  <a:t>) e o nosso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objetivo é encontrar seus pesos de forma que o erro seja minimizado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Em outras palavras, queremos encontrar os pesos que façam com que a função mapeie </a:t>
                </a:r>
                <a14:m>
                  <m:oMath xmlns:m="http://schemas.openxmlformats.org/officeDocument/2006/math">
                    <m:r>
                      <a:rPr lang="pt-BR" b="1" i="1" smtClean="0">
                        <a:latin typeface="Cambria Math" panose="02040503050406030204" pitchFamily="18" charset="0"/>
                      </a:rPr>
                      <m:t>𝒙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1" i="1">
                        <a:latin typeface="Cambria Math" panose="02040503050406030204" pitchFamily="18" charset="0"/>
                      </a:rPr>
                      <m:t>𝒚</m:t>
                    </m:r>
                  </m:oMath>
                </a14:m>
                <a:r>
                  <a:rPr lang="pt-BR" dirty="0"/>
                  <a:t> com o menor erro possível.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6F74F9F4-136D-CEE1-5233-02754FB87A9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6437744" y="1825624"/>
                <a:ext cx="5541819" cy="5032375"/>
              </a:xfrm>
              <a:blipFill>
                <a:blip r:embed="rId2"/>
                <a:stretch>
                  <a:fillRect l="-1980" t="-1937" r="-363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xmlns="" id="{BB88144D-2872-5AFE-89CA-B966B65CF145}"/>
                  </a:ext>
                </a:extLst>
              </p:cNvPr>
              <p:cNvSpPr txBox="1"/>
              <p:nvPr/>
            </p:nvSpPr>
            <p:spPr>
              <a:xfrm>
                <a:off x="838200" y="2027490"/>
                <a:ext cx="5599544" cy="40011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d>
                        <m:d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BB88144D-2872-5AFE-89CA-B966B65CF1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027490"/>
                <a:ext cx="5599544" cy="400110"/>
              </a:xfrm>
              <a:prstGeom prst="rect">
                <a:avLst/>
              </a:prstGeom>
              <a:blipFill>
                <a:blip r:embed="rId3"/>
                <a:stretch>
                  <a:fillRect t="-6154" b="-769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C430FC27-A71C-098C-0A38-74E6426AC1C1}"/>
                  </a:ext>
                </a:extLst>
              </p:cNvPr>
              <p:cNvSpPr txBox="1"/>
              <p:nvPr/>
            </p:nvSpPr>
            <p:spPr>
              <a:xfrm>
                <a:off x="838200" y="2891900"/>
                <a:ext cx="5599544" cy="40389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acc>
                        <m:accPr>
                          <m:chr m:val="̂"/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acc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</m:acc>
                      <m:d>
                        <m:d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sSub>
                        <m:sSub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d>
                        <m:d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sSubSup>
                        <m:sSubSupPr>
                          <m:ctrlPr>
                            <a:rPr lang="pt-BR" sz="20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p>
                      </m:sSubSup>
                      <m:d>
                        <m:dPr>
                          <m:ctrlPr>
                            <a:rPr lang="pt-BR" sz="200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  <m:r>
                        <a:rPr lang="pt-BR" sz="2000" b="0" i="1" smtClean="0">
                          <a:latin typeface="Cambria Math" panose="02040503050406030204" pitchFamily="18" charset="0"/>
                        </a:rPr>
                        <m:t>+…+</m:t>
                      </m:r>
                      <m:sSub>
                        <m:sSub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b>
                      </m:sSub>
                      <m:sSubSup>
                        <m:sSubSup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  <m:sup>
                          <m:r>
                            <a:rPr lang="pt-BR" sz="2000" b="0" i="1" smtClean="0">
                              <a:latin typeface="Cambria Math" panose="02040503050406030204" pitchFamily="18" charset="0"/>
                            </a:rPr>
                            <m:t>𝐾</m:t>
                          </m:r>
                        </m:sup>
                      </m:sSubSup>
                      <m:d>
                        <m:dPr>
                          <m:ctrlPr>
                            <a:rPr lang="pt-BR" sz="20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pt-BR" sz="2000" i="1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d>
                    </m:oMath>
                  </m:oMathPara>
                </a14:m>
                <a:endParaRPr lang="pt-BR" sz="2000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C430FC27-A71C-098C-0A38-74E6426AC1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2891900"/>
                <a:ext cx="5599544" cy="403893"/>
              </a:xfrm>
              <a:prstGeom prst="rect">
                <a:avLst/>
              </a:prstGeom>
              <a:blipFill>
                <a:blip r:embed="rId4"/>
                <a:stretch>
                  <a:fillRect t="-4478" b="-7463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" name="Imagem 10">
            <a:extLst>
              <a:ext uri="{FF2B5EF4-FFF2-40B4-BE49-F238E27FC236}">
                <a16:creationId xmlns:a16="http://schemas.microsoft.com/office/drawing/2014/main" xmlns="" id="{D15AE257-D58E-7339-C43F-9A8A9A80E6E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3187" y="3760093"/>
            <a:ext cx="3549569" cy="3097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91132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código da rede neural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A1791AC7-C2B0-7101-5671-F00395B916D9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8" name="Espaço Reservado para Conteúdo 2">
            <a:extLst>
              <a:ext uri="{FF2B5EF4-FFF2-40B4-BE49-F238E27FC236}">
                <a16:creationId xmlns:a16="http://schemas.microsoft.com/office/drawing/2014/main" xmlns="" id="{519528D3-91FB-B680-C835-3E7362AD65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5" y="4506686"/>
            <a:ext cx="11473542" cy="2351313"/>
          </a:xfrm>
        </p:spPr>
        <p:txBody>
          <a:bodyPr/>
          <a:lstStyle/>
          <a:p>
            <a:r>
              <a:rPr lang="pt-BR" dirty="0"/>
              <a:t>Usaremos as APIs da biblioteca </a:t>
            </a:r>
            <a:r>
              <a:rPr lang="pt-BR" dirty="0" err="1"/>
              <a:t>TensorFlow</a:t>
            </a:r>
            <a:r>
              <a:rPr lang="pt-BR" dirty="0"/>
              <a:t> para </a:t>
            </a:r>
            <a:r>
              <a:rPr lang="pt-BR" b="1" i="1" dirty="0">
                <a:solidFill>
                  <a:srgbClr val="00B050"/>
                </a:solidFill>
              </a:rPr>
              <a:t>criar</a:t>
            </a:r>
            <a:r>
              <a:rPr lang="pt-BR" dirty="0"/>
              <a:t>, </a:t>
            </a:r>
            <a:r>
              <a:rPr lang="pt-BR" b="1" i="1" dirty="0">
                <a:solidFill>
                  <a:srgbClr val="00B050"/>
                </a:solidFill>
              </a:rPr>
              <a:t>treinar</a:t>
            </a:r>
            <a:r>
              <a:rPr lang="pt-BR" dirty="0"/>
              <a:t> e </a:t>
            </a:r>
            <a:r>
              <a:rPr lang="pt-BR" b="1" i="1" dirty="0">
                <a:solidFill>
                  <a:srgbClr val="00B050"/>
                </a:solidFill>
              </a:rPr>
              <a:t>avaliar</a:t>
            </a:r>
            <a:r>
              <a:rPr lang="pt-BR" dirty="0"/>
              <a:t> nossas redes neurais.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 err="1"/>
              <a:t>A</a:t>
            </a:r>
            <a:r>
              <a:rPr lang="pt-BR" b="1" i="1" dirty="0" err="1">
                <a:effectLst/>
              </a:rPr>
              <a:t>pplication</a:t>
            </a:r>
            <a:r>
              <a:rPr lang="pt-BR" b="1" i="1" dirty="0">
                <a:effectLst/>
              </a:rPr>
              <a:t> </a:t>
            </a:r>
            <a:r>
              <a:rPr lang="pt-BR" b="1" i="1" dirty="0" err="1">
                <a:effectLst/>
              </a:rPr>
              <a:t>programming</a:t>
            </a:r>
            <a:r>
              <a:rPr lang="pt-BR" b="1" i="1" dirty="0">
                <a:effectLst/>
              </a:rPr>
              <a:t> interface </a:t>
            </a:r>
            <a:r>
              <a:rPr lang="pt-BR" dirty="0">
                <a:effectLst/>
              </a:rPr>
              <a:t>(</a:t>
            </a:r>
            <a:r>
              <a:rPr lang="pt-BR" b="1" dirty="0"/>
              <a:t>API</a:t>
            </a:r>
            <a:r>
              <a:rPr lang="pt-BR" dirty="0"/>
              <a:t>): conjunto de regras (e.g., </a:t>
            </a:r>
            <a:r>
              <a:rPr lang="pt-BR" dirty="0">
                <a:effectLst/>
              </a:rPr>
              <a:t>funções, classes, etc.</a:t>
            </a:r>
            <a:r>
              <a:rPr lang="pt-BR" dirty="0"/>
              <a:t>) </a:t>
            </a:r>
            <a:r>
              <a:rPr lang="pt-BR" dirty="0">
                <a:effectLst/>
              </a:rPr>
              <a:t>que um software oferece para que desenvolvedores ou outros programas possam interagir com ele.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6305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o conjunto de treinamento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8715" y="4506686"/>
                <a:ext cx="11473542" cy="2351313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pt-BR" dirty="0"/>
                  <a:t>As primeiras duas linhas definem o conjunto de treinamento.</a:t>
                </a:r>
              </a:p>
              <a:p>
                <a:r>
                  <a:rPr lang="pt-BR" dirty="0"/>
                  <a:t>Ou seja, os valores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que usaremos para otimizar o modelo durante as iterações e épocas de treinamento.</a:t>
                </a:r>
              </a:p>
              <a:p>
                <a:r>
                  <a:rPr lang="pt-BR" dirty="0"/>
                  <a:t>Cada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corresponde a um valor de </a:t>
                </a:r>
                <a14:m>
                  <m:oMath xmlns:m="http://schemas.openxmlformats.org/officeDocument/2006/math">
                    <m:r>
                      <a:rPr lang="pt-BR" i="1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.</a:t>
                </a:r>
              </a:p>
              <a:p>
                <a:r>
                  <a:rPr lang="pt-BR" dirty="0"/>
                  <a:t>O Tensorflow espera que o conjunto de dados sejam </a:t>
                </a:r>
                <a:r>
                  <a:rPr lang="pt-BR" i="1" dirty="0" err="1"/>
                  <a:t>arrays</a:t>
                </a:r>
                <a:r>
                  <a:rPr lang="pt-BR" dirty="0"/>
                  <a:t> </a:t>
                </a:r>
                <a:r>
                  <a:rPr lang="pt-BR" dirty="0" err="1"/>
                  <a:t>NumPy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8715" y="4506686"/>
                <a:ext cx="11473542" cy="2351313"/>
              </a:xfrm>
              <a:blipFill>
                <a:blip r:embed="rId2"/>
                <a:stretch>
                  <a:fillRect l="-956" t="-5699" b="-518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xmlns="" id="{2978BF3C-13F3-2A8F-20C2-C8B2ED8D1C42}"/>
              </a:ext>
            </a:extLst>
          </p:cNvPr>
          <p:cNvSpPr/>
          <p:nvPr/>
        </p:nvSpPr>
        <p:spPr>
          <a:xfrm>
            <a:off x="2370363" y="1690688"/>
            <a:ext cx="3976007" cy="66062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48165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5" y="4506686"/>
            <a:ext cx="11473542" cy="2351313"/>
          </a:xfrm>
        </p:spPr>
        <p:txBody>
          <a:bodyPr>
            <a:normAutofit/>
          </a:bodyPr>
          <a:lstStyle/>
          <a:p>
            <a:r>
              <a:rPr lang="pt-BR" dirty="0"/>
              <a:t>Na sequência, temos a definição da rede neural.</a:t>
            </a:r>
          </a:p>
          <a:p>
            <a:r>
              <a:rPr lang="pt-BR" dirty="0"/>
              <a:t>É uma rede neural muito simples, uma das mais simples que veremos.</a:t>
            </a:r>
          </a:p>
          <a:p>
            <a:r>
              <a:rPr lang="pt-BR" dirty="0"/>
              <a:t>Antes de discutirmos o código, vamos relembrar alguns termos para que possamos entendê-lo.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251038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30E04A-E250-2E8C-4DA7-FE39DF09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alguns termos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89C2729-D87A-8E86-AB96-FFDA07D4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24600" y="1825624"/>
            <a:ext cx="5704114" cy="5032371"/>
          </a:xfrm>
        </p:spPr>
        <p:txBody>
          <a:bodyPr/>
          <a:lstStyle/>
          <a:p>
            <a:r>
              <a:rPr lang="pt-BR" dirty="0"/>
              <a:t>Na rede neural ao lado, cada um dos círculos é um neurônio ou nó.</a:t>
            </a:r>
          </a:p>
        </p:txBody>
      </p:sp>
      <p:grpSp>
        <p:nvGrpSpPr>
          <p:cNvPr id="77" name="Agrupar 76">
            <a:extLst>
              <a:ext uri="{FF2B5EF4-FFF2-40B4-BE49-F238E27FC236}">
                <a16:creationId xmlns:a16="http://schemas.microsoft.com/office/drawing/2014/main" xmlns="" id="{F8A379B1-E489-BBAB-ABBA-4E2CADA1B609}"/>
              </a:ext>
            </a:extLst>
          </p:cNvPr>
          <p:cNvGrpSpPr/>
          <p:nvPr/>
        </p:nvGrpSpPr>
        <p:grpSpPr>
          <a:xfrm>
            <a:off x="1262741" y="2275505"/>
            <a:ext cx="3086099" cy="3058495"/>
            <a:chOff x="598713" y="2308162"/>
            <a:chExt cx="3086099" cy="3058495"/>
          </a:xfrm>
        </p:grpSpPr>
        <p:sp>
          <p:nvSpPr>
            <p:cNvPr id="78" name="Elipse 77">
              <a:extLst>
                <a:ext uri="{FF2B5EF4-FFF2-40B4-BE49-F238E27FC236}">
                  <a16:creationId xmlns:a16="http://schemas.microsoft.com/office/drawing/2014/main" xmlns="" id="{3F711C16-999C-441C-29DF-DF5D5C235C30}"/>
                </a:ext>
              </a:extLst>
            </p:cNvPr>
            <p:cNvSpPr/>
            <p:nvPr/>
          </p:nvSpPr>
          <p:spPr>
            <a:xfrm>
              <a:off x="1828800" y="2645229"/>
              <a:ext cx="566057" cy="566057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79" name="Elipse 78">
              <a:extLst>
                <a:ext uri="{FF2B5EF4-FFF2-40B4-BE49-F238E27FC236}">
                  <a16:creationId xmlns:a16="http://schemas.microsoft.com/office/drawing/2014/main" xmlns="" id="{DAD915BA-2D78-7CBE-5751-0196BDC99FF0}"/>
                </a:ext>
              </a:extLst>
            </p:cNvPr>
            <p:cNvSpPr/>
            <p:nvPr/>
          </p:nvSpPr>
          <p:spPr>
            <a:xfrm>
              <a:off x="1828799" y="3363686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0" name="Elipse 79">
              <a:extLst>
                <a:ext uri="{FF2B5EF4-FFF2-40B4-BE49-F238E27FC236}">
                  <a16:creationId xmlns:a16="http://schemas.microsoft.com/office/drawing/2014/main" xmlns="" id="{051DA8EE-4CB1-4D59-F041-CC7FF7A0518E}"/>
                </a:ext>
              </a:extLst>
            </p:cNvPr>
            <p:cNvSpPr/>
            <p:nvPr/>
          </p:nvSpPr>
          <p:spPr>
            <a:xfrm>
              <a:off x="1828799" y="4082143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1" name="Elipse 80">
              <a:extLst>
                <a:ext uri="{FF2B5EF4-FFF2-40B4-BE49-F238E27FC236}">
                  <a16:creationId xmlns:a16="http://schemas.microsoft.com/office/drawing/2014/main" xmlns="" id="{19A74916-C423-EB59-EEBB-40E2C027DE0D}"/>
                </a:ext>
              </a:extLst>
            </p:cNvPr>
            <p:cNvSpPr/>
            <p:nvPr/>
          </p:nvSpPr>
          <p:spPr>
            <a:xfrm>
              <a:off x="1828799" y="4800600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2" name="Elipse 81">
              <a:extLst>
                <a:ext uri="{FF2B5EF4-FFF2-40B4-BE49-F238E27FC236}">
                  <a16:creationId xmlns:a16="http://schemas.microsoft.com/office/drawing/2014/main" xmlns="" id="{E3A39CB9-6045-6283-87A1-A27DB4DD6B0A}"/>
                </a:ext>
              </a:extLst>
            </p:cNvPr>
            <p:cNvSpPr/>
            <p:nvPr/>
          </p:nvSpPr>
          <p:spPr>
            <a:xfrm>
              <a:off x="2786742" y="336368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3" name="Elipse 82">
              <a:extLst>
                <a:ext uri="{FF2B5EF4-FFF2-40B4-BE49-F238E27FC236}">
                  <a16:creationId xmlns:a16="http://schemas.microsoft.com/office/drawing/2014/main" xmlns="" id="{A63130C6-D637-BB5C-C4BF-D644C40FA95A}"/>
                </a:ext>
              </a:extLst>
            </p:cNvPr>
            <p:cNvSpPr/>
            <p:nvPr/>
          </p:nvSpPr>
          <p:spPr>
            <a:xfrm>
              <a:off x="2786741" y="4082142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4" name="Elipse 83">
              <a:extLst>
                <a:ext uri="{FF2B5EF4-FFF2-40B4-BE49-F238E27FC236}">
                  <a16:creationId xmlns:a16="http://schemas.microsoft.com/office/drawing/2014/main" xmlns="" id="{AEB215F3-6528-4707-50FC-34BF384575D9}"/>
                </a:ext>
              </a:extLst>
            </p:cNvPr>
            <p:cNvSpPr/>
            <p:nvPr/>
          </p:nvSpPr>
          <p:spPr>
            <a:xfrm>
              <a:off x="870856" y="296261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5" name="Elipse 84">
              <a:extLst>
                <a:ext uri="{FF2B5EF4-FFF2-40B4-BE49-F238E27FC236}">
                  <a16:creationId xmlns:a16="http://schemas.microsoft.com/office/drawing/2014/main" xmlns="" id="{D872480E-CA74-453B-B356-1CB8A7F6C1F7}"/>
                </a:ext>
              </a:extLst>
            </p:cNvPr>
            <p:cNvSpPr/>
            <p:nvPr/>
          </p:nvSpPr>
          <p:spPr>
            <a:xfrm>
              <a:off x="870856" y="371826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86" name="Elipse 85">
              <a:extLst>
                <a:ext uri="{FF2B5EF4-FFF2-40B4-BE49-F238E27FC236}">
                  <a16:creationId xmlns:a16="http://schemas.microsoft.com/office/drawing/2014/main" xmlns="" id="{C023918A-1BF1-E544-F30A-ADDEA61A6A9C}"/>
                </a:ext>
              </a:extLst>
            </p:cNvPr>
            <p:cNvSpPr/>
            <p:nvPr/>
          </p:nvSpPr>
          <p:spPr>
            <a:xfrm>
              <a:off x="870856" y="4473915"/>
              <a:ext cx="566057" cy="566057"/>
            </a:xfrm>
            <a:prstGeom prst="ellipse">
              <a:avLst/>
            </a:prstGeom>
            <a:solidFill>
              <a:schemeClr val="bg1">
                <a:lumMod val="8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cxnSp>
          <p:nvCxnSpPr>
            <p:cNvPr id="87" name="Conector de Seta Reta 86">
              <a:extLst>
                <a:ext uri="{FF2B5EF4-FFF2-40B4-BE49-F238E27FC236}">
                  <a16:creationId xmlns:a16="http://schemas.microsoft.com/office/drawing/2014/main" xmlns="" id="{4B0761D3-1D33-4C45-117F-C6828FCEAE1C}"/>
                </a:ext>
              </a:extLst>
            </p:cNvPr>
            <p:cNvCxnSpPr>
              <a:stCxn id="84" idx="6"/>
              <a:endCxn id="78" idx="2"/>
            </p:cNvCxnSpPr>
            <p:nvPr/>
          </p:nvCxnSpPr>
          <p:spPr>
            <a:xfrm flipV="1">
              <a:off x="1436913" y="2928258"/>
              <a:ext cx="391887" cy="3173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8" name="Conector de Seta Reta 87">
              <a:extLst>
                <a:ext uri="{FF2B5EF4-FFF2-40B4-BE49-F238E27FC236}">
                  <a16:creationId xmlns:a16="http://schemas.microsoft.com/office/drawing/2014/main" xmlns="" id="{10E618C7-0E69-7F34-602A-77456DA73C9B}"/>
                </a:ext>
              </a:extLst>
            </p:cNvPr>
            <p:cNvCxnSpPr>
              <a:stCxn id="84" idx="6"/>
              <a:endCxn id="79" idx="2"/>
            </p:cNvCxnSpPr>
            <p:nvPr/>
          </p:nvCxnSpPr>
          <p:spPr>
            <a:xfrm>
              <a:off x="1436913" y="3245644"/>
              <a:ext cx="391886" cy="40107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Conector de Seta Reta 88">
              <a:extLst>
                <a:ext uri="{FF2B5EF4-FFF2-40B4-BE49-F238E27FC236}">
                  <a16:creationId xmlns:a16="http://schemas.microsoft.com/office/drawing/2014/main" xmlns="" id="{2EF3BEA5-154E-8C01-8F7F-EBFB40A86510}"/>
                </a:ext>
              </a:extLst>
            </p:cNvPr>
            <p:cNvCxnSpPr>
              <a:stCxn id="84" idx="6"/>
              <a:endCxn id="80" idx="2"/>
            </p:cNvCxnSpPr>
            <p:nvPr/>
          </p:nvCxnSpPr>
          <p:spPr>
            <a:xfrm>
              <a:off x="1436913" y="3245644"/>
              <a:ext cx="391886" cy="111952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0" name="Conector de Seta Reta 89">
              <a:extLst>
                <a:ext uri="{FF2B5EF4-FFF2-40B4-BE49-F238E27FC236}">
                  <a16:creationId xmlns:a16="http://schemas.microsoft.com/office/drawing/2014/main" xmlns="" id="{3912DB0B-BA7B-88FA-614E-2A3BFF94445E}"/>
                </a:ext>
              </a:extLst>
            </p:cNvPr>
            <p:cNvCxnSpPr>
              <a:stCxn id="84" idx="6"/>
              <a:endCxn id="81" idx="2"/>
            </p:cNvCxnSpPr>
            <p:nvPr/>
          </p:nvCxnSpPr>
          <p:spPr>
            <a:xfrm>
              <a:off x="1436913" y="3245644"/>
              <a:ext cx="391886" cy="18379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1" name="Conector de Seta Reta 90">
              <a:extLst>
                <a:ext uri="{FF2B5EF4-FFF2-40B4-BE49-F238E27FC236}">
                  <a16:creationId xmlns:a16="http://schemas.microsoft.com/office/drawing/2014/main" xmlns="" id="{C6CD3620-0444-E712-1D4A-A5A4B2CF8F63}"/>
                </a:ext>
              </a:extLst>
            </p:cNvPr>
            <p:cNvCxnSpPr>
              <a:stCxn id="85" idx="6"/>
              <a:endCxn id="78" idx="2"/>
            </p:cNvCxnSpPr>
            <p:nvPr/>
          </p:nvCxnSpPr>
          <p:spPr>
            <a:xfrm flipV="1">
              <a:off x="1436913" y="2928258"/>
              <a:ext cx="391887" cy="107303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Conector de Seta Reta 91">
              <a:extLst>
                <a:ext uri="{FF2B5EF4-FFF2-40B4-BE49-F238E27FC236}">
                  <a16:creationId xmlns:a16="http://schemas.microsoft.com/office/drawing/2014/main" xmlns="" id="{5E2A5F46-9BC2-47B0-C5E0-BAA439CC01FC}"/>
                </a:ext>
              </a:extLst>
            </p:cNvPr>
            <p:cNvCxnSpPr>
              <a:stCxn id="86" idx="6"/>
              <a:endCxn id="79" idx="2"/>
            </p:cNvCxnSpPr>
            <p:nvPr/>
          </p:nvCxnSpPr>
          <p:spPr>
            <a:xfrm flipV="1">
              <a:off x="1436913" y="3646715"/>
              <a:ext cx="391886" cy="111022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3" name="Conector de Seta Reta 92">
              <a:extLst>
                <a:ext uri="{FF2B5EF4-FFF2-40B4-BE49-F238E27FC236}">
                  <a16:creationId xmlns:a16="http://schemas.microsoft.com/office/drawing/2014/main" xmlns="" id="{F9D3224F-AF72-0426-8205-4FBD527BD7AD}"/>
                </a:ext>
              </a:extLst>
            </p:cNvPr>
            <p:cNvCxnSpPr>
              <a:stCxn id="85" idx="6"/>
              <a:endCxn id="79" idx="2"/>
            </p:cNvCxnSpPr>
            <p:nvPr/>
          </p:nvCxnSpPr>
          <p:spPr>
            <a:xfrm flipV="1">
              <a:off x="1436913" y="3646715"/>
              <a:ext cx="391886" cy="3545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Conector de Seta Reta 93">
              <a:extLst>
                <a:ext uri="{FF2B5EF4-FFF2-40B4-BE49-F238E27FC236}">
                  <a16:creationId xmlns:a16="http://schemas.microsoft.com/office/drawing/2014/main" xmlns="" id="{A66DAE43-0A1F-9F45-1176-49DCA5478EB6}"/>
                </a:ext>
              </a:extLst>
            </p:cNvPr>
            <p:cNvCxnSpPr>
              <a:stCxn id="85" idx="6"/>
              <a:endCxn id="80" idx="2"/>
            </p:cNvCxnSpPr>
            <p:nvPr/>
          </p:nvCxnSpPr>
          <p:spPr>
            <a:xfrm>
              <a:off x="1436913" y="4001294"/>
              <a:ext cx="391886" cy="36387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Conector de Seta Reta 94">
              <a:extLst>
                <a:ext uri="{FF2B5EF4-FFF2-40B4-BE49-F238E27FC236}">
                  <a16:creationId xmlns:a16="http://schemas.microsoft.com/office/drawing/2014/main" xmlns="" id="{60EAF2FA-38FF-EE48-A5C7-2BD378ED0805}"/>
                </a:ext>
              </a:extLst>
            </p:cNvPr>
            <p:cNvCxnSpPr>
              <a:stCxn id="85" idx="6"/>
              <a:endCxn id="81" idx="2"/>
            </p:cNvCxnSpPr>
            <p:nvPr/>
          </p:nvCxnSpPr>
          <p:spPr>
            <a:xfrm>
              <a:off x="1436913" y="4001294"/>
              <a:ext cx="391886" cy="108233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Conector de Seta Reta 95">
              <a:extLst>
                <a:ext uri="{FF2B5EF4-FFF2-40B4-BE49-F238E27FC236}">
                  <a16:creationId xmlns:a16="http://schemas.microsoft.com/office/drawing/2014/main" xmlns="" id="{1C79D24B-5F96-09BC-0793-E01EC40CB9BD}"/>
                </a:ext>
              </a:extLst>
            </p:cNvPr>
            <p:cNvCxnSpPr>
              <a:stCxn id="86" idx="6"/>
              <a:endCxn id="78" idx="2"/>
            </p:cNvCxnSpPr>
            <p:nvPr/>
          </p:nvCxnSpPr>
          <p:spPr>
            <a:xfrm flipV="1">
              <a:off x="1436913" y="2928258"/>
              <a:ext cx="391887" cy="182868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Conector de Seta Reta 96">
              <a:extLst>
                <a:ext uri="{FF2B5EF4-FFF2-40B4-BE49-F238E27FC236}">
                  <a16:creationId xmlns:a16="http://schemas.microsoft.com/office/drawing/2014/main" xmlns="" id="{AA49314F-364F-E84C-1DA5-F879603AAA8A}"/>
                </a:ext>
              </a:extLst>
            </p:cNvPr>
            <p:cNvCxnSpPr>
              <a:stCxn id="86" idx="6"/>
              <a:endCxn id="80" idx="2"/>
            </p:cNvCxnSpPr>
            <p:nvPr/>
          </p:nvCxnSpPr>
          <p:spPr>
            <a:xfrm flipV="1">
              <a:off x="1436913" y="4365172"/>
              <a:ext cx="391886" cy="391772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8" name="Conector de Seta Reta 97">
              <a:extLst>
                <a:ext uri="{FF2B5EF4-FFF2-40B4-BE49-F238E27FC236}">
                  <a16:creationId xmlns:a16="http://schemas.microsoft.com/office/drawing/2014/main" xmlns="" id="{0B05AD63-B476-DEEF-DAAB-5E56A6B079ED}"/>
                </a:ext>
              </a:extLst>
            </p:cNvPr>
            <p:cNvCxnSpPr>
              <a:stCxn id="86" idx="6"/>
              <a:endCxn id="81" idx="2"/>
            </p:cNvCxnSpPr>
            <p:nvPr/>
          </p:nvCxnSpPr>
          <p:spPr>
            <a:xfrm>
              <a:off x="1436913" y="4756944"/>
              <a:ext cx="391886" cy="32668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9" name="Conector de Seta Reta 98">
              <a:extLst>
                <a:ext uri="{FF2B5EF4-FFF2-40B4-BE49-F238E27FC236}">
                  <a16:creationId xmlns:a16="http://schemas.microsoft.com/office/drawing/2014/main" xmlns="" id="{6B937CD4-117C-7E48-9B45-BC50669F0CC2}"/>
                </a:ext>
              </a:extLst>
            </p:cNvPr>
            <p:cNvCxnSpPr>
              <a:stCxn id="78" idx="6"/>
              <a:endCxn id="82" idx="2"/>
            </p:cNvCxnSpPr>
            <p:nvPr/>
          </p:nvCxnSpPr>
          <p:spPr>
            <a:xfrm>
              <a:off x="2394857" y="2928258"/>
              <a:ext cx="391885" cy="718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Conector de Seta Reta 99">
              <a:extLst>
                <a:ext uri="{FF2B5EF4-FFF2-40B4-BE49-F238E27FC236}">
                  <a16:creationId xmlns:a16="http://schemas.microsoft.com/office/drawing/2014/main" xmlns="" id="{480DCA50-06DD-1BF8-F4F5-263702B10061}"/>
                </a:ext>
              </a:extLst>
            </p:cNvPr>
            <p:cNvCxnSpPr>
              <a:stCxn id="79" idx="6"/>
              <a:endCxn id="83" idx="2"/>
            </p:cNvCxnSpPr>
            <p:nvPr/>
          </p:nvCxnSpPr>
          <p:spPr>
            <a:xfrm>
              <a:off x="2394856" y="3646715"/>
              <a:ext cx="391885" cy="718456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Conector de Seta Reta 100">
              <a:extLst>
                <a:ext uri="{FF2B5EF4-FFF2-40B4-BE49-F238E27FC236}">
                  <a16:creationId xmlns:a16="http://schemas.microsoft.com/office/drawing/2014/main" xmlns="" id="{8D93FBBA-532E-3921-0024-9D156EA6CC1B}"/>
                </a:ext>
              </a:extLst>
            </p:cNvPr>
            <p:cNvCxnSpPr>
              <a:stCxn id="80" idx="6"/>
              <a:endCxn id="83" idx="2"/>
            </p:cNvCxnSpPr>
            <p:nvPr/>
          </p:nvCxnSpPr>
          <p:spPr>
            <a:xfrm flipV="1">
              <a:off x="2394856" y="4365171"/>
              <a:ext cx="391885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Conector de Seta Reta 101">
              <a:extLst>
                <a:ext uri="{FF2B5EF4-FFF2-40B4-BE49-F238E27FC236}">
                  <a16:creationId xmlns:a16="http://schemas.microsoft.com/office/drawing/2014/main" xmlns="" id="{345F2276-9F16-2A1C-8F90-C8391CB65DC7}"/>
                </a:ext>
              </a:extLst>
            </p:cNvPr>
            <p:cNvCxnSpPr>
              <a:stCxn id="81" idx="6"/>
              <a:endCxn id="83" idx="2"/>
            </p:cNvCxnSpPr>
            <p:nvPr/>
          </p:nvCxnSpPr>
          <p:spPr>
            <a:xfrm flipV="1">
              <a:off x="2394856" y="4365171"/>
              <a:ext cx="391885" cy="718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Conector de Seta Reta 102">
              <a:extLst>
                <a:ext uri="{FF2B5EF4-FFF2-40B4-BE49-F238E27FC236}">
                  <a16:creationId xmlns:a16="http://schemas.microsoft.com/office/drawing/2014/main" xmlns="" id="{B5C25FCE-8F3C-6BDA-58BB-933316DC8CB1}"/>
                </a:ext>
              </a:extLst>
            </p:cNvPr>
            <p:cNvCxnSpPr>
              <a:cxnSpLocks/>
              <a:stCxn id="78" idx="6"/>
              <a:endCxn id="83" idx="2"/>
            </p:cNvCxnSpPr>
            <p:nvPr/>
          </p:nvCxnSpPr>
          <p:spPr>
            <a:xfrm>
              <a:off x="2394857" y="2928258"/>
              <a:ext cx="391884" cy="1436913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4" name="Conector de Seta Reta 103">
              <a:extLst>
                <a:ext uri="{FF2B5EF4-FFF2-40B4-BE49-F238E27FC236}">
                  <a16:creationId xmlns:a16="http://schemas.microsoft.com/office/drawing/2014/main" xmlns="" id="{8FCB7AE0-204C-C167-9A5C-B97A8F5A5E02}"/>
                </a:ext>
              </a:extLst>
            </p:cNvPr>
            <p:cNvCxnSpPr>
              <a:stCxn id="79" idx="6"/>
              <a:endCxn id="82" idx="2"/>
            </p:cNvCxnSpPr>
            <p:nvPr/>
          </p:nvCxnSpPr>
          <p:spPr>
            <a:xfrm flipV="1">
              <a:off x="2394856" y="3646714"/>
              <a:ext cx="391886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Conector de Seta Reta 104">
              <a:extLst>
                <a:ext uri="{FF2B5EF4-FFF2-40B4-BE49-F238E27FC236}">
                  <a16:creationId xmlns:a16="http://schemas.microsoft.com/office/drawing/2014/main" xmlns="" id="{9E2A57D1-BF18-440A-1624-40AA9C0C9AED}"/>
                </a:ext>
              </a:extLst>
            </p:cNvPr>
            <p:cNvCxnSpPr>
              <a:stCxn id="80" idx="6"/>
              <a:endCxn id="82" idx="2"/>
            </p:cNvCxnSpPr>
            <p:nvPr/>
          </p:nvCxnSpPr>
          <p:spPr>
            <a:xfrm flipV="1">
              <a:off x="2394856" y="3646714"/>
              <a:ext cx="391886" cy="718458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Conector de Seta Reta 105">
              <a:extLst>
                <a:ext uri="{FF2B5EF4-FFF2-40B4-BE49-F238E27FC236}">
                  <a16:creationId xmlns:a16="http://schemas.microsoft.com/office/drawing/2014/main" xmlns="" id="{78EF831F-87D7-DBF8-17BD-62684A5E63BF}"/>
                </a:ext>
              </a:extLst>
            </p:cNvPr>
            <p:cNvCxnSpPr>
              <a:stCxn id="81" idx="6"/>
              <a:endCxn id="82" idx="2"/>
            </p:cNvCxnSpPr>
            <p:nvPr/>
          </p:nvCxnSpPr>
          <p:spPr>
            <a:xfrm flipV="1">
              <a:off x="2394856" y="3646714"/>
              <a:ext cx="391886" cy="1436915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CaixaDeTexto 106">
              <a:extLst>
                <a:ext uri="{FF2B5EF4-FFF2-40B4-BE49-F238E27FC236}">
                  <a16:creationId xmlns:a16="http://schemas.microsoft.com/office/drawing/2014/main" xmlns="" id="{86ECE9D6-68DB-75D1-E666-3B2F4229CC83}"/>
                </a:ext>
              </a:extLst>
            </p:cNvPr>
            <p:cNvSpPr txBox="1"/>
            <p:nvPr/>
          </p:nvSpPr>
          <p:spPr>
            <a:xfrm>
              <a:off x="2454726" y="2308162"/>
              <a:ext cx="123008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/>
                <a:t>Neurônio</a:t>
              </a:r>
            </a:p>
          </p:txBody>
        </p:sp>
        <p:sp>
          <p:nvSpPr>
            <p:cNvPr id="108" name="Forma Livre: Forma 107">
              <a:extLst>
                <a:ext uri="{FF2B5EF4-FFF2-40B4-BE49-F238E27FC236}">
                  <a16:creationId xmlns:a16="http://schemas.microsoft.com/office/drawing/2014/main" xmlns="" id="{75F6CAE9-4F5B-92EC-1FA9-38BDB9DC55A4}"/>
                </a:ext>
              </a:extLst>
            </p:cNvPr>
            <p:cNvSpPr/>
            <p:nvPr/>
          </p:nvSpPr>
          <p:spPr>
            <a:xfrm>
              <a:off x="2068281" y="2424094"/>
              <a:ext cx="413657" cy="166042"/>
            </a:xfrm>
            <a:custGeom>
              <a:avLst/>
              <a:gdLst>
                <a:gd name="connsiteX0" fmla="*/ 0 w 413657"/>
                <a:gd name="connsiteY0" fmla="*/ 166042 h 166042"/>
                <a:gd name="connsiteX1" fmla="*/ 76200 w 413657"/>
                <a:gd name="connsiteY1" fmla="*/ 2756 h 166042"/>
                <a:gd name="connsiteX2" fmla="*/ 413657 w 413657"/>
                <a:gd name="connsiteY2" fmla="*/ 78956 h 1660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3657" h="166042">
                  <a:moveTo>
                    <a:pt x="0" y="166042"/>
                  </a:moveTo>
                  <a:cubicBezTo>
                    <a:pt x="3628" y="91656"/>
                    <a:pt x="7257" y="17270"/>
                    <a:pt x="76200" y="2756"/>
                  </a:cubicBezTo>
                  <a:cubicBezTo>
                    <a:pt x="145143" y="-11758"/>
                    <a:pt x="279400" y="33599"/>
                    <a:pt x="413657" y="78956"/>
                  </a:cubicBezTo>
                </a:path>
              </a:pathLst>
            </a:cu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cxnSp>
          <p:nvCxnSpPr>
            <p:cNvPr id="109" name="Conector de Seta Reta 108">
              <a:extLst>
                <a:ext uri="{FF2B5EF4-FFF2-40B4-BE49-F238E27FC236}">
                  <a16:creationId xmlns:a16="http://schemas.microsoft.com/office/drawing/2014/main" xmlns="" id="{DD200772-7E7B-FE6C-44AC-7E941863A6BF}"/>
                </a:ext>
              </a:extLst>
            </p:cNvPr>
            <p:cNvCxnSpPr>
              <a:endCxn id="84" idx="2"/>
            </p:cNvCxnSpPr>
            <p:nvPr/>
          </p:nvCxnSpPr>
          <p:spPr>
            <a:xfrm>
              <a:off x="598714" y="3245643"/>
              <a:ext cx="27214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Conector de Seta Reta 109">
              <a:extLst>
                <a:ext uri="{FF2B5EF4-FFF2-40B4-BE49-F238E27FC236}">
                  <a16:creationId xmlns:a16="http://schemas.microsoft.com/office/drawing/2014/main" xmlns="" id="{9D8F67E1-B2AC-FD49-9C70-5716FA06969F}"/>
                </a:ext>
              </a:extLst>
            </p:cNvPr>
            <p:cNvCxnSpPr>
              <a:endCxn id="85" idx="2"/>
            </p:cNvCxnSpPr>
            <p:nvPr/>
          </p:nvCxnSpPr>
          <p:spPr>
            <a:xfrm>
              <a:off x="598714" y="3245643"/>
              <a:ext cx="272142" cy="75565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Conector de Seta Reta 110">
              <a:extLst>
                <a:ext uri="{FF2B5EF4-FFF2-40B4-BE49-F238E27FC236}">
                  <a16:creationId xmlns:a16="http://schemas.microsoft.com/office/drawing/2014/main" xmlns="" id="{5CB1FBC1-928E-E251-5995-908DBAA08898}"/>
                </a:ext>
              </a:extLst>
            </p:cNvPr>
            <p:cNvCxnSpPr>
              <a:endCxn id="86" idx="2"/>
            </p:cNvCxnSpPr>
            <p:nvPr/>
          </p:nvCxnSpPr>
          <p:spPr>
            <a:xfrm>
              <a:off x="598714" y="3245643"/>
              <a:ext cx="272142" cy="151130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Conector de Seta Reta 111">
              <a:extLst>
                <a:ext uri="{FF2B5EF4-FFF2-40B4-BE49-F238E27FC236}">
                  <a16:creationId xmlns:a16="http://schemas.microsoft.com/office/drawing/2014/main" xmlns="" id="{A35DF8F4-1616-8571-93FE-278EB3816FD4}"/>
                </a:ext>
              </a:extLst>
            </p:cNvPr>
            <p:cNvCxnSpPr/>
            <p:nvPr/>
          </p:nvCxnSpPr>
          <p:spPr>
            <a:xfrm>
              <a:off x="598714" y="4726100"/>
              <a:ext cx="27214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3" name="Conector reto 112">
              <a:extLst>
                <a:ext uri="{FF2B5EF4-FFF2-40B4-BE49-F238E27FC236}">
                  <a16:creationId xmlns:a16="http://schemas.microsoft.com/office/drawing/2014/main" xmlns="" id="{B58FD32B-52AF-36BD-1B41-7407D017B459}"/>
                </a:ext>
              </a:extLst>
            </p:cNvPr>
            <p:cNvCxnSpPr>
              <a:cxnSpLocks/>
              <a:endCxn id="85" idx="2"/>
            </p:cNvCxnSpPr>
            <p:nvPr/>
          </p:nvCxnSpPr>
          <p:spPr>
            <a:xfrm flipV="1">
              <a:off x="598713" y="4001294"/>
              <a:ext cx="272143" cy="723106"/>
            </a:xfrm>
            <a:prstGeom prst="line">
              <a:avLst/>
            </a:prstGeom>
            <a:ln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4" name="Conector de Seta Reta 113">
              <a:extLst>
                <a:ext uri="{FF2B5EF4-FFF2-40B4-BE49-F238E27FC236}">
                  <a16:creationId xmlns:a16="http://schemas.microsoft.com/office/drawing/2014/main" xmlns="" id="{3EA617B7-DB9F-3092-147B-1F5A71166A33}"/>
                </a:ext>
              </a:extLst>
            </p:cNvPr>
            <p:cNvCxnSpPr/>
            <p:nvPr/>
          </p:nvCxnSpPr>
          <p:spPr>
            <a:xfrm>
              <a:off x="3352797" y="3646712"/>
              <a:ext cx="27214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5" name="Conector de Seta Reta 114">
              <a:extLst>
                <a:ext uri="{FF2B5EF4-FFF2-40B4-BE49-F238E27FC236}">
                  <a16:creationId xmlns:a16="http://schemas.microsoft.com/office/drawing/2014/main" xmlns="" id="{366AFBA3-B356-BFC5-FC24-1A6E67F4DA23}"/>
                </a:ext>
              </a:extLst>
            </p:cNvPr>
            <p:cNvCxnSpPr/>
            <p:nvPr/>
          </p:nvCxnSpPr>
          <p:spPr>
            <a:xfrm>
              <a:off x="3352797" y="4362846"/>
              <a:ext cx="272142" cy="1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xmlns="" id="{1CD8757B-1311-4FA6-2200-D5AC926E7B0D}"/>
                  </a:ext>
                </a:extLst>
              </p:cNvPr>
              <p:cNvSpPr txBox="1"/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6" name="CaixaDeTexto 115">
                <a:extLst>
                  <a:ext uri="{FF2B5EF4-FFF2-40B4-BE49-F238E27FC236}">
                    <a16:creationId xmlns:a16="http://schemas.microsoft.com/office/drawing/2014/main" id="{1CD8757B-1311-4FA6-2200-D5AC926E7B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blipFill>
                <a:blip r:embed="rId2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xmlns="" id="{A6BDB99A-A149-B3C5-BA75-3DD4A1960242}"/>
                  </a:ext>
                </a:extLst>
              </p:cNvPr>
              <p:cNvSpPr txBox="1"/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117" name="CaixaDeTexto 116">
                <a:extLst>
                  <a:ext uri="{FF2B5EF4-FFF2-40B4-BE49-F238E27FC236}">
                    <a16:creationId xmlns:a16="http://schemas.microsoft.com/office/drawing/2014/main" id="{A6BDB99A-A149-B3C5-BA75-3DD4A196024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blipFill>
                <a:blip r:embed="rId3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xmlns="" id="{51509603-7149-245B-A616-80929F56DD4C}"/>
                  </a:ext>
                </a:extLst>
              </p:cNvPr>
              <p:cNvSpPr txBox="1"/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id="{51509603-7149-245B-A616-80929F56DD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blipFill>
                <a:blip r:embed="rId4"/>
                <a:stretch>
                  <a:fillRect t="-6667" r="-3636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A25DD31E-6264-57BF-559E-7FB4B5DC68E2}"/>
                  </a:ext>
                </a:extLst>
              </p:cNvPr>
              <p:cNvSpPr txBox="1"/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id="{A25DD31E-6264-57BF-559E-7FB4B5DC68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blipFill>
                <a:blip r:embed="rId5"/>
                <a:stretch>
                  <a:fillRect t="-6557" r="-3863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Elipse 3">
            <a:extLst>
              <a:ext uri="{FF2B5EF4-FFF2-40B4-BE49-F238E27FC236}">
                <a16:creationId xmlns:a16="http://schemas.microsoft.com/office/drawing/2014/main" xmlns="" id="{1F135C18-EBA0-AC37-FF53-37F617F8BF86}"/>
              </a:ext>
            </a:extLst>
          </p:cNvPr>
          <p:cNvSpPr/>
          <p:nvPr/>
        </p:nvSpPr>
        <p:spPr>
          <a:xfrm>
            <a:off x="971322" y="3042545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xmlns="" id="{E56C044B-1686-AD12-9440-C64E44FD6EF2}"/>
              </a:ext>
            </a:extLst>
          </p:cNvPr>
          <p:cNvSpPr/>
          <p:nvPr/>
        </p:nvSpPr>
        <p:spPr>
          <a:xfrm>
            <a:off x="982749" y="4504166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9831065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E7ED5550-6E90-775F-7D80-8B1815CA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DDB50FB-EDA7-F7CD-93D2-D8F1963230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alguns termos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AC59215-6342-7B26-1DD9-F90550E170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6925" y="1825624"/>
            <a:ext cx="6151789" cy="503237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Nós chamamos cada um dos </a:t>
            </a:r>
            <a:r>
              <a:rPr lang="pt-BR" b="1" i="1" dirty="0">
                <a:solidFill>
                  <a:srgbClr val="00B050"/>
                </a:solidFill>
              </a:rPr>
              <a:t>conjuntos de neurônios </a:t>
            </a:r>
            <a:r>
              <a:rPr lang="pt-BR" dirty="0"/>
              <a:t>em um retângulo de </a:t>
            </a:r>
            <a:r>
              <a:rPr lang="pt-BR" b="1" i="1" dirty="0">
                <a:solidFill>
                  <a:srgbClr val="00B050"/>
                </a:solidFill>
              </a:rPr>
              <a:t>camada</a:t>
            </a:r>
            <a:r>
              <a:rPr lang="pt-BR" dirty="0"/>
              <a:t>.</a:t>
            </a:r>
          </a:p>
          <a:p>
            <a:r>
              <a:rPr lang="pt-BR" dirty="0"/>
              <a:t>A rede ao lado tem </a:t>
            </a:r>
            <a:r>
              <a:rPr lang="pt-BR" b="1" i="1" dirty="0">
                <a:solidFill>
                  <a:srgbClr val="00B050"/>
                </a:solidFill>
              </a:rPr>
              <a:t>duas camadas ocultas</a:t>
            </a:r>
            <a:r>
              <a:rPr lang="pt-BR" dirty="0"/>
              <a:t> e </a:t>
            </a:r>
            <a:r>
              <a:rPr lang="pt-BR" b="1" i="1" dirty="0">
                <a:solidFill>
                  <a:srgbClr val="00B050"/>
                </a:solidFill>
              </a:rPr>
              <a:t>uma camada de saída</a:t>
            </a:r>
            <a:r>
              <a:rPr lang="pt-BR" dirty="0"/>
              <a:t>.</a:t>
            </a:r>
          </a:p>
          <a:p>
            <a:r>
              <a:rPr lang="pt-BR" b="1" dirty="0"/>
              <a:t>OBS</a:t>
            </a:r>
            <a:r>
              <a:rPr lang="pt-BR" dirty="0"/>
              <a:t>.: alguns autores chamam o ponto de transferência dos atributos para a rede de </a:t>
            </a:r>
            <a:r>
              <a:rPr lang="pt-BR" b="1" i="1" dirty="0">
                <a:solidFill>
                  <a:schemeClr val="accent2"/>
                </a:solidFill>
              </a:rPr>
              <a:t>camada de entrada</a:t>
            </a:r>
            <a:r>
              <a:rPr lang="pt-BR" dirty="0"/>
              <a:t> (retângulo com linha tracejada).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Essa camada </a:t>
            </a:r>
            <a:r>
              <a:rPr lang="pt-BR" b="1" i="1" dirty="0">
                <a:solidFill>
                  <a:srgbClr val="7030A0"/>
                </a:solidFill>
              </a:rPr>
              <a:t>não tem pesos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Ela normalmente é usada para aplicar </a:t>
            </a:r>
            <a:r>
              <a:rPr lang="pt-BR" b="1" i="1" dirty="0">
                <a:solidFill>
                  <a:srgbClr val="0070C0"/>
                </a:solidFill>
              </a:rPr>
              <a:t>transformações de dimensão</a:t>
            </a:r>
            <a:r>
              <a:rPr lang="pt-BR" dirty="0"/>
              <a:t> aos dados de entrada.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xmlns="" id="{FA97F8B8-7440-50FB-2CB9-244879F58181}"/>
              </a:ext>
            </a:extLst>
          </p:cNvPr>
          <p:cNvSpPr/>
          <p:nvPr/>
        </p:nvSpPr>
        <p:spPr>
          <a:xfrm>
            <a:off x="2492828" y="2612572"/>
            <a:ext cx="566057" cy="56605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34C899FC-0198-F3A7-CFC9-2D6E80F0E145}"/>
              </a:ext>
            </a:extLst>
          </p:cNvPr>
          <p:cNvSpPr/>
          <p:nvPr/>
        </p:nvSpPr>
        <p:spPr>
          <a:xfrm>
            <a:off x="2492827" y="3331029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xmlns="" id="{F7B4950A-7E03-EA7F-2759-6CFFC4EBA0A1}"/>
              </a:ext>
            </a:extLst>
          </p:cNvPr>
          <p:cNvSpPr/>
          <p:nvPr/>
        </p:nvSpPr>
        <p:spPr>
          <a:xfrm>
            <a:off x="2492827" y="4049486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xmlns="" id="{173D9231-06BA-F66A-45A5-9E39572C4D4C}"/>
              </a:ext>
            </a:extLst>
          </p:cNvPr>
          <p:cNvSpPr/>
          <p:nvPr/>
        </p:nvSpPr>
        <p:spPr>
          <a:xfrm>
            <a:off x="2492827" y="4767943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xmlns="" id="{3FBD492D-38B6-2540-8A5F-649E6C6B339D}"/>
              </a:ext>
            </a:extLst>
          </p:cNvPr>
          <p:cNvSpPr/>
          <p:nvPr/>
        </p:nvSpPr>
        <p:spPr>
          <a:xfrm>
            <a:off x="3450770" y="333102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54C7C540-8AC4-7C3A-0BA0-86686274F97E}"/>
              </a:ext>
            </a:extLst>
          </p:cNvPr>
          <p:cNvSpPr/>
          <p:nvPr/>
        </p:nvSpPr>
        <p:spPr>
          <a:xfrm>
            <a:off x="3450769" y="4049485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2174687D-97FB-20ED-0C39-F77DBEAE29BA}"/>
              </a:ext>
            </a:extLst>
          </p:cNvPr>
          <p:cNvSpPr/>
          <p:nvPr/>
        </p:nvSpPr>
        <p:spPr>
          <a:xfrm>
            <a:off x="1534884" y="29299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xmlns="" id="{EAC539A0-620D-0EBD-D777-64C5125DA177}"/>
              </a:ext>
            </a:extLst>
          </p:cNvPr>
          <p:cNvSpPr/>
          <p:nvPr/>
        </p:nvSpPr>
        <p:spPr>
          <a:xfrm>
            <a:off x="1534884" y="368560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xmlns="" id="{CF24AD47-056A-928C-8100-D1C1B7A1EEB1}"/>
              </a:ext>
            </a:extLst>
          </p:cNvPr>
          <p:cNvSpPr/>
          <p:nvPr/>
        </p:nvSpPr>
        <p:spPr>
          <a:xfrm>
            <a:off x="1534884" y="44412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xmlns="" id="{0E7125CD-7385-1833-3A02-5DAF20C777C0}"/>
              </a:ext>
            </a:extLst>
          </p:cNvPr>
          <p:cNvCxnSpPr>
            <a:stCxn id="12" idx="6"/>
            <a:endCxn id="6" idx="2"/>
          </p:cNvCxnSpPr>
          <p:nvPr/>
        </p:nvCxnSpPr>
        <p:spPr>
          <a:xfrm flipV="1">
            <a:off x="2100941" y="2895601"/>
            <a:ext cx="391887" cy="3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xmlns="" id="{8499EEBC-1449-46AA-CD1A-082352D7AF92}"/>
              </a:ext>
            </a:extLst>
          </p:cNvPr>
          <p:cNvCxnSpPr>
            <a:stCxn id="12" idx="6"/>
            <a:endCxn id="7" idx="2"/>
          </p:cNvCxnSpPr>
          <p:nvPr/>
        </p:nvCxnSpPr>
        <p:spPr>
          <a:xfrm>
            <a:off x="2100941" y="3212987"/>
            <a:ext cx="391886" cy="40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xmlns="" id="{76A8D25A-A659-D76D-7CE9-63BAC38DCEC6}"/>
              </a:ext>
            </a:extLst>
          </p:cNvPr>
          <p:cNvCxnSpPr>
            <a:stCxn id="12" idx="6"/>
            <a:endCxn id="8" idx="2"/>
          </p:cNvCxnSpPr>
          <p:nvPr/>
        </p:nvCxnSpPr>
        <p:spPr>
          <a:xfrm>
            <a:off x="2100941" y="3212987"/>
            <a:ext cx="391886" cy="111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xmlns="" id="{26FB9E7F-4501-807E-AC4E-94D7CE818401}"/>
              </a:ext>
            </a:extLst>
          </p:cNvPr>
          <p:cNvCxnSpPr>
            <a:stCxn id="12" idx="6"/>
            <a:endCxn id="9" idx="2"/>
          </p:cNvCxnSpPr>
          <p:nvPr/>
        </p:nvCxnSpPr>
        <p:spPr>
          <a:xfrm>
            <a:off x="2100941" y="3212987"/>
            <a:ext cx="391886" cy="1837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xmlns="" id="{C0E94414-4C2F-38A0-A272-AF9219CD3209}"/>
              </a:ext>
            </a:extLst>
          </p:cNvPr>
          <p:cNvCxnSpPr>
            <a:stCxn id="13" idx="6"/>
            <a:endCxn id="6" idx="2"/>
          </p:cNvCxnSpPr>
          <p:nvPr/>
        </p:nvCxnSpPr>
        <p:spPr>
          <a:xfrm flipV="1">
            <a:off x="2100941" y="2895601"/>
            <a:ext cx="391887" cy="107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xmlns="" id="{E9C4A0E6-591C-9D0B-931B-8D346D074EED}"/>
              </a:ext>
            </a:extLst>
          </p:cNvPr>
          <p:cNvCxnSpPr>
            <a:stCxn id="14" idx="6"/>
            <a:endCxn id="7" idx="2"/>
          </p:cNvCxnSpPr>
          <p:nvPr/>
        </p:nvCxnSpPr>
        <p:spPr>
          <a:xfrm flipV="1">
            <a:off x="2100941" y="3614058"/>
            <a:ext cx="391886" cy="111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xmlns="" id="{50B871A0-B943-9240-1AD7-3D52E57A3DD9}"/>
              </a:ext>
            </a:extLst>
          </p:cNvPr>
          <p:cNvCxnSpPr>
            <a:stCxn id="13" idx="6"/>
            <a:endCxn id="7" idx="2"/>
          </p:cNvCxnSpPr>
          <p:nvPr/>
        </p:nvCxnSpPr>
        <p:spPr>
          <a:xfrm flipV="1">
            <a:off x="2100941" y="3614058"/>
            <a:ext cx="391886" cy="35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xmlns="" id="{F72D5DCC-2012-A2EA-0AF6-9343411B2D1C}"/>
              </a:ext>
            </a:extLst>
          </p:cNvPr>
          <p:cNvCxnSpPr>
            <a:stCxn id="13" idx="6"/>
            <a:endCxn id="8" idx="2"/>
          </p:cNvCxnSpPr>
          <p:nvPr/>
        </p:nvCxnSpPr>
        <p:spPr>
          <a:xfrm>
            <a:off x="2100941" y="3968637"/>
            <a:ext cx="391886" cy="36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xmlns="" id="{09D9330E-09B3-48FF-6720-5D43ABFC7153}"/>
              </a:ext>
            </a:extLst>
          </p:cNvPr>
          <p:cNvCxnSpPr>
            <a:stCxn id="13" idx="6"/>
            <a:endCxn id="9" idx="2"/>
          </p:cNvCxnSpPr>
          <p:nvPr/>
        </p:nvCxnSpPr>
        <p:spPr>
          <a:xfrm>
            <a:off x="2100941" y="3968637"/>
            <a:ext cx="391886" cy="1082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xmlns="" id="{2A1B0231-C934-F63A-A0A1-E4FD87BEB659}"/>
              </a:ext>
            </a:extLst>
          </p:cNvPr>
          <p:cNvCxnSpPr>
            <a:stCxn id="14" idx="6"/>
            <a:endCxn id="6" idx="2"/>
          </p:cNvCxnSpPr>
          <p:nvPr/>
        </p:nvCxnSpPr>
        <p:spPr>
          <a:xfrm flipV="1">
            <a:off x="2100941" y="2895601"/>
            <a:ext cx="391887" cy="182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xmlns="" id="{8DE1AD21-5E66-6FD6-375C-700554BE7811}"/>
              </a:ext>
            </a:extLst>
          </p:cNvPr>
          <p:cNvCxnSpPr>
            <a:stCxn id="14" idx="6"/>
            <a:endCxn id="8" idx="2"/>
          </p:cNvCxnSpPr>
          <p:nvPr/>
        </p:nvCxnSpPr>
        <p:spPr>
          <a:xfrm flipV="1">
            <a:off x="2100941" y="4332515"/>
            <a:ext cx="391886" cy="39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xmlns="" id="{CD1B8D74-55AB-AE92-5479-B2D74871D89F}"/>
              </a:ext>
            </a:extLst>
          </p:cNvPr>
          <p:cNvCxnSpPr>
            <a:stCxn id="14" idx="6"/>
            <a:endCxn id="9" idx="2"/>
          </p:cNvCxnSpPr>
          <p:nvPr/>
        </p:nvCxnSpPr>
        <p:spPr>
          <a:xfrm>
            <a:off x="2100941" y="4724287"/>
            <a:ext cx="391886" cy="32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xmlns="" id="{47A35F7F-B76B-ED8D-881C-7BE8ACC9EE11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3058885" y="2895601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xmlns="" id="{B077E76B-4689-3698-FD43-10058DA1B2BE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058884" y="3614058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xmlns="" id="{9D8DEBB8-1211-E6BA-2873-A72B8B34A55F}"/>
              </a:ext>
            </a:extLst>
          </p:cNvPr>
          <p:cNvCxnSpPr>
            <a:stCxn id="8" idx="6"/>
            <a:endCxn id="11" idx="2"/>
          </p:cNvCxnSpPr>
          <p:nvPr/>
        </p:nvCxnSpPr>
        <p:spPr>
          <a:xfrm flipV="1">
            <a:off x="3058884" y="4332514"/>
            <a:ext cx="391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xmlns="" id="{80508D98-FAFB-F342-51B7-92E3CACBAAB8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058884" y="4332514"/>
            <a:ext cx="391885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xmlns="" id="{53CEC21C-5FE8-CA7C-1083-79C626B75F4F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3058885" y="2895601"/>
            <a:ext cx="391884" cy="143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xmlns="" id="{9E2D4AFC-3B21-3B63-9A5D-D98BDBD8C0D2}"/>
              </a:ext>
            </a:extLst>
          </p:cNvPr>
          <p:cNvCxnSpPr>
            <a:stCxn id="7" idx="6"/>
            <a:endCxn id="10" idx="2"/>
          </p:cNvCxnSpPr>
          <p:nvPr/>
        </p:nvCxnSpPr>
        <p:spPr>
          <a:xfrm flipV="1">
            <a:off x="3058884" y="3614057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xmlns="" id="{F0DA1995-ED28-2C76-DA88-82E28DCE74B1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058884" y="3614057"/>
            <a:ext cx="391886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xmlns="" id="{264E2997-B103-DA49-0EC4-D33C4D5E4ECF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058884" y="3614057"/>
            <a:ext cx="391886" cy="143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xmlns="" id="{FA9079BD-5331-3637-DD2D-2C1340C6CEFB}"/>
              </a:ext>
            </a:extLst>
          </p:cNvPr>
          <p:cNvCxnSpPr>
            <a:endCxn id="12" idx="2"/>
          </p:cNvCxnSpPr>
          <p:nvPr/>
        </p:nvCxnSpPr>
        <p:spPr>
          <a:xfrm>
            <a:off x="1262742" y="3212986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xmlns="" id="{78B01544-0E00-4590-B145-7CF5AF0E361E}"/>
              </a:ext>
            </a:extLst>
          </p:cNvPr>
          <p:cNvCxnSpPr>
            <a:endCxn id="13" idx="2"/>
          </p:cNvCxnSpPr>
          <p:nvPr/>
        </p:nvCxnSpPr>
        <p:spPr>
          <a:xfrm>
            <a:off x="1262742" y="3212986"/>
            <a:ext cx="272142" cy="75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xmlns="" id="{9115C0E6-20F5-2027-4C32-26916C4D2E97}"/>
              </a:ext>
            </a:extLst>
          </p:cNvPr>
          <p:cNvCxnSpPr>
            <a:endCxn id="14" idx="2"/>
          </p:cNvCxnSpPr>
          <p:nvPr/>
        </p:nvCxnSpPr>
        <p:spPr>
          <a:xfrm>
            <a:off x="1262742" y="3212986"/>
            <a:ext cx="272142" cy="151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xmlns="" id="{C86A7D8A-7C23-19F6-884F-3867FABFEE15}"/>
              </a:ext>
            </a:extLst>
          </p:cNvPr>
          <p:cNvCxnSpPr/>
          <p:nvPr/>
        </p:nvCxnSpPr>
        <p:spPr>
          <a:xfrm>
            <a:off x="1262742" y="4693443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xmlns="" id="{B8827A07-3E3D-0C97-801D-9A74C324DE63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262741" y="3968637"/>
            <a:ext cx="272143" cy="7231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xmlns="" id="{E0F87557-7070-4929-A51D-EE277FDD435E}"/>
              </a:ext>
            </a:extLst>
          </p:cNvPr>
          <p:cNvCxnSpPr/>
          <p:nvPr/>
        </p:nvCxnSpPr>
        <p:spPr>
          <a:xfrm>
            <a:off x="4016825" y="3614055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xmlns="" id="{FCCF0474-CE2C-C40C-1A31-88ACA6555F82}"/>
              </a:ext>
            </a:extLst>
          </p:cNvPr>
          <p:cNvCxnSpPr/>
          <p:nvPr/>
        </p:nvCxnSpPr>
        <p:spPr>
          <a:xfrm>
            <a:off x="4016825" y="4330189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A2D9CAB0-DF2D-3F57-522F-07FC15C4A969}"/>
              </a:ext>
            </a:extLst>
          </p:cNvPr>
          <p:cNvSpPr/>
          <p:nvPr/>
        </p:nvSpPr>
        <p:spPr>
          <a:xfrm>
            <a:off x="1415136" y="2808514"/>
            <a:ext cx="805550" cy="2270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8CB0CB90-939E-F84F-CBCC-3053851EB279}"/>
              </a:ext>
            </a:extLst>
          </p:cNvPr>
          <p:cNvSpPr/>
          <p:nvPr/>
        </p:nvSpPr>
        <p:spPr>
          <a:xfrm>
            <a:off x="2340416" y="2525487"/>
            <a:ext cx="805550" cy="2916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38F46C46-9537-91DA-78F1-D51ACF093AAA}"/>
              </a:ext>
            </a:extLst>
          </p:cNvPr>
          <p:cNvSpPr/>
          <p:nvPr/>
        </p:nvSpPr>
        <p:spPr>
          <a:xfrm>
            <a:off x="3298377" y="3212986"/>
            <a:ext cx="805550" cy="1478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68E72FD6-4CDC-F2B8-B01F-62CB96A01D1B}"/>
              </a:ext>
            </a:extLst>
          </p:cNvPr>
          <p:cNvSpPr txBox="1"/>
          <p:nvPr/>
        </p:nvSpPr>
        <p:spPr>
          <a:xfrm>
            <a:off x="3499750" y="2240917"/>
            <a:ext cx="123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Camada</a:t>
            </a: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9F743859-239A-0A9E-7C23-70E728CC7263}"/>
              </a:ext>
            </a:extLst>
          </p:cNvPr>
          <p:cNvSpPr/>
          <p:nvPr/>
        </p:nvSpPr>
        <p:spPr>
          <a:xfrm>
            <a:off x="3113305" y="2356849"/>
            <a:ext cx="413657" cy="166042"/>
          </a:xfrm>
          <a:custGeom>
            <a:avLst/>
            <a:gdLst>
              <a:gd name="connsiteX0" fmla="*/ 0 w 413657"/>
              <a:gd name="connsiteY0" fmla="*/ 166042 h 166042"/>
              <a:gd name="connsiteX1" fmla="*/ 76200 w 413657"/>
              <a:gd name="connsiteY1" fmla="*/ 2756 h 166042"/>
              <a:gd name="connsiteX2" fmla="*/ 413657 w 413657"/>
              <a:gd name="connsiteY2" fmla="*/ 78956 h 16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3657" h="166042">
                <a:moveTo>
                  <a:pt x="0" y="166042"/>
                </a:moveTo>
                <a:cubicBezTo>
                  <a:pt x="3628" y="91656"/>
                  <a:pt x="7257" y="17270"/>
                  <a:pt x="76200" y="2756"/>
                </a:cubicBezTo>
                <a:cubicBezTo>
                  <a:pt x="145143" y="-11758"/>
                  <a:pt x="279400" y="33599"/>
                  <a:pt x="413657" y="7895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xmlns="" id="{4D2E2E0E-0F0C-5967-1CE0-4B51848D1B76}"/>
                  </a:ext>
                </a:extLst>
              </p:cNvPr>
              <p:cNvSpPr txBox="1"/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FE6573E-A2B2-18E7-93BF-BE2AE093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blipFill>
                <a:blip r:embed="rId2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xmlns="" id="{5FA32A51-E7FC-B519-CBA9-0AF02963B21D}"/>
                  </a:ext>
                </a:extLst>
              </p:cNvPr>
              <p:cNvSpPr txBox="1"/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F4E43EB-3F97-7D05-D00B-81CFA622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blipFill>
                <a:blip r:embed="rId3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Elipse 24">
            <a:extLst>
              <a:ext uri="{FF2B5EF4-FFF2-40B4-BE49-F238E27FC236}">
                <a16:creationId xmlns:a16="http://schemas.microsoft.com/office/drawing/2014/main" xmlns="" id="{AE2B9AE3-36FD-1451-8485-9534BEDD1747}"/>
              </a:ext>
            </a:extLst>
          </p:cNvPr>
          <p:cNvSpPr/>
          <p:nvPr/>
        </p:nvSpPr>
        <p:spPr>
          <a:xfrm>
            <a:off x="971322" y="3042545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47774D4E-763E-F71D-7ECF-17A859C932CA}"/>
              </a:ext>
            </a:extLst>
          </p:cNvPr>
          <p:cNvSpPr/>
          <p:nvPr/>
        </p:nvSpPr>
        <p:spPr>
          <a:xfrm>
            <a:off x="982749" y="4504166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xmlns="" id="{407C9B91-2341-A55C-29F8-3712CF974534}"/>
              </a:ext>
            </a:extLst>
          </p:cNvPr>
          <p:cNvSpPr txBox="1"/>
          <p:nvPr/>
        </p:nvSpPr>
        <p:spPr>
          <a:xfrm>
            <a:off x="636820" y="4923257"/>
            <a:ext cx="868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Camada de entrada</a:t>
            </a:r>
          </a:p>
        </p:txBody>
      </p:sp>
      <p:sp>
        <p:nvSpPr>
          <p:cNvPr id="35" name="CaixaDeTexto 34">
            <a:extLst>
              <a:ext uri="{FF2B5EF4-FFF2-40B4-BE49-F238E27FC236}">
                <a16:creationId xmlns:a16="http://schemas.microsoft.com/office/drawing/2014/main" xmlns="" id="{B00554A2-0346-AB3F-53C6-F50EBB54B821}"/>
              </a:ext>
            </a:extLst>
          </p:cNvPr>
          <p:cNvSpPr txBox="1"/>
          <p:nvPr/>
        </p:nvSpPr>
        <p:spPr>
          <a:xfrm>
            <a:off x="1398812" y="5103167"/>
            <a:ext cx="868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Camada oculta</a:t>
            </a:r>
          </a:p>
        </p:txBody>
      </p:sp>
      <p:sp>
        <p:nvSpPr>
          <p:cNvPr id="37" name="CaixaDeTexto 36">
            <a:extLst>
              <a:ext uri="{FF2B5EF4-FFF2-40B4-BE49-F238E27FC236}">
                <a16:creationId xmlns:a16="http://schemas.microsoft.com/office/drawing/2014/main" xmlns="" id="{C83C1477-8089-07E8-4F11-F57543D78929}"/>
              </a:ext>
            </a:extLst>
          </p:cNvPr>
          <p:cNvSpPr txBox="1"/>
          <p:nvPr/>
        </p:nvSpPr>
        <p:spPr>
          <a:xfrm>
            <a:off x="3282043" y="4694586"/>
            <a:ext cx="868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Camada de saída</a:t>
            </a:r>
          </a:p>
        </p:txBody>
      </p:sp>
      <p:sp>
        <p:nvSpPr>
          <p:cNvPr id="39" name="Retângulo 38">
            <a:extLst>
              <a:ext uri="{FF2B5EF4-FFF2-40B4-BE49-F238E27FC236}">
                <a16:creationId xmlns:a16="http://schemas.microsoft.com/office/drawing/2014/main" xmlns="" id="{4DD5BCCF-0256-F6E1-F598-54110E86D7A6}"/>
              </a:ext>
            </a:extLst>
          </p:cNvPr>
          <p:cNvSpPr/>
          <p:nvPr/>
        </p:nvSpPr>
        <p:spPr>
          <a:xfrm>
            <a:off x="920926" y="2974265"/>
            <a:ext cx="390805" cy="19406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CaixaDeTexto 40">
            <a:extLst>
              <a:ext uri="{FF2B5EF4-FFF2-40B4-BE49-F238E27FC236}">
                <a16:creationId xmlns:a16="http://schemas.microsoft.com/office/drawing/2014/main" xmlns="" id="{54F8747B-B61E-07F2-BFA2-E4FF0B0B8567}"/>
              </a:ext>
            </a:extLst>
          </p:cNvPr>
          <p:cNvSpPr txBox="1"/>
          <p:nvPr/>
        </p:nvSpPr>
        <p:spPr>
          <a:xfrm>
            <a:off x="2341787" y="5428874"/>
            <a:ext cx="86813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1200" dirty="0"/>
              <a:t>Camada oculta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xmlns="" id="{CB534506-CC6C-CF2D-B9C3-4471584A4DF9}"/>
                  </a:ext>
                </a:extLst>
              </p:cNvPr>
              <p:cNvSpPr txBox="1"/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3" name="CaixaDeTexto 42">
                <a:extLst>
                  <a:ext uri="{FF2B5EF4-FFF2-40B4-BE49-F238E27FC236}">
                    <a16:creationId xmlns:a16="http://schemas.microsoft.com/office/drawing/2014/main" id="{266512D1-A6D4-405C-9BC3-AC9FBE1D90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blipFill>
                <a:blip r:embed="rId4"/>
                <a:stretch>
                  <a:fillRect t="-6667" r="-3636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xmlns="" id="{20FF8A48-CE44-2F39-7E7F-751CB5202359}"/>
                  </a:ext>
                </a:extLst>
              </p:cNvPr>
              <p:cNvSpPr txBox="1"/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E0690722-A566-179D-1352-330E6151F3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blipFill>
                <a:blip r:embed="rId5"/>
                <a:stretch>
                  <a:fillRect t="-6557" r="-3863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677373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30E04A-E250-2E8C-4DA7-FE39DF09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alguns termos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89C2729-D87A-8E86-AB96-FFDA07D4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71491" y="1825624"/>
            <a:ext cx="5757224" cy="5032371"/>
          </a:xfrm>
        </p:spPr>
        <p:txBody>
          <a:bodyPr>
            <a:normAutofit/>
          </a:bodyPr>
          <a:lstStyle/>
          <a:p>
            <a:r>
              <a:rPr lang="pt-BR" dirty="0"/>
              <a:t>Em redes de </a:t>
            </a:r>
            <a:r>
              <a:rPr lang="pt-BR" b="1" i="1" dirty="0">
                <a:solidFill>
                  <a:srgbClr val="00B050"/>
                </a:solidFill>
              </a:rPr>
              <a:t>alimentação direta</a:t>
            </a:r>
            <a:r>
              <a:rPr lang="pt-BR" dirty="0"/>
              <a:t>, as camadas estão conectadas em </a:t>
            </a:r>
            <a:r>
              <a:rPr lang="pt-BR" b="1" i="1" dirty="0">
                <a:solidFill>
                  <a:srgbClr val="7030A0"/>
                </a:solidFill>
              </a:rPr>
              <a:t>sequência</a:t>
            </a:r>
            <a:r>
              <a:rPr lang="pt-BR" dirty="0"/>
              <a:t>.</a:t>
            </a:r>
          </a:p>
          <a:p>
            <a:r>
              <a:rPr lang="pt-BR" dirty="0"/>
              <a:t>As </a:t>
            </a:r>
            <a:r>
              <a:rPr lang="pt-BR" b="1" i="1" dirty="0">
                <a:solidFill>
                  <a:srgbClr val="7030A0"/>
                </a:solidFill>
              </a:rPr>
              <a:t>i</a:t>
            </a:r>
            <a:r>
              <a:rPr lang="pt-BR" b="1" i="1" dirty="0">
                <a:solidFill>
                  <a:srgbClr val="7030A0"/>
                </a:solidFill>
                <a:effectLst/>
              </a:rPr>
              <a:t>nformações fluem em uma única direção</a:t>
            </a:r>
            <a:r>
              <a:rPr lang="pt-BR" b="0" i="0" dirty="0">
                <a:effectLst/>
              </a:rPr>
              <a:t>, ou seja, elas fluem da entrada passando pelas camadas ocultas e, finalmente, para a camada de saída, </a:t>
            </a:r>
            <a:r>
              <a:rPr lang="pt-BR" b="1" i="1" dirty="0">
                <a:solidFill>
                  <a:schemeClr val="accent2"/>
                </a:solidFill>
                <a:effectLst/>
              </a:rPr>
              <a:t>sem recursões</a:t>
            </a:r>
            <a:r>
              <a:rPr lang="pt-BR" b="0" i="0" dirty="0">
                <a:effectLst/>
              </a:rPr>
              <a:t>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xmlns="" id="{E08A6742-BE26-9B9A-B13E-292CA4DD59D9}"/>
              </a:ext>
            </a:extLst>
          </p:cNvPr>
          <p:cNvSpPr/>
          <p:nvPr/>
        </p:nvSpPr>
        <p:spPr>
          <a:xfrm>
            <a:off x="2492828" y="2612572"/>
            <a:ext cx="566057" cy="56605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6BCCAF25-1B0F-B235-1A10-3C52C1AB34FA}"/>
              </a:ext>
            </a:extLst>
          </p:cNvPr>
          <p:cNvSpPr/>
          <p:nvPr/>
        </p:nvSpPr>
        <p:spPr>
          <a:xfrm>
            <a:off x="2492827" y="3331029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xmlns="" id="{438F7732-8C3C-65A4-4F96-BA3B33979FED}"/>
              </a:ext>
            </a:extLst>
          </p:cNvPr>
          <p:cNvSpPr/>
          <p:nvPr/>
        </p:nvSpPr>
        <p:spPr>
          <a:xfrm>
            <a:off x="2492827" y="4049486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xmlns="" id="{384666CE-36D0-BE6B-16F9-935F58521DB7}"/>
              </a:ext>
            </a:extLst>
          </p:cNvPr>
          <p:cNvSpPr/>
          <p:nvPr/>
        </p:nvSpPr>
        <p:spPr>
          <a:xfrm>
            <a:off x="2492827" y="4767943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xmlns="" id="{AAB68B74-AF88-1A55-4231-196520407966}"/>
              </a:ext>
            </a:extLst>
          </p:cNvPr>
          <p:cNvSpPr/>
          <p:nvPr/>
        </p:nvSpPr>
        <p:spPr>
          <a:xfrm>
            <a:off x="3450770" y="333102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0525851D-4160-E437-2302-9EFE8B9063AC}"/>
              </a:ext>
            </a:extLst>
          </p:cNvPr>
          <p:cNvSpPr/>
          <p:nvPr/>
        </p:nvSpPr>
        <p:spPr>
          <a:xfrm>
            <a:off x="3450769" y="4049485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8343B571-738E-4671-F07E-6A1B60CFEB25}"/>
              </a:ext>
            </a:extLst>
          </p:cNvPr>
          <p:cNvSpPr/>
          <p:nvPr/>
        </p:nvSpPr>
        <p:spPr>
          <a:xfrm>
            <a:off x="1534884" y="29299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xmlns="" id="{CC4D0FD3-9DAC-E44E-AE4F-B409F9026B5C}"/>
              </a:ext>
            </a:extLst>
          </p:cNvPr>
          <p:cNvSpPr/>
          <p:nvPr/>
        </p:nvSpPr>
        <p:spPr>
          <a:xfrm>
            <a:off x="1534884" y="368560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xmlns="" id="{E3DDA52F-C6E6-466F-FE51-D98BADB29163}"/>
              </a:ext>
            </a:extLst>
          </p:cNvPr>
          <p:cNvSpPr/>
          <p:nvPr/>
        </p:nvSpPr>
        <p:spPr>
          <a:xfrm>
            <a:off x="1534884" y="44412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xmlns="" id="{0017DD43-9BD3-A103-1DCD-B5A5BE3A5532}"/>
              </a:ext>
            </a:extLst>
          </p:cNvPr>
          <p:cNvCxnSpPr>
            <a:stCxn id="12" idx="6"/>
            <a:endCxn id="6" idx="2"/>
          </p:cNvCxnSpPr>
          <p:nvPr/>
        </p:nvCxnSpPr>
        <p:spPr>
          <a:xfrm flipV="1">
            <a:off x="2100941" y="2895601"/>
            <a:ext cx="391887" cy="3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xmlns="" id="{3A380203-43AF-CE9B-6D3C-B406F204543A}"/>
              </a:ext>
            </a:extLst>
          </p:cNvPr>
          <p:cNvCxnSpPr>
            <a:stCxn id="12" idx="6"/>
            <a:endCxn id="7" idx="2"/>
          </p:cNvCxnSpPr>
          <p:nvPr/>
        </p:nvCxnSpPr>
        <p:spPr>
          <a:xfrm>
            <a:off x="2100941" y="3212987"/>
            <a:ext cx="391886" cy="40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xmlns="" id="{53C6AAB6-D3E9-5E7F-3B51-0FB9FB15B28F}"/>
              </a:ext>
            </a:extLst>
          </p:cNvPr>
          <p:cNvCxnSpPr>
            <a:stCxn id="12" idx="6"/>
            <a:endCxn id="8" idx="2"/>
          </p:cNvCxnSpPr>
          <p:nvPr/>
        </p:nvCxnSpPr>
        <p:spPr>
          <a:xfrm>
            <a:off x="2100941" y="3212987"/>
            <a:ext cx="391886" cy="111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xmlns="" id="{BA20096B-1444-E4B1-7FEC-AA2A53E84923}"/>
              </a:ext>
            </a:extLst>
          </p:cNvPr>
          <p:cNvCxnSpPr>
            <a:stCxn id="12" idx="6"/>
            <a:endCxn id="9" idx="2"/>
          </p:cNvCxnSpPr>
          <p:nvPr/>
        </p:nvCxnSpPr>
        <p:spPr>
          <a:xfrm>
            <a:off x="2100941" y="3212987"/>
            <a:ext cx="391886" cy="1837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xmlns="" id="{6A0FA0CB-BF5F-4D2A-E199-ECBD7245A6DA}"/>
              </a:ext>
            </a:extLst>
          </p:cNvPr>
          <p:cNvCxnSpPr>
            <a:stCxn id="13" idx="6"/>
            <a:endCxn id="6" idx="2"/>
          </p:cNvCxnSpPr>
          <p:nvPr/>
        </p:nvCxnSpPr>
        <p:spPr>
          <a:xfrm flipV="1">
            <a:off x="2100941" y="2895601"/>
            <a:ext cx="391887" cy="107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xmlns="" id="{441C1B94-EA54-1456-63A6-C09B13B54360}"/>
              </a:ext>
            </a:extLst>
          </p:cNvPr>
          <p:cNvCxnSpPr>
            <a:stCxn id="14" idx="6"/>
            <a:endCxn id="7" idx="2"/>
          </p:cNvCxnSpPr>
          <p:nvPr/>
        </p:nvCxnSpPr>
        <p:spPr>
          <a:xfrm flipV="1">
            <a:off x="2100941" y="3614058"/>
            <a:ext cx="391886" cy="111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xmlns="" id="{6EA84E3C-954B-3DAB-1EB6-807CEAD71979}"/>
              </a:ext>
            </a:extLst>
          </p:cNvPr>
          <p:cNvCxnSpPr>
            <a:stCxn id="13" idx="6"/>
            <a:endCxn id="7" idx="2"/>
          </p:cNvCxnSpPr>
          <p:nvPr/>
        </p:nvCxnSpPr>
        <p:spPr>
          <a:xfrm flipV="1">
            <a:off x="2100941" y="3614058"/>
            <a:ext cx="391886" cy="35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xmlns="" id="{34CF6DAF-C570-7B0F-1947-1F1E80AD9FC9}"/>
              </a:ext>
            </a:extLst>
          </p:cNvPr>
          <p:cNvCxnSpPr>
            <a:stCxn id="13" idx="6"/>
            <a:endCxn id="8" idx="2"/>
          </p:cNvCxnSpPr>
          <p:nvPr/>
        </p:nvCxnSpPr>
        <p:spPr>
          <a:xfrm>
            <a:off x="2100941" y="3968637"/>
            <a:ext cx="391886" cy="36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xmlns="" id="{8BE3AFE0-C170-C2F4-4080-89A75722E82C}"/>
              </a:ext>
            </a:extLst>
          </p:cNvPr>
          <p:cNvCxnSpPr>
            <a:stCxn id="13" idx="6"/>
            <a:endCxn id="9" idx="2"/>
          </p:cNvCxnSpPr>
          <p:nvPr/>
        </p:nvCxnSpPr>
        <p:spPr>
          <a:xfrm>
            <a:off x="2100941" y="3968637"/>
            <a:ext cx="391886" cy="1082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xmlns="" id="{AEB05B87-9EAF-C8B4-302B-FF0556C6CE4A}"/>
              </a:ext>
            </a:extLst>
          </p:cNvPr>
          <p:cNvCxnSpPr>
            <a:stCxn id="14" idx="6"/>
            <a:endCxn id="6" idx="2"/>
          </p:cNvCxnSpPr>
          <p:nvPr/>
        </p:nvCxnSpPr>
        <p:spPr>
          <a:xfrm flipV="1">
            <a:off x="2100941" y="2895601"/>
            <a:ext cx="391887" cy="182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xmlns="" id="{EFCA8237-94D3-9B23-0091-C28446557FF8}"/>
              </a:ext>
            </a:extLst>
          </p:cNvPr>
          <p:cNvCxnSpPr>
            <a:stCxn id="14" idx="6"/>
            <a:endCxn id="8" idx="2"/>
          </p:cNvCxnSpPr>
          <p:nvPr/>
        </p:nvCxnSpPr>
        <p:spPr>
          <a:xfrm flipV="1">
            <a:off x="2100941" y="4332515"/>
            <a:ext cx="391886" cy="39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xmlns="" id="{18A10864-4E00-5BA3-7D1C-C6D863800DF1}"/>
              </a:ext>
            </a:extLst>
          </p:cNvPr>
          <p:cNvCxnSpPr>
            <a:stCxn id="14" idx="6"/>
            <a:endCxn id="9" idx="2"/>
          </p:cNvCxnSpPr>
          <p:nvPr/>
        </p:nvCxnSpPr>
        <p:spPr>
          <a:xfrm>
            <a:off x="2100941" y="4724287"/>
            <a:ext cx="391886" cy="32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xmlns="" id="{9556E08D-EF95-07A5-6D00-1BDA7A969645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3058885" y="2895601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xmlns="" id="{B9AD6C45-FF60-0D50-5C52-DBC2F2958E7E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058884" y="3614058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xmlns="" id="{15AA0725-DC80-7F4B-8714-18D3F46C746C}"/>
              </a:ext>
            </a:extLst>
          </p:cNvPr>
          <p:cNvCxnSpPr>
            <a:stCxn id="8" idx="6"/>
            <a:endCxn id="11" idx="2"/>
          </p:cNvCxnSpPr>
          <p:nvPr/>
        </p:nvCxnSpPr>
        <p:spPr>
          <a:xfrm flipV="1">
            <a:off x="3058884" y="4332514"/>
            <a:ext cx="391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xmlns="" id="{E9230D12-789F-9CDA-656F-25BFCED0A735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058884" y="4332514"/>
            <a:ext cx="391885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xmlns="" id="{AA99C075-AC79-6177-3FC9-E5BE4B2A39B7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3058885" y="2895601"/>
            <a:ext cx="391884" cy="143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xmlns="" id="{FB9C7CE7-3C9A-43B5-8151-181478F960FC}"/>
              </a:ext>
            </a:extLst>
          </p:cNvPr>
          <p:cNvCxnSpPr>
            <a:stCxn id="7" idx="6"/>
            <a:endCxn id="10" idx="2"/>
          </p:cNvCxnSpPr>
          <p:nvPr/>
        </p:nvCxnSpPr>
        <p:spPr>
          <a:xfrm flipV="1">
            <a:off x="3058884" y="3614057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xmlns="" id="{483A9D86-72FB-C7C0-92A4-B0D6B048CDC4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058884" y="3614057"/>
            <a:ext cx="391886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xmlns="" id="{1C6662C4-7403-9EAA-9279-911015B2D632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058884" y="3614057"/>
            <a:ext cx="391886" cy="143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xmlns="" id="{57BD08EC-2E7D-FBE2-60CC-7C7846438007}"/>
              </a:ext>
            </a:extLst>
          </p:cNvPr>
          <p:cNvCxnSpPr>
            <a:endCxn id="12" idx="2"/>
          </p:cNvCxnSpPr>
          <p:nvPr/>
        </p:nvCxnSpPr>
        <p:spPr>
          <a:xfrm>
            <a:off x="1262742" y="3212986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xmlns="" id="{183E0838-369F-3E3D-4ADF-1C87997AFA5B}"/>
              </a:ext>
            </a:extLst>
          </p:cNvPr>
          <p:cNvCxnSpPr>
            <a:endCxn id="13" idx="2"/>
          </p:cNvCxnSpPr>
          <p:nvPr/>
        </p:nvCxnSpPr>
        <p:spPr>
          <a:xfrm>
            <a:off x="1262742" y="3212986"/>
            <a:ext cx="272142" cy="75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xmlns="" id="{04BE0612-6136-FBDC-6CC5-8B3CBA650013}"/>
              </a:ext>
            </a:extLst>
          </p:cNvPr>
          <p:cNvCxnSpPr>
            <a:endCxn id="14" idx="2"/>
          </p:cNvCxnSpPr>
          <p:nvPr/>
        </p:nvCxnSpPr>
        <p:spPr>
          <a:xfrm>
            <a:off x="1262742" y="3212986"/>
            <a:ext cx="272142" cy="151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xmlns="" id="{3BA63B5D-937F-6E51-15A7-E6AFDA831C06}"/>
              </a:ext>
            </a:extLst>
          </p:cNvPr>
          <p:cNvCxnSpPr/>
          <p:nvPr/>
        </p:nvCxnSpPr>
        <p:spPr>
          <a:xfrm>
            <a:off x="1262742" y="4693443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xmlns="" id="{EB0F55A7-20A9-6DDF-98F5-99CD11328C8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262741" y="3968637"/>
            <a:ext cx="272143" cy="7231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xmlns="" id="{FAD93FD9-246B-7D54-081B-E8C001ED4338}"/>
              </a:ext>
            </a:extLst>
          </p:cNvPr>
          <p:cNvCxnSpPr/>
          <p:nvPr/>
        </p:nvCxnSpPr>
        <p:spPr>
          <a:xfrm>
            <a:off x="4016825" y="3614055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xmlns="" id="{AF486AF2-E9B3-8E87-28FF-FB5398A3097E}"/>
              </a:ext>
            </a:extLst>
          </p:cNvPr>
          <p:cNvCxnSpPr/>
          <p:nvPr/>
        </p:nvCxnSpPr>
        <p:spPr>
          <a:xfrm>
            <a:off x="4016825" y="4330189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ED9A91B-FDC3-C649-4D21-9F39A5DDA989}"/>
              </a:ext>
            </a:extLst>
          </p:cNvPr>
          <p:cNvSpPr/>
          <p:nvPr/>
        </p:nvSpPr>
        <p:spPr>
          <a:xfrm>
            <a:off x="1415136" y="2808514"/>
            <a:ext cx="805550" cy="2270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8138E5B-BE73-1B6A-1F12-EABFA3CA74DE}"/>
              </a:ext>
            </a:extLst>
          </p:cNvPr>
          <p:cNvSpPr/>
          <p:nvPr/>
        </p:nvSpPr>
        <p:spPr>
          <a:xfrm>
            <a:off x="2340416" y="2525487"/>
            <a:ext cx="805550" cy="2916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0CCB7E64-B7C7-D881-75DF-AA472247E6AA}"/>
              </a:ext>
            </a:extLst>
          </p:cNvPr>
          <p:cNvSpPr/>
          <p:nvPr/>
        </p:nvSpPr>
        <p:spPr>
          <a:xfrm>
            <a:off x="3298377" y="3212986"/>
            <a:ext cx="805550" cy="1478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C040C819-9AAA-8CB1-5A45-41E05334A7D6}"/>
              </a:ext>
            </a:extLst>
          </p:cNvPr>
          <p:cNvSpPr txBox="1"/>
          <p:nvPr/>
        </p:nvSpPr>
        <p:spPr>
          <a:xfrm>
            <a:off x="3499750" y="2240917"/>
            <a:ext cx="123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Camada</a:t>
            </a: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EE976CA5-12E6-4DB5-139A-5B13EA5F460D}"/>
              </a:ext>
            </a:extLst>
          </p:cNvPr>
          <p:cNvSpPr/>
          <p:nvPr/>
        </p:nvSpPr>
        <p:spPr>
          <a:xfrm>
            <a:off x="3113305" y="2356849"/>
            <a:ext cx="413657" cy="166042"/>
          </a:xfrm>
          <a:custGeom>
            <a:avLst/>
            <a:gdLst>
              <a:gd name="connsiteX0" fmla="*/ 0 w 413657"/>
              <a:gd name="connsiteY0" fmla="*/ 166042 h 166042"/>
              <a:gd name="connsiteX1" fmla="*/ 76200 w 413657"/>
              <a:gd name="connsiteY1" fmla="*/ 2756 h 166042"/>
              <a:gd name="connsiteX2" fmla="*/ 413657 w 413657"/>
              <a:gd name="connsiteY2" fmla="*/ 78956 h 16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3657" h="166042">
                <a:moveTo>
                  <a:pt x="0" y="166042"/>
                </a:moveTo>
                <a:cubicBezTo>
                  <a:pt x="3628" y="91656"/>
                  <a:pt x="7257" y="17270"/>
                  <a:pt x="76200" y="2756"/>
                </a:cubicBezTo>
                <a:cubicBezTo>
                  <a:pt x="145143" y="-11758"/>
                  <a:pt x="279400" y="33599"/>
                  <a:pt x="413657" y="7895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xmlns="" id="{5FE6573E-A2B2-18E7-93BF-BE2AE093BA2D}"/>
                  </a:ext>
                </a:extLst>
              </p:cNvPr>
              <p:cNvSpPr txBox="1"/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FE6573E-A2B2-18E7-93BF-BE2AE093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blipFill>
                <a:blip r:embed="rId2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xmlns="" id="{FF4E43EB-3F97-7D05-D00B-81CFA622806D}"/>
                  </a:ext>
                </a:extLst>
              </p:cNvPr>
              <p:cNvSpPr txBox="1"/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F4E43EB-3F97-7D05-D00B-81CFA622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blipFill>
                <a:blip r:embed="rId3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xmlns="" id="{AD46F655-8AFC-EDF7-1E6F-51F5255FB298}"/>
              </a:ext>
            </a:extLst>
          </p:cNvPr>
          <p:cNvSpPr/>
          <p:nvPr/>
        </p:nvSpPr>
        <p:spPr>
          <a:xfrm>
            <a:off x="1055914" y="5519057"/>
            <a:ext cx="3233053" cy="470018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69AFB094-43B1-8880-457C-124F65E7AA05}"/>
              </a:ext>
            </a:extLst>
          </p:cNvPr>
          <p:cNvSpPr/>
          <p:nvPr/>
        </p:nvSpPr>
        <p:spPr>
          <a:xfrm>
            <a:off x="971322" y="3042545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xmlns="" id="{651583E6-8146-1C20-2C9A-EFA7502FAB23}"/>
              </a:ext>
            </a:extLst>
          </p:cNvPr>
          <p:cNvSpPr/>
          <p:nvPr/>
        </p:nvSpPr>
        <p:spPr>
          <a:xfrm>
            <a:off x="982749" y="4504166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05E33D71-30D4-A18F-F9B4-B17BD449DC99}"/>
              </a:ext>
            </a:extLst>
          </p:cNvPr>
          <p:cNvSpPr/>
          <p:nvPr/>
        </p:nvSpPr>
        <p:spPr>
          <a:xfrm>
            <a:off x="920926" y="2974265"/>
            <a:ext cx="390805" cy="19406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xmlns="" id="{0DC5AB40-59DB-81C6-B885-55553A8E4740}"/>
                  </a:ext>
                </a:extLst>
              </p:cNvPr>
              <p:cNvSpPr txBox="1"/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0DC5AB40-59DB-81C6-B885-55553A8E47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blipFill>
                <a:blip r:embed="rId4"/>
                <a:stretch>
                  <a:fillRect t="-6667" r="-3636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xmlns="" id="{F934570C-207C-50C9-2531-E7840ED9BB8D}"/>
                  </a:ext>
                </a:extLst>
              </p:cNvPr>
              <p:cNvSpPr txBox="1"/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F934570C-207C-50C9-2531-E7840ED9BB8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blipFill>
                <a:blip r:embed="rId5"/>
                <a:stretch>
                  <a:fillRect t="-6557" r="-3863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59307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830E04A-E250-2E8C-4DA7-FE39DF0919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Relembrando alguns termos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689C2729-D87A-8E86-AB96-FFDA07D457A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88363" y="1825624"/>
            <a:ext cx="5840351" cy="5032371"/>
          </a:xfrm>
        </p:spPr>
        <p:txBody>
          <a:bodyPr>
            <a:normAutofit/>
          </a:bodyPr>
          <a:lstStyle/>
          <a:p>
            <a:r>
              <a:rPr lang="pt-BR" dirty="0"/>
              <a:t>Na terminologia do Tensorflow, nós usamos o termo </a:t>
            </a:r>
            <a:r>
              <a:rPr lang="pt-BR" b="1" i="1" dirty="0" err="1">
                <a:solidFill>
                  <a:srgbClr val="00B050"/>
                </a:solidFill>
              </a:rPr>
              <a:t>sequential</a:t>
            </a:r>
            <a:r>
              <a:rPr lang="pt-BR" dirty="0"/>
              <a:t> para definir este tipo de rede.</a:t>
            </a:r>
          </a:p>
          <a:p>
            <a:r>
              <a:rPr lang="pt-BR" dirty="0"/>
              <a:t>Além disso, vemos que as </a:t>
            </a:r>
            <a:r>
              <a:rPr lang="pt-BR" b="1" i="1" dirty="0">
                <a:solidFill>
                  <a:srgbClr val="00B050"/>
                </a:solidFill>
              </a:rPr>
              <a:t>saídas de uma camada estão </a:t>
            </a:r>
            <a:r>
              <a:rPr lang="pt-BR" b="1" i="1" dirty="0">
                <a:solidFill>
                  <a:srgbClr val="7030A0"/>
                </a:solidFill>
              </a:rPr>
              <a:t>conectadas a todos os neurônios</a:t>
            </a:r>
            <a:r>
              <a:rPr lang="pt-BR" b="1" i="1" dirty="0">
                <a:solidFill>
                  <a:srgbClr val="00B050"/>
                </a:solidFill>
              </a:rPr>
              <a:t> da próxima camada</a:t>
            </a:r>
            <a:r>
              <a:rPr lang="pt-BR" dirty="0"/>
              <a:t>, criando conexões </a:t>
            </a:r>
            <a:r>
              <a:rPr lang="pt-BR" b="1" i="1" dirty="0">
                <a:solidFill>
                  <a:srgbClr val="00B050"/>
                </a:solidFill>
              </a:rPr>
              <a:t>densas</a:t>
            </a:r>
            <a:r>
              <a:rPr lang="pt-BR" dirty="0"/>
              <a:t>.</a:t>
            </a:r>
          </a:p>
          <a:p>
            <a:r>
              <a:rPr lang="pt-BR" dirty="0"/>
              <a:t>Usaremos o termo </a:t>
            </a:r>
            <a:r>
              <a:rPr lang="pt-BR" b="1" i="1" dirty="0">
                <a:solidFill>
                  <a:srgbClr val="00B050"/>
                </a:solidFill>
              </a:rPr>
              <a:t>densas</a:t>
            </a:r>
            <a:r>
              <a:rPr lang="pt-BR" dirty="0"/>
              <a:t> para definir estes tipos de camadas da rede.</a:t>
            </a:r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xmlns="" id="{E08A6742-BE26-9B9A-B13E-292CA4DD59D9}"/>
              </a:ext>
            </a:extLst>
          </p:cNvPr>
          <p:cNvSpPr/>
          <p:nvPr/>
        </p:nvSpPr>
        <p:spPr>
          <a:xfrm>
            <a:off x="2492828" y="2612572"/>
            <a:ext cx="566057" cy="56605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6BCCAF25-1B0F-B235-1A10-3C52C1AB34FA}"/>
              </a:ext>
            </a:extLst>
          </p:cNvPr>
          <p:cNvSpPr/>
          <p:nvPr/>
        </p:nvSpPr>
        <p:spPr>
          <a:xfrm>
            <a:off x="2492827" y="3331029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xmlns="" id="{438F7732-8C3C-65A4-4F96-BA3B33979FED}"/>
              </a:ext>
            </a:extLst>
          </p:cNvPr>
          <p:cNvSpPr/>
          <p:nvPr/>
        </p:nvSpPr>
        <p:spPr>
          <a:xfrm>
            <a:off x="2492827" y="4049486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xmlns="" id="{384666CE-36D0-BE6B-16F9-935F58521DB7}"/>
              </a:ext>
            </a:extLst>
          </p:cNvPr>
          <p:cNvSpPr/>
          <p:nvPr/>
        </p:nvSpPr>
        <p:spPr>
          <a:xfrm>
            <a:off x="2492827" y="4767943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xmlns="" id="{AAB68B74-AF88-1A55-4231-196520407966}"/>
              </a:ext>
            </a:extLst>
          </p:cNvPr>
          <p:cNvSpPr/>
          <p:nvPr/>
        </p:nvSpPr>
        <p:spPr>
          <a:xfrm>
            <a:off x="3450770" y="333102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0525851D-4160-E437-2302-9EFE8B9063AC}"/>
              </a:ext>
            </a:extLst>
          </p:cNvPr>
          <p:cNvSpPr/>
          <p:nvPr/>
        </p:nvSpPr>
        <p:spPr>
          <a:xfrm>
            <a:off x="3450769" y="4049485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8343B571-738E-4671-F07E-6A1B60CFEB25}"/>
              </a:ext>
            </a:extLst>
          </p:cNvPr>
          <p:cNvSpPr/>
          <p:nvPr/>
        </p:nvSpPr>
        <p:spPr>
          <a:xfrm>
            <a:off x="1534884" y="29299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3" name="Elipse 12">
            <a:extLst>
              <a:ext uri="{FF2B5EF4-FFF2-40B4-BE49-F238E27FC236}">
                <a16:creationId xmlns:a16="http://schemas.microsoft.com/office/drawing/2014/main" xmlns="" id="{CC4D0FD3-9DAC-E44E-AE4F-B409F9026B5C}"/>
              </a:ext>
            </a:extLst>
          </p:cNvPr>
          <p:cNvSpPr/>
          <p:nvPr/>
        </p:nvSpPr>
        <p:spPr>
          <a:xfrm>
            <a:off x="1534884" y="368560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4" name="Elipse 13">
            <a:extLst>
              <a:ext uri="{FF2B5EF4-FFF2-40B4-BE49-F238E27FC236}">
                <a16:creationId xmlns:a16="http://schemas.microsoft.com/office/drawing/2014/main" xmlns="" id="{E3DDA52F-C6E6-466F-FE51-D98BADB29163}"/>
              </a:ext>
            </a:extLst>
          </p:cNvPr>
          <p:cNvSpPr/>
          <p:nvPr/>
        </p:nvSpPr>
        <p:spPr>
          <a:xfrm>
            <a:off x="1534884" y="44412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xmlns="" id="{0017DD43-9BD3-A103-1DCD-B5A5BE3A5532}"/>
              </a:ext>
            </a:extLst>
          </p:cNvPr>
          <p:cNvCxnSpPr>
            <a:stCxn id="12" idx="6"/>
            <a:endCxn id="6" idx="2"/>
          </p:cNvCxnSpPr>
          <p:nvPr/>
        </p:nvCxnSpPr>
        <p:spPr>
          <a:xfrm flipV="1">
            <a:off x="2100941" y="2895601"/>
            <a:ext cx="391887" cy="3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xmlns="" id="{3A380203-43AF-CE9B-6D3C-B406F204543A}"/>
              </a:ext>
            </a:extLst>
          </p:cNvPr>
          <p:cNvCxnSpPr>
            <a:stCxn id="12" idx="6"/>
            <a:endCxn id="7" idx="2"/>
          </p:cNvCxnSpPr>
          <p:nvPr/>
        </p:nvCxnSpPr>
        <p:spPr>
          <a:xfrm>
            <a:off x="2100941" y="3212987"/>
            <a:ext cx="391886" cy="40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xmlns="" id="{53C6AAB6-D3E9-5E7F-3B51-0FB9FB15B28F}"/>
              </a:ext>
            </a:extLst>
          </p:cNvPr>
          <p:cNvCxnSpPr>
            <a:stCxn id="12" idx="6"/>
            <a:endCxn id="8" idx="2"/>
          </p:cNvCxnSpPr>
          <p:nvPr/>
        </p:nvCxnSpPr>
        <p:spPr>
          <a:xfrm>
            <a:off x="2100941" y="3212987"/>
            <a:ext cx="391886" cy="111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xmlns="" id="{BA20096B-1444-E4B1-7FEC-AA2A53E84923}"/>
              </a:ext>
            </a:extLst>
          </p:cNvPr>
          <p:cNvCxnSpPr>
            <a:stCxn id="12" idx="6"/>
            <a:endCxn id="9" idx="2"/>
          </p:cNvCxnSpPr>
          <p:nvPr/>
        </p:nvCxnSpPr>
        <p:spPr>
          <a:xfrm>
            <a:off x="2100941" y="3212987"/>
            <a:ext cx="391886" cy="1837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xmlns="" id="{6A0FA0CB-BF5F-4D2A-E199-ECBD7245A6DA}"/>
              </a:ext>
            </a:extLst>
          </p:cNvPr>
          <p:cNvCxnSpPr>
            <a:stCxn id="13" idx="6"/>
            <a:endCxn id="6" idx="2"/>
          </p:cNvCxnSpPr>
          <p:nvPr/>
        </p:nvCxnSpPr>
        <p:spPr>
          <a:xfrm flipV="1">
            <a:off x="2100941" y="2895601"/>
            <a:ext cx="391887" cy="107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xmlns="" id="{441C1B94-EA54-1456-63A6-C09B13B54360}"/>
              </a:ext>
            </a:extLst>
          </p:cNvPr>
          <p:cNvCxnSpPr>
            <a:stCxn id="14" idx="6"/>
            <a:endCxn id="7" idx="2"/>
          </p:cNvCxnSpPr>
          <p:nvPr/>
        </p:nvCxnSpPr>
        <p:spPr>
          <a:xfrm flipV="1">
            <a:off x="2100941" y="3614058"/>
            <a:ext cx="391886" cy="111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xmlns="" id="{6EA84E3C-954B-3DAB-1EB6-807CEAD71979}"/>
              </a:ext>
            </a:extLst>
          </p:cNvPr>
          <p:cNvCxnSpPr>
            <a:stCxn id="13" idx="6"/>
            <a:endCxn id="7" idx="2"/>
          </p:cNvCxnSpPr>
          <p:nvPr/>
        </p:nvCxnSpPr>
        <p:spPr>
          <a:xfrm flipV="1">
            <a:off x="2100941" y="3614058"/>
            <a:ext cx="391886" cy="35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xmlns="" id="{34CF6DAF-C570-7B0F-1947-1F1E80AD9FC9}"/>
              </a:ext>
            </a:extLst>
          </p:cNvPr>
          <p:cNvCxnSpPr>
            <a:stCxn id="13" idx="6"/>
            <a:endCxn id="8" idx="2"/>
          </p:cNvCxnSpPr>
          <p:nvPr/>
        </p:nvCxnSpPr>
        <p:spPr>
          <a:xfrm>
            <a:off x="2100941" y="3968637"/>
            <a:ext cx="391886" cy="36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xmlns="" id="{8BE3AFE0-C170-C2F4-4080-89A75722E82C}"/>
              </a:ext>
            </a:extLst>
          </p:cNvPr>
          <p:cNvCxnSpPr>
            <a:stCxn id="13" idx="6"/>
            <a:endCxn id="9" idx="2"/>
          </p:cNvCxnSpPr>
          <p:nvPr/>
        </p:nvCxnSpPr>
        <p:spPr>
          <a:xfrm>
            <a:off x="2100941" y="3968637"/>
            <a:ext cx="391886" cy="1082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xmlns="" id="{AEB05B87-9EAF-C8B4-302B-FF0556C6CE4A}"/>
              </a:ext>
            </a:extLst>
          </p:cNvPr>
          <p:cNvCxnSpPr>
            <a:stCxn id="14" idx="6"/>
            <a:endCxn id="6" idx="2"/>
          </p:cNvCxnSpPr>
          <p:nvPr/>
        </p:nvCxnSpPr>
        <p:spPr>
          <a:xfrm flipV="1">
            <a:off x="2100941" y="2895601"/>
            <a:ext cx="391887" cy="182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xmlns="" id="{EFCA8237-94D3-9B23-0091-C28446557FF8}"/>
              </a:ext>
            </a:extLst>
          </p:cNvPr>
          <p:cNvCxnSpPr>
            <a:stCxn id="14" idx="6"/>
            <a:endCxn id="8" idx="2"/>
          </p:cNvCxnSpPr>
          <p:nvPr/>
        </p:nvCxnSpPr>
        <p:spPr>
          <a:xfrm flipV="1">
            <a:off x="2100941" y="4332515"/>
            <a:ext cx="391886" cy="39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xmlns="" id="{18A10864-4E00-5BA3-7D1C-C6D863800DF1}"/>
              </a:ext>
            </a:extLst>
          </p:cNvPr>
          <p:cNvCxnSpPr>
            <a:stCxn id="14" idx="6"/>
            <a:endCxn id="9" idx="2"/>
          </p:cNvCxnSpPr>
          <p:nvPr/>
        </p:nvCxnSpPr>
        <p:spPr>
          <a:xfrm>
            <a:off x="2100941" y="4724287"/>
            <a:ext cx="391886" cy="32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ector de Seta Reta 39">
            <a:extLst>
              <a:ext uri="{FF2B5EF4-FFF2-40B4-BE49-F238E27FC236}">
                <a16:creationId xmlns:a16="http://schemas.microsoft.com/office/drawing/2014/main" xmlns="" id="{9556E08D-EF95-07A5-6D00-1BDA7A969645}"/>
              </a:ext>
            </a:extLst>
          </p:cNvPr>
          <p:cNvCxnSpPr>
            <a:stCxn id="6" idx="6"/>
            <a:endCxn id="10" idx="2"/>
          </p:cNvCxnSpPr>
          <p:nvPr/>
        </p:nvCxnSpPr>
        <p:spPr>
          <a:xfrm>
            <a:off x="3058885" y="2895601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Conector de Seta Reta 41">
            <a:extLst>
              <a:ext uri="{FF2B5EF4-FFF2-40B4-BE49-F238E27FC236}">
                <a16:creationId xmlns:a16="http://schemas.microsoft.com/office/drawing/2014/main" xmlns="" id="{B9AD6C45-FF60-0D50-5C52-DBC2F2958E7E}"/>
              </a:ext>
            </a:extLst>
          </p:cNvPr>
          <p:cNvCxnSpPr>
            <a:stCxn id="7" idx="6"/>
            <a:endCxn id="11" idx="2"/>
          </p:cNvCxnSpPr>
          <p:nvPr/>
        </p:nvCxnSpPr>
        <p:spPr>
          <a:xfrm>
            <a:off x="3058884" y="3614058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Conector de Seta Reta 43">
            <a:extLst>
              <a:ext uri="{FF2B5EF4-FFF2-40B4-BE49-F238E27FC236}">
                <a16:creationId xmlns:a16="http://schemas.microsoft.com/office/drawing/2014/main" xmlns="" id="{15AA0725-DC80-7F4B-8714-18D3F46C746C}"/>
              </a:ext>
            </a:extLst>
          </p:cNvPr>
          <p:cNvCxnSpPr>
            <a:stCxn id="8" idx="6"/>
            <a:endCxn id="11" idx="2"/>
          </p:cNvCxnSpPr>
          <p:nvPr/>
        </p:nvCxnSpPr>
        <p:spPr>
          <a:xfrm flipV="1">
            <a:off x="3058884" y="4332514"/>
            <a:ext cx="391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Conector de Seta Reta 45">
            <a:extLst>
              <a:ext uri="{FF2B5EF4-FFF2-40B4-BE49-F238E27FC236}">
                <a16:creationId xmlns:a16="http://schemas.microsoft.com/office/drawing/2014/main" xmlns="" id="{E9230D12-789F-9CDA-656F-25BFCED0A735}"/>
              </a:ext>
            </a:extLst>
          </p:cNvPr>
          <p:cNvCxnSpPr>
            <a:stCxn id="9" idx="6"/>
            <a:endCxn id="11" idx="2"/>
          </p:cNvCxnSpPr>
          <p:nvPr/>
        </p:nvCxnSpPr>
        <p:spPr>
          <a:xfrm flipV="1">
            <a:off x="3058884" y="4332514"/>
            <a:ext cx="391885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Conector de Seta Reta 47">
            <a:extLst>
              <a:ext uri="{FF2B5EF4-FFF2-40B4-BE49-F238E27FC236}">
                <a16:creationId xmlns:a16="http://schemas.microsoft.com/office/drawing/2014/main" xmlns="" id="{AA99C075-AC79-6177-3FC9-E5BE4B2A39B7}"/>
              </a:ext>
            </a:extLst>
          </p:cNvPr>
          <p:cNvCxnSpPr>
            <a:cxnSpLocks/>
            <a:stCxn id="6" idx="6"/>
            <a:endCxn id="11" idx="2"/>
          </p:cNvCxnSpPr>
          <p:nvPr/>
        </p:nvCxnSpPr>
        <p:spPr>
          <a:xfrm>
            <a:off x="3058885" y="2895601"/>
            <a:ext cx="391884" cy="143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ector de Seta Reta 49">
            <a:extLst>
              <a:ext uri="{FF2B5EF4-FFF2-40B4-BE49-F238E27FC236}">
                <a16:creationId xmlns:a16="http://schemas.microsoft.com/office/drawing/2014/main" xmlns="" id="{FB9C7CE7-3C9A-43B5-8151-181478F960FC}"/>
              </a:ext>
            </a:extLst>
          </p:cNvPr>
          <p:cNvCxnSpPr>
            <a:stCxn id="7" idx="6"/>
            <a:endCxn id="10" idx="2"/>
          </p:cNvCxnSpPr>
          <p:nvPr/>
        </p:nvCxnSpPr>
        <p:spPr>
          <a:xfrm flipV="1">
            <a:off x="3058884" y="3614057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Conector de Seta Reta 51">
            <a:extLst>
              <a:ext uri="{FF2B5EF4-FFF2-40B4-BE49-F238E27FC236}">
                <a16:creationId xmlns:a16="http://schemas.microsoft.com/office/drawing/2014/main" xmlns="" id="{483A9D86-72FB-C7C0-92A4-B0D6B048CDC4}"/>
              </a:ext>
            </a:extLst>
          </p:cNvPr>
          <p:cNvCxnSpPr>
            <a:stCxn id="8" idx="6"/>
            <a:endCxn id="10" idx="2"/>
          </p:cNvCxnSpPr>
          <p:nvPr/>
        </p:nvCxnSpPr>
        <p:spPr>
          <a:xfrm flipV="1">
            <a:off x="3058884" y="3614057"/>
            <a:ext cx="391886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Conector de Seta Reta 54">
            <a:extLst>
              <a:ext uri="{FF2B5EF4-FFF2-40B4-BE49-F238E27FC236}">
                <a16:creationId xmlns:a16="http://schemas.microsoft.com/office/drawing/2014/main" xmlns="" id="{1C6662C4-7403-9EAA-9279-911015B2D632}"/>
              </a:ext>
            </a:extLst>
          </p:cNvPr>
          <p:cNvCxnSpPr>
            <a:stCxn id="9" idx="6"/>
            <a:endCxn id="10" idx="2"/>
          </p:cNvCxnSpPr>
          <p:nvPr/>
        </p:nvCxnSpPr>
        <p:spPr>
          <a:xfrm flipV="1">
            <a:off x="3058884" y="3614057"/>
            <a:ext cx="391886" cy="143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xmlns="" id="{57BD08EC-2E7D-FBE2-60CC-7C7846438007}"/>
              </a:ext>
            </a:extLst>
          </p:cNvPr>
          <p:cNvCxnSpPr>
            <a:endCxn id="12" idx="2"/>
          </p:cNvCxnSpPr>
          <p:nvPr/>
        </p:nvCxnSpPr>
        <p:spPr>
          <a:xfrm>
            <a:off x="1262742" y="3212986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xmlns="" id="{183E0838-369F-3E3D-4ADF-1C87997AFA5B}"/>
              </a:ext>
            </a:extLst>
          </p:cNvPr>
          <p:cNvCxnSpPr>
            <a:endCxn id="13" idx="2"/>
          </p:cNvCxnSpPr>
          <p:nvPr/>
        </p:nvCxnSpPr>
        <p:spPr>
          <a:xfrm>
            <a:off x="1262742" y="3212986"/>
            <a:ext cx="272142" cy="75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xmlns="" id="{04BE0612-6136-FBDC-6CC5-8B3CBA650013}"/>
              </a:ext>
            </a:extLst>
          </p:cNvPr>
          <p:cNvCxnSpPr>
            <a:endCxn id="14" idx="2"/>
          </p:cNvCxnSpPr>
          <p:nvPr/>
        </p:nvCxnSpPr>
        <p:spPr>
          <a:xfrm>
            <a:off x="1262742" y="3212986"/>
            <a:ext cx="272142" cy="151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xmlns="" id="{3BA63B5D-937F-6E51-15A7-E6AFDA831C06}"/>
              </a:ext>
            </a:extLst>
          </p:cNvPr>
          <p:cNvCxnSpPr/>
          <p:nvPr/>
        </p:nvCxnSpPr>
        <p:spPr>
          <a:xfrm>
            <a:off x="1262742" y="4693443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reto 67">
            <a:extLst>
              <a:ext uri="{FF2B5EF4-FFF2-40B4-BE49-F238E27FC236}">
                <a16:creationId xmlns:a16="http://schemas.microsoft.com/office/drawing/2014/main" xmlns="" id="{EB0F55A7-20A9-6DDF-98F5-99CD11328C88}"/>
              </a:ext>
            </a:extLst>
          </p:cNvPr>
          <p:cNvCxnSpPr>
            <a:cxnSpLocks/>
            <a:endCxn id="13" idx="2"/>
          </p:cNvCxnSpPr>
          <p:nvPr/>
        </p:nvCxnSpPr>
        <p:spPr>
          <a:xfrm flipV="1">
            <a:off x="1262741" y="3968637"/>
            <a:ext cx="272143" cy="7231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xmlns="" id="{FAD93FD9-246B-7D54-081B-E8C001ED4338}"/>
              </a:ext>
            </a:extLst>
          </p:cNvPr>
          <p:cNvCxnSpPr/>
          <p:nvPr/>
        </p:nvCxnSpPr>
        <p:spPr>
          <a:xfrm>
            <a:off x="4016825" y="3614055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xmlns="" id="{AF486AF2-E9B3-8E87-28FF-FB5398A3097E}"/>
              </a:ext>
            </a:extLst>
          </p:cNvPr>
          <p:cNvCxnSpPr/>
          <p:nvPr/>
        </p:nvCxnSpPr>
        <p:spPr>
          <a:xfrm>
            <a:off x="4016825" y="4330189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ED9A91B-FDC3-C649-4D21-9F39A5DDA989}"/>
              </a:ext>
            </a:extLst>
          </p:cNvPr>
          <p:cNvSpPr/>
          <p:nvPr/>
        </p:nvSpPr>
        <p:spPr>
          <a:xfrm>
            <a:off x="1415136" y="2808514"/>
            <a:ext cx="805550" cy="2270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58138E5B-BE73-1B6A-1F12-EABFA3CA74DE}"/>
              </a:ext>
            </a:extLst>
          </p:cNvPr>
          <p:cNvSpPr/>
          <p:nvPr/>
        </p:nvSpPr>
        <p:spPr>
          <a:xfrm>
            <a:off x="2340416" y="2525487"/>
            <a:ext cx="805550" cy="2916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0CCB7E64-B7C7-D881-75DF-AA472247E6AA}"/>
              </a:ext>
            </a:extLst>
          </p:cNvPr>
          <p:cNvSpPr/>
          <p:nvPr/>
        </p:nvSpPr>
        <p:spPr>
          <a:xfrm>
            <a:off x="3298377" y="3212986"/>
            <a:ext cx="805550" cy="1478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xmlns="" id="{C040C819-9AAA-8CB1-5A45-41E05334A7D6}"/>
              </a:ext>
            </a:extLst>
          </p:cNvPr>
          <p:cNvSpPr txBox="1"/>
          <p:nvPr/>
        </p:nvSpPr>
        <p:spPr>
          <a:xfrm>
            <a:off x="3499750" y="2240917"/>
            <a:ext cx="123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Camada</a:t>
            </a:r>
          </a:p>
        </p:txBody>
      </p:sp>
      <p:sp>
        <p:nvSpPr>
          <p:cNvPr id="19" name="Forma Livre: Forma 18">
            <a:extLst>
              <a:ext uri="{FF2B5EF4-FFF2-40B4-BE49-F238E27FC236}">
                <a16:creationId xmlns:a16="http://schemas.microsoft.com/office/drawing/2014/main" xmlns="" id="{EE976CA5-12E6-4DB5-139A-5B13EA5F460D}"/>
              </a:ext>
            </a:extLst>
          </p:cNvPr>
          <p:cNvSpPr/>
          <p:nvPr/>
        </p:nvSpPr>
        <p:spPr>
          <a:xfrm>
            <a:off x="3113305" y="2356849"/>
            <a:ext cx="413657" cy="166042"/>
          </a:xfrm>
          <a:custGeom>
            <a:avLst/>
            <a:gdLst>
              <a:gd name="connsiteX0" fmla="*/ 0 w 413657"/>
              <a:gd name="connsiteY0" fmla="*/ 166042 h 166042"/>
              <a:gd name="connsiteX1" fmla="*/ 76200 w 413657"/>
              <a:gd name="connsiteY1" fmla="*/ 2756 h 166042"/>
              <a:gd name="connsiteX2" fmla="*/ 413657 w 413657"/>
              <a:gd name="connsiteY2" fmla="*/ 78956 h 16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3657" h="166042">
                <a:moveTo>
                  <a:pt x="0" y="166042"/>
                </a:moveTo>
                <a:cubicBezTo>
                  <a:pt x="3628" y="91656"/>
                  <a:pt x="7257" y="17270"/>
                  <a:pt x="76200" y="2756"/>
                </a:cubicBezTo>
                <a:cubicBezTo>
                  <a:pt x="145143" y="-11758"/>
                  <a:pt x="279400" y="33599"/>
                  <a:pt x="413657" y="7895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xmlns="" id="{5FE6573E-A2B2-18E7-93BF-BE2AE093BA2D}"/>
                  </a:ext>
                </a:extLst>
              </p:cNvPr>
              <p:cNvSpPr txBox="1"/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1" name="CaixaDeTexto 20">
                <a:extLst>
                  <a:ext uri="{FF2B5EF4-FFF2-40B4-BE49-F238E27FC236}">
                    <a16:creationId xmlns:a16="http://schemas.microsoft.com/office/drawing/2014/main" id="{5FE6573E-A2B2-18E7-93BF-BE2AE093BA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blipFill>
                <a:blip r:embed="rId2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xmlns="" id="{FF4E43EB-3F97-7D05-D00B-81CFA622806D}"/>
                  </a:ext>
                </a:extLst>
              </p:cNvPr>
              <p:cNvSpPr txBox="1"/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23" name="CaixaDeTexto 22">
                <a:extLst>
                  <a:ext uri="{FF2B5EF4-FFF2-40B4-BE49-F238E27FC236}">
                    <a16:creationId xmlns:a16="http://schemas.microsoft.com/office/drawing/2014/main" id="{FF4E43EB-3F97-7D05-D00B-81CFA62280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blipFill>
                <a:blip r:embed="rId3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Seta: para a Direita 24">
            <a:extLst>
              <a:ext uri="{FF2B5EF4-FFF2-40B4-BE49-F238E27FC236}">
                <a16:creationId xmlns:a16="http://schemas.microsoft.com/office/drawing/2014/main" xmlns="" id="{AD46F655-8AFC-EDF7-1E6F-51F5255FB298}"/>
              </a:ext>
            </a:extLst>
          </p:cNvPr>
          <p:cNvSpPr/>
          <p:nvPr/>
        </p:nvSpPr>
        <p:spPr>
          <a:xfrm>
            <a:off x="1055914" y="5519057"/>
            <a:ext cx="3233053" cy="470018"/>
          </a:xfrm>
          <a:prstGeom prst="rightArrow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7" name="Elipse 26">
            <a:extLst>
              <a:ext uri="{FF2B5EF4-FFF2-40B4-BE49-F238E27FC236}">
                <a16:creationId xmlns:a16="http://schemas.microsoft.com/office/drawing/2014/main" xmlns="" id="{22A93382-D88C-70E6-9B59-1AF2FD479481}"/>
              </a:ext>
            </a:extLst>
          </p:cNvPr>
          <p:cNvSpPr/>
          <p:nvPr/>
        </p:nvSpPr>
        <p:spPr>
          <a:xfrm>
            <a:off x="971322" y="3042545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9" name="Elipse 28">
            <a:extLst>
              <a:ext uri="{FF2B5EF4-FFF2-40B4-BE49-F238E27FC236}">
                <a16:creationId xmlns:a16="http://schemas.microsoft.com/office/drawing/2014/main" xmlns="" id="{708469EC-6004-2D63-0804-7B226F3E1CB1}"/>
              </a:ext>
            </a:extLst>
          </p:cNvPr>
          <p:cNvSpPr/>
          <p:nvPr/>
        </p:nvSpPr>
        <p:spPr>
          <a:xfrm>
            <a:off x="982749" y="4504166"/>
            <a:ext cx="288000" cy="2880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5" name="Retângulo 34">
            <a:extLst>
              <a:ext uri="{FF2B5EF4-FFF2-40B4-BE49-F238E27FC236}">
                <a16:creationId xmlns:a16="http://schemas.microsoft.com/office/drawing/2014/main" xmlns="" id="{D1BB9D04-F15F-3E34-E391-00EB80B9A840}"/>
              </a:ext>
            </a:extLst>
          </p:cNvPr>
          <p:cNvSpPr/>
          <p:nvPr/>
        </p:nvSpPr>
        <p:spPr>
          <a:xfrm>
            <a:off x="920926" y="2974265"/>
            <a:ext cx="390805" cy="1940635"/>
          </a:xfrm>
          <a:prstGeom prst="rect">
            <a:avLst/>
          </a:prstGeom>
          <a:noFill/>
          <a:ln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xmlns="" id="{82791097-3950-FBA9-E13E-B8305DFB45B1}"/>
                  </a:ext>
                </a:extLst>
              </p:cNvPr>
              <p:cNvSpPr txBox="1"/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7" name="CaixaDeTexto 36">
                <a:extLst>
                  <a:ext uri="{FF2B5EF4-FFF2-40B4-BE49-F238E27FC236}">
                    <a16:creationId xmlns:a16="http://schemas.microsoft.com/office/drawing/2014/main" id="{82791097-3950-FBA9-E13E-B8305DFB45B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3429389"/>
                <a:ext cx="266702" cy="369332"/>
              </a:xfrm>
              <a:prstGeom prst="rect">
                <a:avLst/>
              </a:prstGeom>
              <a:blipFill>
                <a:blip r:embed="rId4"/>
                <a:stretch>
                  <a:fillRect t="-6667" r="-36364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xmlns="" id="{9D67A65A-9B31-85CF-0C2E-6BE00120B57D}"/>
                  </a:ext>
                </a:extLst>
              </p:cNvPr>
              <p:cNvSpPr txBox="1"/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acc>
                            <m:accPr>
                              <m:chr m:val="̂"/>
                              <m:ctrlPr>
                                <a:rPr lang="pt-BR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39" name="CaixaDeTexto 38">
                <a:extLst>
                  <a:ext uri="{FF2B5EF4-FFF2-40B4-BE49-F238E27FC236}">
                    <a16:creationId xmlns:a16="http://schemas.microsoft.com/office/drawing/2014/main" id="{9D67A65A-9B31-85CF-0C2E-6BE00120B5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68107" y="4139882"/>
                <a:ext cx="266702" cy="369332"/>
              </a:xfrm>
              <a:prstGeom prst="rect">
                <a:avLst/>
              </a:prstGeom>
              <a:blipFill>
                <a:blip r:embed="rId5"/>
                <a:stretch>
                  <a:fillRect t="-6557" r="-38636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824391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98715" y="4506686"/>
            <a:ext cx="11473542" cy="2351313"/>
          </a:xfrm>
        </p:spPr>
        <p:txBody>
          <a:bodyPr/>
          <a:lstStyle/>
          <a:p>
            <a:r>
              <a:rPr lang="pt-BR" dirty="0"/>
              <a:t>Voltando ao código, nós vemos o termo </a:t>
            </a:r>
            <a:r>
              <a:rPr lang="pt-BR" b="1" i="1" dirty="0" err="1">
                <a:solidFill>
                  <a:srgbClr val="00B050"/>
                </a:solidFill>
              </a:rPr>
              <a:t>sequential</a:t>
            </a:r>
            <a:r>
              <a:rPr lang="pt-BR" dirty="0"/>
              <a:t> e, portanto, temos a definição de uma rede de </a:t>
            </a:r>
            <a:r>
              <a:rPr lang="pt-BR" b="1" i="1" dirty="0">
                <a:solidFill>
                  <a:schemeClr val="accent2"/>
                </a:solidFill>
              </a:rPr>
              <a:t>alimentação direta ou sequencial</a:t>
            </a:r>
            <a:r>
              <a:rPr lang="pt-BR" dirty="0"/>
              <a:t>.</a:t>
            </a:r>
          </a:p>
          <a:p>
            <a:r>
              <a:rPr lang="pt-BR" dirty="0"/>
              <a:t>Dentro dos colchetes, </a:t>
            </a:r>
            <a:r>
              <a:rPr lang="pt-BR" b="1" i="1" dirty="0">
                <a:solidFill>
                  <a:srgbClr val="7030A0"/>
                </a:solidFill>
              </a:rPr>
              <a:t>listamos</a:t>
            </a:r>
            <a:r>
              <a:rPr lang="pt-BR" dirty="0"/>
              <a:t> </a:t>
            </a:r>
            <a:r>
              <a:rPr lang="pt-BR" b="1" i="1" dirty="0"/>
              <a:t>as camadas </a:t>
            </a:r>
            <a:r>
              <a:rPr lang="pt-BR" dirty="0"/>
              <a:t>dessa rede neural.</a:t>
            </a:r>
          </a:p>
          <a:p>
            <a:r>
              <a:rPr lang="pt-BR" dirty="0"/>
              <a:t>Nesse exemplo, a </a:t>
            </a:r>
            <a:r>
              <a:rPr lang="pt-BR" b="1" i="1" dirty="0">
                <a:solidFill>
                  <a:srgbClr val="7030A0"/>
                </a:solidFill>
              </a:rPr>
              <a:t>lista</a:t>
            </a:r>
            <a:r>
              <a:rPr lang="pt-BR" dirty="0"/>
              <a:t> contém apenas um elemento, portanto, temos apenas uma </a:t>
            </a:r>
            <a:r>
              <a:rPr lang="pt-BR" b="1" i="1" dirty="0">
                <a:solidFill>
                  <a:srgbClr val="00B050"/>
                </a:solidFill>
              </a:rPr>
              <a:t>camada</a:t>
            </a:r>
            <a:r>
              <a:rPr lang="pt-BR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8973823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5429" y="4376057"/>
            <a:ext cx="11636828" cy="2481942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Essa camada é do tipo </a:t>
            </a:r>
            <a:r>
              <a:rPr lang="pt-BR" b="1" i="1" dirty="0">
                <a:solidFill>
                  <a:srgbClr val="00B050"/>
                </a:solidFill>
              </a:rPr>
              <a:t>densa</a:t>
            </a:r>
            <a:r>
              <a:rPr lang="pt-BR" dirty="0"/>
              <a:t> (classe </a:t>
            </a:r>
            <a:r>
              <a:rPr lang="pt-BR" i="1" dirty="0"/>
              <a:t>Dense</a:t>
            </a:r>
            <a:r>
              <a:rPr lang="pt-BR" dirty="0"/>
              <a:t>), então sabemos que é uma camada </a:t>
            </a:r>
            <a:r>
              <a:rPr lang="pt-BR" b="1" i="1" dirty="0"/>
              <a:t>densamente conectada</a:t>
            </a:r>
            <a:r>
              <a:rPr lang="pt-BR" dirty="0"/>
              <a:t>.</a:t>
            </a:r>
          </a:p>
          <a:p>
            <a:r>
              <a:rPr lang="pt-BR" dirty="0"/>
              <a:t>O parâmetro </a:t>
            </a:r>
            <a:r>
              <a:rPr lang="pt-BR" b="1" i="1" dirty="0" err="1">
                <a:solidFill>
                  <a:srgbClr val="00B050"/>
                </a:solidFill>
              </a:rPr>
              <a:t>units</a:t>
            </a:r>
            <a:r>
              <a:rPr lang="pt-BR" dirty="0"/>
              <a:t> define quantos neurônios a camada possui.</a:t>
            </a:r>
          </a:p>
          <a:p>
            <a:r>
              <a:rPr lang="pt-BR" dirty="0"/>
              <a:t>Podemos ver que essa camada tem </a:t>
            </a:r>
            <a:r>
              <a:rPr lang="pt-BR" b="1" i="1" dirty="0"/>
              <a:t>apenas um neurônio</a:t>
            </a:r>
            <a:r>
              <a:rPr lang="pt-BR" dirty="0"/>
              <a:t>.</a:t>
            </a:r>
          </a:p>
          <a:p>
            <a:r>
              <a:rPr lang="pt-BR" dirty="0"/>
              <a:t>Portanto, esse código define a rede neural mais simples possível.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Há apenas uma camada com um único neurônio nela.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1302203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658" y="4474028"/>
                <a:ext cx="11658600" cy="2383971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Um parâmetro que definimos </a:t>
                </a:r>
                <a:r>
                  <a:rPr lang="pt-BR" b="1" i="1" dirty="0"/>
                  <a:t>apenas para a primeira camada</a:t>
                </a:r>
                <a:r>
                  <a:rPr lang="pt-BR" dirty="0"/>
                  <a:t> (neste caso a única) de uma rede neural é o formato (i.e., </a:t>
                </a:r>
                <a:r>
                  <a:rPr lang="pt-BR" b="1" i="1" dirty="0"/>
                  <a:t>dimensões</a:t>
                </a:r>
                <a:r>
                  <a:rPr lang="pt-BR" dirty="0"/>
                  <a:t>) das </a:t>
                </a:r>
                <a:r>
                  <a:rPr lang="pt-BR" b="1" i="1" dirty="0"/>
                  <a:t>entradas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No exemplo, o parâmetro </a:t>
                </a:r>
                <a:r>
                  <a:rPr lang="pt-BR" b="1" i="1" dirty="0" err="1">
                    <a:solidFill>
                      <a:srgbClr val="00B050"/>
                    </a:solidFill>
                    <a:highlight>
                      <a:srgbClr val="FFFFFF"/>
                    </a:highlight>
                  </a:rPr>
                  <a:t>input_shape</a:t>
                </a:r>
                <a:r>
                  <a:rPr lang="pt-BR" b="0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tem o valor 1, que indica a dimensão da entrada, ou seja, a </a:t>
                </a:r>
                <a:r>
                  <a:rPr lang="pt-BR" b="1" i="1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quantidade de atributos de entrada</a:t>
                </a:r>
                <a:r>
                  <a:rPr lang="pt-BR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 do neurônio</a:t>
                </a:r>
                <a:r>
                  <a:rPr lang="pt-BR" b="0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.</a:t>
                </a:r>
              </a:p>
              <a:p>
                <a:r>
                  <a:rPr lang="pt-BR" b="0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Isso significa que o neurônio tem apenas uma entrada, o atributo </a:t>
                </a:r>
                <a14:m>
                  <m:oMath xmlns:m="http://schemas.openxmlformats.org/officeDocument/2006/math">
                    <m:r>
                      <a:rPr lang="pt-BR" b="0" i="1" smtClean="0">
                        <a:solidFill>
                          <a:srgbClr val="000000"/>
                        </a:solidFill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b="0" dirty="0">
                    <a:solidFill>
                      <a:srgbClr val="000000"/>
                    </a:solidFill>
                    <a:highlight>
                      <a:srgbClr val="FFFFFF"/>
                    </a:highlight>
                  </a:rPr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658" y="4474028"/>
                <a:ext cx="11658600" cy="2383971"/>
              </a:xfrm>
              <a:blipFill>
                <a:blip r:embed="rId3"/>
                <a:stretch>
                  <a:fillRect l="-941" t="-4348" b="-2302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861989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3658" y="4550228"/>
            <a:ext cx="11658600" cy="2307771"/>
          </a:xfrm>
        </p:spPr>
        <p:txBody>
          <a:bodyPr>
            <a:normAutofit lnSpcReduction="10000"/>
          </a:bodyPr>
          <a:lstStyle/>
          <a:p>
            <a:r>
              <a:rPr lang="pt-BR" dirty="0"/>
              <a:t>Quando vimos o funcionamento dos neurônios, aprendemos que eles possuem uma </a:t>
            </a:r>
            <a:r>
              <a:rPr lang="pt-BR" b="1" i="1" dirty="0"/>
              <a:t>função de ativação</a:t>
            </a:r>
            <a:r>
              <a:rPr lang="pt-BR" dirty="0"/>
              <a:t>,</a:t>
            </a:r>
            <a:r>
              <a:rPr lang="pt-BR" b="1" i="1" dirty="0"/>
              <a:t> </a:t>
            </a:r>
            <a:r>
              <a:rPr lang="pt-BR" dirty="0"/>
              <a:t>que tem como entrada a </a:t>
            </a:r>
            <a:r>
              <a:rPr lang="pt-BR" b="1" i="1" dirty="0"/>
              <a:t>combinação ponderada das entradas pelos pesos sinápticos mais o peso de bias</a:t>
            </a:r>
            <a:r>
              <a:rPr lang="pt-BR" dirty="0"/>
              <a:t> e que faz um </a:t>
            </a:r>
            <a:r>
              <a:rPr lang="pt-BR" b="1" i="1" dirty="0">
                <a:solidFill>
                  <a:srgbClr val="00B050"/>
                </a:solidFill>
              </a:rPr>
              <a:t>mapeamento não linear </a:t>
            </a:r>
            <a:r>
              <a:rPr lang="pt-BR" dirty="0"/>
              <a:t>de sua entrada na saída.</a:t>
            </a:r>
          </a:p>
          <a:p>
            <a:r>
              <a:rPr lang="pt-BR" dirty="0"/>
              <a:t>Porém, como queremos encontrar um </a:t>
            </a:r>
            <a:r>
              <a:rPr lang="pt-BR" b="1" i="1" dirty="0">
                <a:solidFill>
                  <a:srgbClr val="00B050"/>
                </a:solidFill>
              </a:rPr>
              <a:t>mapeamento linear entre a entrada e a saída</a:t>
            </a:r>
            <a:r>
              <a:rPr lang="pt-BR" dirty="0"/>
              <a:t>, </a:t>
            </a:r>
            <a:r>
              <a:rPr lang="pt-BR" b="1" i="1" dirty="0"/>
              <a:t>não usaremos </a:t>
            </a:r>
            <a:r>
              <a:rPr lang="pt-BR" dirty="0"/>
              <a:t>nenhuma </a:t>
            </a:r>
            <a:r>
              <a:rPr lang="pt-BR" b="1" i="1" dirty="0"/>
              <a:t>função de ativação</a:t>
            </a:r>
            <a:r>
              <a:rPr lang="pt-BR" dirty="0"/>
              <a:t>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392446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Definindo uma rede neural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413658" y="4506686"/>
                <a:ext cx="11658600" cy="235131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Lembrem-se nosso objetivo é encontrar os pesos de uma função hipótese, do tipo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pt-BR" b="0" i="1" smtClean="0">
                        <a:latin typeface="Cambria Math" panose="02040503050406030204" pitchFamily="18" charset="0"/>
                      </a:rPr>
                      <m:t>𝑤𝑥</m:t>
                    </m:r>
                  </m:oMath>
                </a14:m>
                <a:r>
                  <a:rPr lang="pt-BR" dirty="0"/>
                  <a:t>, </a:t>
                </a:r>
                <a:r>
                  <a:rPr lang="pt-BR" b="1" i="1" dirty="0">
                    <a:solidFill>
                      <a:schemeClr val="accent2"/>
                    </a:solidFill>
                  </a:rPr>
                  <a:t>modelada pela rede neural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A função de ativação pode ser definida através do parâmetro </a:t>
                </a:r>
                <a:r>
                  <a:rPr lang="pt-BR" b="1" i="1" dirty="0" err="1">
                    <a:solidFill>
                      <a:srgbClr val="00B050"/>
                    </a:solidFill>
                  </a:rPr>
                  <a:t>activation</a:t>
                </a:r>
                <a:r>
                  <a:rPr lang="pt-BR" dirty="0"/>
                  <a:t> da classe </a:t>
                </a:r>
                <a:r>
                  <a:rPr lang="pt-BR" b="1" i="1" dirty="0"/>
                  <a:t>Dense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 padrão, a ativação é definida como </a:t>
                </a:r>
                <a:r>
                  <a:rPr lang="pt-BR" b="1" i="1" dirty="0" err="1"/>
                  <a:t>None</a:t>
                </a:r>
                <a:r>
                  <a:rPr lang="pt-BR" dirty="0"/>
                  <a:t>, ou seja, não se tem ativação.</a:t>
                </a:r>
              </a:p>
              <a:p>
                <a:endParaRPr lang="pt-BR" dirty="0"/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413658" y="4506686"/>
                <a:ext cx="11658600" cy="2351313"/>
              </a:xfrm>
              <a:blipFill>
                <a:blip r:embed="rId3"/>
                <a:stretch>
                  <a:fillRect l="-941" t="-4145" r="-1098" b="-3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3" y="2510349"/>
            <a:ext cx="7451271" cy="39222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044597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CD34E8-BAC5-294C-C41E-E683193E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Nossa rede neural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4A900A4-14A9-5BA1-757B-0429FF942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685186" y="1825624"/>
                <a:ext cx="6299987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Visualmente, nossa rede neural se parece com a figura ao lado.</a:t>
                </a:r>
              </a:p>
              <a:p>
                <a:r>
                  <a:rPr lang="pt-BR" dirty="0"/>
                  <a:t>Nós temos apenas </a:t>
                </a:r>
                <a:r>
                  <a:rPr lang="pt-BR" b="1" i="1" dirty="0"/>
                  <a:t>uma camada</a:t>
                </a:r>
                <a:r>
                  <a:rPr lang="pt-BR" dirty="0"/>
                  <a:t> com um </a:t>
                </a:r>
                <a:r>
                  <a:rPr lang="pt-BR" b="1" i="1" dirty="0"/>
                  <a:t>único neurônio</a:t>
                </a:r>
                <a:r>
                  <a:rPr lang="pt-BR" dirty="0"/>
                  <a:t> nela.</a:t>
                </a:r>
              </a:p>
              <a:p>
                <a:r>
                  <a:rPr lang="pt-BR" dirty="0"/>
                  <a:t>O neurônio tem apenas uma entrada, o atributo,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. 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Por isso a dimensão da entrada é igual a 1.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4A900A4-14A9-5BA1-757B-0429FF942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685186" y="1825624"/>
                <a:ext cx="6299987" cy="5032376"/>
              </a:xfrm>
              <a:blipFill>
                <a:blip r:embed="rId2"/>
                <a:stretch>
                  <a:fillRect l="-1742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4471BB27-FBB4-CE12-C93B-911526066DD9}"/>
              </a:ext>
            </a:extLst>
          </p:cNvPr>
          <p:cNvGrpSpPr/>
          <p:nvPr/>
        </p:nvGrpSpPr>
        <p:grpSpPr>
          <a:xfrm>
            <a:off x="1522872" y="2729842"/>
            <a:ext cx="2682241" cy="1788767"/>
            <a:chOff x="1522872" y="2729842"/>
            <a:chExt cx="2682241" cy="1788767"/>
          </a:xfrm>
        </p:grpSpPr>
        <p:grpSp>
          <p:nvGrpSpPr>
            <p:cNvPr id="11" name="Agrupar 10">
              <a:extLst>
                <a:ext uri="{FF2B5EF4-FFF2-40B4-BE49-F238E27FC236}">
                  <a16:creationId xmlns:a16="http://schemas.microsoft.com/office/drawing/2014/main" xmlns="" id="{F81F8E92-5E4D-380C-2C1E-42DD6285D5EB}"/>
                </a:ext>
              </a:extLst>
            </p:cNvPr>
            <p:cNvGrpSpPr/>
            <p:nvPr/>
          </p:nvGrpSpPr>
          <p:grpSpPr>
            <a:xfrm>
              <a:off x="2029059" y="3284230"/>
              <a:ext cx="1848393" cy="566057"/>
              <a:chOff x="1851660" y="2612572"/>
              <a:chExt cx="1848393" cy="566057"/>
            </a:xfrm>
          </p:grpSpPr>
          <p:sp>
            <p:nvSpPr>
              <p:cNvPr id="4" name="Elipse 3">
                <a:extLst>
                  <a:ext uri="{FF2B5EF4-FFF2-40B4-BE49-F238E27FC236}">
                    <a16:creationId xmlns:a16="http://schemas.microsoft.com/office/drawing/2014/main" xmlns="" id="{B14B27F3-1C94-2ECC-30C0-E54C55E7D8A9}"/>
                  </a:ext>
                </a:extLst>
              </p:cNvPr>
              <p:cNvSpPr/>
              <p:nvPr/>
            </p:nvSpPr>
            <p:spPr>
              <a:xfrm>
                <a:off x="2492828" y="2612572"/>
                <a:ext cx="566057" cy="56605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6" name="Conector de Seta Reta 5">
                <a:extLst>
                  <a:ext uri="{FF2B5EF4-FFF2-40B4-BE49-F238E27FC236}">
                    <a16:creationId xmlns:a16="http://schemas.microsoft.com/office/drawing/2014/main" xmlns="" id="{2830856A-6DDF-054C-047C-3639E9D7DC31}"/>
                  </a:ext>
                </a:extLst>
              </p:cNvPr>
              <p:cNvCxnSpPr>
                <a:cxnSpLocks/>
                <a:endCxn id="4" idx="2"/>
              </p:cNvCxnSpPr>
              <p:nvPr/>
            </p:nvCxnSpPr>
            <p:spPr>
              <a:xfrm>
                <a:off x="2198914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" name="Conector de Seta Reta 7">
                <a:extLst>
                  <a:ext uri="{FF2B5EF4-FFF2-40B4-BE49-F238E27FC236}">
                    <a16:creationId xmlns:a16="http://schemas.microsoft.com/office/drawing/2014/main" xmlns="" id="{D7BD0E92-0842-BCA5-B7B8-4D940F7B3F1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8885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xmlns="" id="{D805B5F8-411B-B899-8485-51C6B19AAF98}"/>
                      </a:ext>
                    </a:extLst>
                  </p:cNvPr>
                  <p:cNvSpPr txBox="1"/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805B5F8-411B-B899-8485-51C6B19AAF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xmlns="" id="{E910E806-C224-45D8-5C61-DC367619B6E2}"/>
                      </a:ext>
                    </a:extLst>
                  </p:cNvPr>
                  <p:cNvSpPr txBox="1"/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E910E806-C224-45D8-5C61-DC367619B6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6557" r="-20588" b="-491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xmlns="" id="{CE4C3B78-C9C4-6812-CBE9-D26CFE776AE1}"/>
                    </a:ext>
                  </a:extLst>
                </p:cNvPr>
                <p:cNvSpPr txBox="1"/>
                <p:nvPr/>
              </p:nvSpPr>
              <p:spPr>
                <a:xfrm>
                  <a:off x="2349098" y="3321532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5" name="CaixaDeTexto 4">
                  <a:extLst>
                    <a:ext uri="{FF2B5EF4-FFF2-40B4-BE49-F238E27FC236}">
                      <a16:creationId xmlns:a16="http://schemas.microsoft.com/office/drawing/2014/main" id="{CE4C3B78-C9C4-6812-CBE9-D26CFE776AE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9098" y="3321532"/>
                  <a:ext cx="174172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4827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Conector de Seta Reta 11">
              <a:extLst>
                <a:ext uri="{FF2B5EF4-FFF2-40B4-BE49-F238E27FC236}">
                  <a16:creationId xmlns:a16="http://schemas.microsoft.com/office/drawing/2014/main" xmlns="" id="{1FF91332-8504-F835-3710-D46BA9E7E8EE}"/>
                </a:ext>
              </a:extLst>
            </p:cNvPr>
            <p:cNvCxnSpPr>
              <a:endCxn id="4" idx="0"/>
            </p:cNvCxnSpPr>
            <p:nvPr/>
          </p:nvCxnSpPr>
          <p:spPr>
            <a:xfrm>
              <a:off x="2953255" y="2979430"/>
              <a:ext cx="1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xmlns="" id="{B272638A-B4E9-5B3E-C9EB-26DAFFEE0289}"/>
                    </a:ext>
                  </a:extLst>
                </p:cNvPr>
                <p:cNvSpPr txBox="1"/>
                <p:nvPr/>
              </p:nvSpPr>
              <p:spPr>
                <a:xfrm>
                  <a:off x="2832150" y="2729842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B272638A-B4E9-5B3E-C9EB-26DAFFEE028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2150" y="2729842"/>
                  <a:ext cx="174172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xmlns="" id="{8AD21F71-69DC-F2C8-900B-DF14EABE43B9}"/>
                    </a:ext>
                  </a:extLst>
                </p:cNvPr>
                <p:cNvSpPr txBox="1"/>
                <p:nvPr/>
              </p:nvSpPr>
              <p:spPr>
                <a:xfrm>
                  <a:off x="1522872" y="3995389"/>
                  <a:ext cx="268224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8AD21F71-69DC-F2C8-900B-DF14EABE43B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2872" y="3995389"/>
                  <a:ext cx="268224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9860724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BCD34E8-BAC5-294C-C41E-E683193ED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Nossa rede neural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74A900A4-14A9-5BA1-757B-0429FF94250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764696" y="1825624"/>
                <a:ext cx="6220477" cy="5032376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Nenhuma função de ativação é definida.</a:t>
                </a:r>
              </a:p>
              <a:p>
                <a:pPr lvl="1">
                  <a:buFont typeface="Wingdings" panose="05000000000000000000" pitchFamily="2" charset="2"/>
                  <a:buChar char="§"/>
                </a:pPr>
                <a:r>
                  <a:rPr lang="pt-BR" dirty="0"/>
                  <a:t>Isso se deve ao fato de queremos encontrar um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mapeamento linear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Ele irá aprender os pesos (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𝑤</m:t>
                    </m:r>
                  </m:oMath>
                </a14:m>
                <a:r>
                  <a:rPr lang="pt-BR" dirty="0"/>
                  <a:t> e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pt-BR" dirty="0"/>
                  <a:t>) que mapeiam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dirty="0"/>
                  <a:t> em </a:t>
                </a:r>
                <a14:m>
                  <m:oMath xmlns:m="http://schemas.openxmlformats.org/officeDocument/2006/math">
                    <m:r>
                      <a:rPr lang="pt-BR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dirty="0"/>
                  <a:t> da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melhor forma possível</a:t>
                </a:r>
                <a:r>
                  <a:rPr lang="pt-BR" dirty="0"/>
                  <a:t>, baseado no </a:t>
                </a:r>
                <a:r>
                  <a:rPr lang="pt-BR" b="1" i="1" dirty="0"/>
                  <a:t>conjunto de treinamento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Esse modelo é conhecido na literatura como </a:t>
                </a:r>
                <a:r>
                  <a:rPr lang="pt-BR" b="1" i="1" dirty="0" err="1"/>
                  <a:t>Perceptron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74A900A4-14A9-5BA1-757B-0429FF94250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764696" y="1825624"/>
                <a:ext cx="6220477" cy="5032376"/>
              </a:xfrm>
              <a:blipFill>
                <a:blip r:embed="rId2"/>
                <a:stretch>
                  <a:fillRect l="-1765" t="-193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F073D809-2524-25B0-B3DC-F8553015E9AD}"/>
              </a:ext>
            </a:extLst>
          </p:cNvPr>
          <p:cNvGrpSpPr/>
          <p:nvPr/>
        </p:nvGrpSpPr>
        <p:grpSpPr>
          <a:xfrm>
            <a:off x="1522872" y="2729842"/>
            <a:ext cx="2682241" cy="1788767"/>
            <a:chOff x="1522872" y="2729842"/>
            <a:chExt cx="2682241" cy="1788767"/>
          </a:xfrm>
        </p:grpSpPr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xmlns="" id="{8787AFE9-1385-2D4C-2CFB-C6230DEC190C}"/>
                </a:ext>
              </a:extLst>
            </p:cNvPr>
            <p:cNvGrpSpPr/>
            <p:nvPr/>
          </p:nvGrpSpPr>
          <p:grpSpPr>
            <a:xfrm>
              <a:off x="2029059" y="3284230"/>
              <a:ext cx="1848393" cy="566057"/>
              <a:chOff x="1851660" y="2612572"/>
              <a:chExt cx="1848393" cy="566057"/>
            </a:xfrm>
          </p:grpSpPr>
          <p:sp>
            <p:nvSpPr>
              <p:cNvPr id="20" name="Elipse 19">
                <a:extLst>
                  <a:ext uri="{FF2B5EF4-FFF2-40B4-BE49-F238E27FC236}">
                    <a16:creationId xmlns:a16="http://schemas.microsoft.com/office/drawing/2014/main" xmlns="" id="{E48D1245-BF32-CCC8-AAFC-DB9E49C7816A}"/>
                  </a:ext>
                </a:extLst>
              </p:cNvPr>
              <p:cNvSpPr/>
              <p:nvPr/>
            </p:nvSpPr>
            <p:spPr>
              <a:xfrm>
                <a:off x="2492828" y="2612572"/>
                <a:ext cx="566057" cy="566057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21" name="Conector de Seta Reta 20">
                <a:extLst>
                  <a:ext uri="{FF2B5EF4-FFF2-40B4-BE49-F238E27FC236}">
                    <a16:creationId xmlns:a16="http://schemas.microsoft.com/office/drawing/2014/main" xmlns="" id="{7730F683-F6F6-8B73-2D0F-C7AD71161493}"/>
                  </a:ext>
                </a:extLst>
              </p:cNvPr>
              <p:cNvCxnSpPr>
                <a:cxnSpLocks/>
                <a:endCxn id="20" idx="2"/>
              </p:cNvCxnSpPr>
              <p:nvPr/>
            </p:nvCxnSpPr>
            <p:spPr>
              <a:xfrm>
                <a:off x="2198914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Conector de Seta Reta 21">
                <a:extLst>
                  <a:ext uri="{FF2B5EF4-FFF2-40B4-BE49-F238E27FC236}">
                    <a16:creationId xmlns:a16="http://schemas.microsoft.com/office/drawing/2014/main" xmlns="" id="{C2E06E7B-59CE-A451-6111-DBE6B21DFB0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058885" y="2895601"/>
                <a:ext cx="293914" cy="0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3" name="CaixaDeTexto 22">
                    <a:extLst>
                      <a:ext uri="{FF2B5EF4-FFF2-40B4-BE49-F238E27FC236}">
                        <a16:creationId xmlns:a16="http://schemas.microsoft.com/office/drawing/2014/main" xmlns="" id="{5E79E040-6D43-4CA6-148E-6187D7C21046}"/>
                      </a:ext>
                    </a:extLst>
                  </p:cNvPr>
                  <p:cNvSpPr txBox="1"/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9" name="CaixaDeTexto 8">
                    <a:extLst>
                      <a:ext uri="{FF2B5EF4-FFF2-40B4-BE49-F238E27FC236}">
                        <a16:creationId xmlns:a16="http://schemas.microsoft.com/office/drawing/2014/main" id="{D805B5F8-411B-B899-8485-51C6B19AAF98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851660" y="2708672"/>
                    <a:ext cx="415834" cy="369332"/>
                  </a:xfrm>
                  <a:prstGeom prst="rect">
                    <a:avLst/>
                  </a:prstGeom>
                  <a:blipFill>
                    <a:blip r:embed="rId3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4" name="CaixaDeTexto 23">
                    <a:extLst>
                      <a:ext uri="{FF2B5EF4-FFF2-40B4-BE49-F238E27FC236}">
                        <a16:creationId xmlns:a16="http://schemas.microsoft.com/office/drawing/2014/main" xmlns="" id="{30CB185B-F8D5-2EA6-5415-A7AE657FF221}"/>
                      </a:ext>
                    </a:extLst>
                  </p:cNvPr>
                  <p:cNvSpPr txBox="1"/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/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acc>
                            <m:accPr>
                              <m:chr m:val="̂"/>
                              <m:ctrlP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lang="pt-BR" b="0" i="1" smtClean="0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</m:acc>
                        </m:oMath>
                      </m:oMathPara>
                    </a14:m>
                    <a:endParaRPr lang="pt-BR" dirty="0"/>
                  </a:p>
                </p:txBody>
              </p:sp>
            </mc:Choice>
            <mc:Fallback xmlns="">
              <p:sp>
                <p:nvSpPr>
                  <p:cNvPr id="10" name="CaixaDeTexto 9">
                    <a:extLst>
                      <a:ext uri="{FF2B5EF4-FFF2-40B4-BE49-F238E27FC236}">
                        <a16:creationId xmlns:a16="http://schemas.microsoft.com/office/drawing/2014/main" id="{E910E806-C224-45D8-5C61-DC367619B6E2}"/>
                      </a:ext>
                    </a:extLst>
                  </p:cNvPr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284219" y="2712720"/>
                    <a:ext cx="415834" cy="369332"/>
                  </a:xfrm>
                  <a:prstGeom prst="rect">
                    <a:avLst/>
                  </a:prstGeom>
                  <a:blipFill>
                    <a:blip r:embed="rId4"/>
                    <a:stretch>
                      <a:fillRect t="-6557" r="-20588" b="-4918"/>
                    </a:stretch>
                  </a:blipFill>
                </p:spPr>
                <p:txBody>
                  <a:bodyPr/>
                  <a:lstStyle/>
                  <a:p>
                    <a:r>
                      <a:rPr lang="pt-BR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xmlns="" id="{A4F6851E-9E11-3B89-D251-01729CAA7DAA}"/>
                    </a:ext>
                  </a:extLst>
                </p:cNvPr>
                <p:cNvSpPr txBox="1"/>
                <p:nvPr/>
              </p:nvSpPr>
              <p:spPr>
                <a:xfrm>
                  <a:off x="2349098" y="3321532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𝑤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A4F6851E-9E11-3B89-D251-01729CAA7DA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349098" y="3321532"/>
                  <a:ext cx="174172" cy="307777"/>
                </a:xfrm>
                <a:prstGeom prst="rect">
                  <a:avLst/>
                </a:prstGeom>
                <a:blipFill>
                  <a:blip r:embed="rId5"/>
                  <a:stretch>
                    <a:fillRect r="-4827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7" name="Conector de Seta Reta 16">
              <a:extLst>
                <a:ext uri="{FF2B5EF4-FFF2-40B4-BE49-F238E27FC236}">
                  <a16:creationId xmlns:a16="http://schemas.microsoft.com/office/drawing/2014/main" xmlns="" id="{A34B09A1-6CA0-A88D-7ACB-176ADCE7E009}"/>
                </a:ext>
              </a:extLst>
            </p:cNvPr>
            <p:cNvCxnSpPr>
              <a:endCxn id="20" idx="0"/>
            </p:cNvCxnSpPr>
            <p:nvPr/>
          </p:nvCxnSpPr>
          <p:spPr>
            <a:xfrm>
              <a:off x="2953255" y="2979430"/>
              <a:ext cx="1" cy="304800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xmlns="" id="{3BA5E1B7-FCF4-43CE-C88D-206D0FCFFEFE}"/>
                    </a:ext>
                  </a:extLst>
                </p:cNvPr>
                <p:cNvSpPr txBox="1"/>
                <p:nvPr/>
              </p:nvSpPr>
              <p:spPr>
                <a:xfrm>
                  <a:off x="2832150" y="2729842"/>
                  <a:ext cx="174172" cy="30777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pt-BR" sz="14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oMath>
                    </m:oMathPara>
                  </a14:m>
                  <a:endParaRPr lang="pt-BR" sz="14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3BA5E1B7-FCF4-43CE-C88D-206D0FCFFEF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32150" y="2729842"/>
                  <a:ext cx="174172" cy="307777"/>
                </a:xfrm>
                <a:prstGeom prst="rect">
                  <a:avLst/>
                </a:prstGeom>
                <a:blipFill>
                  <a:blip r:embed="rId6"/>
                  <a:stretch>
                    <a:fillRect r="-428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xmlns="" id="{E47CC931-B433-65DB-33F0-E0B4B2345BFB}"/>
                    </a:ext>
                  </a:extLst>
                </p:cNvPr>
                <p:cNvSpPr txBox="1"/>
                <p:nvPr/>
              </p:nvSpPr>
              <p:spPr>
                <a:xfrm>
                  <a:off x="1522872" y="3995389"/>
                  <a:ext cx="2682241" cy="52322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sz="2800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pt-BR" sz="2800" b="0" i="1" smtClean="0">
                            <a:latin typeface="Cambria Math" panose="02040503050406030204" pitchFamily="18" charset="0"/>
                          </a:rPr>
                          <m:t>𝑤𝑥</m:t>
                        </m:r>
                      </m:oMath>
                    </m:oMathPara>
                  </a14:m>
                  <a:endParaRPr lang="pt-BR" sz="2800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E47CC931-B433-65DB-33F0-E0B4B2345BF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522872" y="3995389"/>
                  <a:ext cx="2682241" cy="523220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</p:spTree>
    <p:extLst>
      <p:ext uri="{BB962C8B-B14F-4D97-AF65-F5344CB8AC3E}">
        <p14:creationId xmlns:p14="http://schemas.microsoft.com/office/powerpoint/2010/main" val="289446279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6686"/>
            <a:ext cx="11234058" cy="2351313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Depois de termos definido o modelo, precisamos compilá-lo.</a:t>
            </a:r>
          </a:p>
          <a:p>
            <a:r>
              <a:rPr lang="pt-BR" dirty="0"/>
              <a:t>Ao compilarmos o modelo, devemos definir a </a:t>
            </a:r>
            <a:r>
              <a:rPr lang="pt-BR" b="1" i="1" dirty="0"/>
              <a:t>função de erro (</a:t>
            </a:r>
            <a:r>
              <a:rPr lang="pt-BR" b="1" i="1" dirty="0" err="1"/>
              <a:t>loss</a:t>
            </a:r>
            <a:r>
              <a:rPr lang="pt-BR" b="1" i="1" dirty="0"/>
              <a:t>)</a:t>
            </a:r>
            <a:r>
              <a:rPr lang="pt-BR" dirty="0"/>
              <a:t> e um </a:t>
            </a:r>
            <a:r>
              <a:rPr lang="pt-BR" b="1" i="1" dirty="0"/>
              <a:t>otimizador</a:t>
            </a:r>
            <a:r>
              <a:rPr lang="pt-BR" dirty="0"/>
              <a:t>.</a:t>
            </a:r>
          </a:p>
          <a:p>
            <a:r>
              <a:rPr lang="pt-BR" dirty="0"/>
              <a:t>Como antes, usaremos o </a:t>
            </a:r>
            <a:r>
              <a:rPr lang="pt-BR" b="1" i="1" dirty="0"/>
              <a:t>erro quadrático médio</a:t>
            </a:r>
            <a:r>
              <a:rPr lang="pt-BR" dirty="0"/>
              <a:t> como função de erro.</a:t>
            </a:r>
          </a:p>
          <a:p>
            <a:r>
              <a:rPr lang="pt-BR" b="1" dirty="0"/>
              <a:t>Obs</a:t>
            </a:r>
            <a:r>
              <a:rPr lang="pt-BR" dirty="0"/>
              <a:t>.: O Tensorflow se encarrega de realizar os cálculos de erro, portanto, não precisamos nos preocupar com isso.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5" y="2819398"/>
            <a:ext cx="5859236" cy="323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793724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Compilando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6686"/>
            <a:ext cx="11234058" cy="2351313"/>
          </a:xfrm>
        </p:spPr>
        <p:txBody>
          <a:bodyPr>
            <a:normAutofit fontScale="92500" lnSpcReduction="20000"/>
          </a:bodyPr>
          <a:lstStyle/>
          <a:p>
            <a:r>
              <a:rPr lang="pt-BR" dirty="0"/>
              <a:t>O </a:t>
            </a:r>
            <a:r>
              <a:rPr lang="pt-BR" b="1" i="1" dirty="0"/>
              <a:t>otimizador</a:t>
            </a:r>
            <a:r>
              <a:rPr lang="pt-BR" dirty="0"/>
              <a:t> é o SGD, que significa </a:t>
            </a:r>
            <a:r>
              <a:rPr lang="pt-BR" i="1" dirty="0" err="1"/>
              <a:t>Stochastic</a:t>
            </a:r>
            <a:r>
              <a:rPr lang="pt-BR" i="1" dirty="0"/>
              <a:t> </a:t>
            </a:r>
            <a:r>
              <a:rPr lang="pt-BR" i="1" dirty="0" err="1"/>
              <a:t>Gradient</a:t>
            </a:r>
            <a:r>
              <a:rPr lang="pt-BR" i="1" dirty="0"/>
              <a:t> </a:t>
            </a:r>
            <a:r>
              <a:rPr lang="pt-BR" i="1" dirty="0" err="1"/>
              <a:t>Descent</a:t>
            </a:r>
            <a:r>
              <a:rPr lang="pt-BR" dirty="0"/>
              <a:t>.</a:t>
            </a:r>
          </a:p>
          <a:p>
            <a:r>
              <a:rPr lang="pt-BR" dirty="0"/>
              <a:t>Na verdade, ele implementa o </a:t>
            </a:r>
            <a:r>
              <a:rPr lang="pt-BR" b="1" i="1" dirty="0">
                <a:solidFill>
                  <a:srgbClr val="00B050"/>
                </a:solidFill>
              </a:rPr>
              <a:t>gradiente descendente em mini-lotes</a:t>
            </a:r>
            <a:r>
              <a:rPr lang="pt-BR" dirty="0"/>
              <a:t>.</a:t>
            </a:r>
          </a:p>
          <a:p>
            <a:r>
              <a:rPr lang="pt-BR" dirty="0"/>
              <a:t>Ele segue o processo que vimos anteriormente, o qual calcula o vetor gradiente usando um subconjunto de amostras do conjunto de treinamento.</a:t>
            </a:r>
          </a:p>
          <a:p>
            <a:r>
              <a:rPr lang="pt-BR" dirty="0"/>
              <a:t>O SGD usa o vetor gradiente para caminhar pela (descer a) superfície de erro até atingir </a:t>
            </a:r>
            <a:r>
              <a:rPr lang="pt-BR" b="1" i="1" dirty="0">
                <a:solidFill>
                  <a:srgbClr val="7030A0"/>
                </a:solidFill>
              </a:rPr>
              <a:t>um</a:t>
            </a:r>
            <a:r>
              <a:rPr lang="pt-BR" dirty="0"/>
              <a:t> mínimo.</a:t>
            </a:r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5" y="2819398"/>
            <a:ext cx="5859236" cy="323493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8710567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24218"/>
            <a:ext cx="11234058" cy="2433782"/>
          </a:xfrm>
        </p:spPr>
        <p:txBody>
          <a:bodyPr>
            <a:normAutofit fontScale="92500"/>
          </a:bodyPr>
          <a:lstStyle/>
          <a:p>
            <a:r>
              <a:rPr lang="pt-BR" dirty="0">
                <a:solidFill>
                  <a:schemeClr val="tx1"/>
                </a:solidFill>
              </a:rPr>
              <a:t>O treinamento propriamente dito é feito através do método </a:t>
            </a:r>
            <a:r>
              <a:rPr lang="pt-BR" i="1" dirty="0" err="1">
                <a:solidFill>
                  <a:schemeClr val="tx1"/>
                </a:solidFill>
              </a:rPr>
              <a:t>fit</a:t>
            </a:r>
            <a:r>
              <a:rPr lang="pt-BR" i="1" dirty="0">
                <a:solidFill>
                  <a:schemeClr val="tx1"/>
                </a:solidFill>
              </a:rPr>
              <a:t>()</a:t>
            </a:r>
            <a:r>
              <a:rPr lang="pt-BR" dirty="0">
                <a:solidFill>
                  <a:schemeClr val="tx1"/>
                </a:solidFill>
              </a:rPr>
              <a:t>.</a:t>
            </a:r>
          </a:p>
          <a:p>
            <a:r>
              <a:rPr lang="pt-BR" dirty="0">
                <a:solidFill>
                  <a:schemeClr val="tx1"/>
                </a:solidFill>
              </a:rPr>
              <a:t>O que ele faz é atualizar </a:t>
            </a:r>
            <a:r>
              <a:rPr lang="pt-BR" b="1" i="1" dirty="0">
                <a:solidFill>
                  <a:srgbClr val="00B050"/>
                </a:solidFill>
              </a:rPr>
              <a:t>iterativamente</a:t>
            </a:r>
            <a:r>
              <a:rPr lang="pt-BR" dirty="0">
                <a:solidFill>
                  <a:schemeClr val="tx1"/>
                </a:solidFill>
              </a:rPr>
              <a:t> </a:t>
            </a:r>
            <a:r>
              <a:rPr lang="pt-BR" dirty="0"/>
              <a:t>os pesos do modelo</a:t>
            </a:r>
            <a:r>
              <a:rPr lang="pt-BR" dirty="0">
                <a:solidFill>
                  <a:schemeClr val="tx1"/>
                </a:solidFill>
              </a:rPr>
              <a:t> usando o SGD.</a:t>
            </a:r>
          </a:p>
          <a:p>
            <a:r>
              <a:rPr lang="pt-BR" dirty="0">
                <a:solidFill>
                  <a:schemeClr val="tx1"/>
                </a:solidFill>
              </a:rPr>
              <a:t>O treinamento é feito por 500 épocas.</a:t>
            </a:r>
          </a:p>
          <a:p>
            <a:r>
              <a:rPr lang="pt-BR" dirty="0"/>
              <a:t>Uma </a:t>
            </a:r>
            <a:r>
              <a:rPr lang="pt-BR" b="1" i="1" dirty="0">
                <a:solidFill>
                  <a:srgbClr val="00B050"/>
                </a:solidFill>
              </a:rPr>
              <a:t>época</a:t>
            </a:r>
            <a:r>
              <a:rPr lang="pt-BR" dirty="0"/>
              <a:t> representa </a:t>
            </a:r>
            <a:r>
              <a:rPr lang="pt-BR" b="1" i="1" dirty="0">
                <a:solidFill>
                  <a:srgbClr val="00B050"/>
                </a:solidFill>
              </a:rPr>
              <a:t>uma passagem completa pelo conjunto de treinamento </a:t>
            </a:r>
            <a:r>
              <a:rPr lang="pt-BR" b="0" i="0" dirty="0">
                <a:effectLst/>
              </a:rPr>
              <a:t>durante o treinamento do modelo.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10570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442790"/>
            <a:ext cx="11234058" cy="2415209"/>
          </a:xfrm>
        </p:spPr>
        <p:txBody>
          <a:bodyPr>
            <a:normAutofit fontScale="92500" lnSpcReduction="10000"/>
          </a:bodyPr>
          <a:lstStyle/>
          <a:p>
            <a:r>
              <a:rPr lang="pt-BR" dirty="0"/>
              <a:t>Uma </a:t>
            </a:r>
            <a:r>
              <a:rPr lang="pt-BR" b="1" i="1" dirty="0">
                <a:solidFill>
                  <a:srgbClr val="00B050"/>
                </a:solidFill>
              </a:rPr>
              <a:t>iteração</a:t>
            </a:r>
            <a:r>
              <a:rPr lang="pt-BR" dirty="0"/>
              <a:t> </a:t>
            </a:r>
            <a:r>
              <a:rPr lang="pt-BR" b="0" i="0" dirty="0">
                <a:effectLst/>
              </a:rPr>
              <a:t>representa </a:t>
            </a:r>
            <a:r>
              <a:rPr lang="pt-BR" b="1" i="1" dirty="0">
                <a:solidFill>
                  <a:srgbClr val="7030A0"/>
                </a:solidFill>
              </a:rPr>
              <a:t>uma</a:t>
            </a:r>
            <a:r>
              <a:rPr lang="pt-BR" dirty="0"/>
              <a:t> </a:t>
            </a:r>
            <a:r>
              <a:rPr lang="pt-BR" b="1" i="1" dirty="0">
                <a:solidFill>
                  <a:srgbClr val="FF0000"/>
                </a:solidFill>
                <a:effectLst/>
              </a:rPr>
              <a:t>atualização dos pesos</a:t>
            </a:r>
            <a:r>
              <a:rPr lang="pt-BR" b="0" i="0" dirty="0">
                <a:effectLst/>
              </a:rPr>
              <a:t>. </a:t>
            </a:r>
          </a:p>
          <a:p>
            <a:r>
              <a:rPr lang="pt-BR" dirty="0"/>
              <a:t>Assim, uma </a:t>
            </a:r>
            <a:r>
              <a:rPr lang="pt-BR" b="1" i="1" dirty="0">
                <a:solidFill>
                  <a:schemeClr val="accent2"/>
                </a:solidFill>
              </a:rPr>
              <a:t>época é composta por um conjunto de iterações</a:t>
            </a:r>
            <a:r>
              <a:rPr lang="pt-BR" dirty="0"/>
              <a:t>.</a:t>
            </a:r>
          </a:p>
          <a:p>
            <a:r>
              <a:rPr lang="pt-BR" dirty="0"/>
              <a:t>Por exemplo, </a:t>
            </a:r>
            <a:r>
              <a:rPr lang="pt-BR" b="0" i="0" dirty="0">
                <a:effectLst/>
              </a:rPr>
              <a:t>se o conjunto de treinamento tem 1000 exemplos e está sendo treinado em </a:t>
            </a:r>
            <a:r>
              <a:rPr lang="pt-BR" b="0" i="1" dirty="0" err="1">
                <a:effectLst/>
              </a:rPr>
              <a:t>mini</a:t>
            </a:r>
            <a:r>
              <a:rPr lang="pt-BR" b="0" i="0" dirty="0" err="1">
                <a:effectLst/>
              </a:rPr>
              <a:t>-</a:t>
            </a:r>
            <a:r>
              <a:rPr lang="pt-BR" b="0" i="1" dirty="0" err="1">
                <a:effectLst/>
              </a:rPr>
              <a:t>batches</a:t>
            </a:r>
            <a:r>
              <a:rPr lang="pt-BR" b="0" i="0" dirty="0">
                <a:effectLst/>
              </a:rPr>
              <a:t> de 100 exemplos, então uma época é composta por 10 iterações, i.e., os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pesos são atualizados 10 vezes</a:t>
            </a:r>
            <a:r>
              <a:rPr lang="pt-BR" b="0" i="0" dirty="0">
                <a:effectLst/>
              </a:rPr>
              <a:t>.</a:t>
            </a:r>
          </a:p>
          <a:p>
            <a:r>
              <a:rPr lang="pt-BR" dirty="0"/>
              <a:t>Por padrão, o tamanho do </a:t>
            </a:r>
            <a:r>
              <a:rPr lang="pt-BR" i="1" dirty="0" err="1"/>
              <a:t>mini-batch</a:t>
            </a:r>
            <a:r>
              <a:rPr lang="pt-BR" dirty="0"/>
              <a:t> é igual a 32.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763408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</p:spPr>
            <p:txBody>
              <a:bodyPr>
                <a:normAutofit/>
              </a:bodyPr>
              <a:lstStyle/>
              <a:p>
                <a:r>
                  <a:rPr lang="pt-BR" dirty="0"/>
                  <a:t>O tamanho do </a:t>
                </a:r>
                <a:r>
                  <a:rPr lang="pt-BR" i="1" dirty="0" err="1"/>
                  <a:t>mini-batch</a:t>
                </a:r>
                <a:r>
                  <a:rPr lang="pt-BR" dirty="0"/>
                  <a:t> é definido através do parâmetro </a:t>
                </a:r>
                <a:r>
                  <a:rPr lang="pt-BR" b="1" i="1" dirty="0" err="1">
                    <a:solidFill>
                      <a:srgbClr val="00B050"/>
                    </a:solidFill>
                  </a:rPr>
                  <a:t>batch_size</a:t>
                </a:r>
                <a:r>
                  <a:rPr lang="pt-BR" dirty="0"/>
                  <a:t> do método </a:t>
                </a:r>
                <a:r>
                  <a:rPr lang="pt-BR" i="1" dirty="0" err="1"/>
                  <a:t>fit</a:t>
                </a:r>
                <a:r>
                  <a:rPr lang="pt-BR" i="1" dirty="0"/>
                  <a:t>()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Porém, como no código acima o número de exemplos de treinamento é menor do que o tamanho padrão, </a:t>
                </a:r>
                <a:r>
                  <a:rPr lang="pt-BR" b="1" i="1" dirty="0">
                    <a:solidFill>
                      <a:srgbClr val="00B050"/>
                    </a:solidFill>
                  </a:rPr>
                  <a:t>1 iteração se torna igual a 1 época</a:t>
                </a:r>
                <a:r>
                  <a:rPr lang="pt-BR" dirty="0"/>
                  <a:t>.</a:t>
                </a:r>
              </a:p>
              <a:p>
                <a:r>
                  <a:rPr lang="pt-BR" dirty="0"/>
                  <a:t>Ou seja, todos os exemplos são usados para se atualizar os pesos </a:t>
                </a:r>
                <a14:m>
                  <m:oMath xmlns:m="http://schemas.openxmlformats.org/officeDocument/2006/math">
                    <m:r>
                      <a:rPr lang="pt-BR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pt-BR" dirty="0"/>
                  <a:t> </a:t>
                </a:r>
                <a:r>
                  <a:rPr lang="pt-BR" b="1" dirty="0">
                    <a:solidFill>
                      <a:srgbClr val="00B050"/>
                    </a:solidFill>
                  </a:rPr>
                  <a:t>GDB</a:t>
                </a:r>
                <a:r>
                  <a:rPr lang="pt-BR" dirty="0"/>
                  <a:t>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  <a:blipFill>
                <a:blip r:embed="rId3"/>
                <a:stretch>
                  <a:fillRect l="-977" t="-4145" b="-3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899475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6686"/>
            <a:ext cx="11234058" cy="2351313"/>
          </a:xfrm>
        </p:spPr>
        <p:txBody>
          <a:bodyPr>
            <a:normAutofit lnSpcReduction="10000"/>
          </a:bodyPr>
          <a:lstStyle/>
          <a:p>
            <a:r>
              <a:rPr lang="pt-BR" dirty="0"/>
              <a:t>Cada </a:t>
            </a:r>
            <a:r>
              <a:rPr lang="pt-BR" b="1" i="1" dirty="0">
                <a:solidFill>
                  <a:srgbClr val="00B050"/>
                </a:solidFill>
              </a:rPr>
              <a:t>iteração</a:t>
            </a:r>
            <a:r>
              <a:rPr lang="pt-BR" dirty="0"/>
              <a:t> de atualização executa as etapas que discutimos antes: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dá-se um palpite a respeito dos valores dos pesos (inicialmente, eles são aleatórios),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mede-se o erro causado por esse palpite,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atualiza-se os pesos usando-se o gradiente do erro,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e repete-se o processo, aqui, até se completar as 500 épocas. 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900621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6686"/>
            <a:ext cx="11234058" cy="2351313"/>
          </a:xfrm>
        </p:spPr>
        <p:txBody>
          <a:bodyPr>
            <a:normAutofit/>
          </a:bodyPr>
          <a:lstStyle/>
          <a:p>
            <a:r>
              <a:rPr lang="pt-BR" dirty="0"/>
              <a:t>Percebam que não estamos fazendo, nem faremos, nenhum cálculo nós mesmos (i.e., cálculo do erro, vetor gradiente, atualizações). </a:t>
            </a:r>
          </a:p>
          <a:p>
            <a:r>
              <a:rPr lang="pt-BR" dirty="0"/>
              <a:t>Nós deixaremos o </a:t>
            </a:r>
            <a:r>
              <a:rPr lang="pt-BR" dirty="0" err="1"/>
              <a:t>TensorFlow</a:t>
            </a:r>
            <a:r>
              <a:rPr lang="pt-BR" dirty="0"/>
              <a:t> fazer isso por nós.</a:t>
            </a:r>
          </a:p>
          <a:p>
            <a:r>
              <a:rPr lang="pt-BR" dirty="0"/>
              <a:t>Essa é uma das grandes vantagens do </a:t>
            </a:r>
            <a:r>
              <a:rPr lang="pt-BR" dirty="0" err="1"/>
              <a:t>TensorFlow</a:t>
            </a:r>
            <a:r>
              <a:rPr lang="pt-BR" dirty="0"/>
              <a:t>, principalmente quando temos redes neurais profundas.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0232904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Treinando a rede neural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271C2DB-CB2D-7DA6-19D3-EA05C00F99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4506686"/>
            <a:ext cx="11234058" cy="2351313"/>
          </a:xfrm>
        </p:spPr>
        <p:txBody>
          <a:bodyPr>
            <a:normAutofit/>
          </a:bodyPr>
          <a:lstStyle/>
          <a:p>
            <a:r>
              <a:rPr lang="pt-BR" b="0" dirty="0">
                <a:effectLst/>
              </a:rPr>
              <a:t>Ao final do treinamento, o método </a:t>
            </a:r>
            <a:r>
              <a:rPr lang="pt-BR" b="0" i="1" dirty="0" err="1">
                <a:effectLst/>
              </a:rPr>
              <a:t>fit</a:t>
            </a:r>
            <a:r>
              <a:rPr lang="pt-BR" b="0" i="1" dirty="0">
                <a:effectLst/>
              </a:rPr>
              <a:t>() </a:t>
            </a:r>
            <a:r>
              <a:rPr lang="pt-BR" b="0" dirty="0">
                <a:effectLst/>
              </a:rPr>
              <a:t>retorna um objeto do tipo </a:t>
            </a:r>
            <a:r>
              <a:rPr lang="pt-BR" b="0" i="1" dirty="0" err="1">
                <a:effectLst/>
              </a:rPr>
              <a:t>History</a:t>
            </a:r>
            <a:r>
              <a:rPr lang="pt-BR" b="0" dirty="0">
                <a:effectLst/>
              </a:rPr>
              <a:t>.</a:t>
            </a:r>
          </a:p>
          <a:p>
            <a:r>
              <a:rPr lang="pt-BR" dirty="0"/>
              <a:t>Ele</a:t>
            </a:r>
            <a:r>
              <a:rPr lang="pt-BR" b="0" dirty="0">
                <a:effectLst/>
              </a:rPr>
              <a:t> contém, além de </a:t>
            </a:r>
            <a:r>
              <a:rPr lang="pt-BR" b="0">
                <a:effectLst/>
              </a:rPr>
              <a:t>outros atributos, </a:t>
            </a:r>
            <a:r>
              <a:rPr lang="pt-BR" b="0" dirty="0">
                <a:effectLst/>
              </a:rPr>
              <a:t>um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dicionário</a:t>
            </a:r>
            <a:r>
              <a:rPr lang="pt-BR" b="0" dirty="0">
                <a:effectLst/>
              </a:rPr>
              <a:t> chamado de </a:t>
            </a:r>
            <a:r>
              <a:rPr lang="pt-BR" b="1" i="1" dirty="0" err="1">
                <a:solidFill>
                  <a:srgbClr val="7030A0"/>
                </a:solidFill>
                <a:effectLst/>
              </a:rPr>
              <a:t>history</a:t>
            </a:r>
            <a:r>
              <a:rPr lang="pt-BR" b="0" dirty="0">
                <a:effectLst/>
              </a:rPr>
              <a:t> contendo </a:t>
            </a:r>
            <a:r>
              <a:rPr lang="pt-BR" dirty="0"/>
              <a:t>o </a:t>
            </a:r>
            <a:r>
              <a:rPr lang="pt-BR" b="1" i="1" dirty="0">
                <a:solidFill>
                  <a:srgbClr val="00B050"/>
                </a:solidFill>
              </a:rPr>
              <a:t>erro</a:t>
            </a:r>
            <a:r>
              <a:rPr lang="pt-BR" dirty="0"/>
              <a:t> </a:t>
            </a:r>
            <a:r>
              <a:rPr lang="pt-BR" b="0" dirty="0">
                <a:effectLst/>
              </a:rPr>
              <a:t>e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todas as métricas extras</a:t>
            </a:r>
            <a:r>
              <a:rPr lang="pt-BR" b="0" dirty="0">
                <a:effectLst/>
              </a:rPr>
              <a:t> medidas </a:t>
            </a:r>
            <a:r>
              <a:rPr lang="pt-BR" b="1" i="1" dirty="0">
                <a:solidFill>
                  <a:srgbClr val="00B050"/>
                </a:solidFill>
                <a:effectLst/>
              </a:rPr>
              <a:t>ao final de cada época </a:t>
            </a:r>
            <a:r>
              <a:rPr lang="pt-BR" b="0" dirty="0">
                <a:effectLst/>
              </a:rPr>
              <a:t>no conjunto de treinamento e no conjunto de validação (se houver).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331030"/>
            <a:ext cx="35950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342830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Realizando predições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</p:spPr>
            <p:txBody>
              <a:bodyPr>
                <a:normAutofit/>
              </a:bodyPr>
              <a:lstStyle/>
              <a:p>
                <a:r>
                  <a:rPr lang="pt-BR" b="0" dirty="0">
                    <a:effectLst/>
                  </a:rPr>
                  <a:t>Depois de treinado, podemos usar o modelo para predizer o valor de </a:t>
                </a:r>
                <a14:m>
                  <m:oMath xmlns:m="http://schemas.openxmlformats.org/officeDocument/2006/math"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pt-BR" b="0" dirty="0">
                    <a:effectLst/>
                  </a:rPr>
                  <a:t> para um determinado </a:t>
                </a:r>
                <a14:m>
                  <m:oMath xmlns:m="http://schemas.openxmlformats.org/officeDocument/2006/math"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b="0" dirty="0">
                    <a:effectLst/>
                  </a:rPr>
                  <a:t>.</a:t>
                </a:r>
              </a:p>
              <a:p>
                <a:r>
                  <a:rPr lang="pt-BR" dirty="0"/>
                  <a:t>A predição também é chamada de </a:t>
                </a:r>
                <a:r>
                  <a:rPr lang="pt-BR" b="1" i="1" dirty="0"/>
                  <a:t>inferência</a:t>
                </a:r>
                <a:r>
                  <a:rPr lang="pt-BR" dirty="0"/>
                  <a:t>.</a:t>
                </a:r>
              </a:p>
              <a:p>
                <a:r>
                  <a:rPr lang="pt-BR" b="0" dirty="0">
                    <a:effectLst/>
                  </a:rPr>
                  <a:t>Pr</a:t>
                </a:r>
                <a:r>
                  <a:rPr lang="pt-BR" dirty="0"/>
                  <a:t>edições são feitas com o método </a:t>
                </a:r>
                <a:r>
                  <a:rPr lang="pt-BR" i="1" dirty="0" err="1"/>
                  <a:t>predict</a:t>
                </a:r>
                <a:r>
                  <a:rPr lang="pt-BR" i="1" dirty="0"/>
                  <a:t>()</a:t>
                </a:r>
                <a:r>
                  <a:rPr lang="pt-BR" dirty="0"/>
                  <a:t>.</a:t>
                </a:r>
                <a:endParaRPr lang="pt-BR" b="0" dirty="0">
                  <a:effectLst/>
                </a:endParaRP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  <a:blipFill>
                <a:blip r:embed="rId3"/>
                <a:stretch>
                  <a:fillRect l="-977" t="-4145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898091"/>
            <a:ext cx="27568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51660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6449F96-8B9C-8642-EE66-30B04CC163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Realizando predições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xmlns="" id="{5271C2DB-CB2D-7DA6-19D3-EA05C00F999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</p:spPr>
            <p:txBody>
              <a:bodyPr>
                <a:normAutofit fontScale="92500" lnSpcReduction="10000"/>
              </a:bodyPr>
              <a:lstStyle/>
              <a:p>
                <a:r>
                  <a:rPr lang="pt-BR" b="0" dirty="0">
                    <a:effectLst/>
                  </a:rPr>
                  <a:t>Qual valor seria predito e impresso para </a:t>
                </a:r>
                <a14:m>
                  <m:oMath xmlns:m="http://schemas.openxmlformats.org/officeDocument/2006/math"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b="0" dirty="0">
                    <a:effectLst/>
                  </a:rPr>
                  <a:t>?</a:t>
                </a:r>
              </a:p>
              <a:p>
                <a:r>
                  <a:rPr lang="pt-BR" b="0" dirty="0">
                    <a:effectLst/>
                  </a:rPr>
                  <a:t>Sabemos das aulas anteriores que a melhor função hipótese é dada por </a:t>
                </a:r>
              </a:p>
              <a:p>
                <a:pPr marL="0" indent="0" algn="ctr">
                  <a:buNone/>
                </a:pP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b="0" i="1" smtClean="0">
                            <a:effectLst/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b="0" i="1" smtClean="0">
                            <a:effectLst/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=−1+2</m:t>
                    </m:r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pt-BR" b="0" dirty="0">
                    <a:effectLst/>
                  </a:rPr>
                  <a:t>. </a:t>
                </a:r>
              </a:p>
              <a:p>
                <a:r>
                  <a:rPr lang="pt-BR" b="0" dirty="0">
                    <a:effectLst/>
                  </a:rPr>
                  <a:t>Assim, quando </a:t>
                </a:r>
                <a14:m>
                  <m:oMath xmlns:m="http://schemas.openxmlformats.org/officeDocument/2006/math"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𝑥</m:t>
                    </m:r>
                    <m:r>
                      <a:rPr lang="pt-BR" b="0" i="1" smtClean="0">
                        <a:effectLst/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r>
                  <a:rPr lang="pt-BR" b="0" dirty="0">
                    <a:effectLst/>
                  </a:rPr>
                  <a:t>, o valor de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pt-BR" i="1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</m:acc>
                    <m:r>
                      <a:rPr lang="pt-BR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pt-BR" b="0" dirty="0">
                    <a:effectLst/>
                  </a:rPr>
                  <a:t>deveria ser 19. Correto?</a:t>
                </a:r>
              </a:p>
              <a:p>
                <a:r>
                  <a:rPr lang="pt-BR" dirty="0"/>
                  <a:t>Vamos ver no próximo exemplo, que, </a:t>
                </a:r>
                <a:r>
                  <a:rPr lang="pt-BR" b="0" dirty="0">
                    <a:effectLst/>
                  </a:rPr>
                  <a:t>surpreendentemente, a resposta é não.</a:t>
                </a:r>
              </a:p>
            </p:txBody>
          </p:sp>
        </mc:Choice>
        <mc:Fallback xmlns="">
          <p:sp>
            <p:nvSpPr>
              <p:cNvPr id="3" name="Espaço Reservado para Conteúdo 2">
                <a:extLst>
                  <a:ext uri="{FF2B5EF4-FFF2-40B4-BE49-F238E27FC236}">
                    <a16:creationId xmlns:a16="http://schemas.microsoft.com/office/drawing/2014/main" id="{5271C2DB-CB2D-7DA6-19D3-EA05C00F999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4506686"/>
                <a:ext cx="11234058" cy="2351313"/>
              </a:xfrm>
              <a:blipFill>
                <a:blip r:embed="rId3"/>
                <a:stretch>
                  <a:fillRect l="-869" t="-51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E0EBAF-B825-EC26-6D53-38BD78023702}"/>
              </a:ext>
            </a:extLst>
          </p:cNvPr>
          <p:cNvSpPr txBox="1"/>
          <p:nvPr/>
        </p:nvSpPr>
        <p:spPr>
          <a:xfrm>
            <a:off x="2370364" y="1690688"/>
            <a:ext cx="7451271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highlight>
                  <a:srgbClr val="FFFFFF"/>
                </a:highlight>
              </a:rPr>
              <a:t>x 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0.0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2.0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n-US" b="0" dirty="0">
                <a:solidFill>
                  <a:srgbClr val="FF0000"/>
                </a:solidFill>
                <a:highlight>
                  <a:srgbClr val="FFFFFF"/>
                </a:highlight>
              </a:rPr>
              <a:t>4.0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</a:p>
          <a:p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y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np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array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([-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-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1.0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3.0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7.0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])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model 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Sequential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tf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keras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layers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Dense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units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pt-BR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input_shape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=[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])])</a:t>
            </a:r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n-U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n-U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n-US" b="1" dirty="0" err="1">
                <a:solidFill>
                  <a:srgbClr val="880088"/>
                </a:solidFill>
                <a:highlight>
                  <a:srgbClr val="FFFFFF"/>
                </a:highlight>
              </a:rPr>
              <a:t>compile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optimizer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sgd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n-US" b="0" dirty="0">
                <a:solidFill>
                  <a:srgbClr val="000000"/>
                </a:solidFill>
                <a:highlight>
                  <a:srgbClr val="FFFFFF"/>
                </a:highlight>
              </a:rPr>
              <a:t> loss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'</a:t>
            </a:r>
            <a:r>
              <a:rPr lang="en-US" b="0" dirty="0" err="1">
                <a:solidFill>
                  <a:srgbClr val="808080"/>
                </a:solidFill>
                <a:highlight>
                  <a:srgbClr val="FFFFFF"/>
                </a:highlight>
              </a:rPr>
              <a:t>mean_squared_error</a:t>
            </a:r>
            <a:r>
              <a:rPr lang="en-US" b="0" dirty="0">
                <a:solidFill>
                  <a:srgbClr val="808080"/>
                </a:solidFill>
                <a:highlight>
                  <a:srgbClr val="FFFFFF"/>
                </a:highlight>
              </a:rPr>
              <a:t>’</a:t>
            </a:r>
            <a:r>
              <a:rPr lang="en-U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n-U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history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=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es-ES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fit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x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y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,</a:t>
            </a:r>
            <a:r>
              <a:rPr lang="es-ES" b="0" dirty="0">
                <a:solidFill>
                  <a:srgbClr val="000000"/>
                </a:solidFill>
                <a:highlight>
                  <a:srgbClr val="FFFFFF"/>
                </a:highlight>
              </a:rPr>
              <a:t> </a:t>
            </a:r>
            <a:r>
              <a:rPr lang="es-ES" b="0" dirty="0" err="1">
                <a:solidFill>
                  <a:srgbClr val="000000"/>
                </a:solidFill>
                <a:highlight>
                  <a:srgbClr val="FFFFFF"/>
                </a:highlight>
              </a:rPr>
              <a:t>epochs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=</a:t>
            </a:r>
            <a:r>
              <a:rPr lang="es-ES" b="0" dirty="0">
                <a:solidFill>
                  <a:srgbClr val="FF0000"/>
                </a:solidFill>
                <a:highlight>
                  <a:srgbClr val="FFFFFF"/>
                </a:highlight>
              </a:rPr>
              <a:t>500</a:t>
            </a:r>
            <a:r>
              <a:rPr lang="es-ES" b="1" dirty="0">
                <a:solidFill>
                  <a:srgbClr val="000080"/>
                </a:solidFill>
                <a:highlight>
                  <a:srgbClr val="FFFFFF"/>
                </a:highlight>
              </a:rPr>
              <a:t>)</a:t>
            </a:r>
            <a:endParaRPr lang="es-ES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endParaRPr lang="pt-BR" b="0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r>
              <a:rPr lang="pt-BR" b="1" dirty="0">
                <a:solidFill>
                  <a:srgbClr val="880088"/>
                </a:solidFill>
                <a:highlight>
                  <a:srgbClr val="FFFFFF"/>
                </a:highlight>
              </a:rPr>
              <a:t>print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model</a:t>
            </a:r>
            <a:r>
              <a:rPr lang="pt-BR" b="1" dirty="0" err="1">
                <a:solidFill>
                  <a:srgbClr val="000080"/>
                </a:solidFill>
                <a:highlight>
                  <a:srgbClr val="FFFFFF"/>
                </a:highlight>
              </a:rPr>
              <a:t>.</a:t>
            </a:r>
            <a:r>
              <a:rPr lang="pt-BR" b="0" dirty="0" err="1">
                <a:solidFill>
                  <a:srgbClr val="000000"/>
                </a:solidFill>
                <a:highlight>
                  <a:srgbClr val="FFFFFF"/>
                </a:highlight>
              </a:rPr>
              <a:t>predict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([</a:t>
            </a:r>
            <a:r>
              <a:rPr lang="pt-BR" b="0" dirty="0">
                <a:solidFill>
                  <a:srgbClr val="FF0000"/>
                </a:solidFill>
                <a:highlight>
                  <a:srgbClr val="FFFFFF"/>
                </a:highlight>
              </a:rPr>
              <a:t>10.0</a:t>
            </a:r>
            <a:r>
              <a:rPr lang="pt-BR" b="1" dirty="0">
                <a:solidFill>
                  <a:srgbClr val="000080"/>
                </a:solidFill>
                <a:highlight>
                  <a:srgbClr val="FFFFFF"/>
                </a:highlight>
              </a:rPr>
              <a:t>]))</a:t>
            </a:r>
            <a:endParaRPr lang="pt-BR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xmlns="" id="{CFCDC870-11DD-7CC0-39D2-F418F4A8AD28}"/>
              </a:ext>
            </a:extLst>
          </p:cNvPr>
          <p:cNvSpPr/>
          <p:nvPr/>
        </p:nvSpPr>
        <p:spPr>
          <a:xfrm>
            <a:off x="2370364" y="3898091"/>
            <a:ext cx="2756807" cy="37792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19065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hlinkClick r:id="rId3"/>
              </a:rPr>
              <a:t>Regressão com </a:t>
            </a:r>
            <a:r>
              <a:rPr lang="pt-BR" dirty="0" err="1">
                <a:hlinkClick r:id="rId3"/>
              </a:rPr>
              <a:t>DNNs</a:t>
            </a:r>
            <a:r>
              <a:rPr lang="pt-BR" dirty="0"/>
              <a:t> </a:t>
            </a:r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xmlns="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xmlns="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xmlns="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xmlns="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xmlns="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xmlns="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xmlns="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49619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2755BD9F-A5F9-C006-2D60-3988AFB742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E398648-3AD3-9986-3010-6210876DC9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Quiz: “</a:t>
            </a:r>
            <a:r>
              <a:rPr lang="pt-BR" b="1" i="1" dirty="0"/>
              <a:t>TP557 – Regressão com </a:t>
            </a:r>
            <a:r>
              <a:rPr lang="pt-BR" b="1" i="1" dirty="0" err="1"/>
              <a:t>DNNs</a:t>
            </a:r>
            <a:r>
              <a:rPr lang="pt-BR" b="1" i="1" dirty="0"/>
              <a:t> (Parte I)</a:t>
            </a:r>
            <a:r>
              <a:rPr lang="pt-BR" dirty="0"/>
              <a:t>”.</a:t>
            </a:r>
          </a:p>
          <a:p>
            <a:r>
              <a:rPr lang="pt-BR" dirty="0"/>
              <a:t>Exercício #1: </a:t>
            </a:r>
            <a:r>
              <a:rPr lang="pt-BR" dirty="0">
                <a:hlinkClick r:id="rId3"/>
              </a:rPr>
              <a:t>Regressão com </a:t>
            </a:r>
            <a:r>
              <a:rPr lang="pt-BR" dirty="0" err="1">
                <a:hlinkClick r:id="rId3"/>
              </a:rPr>
              <a:t>DNNs</a:t>
            </a:r>
            <a:r>
              <a:rPr lang="pt-BR" dirty="0">
                <a:hlinkClick r:id="rId3"/>
              </a:rPr>
              <a:t> (Parte I)</a:t>
            </a:r>
            <a:r>
              <a:rPr lang="pt-BR" dirty="0"/>
              <a:t>.</a:t>
            </a:r>
          </a:p>
          <a:p>
            <a:r>
              <a:rPr lang="pt-BR" dirty="0"/>
              <a:t>Exercício #2: </a:t>
            </a:r>
            <a:r>
              <a:rPr lang="pt-BR" dirty="0">
                <a:hlinkClick r:id="rId4"/>
              </a:rPr>
              <a:t>Regressão com DNN e dados ruidosos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9185202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</a:t>
            </a:r>
            <a:r>
              <a:rPr lang="pt-BR" i="1" dirty="0"/>
              <a:t>callbacks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665509" y="1825624"/>
            <a:ext cx="6355041" cy="5032375"/>
          </a:xfrm>
        </p:spPr>
        <p:txBody>
          <a:bodyPr>
            <a:normAutofit/>
          </a:bodyPr>
          <a:lstStyle/>
          <a:p>
            <a:r>
              <a:rPr lang="pt-BR" dirty="0"/>
              <a:t>E se o treinamento durar várias horas ou dias? 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Isso é bastante comum, especialmente ao treinar grandes modelos com grandes conjuntos de dados. </a:t>
            </a:r>
          </a:p>
          <a:p>
            <a:r>
              <a:rPr lang="pt-BR" dirty="0"/>
              <a:t>Nesse caso, não devemos </a:t>
            </a:r>
            <a:r>
              <a:rPr lang="pt-BR" dirty="0" smtClean="0"/>
              <a:t>salvar </a:t>
            </a:r>
            <a:r>
              <a:rPr lang="pt-BR" dirty="0"/>
              <a:t>o modelo </a:t>
            </a:r>
            <a:r>
              <a:rPr lang="pt-BR" dirty="0"/>
              <a:t>apenas ao </a:t>
            </a:r>
            <a:r>
              <a:rPr lang="pt-BR" dirty="0"/>
              <a:t>final do treinamento, mas também </a:t>
            </a:r>
            <a:r>
              <a:rPr lang="pt-BR" b="1" i="1" dirty="0"/>
              <a:t>salvar pontos de verificação</a:t>
            </a:r>
            <a:r>
              <a:rPr lang="pt-BR" dirty="0"/>
              <a:t> </a:t>
            </a:r>
            <a:r>
              <a:rPr lang="pt-BR" b="1" i="1" dirty="0"/>
              <a:t>em intervalos regulares</a:t>
            </a:r>
            <a:r>
              <a:rPr lang="pt-BR" dirty="0"/>
              <a:t> durante o treinamento. </a:t>
            </a:r>
          </a:p>
        </p:txBody>
      </p:sp>
      <p:pic>
        <p:nvPicPr>
          <p:cNvPr id="1026" name="Picture 2" descr="Callbacks in TensorFlow — Customize the Behavior of your training | by Aqsa  Kausar | Red Buffer | Medium">
            <a:extLst>
              <a:ext uri="{FF2B5EF4-FFF2-40B4-BE49-F238E27FC236}">
                <a16:creationId xmlns:a16="http://schemas.microsoft.com/office/drawing/2014/main" xmlns="" id="{FA6DAAC1-95FA-CC55-54B6-9FA075D36E5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9819" y="2541783"/>
            <a:ext cx="4885180" cy="274791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476016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84146A95-5902-5F5E-75FC-CFBBFED4DE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B2AE1134-D96E-2769-4EE7-C4EF6F555F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Usando </a:t>
            </a:r>
            <a:r>
              <a:rPr lang="pt-BR" i="1" dirty="0"/>
              <a:t>callbacks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0FABCC64-40B2-03CB-D58E-D2A089B107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1182350" cy="5032375"/>
          </a:xfrm>
        </p:spPr>
        <p:txBody>
          <a:bodyPr>
            <a:normAutofit/>
          </a:bodyPr>
          <a:lstStyle/>
          <a:p>
            <a:r>
              <a:rPr lang="pt-BR" dirty="0"/>
              <a:t>Podemos configurar o método </a:t>
            </a:r>
            <a:r>
              <a:rPr lang="pt-BR" b="1" i="1" dirty="0" err="1"/>
              <a:t>fit</a:t>
            </a:r>
            <a:r>
              <a:rPr lang="pt-BR" b="1" i="1" dirty="0"/>
              <a:t>()</a:t>
            </a:r>
            <a:r>
              <a:rPr lang="pt-BR" dirty="0"/>
              <a:t> para salvar pontos de verificação, mas como fazer esta configuração?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dirty="0"/>
              <a:t>A resposta é: através de </a:t>
            </a:r>
            <a:r>
              <a:rPr lang="pt-BR" b="1" i="1" dirty="0"/>
              <a:t>callbacks</a:t>
            </a:r>
            <a:r>
              <a:rPr lang="pt-BR" dirty="0"/>
              <a:t>.</a:t>
            </a:r>
          </a:p>
          <a:p>
            <a:pPr lvl="1">
              <a:buFont typeface="Wingdings" panose="05000000000000000000" pitchFamily="2" charset="2"/>
              <a:buChar char="§"/>
            </a:pPr>
            <a:r>
              <a:rPr lang="pt-BR" b="1" i="1" dirty="0"/>
              <a:t>callbacks </a:t>
            </a:r>
            <a:r>
              <a:rPr lang="pt-BR" dirty="0"/>
              <a:t>são funções passadas como argumento para outras funções e chamadas quando um evento ocorrer.</a:t>
            </a:r>
          </a:p>
          <a:p>
            <a:r>
              <a:rPr lang="pt-BR" dirty="0"/>
              <a:t>O método </a:t>
            </a:r>
            <a:r>
              <a:rPr lang="pt-BR" b="1" i="1" dirty="0" err="1"/>
              <a:t>fit</a:t>
            </a:r>
            <a:r>
              <a:rPr lang="pt-BR" b="1" i="1" dirty="0"/>
              <a:t>()</a:t>
            </a:r>
            <a:r>
              <a:rPr lang="pt-BR" dirty="0"/>
              <a:t> possui um parâmetro chamado </a:t>
            </a:r>
            <a:r>
              <a:rPr lang="pt-BR" b="1" i="1" dirty="0"/>
              <a:t>callbacks</a:t>
            </a:r>
            <a:r>
              <a:rPr lang="pt-BR" dirty="0"/>
              <a:t>, que permite especificar uma lista de </a:t>
            </a:r>
            <a:r>
              <a:rPr lang="pt-BR" b="1" i="1" dirty="0"/>
              <a:t>callbacks</a:t>
            </a:r>
            <a:r>
              <a:rPr lang="pt-BR" dirty="0"/>
              <a:t> que o </a:t>
            </a:r>
            <a:r>
              <a:rPr lang="pt-BR" dirty="0" smtClean="0"/>
              <a:t>modelo </a:t>
            </a:r>
            <a:r>
              <a:rPr lang="pt-BR" b="1" i="1" dirty="0" smtClean="0"/>
              <a:t>chamará </a:t>
            </a:r>
            <a:r>
              <a:rPr lang="pt-BR" b="1" i="1" dirty="0"/>
              <a:t>durante o treinamento</a:t>
            </a:r>
            <a:r>
              <a:rPr lang="pt-BR" dirty="0"/>
              <a:t> no </a:t>
            </a:r>
            <a:r>
              <a:rPr lang="pt-BR" b="1" i="1" dirty="0"/>
              <a:t>início e no final do treinamento</a:t>
            </a:r>
            <a:r>
              <a:rPr lang="pt-BR" dirty="0"/>
              <a:t>, </a:t>
            </a:r>
            <a:r>
              <a:rPr lang="pt-BR" b="1" i="1" dirty="0"/>
              <a:t>no início e no final de cada época</a:t>
            </a:r>
            <a:r>
              <a:rPr lang="pt-BR" dirty="0"/>
              <a:t> e até </a:t>
            </a:r>
            <a:r>
              <a:rPr lang="pt-BR" b="1" i="1" dirty="0"/>
              <a:t>antes e depois do processamento de cada mini-batch</a:t>
            </a:r>
            <a:r>
              <a:rPr lang="pt-BR" dirty="0"/>
              <a:t>.</a:t>
            </a:r>
          </a:p>
          <a:p>
            <a:r>
              <a:rPr lang="pt-BR" dirty="0"/>
              <a:t>Veja todas as </a:t>
            </a:r>
            <a:r>
              <a:rPr lang="pt-BR" b="1" i="1" dirty="0"/>
              <a:t>callbacks</a:t>
            </a:r>
            <a:r>
              <a:rPr lang="pt-BR" dirty="0"/>
              <a:t> disponíveis em </a:t>
            </a:r>
            <a:r>
              <a:rPr lang="pt-BR" dirty="0">
                <a:hlinkClick r:id="rId3"/>
              </a:rPr>
              <a:t>https://keras.io/callbacks/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459250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9CD00B3E-85D7-8B25-6629-4A85FF3613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Exemplo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9730104F-E6BA-B308-644A-11A7E4939E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sz="2800" dirty="0" err="1">
                <a:hlinkClick r:id="rId3"/>
              </a:rPr>
              <a:t>Usando_callbacks.ipynb</a:t>
            </a:r>
            <a:endParaRPr lang="pt-BR" sz="2800" dirty="0"/>
          </a:p>
        </p:txBody>
      </p:sp>
      <p:pic>
        <p:nvPicPr>
          <p:cNvPr id="2050" name="Picture 2" descr="TensorFlow">
            <a:extLst>
              <a:ext uri="{FF2B5EF4-FFF2-40B4-BE49-F238E27FC236}">
                <a16:creationId xmlns:a16="http://schemas.microsoft.com/office/drawing/2014/main" xmlns="" id="{87B75C17-2A48-E33A-B66B-927CA792D8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875" y="2923470"/>
            <a:ext cx="4099479" cy="23059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ject Jupyter | Try Jupyter">
            <a:extLst>
              <a:ext uri="{FF2B5EF4-FFF2-40B4-BE49-F238E27FC236}">
                <a16:creationId xmlns:a16="http://schemas.microsoft.com/office/drawing/2014/main" xmlns="" id="{FC70A9A5-A2C7-C005-C6C5-A9FF775654D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03370" y="3167764"/>
            <a:ext cx="3461657" cy="181737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Google Colaboratory Colab - Guía Completa Español - Marketing Branding">
            <a:extLst>
              <a:ext uri="{FF2B5EF4-FFF2-40B4-BE49-F238E27FC236}">
                <a16:creationId xmlns:a16="http://schemas.microsoft.com/office/drawing/2014/main" xmlns="" id="{8A007768-2032-FE11-22C9-9394A0EF02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865" r="10641"/>
          <a:stretch/>
        </p:blipFill>
        <p:spPr bwMode="auto">
          <a:xfrm>
            <a:off x="8665027" y="2746576"/>
            <a:ext cx="3331071" cy="26597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8" name="Picture 10" descr="IT12A01: FUNDAMENTALS OF PYTHON PROGRAMMING (SF) (SYNCHRONOUS E-LEARNING) -  NTUC LearningHub">
            <a:extLst>
              <a:ext uri="{FF2B5EF4-FFF2-40B4-BE49-F238E27FC236}">
                <a16:creationId xmlns:a16="http://schemas.microsoft.com/office/drawing/2014/main" xmlns="" id="{80EDF8DB-E749-8471-3ACA-2FFE3006FC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319" r="20198"/>
          <a:stretch/>
        </p:blipFill>
        <p:spPr bwMode="auto">
          <a:xfrm>
            <a:off x="304800" y="3167764"/>
            <a:ext cx="1894114" cy="18779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Sinal de Adição 7">
            <a:extLst>
              <a:ext uri="{FF2B5EF4-FFF2-40B4-BE49-F238E27FC236}">
                <a16:creationId xmlns:a16="http://schemas.microsoft.com/office/drawing/2014/main" xmlns="" id="{89317CF7-D83C-5980-45A9-863C64A2BE61}"/>
              </a:ext>
            </a:extLst>
          </p:cNvPr>
          <p:cNvSpPr>
            <a:spLocks noChangeAspect="1"/>
          </p:cNvSpPr>
          <p:nvPr/>
        </p:nvSpPr>
        <p:spPr>
          <a:xfrm>
            <a:off x="2198914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Sinal de Adição 9">
            <a:extLst>
              <a:ext uri="{FF2B5EF4-FFF2-40B4-BE49-F238E27FC236}">
                <a16:creationId xmlns:a16="http://schemas.microsoft.com/office/drawing/2014/main" xmlns="" id="{C6DC4B29-EABA-20F7-BB46-C33BEC93E2DD}"/>
              </a:ext>
            </a:extLst>
          </p:cNvPr>
          <p:cNvSpPr>
            <a:spLocks noChangeAspect="1"/>
          </p:cNvSpPr>
          <p:nvPr/>
        </p:nvSpPr>
        <p:spPr>
          <a:xfrm>
            <a:off x="5279613" y="3535968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Sinal de Adição 10">
            <a:extLst>
              <a:ext uri="{FF2B5EF4-FFF2-40B4-BE49-F238E27FC236}">
                <a16:creationId xmlns:a16="http://schemas.microsoft.com/office/drawing/2014/main" xmlns="" id="{FF65B64B-136B-DCC4-8A01-509D3D5CD19F}"/>
              </a:ext>
            </a:extLst>
          </p:cNvPr>
          <p:cNvSpPr>
            <a:spLocks noChangeAspect="1"/>
          </p:cNvSpPr>
          <p:nvPr/>
        </p:nvSpPr>
        <p:spPr>
          <a:xfrm>
            <a:off x="7968386" y="3533294"/>
            <a:ext cx="468000" cy="468000"/>
          </a:xfrm>
          <a:prstGeom prst="mathPlu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38705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Perguntas?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19759815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>
            <a:extLst>
              <a:ext uri="{FF2B5EF4-FFF2-40B4-BE49-F238E27FC236}">
                <a16:creationId xmlns:a16="http://schemas.microsoft.com/office/drawing/2014/main" xmlns="" id="{32666AC8-2E17-4DB4-B0F5-60C640CCFD2E}"/>
              </a:ext>
            </a:extLst>
          </p:cNvPr>
          <p:cNvSpPr txBox="1">
            <a:spLocks/>
          </p:cNvSpPr>
          <p:nvPr/>
        </p:nvSpPr>
        <p:spPr>
          <a:xfrm>
            <a:off x="1431533" y="2720526"/>
            <a:ext cx="9144000" cy="102954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pt-BR" sz="6600" dirty="0"/>
              <a:t>Obrigado!</a:t>
            </a:r>
            <a:endParaRPr lang="pt-BR" sz="6600" b="1" i="1" dirty="0"/>
          </a:p>
        </p:txBody>
      </p:sp>
    </p:spTree>
    <p:extLst>
      <p:ext uri="{BB962C8B-B14F-4D97-AF65-F5344CB8AC3E}">
        <p14:creationId xmlns:p14="http://schemas.microsoft.com/office/powerpoint/2010/main" val="599145874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lipse 3">
            <a:extLst>
              <a:ext uri="{FF2B5EF4-FFF2-40B4-BE49-F238E27FC236}">
                <a16:creationId xmlns:a16="http://schemas.microsoft.com/office/drawing/2014/main" xmlns="" id="{F6FA5A0B-AB8E-AB00-1685-06F32CE379FE}"/>
              </a:ext>
            </a:extLst>
          </p:cNvPr>
          <p:cNvSpPr/>
          <p:nvPr/>
        </p:nvSpPr>
        <p:spPr>
          <a:xfrm>
            <a:off x="2492828" y="2612572"/>
            <a:ext cx="566057" cy="56605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Elipse 4">
            <a:extLst>
              <a:ext uri="{FF2B5EF4-FFF2-40B4-BE49-F238E27FC236}">
                <a16:creationId xmlns:a16="http://schemas.microsoft.com/office/drawing/2014/main" xmlns="" id="{DB429AC6-930D-E23B-780C-18632C46D95C}"/>
              </a:ext>
            </a:extLst>
          </p:cNvPr>
          <p:cNvSpPr/>
          <p:nvPr/>
        </p:nvSpPr>
        <p:spPr>
          <a:xfrm>
            <a:off x="2492827" y="3331029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Elipse 5">
            <a:extLst>
              <a:ext uri="{FF2B5EF4-FFF2-40B4-BE49-F238E27FC236}">
                <a16:creationId xmlns:a16="http://schemas.microsoft.com/office/drawing/2014/main" xmlns="" id="{86A7C4E8-DBF4-B3BC-ECE9-E17506CA3002}"/>
              </a:ext>
            </a:extLst>
          </p:cNvPr>
          <p:cNvSpPr/>
          <p:nvPr/>
        </p:nvSpPr>
        <p:spPr>
          <a:xfrm>
            <a:off x="2492827" y="4049486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7" name="Elipse 6">
            <a:extLst>
              <a:ext uri="{FF2B5EF4-FFF2-40B4-BE49-F238E27FC236}">
                <a16:creationId xmlns:a16="http://schemas.microsoft.com/office/drawing/2014/main" xmlns="" id="{C0037FB4-7AD1-558F-830D-104EAFA1605D}"/>
              </a:ext>
            </a:extLst>
          </p:cNvPr>
          <p:cNvSpPr/>
          <p:nvPr/>
        </p:nvSpPr>
        <p:spPr>
          <a:xfrm>
            <a:off x="2492827" y="4767943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xmlns="" id="{33FCEEB6-3308-8475-FE26-D06DBE087116}"/>
              </a:ext>
            </a:extLst>
          </p:cNvPr>
          <p:cNvSpPr/>
          <p:nvPr/>
        </p:nvSpPr>
        <p:spPr>
          <a:xfrm>
            <a:off x="3450770" y="333102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9" name="Elipse 8">
            <a:extLst>
              <a:ext uri="{FF2B5EF4-FFF2-40B4-BE49-F238E27FC236}">
                <a16:creationId xmlns:a16="http://schemas.microsoft.com/office/drawing/2014/main" xmlns="" id="{01182C24-BE65-4B82-FA4C-EF4D0DCC0DE3}"/>
              </a:ext>
            </a:extLst>
          </p:cNvPr>
          <p:cNvSpPr/>
          <p:nvPr/>
        </p:nvSpPr>
        <p:spPr>
          <a:xfrm>
            <a:off x="3450769" y="4049485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0" name="Elipse 9">
            <a:extLst>
              <a:ext uri="{FF2B5EF4-FFF2-40B4-BE49-F238E27FC236}">
                <a16:creationId xmlns:a16="http://schemas.microsoft.com/office/drawing/2014/main" xmlns="" id="{05AB9D06-9BF2-A7C9-4386-B20BD7A0E4F2}"/>
              </a:ext>
            </a:extLst>
          </p:cNvPr>
          <p:cNvSpPr/>
          <p:nvPr/>
        </p:nvSpPr>
        <p:spPr>
          <a:xfrm>
            <a:off x="1534884" y="29299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1" name="Elipse 10">
            <a:extLst>
              <a:ext uri="{FF2B5EF4-FFF2-40B4-BE49-F238E27FC236}">
                <a16:creationId xmlns:a16="http://schemas.microsoft.com/office/drawing/2014/main" xmlns="" id="{8D32C0B0-FC13-341E-BCC1-2F702123D137}"/>
              </a:ext>
            </a:extLst>
          </p:cNvPr>
          <p:cNvSpPr/>
          <p:nvPr/>
        </p:nvSpPr>
        <p:spPr>
          <a:xfrm>
            <a:off x="1534884" y="368560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12" name="Elipse 11">
            <a:extLst>
              <a:ext uri="{FF2B5EF4-FFF2-40B4-BE49-F238E27FC236}">
                <a16:creationId xmlns:a16="http://schemas.microsoft.com/office/drawing/2014/main" xmlns="" id="{5774DEB2-3CCF-78F9-408E-B4572A7D2C57}"/>
              </a:ext>
            </a:extLst>
          </p:cNvPr>
          <p:cNvSpPr/>
          <p:nvPr/>
        </p:nvSpPr>
        <p:spPr>
          <a:xfrm>
            <a:off x="1534884" y="44412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13" name="Conector de Seta Reta 12">
            <a:extLst>
              <a:ext uri="{FF2B5EF4-FFF2-40B4-BE49-F238E27FC236}">
                <a16:creationId xmlns:a16="http://schemas.microsoft.com/office/drawing/2014/main" xmlns="" id="{8FA16CB3-88E7-24CD-7D04-D4340DA2CBE3}"/>
              </a:ext>
            </a:extLst>
          </p:cNvPr>
          <p:cNvCxnSpPr>
            <a:stCxn id="10" idx="6"/>
            <a:endCxn id="4" idx="2"/>
          </p:cNvCxnSpPr>
          <p:nvPr/>
        </p:nvCxnSpPr>
        <p:spPr>
          <a:xfrm flipV="1">
            <a:off x="2100941" y="2895601"/>
            <a:ext cx="391887" cy="3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Conector de Seta Reta 13">
            <a:extLst>
              <a:ext uri="{FF2B5EF4-FFF2-40B4-BE49-F238E27FC236}">
                <a16:creationId xmlns:a16="http://schemas.microsoft.com/office/drawing/2014/main" xmlns="" id="{78150507-5B6F-2240-A687-80CA51CDF199}"/>
              </a:ext>
            </a:extLst>
          </p:cNvPr>
          <p:cNvCxnSpPr>
            <a:stCxn id="10" idx="6"/>
            <a:endCxn id="5" idx="2"/>
          </p:cNvCxnSpPr>
          <p:nvPr/>
        </p:nvCxnSpPr>
        <p:spPr>
          <a:xfrm>
            <a:off x="2100941" y="3212987"/>
            <a:ext cx="391886" cy="40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Conector de Seta Reta 14">
            <a:extLst>
              <a:ext uri="{FF2B5EF4-FFF2-40B4-BE49-F238E27FC236}">
                <a16:creationId xmlns:a16="http://schemas.microsoft.com/office/drawing/2014/main" xmlns="" id="{CA52E568-4C07-D18B-3A19-52EEE29F70AB}"/>
              </a:ext>
            </a:extLst>
          </p:cNvPr>
          <p:cNvCxnSpPr>
            <a:stCxn id="10" idx="6"/>
            <a:endCxn id="6" idx="2"/>
          </p:cNvCxnSpPr>
          <p:nvPr/>
        </p:nvCxnSpPr>
        <p:spPr>
          <a:xfrm>
            <a:off x="2100941" y="3212987"/>
            <a:ext cx="391886" cy="111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ector de Seta Reta 15">
            <a:extLst>
              <a:ext uri="{FF2B5EF4-FFF2-40B4-BE49-F238E27FC236}">
                <a16:creationId xmlns:a16="http://schemas.microsoft.com/office/drawing/2014/main" xmlns="" id="{76930BB3-DDFF-6A76-6538-278F25784B97}"/>
              </a:ext>
            </a:extLst>
          </p:cNvPr>
          <p:cNvCxnSpPr>
            <a:stCxn id="10" idx="6"/>
            <a:endCxn id="7" idx="2"/>
          </p:cNvCxnSpPr>
          <p:nvPr/>
        </p:nvCxnSpPr>
        <p:spPr>
          <a:xfrm>
            <a:off x="2100941" y="3212987"/>
            <a:ext cx="391886" cy="1837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ector de Seta Reta 16">
            <a:extLst>
              <a:ext uri="{FF2B5EF4-FFF2-40B4-BE49-F238E27FC236}">
                <a16:creationId xmlns:a16="http://schemas.microsoft.com/office/drawing/2014/main" xmlns="" id="{2C445030-62AB-D74D-0A28-334CE726C776}"/>
              </a:ext>
            </a:extLst>
          </p:cNvPr>
          <p:cNvCxnSpPr>
            <a:stCxn id="11" idx="6"/>
            <a:endCxn id="4" idx="2"/>
          </p:cNvCxnSpPr>
          <p:nvPr/>
        </p:nvCxnSpPr>
        <p:spPr>
          <a:xfrm flipV="1">
            <a:off x="2100941" y="2895601"/>
            <a:ext cx="391887" cy="107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ector de Seta Reta 17">
            <a:extLst>
              <a:ext uri="{FF2B5EF4-FFF2-40B4-BE49-F238E27FC236}">
                <a16:creationId xmlns:a16="http://schemas.microsoft.com/office/drawing/2014/main" xmlns="" id="{9E1A0C0B-6AC1-A7B4-41C4-D3B9F3A44C29}"/>
              </a:ext>
            </a:extLst>
          </p:cNvPr>
          <p:cNvCxnSpPr>
            <a:stCxn id="12" idx="6"/>
            <a:endCxn id="5" idx="2"/>
          </p:cNvCxnSpPr>
          <p:nvPr/>
        </p:nvCxnSpPr>
        <p:spPr>
          <a:xfrm flipV="1">
            <a:off x="2100941" y="3614058"/>
            <a:ext cx="391886" cy="111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ector de Seta Reta 18">
            <a:extLst>
              <a:ext uri="{FF2B5EF4-FFF2-40B4-BE49-F238E27FC236}">
                <a16:creationId xmlns:a16="http://schemas.microsoft.com/office/drawing/2014/main" xmlns="" id="{804F485B-2435-32A5-51AB-085EA1D80380}"/>
              </a:ext>
            </a:extLst>
          </p:cNvPr>
          <p:cNvCxnSpPr>
            <a:stCxn id="11" idx="6"/>
            <a:endCxn id="5" idx="2"/>
          </p:cNvCxnSpPr>
          <p:nvPr/>
        </p:nvCxnSpPr>
        <p:spPr>
          <a:xfrm flipV="1">
            <a:off x="2100941" y="3614058"/>
            <a:ext cx="391886" cy="35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ector de Seta Reta 19">
            <a:extLst>
              <a:ext uri="{FF2B5EF4-FFF2-40B4-BE49-F238E27FC236}">
                <a16:creationId xmlns:a16="http://schemas.microsoft.com/office/drawing/2014/main" xmlns="" id="{1BB2A268-8402-FD26-1A24-2CDF8D722867}"/>
              </a:ext>
            </a:extLst>
          </p:cNvPr>
          <p:cNvCxnSpPr>
            <a:stCxn id="11" idx="6"/>
            <a:endCxn id="6" idx="2"/>
          </p:cNvCxnSpPr>
          <p:nvPr/>
        </p:nvCxnSpPr>
        <p:spPr>
          <a:xfrm>
            <a:off x="2100941" y="3968637"/>
            <a:ext cx="391886" cy="36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ector de Seta Reta 20">
            <a:extLst>
              <a:ext uri="{FF2B5EF4-FFF2-40B4-BE49-F238E27FC236}">
                <a16:creationId xmlns:a16="http://schemas.microsoft.com/office/drawing/2014/main" xmlns="" id="{374A738D-2B30-00C2-BAA6-93CD9408FF36}"/>
              </a:ext>
            </a:extLst>
          </p:cNvPr>
          <p:cNvCxnSpPr>
            <a:stCxn id="11" idx="6"/>
            <a:endCxn id="7" idx="2"/>
          </p:cNvCxnSpPr>
          <p:nvPr/>
        </p:nvCxnSpPr>
        <p:spPr>
          <a:xfrm>
            <a:off x="2100941" y="3968637"/>
            <a:ext cx="391886" cy="1082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ector de Seta Reta 21">
            <a:extLst>
              <a:ext uri="{FF2B5EF4-FFF2-40B4-BE49-F238E27FC236}">
                <a16:creationId xmlns:a16="http://schemas.microsoft.com/office/drawing/2014/main" xmlns="" id="{21845046-85F1-CFC2-BED9-B9EF0D03F7F8}"/>
              </a:ext>
            </a:extLst>
          </p:cNvPr>
          <p:cNvCxnSpPr>
            <a:stCxn id="12" idx="6"/>
            <a:endCxn id="4" idx="2"/>
          </p:cNvCxnSpPr>
          <p:nvPr/>
        </p:nvCxnSpPr>
        <p:spPr>
          <a:xfrm flipV="1">
            <a:off x="2100941" y="2895601"/>
            <a:ext cx="391887" cy="182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>
            <a:extLst>
              <a:ext uri="{FF2B5EF4-FFF2-40B4-BE49-F238E27FC236}">
                <a16:creationId xmlns:a16="http://schemas.microsoft.com/office/drawing/2014/main" xmlns="" id="{42DCE219-2925-B632-B390-ED92212DCB05}"/>
              </a:ext>
            </a:extLst>
          </p:cNvPr>
          <p:cNvCxnSpPr>
            <a:stCxn id="12" idx="6"/>
            <a:endCxn id="6" idx="2"/>
          </p:cNvCxnSpPr>
          <p:nvPr/>
        </p:nvCxnSpPr>
        <p:spPr>
          <a:xfrm flipV="1">
            <a:off x="2100941" y="4332515"/>
            <a:ext cx="391886" cy="39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ector de Seta Reta 23">
            <a:extLst>
              <a:ext uri="{FF2B5EF4-FFF2-40B4-BE49-F238E27FC236}">
                <a16:creationId xmlns:a16="http://schemas.microsoft.com/office/drawing/2014/main" xmlns="" id="{E7C207CF-0C9C-689B-D13E-682D1222FD1E}"/>
              </a:ext>
            </a:extLst>
          </p:cNvPr>
          <p:cNvCxnSpPr>
            <a:stCxn id="12" idx="6"/>
            <a:endCxn id="7" idx="2"/>
          </p:cNvCxnSpPr>
          <p:nvPr/>
        </p:nvCxnSpPr>
        <p:spPr>
          <a:xfrm>
            <a:off x="2100941" y="4724287"/>
            <a:ext cx="391886" cy="32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>
            <a:extLst>
              <a:ext uri="{FF2B5EF4-FFF2-40B4-BE49-F238E27FC236}">
                <a16:creationId xmlns:a16="http://schemas.microsoft.com/office/drawing/2014/main" xmlns="" id="{0E991E0D-BE0D-A609-05F6-3AF1EA2CFF2F}"/>
              </a:ext>
            </a:extLst>
          </p:cNvPr>
          <p:cNvCxnSpPr>
            <a:stCxn id="4" idx="6"/>
            <a:endCxn id="8" idx="2"/>
          </p:cNvCxnSpPr>
          <p:nvPr/>
        </p:nvCxnSpPr>
        <p:spPr>
          <a:xfrm>
            <a:off x="3058885" y="2895601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Conector de Seta Reta 25">
            <a:extLst>
              <a:ext uri="{FF2B5EF4-FFF2-40B4-BE49-F238E27FC236}">
                <a16:creationId xmlns:a16="http://schemas.microsoft.com/office/drawing/2014/main" xmlns="" id="{12CECD9C-33D2-224C-7FFA-6668486CCA07}"/>
              </a:ext>
            </a:extLst>
          </p:cNvPr>
          <p:cNvCxnSpPr>
            <a:stCxn id="5" idx="6"/>
            <a:endCxn id="9" idx="2"/>
          </p:cNvCxnSpPr>
          <p:nvPr/>
        </p:nvCxnSpPr>
        <p:spPr>
          <a:xfrm>
            <a:off x="3058884" y="3614058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>
            <a:extLst>
              <a:ext uri="{FF2B5EF4-FFF2-40B4-BE49-F238E27FC236}">
                <a16:creationId xmlns:a16="http://schemas.microsoft.com/office/drawing/2014/main" xmlns="" id="{EB9099D9-6BBF-D928-D6C0-53C588C21B26}"/>
              </a:ext>
            </a:extLst>
          </p:cNvPr>
          <p:cNvCxnSpPr>
            <a:stCxn id="6" idx="6"/>
            <a:endCxn id="9" idx="2"/>
          </p:cNvCxnSpPr>
          <p:nvPr/>
        </p:nvCxnSpPr>
        <p:spPr>
          <a:xfrm flipV="1">
            <a:off x="3058884" y="4332514"/>
            <a:ext cx="391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Conector de Seta Reta 27">
            <a:extLst>
              <a:ext uri="{FF2B5EF4-FFF2-40B4-BE49-F238E27FC236}">
                <a16:creationId xmlns:a16="http://schemas.microsoft.com/office/drawing/2014/main" xmlns="" id="{7F0A72C1-9522-E9F7-08BD-38C98881A7E5}"/>
              </a:ext>
            </a:extLst>
          </p:cNvPr>
          <p:cNvCxnSpPr>
            <a:stCxn id="7" idx="6"/>
            <a:endCxn id="9" idx="2"/>
          </p:cNvCxnSpPr>
          <p:nvPr/>
        </p:nvCxnSpPr>
        <p:spPr>
          <a:xfrm flipV="1">
            <a:off x="3058884" y="4332514"/>
            <a:ext cx="391885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>
            <a:extLst>
              <a:ext uri="{FF2B5EF4-FFF2-40B4-BE49-F238E27FC236}">
                <a16:creationId xmlns:a16="http://schemas.microsoft.com/office/drawing/2014/main" xmlns="" id="{62374655-E1A2-940B-5F68-74C4698FC3D9}"/>
              </a:ext>
            </a:extLst>
          </p:cNvPr>
          <p:cNvCxnSpPr>
            <a:cxnSpLocks/>
            <a:stCxn id="4" idx="6"/>
            <a:endCxn id="9" idx="2"/>
          </p:cNvCxnSpPr>
          <p:nvPr/>
        </p:nvCxnSpPr>
        <p:spPr>
          <a:xfrm>
            <a:off x="3058885" y="2895601"/>
            <a:ext cx="391884" cy="143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Conector de Seta Reta 29">
            <a:extLst>
              <a:ext uri="{FF2B5EF4-FFF2-40B4-BE49-F238E27FC236}">
                <a16:creationId xmlns:a16="http://schemas.microsoft.com/office/drawing/2014/main" xmlns="" id="{501A3620-1081-31FA-ED3E-B6E3B185998F}"/>
              </a:ext>
            </a:extLst>
          </p:cNvPr>
          <p:cNvCxnSpPr>
            <a:stCxn id="5" idx="6"/>
            <a:endCxn id="8" idx="2"/>
          </p:cNvCxnSpPr>
          <p:nvPr/>
        </p:nvCxnSpPr>
        <p:spPr>
          <a:xfrm flipV="1">
            <a:off x="3058884" y="3614057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de Seta Reta 30">
            <a:extLst>
              <a:ext uri="{FF2B5EF4-FFF2-40B4-BE49-F238E27FC236}">
                <a16:creationId xmlns:a16="http://schemas.microsoft.com/office/drawing/2014/main" xmlns="" id="{DC6B9CC7-5DEF-65CA-ADBB-9A9BDC88BDAC}"/>
              </a:ext>
            </a:extLst>
          </p:cNvPr>
          <p:cNvCxnSpPr>
            <a:stCxn id="6" idx="6"/>
            <a:endCxn id="8" idx="2"/>
          </p:cNvCxnSpPr>
          <p:nvPr/>
        </p:nvCxnSpPr>
        <p:spPr>
          <a:xfrm flipV="1">
            <a:off x="3058884" y="3614057"/>
            <a:ext cx="391886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de Seta Reta 31">
            <a:extLst>
              <a:ext uri="{FF2B5EF4-FFF2-40B4-BE49-F238E27FC236}">
                <a16:creationId xmlns:a16="http://schemas.microsoft.com/office/drawing/2014/main" xmlns="" id="{B7C410C9-8998-9DD9-E00F-753FA12D15E6}"/>
              </a:ext>
            </a:extLst>
          </p:cNvPr>
          <p:cNvCxnSpPr>
            <a:stCxn id="7" idx="6"/>
            <a:endCxn id="8" idx="2"/>
          </p:cNvCxnSpPr>
          <p:nvPr/>
        </p:nvCxnSpPr>
        <p:spPr>
          <a:xfrm flipV="1">
            <a:off x="3058884" y="3614057"/>
            <a:ext cx="391886" cy="143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de Seta Reta 32">
            <a:extLst>
              <a:ext uri="{FF2B5EF4-FFF2-40B4-BE49-F238E27FC236}">
                <a16:creationId xmlns:a16="http://schemas.microsoft.com/office/drawing/2014/main" xmlns="" id="{EB6FC38F-CC2D-DEBC-0814-2EF53F8E09FD}"/>
              </a:ext>
            </a:extLst>
          </p:cNvPr>
          <p:cNvCxnSpPr>
            <a:endCxn id="10" idx="2"/>
          </p:cNvCxnSpPr>
          <p:nvPr/>
        </p:nvCxnSpPr>
        <p:spPr>
          <a:xfrm>
            <a:off x="1262742" y="3212986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de Seta Reta 33">
            <a:extLst>
              <a:ext uri="{FF2B5EF4-FFF2-40B4-BE49-F238E27FC236}">
                <a16:creationId xmlns:a16="http://schemas.microsoft.com/office/drawing/2014/main" xmlns="" id="{94B8F38C-26F3-3676-8058-65116A4B3C75}"/>
              </a:ext>
            </a:extLst>
          </p:cNvPr>
          <p:cNvCxnSpPr>
            <a:endCxn id="11" idx="2"/>
          </p:cNvCxnSpPr>
          <p:nvPr/>
        </p:nvCxnSpPr>
        <p:spPr>
          <a:xfrm>
            <a:off x="1262742" y="3212986"/>
            <a:ext cx="272142" cy="75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Conector de Seta Reta 34">
            <a:extLst>
              <a:ext uri="{FF2B5EF4-FFF2-40B4-BE49-F238E27FC236}">
                <a16:creationId xmlns:a16="http://schemas.microsoft.com/office/drawing/2014/main" xmlns="" id="{3DB334EC-0660-4ACE-49E7-B5499F78AA7E}"/>
              </a:ext>
            </a:extLst>
          </p:cNvPr>
          <p:cNvCxnSpPr>
            <a:endCxn id="12" idx="2"/>
          </p:cNvCxnSpPr>
          <p:nvPr/>
        </p:nvCxnSpPr>
        <p:spPr>
          <a:xfrm>
            <a:off x="1262742" y="3212986"/>
            <a:ext cx="272142" cy="151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de Seta Reta 35">
            <a:extLst>
              <a:ext uri="{FF2B5EF4-FFF2-40B4-BE49-F238E27FC236}">
                <a16:creationId xmlns:a16="http://schemas.microsoft.com/office/drawing/2014/main" xmlns="" id="{051E4138-150F-9B54-FD8C-BD43C1362D71}"/>
              </a:ext>
            </a:extLst>
          </p:cNvPr>
          <p:cNvCxnSpPr/>
          <p:nvPr/>
        </p:nvCxnSpPr>
        <p:spPr>
          <a:xfrm>
            <a:off x="1262742" y="4693443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Conector reto 36">
            <a:extLst>
              <a:ext uri="{FF2B5EF4-FFF2-40B4-BE49-F238E27FC236}">
                <a16:creationId xmlns:a16="http://schemas.microsoft.com/office/drawing/2014/main" xmlns="" id="{01E14240-F10E-768B-E8C8-E154073A76DD}"/>
              </a:ext>
            </a:extLst>
          </p:cNvPr>
          <p:cNvCxnSpPr>
            <a:cxnSpLocks/>
            <a:endCxn id="11" idx="2"/>
          </p:cNvCxnSpPr>
          <p:nvPr/>
        </p:nvCxnSpPr>
        <p:spPr>
          <a:xfrm flipV="1">
            <a:off x="1262741" y="3968637"/>
            <a:ext cx="272143" cy="7231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de Seta Reta 37">
            <a:extLst>
              <a:ext uri="{FF2B5EF4-FFF2-40B4-BE49-F238E27FC236}">
                <a16:creationId xmlns:a16="http://schemas.microsoft.com/office/drawing/2014/main" xmlns="" id="{8962F3FA-18FE-D0D5-FE48-581F5ECA103E}"/>
              </a:ext>
            </a:extLst>
          </p:cNvPr>
          <p:cNvCxnSpPr/>
          <p:nvPr/>
        </p:nvCxnSpPr>
        <p:spPr>
          <a:xfrm>
            <a:off x="4016825" y="3614055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ector de Seta Reta 38">
            <a:extLst>
              <a:ext uri="{FF2B5EF4-FFF2-40B4-BE49-F238E27FC236}">
                <a16:creationId xmlns:a16="http://schemas.microsoft.com/office/drawing/2014/main" xmlns="" id="{E52B628B-8B53-5E45-472A-7213E7972E38}"/>
              </a:ext>
            </a:extLst>
          </p:cNvPr>
          <p:cNvCxnSpPr/>
          <p:nvPr/>
        </p:nvCxnSpPr>
        <p:spPr>
          <a:xfrm>
            <a:off x="4016825" y="4330189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tângulo 39">
            <a:extLst>
              <a:ext uri="{FF2B5EF4-FFF2-40B4-BE49-F238E27FC236}">
                <a16:creationId xmlns:a16="http://schemas.microsoft.com/office/drawing/2014/main" xmlns="" id="{12BA3CAB-A1C1-3219-D99F-5AD5DAA5757C}"/>
              </a:ext>
            </a:extLst>
          </p:cNvPr>
          <p:cNvSpPr/>
          <p:nvPr/>
        </p:nvSpPr>
        <p:spPr>
          <a:xfrm>
            <a:off x="1415136" y="2808514"/>
            <a:ext cx="805550" cy="227046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1" name="Retângulo 40">
            <a:extLst>
              <a:ext uri="{FF2B5EF4-FFF2-40B4-BE49-F238E27FC236}">
                <a16:creationId xmlns:a16="http://schemas.microsoft.com/office/drawing/2014/main" xmlns="" id="{05A72D9F-DEAB-A925-ABAB-955FB7E85F06}"/>
              </a:ext>
            </a:extLst>
          </p:cNvPr>
          <p:cNvSpPr/>
          <p:nvPr/>
        </p:nvSpPr>
        <p:spPr>
          <a:xfrm>
            <a:off x="2340416" y="2525487"/>
            <a:ext cx="805550" cy="2916506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2" name="Retângulo 41">
            <a:extLst>
              <a:ext uri="{FF2B5EF4-FFF2-40B4-BE49-F238E27FC236}">
                <a16:creationId xmlns:a16="http://schemas.microsoft.com/office/drawing/2014/main" xmlns="" id="{B32D1E17-5108-B456-D125-0EDE5DFD40D8}"/>
              </a:ext>
            </a:extLst>
          </p:cNvPr>
          <p:cNvSpPr/>
          <p:nvPr/>
        </p:nvSpPr>
        <p:spPr>
          <a:xfrm>
            <a:off x="3298377" y="3212986"/>
            <a:ext cx="805550" cy="1478757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3" name="CaixaDeTexto 42">
            <a:extLst>
              <a:ext uri="{FF2B5EF4-FFF2-40B4-BE49-F238E27FC236}">
                <a16:creationId xmlns:a16="http://schemas.microsoft.com/office/drawing/2014/main" xmlns="" id="{5B3F2DF9-FEC6-10F7-A546-C89E80F6874B}"/>
              </a:ext>
            </a:extLst>
          </p:cNvPr>
          <p:cNvSpPr txBox="1"/>
          <p:nvPr/>
        </p:nvSpPr>
        <p:spPr>
          <a:xfrm>
            <a:off x="3499750" y="2240917"/>
            <a:ext cx="12300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/>
              <a:t>Camada</a:t>
            </a:r>
          </a:p>
        </p:txBody>
      </p:sp>
      <p:sp>
        <p:nvSpPr>
          <p:cNvPr id="44" name="Forma Livre: Forma 43">
            <a:extLst>
              <a:ext uri="{FF2B5EF4-FFF2-40B4-BE49-F238E27FC236}">
                <a16:creationId xmlns:a16="http://schemas.microsoft.com/office/drawing/2014/main" xmlns="" id="{7AFAD6CF-97CD-94DD-E0D1-B7629DCD7F0B}"/>
              </a:ext>
            </a:extLst>
          </p:cNvPr>
          <p:cNvSpPr/>
          <p:nvPr/>
        </p:nvSpPr>
        <p:spPr>
          <a:xfrm>
            <a:off x="3113305" y="2356849"/>
            <a:ext cx="413657" cy="166042"/>
          </a:xfrm>
          <a:custGeom>
            <a:avLst/>
            <a:gdLst>
              <a:gd name="connsiteX0" fmla="*/ 0 w 413657"/>
              <a:gd name="connsiteY0" fmla="*/ 166042 h 166042"/>
              <a:gd name="connsiteX1" fmla="*/ 76200 w 413657"/>
              <a:gd name="connsiteY1" fmla="*/ 2756 h 166042"/>
              <a:gd name="connsiteX2" fmla="*/ 413657 w 413657"/>
              <a:gd name="connsiteY2" fmla="*/ 78956 h 16604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413657" h="166042">
                <a:moveTo>
                  <a:pt x="0" y="166042"/>
                </a:moveTo>
                <a:cubicBezTo>
                  <a:pt x="3628" y="91656"/>
                  <a:pt x="7257" y="17270"/>
                  <a:pt x="76200" y="2756"/>
                </a:cubicBezTo>
                <a:cubicBezTo>
                  <a:pt x="145143" y="-11758"/>
                  <a:pt x="279400" y="33599"/>
                  <a:pt x="413657" y="78956"/>
                </a:cubicBezTo>
              </a:path>
            </a:pathLst>
          </a:cu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xmlns="" id="{F935DC63-B882-7C7B-42AB-E8B188EBD204}"/>
                  </a:ext>
                </a:extLst>
              </p:cNvPr>
              <p:cNvSpPr txBox="1"/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5" name="CaixaDeTexto 44">
                <a:extLst>
                  <a:ext uri="{FF2B5EF4-FFF2-40B4-BE49-F238E27FC236}">
                    <a16:creationId xmlns:a16="http://schemas.microsoft.com/office/drawing/2014/main" id="{F935DC63-B882-7C7B-42AB-E8B188EBD2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561" y="2974265"/>
                <a:ext cx="266702" cy="369332"/>
              </a:xfrm>
              <a:prstGeom prst="rect">
                <a:avLst/>
              </a:prstGeom>
              <a:blipFill>
                <a:blip r:embed="rId2"/>
                <a:stretch>
                  <a:fillRect r="-36364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xmlns="" id="{42D5257F-4516-1481-1D58-EA1312068D07}"/>
                  </a:ext>
                </a:extLst>
              </p:cNvPr>
              <p:cNvSpPr txBox="1"/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46" name="CaixaDeTexto 45">
                <a:extLst>
                  <a:ext uri="{FF2B5EF4-FFF2-40B4-BE49-F238E27FC236}">
                    <a16:creationId xmlns:a16="http://schemas.microsoft.com/office/drawing/2014/main" id="{42D5257F-4516-1481-1D58-EA1312068D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0926" y="4430876"/>
                <a:ext cx="266702" cy="369332"/>
              </a:xfrm>
              <a:prstGeom prst="rect">
                <a:avLst/>
              </a:prstGeom>
              <a:blipFill>
                <a:blip r:embed="rId3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Elipse 46">
            <a:extLst>
              <a:ext uri="{FF2B5EF4-FFF2-40B4-BE49-F238E27FC236}">
                <a16:creationId xmlns:a16="http://schemas.microsoft.com/office/drawing/2014/main" xmlns="" id="{07BCDB8B-CE0C-9B08-2837-D5CFEF8F8027}"/>
              </a:ext>
            </a:extLst>
          </p:cNvPr>
          <p:cNvSpPr/>
          <p:nvPr/>
        </p:nvSpPr>
        <p:spPr>
          <a:xfrm>
            <a:off x="7500252" y="2764972"/>
            <a:ext cx="566057" cy="566057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8" name="Elipse 47">
            <a:extLst>
              <a:ext uri="{FF2B5EF4-FFF2-40B4-BE49-F238E27FC236}">
                <a16:creationId xmlns:a16="http://schemas.microsoft.com/office/drawing/2014/main" xmlns="" id="{3CB32753-29C3-55D3-8422-F352A806D763}"/>
              </a:ext>
            </a:extLst>
          </p:cNvPr>
          <p:cNvSpPr/>
          <p:nvPr/>
        </p:nvSpPr>
        <p:spPr>
          <a:xfrm>
            <a:off x="7500251" y="3483429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9" name="Elipse 48">
            <a:extLst>
              <a:ext uri="{FF2B5EF4-FFF2-40B4-BE49-F238E27FC236}">
                <a16:creationId xmlns:a16="http://schemas.microsoft.com/office/drawing/2014/main" xmlns="" id="{BFC26550-A7ED-0423-9691-3BC491E002D2}"/>
              </a:ext>
            </a:extLst>
          </p:cNvPr>
          <p:cNvSpPr/>
          <p:nvPr/>
        </p:nvSpPr>
        <p:spPr>
          <a:xfrm>
            <a:off x="7500251" y="4201886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0" name="Elipse 49">
            <a:extLst>
              <a:ext uri="{FF2B5EF4-FFF2-40B4-BE49-F238E27FC236}">
                <a16:creationId xmlns:a16="http://schemas.microsoft.com/office/drawing/2014/main" xmlns="" id="{5DCC9ADC-11EF-0D55-4743-6F7128E32CBE}"/>
              </a:ext>
            </a:extLst>
          </p:cNvPr>
          <p:cNvSpPr/>
          <p:nvPr/>
        </p:nvSpPr>
        <p:spPr>
          <a:xfrm>
            <a:off x="7500251" y="4920343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1" name="Elipse 50">
            <a:extLst>
              <a:ext uri="{FF2B5EF4-FFF2-40B4-BE49-F238E27FC236}">
                <a16:creationId xmlns:a16="http://schemas.microsoft.com/office/drawing/2014/main" xmlns="" id="{523B2D2B-0A5B-2F90-913B-5ACA195CF6F9}"/>
              </a:ext>
            </a:extLst>
          </p:cNvPr>
          <p:cNvSpPr/>
          <p:nvPr/>
        </p:nvSpPr>
        <p:spPr>
          <a:xfrm>
            <a:off x="8458194" y="348342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2" name="Elipse 51">
            <a:extLst>
              <a:ext uri="{FF2B5EF4-FFF2-40B4-BE49-F238E27FC236}">
                <a16:creationId xmlns:a16="http://schemas.microsoft.com/office/drawing/2014/main" xmlns="" id="{5A24C30B-B813-7CA9-7E2E-D209AF0BDCC0}"/>
              </a:ext>
            </a:extLst>
          </p:cNvPr>
          <p:cNvSpPr/>
          <p:nvPr/>
        </p:nvSpPr>
        <p:spPr>
          <a:xfrm>
            <a:off x="8458193" y="4201885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3" name="Elipse 52">
            <a:extLst>
              <a:ext uri="{FF2B5EF4-FFF2-40B4-BE49-F238E27FC236}">
                <a16:creationId xmlns:a16="http://schemas.microsoft.com/office/drawing/2014/main" xmlns="" id="{0AE3DC55-5E70-4224-9097-8A0842DD250E}"/>
              </a:ext>
            </a:extLst>
          </p:cNvPr>
          <p:cNvSpPr/>
          <p:nvPr/>
        </p:nvSpPr>
        <p:spPr>
          <a:xfrm>
            <a:off x="6542308" y="30823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4" name="Elipse 53">
            <a:extLst>
              <a:ext uri="{FF2B5EF4-FFF2-40B4-BE49-F238E27FC236}">
                <a16:creationId xmlns:a16="http://schemas.microsoft.com/office/drawing/2014/main" xmlns="" id="{FA97200D-1657-2A99-EED7-60774CCA8FFB}"/>
              </a:ext>
            </a:extLst>
          </p:cNvPr>
          <p:cNvSpPr/>
          <p:nvPr/>
        </p:nvSpPr>
        <p:spPr>
          <a:xfrm>
            <a:off x="6542308" y="383800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5" name="Elipse 54">
            <a:extLst>
              <a:ext uri="{FF2B5EF4-FFF2-40B4-BE49-F238E27FC236}">
                <a16:creationId xmlns:a16="http://schemas.microsoft.com/office/drawing/2014/main" xmlns="" id="{DAE9D42E-7B4E-2C18-36E1-7E07D439B8A2}"/>
              </a:ext>
            </a:extLst>
          </p:cNvPr>
          <p:cNvSpPr/>
          <p:nvPr/>
        </p:nvSpPr>
        <p:spPr>
          <a:xfrm>
            <a:off x="6542308" y="4593658"/>
            <a:ext cx="566057" cy="566057"/>
          </a:xfrm>
          <a:prstGeom prst="ellipse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cxnSp>
        <p:nvCxnSpPr>
          <p:cNvPr id="56" name="Conector de Seta Reta 55">
            <a:extLst>
              <a:ext uri="{FF2B5EF4-FFF2-40B4-BE49-F238E27FC236}">
                <a16:creationId xmlns:a16="http://schemas.microsoft.com/office/drawing/2014/main" xmlns="" id="{2E9C87CC-F45D-8D49-1EF0-90FBBEA3879B}"/>
              </a:ext>
            </a:extLst>
          </p:cNvPr>
          <p:cNvCxnSpPr>
            <a:stCxn id="53" idx="6"/>
            <a:endCxn id="47" idx="2"/>
          </p:cNvCxnSpPr>
          <p:nvPr/>
        </p:nvCxnSpPr>
        <p:spPr>
          <a:xfrm flipV="1">
            <a:off x="7108365" y="3048001"/>
            <a:ext cx="391887" cy="3173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ector de Seta Reta 56">
            <a:extLst>
              <a:ext uri="{FF2B5EF4-FFF2-40B4-BE49-F238E27FC236}">
                <a16:creationId xmlns:a16="http://schemas.microsoft.com/office/drawing/2014/main" xmlns="" id="{C5344D80-3635-D8AD-BDC7-A1879AE7E4A7}"/>
              </a:ext>
            </a:extLst>
          </p:cNvPr>
          <p:cNvCxnSpPr>
            <a:stCxn id="53" idx="6"/>
            <a:endCxn id="48" idx="2"/>
          </p:cNvCxnSpPr>
          <p:nvPr/>
        </p:nvCxnSpPr>
        <p:spPr>
          <a:xfrm>
            <a:off x="7108365" y="3365387"/>
            <a:ext cx="391886" cy="401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ector de Seta Reta 57">
            <a:extLst>
              <a:ext uri="{FF2B5EF4-FFF2-40B4-BE49-F238E27FC236}">
                <a16:creationId xmlns:a16="http://schemas.microsoft.com/office/drawing/2014/main" xmlns="" id="{127511B2-E7A3-DC76-7C2C-455B083E7BDF}"/>
              </a:ext>
            </a:extLst>
          </p:cNvPr>
          <p:cNvCxnSpPr>
            <a:stCxn id="53" idx="6"/>
            <a:endCxn id="49" idx="2"/>
          </p:cNvCxnSpPr>
          <p:nvPr/>
        </p:nvCxnSpPr>
        <p:spPr>
          <a:xfrm>
            <a:off x="7108365" y="3365387"/>
            <a:ext cx="391886" cy="111952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ector de Seta Reta 58">
            <a:extLst>
              <a:ext uri="{FF2B5EF4-FFF2-40B4-BE49-F238E27FC236}">
                <a16:creationId xmlns:a16="http://schemas.microsoft.com/office/drawing/2014/main" xmlns="" id="{853B6FBB-1C14-F4F3-A71E-AC6FB19A28DA}"/>
              </a:ext>
            </a:extLst>
          </p:cNvPr>
          <p:cNvCxnSpPr>
            <a:stCxn id="53" idx="6"/>
            <a:endCxn id="50" idx="2"/>
          </p:cNvCxnSpPr>
          <p:nvPr/>
        </p:nvCxnSpPr>
        <p:spPr>
          <a:xfrm>
            <a:off x="7108365" y="3365387"/>
            <a:ext cx="391886" cy="18379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ector de Seta Reta 59">
            <a:extLst>
              <a:ext uri="{FF2B5EF4-FFF2-40B4-BE49-F238E27FC236}">
                <a16:creationId xmlns:a16="http://schemas.microsoft.com/office/drawing/2014/main" xmlns="" id="{C5A9D8EB-2F17-BF03-5782-A7A895D368DB}"/>
              </a:ext>
            </a:extLst>
          </p:cNvPr>
          <p:cNvCxnSpPr>
            <a:stCxn id="54" idx="6"/>
            <a:endCxn id="47" idx="2"/>
          </p:cNvCxnSpPr>
          <p:nvPr/>
        </p:nvCxnSpPr>
        <p:spPr>
          <a:xfrm flipV="1">
            <a:off x="7108365" y="3048001"/>
            <a:ext cx="391887" cy="107303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Conector de Seta Reta 60">
            <a:extLst>
              <a:ext uri="{FF2B5EF4-FFF2-40B4-BE49-F238E27FC236}">
                <a16:creationId xmlns:a16="http://schemas.microsoft.com/office/drawing/2014/main" xmlns="" id="{21AC2533-AF31-2CEF-5EDB-9E80147C1C29}"/>
              </a:ext>
            </a:extLst>
          </p:cNvPr>
          <p:cNvCxnSpPr>
            <a:stCxn id="55" idx="6"/>
            <a:endCxn id="48" idx="2"/>
          </p:cNvCxnSpPr>
          <p:nvPr/>
        </p:nvCxnSpPr>
        <p:spPr>
          <a:xfrm flipV="1">
            <a:off x="7108365" y="3766458"/>
            <a:ext cx="391886" cy="111022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ector de Seta Reta 61">
            <a:extLst>
              <a:ext uri="{FF2B5EF4-FFF2-40B4-BE49-F238E27FC236}">
                <a16:creationId xmlns:a16="http://schemas.microsoft.com/office/drawing/2014/main" xmlns="" id="{93F41EFA-FDF2-3A90-29A3-6818EFD4C8B2}"/>
              </a:ext>
            </a:extLst>
          </p:cNvPr>
          <p:cNvCxnSpPr>
            <a:stCxn id="54" idx="6"/>
            <a:endCxn id="48" idx="2"/>
          </p:cNvCxnSpPr>
          <p:nvPr/>
        </p:nvCxnSpPr>
        <p:spPr>
          <a:xfrm flipV="1">
            <a:off x="7108365" y="3766458"/>
            <a:ext cx="391886" cy="35457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Conector de Seta Reta 62">
            <a:extLst>
              <a:ext uri="{FF2B5EF4-FFF2-40B4-BE49-F238E27FC236}">
                <a16:creationId xmlns:a16="http://schemas.microsoft.com/office/drawing/2014/main" xmlns="" id="{F2A12224-8316-65F1-6B99-742F5ACFFB61}"/>
              </a:ext>
            </a:extLst>
          </p:cNvPr>
          <p:cNvCxnSpPr>
            <a:stCxn id="54" idx="6"/>
            <a:endCxn id="49" idx="2"/>
          </p:cNvCxnSpPr>
          <p:nvPr/>
        </p:nvCxnSpPr>
        <p:spPr>
          <a:xfrm>
            <a:off x="7108365" y="4121037"/>
            <a:ext cx="391886" cy="36387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Conector de Seta Reta 63">
            <a:extLst>
              <a:ext uri="{FF2B5EF4-FFF2-40B4-BE49-F238E27FC236}">
                <a16:creationId xmlns:a16="http://schemas.microsoft.com/office/drawing/2014/main" xmlns="" id="{F92A28C7-0627-C54D-D65F-5C62F6D5E04B}"/>
              </a:ext>
            </a:extLst>
          </p:cNvPr>
          <p:cNvCxnSpPr>
            <a:stCxn id="54" idx="6"/>
            <a:endCxn id="50" idx="2"/>
          </p:cNvCxnSpPr>
          <p:nvPr/>
        </p:nvCxnSpPr>
        <p:spPr>
          <a:xfrm>
            <a:off x="7108365" y="4121037"/>
            <a:ext cx="391886" cy="108233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Conector de Seta Reta 64">
            <a:extLst>
              <a:ext uri="{FF2B5EF4-FFF2-40B4-BE49-F238E27FC236}">
                <a16:creationId xmlns:a16="http://schemas.microsoft.com/office/drawing/2014/main" xmlns="" id="{F69B7603-EBC2-CF8A-D7BE-085E26ADAE6F}"/>
              </a:ext>
            </a:extLst>
          </p:cNvPr>
          <p:cNvCxnSpPr>
            <a:stCxn id="55" idx="6"/>
            <a:endCxn id="47" idx="2"/>
          </p:cNvCxnSpPr>
          <p:nvPr/>
        </p:nvCxnSpPr>
        <p:spPr>
          <a:xfrm flipV="1">
            <a:off x="7108365" y="3048001"/>
            <a:ext cx="391887" cy="182868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de Seta Reta 65">
            <a:extLst>
              <a:ext uri="{FF2B5EF4-FFF2-40B4-BE49-F238E27FC236}">
                <a16:creationId xmlns:a16="http://schemas.microsoft.com/office/drawing/2014/main" xmlns="" id="{E5404BBF-2851-0A92-A19E-E34566A9DAAE}"/>
              </a:ext>
            </a:extLst>
          </p:cNvPr>
          <p:cNvCxnSpPr>
            <a:stCxn id="55" idx="6"/>
            <a:endCxn id="49" idx="2"/>
          </p:cNvCxnSpPr>
          <p:nvPr/>
        </p:nvCxnSpPr>
        <p:spPr>
          <a:xfrm flipV="1">
            <a:off x="7108365" y="4484915"/>
            <a:ext cx="391886" cy="39177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Conector de Seta Reta 66">
            <a:extLst>
              <a:ext uri="{FF2B5EF4-FFF2-40B4-BE49-F238E27FC236}">
                <a16:creationId xmlns:a16="http://schemas.microsoft.com/office/drawing/2014/main" xmlns="" id="{82B28CEA-1B34-6963-EF6B-E677A0513728}"/>
              </a:ext>
            </a:extLst>
          </p:cNvPr>
          <p:cNvCxnSpPr>
            <a:stCxn id="55" idx="6"/>
            <a:endCxn id="50" idx="2"/>
          </p:cNvCxnSpPr>
          <p:nvPr/>
        </p:nvCxnSpPr>
        <p:spPr>
          <a:xfrm>
            <a:off x="7108365" y="4876687"/>
            <a:ext cx="391886" cy="32668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Conector de Seta Reta 67">
            <a:extLst>
              <a:ext uri="{FF2B5EF4-FFF2-40B4-BE49-F238E27FC236}">
                <a16:creationId xmlns:a16="http://schemas.microsoft.com/office/drawing/2014/main" xmlns="" id="{A2675C0C-DF08-8DB0-C4AB-7352662149C8}"/>
              </a:ext>
            </a:extLst>
          </p:cNvPr>
          <p:cNvCxnSpPr>
            <a:stCxn id="47" idx="6"/>
            <a:endCxn id="51" idx="2"/>
          </p:cNvCxnSpPr>
          <p:nvPr/>
        </p:nvCxnSpPr>
        <p:spPr>
          <a:xfrm>
            <a:off x="8066309" y="3048001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xmlns="" id="{B9CDF70B-BB09-E717-8636-332AE72132E9}"/>
              </a:ext>
            </a:extLst>
          </p:cNvPr>
          <p:cNvCxnSpPr>
            <a:stCxn id="48" idx="6"/>
            <a:endCxn id="52" idx="2"/>
          </p:cNvCxnSpPr>
          <p:nvPr/>
        </p:nvCxnSpPr>
        <p:spPr>
          <a:xfrm>
            <a:off x="8066308" y="3766458"/>
            <a:ext cx="391885" cy="71845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xmlns="" id="{A0C59751-CA8C-CDF6-1949-E139868C72F9}"/>
              </a:ext>
            </a:extLst>
          </p:cNvPr>
          <p:cNvCxnSpPr>
            <a:stCxn id="49" idx="6"/>
            <a:endCxn id="52" idx="2"/>
          </p:cNvCxnSpPr>
          <p:nvPr/>
        </p:nvCxnSpPr>
        <p:spPr>
          <a:xfrm flipV="1">
            <a:off x="8066308" y="4484914"/>
            <a:ext cx="39188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xmlns="" id="{4434CD69-6350-59FE-5FBB-AD663AEC9823}"/>
              </a:ext>
            </a:extLst>
          </p:cNvPr>
          <p:cNvCxnSpPr>
            <a:stCxn id="50" idx="6"/>
            <a:endCxn id="52" idx="2"/>
          </p:cNvCxnSpPr>
          <p:nvPr/>
        </p:nvCxnSpPr>
        <p:spPr>
          <a:xfrm flipV="1">
            <a:off x="8066308" y="4484914"/>
            <a:ext cx="391885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xmlns="" id="{41DD8E17-7931-D8F6-5774-D8C8B92A866B}"/>
              </a:ext>
            </a:extLst>
          </p:cNvPr>
          <p:cNvCxnSpPr>
            <a:cxnSpLocks/>
            <a:stCxn id="47" idx="6"/>
            <a:endCxn id="52" idx="2"/>
          </p:cNvCxnSpPr>
          <p:nvPr/>
        </p:nvCxnSpPr>
        <p:spPr>
          <a:xfrm>
            <a:off x="8066309" y="3048001"/>
            <a:ext cx="391884" cy="14369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xmlns="" id="{18E54812-DD5C-1F06-EC64-60104362E19D}"/>
              </a:ext>
            </a:extLst>
          </p:cNvPr>
          <p:cNvCxnSpPr>
            <a:stCxn id="48" idx="6"/>
            <a:endCxn id="51" idx="2"/>
          </p:cNvCxnSpPr>
          <p:nvPr/>
        </p:nvCxnSpPr>
        <p:spPr>
          <a:xfrm flipV="1">
            <a:off x="8066308" y="3766457"/>
            <a:ext cx="391886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xmlns="" id="{D089833F-AF62-43B8-7766-2CE57BE23F8E}"/>
              </a:ext>
            </a:extLst>
          </p:cNvPr>
          <p:cNvCxnSpPr>
            <a:stCxn id="49" idx="6"/>
            <a:endCxn id="51" idx="2"/>
          </p:cNvCxnSpPr>
          <p:nvPr/>
        </p:nvCxnSpPr>
        <p:spPr>
          <a:xfrm flipV="1">
            <a:off x="8066308" y="3766457"/>
            <a:ext cx="391886" cy="71845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xmlns="" id="{7CEA38E9-34F5-C027-B61C-BE3F7F26DC6B}"/>
              </a:ext>
            </a:extLst>
          </p:cNvPr>
          <p:cNvCxnSpPr>
            <a:stCxn id="50" idx="6"/>
            <a:endCxn id="51" idx="2"/>
          </p:cNvCxnSpPr>
          <p:nvPr/>
        </p:nvCxnSpPr>
        <p:spPr>
          <a:xfrm flipV="1">
            <a:off x="8066308" y="3766457"/>
            <a:ext cx="391886" cy="143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xmlns="" id="{C0D47946-6131-CED8-5624-7B46747DA81E}"/>
              </a:ext>
            </a:extLst>
          </p:cNvPr>
          <p:cNvCxnSpPr>
            <a:endCxn id="53" idx="2"/>
          </p:cNvCxnSpPr>
          <p:nvPr/>
        </p:nvCxnSpPr>
        <p:spPr>
          <a:xfrm>
            <a:off x="6270166" y="3365386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xmlns="" id="{F67E883A-9C7F-9C49-89EE-CD9F6B4563EB}"/>
              </a:ext>
            </a:extLst>
          </p:cNvPr>
          <p:cNvCxnSpPr>
            <a:endCxn id="54" idx="2"/>
          </p:cNvCxnSpPr>
          <p:nvPr/>
        </p:nvCxnSpPr>
        <p:spPr>
          <a:xfrm>
            <a:off x="6270166" y="3365386"/>
            <a:ext cx="272142" cy="7556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xmlns="" id="{14D2B78F-30D0-FBFD-5078-F273A138680C}"/>
              </a:ext>
            </a:extLst>
          </p:cNvPr>
          <p:cNvCxnSpPr>
            <a:endCxn id="55" idx="2"/>
          </p:cNvCxnSpPr>
          <p:nvPr/>
        </p:nvCxnSpPr>
        <p:spPr>
          <a:xfrm>
            <a:off x="6270166" y="3365386"/>
            <a:ext cx="272142" cy="15113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Conector de Seta Reta 78">
            <a:extLst>
              <a:ext uri="{FF2B5EF4-FFF2-40B4-BE49-F238E27FC236}">
                <a16:creationId xmlns:a16="http://schemas.microsoft.com/office/drawing/2014/main" xmlns="" id="{BB8412B6-AF58-2557-F413-F415E9857E4C}"/>
              </a:ext>
            </a:extLst>
          </p:cNvPr>
          <p:cNvCxnSpPr/>
          <p:nvPr/>
        </p:nvCxnSpPr>
        <p:spPr>
          <a:xfrm>
            <a:off x="6270166" y="4845843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Conector reto 79">
            <a:extLst>
              <a:ext uri="{FF2B5EF4-FFF2-40B4-BE49-F238E27FC236}">
                <a16:creationId xmlns:a16="http://schemas.microsoft.com/office/drawing/2014/main" xmlns="" id="{E9DF6111-D7CE-2D66-7876-57D625F15DA8}"/>
              </a:ext>
            </a:extLst>
          </p:cNvPr>
          <p:cNvCxnSpPr>
            <a:cxnSpLocks/>
            <a:endCxn id="54" idx="2"/>
          </p:cNvCxnSpPr>
          <p:nvPr/>
        </p:nvCxnSpPr>
        <p:spPr>
          <a:xfrm flipV="1">
            <a:off x="6270165" y="4121037"/>
            <a:ext cx="272143" cy="723106"/>
          </a:xfrm>
          <a:prstGeom prst="line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Conector de Seta Reta 80">
            <a:extLst>
              <a:ext uri="{FF2B5EF4-FFF2-40B4-BE49-F238E27FC236}">
                <a16:creationId xmlns:a16="http://schemas.microsoft.com/office/drawing/2014/main" xmlns="" id="{A0F64F37-1274-0520-7393-B446FFC14749}"/>
              </a:ext>
            </a:extLst>
          </p:cNvPr>
          <p:cNvCxnSpPr/>
          <p:nvPr/>
        </p:nvCxnSpPr>
        <p:spPr>
          <a:xfrm>
            <a:off x="9024249" y="3766455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" name="Conector de Seta Reta 81">
            <a:extLst>
              <a:ext uri="{FF2B5EF4-FFF2-40B4-BE49-F238E27FC236}">
                <a16:creationId xmlns:a16="http://schemas.microsoft.com/office/drawing/2014/main" xmlns="" id="{AE079E2A-2897-CDD6-63F5-C2B55F2414AA}"/>
              </a:ext>
            </a:extLst>
          </p:cNvPr>
          <p:cNvCxnSpPr/>
          <p:nvPr/>
        </p:nvCxnSpPr>
        <p:spPr>
          <a:xfrm>
            <a:off x="9024249" y="4482589"/>
            <a:ext cx="272142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xmlns="" id="{736D8B32-0D1E-F148-06B6-0FAC704597CF}"/>
                  </a:ext>
                </a:extLst>
              </p:cNvPr>
              <p:cNvSpPr txBox="1"/>
              <p:nvPr/>
            </p:nvSpPr>
            <p:spPr>
              <a:xfrm>
                <a:off x="5929985" y="31266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8" name="CaixaDeTexto 87">
                <a:extLst>
                  <a:ext uri="{FF2B5EF4-FFF2-40B4-BE49-F238E27FC236}">
                    <a16:creationId xmlns:a16="http://schemas.microsoft.com/office/drawing/2014/main" id="{736D8B32-0D1E-F148-06B6-0FAC704597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9985" y="3126665"/>
                <a:ext cx="266702" cy="369332"/>
              </a:xfrm>
              <a:prstGeom prst="rect">
                <a:avLst/>
              </a:prstGeom>
              <a:blipFill>
                <a:blip r:embed="rId4"/>
                <a:stretch>
                  <a:fillRect r="-34091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xmlns="" id="{2A6BCE2C-1F0E-0DA8-3BDD-5FCC74BC676A}"/>
                  </a:ext>
                </a:extLst>
              </p:cNvPr>
              <p:cNvSpPr txBox="1"/>
              <p:nvPr/>
            </p:nvSpPr>
            <p:spPr>
              <a:xfrm>
                <a:off x="5928350" y="4583276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89" name="CaixaDeTexto 88">
                <a:extLst>
                  <a:ext uri="{FF2B5EF4-FFF2-40B4-BE49-F238E27FC236}">
                    <a16:creationId xmlns:a16="http://schemas.microsoft.com/office/drawing/2014/main" id="{2A6BCE2C-1F0E-0DA8-3BDD-5FCC74BC6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28350" y="4583276"/>
                <a:ext cx="266702" cy="369332"/>
              </a:xfrm>
              <a:prstGeom prst="rect">
                <a:avLst/>
              </a:prstGeom>
              <a:blipFill>
                <a:blip r:embed="rId5"/>
                <a:stretch>
                  <a:fillRect r="-38636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xmlns="" id="{5CA99F38-45BE-B8D7-535B-8352A60FF0C8}"/>
                  </a:ext>
                </a:extLst>
              </p:cNvPr>
              <p:cNvSpPr txBox="1"/>
              <p:nvPr/>
            </p:nvSpPr>
            <p:spPr>
              <a:xfrm>
                <a:off x="9258282" y="3541172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0" name="CaixaDeTexto 89">
                <a:extLst>
                  <a:ext uri="{FF2B5EF4-FFF2-40B4-BE49-F238E27FC236}">
                    <a16:creationId xmlns:a16="http://schemas.microsoft.com/office/drawing/2014/main" id="{5CA99F38-45BE-B8D7-535B-8352A60FF0C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282" y="3541172"/>
                <a:ext cx="266702" cy="369332"/>
              </a:xfrm>
              <a:prstGeom prst="rect">
                <a:avLst/>
              </a:prstGeom>
              <a:blipFill>
                <a:blip r:embed="rId6"/>
                <a:stretch>
                  <a:fillRect r="-37209" b="-666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xmlns="" id="{EB5B6839-2436-F44A-5F15-E4ADFF43C70D}"/>
                  </a:ext>
                </a:extLst>
              </p:cNvPr>
              <p:cNvSpPr txBox="1"/>
              <p:nvPr/>
            </p:nvSpPr>
            <p:spPr>
              <a:xfrm>
                <a:off x="9258282" y="4251665"/>
                <a:ext cx="266702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pt-BR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𝑦</m:t>
                          </m:r>
                        </m:e>
                        <m:sub>
                          <m:r>
                            <a:rPr lang="pt-BR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</m:oMath>
                  </m:oMathPara>
                </a14:m>
                <a:endParaRPr lang="pt-BR" dirty="0"/>
              </a:p>
            </p:txBody>
          </p:sp>
        </mc:Choice>
        <mc:Fallback xmlns="">
          <p:sp>
            <p:nvSpPr>
              <p:cNvPr id="91" name="CaixaDeTexto 90">
                <a:extLst>
                  <a:ext uri="{FF2B5EF4-FFF2-40B4-BE49-F238E27FC236}">
                    <a16:creationId xmlns:a16="http://schemas.microsoft.com/office/drawing/2014/main" id="{EB5B6839-2436-F44A-5F15-E4ADFF43C7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58282" y="4251665"/>
                <a:ext cx="266702" cy="369332"/>
              </a:xfrm>
              <a:prstGeom prst="rect">
                <a:avLst/>
              </a:prstGeom>
              <a:blipFill>
                <a:blip r:embed="rId7"/>
                <a:stretch>
                  <a:fillRect r="-39535" b="-6557"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6213676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Agrupar 25">
            <a:extLst>
              <a:ext uri="{FF2B5EF4-FFF2-40B4-BE49-F238E27FC236}">
                <a16:creationId xmlns:a16="http://schemas.microsoft.com/office/drawing/2014/main" xmlns="" id="{5B1CADC4-4B7C-E55B-3FA3-60851808D1FA}"/>
              </a:ext>
            </a:extLst>
          </p:cNvPr>
          <p:cNvGrpSpPr/>
          <p:nvPr/>
        </p:nvGrpSpPr>
        <p:grpSpPr>
          <a:xfrm>
            <a:off x="748757" y="2602985"/>
            <a:ext cx="3548180" cy="3097036"/>
            <a:chOff x="748757" y="2602985"/>
            <a:chExt cx="3548180" cy="3097036"/>
          </a:xfrm>
        </p:grpSpPr>
        <p:pic>
          <p:nvPicPr>
            <p:cNvPr id="5" name="Picture 3">
              <a:extLst>
                <a:ext uri="{FF2B5EF4-FFF2-40B4-BE49-F238E27FC236}">
                  <a16:creationId xmlns:a16="http://schemas.microsoft.com/office/drawing/2014/main" xmlns="" id="{B0FBB431-6A27-90B0-4B70-B91F2940B63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48757" y="2602985"/>
              <a:ext cx="3548180" cy="3097036"/>
            </a:xfrm>
            <a:prstGeom prst="rect">
              <a:avLst/>
            </a:prstGeom>
          </p:spPr>
        </p:pic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xmlns="" id="{727F01E9-AADA-FC2E-BE4A-5DB94A96C0B0}"/>
                    </a:ext>
                  </a:extLst>
                </p:cNvPr>
                <p:cNvSpPr txBox="1"/>
                <p:nvPr/>
              </p:nvSpPr>
              <p:spPr>
                <a:xfrm rot="18819374">
                  <a:off x="1508582" y="2918519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3" name="CaixaDeTexto 12">
                  <a:extLst>
                    <a:ext uri="{FF2B5EF4-FFF2-40B4-BE49-F238E27FC236}">
                      <a16:creationId xmlns:a16="http://schemas.microsoft.com/office/drawing/2014/main" id="{727F01E9-AADA-FC2E-BE4A-5DB94A96C0B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819374">
                  <a:off x="1508582" y="2918519"/>
                  <a:ext cx="500957" cy="276999"/>
                </a:xfrm>
                <a:prstGeom prst="rect">
                  <a:avLst/>
                </a:prstGeom>
                <a:blipFill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xmlns="" id="{409EC9F7-2B82-A60A-A162-2E0D464910F7}"/>
                    </a:ext>
                  </a:extLst>
                </p:cNvPr>
                <p:cNvSpPr txBox="1"/>
                <p:nvPr/>
              </p:nvSpPr>
              <p:spPr>
                <a:xfrm rot="995922">
                  <a:off x="1778160" y="3597867"/>
                  <a:ext cx="479242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13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4" name="CaixaDeTexto 13">
                  <a:extLst>
                    <a:ext uri="{FF2B5EF4-FFF2-40B4-BE49-F238E27FC236}">
                      <a16:creationId xmlns:a16="http://schemas.microsoft.com/office/drawing/2014/main" id="{409EC9F7-2B82-A60A-A162-2E0D464910F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995922">
                  <a:off x="1778160" y="3597867"/>
                  <a:ext cx="479242" cy="276999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xmlns="" id="{ED9167C6-6844-9A17-2F5F-14C0D9249FB8}"/>
                    </a:ext>
                  </a:extLst>
                </p:cNvPr>
                <p:cNvSpPr txBox="1"/>
                <p:nvPr/>
              </p:nvSpPr>
              <p:spPr>
                <a:xfrm rot="17944624">
                  <a:off x="1498101" y="3186116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5" name="CaixaDeTexto 14">
                  <a:extLst>
                    <a:ext uri="{FF2B5EF4-FFF2-40B4-BE49-F238E27FC236}">
                      <a16:creationId xmlns:a16="http://schemas.microsoft.com/office/drawing/2014/main" id="{ED9167C6-6844-9A17-2F5F-14C0D9249FB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7944624">
                  <a:off x="1498101" y="3186116"/>
                  <a:ext cx="500957" cy="276999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xmlns="" id="{749E4E98-E534-43B1-6499-0991ED03D8F5}"/>
                    </a:ext>
                  </a:extLst>
                </p:cNvPr>
                <p:cNvSpPr txBox="1"/>
                <p:nvPr/>
              </p:nvSpPr>
              <p:spPr>
                <a:xfrm rot="20527266">
                  <a:off x="1726983" y="3882381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23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6" name="CaixaDeTexto 15">
                  <a:extLst>
                    <a:ext uri="{FF2B5EF4-FFF2-40B4-BE49-F238E27FC236}">
                      <a16:creationId xmlns:a16="http://schemas.microsoft.com/office/drawing/2014/main" id="{749E4E98-E534-43B1-6499-0991ED03D8F5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527266">
                  <a:off x="1726983" y="3882381"/>
                  <a:ext cx="500957" cy="276999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xmlns="" id="{698A5C7D-F119-FC50-3AD6-ECEE5554AC17}"/>
                    </a:ext>
                  </a:extLst>
                </p:cNvPr>
                <p:cNvSpPr txBox="1"/>
                <p:nvPr/>
              </p:nvSpPr>
              <p:spPr>
                <a:xfrm rot="2498902">
                  <a:off x="1581204" y="4610116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25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7" name="CaixaDeTexto 16">
                  <a:extLst>
                    <a:ext uri="{FF2B5EF4-FFF2-40B4-BE49-F238E27FC236}">
                      <a16:creationId xmlns:a16="http://schemas.microsoft.com/office/drawing/2014/main" id="{698A5C7D-F119-FC50-3AD6-ECEE5554AC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498902">
                  <a:off x="1581204" y="4610116"/>
                  <a:ext cx="500957" cy="276999"/>
                </a:xfrm>
                <a:prstGeom prst="rect">
                  <a:avLst/>
                </a:prstGeom>
                <a:blipFill>
                  <a:blip r:embed="rId7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xmlns="" id="{88FA8706-04E7-6ECD-11D9-A7D887EE5C7E}"/>
                    </a:ext>
                  </a:extLst>
                </p:cNvPr>
                <p:cNvSpPr txBox="1"/>
                <p:nvPr/>
              </p:nvSpPr>
              <p:spPr>
                <a:xfrm rot="2951188">
                  <a:off x="1792314" y="4346246"/>
                  <a:ext cx="352699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15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18" name="CaixaDeTexto 17">
                  <a:extLst>
                    <a:ext uri="{FF2B5EF4-FFF2-40B4-BE49-F238E27FC236}">
                      <a16:creationId xmlns:a16="http://schemas.microsoft.com/office/drawing/2014/main" id="{88FA8706-04E7-6ECD-11D9-A7D887EE5C7E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951188">
                  <a:off x="1792314" y="4346246"/>
                  <a:ext cx="352699" cy="276999"/>
                </a:xfrm>
                <a:prstGeom prst="rect">
                  <a:avLst/>
                </a:prstGeom>
                <a:blipFill>
                  <a:blip r:embed="rId8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xmlns="" id="{4FC323A1-6F35-EE65-75A2-C27606255271}"/>
                    </a:ext>
                  </a:extLst>
                </p:cNvPr>
                <p:cNvSpPr txBox="1"/>
                <p:nvPr/>
              </p:nvSpPr>
              <p:spPr>
                <a:xfrm>
                  <a:off x="4033703" y="3708658"/>
                  <a:ext cx="244762" cy="369332"/>
                </a:xfrm>
                <a:prstGeom prst="rect">
                  <a:avLst/>
                </a:prstGeom>
                <a:solidFill>
                  <a:schemeClr val="bg1"/>
                </a:solidFill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acc>
                          <m:accPr>
                            <m:chr m:val="̂"/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</m:acc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9" name="CaixaDeTexto 18">
                  <a:extLst>
                    <a:ext uri="{FF2B5EF4-FFF2-40B4-BE49-F238E27FC236}">
                      <a16:creationId xmlns:a16="http://schemas.microsoft.com/office/drawing/2014/main" id="{4FC323A1-6F35-EE65-75A2-C2760625527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033703" y="3708658"/>
                  <a:ext cx="244762" cy="369332"/>
                </a:xfrm>
                <a:prstGeom prst="rect">
                  <a:avLst/>
                </a:prstGeom>
                <a:blipFill>
                  <a:blip r:embed="rId9"/>
                  <a:stretch>
                    <a:fillRect t="-6557" r="-25000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xmlns="" id="{E134FC37-38FD-F685-679D-8877138291EC}"/>
                    </a:ext>
                  </a:extLst>
                </p:cNvPr>
                <p:cNvSpPr txBox="1"/>
                <p:nvPr/>
              </p:nvSpPr>
              <p:spPr>
                <a:xfrm rot="3125581">
                  <a:off x="2729928" y="3008720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11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1" name="CaixaDeTexto 20">
                  <a:extLst>
                    <a:ext uri="{FF2B5EF4-FFF2-40B4-BE49-F238E27FC236}">
                      <a16:creationId xmlns:a16="http://schemas.microsoft.com/office/drawing/2014/main" id="{E134FC37-38FD-F685-679D-8877138291E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3125581">
                  <a:off x="2729928" y="3008720"/>
                  <a:ext cx="500957" cy="276999"/>
                </a:xfrm>
                <a:prstGeom prst="rect">
                  <a:avLst/>
                </a:prstGeom>
                <a:blipFill>
                  <a:blip r:embed="rId10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xmlns="" id="{25831FEA-73AB-802B-C976-A82E89E3C123}"/>
                    </a:ext>
                  </a:extLst>
                </p:cNvPr>
                <p:cNvSpPr txBox="1"/>
                <p:nvPr/>
              </p:nvSpPr>
              <p:spPr>
                <a:xfrm rot="2033426">
                  <a:off x="2538745" y="3244405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21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2" name="CaixaDeTexto 21">
                  <a:extLst>
                    <a:ext uri="{FF2B5EF4-FFF2-40B4-BE49-F238E27FC236}">
                      <a16:creationId xmlns:a16="http://schemas.microsoft.com/office/drawing/2014/main" id="{25831FEA-73AB-802B-C976-A82E89E3C123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2033426">
                  <a:off x="2538745" y="3244405"/>
                  <a:ext cx="500957" cy="276999"/>
                </a:xfrm>
                <a:prstGeom prst="rect">
                  <a:avLst/>
                </a:prstGeom>
                <a:blipFill>
                  <a:blip r:embed="rId11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xmlns="" id="{ED47A2B9-25F4-1567-BDE0-CE84BAA1517F}"/>
                    </a:ext>
                  </a:extLst>
                </p:cNvPr>
                <p:cNvSpPr txBox="1"/>
                <p:nvPr/>
              </p:nvSpPr>
              <p:spPr>
                <a:xfrm>
                  <a:off x="2534452" y="3637543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31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3" name="CaixaDeTexto 22">
                  <a:extLst>
                    <a:ext uri="{FF2B5EF4-FFF2-40B4-BE49-F238E27FC236}">
                      <a16:creationId xmlns:a16="http://schemas.microsoft.com/office/drawing/2014/main" id="{ED47A2B9-25F4-1567-BDE0-CE84BAA1517F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34452" y="3637543"/>
                  <a:ext cx="500957" cy="276999"/>
                </a:xfrm>
                <a:prstGeom prst="rect">
                  <a:avLst/>
                </a:prstGeom>
                <a:blipFill>
                  <a:blip r:embed="rId12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xmlns="" id="{5DF83590-46F1-60DD-3E5E-B3C4FA86BC28}"/>
                    </a:ext>
                  </a:extLst>
                </p:cNvPr>
                <p:cNvSpPr txBox="1"/>
                <p:nvPr/>
              </p:nvSpPr>
              <p:spPr>
                <a:xfrm rot="19642320">
                  <a:off x="2499303" y="4008321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41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4" name="CaixaDeTexto 23">
                  <a:extLst>
                    <a:ext uri="{FF2B5EF4-FFF2-40B4-BE49-F238E27FC236}">
                      <a16:creationId xmlns:a16="http://schemas.microsoft.com/office/drawing/2014/main" id="{5DF83590-46F1-60DD-3E5E-B3C4FA86BC2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9642320">
                  <a:off x="2499303" y="4008321"/>
                  <a:ext cx="500957" cy="276999"/>
                </a:xfrm>
                <a:prstGeom prst="rect">
                  <a:avLst/>
                </a:prstGeom>
                <a:blipFill>
                  <a:blip r:embed="rId1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xmlns="" id="{9426BC8E-7306-617D-6E33-F659B0E1B06D}"/>
                    </a:ext>
                  </a:extLst>
                </p:cNvPr>
                <p:cNvSpPr txBox="1"/>
                <p:nvPr/>
              </p:nvSpPr>
              <p:spPr>
                <a:xfrm rot="18527191">
                  <a:off x="2499303" y="4392413"/>
                  <a:ext cx="500957" cy="27699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sz="120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e>
                          <m:sub>
                            <m:r>
                              <a:rPr lang="pt-BR" sz="1200" b="0" i="1" smtClean="0">
                                <a:latin typeface="Cambria Math" panose="02040503050406030204" pitchFamily="18" charset="0"/>
                              </a:rPr>
                              <m:t>51</m:t>
                            </m:r>
                          </m:sub>
                        </m:sSub>
                      </m:oMath>
                    </m:oMathPara>
                  </a14:m>
                  <a:endParaRPr lang="pt-BR" sz="1200" dirty="0"/>
                </a:p>
              </p:txBody>
            </p:sp>
          </mc:Choice>
          <mc:Fallback xmlns="">
            <p:sp>
              <p:nvSpPr>
                <p:cNvPr id="25" name="CaixaDeTexto 24">
                  <a:extLst>
                    <a:ext uri="{FF2B5EF4-FFF2-40B4-BE49-F238E27FC236}">
                      <a16:creationId xmlns:a16="http://schemas.microsoft.com/office/drawing/2014/main" id="{9426BC8E-7306-617D-6E33-F659B0E1B06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 rot="18527191">
                  <a:off x="2499303" y="4392413"/>
                  <a:ext cx="500957" cy="276999"/>
                </a:xfrm>
                <a:prstGeom prst="rect">
                  <a:avLst/>
                </a:prstGeom>
                <a:blipFill>
                  <a:blip r:embed="rId14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106" name="Agrupar 105">
            <a:extLst>
              <a:ext uri="{FF2B5EF4-FFF2-40B4-BE49-F238E27FC236}">
                <a16:creationId xmlns:a16="http://schemas.microsoft.com/office/drawing/2014/main" xmlns="" id="{00E5DEFA-4749-3000-5EE3-3CE1DB95952B}"/>
              </a:ext>
            </a:extLst>
          </p:cNvPr>
          <p:cNvGrpSpPr/>
          <p:nvPr/>
        </p:nvGrpSpPr>
        <p:grpSpPr>
          <a:xfrm>
            <a:off x="6493051" y="2516477"/>
            <a:ext cx="3613883" cy="2721428"/>
            <a:chOff x="6493051" y="2516477"/>
            <a:chExt cx="3613883" cy="2721428"/>
          </a:xfrm>
        </p:grpSpPr>
        <p:grpSp>
          <p:nvGrpSpPr>
            <p:cNvPr id="61" name="Agrupar 60">
              <a:extLst>
                <a:ext uri="{FF2B5EF4-FFF2-40B4-BE49-F238E27FC236}">
                  <a16:creationId xmlns:a16="http://schemas.microsoft.com/office/drawing/2014/main" xmlns="" id="{46FA90D2-6D21-74D3-DA17-F66928C524FB}"/>
                </a:ext>
              </a:extLst>
            </p:cNvPr>
            <p:cNvGrpSpPr/>
            <p:nvPr/>
          </p:nvGrpSpPr>
          <p:grpSpPr>
            <a:xfrm>
              <a:off x="6834866" y="2516477"/>
              <a:ext cx="3026226" cy="2721428"/>
              <a:chOff x="598713" y="2645229"/>
              <a:chExt cx="3026226" cy="2721428"/>
            </a:xfrm>
          </p:grpSpPr>
          <p:sp>
            <p:nvSpPr>
              <p:cNvPr id="62" name="Elipse 61">
                <a:extLst>
                  <a:ext uri="{FF2B5EF4-FFF2-40B4-BE49-F238E27FC236}">
                    <a16:creationId xmlns:a16="http://schemas.microsoft.com/office/drawing/2014/main" xmlns="" id="{E83514E8-28D5-559E-49FD-6BFE4720F622}"/>
                  </a:ext>
                </a:extLst>
              </p:cNvPr>
              <p:cNvSpPr/>
              <p:nvPr/>
            </p:nvSpPr>
            <p:spPr>
              <a:xfrm>
                <a:off x="1828800" y="2645229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3" name="Elipse 62">
                <a:extLst>
                  <a:ext uri="{FF2B5EF4-FFF2-40B4-BE49-F238E27FC236}">
                    <a16:creationId xmlns:a16="http://schemas.microsoft.com/office/drawing/2014/main" xmlns="" id="{0A3C2BDF-C144-FB6F-A111-BC3DE2165DC0}"/>
                  </a:ext>
                </a:extLst>
              </p:cNvPr>
              <p:cNvSpPr/>
              <p:nvPr/>
            </p:nvSpPr>
            <p:spPr>
              <a:xfrm>
                <a:off x="1828799" y="3363686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4" name="Elipse 63">
                <a:extLst>
                  <a:ext uri="{FF2B5EF4-FFF2-40B4-BE49-F238E27FC236}">
                    <a16:creationId xmlns:a16="http://schemas.microsoft.com/office/drawing/2014/main" xmlns="" id="{602BB5A4-93ED-67E9-8B69-A659AF7AF2CB}"/>
                  </a:ext>
                </a:extLst>
              </p:cNvPr>
              <p:cNvSpPr/>
              <p:nvPr/>
            </p:nvSpPr>
            <p:spPr>
              <a:xfrm>
                <a:off x="1828799" y="4082143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5" name="Elipse 64">
                <a:extLst>
                  <a:ext uri="{FF2B5EF4-FFF2-40B4-BE49-F238E27FC236}">
                    <a16:creationId xmlns:a16="http://schemas.microsoft.com/office/drawing/2014/main" xmlns="" id="{307E5A11-8975-543A-2B0B-62CBC72929FD}"/>
                  </a:ext>
                </a:extLst>
              </p:cNvPr>
              <p:cNvSpPr/>
              <p:nvPr/>
            </p:nvSpPr>
            <p:spPr>
              <a:xfrm>
                <a:off x="1828799" y="4800600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6" name="Elipse 65">
                <a:extLst>
                  <a:ext uri="{FF2B5EF4-FFF2-40B4-BE49-F238E27FC236}">
                    <a16:creationId xmlns:a16="http://schemas.microsoft.com/office/drawing/2014/main" xmlns="" id="{C74387BF-F51B-A4AD-737C-573BDD5E39E8}"/>
                  </a:ext>
                </a:extLst>
              </p:cNvPr>
              <p:cNvSpPr/>
              <p:nvPr/>
            </p:nvSpPr>
            <p:spPr>
              <a:xfrm>
                <a:off x="2786742" y="3363685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7" name="Elipse 66">
                <a:extLst>
                  <a:ext uri="{FF2B5EF4-FFF2-40B4-BE49-F238E27FC236}">
                    <a16:creationId xmlns:a16="http://schemas.microsoft.com/office/drawing/2014/main" xmlns="" id="{12D26ADB-BDC0-4CB4-D634-D17FC45EA5AF}"/>
                  </a:ext>
                </a:extLst>
              </p:cNvPr>
              <p:cNvSpPr/>
              <p:nvPr/>
            </p:nvSpPr>
            <p:spPr>
              <a:xfrm>
                <a:off x="2786741" y="4082142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8" name="Elipse 67">
                <a:extLst>
                  <a:ext uri="{FF2B5EF4-FFF2-40B4-BE49-F238E27FC236}">
                    <a16:creationId xmlns:a16="http://schemas.microsoft.com/office/drawing/2014/main" xmlns="" id="{D56F69FA-C31D-22B5-FCDF-901E58D20CD2}"/>
                  </a:ext>
                </a:extLst>
              </p:cNvPr>
              <p:cNvSpPr/>
              <p:nvPr/>
            </p:nvSpPr>
            <p:spPr>
              <a:xfrm>
                <a:off x="870856" y="2962615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69" name="Elipse 68">
                <a:extLst>
                  <a:ext uri="{FF2B5EF4-FFF2-40B4-BE49-F238E27FC236}">
                    <a16:creationId xmlns:a16="http://schemas.microsoft.com/office/drawing/2014/main" xmlns="" id="{D2274404-02C8-02AE-2B1F-190B6892877D}"/>
                  </a:ext>
                </a:extLst>
              </p:cNvPr>
              <p:cNvSpPr/>
              <p:nvPr/>
            </p:nvSpPr>
            <p:spPr>
              <a:xfrm>
                <a:off x="870856" y="3718265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70" name="Elipse 69">
                <a:extLst>
                  <a:ext uri="{FF2B5EF4-FFF2-40B4-BE49-F238E27FC236}">
                    <a16:creationId xmlns:a16="http://schemas.microsoft.com/office/drawing/2014/main" xmlns="" id="{5D11A12E-596E-2C65-8299-A24E06997B3B}"/>
                  </a:ext>
                </a:extLst>
              </p:cNvPr>
              <p:cNvSpPr/>
              <p:nvPr/>
            </p:nvSpPr>
            <p:spPr>
              <a:xfrm>
                <a:off x="870856" y="4473915"/>
                <a:ext cx="566057" cy="566057"/>
              </a:xfrm>
              <a:prstGeom prst="ellipse">
                <a:avLst/>
              </a:prstGeom>
              <a:solidFill>
                <a:schemeClr val="bg1">
                  <a:lumMod val="85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71" name="Conector de Seta Reta 70">
                <a:extLst>
                  <a:ext uri="{FF2B5EF4-FFF2-40B4-BE49-F238E27FC236}">
                    <a16:creationId xmlns:a16="http://schemas.microsoft.com/office/drawing/2014/main" xmlns="" id="{6728FEB4-BDEA-DD3E-A6CF-7C18ED3BEAD6}"/>
                  </a:ext>
                </a:extLst>
              </p:cNvPr>
              <p:cNvCxnSpPr>
                <a:stCxn id="68" idx="6"/>
                <a:endCxn id="62" idx="2"/>
              </p:cNvCxnSpPr>
              <p:nvPr/>
            </p:nvCxnSpPr>
            <p:spPr>
              <a:xfrm flipV="1">
                <a:off x="1436913" y="2928258"/>
                <a:ext cx="391887" cy="3173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Conector de Seta Reta 71">
                <a:extLst>
                  <a:ext uri="{FF2B5EF4-FFF2-40B4-BE49-F238E27FC236}">
                    <a16:creationId xmlns:a16="http://schemas.microsoft.com/office/drawing/2014/main" xmlns="" id="{8D954E14-5FDB-ECA3-02A4-1BBD14829CB7}"/>
                  </a:ext>
                </a:extLst>
              </p:cNvPr>
              <p:cNvCxnSpPr>
                <a:stCxn id="68" idx="6"/>
                <a:endCxn id="63" idx="2"/>
              </p:cNvCxnSpPr>
              <p:nvPr/>
            </p:nvCxnSpPr>
            <p:spPr>
              <a:xfrm>
                <a:off x="1436913" y="3245644"/>
                <a:ext cx="391886" cy="40107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Conector de Seta Reta 72">
                <a:extLst>
                  <a:ext uri="{FF2B5EF4-FFF2-40B4-BE49-F238E27FC236}">
                    <a16:creationId xmlns:a16="http://schemas.microsoft.com/office/drawing/2014/main" xmlns="" id="{5F1B697B-01C8-85B9-9CBD-6E8664989F9C}"/>
                  </a:ext>
                </a:extLst>
              </p:cNvPr>
              <p:cNvCxnSpPr>
                <a:stCxn id="68" idx="6"/>
                <a:endCxn id="64" idx="2"/>
              </p:cNvCxnSpPr>
              <p:nvPr/>
            </p:nvCxnSpPr>
            <p:spPr>
              <a:xfrm>
                <a:off x="1436913" y="3245644"/>
                <a:ext cx="391886" cy="111952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Conector de Seta Reta 73">
                <a:extLst>
                  <a:ext uri="{FF2B5EF4-FFF2-40B4-BE49-F238E27FC236}">
                    <a16:creationId xmlns:a16="http://schemas.microsoft.com/office/drawing/2014/main" xmlns="" id="{3826036C-02C4-E2A3-C704-F69F3C660AE8}"/>
                  </a:ext>
                </a:extLst>
              </p:cNvPr>
              <p:cNvCxnSpPr>
                <a:stCxn id="68" idx="6"/>
                <a:endCxn id="65" idx="2"/>
              </p:cNvCxnSpPr>
              <p:nvPr/>
            </p:nvCxnSpPr>
            <p:spPr>
              <a:xfrm>
                <a:off x="1436913" y="3245644"/>
                <a:ext cx="391886" cy="18379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Conector de Seta Reta 74">
                <a:extLst>
                  <a:ext uri="{FF2B5EF4-FFF2-40B4-BE49-F238E27FC236}">
                    <a16:creationId xmlns:a16="http://schemas.microsoft.com/office/drawing/2014/main" xmlns="" id="{A9AFDA15-D4FC-F03F-9DD8-25D988505A4E}"/>
                  </a:ext>
                </a:extLst>
              </p:cNvPr>
              <p:cNvCxnSpPr>
                <a:stCxn id="69" idx="6"/>
                <a:endCxn id="62" idx="2"/>
              </p:cNvCxnSpPr>
              <p:nvPr/>
            </p:nvCxnSpPr>
            <p:spPr>
              <a:xfrm flipV="1">
                <a:off x="1436913" y="2928258"/>
                <a:ext cx="391887" cy="107303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Conector de Seta Reta 75">
                <a:extLst>
                  <a:ext uri="{FF2B5EF4-FFF2-40B4-BE49-F238E27FC236}">
                    <a16:creationId xmlns:a16="http://schemas.microsoft.com/office/drawing/2014/main" xmlns="" id="{475188C5-4893-F19B-3981-01A8883F8AC9}"/>
                  </a:ext>
                </a:extLst>
              </p:cNvPr>
              <p:cNvCxnSpPr>
                <a:stCxn id="70" idx="6"/>
                <a:endCxn id="63" idx="2"/>
              </p:cNvCxnSpPr>
              <p:nvPr/>
            </p:nvCxnSpPr>
            <p:spPr>
              <a:xfrm flipV="1">
                <a:off x="1436913" y="3646715"/>
                <a:ext cx="391886" cy="111022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Conector de Seta Reta 76">
                <a:extLst>
                  <a:ext uri="{FF2B5EF4-FFF2-40B4-BE49-F238E27FC236}">
                    <a16:creationId xmlns:a16="http://schemas.microsoft.com/office/drawing/2014/main" xmlns="" id="{7D0C433A-7570-F63B-1B5D-BAC08FC3BD44}"/>
                  </a:ext>
                </a:extLst>
              </p:cNvPr>
              <p:cNvCxnSpPr>
                <a:stCxn id="69" idx="6"/>
                <a:endCxn id="63" idx="2"/>
              </p:cNvCxnSpPr>
              <p:nvPr/>
            </p:nvCxnSpPr>
            <p:spPr>
              <a:xfrm flipV="1">
                <a:off x="1436913" y="3646715"/>
                <a:ext cx="391886" cy="354579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Conector de Seta Reta 77">
                <a:extLst>
                  <a:ext uri="{FF2B5EF4-FFF2-40B4-BE49-F238E27FC236}">
                    <a16:creationId xmlns:a16="http://schemas.microsoft.com/office/drawing/2014/main" xmlns="" id="{82AB98DC-AD80-A4BC-4146-DEA1D0633C04}"/>
                  </a:ext>
                </a:extLst>
              </p:cNvPr>
              <p:cNvCxnSpPr>
                <a:stCxn id="69" idx="6"/>
                <a:endCxn id="64" idx="2"/>
              </p:cNvCxnSpPr>
              <p:nvPr/>
            </p:nvCxnSpPr>
            <p:spPr>
              <a:xfrm>
                <a:off x="1436913" y="4001294"/>
                <a:ext cx="391886" cy="36387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Conector de Seta Reta 78">
                <a:extLst>
                  <a:ext uri="{FF2B5EF4-FFF2-40B4-BE49-F238E27FC236}">
                    <a16:creationId xmlns:a16="http://schemas.microsoft.com/office/drawing/2014/main" xmlns="" id="{14B7F1F4-22BA-A738-FBC6-C7F80402160B}"/>
                  </a:ext>
                </a:extLst>
              </p:cNvPr>
              <p:cNvCxnSpPr>
                <a:stCxn id="69" idx="6"/>
                <a:endCxn id="65" idx="2"/>
              </p:cNvCxnSpPr>
              <p:nvPr/>
            </p:nvCxnSpPr>
            <p:spPr>
              <a:xfrm>
                <a:off x="1436913" y="4001294"/>
                <a:ext cx="391886" cy="108233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0" name="Conector de Seta Reta 79">
                <a:extLst>
                  <a:ext uri="{FF2B5EF4-FFF2-40B4-BE49-F238E27FC236}">
                    <a16:creationId xmlns:a16="http://schemas.microsoft.com/office/drawing/2014/main" xmlns="" id="{3CD6E44D-5639-3D45-1F58-D533CB9615D8}"/>
                  </a:ext>
                </a:extLst>
              </p:cNvPr>
              <p:cNvCxnSpPr>
                <a:stCxn id="70" idx="6"/>
                <a:endCxn id="62" idx="2"/>
              </p:cNvCxnSpPr>
              <p:nvPr/>
            </p:nvCxnSpPr>
            <p:spPr>
              <a:xfrm flipV="1">
                <a:off x="1436913" y="2928258"/>
                <a:ext cx="391887" cy="182868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1" name="Conector de Seta Reta 80">
                <a:extLst>
                  <a:ext uri="{FF2B5EF4-FFF2-40B4-BE49-F238E27FC236}">
                    <a16:creationId xmlns:a16="http://schemas.microsoft.com/office/drawing/2014/main" xmlns="" id="{3BC04C90-AAF0-A0AD-B6CB-9CBF45786DBB}"/>
                  </a:ext>
                </a:extLst>
              </p:cNvPr>
              <p:cNvCxnSpPr>
                <a:stCxn id="70" idx="6"/>
                <a:endCxn id="64" idx="2"/>
              </p:cNvCxnSpPr>
              <p:nvPr/>
            </p:nvCxnSpPr>
            <p:spPr>
              <a:xfrm flipV="1">
                <a:off x="1436913" y="4365172"/>
                <a:ext cx="391886" cy="391772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Conector de Seta Reta 81">
                <a:extLst>
                  <a:ext uri="{FF2B5EF4-FFF2-40B4-BE49-F238E27FC236}">
                    <a16:creationId xmlns:a16="http://schemas.microsoft.com/office/drawing/2014/main" xmlns="" id="{81CC28DF-53A3-FCA6-6653-D6454622485F}"/>
                  </a:ext>
                </a:extLst>
              </p:cNvPr>
              <p:cNvCxnSpPr>
                <a:stCxn id="70" idx="6"/>
                <a:endCxn id="65" idx="2"/>
              </p:cNvCxnSpPr>
              <p:nvPr/>
            </p:nvCxnSpPr>
            <p:spPr>
              <a:xfrm>
                <a:off x="1436913" y="4756944"/>
                <a:ext cx="391886" cy="32668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Conector de Seta Reta 82">
                <a:extLst>
                  <a:ext uri="{FF2B5EF4-FFF2-40B4-BE49-F238E27FC236}">
                    <a16:creationId xmlns:a16="http://schemas.microsoft.com/office/drawing/2014/main" xmlns="" id="{90658C18-0972-10C1-F707-3B2BE3B6A542}"/>
                  </a:ext>
                </a:extLst>
              </p:cNvPr>
              <p:cNvCxnSpPr>
                <a:stCxn id="62" idx="6"/>
                <a:endCxn id="66" idx="2"/>
              </p:cNvCxnSpPr>
              <p:nvPr/>
            </p:nvCxnSpPr>
            <p:spPr>
              <a:xfrm>
                <a:off x="2394857" y="2928258"/>
                <a:ext cx="391885" cy="7184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Conector de Seta Reta 83">
                <a:extLst>
                  <a:ext uri="{FF2B5EF4-FFF2-40B4-BE49-F238E27FC236}">
                    <a16:creationId xmlns:a16="http://schemas.microsoft.com/office/drawing/2014/main" xmlns="" id="{2F67A750-8C0F-8284-AF05-3B5EF1D84548}"/>
                  </a:ext>
                </a:extLst>
              </p:cNvPr>
              <p:cNvCxnSpPr>
                <a:stCxn id="63" idx="6"/>
                <a:endCxn id="67" idx="2"/>
              </p:cNvCxnSpPr>
              <p:nvPr/>
            </p:nvCxnSpPr>
            <p:spPr>
              <a:xfrm>
                <a:off x="2394856" y="3646715"/>
                <a:ext cx="391885" cy="718456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Conector de Seta Reta 84">
                <a:extLst>
                  <a:ext uri="{FF2B5EF4-FFF2-40B4-BE49-F238E27FC236}">
                    <a16:creationId xmlns:a16="http://schemas.microsoft.com/office/drawing/2014/main" xmlns="" id="{ADB882A9-59F2-2DB0-52A7-A36310BBD71D}"/>
                  </a:ext>
                </a:extLst>
              </p:cNvPr>
              <p:cNvCxnSpPr>
                <a:stCxn id="64" idx="6"/>
                <a:endCxn id="67" idx="2"/>
              </p:cNvCxnSpPr>
              <p:nvPr/>
            </p:nvCxnSpPr>
            <p:spPr>
              <a:xfrm flipV="1">
                <a:off x="2394856" y="4365171"/>
                <a:ext cx="391885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Conector de Seta Reta 85">
                <a:extLst>
                  <a:ext uri="{FF2B5EF4-FFF2-40B4-BE49-F238E27FC236}">
                    <a16:creationId xmlns:a16="http://schemas.microsoft.com/office/drawing/2014/main" xmlns="" id="{4C8FB207-893F-80AA-89E0-B4910B87C984}"/>
                  </a:ext>
                </a:extLst>
              </p:cNvPr>
              <p:cNvCxnSpPr>
                <a:stCxn id="65" idx="6"/>
                <a:endCxn id="67" idx="2"/>
              </p:cNvCxnSpPr>
              <p:nvPr/>
            </p:nvCxnSpPr>
            <p:spPr>
              <a:xfrm flipV="1">
                <a:off x="2394856" y="4365171"/>
                <a:ext cx="391885" cy="7184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Conector de Seta Reta 86">
                <a:extLst>
                  <a:ext uri="{FF2B5EF4-FFF2-40B4-BE49-F238E27FC236}">
                    <a16:creationId xmlns:a16="http://schemas.microsoft.com/office/drawing/2014/main" xmlns="" id="{C1209D82-47A6-1CEE-5039-808DE6B29B10}"/>
                  </a:ext>
                </a:extLst>
              </p:cNvPr>
              <p:cNvCxnSpPr>
                <a:cxnSpLocks/>
                <a:stCxn id="62" idx="6"/>
                <a:endCxn id="67" idx="2"/>
              </p:cNvCxnSpPr>
              <p:nvPr/>
            </p:nvCxnSpPr>
            <p:spPr>
              <a:xfrm>
                <a:off x="2394857" y="2928258"/>
                <a:ext cx="391884" cy="1436913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8" name="Conector de Seta Reta 87">
                <a:extLst>
                  <a:ext uri="{FF2B5EF4-FFF2-40B4-BE49-F238E27FC236}">
                    <a16:creationId xmlns:a16="http://schemas.microsoft.com/office/drawing/2014/main" xmlns="" id="{8F14F364-F6AF-5ADC-3B7E-BB380AC91313}"/>
                  </a:ext>
                </a:extLst>
              </p:cNvPr>
              <p:cNvCxnSpPr>
                <a:stCxn id="63" idx="6"/>
                <a:endCxn id="66" idx="2"/>
              </p:cNvCxnSpPr>
              <p:nvPr/>
            </p:nvCxnSpPr>
            <p:spPr>
              <a:xfrm flipV="1">
                <a:off x="2394856" y="3646714"/>
                <a:ext cx="391886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9" name="Conector de Seta Reta 88">
                <a:extLst>
                  <a:ext uri="{FF2B5EF4-FFF2-40B4-BE49-F238E27FC236}">
                    <a16:creationId xmlns:a16="http://schemas.microsoft.com/office/drawing/2014/main" xmlns="" id="{91C5A847-2765-F488-6C96-DA34EB264661}"/>
                  </a:ext>
                </a:extLst>
              </p:cNvPr>
              <p:cNvCxnSpPr>
                <a:stCxn id="64" idx="6"/>
                <a:endCxn id="66" idx="2"/>
              </p:cNvCxnSpPr>
              <p:nvPr/>
            </p:nvCxnSpPr>
            <p:spPr>
              <a:xfrm flipV="1">
                <a:off x="2394856" y="3646714"/>
                <a:ext cx="391886" cy="718458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Conector de Seta Reta 89">
                <a:extLst>
                  <a:ext uri="{FF2B5EF4-FFF2-40B4-BE49-F238E27FC236}">
                    <a16:creationId xmlns:a16="http://schemas.microsoft.com/office/drawing/2014/main" xmlns="" id="{7B24034E-17A1-1279-943A-5CF323732B3B}"/>
                  </a:ext>
                </a:extLst>
              </p:cNvPr>
              <p:cNvCxnSpPr>
                <a:stCxn id="65" idx="6"/>
                <a:endCxn id="66" idx="2"/>
              </p:cNvCxnSpPr>
              <p:nvPr/>
            </p:nvCxnSpPr>
            <p:spPr>
              <a:xfrm flipV="1">
                <a:off x="2394856" y="3646714"/>
                <a:ext cx="391886" cy="1436915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3" name="Conector de Seta Reta 92">
                <a:extLst>
                  <a:ext uri="{FF2B5EF4-FFF2-40B4-BE49-F238E27FC236}">
                    <a16:creationId xmlns:a16="http://schemas.microsoft.com/office/drawing/2014/main" xmlns="" id="{EE467958-5C63-895F-C98E-1BE483BADCA7}"/>
                  </a:ext>
                </a:extLst>
              </p:cNvPr>
              <p:cNvCxnSpPr>
                <a:endCxn id="68" idx="2"/>
              </p:cNvCxnSpPr>
              <p:nvPr/>
            </p:nvCxnSpPr>
            <p:spPr>
              <a:xfrm>
                <a:off x="598714" y="3245643"/>
                <a:ext cx="27214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4" name="Conector de Seta Reta 93">
                <a:extLst>
                  <a:ext uri="{FF2B5EF4-FFF2-40B4-BE49-F238E27FC236}">
                    <a16:creationId xmlns:a16="http://schemas.microsoft.com/office/drawing/2014/main" xmlns="" id="{6B8EDC46-42CD-62ED-51ED-1EA26B2196CF}"/>
                  </a:ext>
                </a:extLst>
              </p:cNvPr>
              <p:cNvCxnSpPr>
                <a:endCxn id="69" idx="2"/>
              </p:cNvCxnSpPr>
              <p:nvPr/>
            </p:nvCxnSpPr>
            <p:spPr>
              <a:xfrm>
                <a:off x="598714" y="3245643"/>
                <a:ext cx="272142" cy="75565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5" name="Conector de Seta Reta 94">
                <a:extLst>
                  <a:ext uri="{FF2B5EF4-FFF2-40B4-BE49-F238E27FC236}">
                    <a16:creationId xmlns:a16="http://schemas.microsoft.com/office/drawing/2014/main" xmlns="" id="{D2E255D1-8E3C-3E75-CFCD-31FF246F48B8}"/>
                  </a:ext>
                </a:extLst>
              </p:cNvPr>
              <p:cNvCxnSpPr>
                <a:endCxn id="70" idx="2"/>
              </p:cNvCxnSpPr>
              <p:nvPr/>
            </p:nvCxnSpPr>
            <p:spPr>
              <a:xfrm>
                <a:off x="598714" y="3245643"/>
                <a:ext cx="272142" cy="151130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6" name="Conector de Seta Reta 95">
                <a:extLst>
                  <a:ext uri="{FF2B5EF4-FFF2-40B4-BE49-F238E27FC236}">
                    <a16:creationId xmlns:a16="http://schemas.microsoft.com/office/drawing/2014/main" xmlns="" id="{9049BADE-5A49-6D9A-BCB5-08707C5F7902}"/>
                  </a:ext>
                </a:extLst>
              </p:cNvPr>
              <p:cNvCxnSpPr/>
              <p:nvPr/>
            </p:nvCxnSpPr>
            <p:spPr>
              <a:xfrm>
                <a:off x="598714" y="4726100"/>
                <a:ext cx="27214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ector reto 96">
                <a:extLst>
                  <a:ext uri="{FF2B5EF4-FFF2-40B4-BE49-F238E27FC236}">
                    <a16:creationId xmlns:a16="http://schemas.microsoft.com/office/drawing/2014/main" xmlns="" id="{BEB40C67-7259-1E00-20F6-C0C7E8FA8F52}"/>
                  </a:ext>
                </a:extLst>
              </p:cNvPr>
              <p:cNvCxnSpPr>
                <a:cxnSpLocks/>
                <a:endCxn id="69" idx="2"/>
              </p:cNvCxnSpPr>
              <p:nvPr/>
            </p:nvCxnSpPr>
            <p:spPr>
              <a:xfrm flipV="1">
                <a:off x="598713" y="4001294"/>
                <a:ext cx="272143" cy="723106"/>
              </a:xfrm>
              <a:prstGeom prst="line">
                <a:avLst/>
              </a:prstGeom>
              <a:ln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ector de Seta Reta 97">
                <a:extLst>
                  <a:ext uri="{FF2B5EF4-FFF2-40B4-BE49-F238E27FC236}">
                    <a16:creationId xmlns:a16="http://schemas.microsoft.com/office/drawing/2014/main" xmlns="" id="{582767F4-1CAD-9905-4E1D-EA0667F1E2BD}"/>
                  </a:ext>
                </a:extLst>
              </p:cNvPr>
              <p:cNvCxnSpPr/>
              <p:nvPr/>
            </p:nvCxnSpPr>
            <p:spPr>
              <a:xfrm>
                <a:off x="3352797" y="3646712"/>
                <a:ext cx="27214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9" name="Conector de Seta Reta 98">
                <a:extLst>
                  <a:ext uri="{FF2B5EF4-FFF2-40B4-BE49-F238E27FC236}">
                    <a16:creationId xmlns:a16="http://schemas.microsoft.com/office/drawing/2014/main" xmlns="" id="{A120809A-F030-23D4-6485-413A5907DCD3}"/>
                  </a:ext>
                </a:extLst>
              </p:cNvPr>
              <p:cNvCxnSpPr/>
              <p:nvPr/>
            </p:nvCxnSpPr>
            <p:spPr>
              <a:xfrm>
                <a:off x="3352797" y="4362846"/>
                <a:ext cx="272142" cy="1"/>
              </a:xfrm>
              <a:prstGeom prst="straightConnector1">
                <a:avLst/>
              </a:prstGeom>
              <a:ln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xmlns="" id="{AD5E0809-3356-A3DD-6D00-6E07C31FC917}"/>
                    </a:ext>
                  </a:extLst>
                </p:cNvPr>
                <p:cNvSpPr txBox="1"/>
                <p:nvPr/>
              </p:nvSpPr>
              <p:spPr>
                <a:xfrm>
                  <a:off x="6494686" y="2878170"/>
                  <a:ext cx="2667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0" name="CaixaDeTexto 99">
                  <a:extLst>
                    <a:ext uri="{FF2B5EF4-FFF2-40B4-BE49-F238E27FC236}">
                      <a16:creationId xmlns:a16="http://schemas.microsoft.com/office/drawing/2014/main" id="{AD5E0809-3356-A3DD-6D00-6E07C31FC91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4686" y="2878170"/>
                  <a:ext cx="266702" cy="369332"/>
                </a:xfrm>
                <a:prstGeom prst="rect">
                  <a:avLst/>
                </a:prstGeom>
                <a:blipFill>
                  <a:blip r:embed="rId15"/>
                  <a:stretch>
                    <a:fillRect r="-36364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1" name="CaixaDeTexto 100">
                  <a:extLst>
                    <a:ext uri="{FF2B5EF4-FFF2-40B4-BE49-F238E27FC236}">
                      <a16:creationId xmlns:a16="http://schemas.microsoft.com/office/drawing/2014/main" xmlns="" id="{B2289AB8-ADC6-7DB7-968B-7315291FE5DC}"/>
                    </a:ext>
                  </a:extLst>
                </p:cNvPr>
                <p:cNvSpPr txBox="1"/>
                <p:nvPr/>
              </p:nvSpPr>
              <p:spPr>
                <a:xfrm>
                  <a:off x="6493051" y="4334781"/>
                  <a:ext cx="2667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1" name="CaixaDeTexto 100">
                  <a:extLst>
                    <a:ext uri="{FF2B5EF4-FFF2-40B4-BE49-F238E27FC236}">
                      <a16:creationId xmlns:a16="http://schemas.microsoft.com/office/drawing/2014/main" id="{B2289AB8-ADC6-7DB7-968B-7315291FE5DC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93051" y="4334781"/>
                  <a:ext cx="266702" cy="369332"/>
                </a:xfrm>
                <a:prstGeom prst="rect">
                  <a:avLst/>
                </a:prstGeom>
                <a:blipFill>
                  <a:blip r:embed="rId16"/>
                  <a:stretch>
                    <a:fillRect r="-38636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2" name="CaixaDeTexto 101">
                  <a:extLst>
                    <a:ext uri="{FF2B5EF4-FFF2-40B4-BE49-F238E27FC236}">
                      <a16:creationId xmlns:a16="http://schemas.microsoft.com/office/drawing/2014/main" xmlns="" id="{344A792F-E049-0E53-EE3D-F475D5B17512}"/>
                    </a:ext>
                  </a:extLst>
                </p:cNvPr>
                <p:cNvSpPr txBox="1"/>
                <p:nvPr/>
              </p:nvSpPr>
              <p:spPr>
                <a:xfrm>
                  <a:off x="9840232" y="3333294"/>
                  <a:ext cx="2667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2" name="CaixaDeTexto 101">
                  <a:extLst>
                    <a:ext uri="{FF2B5EF4-FFF2-40B4-BE49-F238E27FC236}">
                      <a16:creationId xmlns:a16="http://schemas.microsoft.com/office/drawing/2014/main" id="{344A792F-E049-0E53-EE3D-F475D5B1751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0232" y="3333294"/>
                  <a:ext cx="266702" cy="369332"/>
                </a:xfrm>
                <a:prstGeom prst="rect">
                  <a:avLst/>
                </a:prstGeom>
                <a:blipFill>
                  <a:blip r:embed="rId17"/>
                  <a:stretch>
                    <a:fillRect t="-6667" r="-36364" b="-666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3" name="CaixaDeTexto 102">
                  <a:extLst>
                    <a:ext uri="{FF2B5EF4-FFF2-40B4-BE49-F238E27FC236}">
                      <a16:creationId xmlns:a16="http://schemas.microsoft.com/office/drawing/2014/main" xmlns="" id="{FD2CBAC9-99A3-157F-1312-DB88A85742B4}"/>
                    </a:ext>
                  </a:extLst>
                </p:cNvPr>
                <p:cNvSpPr txBox="1"/>
                <p:nvPr/>
              </p:nvSpPr>
              <p:spPr>
                <a:xfrm>
                  <a:off x="9840232" y="4043787"/>
                  <a:ext cx="266702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acc>
                              <m:accPr>
                                <m:chr m:val="̂"/>
                                <m:ctrlPr>
                                  <a:rPr lang="pt-BR" i="1" smtClean="0">
                                    <a:latin typeface="Cambria Math" panose="02040503050406030204" pitchFamily="18" charset="0"/>
                                  </a:rPr>
                                </m:ctrlPr>
                              </m:accPr>
                              <m:e>
                                <m:r>
                                  <a:rPr lang="pt-BR" b="0" i="1" smtClean="0">
                                    <a:latin typeface="Cambria Math" panose="02040503050406030204" pitchFamily="18" charset="0"/>
                                  </a:rPr>
                                  <m:t>𝑦</m:t>
                                </m:r>
                              </m:e>
                            </m:acc>
                          </m:e>
                          <m:sub>
                            <m:r>
                              <a:rPr lang="pt-BR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lang="pt-BR" dirty="0"/>
                </a:p>
              </p:txBody>
            </p:sp>
          </mc:Choice>
          <mc:Fallback xmlns="">
            <p:sp>
              <p:nvSpPr>
                <p:cNvPr id="103" name="CaixaDeTexto 102">
                  <a:extLst>
                    <a:ext uri="{FF2B5EF4-FFF2-40B4-BE49-F238E27FC236}">
                      <a16:creationId xmlns:a16="http://schemas.microsoft.com/office/drawing/2014/main" id="{FD2CBAC9-99A3-157F-1312-DB88A85742B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40232" y="4043787"/>
                  <a:ext cx="266702" cy="369332"/>
                </a:xfrm>
                <a:prstGeom prst="rect">
                  <a:avLst/>
                </a:prstGeom>
                <a:blipFill>
                  <a:blip r:embed="rId18"/>
                  <a:stretch>
                    <a:fillRect t="-6557" r="-38636" b="-6557"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4" name="Elipse 103">
              <a:extLst>
                <a:ext uri="{FF2B5EF4-FFF2-40B4-BE49-F238E27FC236}">
                  <a16:creationId xmlns:a16="http://schemas.microsoft.com/office/drawing/2014/main" xmlns="" id="{92D367A2-BE39-951E-0428-D89C2E52E7A8}"/>
                </a:ext>
              </a:extLst>
            </p:cNvPr>
            <p:cNvSpPr/>
            <p:nvPr/>
          </p:nvSpPr>
          <p:spPr>
            <a:xfrm>
              <a:off x="6543447" y="2946450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05" name="Elipse 104">
              <a:extLst>
                <a:ext uri="{FF2B5EF4-FFF2-40B4-BE49-F238E27FC236}">
                  <a16:creationId xmlns:a16="http://schemas.microsoft.com/office/drawing/2014/main" xmlns="" id="{FBA11E4A-8876-5488-0071-96652745B611}"/>
                </a:ext>
              </a:extLst>
            </p:cNvPr>
            <p:cNvSpPr/>
            <p:nvPr/>
          </p:nvSpPr>
          <p:spPr>
            <a:xfrm>
              <a:off x="6554874" y="4408071"/>
              <a:ext cx="288000" cy="288000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</p:grpSp>
    </p:spTree>
    <p:extLst>
      <p:ext uri="{BB962C8B-B14F-4D97-AF65-F5344CB8AC3E}">
        <p14:creationId xmlns:p14="http://schemas.microsoft.com/office/powerpoint/2010/main" val="254994625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10053</TotalTime>
  <Words>3606</Words>
  <Application>Microsoft Office PowerPoint</Application>
  <PresentationFormat>Widescreen</PresentationFormat>
  <Paragraphs>414</Paragraphs>
  <Slides>37</Slides>
  <Notes>21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Arial</vt:lpstr>
      <vt:lpstr>Calibri</vt:lpstr>
      <vt:lpstr>Calibri Light</vt:lpstr>
      <vt:lpstr>Cambria Math</vt:lpstr>
      <vt:lpstr>Söhne</vt:lpstr>
      <vt:lpstr>Wingdings</vt:lpstr>
      <vt:lpstr>Tema do Office</vt:lpstr>
      <vt:lpstr>TP557 - Tópicos avançados em IoT e Machine Learning: Regressão com DNNs (Parte I)</vt:lpstr>
      <vt:lpstr>O que vamos ver?</vt:lpstr>
      <vt:lpstr>Conjunto de dados de treinamento</vt:lpstr>
      <vt:lpstr>O modelo</vt:lpstr>
      <vt:lpstr>O código da rede neural</vt:lpstr>
      <vt:lpstr>Definindo o conjunto de treinamento</vt:lpstr>
      <vt:lpstr>Definindo uma rede neural</vt:lpstr>
      <vt:lpstr>Relembrando alguns termos</vt:lpstr>
      <vt:lpstr>Relembrando alguns termos</vt:lpstr>
      <vt:lpstr>Relembrando alguns termos</vt:lpstr>
      <vt:lpstr>Relembrando alguns termos</vt:lpstr>
      <vt:lpstr>Definindo uma rede neural</vt:lpstr>
      <vt:lpstr>Definindo uma rede neural</vt:lpstr>
      <vt:lpstr>Definindo uma rede neural</vt:lpstr>
      <vt:lpstr>Definindo uma rede neural</vt:lpstr>
      <vt:lpstr>Definindo uma rede neural</vt:lpstr>
      <vt:lpstr>Nossa rede neural</vt:lpstr>
      <vt:lpstr>Nossa rede neural</vt:lpstr>
      <vt:lpstr>Compilando a rede neural</vt:lpstr>
      <vt:lpstr>Compilando a rede neural</vt:lpstr>
      <vt:lpstr>Treinando a rede neural</vt:lpstr>
      <vt:lpstr>Treinando a rede neural</vt:lpstr>
      <vt:lpstr>Treinando a rede neural</vt:lpstr>
      <vt:lpstr>Treinando a rede neural</vt:lpstr>
      <vt:lpstr>Treinando a rede neural</vt:lpstr>
      <vt:lpstr>Treinando a rede neural</vt:lpstr>
      <vt:lpstr>Realizando predições</vt:lpstr>
      <vt:lpstr>Realizando predições</vt:lpstr>
      <vt:lpstr>Exemplo</vt:lpstr>
      <vt:lpstr>Atividades</vt:lpstr>
      <vt:lpstr>Usando callbacks</vt:lpstr>
      <vt:lpstr>Usando callbacks</vt:lpstr>
      <vt:lpstr>Exemplo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TP555 - Inteligência Artificial e Machine Learning</dc:title>
  <dc:creator>Felipe Augusto Pereira de Figueiredo</dc:creator>
  <cp:lastModifiedBy>Felipe Augusto Pereira de Figueiredo</cp:lastModifiedBy>
  <cp:revision>1964</cp:revision>
  <dcterms:created xsi:type="dcterms:W3CDTF">2020-01-20T13:50:05Z</dcterms:created>
  <dcterms:modified xsi:type="dcterms:W3CDTF">2025-04-22T02:03:39Z</dcterms:modified>
</cp:coreProperties>
</file>