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handoutMasterIdLst>
    <p:handoutMasterId r:id="rId67"/>
  </p:handoutMasterIdLst>
  <p:sldIdLst>
    <p:sldId id="256" r:id="rId2"/>
    <p:sldId id="406" r:id="rId3"/>
    <p:sldId id="442" r:id="rId4"/>
    <p:sldId id="483" r:id="rId5"/>
    <p:sldId id="484" r:id="rId6"/>
    <p:sldId id="492" r:id="rId7"/>
    <p:sldId id="485" r:id="rId8"/>
    <p:sldId id="427" r:id="rId9"/>
    <p:sldId id="428" r:id="rId10"/>
    <p:sldId id="487" r:id="rId11"/>
    <p:sldId id="456" r:id="rId12"/>
    <p:sldId id="457" r:id="rId13"/>
    <p:sldId id="480" r:id="rId14"/>
    <p:sldId id="481" r:id="rId15"/>
    <p:sldId id="482" r:id="rId16"/>
    <p:sldId id="431" r:id="rId17"/>
    <p:sldId id="451" r:id="rId18"/>
    <p:sldId id="454" r:id="rId19"/>
    <p:sldId id="429" r:id="rId20"/>
    <p:sldId id="435" r:id="rId21"/>
    <p:sldId id="432" r:id="rId22"/>
    <p:sldId id="433" r:id="rId23"/>
    <p:sldId id="434" r:id="rId24"/>
    <p:sldId id="453" r:id="rId25"/>
    <p:sldId id="436" r:id="rId26"/>
    <p:sldId id="440" r:id="rId27"/>
    <p:sldId id="437" r:id="rId28"/>
    <p:sldId id="445" r:id="rId29"/>
    <p:sldId id="449" r:id="rId30"/>
    <p:sldId id="450" r:id="rId31"/>
    <p:sldId id="452" r:id="rId32"/>
    <p:sldId id="486" r:id="rId33"/>
    <p:sldId id="488" r:id="rId34"/>
    <p:sldId id="464" r:id="rId35"/>
    <p:sldId id="465" r:id="rId36"/>
    <p:sldId id="455" r:id="rId37"/>
    <p:sldId id="460" r:id="rId38"/>
    <p:sldId id="467" r:id="rId39"/>
    <p:sldId id="461" r:id="rId40"/>
    <p:sldId id="462" r:id="rId41"/>
    <p:sldId id="466" r:id="rId42"/>
    <p:sldId id="468" r:id="rId43"/>
    <p:sldId id="477" r:id="rId44"/>
    <p:sldId id="405" r:id="rId45"/>
    <p:sldId id="293" r:id="rId46"/>
    <p:sldId id="306" r:id="rId47"/>
    <p:sldId id="491" r:id="rId48"/>
    <p:sldId id="441" r:id="rId49"/>
    <p:sldId id="469" r:id="rId50"/>
    <p:sldId id="470" r:id="rId51"/>
    <p:sldId id="471" r:id="rId52"/>
    <p:sldId id="472" r:id="rId53"/>
    <p:sldId id="475" r:id="rId54"/>
    <p:sldId id="474" r:id="rId55"/>
    <p:sldId id="478" r:id="rId56"/>
    <p:sldId id="490" r:id="rId57"/>
    <p:sldId id="438" r:id="rId58"/>
    <p:sldId id="443" r:id="rId59"/>
    <p:sldId id="446" r:id="rId60"/>
    <p:sldId id="447" r:id="rId61"/>
    <p:sldId id="448" r:id="rId62"/>
    <p:sldId id="458" r:id="rId63"/>
    <p:sldId id="459" r:id="rId64"/>
    <p:sldId id="479" r:id="rId6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73850" autoAdjust="0"/>
  </p:normalViewPr>
  <p:slideViewPr>
    <p:cSldViewPr snapToGrid="0">
      <p:cViewPr varScale="1">
        <p:scale>
          <a:sx n="81" d="100"/>
          <a:sy n="81" d="100"/>
        </p:scale>
        <p:origin x="2076"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12/05/2025</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12/05/2025</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err="1">
                <a:effectLst/>
                <a:latin typeface="Roboto" panose="02000000000000000000" pitchFamily="2" charset="0"/>
              </a:rPr>
              <a:t>With</a:t>
            </a:r>
            <a:r>
              <a:rPr lang="pt-BR" b="0" i="0" dirty="0">
                <a:effectLst/>
                <a:latin typeface="Roboto" panose="02000000000000000000" pitchFamily="2" charset="0"/>
              </a:rPr>
              <a:t> tabular data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4431290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15975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712605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DNN aprende o padrão completo da imagem, global.</a:t>
            </a:r>
          </a:p>
          <a:p>
            <a:r>
              <a:rPr lang="pt-BR" dirty="0"/>
              <a:t>Tanto é, que embaralharmos os pixels, ela vai aprender o número da mesma forma.</a:t>
            </a:r>
          </a:p>
          <a:p>
            <a:r>
              <a:rPr lang="pt-BR" dirty="0"/>
              <a:t>Ela olha a relação global entre os atributos.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38142523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https://ai.stackexchange.com/questions/21999/do-convolutional-neural-networks-perform-convolution-or-cross-correlation</a:t>
            </a:r>
          </a:p>
          <a:p>
            <a:r>
              <a:rPr lang="pt-BR" dirty="0"/>
              <a:t>[2] https://datascience.stackexchange.com/questions/40533/convolution-and-cross-correlation-in-cnn</a:t>
            </a:r>
          </a:p>
          <a:p>
            <a:r>
              <a:rPr lang="pt-BR" dirty="0"/>
              <a:t>[3] https://glassboxmedicine.com/2019/07/26/convolution-vs-cross-correlation/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41180948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4512243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81512363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919700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106215335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33.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39.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4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5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5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5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60.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61.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62.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63.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6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163783" y="819807"/>
            <a:ext cx="10092796" cy="2690156"/>
          </a:xfrm>
        </p:spPr>
        <p:txBody>
          <a:bodyPr>
            <a:normAutofit/>
          </a:bodyPr>
          <a:lstStyle/>
          <a:p>
            <a:r>
              <a:rPr lang="pt-BR" sz="5400" dirty="0"/>
              <a:t>TP557 - Tópicos avançados em IoT e </a:t>
            </a:r>
            <a:r>
              <a:rPr lang="pt-BR" sz="5400" dirty="0" err="1"/>
              <a:t>Machine</a:t>
            </a:r>
            <a:r>
              <a:rPr lang="pt-BR" sz="5400" dirty="0"/>
              <a:t> Learning:</a:t>
            </a:r>
            <a:br>
              <a:rPr lang="pt-BR" dirty="0"/>
            </a:br>
            <a:r>
              <a:rPr lang="pt-BR" b="1" i="1" dirty="0"/>
              <a:t>Introduzindo Convoluções</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6785107" y="3429000"/>
            <a:ext cx="2261389" cy="223706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IoT Group">
            <a:extLst>
              <a:ext uri="{FF2B5EF4-FFF2-40B4-BE49-F238E27FC236}">
                <a16:creationId xmlns:a16="http://schemas.microsoft.com/office/drawing/2014/main" id="{AC034F57-E830-B6E7-6790-12FDBBDB297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 r="63551" b="22561"/>
          <a:stretch/>
        </p:blipFill>
        <p:spPr bwMode="auto">
          <a:xfrm>
            <a:off x="2899985" y="3509963"/>
            <a:ext cx="2509138" cy="2009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199" y="1825624"/>
            <a:ext cx="11154103" cy="5032376"/>
          </a:xfrm>
        </p:spPr>
        <p:txBody>
          <a:bodyPr>
            <a:normAutofit/>
          </a:bodyPr>
          <a:lstStyle/>
          <a:p>
            <a:r>
              <a:rPr lang="pt-BR" dirty="0"/>
              <a:t>Até agora, nossas redes neurais continham apenas dois tipos de camadas: </a:t>
            </a:r>
            <a:r>
              <a:rPr lang="pt-BR" b="1" i="1" dirty="0">
                <a:solidFill>
                  <a:srgbClr val="00B050"/>
                </a:solidFill>
              </a:rPr>
              <a:t>densas</a:t>
            </a:r>
            <a:r>
              <a:rPr lang="pt-BR" dirty="0"/>
              <a:t> e de </a:t>
            </a:r>
            <a:r>
              <a:rPr lang="pt-BR" b="1" i="1" dirty="0">
                <a:solidFill>
                  <a:srgbClr val="00B050"/>
                </a:solidFill>
              </a:rPr>
              <a:t>achatamento</a:t>
            </a:r>
            <a:r>
              <a:rPr lang="pt-BR" dirty="0"/>
              <a:t>. </a:t>
            </a:r>
          </a:p>
          <a:p>
            <a:r>
              <a:rPr lang="pt-BR" dirty="0"/>
              <a:t>Porém, um outro tipo muito importante são as </a:t>
            </a:r>
            <a:r>
              <a:rPr lang="pt-BR" b="1" i="1" dirty="0">
                <a:solidFill>
                  <a:srgbClr val="00B050"/>
                </a:solidFill>
              </a:rPr>
              <a:t>camadas convolucionais</a:t>
            </a:r>
            <a:r>
              <a:rPr lang="pt-BR" dirty="0"/>
              <a:t>.</a:t>
            </a:r>
          </a:p>
          <a:p>
            <a:r>
              <a:rPr lang="pt-BR" dirty="0"/>
              <a:t>Essas camadas formam as </a:t>
            </a:r>
            <a:r>
              <a:rPr lang="pt-BR" i="1" dirty="0" err="1"/>
              <a:t>Convolutional</a:t>
            </a:r>
            <a:r>
              <a:rPr lang="pt-BR" i="1" dirty="0"/>
              <a:t> Neural Networks</a:t>
            </a:r>
            <a:r>
              <a:rPr lang="pt-BR" dirty="0"/>
              <a:t> (</a:t>
            </a:r>
            <a:r>
              <a:rPr lang="pt-BR" dirty="0" err="1"/>
              <a:t>CNNs</a:t>
            </a:r>
            <a:r>
              <a:rPr lang="pt-BR" dirty="0"/>
              <a:t>).</a:t>
            </a:r>
          </a:p>
          <a:p>
            <a:r>
              <a:rPr lang="pt-BR" dirty="0"/>
              <a:t>A </a:t>
            </a:r>
            <a:r>
              <a:rPr lang="pt-BR" b="1" i="1" dirty="0">
                <a:solidFill>
                  <a:srgbClr val="00B050"/>
                </a:solidFill>
              </a:rPr>
              <a:t>principal diferença</a:t>
            </a:r>
            <a:r>
              <a:rPr lang="pt-BR" dirty="0"/>
              <a:t> para uma DNN é que ao invés de </a:t>
            </a:r>
            <a:r>
              <a:rPr lang="pt-BR" b="1" i="1" dirty="0">
                <a:solidFill>
                  <a:srgbClr val="00B050"/>
                </a:solidFill>
              </a:rPr>
              <a:t>aprender os pesos </a:t>
            </a:r>
            <a:r>
              <a:rPr lang="pt-BR" dirty="0"/>
              <a:t>das camadas densas, uma </a:t>
            </a:r>
            <a:r>
              <a:rPr lang="pt-BR" b="1" i="1" dirty="0">
                <a:solidFill>
                  <a:srgbClr val="00B050"/>
                </a:solidFill>
              </a:rPr>
              <a:t>CNN aprende </a:t>
            </a:r>
            <a:r>
              <a:rPr lang="pt-BR" dirty="0"/>
              <a:t>os valores de </a:t>
            </a:r>
            <a:r>
              <a:rPr lang="pt-BR" b="1" i="1" dirty="0">
                <a:solidFill>
                  <a:srgbClr val="00B050"/>
                </a:solidFill>
              </a:rPr>
              <a:t>filtros de convolução</a:t>
            </a:r>
            <a:r>
              <a:rPr lang="pt-BR" dirty="0">
                <a:solidFill>
                  <a:srgbClr val="00B050"/>
                </a:solidFill>
              </a:rPr>
              <a:t> </a:t>
            </a:r>
            <a:r>
              <a:rPr lang="pt-BR" dirty="0"/>
              <a:t>(ou apenas </a:t>
            </a:r>
            <a:r>
              <a:rPr lang="pt-BR" b="1" i="1" dirty="0"/>
              <a:t>filtros</a:t>
            </a:r>
            <a:r>
              <a:rPr lang="pt-BR" dirty="0"/>
              <a:t>, mas também chamados de </a:t>
            </a:r>
            <a:r>
              <a:rPr lang="pt-BR" b="1" i="1" dirty="0"/>
              <a:t>kernels</a:t>
            </a:r>
            <a:r>
              <a:rPr lang="pt-BR" dirty="0"/>
              <a:t>).</a:t>
            </a:r>
          </a:p>
          <a:p>
            <a:pPr lvl="1">
              <a:buFont typeface="Wingdings" panose="05000000000000000000" pitchFamily="2" charset="2"/>
              <a:buChar char="§"/>
            </a:pPr>
            <a:r>
              <a:rPr lang="pt-BR" dirty="0"/>
              <a:t>Esses filtros são muito eficientes em “compreender” o conteúdo de imagens.</a:t>
            </a:r>
          </a:p>
          <a:p>
            <a:r>
              <a:rPr lang="pt-BR" dirty="0" err="1"/>
              <a:t>CNNs</a:t>
            </a:r>
            <a:r>
              <a:rPr lang="pt-BR" dirty="0"/>
              <a:t> são usadas em tarefas de </a:t>
            </a:r>
            <a:r>
              <a:rPr lang="pt-BR" b="1" i="1" dirty="0">
                <a:solidFill>
                  <a:srgbClr val="00B050"/>
                </a:solidFill>
              </a:rPr>
              <a:t>visão computacional</a:t>
            </a:r>
            <a:r>
              <a:rPr lang="pt-BR" dirty="0"/>
              <a:t>, como, por exemplo, </a:t>
            </a:r>
            <a:r>
              <a:rPr lang="pt-BR" b="1" i="1" dirty="0">
                <a:effectLst/>
              </a:rPr>
              <a:t>reconhecimento de objetos</a:t>
            </a:r>
            <a:r>
              <a:rPr lang="pt-BR" b="0" i="0" dirty="0">
                <a:effectLst/>
              </a:rPr>
              <a:t>, </a:t>
            </a:r>
            <a:r>
              <a:rPr lang="pt-BR" b="1" i="1" dirty="0">
                <a:effectLst/>
              </a:rPr>
              <a:t>detecção de padrões</a:t>
            </a:r>
            <a:r>
              <a:rPr lang="pt-BR" b="0" i="0" dirty="0">
                <a:effectLst/>
              </a:rPr>
              <a:t>, </a:t>
            </a:r>
            <a:r>
              <a:rPr lang="pt-BR" b="1" i="1" dirty="0">
                <a:effectLst/>
              </a:rPr>
              <a:t>segmentação de imagens</a:t>
            </a:r>
            <a:r>
              <a:rPr lang="pt-BR" b="0" i="0" dirty="0">
                <a:effectLst/>
              </a:rPr>
              <a:t>, </a:t>
            </a:r>
            <a:r>
              <a:rPr lang="pt-BR" b="1" i="1" dirty="0">
                <a:effectLst/>
              </a:rPr>
              <a:t>rastreamento de objetos</a:t>
            </a:r>
            <a:r>
              <a:rPr lang="pt-BR" b="0" i="0" dirty="0">
                <a:effectLst/>
              </a:rPr>
              <a:t>, etc.</a:t>
            </a:r>
            <a:endParaRPr lang="pt-BR" dirty="0"/>
          </a:p>
        </p:txBody>
      </p:sp>
    </p:spTree>
    <p:extLst>
      <p:ext uri="{BB962C8B-B14F-4D97-AF65-F5344CB8AC3E}">
        <p14:creationId xmlns:p14="http://schemas.microsoft.com/office/powerpoint/2010/main" val="529739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75891" y="1825624"/>
            <a:ext cx="6537434" cy="5032375"/>
          </a:xfrm>
        </p:spPr>
        <p:txBody>
          <a:bodyPr>
            <a:normAutofit/>
          </a:bodyPr>
          <a:lstStyle/>
          <a:p>
            <a:r>
              <a:rPr lang="pt-BR" b="0" i="0" dirty="0" err="1">
                <a:effectLst/>
              </a:rPr>
              <a:t>DNNs</a:t>
            </a:r>
            <a:r>
              <a:rPr lang="pt-BR" b="0" i="0" dirty="0">
                <a:effectLst/>
              </a:rPr>
              <a:t> são </a:t>
            </a:r>
            <a:r>
              <a:rPr lang="pt-BR" b="1" i="1" dirty="0">
                <a:solidFill>
                  <a:srgbClr val="00B050"/>
                </a:solidFill>
                <a:effectLst/>
              </a:rPr>
              <a:t>ideais para dados </a:t>
            </a:r>
            <a:r>
              <a:rPr lang="pt-BR" b="1" i="1" dirty="0">
                <a:solidFill>
                  <a:schemeClr val="accent2"/>
                </a:solidFill>
                <a:effectLst/>
              </a:rPr>
              <a:t>tabulares</a:t>
            </a:r>
            <a:r>
              <a:rPr lang="pt-BR" b="0" i="0" dirty="0">
                <a:effectLst/>
              </a:rPr>
              <a:t>, onde os </a:t>
            </a:r>
            <a:r>
              <a:rPr lang="pt-BR" b="1" i="1" dirty="0">
                <a:solidFill>
                  <a:srgbClr val="00B050"/>
                </a:solidFill>
                <a:effectLst/>
              </a:rPr>
              <a:t>exemplos são representados por linhas e os atributos por colunas</a:t>
            </a:r>
            <a:r>
              <a:rPr lang="pt-BR" b="0" i="0" dirty="0">
                <a:effectLst/>
              </a:rPr>
              <a:t>.</a:t>
            </a:r>
          </a:p>
          <a:p>
            <a:r>
              <a:rPr lang="pt-BR" b="0" i="0" dirty="0">
                <a:effectLst/>
              </a:rPr>
              <a:t>Ao analisar esses dados, o objetivo de uma DNN é </a:t>
            </a:r>
            <a:r>
              <a:rPr lang="pt-BR" b="1" i="1" dirty="0">
                <a:solidFill>
                  <a:srgbClr val="00B050"/>
                </a:solidFill>
                <a:effectLst/>
              </a:rPr>
              <a:t>descobrir padrões que envolvem interações entre os atributos, </a:t>
            </a:r>
            <a:r>
              <a:rPr lang="pt-BR" b="1" i="1" dirty="0">
                <a:solidFill>
                  <a:srgbClr val="7030A0"/>
                </a:solidFill>
                <a:effectLst/>
              </a:rPr>
              <a:t>sem presumir uma estrutura espacial </a:t>
            </a:r>
            <a:r>
              <a:rPr lang="pt-BR" b="0" i="0" dirty="0">
                <a:effectLst/>
              </a:rPr>
              <a:t>(em termos de posicionamento físico) específica entre eles.</a:t>
            </a:r>
          </a:p>
          <a:p>
            <a:r>
              <a:rPr lang="pt-BR" b="0" i="0" dirty="0">
                <a:effectLst/>
              </a:rPr>
              <a:t>Em contraste, </a:t>
            </a:r>
            <a:r>
              <a:rPr lang="pt-BR" b="1" i="1" dirty="0">
                <a:solidFill>
                  <a:srgbClr val="7030A0"/>
                </a:solidFill>
                <a:effectLst/>
              </a:rPr>
              <a:t>imagens têm uma estrutura espacial</a:t>
            </a:r>
            <a:r>
              <a:rPr lang="pt-BR" b="0" i="0" dirty="0">
                <a:effectLst/>
              </a:rPr>
              <a:t> que pode ser explorada por modelos de ML.</a:t>
            </a:r>
            <a:endParaRPr lang="pt-BR" dirty="0"/>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Padrões globais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845996" y="1690688"/>
            <a:ext cx="6167328" cy="5167311"/>
          </a:xfrm>
        </p:spPr>
        <p:txBody>
          <a:bodyPr>
            <a:normAutofit/>
          </a:bodyPr>
          <a:lstStyle/>
          <a:p>
            <a:r>
              <a:rPr lang="pt-BR" dirty="0" err="1"/>
              <a:t>DNNs</a:t>
            </a:r>
            <a:r>
              <a:rPr lang="pt-BR" dirty="0"/>
              <a:t> </a:t>
            </a:r>
            <a:r>
              <a:rPr lang="pt-BR" b="1" i="1" dirty="0">
                <a:solidFill>
                  <a:srgbClr val="7030A0"/>
                </a:solidFill>
              </a:rPr>
              <a:t>não levam em consideração a estrutura espacial dos dados</a:t>
            </a:r>
            <a:r>
              <a:rPr lang="pt-BR" dirty="0"/>
              <a:t>.</a:t>
            </a:r>
          </a:p>
          <a:p>
            <a:r>
              <a:rPr lang="pt-BR" dirty="0"/>
              <a:t>Elas </a:t>
            </a:r>
            <a:r>
              <a:rPr lang="pt-BR" b="1" i="1" dirty="0">
                <a:solidFill>
                  <a:srgbClr val="00B050"/>
                </a:solidFill>
              </a:rPr>
              <a:t>tratam</a:t>
            </a:r>
            <a:r>
              <a:rPr lang="pt-BR" dirty="0"/>
              <a:t> </a:t>
            </a:r>
            <a:r>
              <a:rPr lang="pt-BR" b="1" i="1" dirty="0">
                <a:solidFill>
                  <a:srgbClr val="00B050"/>
                </a:solidFill>
              </a:rPr>
              <a:t>pixels de entrada distantes</a:t>
            </a:r>
            <a:r>
              <a:rPr lang="pt-BR" dirty="0"/>
              <a:t> uns dos outros </a:t>
            </a:r>
            <a:r>
              <a:rPr lang="pt-BR" b="1" i="1" dirty="0">
                <a:solidFill>
                  <a:srgbClr val="00B050"/>
                </a:solidFill>
              </a:rPr>
              <a:t>da mesma forma que pixels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p:txBody>
      </p:sp>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463368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73" y="1690688"/>
            <a:ext cx="6576977" cy="5167311"/>
          </a:xfrm>
        </p:spPr>
        <p:txBody>
          <a:bodyPr>
            <a:normAutofit/>
          </a:bodyPr>
          <a:lstStyle/>
          <a:p>
            <a:r>
              <a:rPr lang="pt-BR" dirty="0" err="1"/>
              <a:t>DNNs</a:t>
            </a:r>
            <a:r>
              <a:rPr lang="pt-BR" dirty="0"/>
              <a:t> </a:t>
            </a:r>
            <a:r>
              <a:rPr lang="pt-BR" b="1" i="1" dirty="0">
                <a:solidFill>
                  <a:srgbClr val="00B050"/>
                </a:solidFill>
              </a:rPr>
              <a:t>ignoram a </a:t>
            </a:r>
            <a:r>
              <a:rPr lang="pt-BR" b="1" i="1" dirty="0">
                <a:solidFill>
                  <a:srgbClr val="7030A0"/>
                </a:solidFill>
              </a:rPr>
              <a:t>localidade de referência ou espacial</a:t>
            </a:r>
            <a:r>
              <a:rPr lang="pt-BR" b="1" i="1" dirty="0">
                <a:solidFill>
                  <a:srgbClr val="00B050"/>
                </a:solidFill>
              </a:rPr>
              <a:t> </a:t>
            </a:r>
            <a:r>
              <a:rPr lang="pt-BR" dirty="0"/>
              <a:t>em dados com topologia de grade (e.g., imagens), tanto computacional (eficiência) quanto semanticamente (significado de cada região).</a:t>
            </a:r>
          </a:p>
          <a:p>
            <a:r>
              <a:rPr lang="pt-BR" b="1" i="1" dirty="0">
                <a:solidFill>
                  <a:srgbClr val="7030A0"/>
                </a:solidFill>
              </a:rPr>
              <a:t>Localidade espacial</a:t>
            </a:r>
            <a:r>
              <a:rPr lang="pt-BR" b="0" i="0" dirty="0">
                <a:effectLst/>
              </a:rPr>
              <a:t>: em dados com topologia de grade, é a </a:t>
            </a:r>
            <a:r>
              <a:rPr lang="pt-BR" b="1" i="1" dirty="0">
                <a:solidFill>
                  <a:schemeClr val="accent2"/>
                </a:solidFill>
                <a:effectLst/>
              </a:rPr>
              <a:t>região</a:t>
            </a:r>
            <a:r>
              <a:rPr lang="pt-BR" b="0" i="0" dirty="0">
                <a:effectLst/>
              </a:rPr>
              <a:t> onde </a:t>
            </a:r>
            <a:r>
              <a:rPr lang="pt-BR" b="1" i="1" dirty="0">
                <a:solidFill>
                  <a:srgbClr val="00B050"/>
                </a:solidFill>
                <a:effectLst/>
              </a:rPr>
              <a:t>informações próximas </a:t>
            </a:r>
            <a:r>
              <a:rPr lang="pt-BR" b="0" i="0" dirty="0">
                <a:effectLst/>
              </a:rPr>
              <a:t>umas das outras </a:t>
            </a:r>
            <a:r>
              <a:rPr lang="pt-BR" b="1" i="1" dirty="0">
                <a:solidFill>
                  <a:srgbClr val="00B050"/>
                </a:solidFill>
                <a:effectLst/>
              </a:rPr>
              <a:t>estão relacionadas</a:t>
            </a:r>
            <a:r>
              <a:rPr lang="pt-BR" b="0" i="0" dirty="0">
                <a:effectLst/>
              </a:rPr>
              <a:t>. </a:t>
            </a:r>
          </a:p>
        </p:txBody>
      </p:sp>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421033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i="1" dirty="0">
                <a:solidFill>
                  <a:schemeClr val="accent2"/>
                </a:solidFill>
              </a:rPr>
              <a:t>localidade espacial</a:t>
            </a:r>
            <a:r>
              <a:rPr lang="pt-BR" dirty="0"/>
              <a:t> é </a:t>
            </a:r>
            <a:r>
              <a:rPr lang="pt-BR" b="1" i="1" dirty="0">
                <a:solidFill>
                  <a:srgbClr val="7030A0"/>
                </a:solidFill>
              </a:rPr>
              <a:t>benéfica</a:t>
            </a:r>
            <a:r>
              <a:rPr lang="pt-BR" dirty="0"/>
              <a:t> para tarefas de </a:t>
            </a:r>
            <a:r>
              <a:rPr lang="pt-BR" b="1" i="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274724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Estrutura espacial</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i="1" dirty="0">
                <a:solidFill>
                  <a:schemeClr val="accent2"/>
                </a:solidFill>
              </a:rPr>
              <a:t>conectividade total dos neurônios</a:t>
            </a:r>
            <a:r>
              <a:rPr lang="pt-BR" b="1" i="1" dirty="0">
                <a:solidFill>
                  <a:srgbClr val="00B050"/>
                </a:solidFill>
              </a:rPr>
              <a:t> em uma DNN é um </a:t>
            </a:r>
            <a:r>
              <a:rPr lang="pt-BR" b="1" i="1" dirty="0">
                <a:solidFill>
                  <a:srgbClr val="7030A0"/>
                </a:solidFill>
              </a:rPr>
              <a:t>desperdício</a:t>
            </a:r>
            <a:r>
              <a:rPr lang="pt-BR" b="1" i="1" dirty="0">
                <a:solidFill>
                  <a:srgbClr val="00B050"/>
                </a:solidFill>
              </a:rPr>
              <a:t> </a:t>
            </a:r>
            <a:r>
              <a:rPr lang="pt-BR" dirty="0"/>
              <a:t>para propósitos como o reconhecimento de </a:t>
            </a:r>
            <a:r>
              <a:rPr lang="pt-BR" b="1" i="1" dirty="0">
                <a:solidFill>
                  <a:srgbClr val="00B050"/>
                </a:solidFill>
              </a:rPr>
              <a:t>imagens</a:t>
            </a:r>
            <a:r>
              <a:rPr lang="pt-BR" dirty="0"/>
              <a:t> que são </a:t>
            </a:r>
            <a:r>
              <a:rPr lang="pt-BR" b="1" i="1" dirty="0">
                <a:solidFill>
                  <a:srgbClr val="00B050"/>
                </a:solidFill>
              </a:rPr>
              <a:t>dominados</a:t>
            </a:r>
            <a:r>
              <a:rPr lang="pt-BR" dirty="0"/>
              <a:t> por </a:t>
            </a:r>
            <a:r>
              <a:rPr lang="pt-BR" b="1" i="1" dirty="0">
                <a:solidFill>
                  <a:srgbClr val="7030A0"/>
                </a:solidFill>
              </a:rPr>
              <a:t>padrões espacialmente locais</a:t>
            </a:r>
            <a:r>
              <a:rPr lang="pt-BR" dirty="0"/>
              <a:t>.</a:t>
            </a:r>
          </a:p>
          <a:p>
            <a:r>
              <a:rPr lang="pt-BR" dirty="0"/>
              <a:t>Além disso, por serem densamente conectadas, as </a:t>
            </a:r>
            <a:r>
              <a:rPr lang="pt-BR" b="1" i="1" dirty="0" err="1">
                <a:solidFill>
                  <a:srgbClr val="00B050"/>
                </a:solidFill>
              </a:rPr>
              <a:t>DNNs</a:t>
            </a:r>
            <a:r>
              <a:rPr lang="pt-BR" b="1" i="1" dirty="0">
                <a:solidFill>
                  <a:srgbClr val="00B050"/>
                </a:solidFill>
              </a:rPr>
              <a:t> requerem </a:t>
            </a:r>
            <a:r>
              <a:rPr lang="pt-BR" b="1" i="1" dirty="0">
                <a:solidFill>
                  <a:srgbClr val="00B050"/>
                </a:solidFill>
                <a:effectLst/>
              </a:rPr>
              <a:t>um grande número de parâmetros, levando a um alto custo computacional</a:t>
            </a:r>
            <a:r>
              <a:rPr lang="pt-BR" b="0" i="0" dirty="0">
                <a:effectLst/>
              </a:rPr>
              <a:t>.</a:t>
            </a:r>
            <a:endParaRPr lang="pt-BR" dirty="0"/>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Imagens simples e “comportadas”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096000" y="1825624"/>
            <a:ext cx="5917324" cy="5032375"/>
          </a:xfrm>
        </p:spPr>
        <p:txBody>
          <a:bodyPr>
            <a:normAutofit/>
          </a:bodyPr>
          <a:lstStyle/>
          <a:p>
            <a:r>
              <a:rPr lang="pt-BR" dirty="0"/>
              <a:t>Até o momento, as imagens que usamos nos problemas de classificação eram bem simples e “comportadas”.</a:t>
            </a:r>
          </a:p>
          <a:p>
            <a:r>
              <a:rPr lang="pt-BR" dirty="0"/>
              <a:t>Eram </a:t>
            </a:r>
            <a:r>
              <a:rPr lang="pt-BR" b="1" i="1" dirty="0">
                <a:solidFill>
                  <a:srgbClr val="00B050"/>
                </a:solidFill>
              </a:rPr>
              <a:t>imagens bidimensionais em tons de cinza</a:t>
            </a:r>
            <a:r>
              <a:rPr lang="pt-BR" dirty="0"/>
              <a:t>, com objetos </a:t>
            </a:r>
            <a:r>
              <a:rPr lang="pt-BR" b="1" i="1" dirty="0"/>
              <a:t>centralizados</a:t>
            </a:r>
            <a:r>
              <a:rPr lang="pt-BR" dirty="0"/>
              <a:t>, </a:t>
            </a:r>
            <a:r>
              <a:rPr lang="pt-BR" b="1" i="1" dirty="0"/>
              <a:t>sem</a:t>
            </a:r>
            <a:r>
              <a:rPr lang="pt-BR" dirty="0"/>
              <a:t> muita </a:t>
            </a:r>
            <a:r>
              <a:rPr lang="pt-BR" b="1" i="1" dirty="0"/>
              <a:t>variação</a:t>
            </a:r>
            <a:r>
              <a:rPr lang="pt-BR" dirty="0"/>
              <a:t> em termos de </a:t>
            </a:r>
            <a:r>
              <a:rPr lang="pt-BR" b="1" i="1" dirty="0"/>
              <a:t>rotação</a:t>
            </a:r>
            <a:r>
              <a:rPr lang="pt-BR" dirty="0"/>
              <a:t>, </a:t>
            </a:r>
            <a:r>
              <a:rPr lang="pt-BR" b="1" i="1" dirty="0"/>
              <a:t>iluminação</a:t>
            </a:r>
            <a:r>
              <a:rPr lang="pt-BR" dirty="0"/>
              <a:t>, </a:t>
            </a:r>
            <a:r>
              <a:rPr lang="pt-BR" b="1" i="1" dirty="0"/>
              <a:t>escala</a:t>
            </a:r>
            <a:r>
              <a:rPr lang="pt-BR" dirty="0"/>
              <a:t>, com um </a:t>
            </a:r>
            <a:r>
              <a:rPr lang="pt-BR" b="1" i="1" dirty="0"/>
              <a:t>mesmo fundo</a:t>
            </a:r>
            <a:r>
              <a:rPr lang="pt-BR" dirty="0"/>
              <a:t>, </a:t>
            </a:r>
            <a:r>
              <a:rPr lang="pt-BR" b="1" i="1" dirty="0"/>
              <a:t>sem </a:t>
            </a:r>
            <a:r>
              <a:rPr lang="pt-BR" b="1" i="1" dirty="0">
                <a:effectLst/>
              </a:rPr>
              <a:t>oclusões</a:t>
            </a:r>
            <a:r>
              <a:rPr lang="pt-BR" b="0" i="0" dirty="0">
                <a:effectLst/>
              </a:rPr>
              <a:t> (i.e., partes do objeto obstruídas), </a:t>
            </a:r>
            <a:r>
              <a:rPr lang="pt-BR" dirty="0"/>
              <a:t>etc.</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38616753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Imagens complexas</a:t>
            </a:r>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Mas e quando as imagens são mais complexas?</a:t>
            </a:r>
          </a:p>
          <a:p>
            <a:r>
              <a:rPr lang="pt-BR" dirty="0"/>
              <a:t>Com cores, objetos não centralizados, com variação em termos de rotação, iluminação, escala, diferentes fundos, </a:t>
            </a:r>
            <a:r>
              <a:rPr lang="pt-BR" b="0" i="0" dirty="0">
                <a:effectLst/>
              </a:rPr>
              <a:t>oclusões, </a:t>
            </a:r>
            <a:r>
              <a:rPr lang="pt-BR" dirty="0"/>
              <a:t>etc.</a:t>
            </a:r>
          </a:p>
          <a:p>
            <a:r>
              <a:rPr lang="pt-BR" dirty="0"/>
              <a:t>Por exemplo, e se quiséssemos classificar imagens de pessoas e cavalos?</a:t>
            </a:r>
          </a:p>
        </p:txBody>
      </p:sp>
      <p:pic>
        <p:nvPicPr>
          <p:cNvPr id="5" name="Imagem 4">
            <a:extLst>
              <a:ext uri="{FF2B5EF4-FFF2-40B4-BE49-F238E27FC236}">
                <a16:creationId xmlns:a16="http://schemas.microsoft.com/office/drawing/2014/main" id="{B90DEACD-FB99-FF37-8876-F0514CDC9E70}"/>
              </a:ext>
            </a:extLst>
          </p:cNvPr>
          <p:cNvPicPr>
            <a:picLocks noChangeAspect="1"/>
          </p:cNvPicPr>
          <p:nvPr/>
        </p:nvPicPr>
        <p:blipFill>
          <a:blip r:embed="rId2"/>
          <a:stretch>
            <a:fillRect/>
          </a:stretch>
        </p:blipFill>
        <p:spPr>
          <a:xfrm>
            <a:off x="299250" y="1825624"/>
            <a:ext cx="2385575" cy="2422036"/>
          </a:xfrm>
          <a:prstGeom prst="rect">
            <a:avLst/>
          </a:prstGeom>
        </p:spPr>
      </p:pic>
      <p:pic>
        <p:nvPicPr>
          <p:cNvPr id="7" name="Imagem 6">
            <a:extLst>
              <a:ext uri="{FF2B5EF4-FFF2-40B4-BE49-F238E27FC236}">
                <a16:creationId xmlns:a16="http://schemas.microsoft.com/office/drawing/2014/main" id="{87D9D255-6733-0D61-095D-FE93735462D8}"/>
              </a:ext>
            </a:extLst>
          </p:cNvPr>
          <p:cNvPicPr>
            <a:picLocks noChangeAspect="1"/>
          </p:cNvPicPr>
          <p:nvPr/>
        </p:nvPicPr>
        <p:blipFill>
          <a:blip r:embed="rId3"/>
          <a:stretch>
            <a:fillRect/>
          </a:stretch>
        </p:blipFill>
        <p:spPr>
          <a:xfrm>
            <a:off x="2857863" y="4247660"/>
            <a:ext cx="2432590" cy="2422037"/>
          </a:xfrm>
          <a:prstGeom prst="rect">
            <a:avLst/>
          </a:prstGeom>
        </p:spPr>
      </p:pic>
    </p:spTree>
    <p:extLst>
      <p:ext uri="{BB962C8B-B14F-4D97-AF65-F5344CB8AC3E}">
        <p14:creationId xmlns:p14="http://schemas.microsoft.com/office/powerpoint/2010/main" val="904574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Imagens complexas</a:t>
            </a:r>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Usar </a:t>
            </a:r>
            <a:r>
              <a:rPr lang="pt-BR" b="1" i="1" dirty="0"/>
              <a:t>filtros de convolução</a:t>
            </a:r>
            <a:r>
              <a:rPr lang="pt-BR" dirty="0"/>
              <a:t> pode nos ajudar a resolver esse problema.</a:t>
            </a:r>
          </a:p>
          <a:p>
            <a:r>
              <a:rPr lang="pt-BR" dirty="0"/>
              <a:t>Os </a:t>
            </a:r>
            <a:r>
              <a:rPr lang="pt-BR" b="1" i="1" dirty="0"/>
              <a:t>filtros</a:t>
            </a:r>
            <a:r>
              <a:rPr lang="pt-BR" dirty="0"/>
              <a:t> podem ser </a:t>
            </a:r>
            <a:r>
              <a:rPr lang="pt-BR" b="1" i="1" dirty="0">
                <a:solidFill>
                  <a:srgbClr val="00B050"/>
                </a:solidFill>
              </a:rPr>
              <a:t>treinados para detectar características locais </a:t>
            </a:r>
            <a:r>
              <a:rPr lang="pt-BR" dirty="0"/>
              <a:t>que </a:t>
            </a:r>
            <a:r>
              <a:rPr lang="pt-BR" b="1" i="1" dirty="0">
                <a:solidFill>
                  <a:srgbClr val="7030A0"/>
                </a:solidFill>
              </a:rPr>
              <a:t>diferenciam pessoas de cavalos</a:t>
            </a:r>
            <a:r>
              <a:rPr lang="pt-BR" dirty="0"/>
              <a:t>.</a:t>
            </a:r>
          </a:p>
          <a:p>
            <a:r>
              <a:rPr lang="pt-BR" dirty="0"/>
              <a:t>Essa ideia de usar </a:t>
            </a:r>
            <a:r>
              <a:rPr lang="pt-BR" b="1" i="1" dirty="0">
                <a:solidFill>
                  <a:srgbClr val="00B050"/>
                </a:solidFill>
              </a:rPr>
              <a:t>filtros</a:t>
            </a:r>
            <a:r>
              <a:rPr lang="pt-BR" dirty="0"/>
              <a:t> que </a:t>
            </a:r>
            <a:r>
              <a:rPr lang="pt-BR" b="1" i="1" dirty="0">
                <a:solidFill>
                  <a:srgbClr val="00B050"/>
                </a:solidFill>
              </a:rPr>
              <a:t>detectam características</a:t>
            </a:r>
            <a:r>
              <a:rPr lang="pt-BR" dirty="0"/>
              <a:t> que fazem um </a:t>
            </a:r>
            <a:r>
              <a:rPr lang="pt-BR" b="1" i="1" dirty="0">
                <a:solidFill>
                  <a:srgbClr val="00B050"/>
                </a:solidFill>
              </a:rPr>
              <a:t>objeto ser diferente de outro</a:t>
            </a:r>
            <a:r>
              <a:rPr lang="pt-BR" dirty="0"/>
              <a:t> é </a:t>
            </a:r>
            <a:r>
              <a:rPr lang="pt-BR" b="1" i="1" dirty="0">
                <a:solidFill>
                  <a:srgbClr val="00B050"/>
                </a:solidFill>
              </a:rPr>
              <a:t>baseada</a:t>
            </a:r>
            <a:r>
              <a:rPr lang="pt-BR" dirty="0"/>
              <a:t> em como os neurônios do </a:t>
            </a:r>
            <a:r>
              <a:rPr lang="pt-BR" b="1" i="1" dirty="0">
                <a:solidFill>
                  <a:srgbClr val="7030A0"/>
                </a:solidFill>
              </a:rPr>
              <a:t>córtex visual </a:t>
            </a:r>
            <a:r>
              <a:rPr lang="pt-BR" b="1" i="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521297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i="1" dirty="0">
                <a:solidFill>
                  <a:srgbClr val="00B050"/>
                </a:solidFill>
              </a:rPr>
              <a:t>neurônios</a:t>
            </a:r>
            <a:r>
              <a:rPr lang="pt-BR" dirty="0"/>
              <a:t> biológicos no córtex visual </a:t>
            </a:r>
            <a:r>
              <a:rPr lang="pt-BR" b="1" i="1" dirty="0">
                <a:solidFill>
                  <a:schemeClr val="accent2"/>
                </a:solidFill>
              </a:rPr>
              <a:t>respondem a padrões específicos</a:t>
            </a:r>
            <a:r>
              <a:rPr lang="pt-BR" b="1" i="1" dirty="0">
                <a:solidFill>
                  <a:srgbClr val="00B050"/>
                </a:solidFill>
              </a:rPr>
              <a:t> </a:t>
            </a:r>
            <a:r>
              <a:rPr lang="pt-BR" dirty="0"/>
              <a:t>em</a:t>
            </a:r>
            <a:r>
              <a:rPr lang="pt-BR" b="1" i="1" dirty="0"/>
              <a:t> </a:t>
            </a:r>
            <a:r>
              <a:rPr lang="pt-BR" b="1" i="1" dirty="0">
                <a:solidFill>
                  <a:srgbClr val="0070C0"/>
                </a:solidFill>
              </a:rPr>
              <a:t>pequenas</a:t>
            </a:r>
            <a:r>
              <a:rPr lang="pt-BR" b="1" i="1" dirty="0">
                <a:solidFill>
                  <a:srgbClr val="00B050"/>
                </a:solidFill>
              </a:rPr>
              <a:t> regiões do campo visual</a:t>
            </a:r>
            <a:r>
              <a:rPr lang="pt-BR" dirty="0">
                <a:solidFill>
                  <a:srgbClr val="00B050"/>
                </a:solidFill>
              </a:rPr>
              <a:t> </a:t>
            </a:r>
            <a:r>
              <a:rPr lang="pt-BR" dirty="0"/>
              <a:t>chamadas </a:t>
            </a:r>
            <a:r>
              <a:rPr lang="pt-BR" b="1" i="1" dirty="0">
                <a:solidFill>
                  <a:srgbClr val="00B050"/>
                </a:solidFill>
              </a:rPr>
              <a:t>campos receptivos</a:t>
            </a:r>
            <a:r>
              <a:rPr lang="pt-BR" dirty="0"/>
              <a:t>.</a:t>
            </a:r>
          </a:p>
          <a:p>
            <a:r>
              <a:rPr lang="pt-BR" dirty="0"/>
              <a:t>À medida que o sinal visual percorre as camadas do cérebro, os </a:t>
            </a:r>
            <a:r>
              <a:rPr lang="pt-BR" b="1" i="1" dirty="0">
                <a:solidFill>
                  <a:srgbClr val="00B050"/>
                </a:solidFill>
              </a:rPr>
              <a:t>neurônios respondem </a:t>
            </a:r>
            <a:r>
              <a:rPr lang="pt-BR" dirty="0"/>
              <a:t>a</a:t>
            </a:r>
            <a:r>
              <a:rPr lang="pt-BR" b="1" i="1" dirty="0">
                <a:solidFill>
                  <a:srgbClr val="00B050"/>
                </a:solidFill>
              </a:rPr>
              <a:t> </a:t>
            </a:r>
            <a:r>
              <a:rPr lang="pt-BR" b="1" i="1" dirty="0">
                <a:solidFill>
                  <a:srgbClr val="7030A0"/>
                </a:solidFill>
              </a:rPr>
              <a:t>padrões mais complexos </a:t>
            </a:r>
            <a:r>
              <a:rPr lang="pt-BR" b="1" i="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1304111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838200" y="4726111"/>
            <a:ext cx="11210925" cy="2131887"/>
          </a:xfrm>
        </p:spPr>
        <p:txBody>
          <a:bodyPr>
            <a:normAutofit lnSpcReduction="10000"/>
          </a:bodyPr>
          <a:lstStyle/>
          <a:p>
            <a:r>
              <a:rPr lang="pt-BR" dirty="0"/>
              <a:t>Alguns </a:t>
            </a:r>
            <a:r>
              <a:rPr lang="pt-BR" b="1" i="1" dirty="0">
                <a:solidFill>
                  <a:srgbClr val="00B050"/>
                </a:solidFill>
              </a:rPr>
              <a:t>neurônios reagem</a:t>
            </a:r>
            <a:r>
              <a:rPr lang="pt-BR" dirty="0"/>
              <a:t> apenas a imagens de </a:t>
            </a:r>
            <a:r>
              <a:rPr lang="pt-BR" b="1" i="1" dirty="0">
                <a:solidFill>
                  <a:srgbClr val="00B050"/>
                </a:solidFill>
              </a:rPr>
              <a:t>linhas horizontais</a:t>
            </a:r>
            <a:r>
              <a:rPr lang="pt-BR" dirty="0"/>
              <a:t>, enquanto </a:t>
            </a:r>
            <a:r>
              <a:rPr lang="pt-BR" b="1" i="1" dirty="0">
                <a:solidFill>
                  <a:srgbClr val="00B050"/>
                </a:solidFill>
              </a:rPr>
              <a:t>outros reagem </a:t>
            </a:r>
            <a:r>
              <a:rPr lang="pt-BR" dirty="0"/>
              <a:t>apenas a </a:t>
            </a:r>
            <a:r>
              <a:rPr lang="pt-BR" b="1" i="1" dirty="0">
                <a:solidFill>
                  <a:srgbClr val="00B050"/>
                </a:solidFill>
              </a:rPr>
              <a:t>linhas com orientações diferentes</a:t>
            </a:r>
            <a:r>
              <a:rPr lang="pt-BR" dirty="0"/>
              <a:t>.</a:t>
            </a:r>
          </a:p>
          <a:p>
            <a:r>
              <a:rPr lang="pt-BR" dirty="0"/>
              <a:t>Outros neurônios têm </a:t>
            </a:r>
            <a:r>
              <a:rPr lang="pt-BR" b="1" i="1" dirty="0">
                <a:solidFill>
                  <a:srgbClr val="00B050"/>
                </a:solidFill>
              </a:rPr>
              <a:t>campos receptivos maiores </a:t>
            </a:r>
            <a:r>
              <a:rPr lang="pt-BR" dirty="0"/>
              <a:t>e reagem a </a:t>
            </a:r>
            <a:r>
              <a:rPr lang="pt-BR" b="1" i="1" dirty="0">
                <a:solidFill>
                  <a:srgbClr val="00B050"/>
                </a:solidFill>
              </a:rPr>
              <a:t>padrões mais complexos</a:t>
            </a:r>
            <a:r>
              <a:rPr lang="pt-BR" dirty="0"/>
              <a:t> que são </a:t>
            </a:r>
            <a:r>
              <a:rPr lang="pt-BR" b="1" i="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1244891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732980" y="1825624"/>
            <a:ext cx="6308331" cy="5032375"/>
          </a:xfrm>
        </p:spPr>
        <p:txBody>
          <a:bodyPr>
            <a:normAutofit/>
          </a:bodyPr>
          <a:lstStyle/>
          <a:p>
            <a:r>
              <a:rPr lang="pt-BR" dirty="0"/>
              <a:t>Qual a </a:t>
            </a:r>
            <a:r>
              <a:rPr lang="pt-BR" b="1" i="1" dirty="0">
                <a:solidFill>
                  <a:srgbClr val="7030A0"/>
                </a:solidFill>
              </a:rPr>
              <a:t>diferença</a:t>
            </a:r>
            <a:r>
              <a:rPr lang="pt-BR" dirty="0"/>
              <a:t> </a:t>
            </a:r>
            <a:r>
              <a:rPr lang="pt-BR" b="1" i="1" dirty="0">
                <a:solidFill>
                  <a:srgbClr val="7030A0"/>
                </a:solidFill>
              </a:rPr>
              <a:t>fundamental</a:t>
            </a:r>
            <a:r>
              <a:rPr lang="pt-BR" dirty="0"/>
              <a:t> entre uma camada</a:t>
            </a:r>
            <a:r>
              <a:rPr lang="pt-BR" b="1" i="1" dirty="0">
                <a:solidFill>
                  <a:srgbClr val="00B050"/>
                </a:solidFill>
              </a:rPr>
              <a:t> densamente conectada</a:t>
            </a:r>
            <a:r>
              <a:rPr lang="pt-BR" dirty="0"/>
              <a:t> e uma de </a:t>
            </a:r>
            <a:r>
              <a:rPr lang="pt-BR" b="1" i="1" dirty="0">
                <a:solidFill>
                  <a:srgbClr val="00B050"/>
                </a:solidFill>
              </a:rPr>
              <a:t>convolução</a:t>
            </a:r>
            <a:r>
              <a:rPr lang="pt-BR" dirty="0"/>
              <a:t>?</a:t>
            </a:r>
          </a:p>
          <a:p>
            <a:r>
              <a:rPr lang="pt-BR" dirty="0"/>
              <a:t>As </a:t>
            </a:r>
            <a:r>
              <a:rPr lang="pt-BR" b="1" i="1" dirty="0">
                <a:solidFill>
                  <a:srgbClr val="00B050"/>
                </a:solidFill>
              </a:rPr>
              <a:t>camadas densas aprendem</a:t>
            </a:r>
            <a:r>
              <a:rPr lang="pt-BR" b="1" i="1" dirty="0">
                <a:solidFill>
                  <a:srgbClr val="7030A0"/>
                </a:solidFill>
              </a:rPr>
              <a:t> padrões globais</a:t>
            </a:r>
            <a:r>
              <a:rPr lang="pt-BR" dirty="0"/>
              <a:t> em seu espaço de atributos.</a:t>
            </a:r>
          </a:p>
          <a:p>
            <a:r>
              <a:rPr lang="pt-BR" dirty="0"/>
              <a:t>Por exemplo, para um dígito da base de dados MNIST, as </a:t>
            </a:r>
            <a:r>
              <a:rPr lang="pt-BR" b="1" i="1" dirty="0">
                <a:solidFill>
                  <a:srgbClr val="7030A0"/>
                </a:solidFill>
              </a:rPr>
              <a:t>camadas densas </a:t>
            </a:r>
            <a:r>
              <a:rPr lang="pt-BR" b="1" i="1" dirty="0">
                <a:solidFill>
                  <a:srgbClr val="00B050"/>
                </a:solidFill>
              </a:rPr>
              <a:t>aprendem</a:t>
            </a:r>
            <a:r>
              <a:rPr lang="pt-BR" dirty="0"/>
              <a:t> </a:t>
            </a:r>
            <a:r>
              <a:rPr lang="pt-BR" b="1" i="1" dirty="0">
                <a:solidFill>
                  <a:srgbClr val="00B050"/>
                </a:solidFill>
              </a:rPr>
              <a:t>padrões envolvendo todos os pixels</a:t>
            </a:r>
            <a:r>
              <a:rPr lang="pt-BR" dirty="0"/>
              <a:t>.</a:t>
            </a:r>
          </a:p>
        </p:txBody>
      </p:sp>
      <p:pic>
        <p:nvPicPr>
          <p:cNvPr id="1028" name="Picture 4" descr="Digit recognizer using CNN. I build a simple Convolutional Neural… | by  Nischal Madiraju | Towards Data Science">
            <a:extLst>
              <a:ext uri="{FF2B5EF4-FFF2-40B4-BE49-F238E27FC236}">
                <a16:creationId xmlns:a16="http://schemas.microsoft.com/office/drawing/2014/main" id="{E4AD2FFB-8BF6-432A-092D-D05582B6AB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4738" y="2453811"/>
            <a:ext cx="2943225"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68877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948738" y="1825624"/>
            <a:ext cx="6041204" cy="5032375"/>
          </a:xfrm>
        </p:spPr>
        <p:txBody>
          <a:bodyPr>
            <a:normAutofit/>
          </a:bodyPr>
          <a:lstStyle/>
          <a:p>
            <a:r>
              <a:rPr lang="pt-BR" dirty="0"/>
              <a:t>As camadas de convolução </a:t>
            </a:r>
            <a:r>
              <a:rPr lang="pt-BR" b="1" i="1" dirty="0">
                <a:solidFill>
                  <a:srgbClr val="00B050"/>
                </a:solidFill>
              </a:rPr>
              <a:t>aprendem padrões locais</a:t>
            </a:r>
            <a:r>
              <a:rPr lang="pt-BR" dirty="0"/>
              <a:t>.</a:t>
            </a:r>
          </a:p>
          <a:p>
            <a:r>
              <a:rPr lang="pt-BR" dirty="0"/>
              <a:t>No caso de imagens, as camadas de convolução </a:t>
            </a:r>
            <a:r>
              <a:rPr lang="pt-BR" b="1" i="1" dirty="0"/>
              <a:t>aprendem padrões encontrados em </a:t>
            </a:r>
            <a:r>
              <a:rPr lang="pt-BR" b="1" i="1" dirty="0">
                <a:solidFill>
                  <a:srgbClr val="7030A0"/>
                </a:solidFill>
              </a:rPr>
              <a:t>pequenas janelas</a:t>
            </a:r>
            <a:r>
              <a:rPr lang="pt-BR" b="1" i="1" dirty="0"/>
              <a:t> </a:t>
            </a:r>
            <a:r>
              <a:rPr lang="pt-BR" dirty="0"/>
              <a:t>(i.e., </a:t>
            </a:r>
            <a:r>
              <a:rPr lang="pt-BR" b="1" i="1" dirty="0">
                <a:solidFill>
                  <a:srgbClr val="00B050"/>
                </a:solidFill>
              </a:rPr>
              <a:t>campos receptivos</a:t>
            </a:r>
            <a:r>
              <a:rPr lang="pt-BR" dirty="0"/>
              <a:t>)</a:t>
            </a:r>
            <a:r>
              <a:rPr lang="pt-BR" b="1" i="1" dirty="0">
                <a:solidFill>
                  <a:srgbClr val="00B050"/>
                </a:solidFill>
              </a:rPr>
              <a:t> </a:t>
            </a:r>
            <a:r>
              <a:rPr lang="pt-BR" dirty="0"/>
              <a:t>das entradas.</a:t>
            </a:r>
          </a:p>
          <a:p>
            <a:r>
              <a:rPr lang="pt-BR" dirty="0"/>
              <a:t>Para aprender esses padrões, as camadas utilizam </a:t>
            </a:r>
            <a:r>
              <a:rPr lang="pt-BR" b="1" i="1" dirty="0">
                <a:solidFill>
                  <a:srgbClr val="00B050"/>
                </a:solidFill>
              </a:rPr>
              <a:t>filtros de convolução</a:t>
            </a:r>
            <a:r>
              <a:rPr lang="pt-BR" dirty="0"/>
              <a:t>, também chamados de </a:t>
            </a:r>
            <a:r>
              <a:rPr lang="pt-BR" b="1" i="1" dirty="0">
                <a:solidFill>
                  <a:srgbClr val="7030A0"/>
                </a:solidFill>
              </a:rPr>
              <a:t>kernels</a:t>
            </a:r>
            <a:r>
              <a:rPr lang="pt-BR" dirty="0"/>
              <a:t>.</a:t>
            </a:r>
          </a:p>
        </p:txBody>
      </p:sp>
      <p:pic>
        <p:nvPicPr>
          <p:cNvPr id="5" name="Imagem 4">
            <a:extLst>
              <a:ext uri="{FF2B5EF4-FFF2-40B4-BE49-F238E27FC236}">
                <a16:creationId xmlns:a16="http://schemas.microsoft.com/office/drawing/2014/main" id="{48F30D9B-83CA-7490-DDC0-65E59B6DB614}"/>
              </a:ext>
            </a:extLst>
          </p:cNvPr>
          <p:cNvPicPr>
            <a:picLocks noChangeAspect="1"/>
          </p:cNvPicPr>
          <p:nvPr/>
        </p:nvPicPr>
        <p:blipFill>
          <a:blip r:embed="rId2"/>
          <a:stretch>
            <a:fillRect/>
          </a:stretch>
        </p:blipFill>
        <p:spPr>
          <a:xfrm>
            <a:off x="1917841" y="2304081"/>
            <a:ext cx="2387030" cy="3062229"/>
          </a:xfrm>
          <a:prstGeom prst="rect">
            <a:avLst/>
          </a:prstGeom>
        </p:spPr>
      </p:pic>
    </p:spTree>
    <p:extLst>
      <p:ext uri="{BB962C8B-B14F-4D97-AF65-F5344CB8AC3E}">
        <p14:creationId xmlns:p14="http://schemas.microsoft.com/office/powerpoint/2010/main" val="34072932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691882" y="1825624"/>
            <a:ext cx="6298059" cy="5032375"/>
          </a:xfrm>
        </p:spPr>
        <p:txBody>
          <a:bodyPr>
            <a:normAutofit/>
          </a:bodyPr>
          <a:lstStyle/>
          <a:p>
            <a:r>
              <a:rPr lang="pt-BR" dirty="0"/>
              <a:t>Camadas convolucionais aprendem </a:t>
            </a:r>
            <a:r>
              <a:rPr lang="pt-BR" b="1" i="1" dirty="0">
                <a:solidFill>
                  <a:srgbClr val="00B050"/>
                </a:solidFill>
              </a:rPr>
              <a:t>hierarquias espaciais </a:t>
            </a:r>
            <a:r>
              <a:rPr lang="pt-BR" dirty="0"/>
              <a:t>de padrões. </a:t>
            </a:r>
          </a:p>
          <a:p>
            <a:r>
              <a:rPr lang="pt-BR" dirty="0"/>
              <a:t>Uma </a:t>
            </a:r>
            <a:r>
              <a:rPr lang="pt-BR" b="1" i="1" dirty="0">
                <a:solidFill>
                  <a:srgbClr val="00B050"/>
                </a:solidFill>
              </a:rPr>
              <a:t>primeira camada </a:t>
            </a:r>
            <a:r>
              <a:rPr lang="pt-BR" dirty="0"/>
              <a:t>de convolução aprenderá </a:t>
            </a:r>
            <a:r>
              <a:rPr lang="pt-BR" b="1" i="1" dirty="0">
                <a:solidFill>
                  <a:srgbClr val="00B050"/>
                </a:solidFill>
              </a:rPr>
              <a:t>pequenos padrões locais</a:t>
            </a:r>
            <a:r>
              <a:rPr lang="pt-BR" dirty="0"/>
              <a:t>, como bordas, uma </a:t>
            </a:r>
            <a:r>
              <a:rPr lang="pt-BR" b="1" i="1" dirty="0">
                <a:solidFill>
                  <a:srgbClr val="00B050"/>
                </a:solidFill>
              </a:rPr>
              <a:t>segunda camada </a:t>
            </a:r>
            <a:r>
              <a:rPr lang="pt-BR" dirty="0"/>
              <a:t>de convolução aprenderá </a:t>
            </a:r>
            <a:r>
              <a:rPr lang="pt-BR" b="1" i="1" dirty="0">
                <a:solidFill>
                  <a:srgbClr val="00B050"/>
                </a:solidFill>
              </a:rPr>
              <a:t>padrões maiores criados a partir da combinação das características das primeiras camadas </a:t>
            </a:r>
            <a:r>
              <a:rPr lang="pt-BR" dirty="0"/>
              <a:t>e assim por diante.</a:t>
            </a:r>
          </a:p>
        </p:txBody>
      </p:sp>
      <p:pic>
        <p:nvPicPr>
          <p:cNvPr id="7" name="Imagem 6">
            <a:extLst>
              <a:ext uri="{FF2B5EF4-FFF2-40B4-BE49-F238E27FC236}">
                <a16:creationId xmlns:a16="http://schemas.microsoft.com/office/drawing/2014/main" id="{691CAD4C-7731-F201-4777-F4C7E861E3EA}"/>
              </a:ext>
            </a:extLst>
          </p:cNvPr>
          <p:cNvPicPr>
            <a:picLocks noChangeAspect="1"/>
          </p:cNvPicPr>
          <p:nvPr/>
        </p:nvPicPr>
        <p:blipFill>
          <a:blip r:embed="rId2"/>
          <a:stretch>
            <a:fillRect/>
          </a:stretch>
        </p:blipFill>
        <p:spPr>
          <a:xfrm>
            <a:off x="617180" y="2045424"/>
            <a:ext cx="4351151" cy="3667007"/>
          </a:xfrm>
          <a:prstGeom prst="rect">
            <a:avLst/>
          </a:prstGeom>
        </p:spPr>
      </p:pic>
    </p:spTree>
    <p:extLst>
      <p:ext uri="{BB962C8B-B14F-4D97-AF65-F5344CB8AC3E}">
        <p14:creationId xmlns:p14="http://schemas.microsoft.com/office/powerpoint/2010/main" val="38018395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Cores básicas e canais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5465851" y="1825624"/>
            <a:ext cx="6596009" cy="5032375"/>
          </a:xfrm>
        </p:spPr>
        <p:txBody>
          <a:bodyPr>
            <a:normAutofit lnSpcReduction="10000"/>
          </a:bodyPr>
          <a:lstStyle/>
          <a:p>
            <a:r>
              <a:rPr lang="pt-BR" dirty="0"/>
              <a:t>Antes de falarmos sobre convolução, vamos falar sobre </a:t>
            </a:r>
            <a:r>
              <a:rPr lang="pt-BR" b="1" i="1" dirty="0">
                <a:solidFill>
                  <a:srgbClr val="00B050"/>
                </a:solidFill>
              </a:rPr>
              <a:t>cores</a:t>
            </a:r>
            <a:r>
              <a:rPr lang="pt-BR" dirty="0"/>
              <a:t> (ou </a:t>
            </a:r>
            <a:r>
              <a:rPr lang="pt-BR" b="1" i="1" dirty="0">
                <a:solidFill>
                  <a:srgbClr val="00B050"/>
                </a:solidFill>
              </a:rPr>
              <a:t>canais</a:t>
            </a:r>
            <a:r>
              <a:rPr lang="pt-BR" dirty="0"/>
              <a:t>).</a:t>
            </a:r>
          </a:p>
          <a:p>
            <a:r>
              <a:rPr lang="pt-BR" dirty="0"/>
              <a:t>Até agora, ignoramos que imagens, em geral, consistem em três canais: vermelho (R), verde (G) e azul (B).</a:t>
            </a:r>
          </a:p>
          <a:p>
            <a:r>
              <a:rPr lang="pt-BR" dirty="0"/>
              <a:t>Imagens coloridas têm canais RGB para indicar a </a:t>
            </a:r>
            <a:r>
              <a:rPr lang="pt-BR" b="1" i="1" dirty="0">
                <a:solidFill>
                  <a:srgbClr val="00B050"/>
                </a:solidFill>
              </a:rPr>
              <a:t>quantidade de vermelho, verde e azul</a:t>
            </a:r>
            <a:r>
              <a:rPr lang="pt-BR" dirty="0"/>
              <a:t>.</a:t>
            </a:r>
          </a:p>
          <a:p>
            <a:r>
              <a:rPr lang="pt-BR" dirty="0"/>
              <a:t>Em suma, as </a:t>
            </a:r>
            <a:r>
              <a:rPr lang="pt-BR" b="1" i="1" dirty="0">
                <a:solidFill>
                  <a:srgbClr val="00B050"/>
                </a:solidFill>
              </a:rPr>
              <a:t>imagens não são</a:t>
            </a:r>
            <a:r>
              <a:rPr lang="pt-BR" dirty="0"/>
              <a:t>, em geral, </a:t>
            </a:r>
            <a:r>
              <a:rPr lang="pt-BR" b="1" i="1" dirty="0">
                <a:solidFill>
                  <a:srgbClr val="00B050"/>
                </a:solidFill>
              </a:rPr>
              <a:t>objetos bidimensionais</a:t>
            </a:r>
            <a:r>
              <a:rPr lang="pt-BR" dirty="0"/>
              <a:t>, mas sim </a:t>
            </a:r>
            <a:r>
              <a:rPr lang="pt-BR" b="1" i="1" dirty="0">
                <a:solidFill>
                  <a:srgbClr val="00B050"/>
                </a:solidFill>
              </a:rPr>
              <a:t>tensores de três dimensões</a:t>
            </a:r>
            <a:r>
              <a:rPr lang="pt-BR" dirty="0"/>
              <a:t>, caracterizados por </a:t>
            </a:r>
            <a:r>
              <a:rPr lang="pt-BR" b="1" i="1" dirty="0">
                <a:solidFill>
                  <a:srgbClr val="7030A0"/>
                </a:solidFill>
              </a:rPr>
              <a:t>altura</a:t>
            </a:r>
            <a:r>
              <a:rPr lang="pt-BR" dirty="0"/>
              <a:t>, </a:t>
            </a:r>
            <a:r>
              <a:rPr lang="pt-BR" b="1" i="1" dirty="0">
                <a:solidFill>
                  <a:srgbClr val="7030A0"/>
                </a:solidFill>
              </a:rPr>
              <a:t>largura</a:t>
            </a:r>
            <a:r>
              <a:rPr lang="pt-BR" dirty="0"/>
              <a:t> e </a:t>
            </a:r>
            <a:r>
              <a:rPr lang="pt-BR" b="1" i="1" dirty="0">
                <a:solidFill>
                  <a:srgbClr val="7030A0"/>
                </a:solidFill>
              </a:rPr>
              <a:t>canal</a:t>
            </a:r>
            <a:r>
              <a:rPr lang="pt-BR" dirty="0"/>
              <a:t>.</a:t>
            </a:r>
          </a:p>
          <a:p>
            <a:endParaRPr lang="pt-BR" dirty="0"/>
          </a:p>
        </p:txBody>
      </p:sp>
      <p:pic>
        <p:nvPicPr>
          <p:cNvPr id="4" name="Imagem 3">
            <a:extLst>
              <a:ext uri="{FF2B5EF4-FFF2-40B4-BE49-F238E27FC236}">
                <a16:creationId xmlns:a16="http://schemas.microsoft.com/office/drawing/2014/main" id="{BF5FDCF5-FA6A-E9B1-8E1D-A0544C66B1B8}"/>
              </a:ext>
            </a:extLst>
          </p:cNvPr>
          <p:cNvPicPr>
            <a:picLocks noChangeAspect="1"/>
          </p:cNvPicPr>
          <p:nvPr/>
        </p:nvPicPr>
        <p:blipFill>
          <a:blip r:embed="rId3"/>
          <a:stretch>
            <a:fillRect/>
          </a:stretch>
        </p:blipFill>
        <p:spPr>
          <a:xfrm>
            <a:off x="517959" y="1959188"/>
            <a:ext cx="2124027" cy="2156490"/>
          </a:xfrm>
          <a:prstGeom prst="rect">
            <a:avLst/>
          </a:prstGeom>
        </p:spPr>
      </p:pic>
      <p:pic>
        <p:nvPicPr>
          <p:cNvPr id="5" name="Imagem 4">
            <a:extLst>
              <a:ext uri="{FF2B5EF4-FFF2-40B4-BE49-F238E27FC236}">
                <a16:creationId xmlns:a16="http://schemas.microsoft.com/office/drawing/2014/main" id="{C045FBDC-0740-0137-66ED-5E9FF5078614}"/>
              </a:ext>
            </a:extLst>
          </p:cNvPr>
          <p:cNvPicPr>
            <a:picLocks noChangeAspect="1"/>
          </p:cNvPicPr>
          <p:nvPr/>
        </p:nvPicPr>
        <p:blipFill>
          <a:blip r:embed="rId4"/>
          <a:stretch>
            <a:fillRect/>
          </a:stretch>
        </p:blipFill>
        <p:spPr>
          <a:xfrm>
            <a:off x="2773502" y="4210618"/>
            <a:ext cx="2165887" cy="2156491"/>
          </a:xfrm>
          <a:prstGeom prst="rect">
            <a:avLst/>
          </a:prstGeom>
        </p:spPr>
      </p:pic>
    </p:spTree>
    <p:extLst>
      <p:ext uri="{BB962C8B-B14F-4D97-AF65-F5344CB8AC3E}">
        <p14:creationId xmlns:p14="http://schemas.microsoft.com/office/powerpoint/2010/main" val="2257087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8" y="1825624"/>
            <a:ext cx="6295696" cy="5032375"/>
          </a:xfrm>
        </p:spPr>
        <p:txBody>
          <a:bodyPr>
            <a:normAutofit/>
          </a:bodyPr>
          <a:lstStyle/>
          <a:p>
            <a:r>
              <a:rPr lang="pt-BR" dirty="0"/>
              <a:t>Um </a:t>
            </a:r>
            <a:r>
              <a:rPr lang="pt-BR" b="1" i="1" dirty="0">
                <a:solidFill>
                  <a:srgbClr val="7030A0"/>
                </a:solidFill>
                <a:effectLst/>
              </a:rPr>
              <a:t>kernel</a:t>
            </a:r>
            <a:r>
              <a:rPr lang="pt-BR" b="0" i="0" dirty="0">
                <a:effectLst/>
              </a:rPr>
              <a:t> é um tensor (em geral em 3D) responsável por </a:t>
            </a:r>
            <a:r>
              <a:rPr lang="pt-BR" b="1" i="1" dirty="0">
                <a:solidFill>
                  <a:srgbClr val="00B050"/>
                </a:solidFill>
                <a:effectLst/>
              </a:rPr>
              <a:t>detectar características específicas em uma imagem</a:t>
            </a:r>
            <a:r>
              <a:rPr lang="pt-BR" b="0" i="0" dirty="0">
                <a:effectLst/>
              </a:rPr>
              <a:t>.</a:t>
            </a:r>
          </a:p>
          <a:p>
            <a:r>
              <a:rPr lang="pt-BR" dirty="0"/>
              <a:t>Ele </a:t>
            </a:r>
            <a:r>
              <a:rPr lang="pt-BR" b="0" i="0" dirty="0">
                <a:effectLst/>
              </a:rPr>
              <a:t>percorre </a:t>
            </a:r>
            <a:r>
              <a:rPr lang="pt-BR" dirty="0"/>
              <a:t>uma</a:t>
            </a:r>
            <a:r>
              <a:rPr lang="pt-BR" b="0" i="0" dirty="0">
                <a:effectLst/>
              </a:rPr>
              <a:t> imagem e realiza </a:t>
            </a:r>
            <a:r>
              <a:rPr lang="pt-BR" b="1" i="1" dirty="0">
                <a:solidFill>
                  <a:srgbClr val="00B050"/>
                </a:solidFill>
                <a:effectLst/>
              </a:rPr>
              <a:t>operações convolução</a:t>
            </a:r>
            <a:r>
              <a:rPr lang="pt-BR" b="0" i="0" dirty="0">
                <a:effectLst/>
              </a:rPr>
              <a:t> entre seus valores e os dos </a:t>
            </a:r>
            <a:r>
              <a:rPr lang="pt-BR" b="0" i="1" dirty="0">
                <a:effectLst/>
              </a:rPr>
              <a:t>pixels</a:t>
            </a:r>
            <a:r>
              <a:rPr lang="pt-BR" b="0" i="0" dirty="0">
                <a:effectLst/>
              </a:rPr>
              <a:t> na região da imagem correspondente ao seu</a:t>
            </a:r>
            <a:r>
              <a:rPr lang="pt-BR" dirty="0"/>
              <a:t> </a:t>
            </a:r>
            <a:r>
              <a:rPr lang="pt-BR" b="1" i="1" dirty="0">
                <a:solidFill>
                  <a:srgbClr val="00B050"/>
                </a:solidFill>
                <a:effectLst/>
              </a:rPr>
              <a:t>campo receptivo</a:t>
            </a:r>
            <a:r>
              <a:rPr lang="pt-BR" b="0" i="0" dirty="0">
                <a:effectLst/>
              </a:rPr>
              <a:t>.</a:t>
            </a: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i="0" dirty="0">
                <a:effectLst/>
              </a:rPr>
              <a:t>Cada </a:t>
            </a:r>
            <a:r>
              <a:rPr lang="pt-BR" b="1" i="1" dirty="0">
                <a:effectLst/>
              </a:rPr>
              <a:t>kernel</a:t>
            </a:r>
            <a:r>
              <a:rPr lang="pt-BR" b="0" i="0" dirty="0">
                <a:effectLst/>
              </a:rPr>
              <a:t> </a:t>
            </a:r>
            <a:r>
              <a:rPr lang="pt-BR" b="1" i="1" dirty="0">
                <a:solidFill>
                  <a:srgbClr val="00B050"/>
                </a:solidFill>
                <a:effectLst/>
              </a:rPr>
              <a:t>detecta um tipo particular de característica</a:t>
            </a:r>
            <a:r>
              <a:rPr lang="pt-BR" b="0" i="0" dirty="0">
                <a:effectLst/>
              </a:rPr>
              <a:t>, como bordas, texturas, padrões ou partes específicas de objetos. </a:t>
            </a:r>
          </a:p>
          <a:p>
            <a:r>
              <a:rPr lang="pt-BR" b="0" i="0" dirty="0">
                <a:effectLst/>
              </a:rPr>
              <a:t>Os </a:t>
            </a:r>
            <a:r>
              <a:rPr lang="pt-BR" b="1" i="1" dirty="0">
                <a:effectLst/>
              </a:rPr>
              <a:t>kernels</a:t>
            </a:r>
            <a:r>
              <a:rPr lang="pt-BR" b="0" i="0" dirty="0">
                <a:effectLst/>
              </a:rPr>
              <a:t> </a:t>
            </a:r>
            <a:r>
              <a:rPr lang="pt-BR" b="1" i="1" dirty="0">
                <a:solidFill>
                  <a:srgbClr val="7030A0"/>
                </a:solidFill>
                <a:effectLst/>
              </a:rPr>
              <a:t>aprendem</a:t>
            </a:r>
            <a:r>
              <a:rPr lang="pt-BR" b="0" i="0" dirty="0">
                <a:effectLst/>
              </a:rPr>
              <a:t> a </a:t>
            </a:r>
            <a:r>
              <a:rPr lang="pt-BR" b="1" i="1" dirty="0">
                <a:solidFill>
                  <a:srgbClr val="00B050"/>
                </a:solidFill>
                <a:effectLst/>
              </a:rPr>
              <a:t>detectar</a:t>
            </a:r>
            <a:r>
              <a:rPr lang="pt-BR" b="0" i="0" dirty="0">
                <a:effectLst/>
              </a:rPr>
              <a:t> as características mais relevantes para a tarefa específica em mãos.</a:t>
            </a:r>
          </a:p>
          <a:p>
            <a:pPr lvl="1">
              <a:buFont typeface="Wingdings" panose="05000000000000000000" pitchFamily="2" charset="2"/>
              <a:buChar char="§"/>
            </a:pPr>
            <a:r>
              <a:rPr lang="pt-BR" b="0" i="0" dirty="0">
                <a:effectLst/>
              </a:rPr>
              <a:t>Eles </a:t>
            </a:r>
            <a:r>
              <a:rPr lang="pt-BR" b="1" i="1" dirty="0">
                <a:effectLst/>
              </a:rPr>
              <a:t>aprendem</a:t>
            </a:r>
            <a:r>
              <a:rPr lang="pt-BR" b="0" i="0" dirty="0">
                <a:effectLst/>
              </a:rPr>
              <a:t>, a partir do </a:t>
            </a:r>
            <a:r>
              <a:rPr lang="pt-BR" b="1" i="1" dirty="0">
                <a:effectLst/>
              </a:rPr>
              <a:t>conjunto de treinamento</a:t>
            </a:r>
            <a:r>
              <a:rPr lang="pt-BR" b="0" i="0" dirty="0">
                <a:effectLst/>
              </a:rPr>
              <a:t>, os valores dos </a:t>
            </a:r>
            <a:r>
              <a:rPr lang="pt-BR" b="1" i="1" dirty="0">
                <a:effectLst/>
              </a:rPr>
              <a:t>elementos do tensor</a:t>
            </a:r>
            <a:r>
              <a:rPr lang="pt-BR" b="0" i="0" dirty="0">
                <a:effectLst/>
              </a:rPr>
              <a:t>, necessários para </a:t>
            </a:r>
            <a:r>
              <a:rPr lang="pt-BR" b="1" i="1" dirty="0">
                <a:effectLst/>
              </a:rPr>
              <a:t>detectar um determinada característica</a:t>
            </a:r>
            <a:r>
              <a:rPr lang="pt-BR" b="0" i="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entrada da operação de convolução é chamada de </a:t>
                </a:r>
                <a:r>
                  <a:rPr lang="pt-BR" b="1" i="1" dirty="0" err="1">
                    <a:solidFill>
                      <a:srgbClr val="7030A0"/>
                    </a:solidFill>
                  </a:rPr>
                  <a:t>feature</a:t>
                </a:r>
                <a:r>
                  <a:rPr lang="pt-BR" b="1" i="1" dirty="0">
                    <a:solidFill>
                      <a:srgbClr val="7030A0"/>
                    </a:solidFill>
                  </a:rPr>
                  <a:t> </a:t>
                </a:r>
                <a:r>
                  <a:rPr lang="pt-BR" b="1" i="1" dirty="0" err="1">
                    <a:solidFill>
                      <a:srgbClr val="7030A0"/>
                    </a:solidFill>
                  </a:rPr>
                  <a:t>map</a:t>
                </a:r>
                <a:r>
                  <a:rPr lang="pt-BR" b="1" i="1" dirty="0"/>
                  <a:t> </a:t>
                </a:r>
                <a:r>
                  <a:rPr lang="pt-BR" dirty="0"/>
                  <a:t>ou </a:t>
                </a:r>
                <a:r>
                  <a:rPr lang="pt-BR" b="1" i="1" dirty="0">
                    <a:solidFill>
                      <a:srgbClr val="7030A0"/>
                    </a:solidFill>
                  </a:rPr>
                  <a:t>mapa de característica</a:t>
                </a:r>
                <a:r>
                  <a:rPr lang="pt-BR" i="1" dirty="0"/>
                  <a:t>.</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2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 </a:t>
            </a:r>
            <a:r>
              <a:rPr lang="pt-BR" b="1" i="1" dirty="0"/>
              <a:t>janela de convolução</a:t>
            </a:r>
            <a:r>
              <a:rPr lang="pt-BR" dirty="0"/>
              <a:t> 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Lembrando que o </a:t>
            </a:r>
            <a:r>
              <a:rPr lang="pt-BR" b="1" i="1" dirty="0">
                <a:solidFill>
                  <a:srgbClr val="7030A0"/>
                </a:solidFill>
              </a:rPr>
              <a:t>objetivo</a:t>
            </a:r>
            <a:r>
              <a:rPr lang="pt-BR" dirty="0"/>
              <a:t> dos </a:t>
            </a:r>
            <a:r>
              <a:rPr lang="pt-BR" b="1" i="1" dirty="0">
                <a:solidFill>
                  <a:srgbClr val="00B050"/>
                </a:solidFill>
              </a:rPr>
              <a:t>kernels</a:t>
            </a:r>
            <a:r>
              <a:rPr lang="pt-BR" dirty="0"/>
              <a:t> é </a:t>
            </a:r>
            <a:r>
              <a:rPr lang="pt-BR" b="1" i="1" dirty="0">
                <a:solidFill>
                  <a:srgbClr val="7030A0"/>
                </a:solidFill>
              </a:rPr>
              <a:t>extrair características</a:t>
            </a:r>
            <a:r>
              <a:rPr lang="pt-BR" dirty="0"/>
              <a:t>.</a:t>
            </a:r>
          </a:p>
          <a:p>
            <a:r>
              <a:rPr lang="pt-BR" dirty="0"/>
              <a:t>Portanto, o resultado da operação de convolução é chamado de </a:t>
            </a:r>
            <a:r>
              <a:rPr lang="pt-BR" b="1" i="1" dirty="0"/>
              <a:t>mapa de característica ou de ativação.</a:t>
            </a:r>
            <a:endParaRPr lang="pt-BR" dirty="0"/>
          </a:p>
          <a:p>
            <a:r>
              <a:rPr lang="pt-BR" dirty="0"/>
              <a:t>É chamado assim pois ele </a:t>
            </a:r>
            <a:r>
              <a:rPr lang="pt-BR" b="1" i="1" dirty="0">
                <a:solidFill>
                  <a:srgbClr val="00B050"/>
                </a:solidFill>
              </a:rPr>
              <a:t>fornece as respostas desse filtro em cada posição espacial</a:t>
            </a:r>
            <a:r>
              <a:rPr lang="pt-BR" dirty="0"/>
              <a:t> da imagem.</a:t>
            </a:r>
          </a:p>
          <a:p>
            <a:r>
              <a:rPr lang="pt-BR" dirty="0"/>
              <a:t>Um </a:t>
            </a:r>
            <a:r>
              <a:rPr lang="pt-BR" b="1" i="1" dirty="0">
                <a:solidFill>
                  <a:srgbClr val="00B050"/>
                </a:solidFill>
              </a:rPr>
              <a:t>valor</a:t>
            </a:r>
            <a:r>
              <a:rPr lang="pt-BR" dirty="0"/>
              <a:t> (ou ativação) </a:t>
            </a:r>
            <a:r>
              <a:rPr lang="pt-BR" b="1" i="1" dirty="0">
                <a:solidFill>
                  <a:srgbClr val="00B050"/>
                </a:solidFill>
              </a:rPr>
              <a:t>alto</a:t>
            </a:r>
            <a:r>
              <a:rPr lang="pt-BR" dirty="0"/>
              <a:t>, significa que um determinada </a:t>
            </a:r>
            <a:r>
              <a:rPr lang="pt-BR" b="1" i="1" dirty="0">
                <a:solidFill>
                  <a:srgbClr val="00B050"/>
                </a:solidFill>
              </a:rPr>
              <a:t>característica foi encontrada</a:t>
            </a:r>
            <a:r>
              <a:rPr lang="pt-BR" dirty="0"/>
              <a: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Neste exemplo anterior, deslizamos a janela um elemento por vez. </a:t>
            </a:r>
          </a:p>
          <a:p>
            <a:r>
              <a:rPr lang="pt-BR" dirty="0"/>
              <a:t>Porém, às vezes, seja por eficiência computacional ou porque desejamos reduzir a resolução,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F93526-2643-38B3-0F79-2A58A0F30784}"/>
              </a:ext>
            </a:extLst>
          </p:cNvPr>
          <p:cNvSpPr>
            <a:spLocks noGrp="1"/>
          </p:cNvSpPr>
          <p:nvPr>
            <p:ph type="title"/>
          </p:nvPr>
        </p:nvSpPr>
        <p:spPr/>
        <p:txBody>
          <a:bodyPr/>
          <a:lstStyle/>
          <a:p>
            <a:r>
              <a:rPr lang="pt-BR" dirty="0"/>
              <a:t>Convolução ou correlação cruzada?</a:t>
            </a:r>
          </a:p>
        </p:txBody>
      </p:sp>
      <p:sp>
        <p:nvSpPr>
          <p:cNvPr id="3" name="Espaço Reservado para Conteúdo 2">
            <a:extLst>
              <a:ext uri="{FF2B5EF4-FFF2-40B4-BE49-F238E27FC236}">
                <a16:creationId xmlns:a16="http://schemas.microsoft.com/office/drawing/2014/main" id="{F2D259D8-2FCF-3974-1561-D1364A9EC8C6}"/>
              </a:ext>
            </a:extLst>
          </p:cNvPr>
          <p:cNvSpPr>
            <a:spLocks noGrp="1"/>
          </p:cNvSpPr>
          <p:nvPr>
            <p:ph idx="1"/>
          </p:nvPr>
        </p:nvSpPr>
        <p:spPr>
          <a:xfrm>
            <a:off x="5485461" y="1825624"/>
            <a:ext cx="6556345" cy="5032375"/>
          </a:xfrm>
        </p:spPr>
        <p:txBody>
          <a:bodyPr>
            <a:normAutofit lnSpcReduction="10000"/>
          </a:bodyPr>
          <a:lstStyle/>
          <a:p>
            <a:r>
              <a:rPr lang="pt-BR" b="0" i="0" dirty="0">
                <a:effectLst/>
              </a:rPr>
              <a:t>As operações em uma CNN, embora sejam chamadas de convoluções, são implementadas como </a:t>
            </a:r>
            <a:r>
              <a:rPr lang="pt-BR" b="1" i="1" dirty="0">
                <a:solidFill>
                  <a:srgbClr val="00B050"/>
                </a:solidFill>
                <a:effectLst/>
              </a:rPr>
              <a:t>correlações cruzadas</a:t>
            </a:r>
            <a:r>
              <a:rPr lang="pt-BR" b="0" i="0" dirty="0">
                <a:effectLst/>
              </a:rPr>
              <a:t> na maioria das bibliotecas.</a:t>
            </a:r>
          </a:p>
          <a:p>
            <a:pPr lvl="1">
              <a:buFont typeface="Wingdings" panose="05000000000000000000" pitchFamily="2" charset="2"/>
              <a:buChar char="§"/>
            </a:pPr>
            <a:r>
              <a:rPr lang="pt-BR" b="0" i="0" dirty="0">
                <a:effectLst/>
              </a:rPr>
              <a:t>Correlações</a:t>
            </a:r>
            <a:r>
              <a:rPr lang="pt-BR" dirty="0"/>
              <a:t> são</a:t>
            </a:r>
            <a:r>
              <a:rPr lang="pt-BR" b="0" i="0" dirty="0">
                <a:effectLst/>
              </a:rPr>
              <a:t> mais </a:t>
            </a:r>
            <a:r>
              <a:rPr lang="pt-BR" b="1" i="1" dirty="0">
                <a:solidFill>
                  <a:srgbClr val="00B050"/>
                </a:solidFill>
                <a:effectLst/>
              </a:rPr>
              <a:t>eficientes</a:t>
            </a:r>
            <a:r>
              <a:rPr lang="pt-BR" b="0" i="0" dirty="0">
                <a:effectLst/>
              </a:rPr>
              <a:t> (sem inversão</a:t>
            </a:r>
            <a:r>
              <a:rPr lang="pt-BR" b="1" i="1" dirty="0">
                <a:solidFill>
                  <a:srgbClr val="00B050"/>
                </a:solidFill>
                <a:effectLst/>
              </a:rPr>
              <a:t>) e simples de serem implementadas</a:t>
            </a:r>
            <a:r>
              <a:rPr lang="pt-BR" b="0" i="0" dirty="0">
                <a:effectLst/>
              </a:rPr>
              <a:t>.</a:t>
            </a:r>
          </a:p>
          <a:p>
            <a:r>
              <a:rPr lang="pt-BR" b="0" i="0" dirty="0">
                <a:effectLst/>
              </a:rPr>
              <a:t>Ao contrário da operação de convolução, as </a:t>
            </a:r>
            <a:r>
              <a:rPr lang="pt-BR" b="0" i="0" dirty="0" err="1">
                <a:effectLst/>
              </a:rPr>
              <a:t>CNNs</a:t>
            </a:r>
            <a:r>
              <a:rPr lang="pt-BR" b="0" i="0" dirty="0">
                <a:effectLst/>
              </a:rPr>
              <a:t> </a:t>
            </a:r>
            <a:r>
              <a:rPr lang="pt-BR" b="1" i="1" dirty="0">
                <a:solidFill>
                  <a:srgbClr val="00B050"/>
                </a:solidFill>
                <a:effectLst/>
              </a:rPr>
              <a:t>não invertem o kernel </a:t>
            </a:r>
            <a:r>
              <a:rPr lang="pt-BR" dirty="0">
                <a:effectLst/>
              </a:rPr>
              <a:t>(ou o sinal de entrada)</a:t>
            </a:r>
            <a:r>
              <a:rPr lang="pt-BR" b="0" i="0" dirty="0">
                <a:effectLst/>
              </a:rPr>
              <a:t>.</a:t>
            </a:r>
          </a:p>
          <a:p>
            <a:r>
              <a:rPr lang="pt-BR" b="0" i="0" dirty="0">
                <a:effectLst/>
              </a:rPr>
              <a:t>No entanto, </a:t>
            </a:r>
            <a:r>
              <a:rPr lang="pt-BR" b="1" i="1" dirty="0">
                <a:solidFill>
                  <a:srgbClr val="00B050"/>
                </a:solidFill>
                <a:effectLst/>
              </a:rPr>
              <a:t>isso não importa</a:t>
            </a:r>
            <a:r>
              <a:rPr lang="pt-BR" b="0" i="0" dirty="0">
                <a:effectLst/>
              </a:rPr>
              <a:t>, pois os </a:t>
            </a:r>
            <a:r>
              <a:rPr lang="pt-BR" b="1" i="1" dirty="0">
                <a:solidFill>
                  <a:srgbClr val="7030A0"/>
                </a:solidFill>
                <a:effectLst/>
              </a:rPr>
              <a:t>kernels</a:t>
            </a:r>
            <a:r>
              <a:rPr lang="pt-BR" b="0" i="0" dirty="0">
                <a:effectLst/>
              </a:rPr>
              <a:t> são </a:t>
            </a:r>
            <a:r>
              <a:rPr lang="pt-BR" b="1" i="1" dirty="0">
                <a:solidFill>
                  <a:srgbClr val="00B050"/>
                </a:solidFill>
                <a:effectLst/>
              </a:rPr>
              <a:t>aprendidos</a:t>
            </a:r>
            <a:r>
              <a:rPr lang="pt-BR" b="0" i="0" dirty="0">
                <a:effectLst/>
              </a:rPr>
              <a:t> e podem se adaptar tanto à correlação cruzada quanto à convolução</a:t>
            </a:r>
            <a:r>
              <a:rPr lang="pt-BR" dirty="0"/>
              <a:t>.</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DB03602D-C752-319A-4E0C-B2FB849B25E9}"/>
                  </a:ext>
                </a:extLst>
              </p:cNvPr>
              <p:cNvSpPr txBox="1"/>
              <p:nvPr/>
            </p:nvSpPr>
            <p:spPr>
              <a:xfrm>
                <a:off x="273481" y="4341811"/>
                <a:ext cx="6095998" cy="155882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pt-BR" sz="2800" b="0" i="0" smtClean="0">
                          <a:latin typeface="Cambria Math" panose="02040503050406030204" pitchFamily="18" charset="0"/>
                        </a:rPr>
                        <m:t>O</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b="0" i="1" smtClean="0">
                          <a:latin typeface="Cambria Math" panose="02040503050406030204" pitchFamily="18" charset="0"/>
                        </a:rPr>
                        <m:t>  </m:t>
                      </m:r>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5" name="CaixaDeTexto 4">
                <a:extLst>
                  <a:ext uri="{FF2B5EF4-FFF2-40B4-BE49-F238E27FC236}">
                    <a16:creationId xmlns:a16="http://schemas.microsoft.com/office/drawing/2014/main" id="{DB03602D-C752-319A-4E0C-B2FB849B25E9}"/>
                  </a:ext>
                </a:extLst>
              </p:cNvPr>
              <p:cNvSpPr txBox="1">
                <a:spLocks noRot="1" noChangeAspect="1" noMove="1" noResize="1" noEditPoints="1" noAdjustHandles="1" noChangeArrowheads="1" noChangeShapeType="1" noTextEdit="1"/>
              </p:cNvSpPr>
              <p:nvPr/>
            </p:nvSpPr>
            <p:spPr>
              <a:xfrm>
                <a:off x="273481" y="4341811"/>
                <a:ext cx="6095998" cy="1558825"/>
              </a:xfrm>
              <a:prstGeom prst="rect">
                <a:avLst/>
              </a:prstGeom>
              <a:blipFill>
                <a:blip r:embed="rId3"/>
                <a:stretch>
                  <a:fillRect l="-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7F322521-45CB-3869-26AB-BCD9F5D5693B}"/>
                  </a:ext>
                </a:extLst>
              </p:cNvPr>
              <p:cNvSpPr txBox="1"/>
              <p:nvPr/>
            </p:nvSpPr>
            <p:spPr>
              <a:xfrm>
                <a:off x="391722" y="1943160"/>
                <a:ext cx="6095999" cy="155882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r>
                        <a:rPr lang="pt-BR" sz="2800" i="1">
                          <a:latin typeface="Cambria Math" panose="02040503050406030204" pitchFamily="18" charset="0"/>
                        </a:rPr>
                        <m:t>𝐾</m:t>
                      </m:r>
                      <m:d>
                        <m:dPr>
                          <m:ctrlPr>
                            <a:rPr lang="pt-BR" sz="2800" i="1">
                              <a:latin typeface="Cambria Math" panose="02040503050406030204" pitchFamily="18" charset="0"/>
                            </a:rPr>
                          </m:ctrlPr>
                        </m:dPr>
                        <m:e>
                          <m:r>
                            <a:rPr lang="pt-BR" sz="2800" i="1">
                              <a:latin typeface="Cambria Math" panose="02040503050406030204" pitchFamily="18" charset="0"/>
                            </a:rPr>
                            <m:t>𝑖</m:t>
                          </m:r>
                        </m:e>
                      </m:d>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𝐼</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𝑗</m:t>
                          </m:r>
                        </m:e>
                      </m:d>
                      <m:r>
                        <a:rPr lang="pt-BR" sz="2800" i="1">
                          <a:latin typeface="Cambria Math" panose="02040503050406030204" pitchFamily="18" charset="0"/>
                          <a:ea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9" name="CaixaDeTexto 8">
                <a:extLst>
                  <a:ext uri="{FF2B5EF4-FFF2-40B4-BE49-F238E27FC236}">
                    <a16:creationId xmlns:a16="http://schemas.microsoft.com/office/drawing/2014/main" id="{7F322521-45CB-3869-26AB-BCD9F5D5693B}"/>
                  </a:ext>
                </a:extLst>
              </p:cNvPr>
              <p:cNvSpPr txBox="1">
                <a:spLocks noRot="1" noChangeAspect="1" noMove="1" noResize="1" noEditPoints="1" noAdjustHandles="1" noChangeArrowheads="1" noChangeShapeType="1" noTextEdit="1"/>
              </p:cNvSpPr>
              <p:nvPr/>
            </p:nvSpPr>
            <p:spPr>
              <a:xfrm>
                <a:off x="391722" y="1943160"/>
                <a:ext cx="6095999" cy="1558825"/>
              </a:xfrm>
              <a:prstGeom prst="rect">
                <a:avLst/>
              </a:prstGeom>
              <a:blipFill>
                <a:blip r:embed="rId4"/>
                <a:stretch>
                  <a:fillRect l="-500"/>
                </a:stretch>
              </a:blipFill>
            </p:spPr>
            <p:txBody>
              <a:bodyPr/>
              <a:lstStyle/>
              <a:p>
                <a:r>
                  <a:rPr lang="pt-BR">
                    <a:noFill/>
                  </a:rPr>
                  <a:t> </a:t>
                </a:r>
              </a:p>
            </p:txBody>
          </p:sp>
        </mc:Fallback>
      </mc:AlternateContent>
      <p:sp>
        <p:nvSpPr>
          <p:cNvPr id="4" name="Chave Esquerda 3">
            <a:extLst>
              <a:ext uri="{FF2B5EF4-FFF2-40B4-BE49-F238E27FC236}">
                <a16:creationId xmlns:a16="http://schemas.microsoft.com/office/drawing/2014/main" id="{BDAD0916-6546-14FF-9C8D-5390D356A83F}"/>
              </a:ext>
            </a:extLst>
          </p:cNvPr>
          <p:cNvSpPr/>
          <p:nvPr/>
        </p:nvSpPr>
        <p:spPr>
          <a:xfrm rot="16200000">
            <a:off x="2672103" y="1212215"/>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9E0047B6-B460-555E-A0C6-4578190E1737}"/>
              </a:ext>
            </a:extLst>
          </p:cNvPr>
          <p:cNvSpPr txBox="1"/>
          <p:nvPr/>
        </p:nvSpPr>
        <p:spPr>
          <a:xfrm>
            <a:off x="391722" y="3768746"/>
            <a:ext cx="4929356" cy="369332"/>
          </a:xfrm>
          <a:prstGeom prst="rect">
            <a:avLst/>
          </a:prstGeom>
          <a:noFill/>
        </p:spPr>
        <p:txBody>
          <a:bodyPr wrap="square" rtlCol="0">
            <a:spAutoFit/>
          </a:bodyPr>
          <a:lstStyle/>
          <a:p>
            <a:pPr algn="ctr"/>
            <a:r>
              <a:rPr lang="pt-BR" b="1" dirty="0">
                <a:solidFill>
                  <a:schemeClr val="accent2"/>
                </a:solidFill>
              </a:rPr>
              <a:t>Convolução</a:t>
            </a:r>
          </a:p>
        </p:txBody>
      </p:sp>
      <p:sp>
        <p:nvSpPr>
          <p:cNvPr id="7" name="Chave Esquerda 6">
            <a:extLst>
              <a:ext uri="{FF2B5EF4-FFF2-40B4-BE49-F238E27FC236}">
                <a16:creationId xmlns:a16="http://schemas.microsoft.com/office/drawing/2014/main" id="{41252DA0-FF01-2733-F699-602C97C6C0A4}"/>
              </a:ext>
            </a:extLst>
          </p:cNvPr>
          <p:cNvSpPr/>
          <p:nvPr/>
        </p:nvSpPr>
        <p:spPr>
          <a:xfrm rot="16200000">
            <a:off x="2553862" y="3640060"/>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CaixaDeTexto 7">
            <a:extLst>
              <a:ext uri="{FF2B5EF4-FFF2-40B4-BE49-F238E27FC236}">
                <a16:creationId xmlns:a16="http://schemas.microsoft.com/office/drawing/2014/main" id="{1ABE3302-5259-399A-0E22-12ACD8479E69}"/>
              </a:ext>
            </a:extLst>
          </p:cNvPr>
          <p:cNvSpPr txBox="1"/>
          <p:nvPr/>
        </p:nvSpPr>
        <p:spPr>
          <a:xfrm>
            <a:off x="273481" y="6196591"/>
            <a:ext cx="4929356" cy="369332"/>
          </a:xfrm>
          <a:prstGeom prst="rect">
            <a:avLst/>
          </a:prstGeom>
          <a:noFill/>
        </p:spPr>
        <p:txBody>
          <a:bodyPr wrap="square" rtlCol="0">
            <a:spAutoFit/>
          </a:bodyPr>
          <a:lstStyle/>
          <a:p>
            <a:pPr algn="ctr"/>
            <a:r>
              <a:rPr lang="pt-BR" b="1" dirty="0">
                <a:solidFill>
                  <a:schemeClr val="accent2"/>
                </a:solidFill>
              </a:rPr>
              <a:t>Correlação cruzada</a:t>
            </a:r>
          </a:p>
        </p:txBody>
      </p:sp>
    </p:spTree>
    <p:extLst>
      <p:ext uri="{BB962C8B-B14F-4D97-AF65-F5344CB8AC3E}">
        <p14:creationId xmlns:p14="http://schemas.microsoft.com/office/powerpoint/2010/main" val="5099937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i="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40454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Tree>
    <p:extLst>
      <p:ext uri="{BB962C8B-B14F-4D97-AF65-F5344CB8AC3E}">
        <p14:creationId xmlns:p14="http://schemas.microsoft.com/office/powerpoint/2010/main" val="7441380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Tree>
    <p:extLst>
      <p:ext uri="{BB962C8B-B14F-4D97-AF65-F5344CB8AC3E}">
        <p14:creationId xmlns:p14="http://schemas.microsoft.com/office/powerpoint/2010/main" val="12590310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Tree>
    <p:extLst>
      <p:ext uri="{BB962C8B-B14F-4D97-AF65-F5344CB8AC3E}">
        <p14:creationId xmlns:p14="http://schemas.microsoft.com/office/powerpoint/2010/main" val="19840035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659375" cy="5032375"/>
              </a:xfrm>
            </p:spPr>
            <p:txBody>
              <a:bodyPr>
                <a:normAutofit/>
              </a:bodyPr>
              <a:lstStyle/>
              <a:p>
                <a:r>
                  <a:rPr lang="pt-BR" dirty="0"/>
                  <a:t>Em geral, cada </a:t>
                </a:r>
                <a:r>
                  <a:rPr lang="pt-BR" b="1" i="1" dirty="0">
                    <a:solidFill>
                      <a:srgbClr val="00B050"/>
                    </a:solidFill>
                  </a:rPr>
                  <a:t>camada convolucional possui </a:t>
                </a:r>
                <a:r>
                  <a:rPr lang="pt-BR" b="1" i="1" dirty="0">
                    <a:solidFill>
                      <a:srgbClr val="7030A0"/>
                    </a:solidFill>
                  </a:rPr>
                  <a:t>vários</a:t>
                </a:r>
                <a:r>
                  <a:rPr lang="pt-BR" b="1" i="1" dirty="0">
                    <a:solidFill>
                      <a:srgbClr val="00B050"/>
                    </a:solidFill>
                  </a:rPr>
                  <a:t> kernels</a:t>
                </a:r>
                <a:r>
                  <a:rPr lang="pt-BR" dirty="0"/>
                  <a:t>.</a:t>
                </a:r>
              </a:p>
              <a:p>
                <a:r>
                  <a:rPr lang="pt-BR" dirty="0"/>
                  <a:t>Cada </a:t>
                </a:r>
                <a:r>
                  <a:rPr lang="pt-BR" b="1" dirty="0">
                    <a:solidFill>
                      <a:srgbClr val="7030A0"/>
                    </a:solidFill>
                  </a:rPr>
                  <a:t>kernel detecta uma característica diferente</a:t>
                </a:r>
                <a:r>
                  <a:rPr lang="pt-BR" dirty="0"/>
                  <a:t>.</a:t>
                </a:r>
              </a:p>
              <a:p>
                <a:r>
                  <a:rPr lang="pt-BR" dirty="0"/>
                  <a:t>O resultado da convolução tem um valor de </a:t>
                </a:r>
                <a:r>
                  <a:rPr lang="pt-BR" i="1" dirty="0"/>
                  <a:t>bias</a:t>
                </a:r>
                <a:r>
                  <a:rPr lang="pt-BR" dirty="0"/>
                  <a:t> somado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(e.g., ReLU).</a:t>
                </a:r>
              </a:p>
              <a:p>
                <a:r>
                  <a:rPr lang="pt-BR" dirty="0"/>
                  <a:t>A saída da camada é o resultado do </a:t>
                </a:r>
                <a:r>
                  <a:rPr lang="pt-BR" b="1" i="1" dirty="0"/>
                  <a:t>empilhamento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659375" cy="5032375"/>
              </a:xfrm>
              <a:blipFill>
                <a:blip r:embed="rId3"/>
                <a:stretch>
                  <a:fillRect l="-1940" t="-1937" r="-1724"/>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829425" y="1825624"/>
            <a:ext cx="5267326" cy="5032375"/>
          </a:xfrm>
        </p:spPr>
        <p:txBody>
          <a:bodyPr>
            <a:normAutofit/>
          </a:bodyPr>
          <a:lstStyle/>
          <a:p>
            <a:r>
              <a:rPr lang="pt-BR" dirty="0"/>
              <a:t>A saída de uma camada de convolução é chamada de </a:t>
            </a:r>
            <a:r>
              <a:rPr lang="pt-BR" b="1" i="1" dirty="0">
                <a:solidFill>
                  <a:srgbClr val="00B050"/>
                </a:solidFill>
              </a:rPr>
              <a:t>mapa de características (ou ativações)</a:t>
            </a:r>
            <a:r>
              <a:rPr lang="pt-BR" dirty="0"/>
              <a:t>.</a:t>
            </a:r>
          </a:p>
          <a:p>
            <a:r>
              <a:rPr lang="pt-BR" dirty="0"/>
              <a:t>Ele é o resultado da aplicação das operações</a:t>
            </a:r>
            <a:r>
              <a:rPr lang="pt-BR" b="0" i="0" dirty="0">
                <a:effectLst/>
              </a:rPr>
              <a:t> de convolução,  ativação e </a:t>
            </a:r>
            <a:r>
              <a:rPr lang="pt-BR" b="0" i="1" dirty="0" err="1">
                <a:effectLst/>
              </a:rPr>
              <a:t>pooling</a:t>
            </a:r>
            <a:r>
              <a:rPr lang="pt-BR" b="0" i="1" dirty="0">
                <a:effectLst/>
              </a:rPr>
              <a:t> </a:t>
            </a:r>
            <a:r>
              <a:rPr lang="pt-BR" b="1" i="1" dirty="0">
                <a:solidFill>
                  <a:srgbClr val="00B050"/>
                </a:solidFill>
                <a:effectLst/>
              </a:rPr>
              <a:t>a cada trecho da imagem</a:t>
            </a:r>
            <a:r>
              <a:rPr lang="pt-BR" b="0" i="0" dirty="0">
                <a:effectLst/>
              </a:rPr>
              <a:t>.</a:t>
            </a:r>
          </a:p>
          <a:p>
            <a:r>
              <a:rPr lang="pt-BR" b="0" i="0" dirty="0">
                <a:effectLst/>
              </a:rPr>
              <a:t>Cada mapa de características ao longo das camadas da rede representa características extraídas da imagem de entrada.</a:t>
            </a:r>
          </a:p>
        </p:txBody>
      </p:sp>
      <p:pic>
        <p:nvPicPr>
          <p:cNvPr id="1026" name="Picture 2" descr="Understanding Convolutional Neural Network: A Complete Guide">
            <a:extLst>
              <a:ext uri="{FF2B5EF4-FFF2-40B4-BE49-F238E27FC236}">
                <a16:creationId xmlns:a16="http://schemas.microsoft.com/office/drawing/2014/main" id="{AED33207-2232-940E-DDB5-348407D736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249" y="2190776"/>
            <a:ext cx="6605514" cy="388084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487AA1AB-3093-B696-86D4-1C0FF423C66E}"/>
              </a:ext>
            </a:extLst>
          </p:cNvPr>
          <p:cNvSpPr txBox="1"/>
          <p:nvPr/>
        </p:nvSpPr>
        <p:spPr>
          <a:xfrm>
            <a:off x="0" y="6396335"/>
            <a:ext cx="4458878" cy="461665"/>
          </a:xfrm>
          <a:prstGeom prst="rect">
            <a:avLst/>
          </a:prstGeom>
          <a:noFill/>
        </p:spPr>
        <p:txBody>
          <a:bodyPr wrap="square">
            <a:spAutoFit/>
          </a:bodyPr>
          <a:lstStyle/>
          <a:p>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9733910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aprendem a detectar estruturas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133841" cy="2057563"/>
          </a:xfrm>
        </p:spPr>
        <p:txBody>
          <a:bodyPr/>
          <a:lstStyle/>
          <a:p>
            <a:r>
              <a:rPr lang="pt-BR" dirty="0"/>
              <a:t>A imagem de entrada apresenta vários componentes lineares (bordas).</a:t>
            </a:r>
          </a:p>
          <a:p>
            <a:r>
              <a:rPr lang="pt-BR" dirty="0"/>
              <a:t>Temos uma camada convolucional com três filtros.</a:t>
            </a:r>
          </a:p>
          <a:p>
            <a:r>
              <a:rPr lang="pt-BR" b="0" i="0" dirty="0">
                <a:effectLst/>
              </a:rPr>
              <a:t>Cada filtro aprende a detectar diferentes elementos estruturais (ou seja,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enfatizam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2267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à esquerda.</a:t>
            </a:r>
          </a:p>
          <a:p>
            <a:r>
              <a:rPr lang="pt-BR" dirty="0"/>
              <a:t>Se aplicarmos o </a:t>
            </a:r>
            <a:r>
              <a:rPr lang="pt-BR" i="1" dirty="0"/>
              <a:t>kernel</a:t>
            </a:r>
            <a:r>
              <a:rPr lang="pt-BR" dirty="0"/>
              <a:t> mostrado, obteremos os resultados à direita.</a:t>
            </a:r>
          </a:p>
          <a:p>
            <a:r>
              <a:rPr lang="pt-BR" dirty="0"/>
              <a:t>Ele </a:t>
            </a:r>
            <a:r>
              <a:rPr lang="pt-BR" b="1" i="1" dirty="0">
                <a:solidFill>
                  <a:srgbClr val="00B050"/>
                </a:solidFill>
              </a:rPr>
              <a:t>realça muito as linhas verticais e escurece todo o resto</a:t>
            </a:r>
            <a:r>
              <a:rPr lang="pt-BR" dirty="0"/>
              <a:t>.</a:t>
            </a:r>
          </a:p>
          <a:p>
            <a:r>
              <a:rPr lang="pt-BR" dirty="0"/>
              <a:t>Portanto, podemos considerar este </a:t>
            </a:r>
            <a:r>
              <a:rPr lang="pt-BR" i="1" dirty="0"/>
              <a:t>kernel</a:t>
            </a:r>
            <a:r>
              <a:rPr lang="pt-BR" dirty="0"/>
              <a:t> como um </a:t>
            </a:r>
            <a:r>
              <a:rPr lang="pt-BR" b="1" i="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extLst>
              <p:ext uri="{D42A27DB-BD31-4B8C-83A1-F6EECF244321}">
                <p14:modId xmlns:p14="http://schemas.microsoft.com/office/powerpoint/2010/main" val="2409938428"/>
              </p:ext>
            </p:extLst>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5798475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375909"/>
            <a:ext cx="11176000" cy="2482091"/>
          </a:xfrm>
        </p:spPr>
        <p:txBody>
          <a:bodyPr>
            <a:normAutofit lnSpcReduction="10000"/>
          </a:bodyPr>
          <a:lstStyle/>
          <a:p>
            <a:r>
              <a:rPr lang="pt-BR" dirty="0"/>
              <a:t>De forma similar, este outro </a:t>
            </a:r>
            <a:r>
              <a:rPr lang="pt-BR" i="1" dirty="0"/>
              <a:t>kernel</a:t>
            </a:r>
            <a:r>
              <a:rPr lang="pt-BR" dirty="0"/>
              <a:t> pode </a:t>
            </a:r>
            <a:r>
              <a:rPr lang="pt-BR" b="1" i="1" dirty="0">
                <a:solidFill>
                  <a:srgbClr val="00B050"/>
                </a:solidFill>
              </a:rPr>
              <a:t>detectar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i="1" dirty="0">
                <a:solidFill>
                  <a:srgbClr val="00B050"/>
                </a:solidFill>
              </a:rPr>
              <a:t>remover quase tudo</a:t>
            </a:r>
            <a:r>
              <a:rPr lang="pt-BR" dirty="0"/>
              <a:t>, </a:t>
            </a:r>
            <a:r>
              <a:rPr lang="pt-BR" b="1" i="1" dirty="0">
                <a:solidFill>
                  <a:srgbClr val="00B050"/>
                </a:solidFill>
              </a:rPr>
              <a:t>exceto uma característica distinta</a:t>
            </a:r>
            <a:r>
              <a:rPr lang="pt-BR" dirty="0"/>
              <a:t>.</a:t>
            </a:r>
          </a:p>
          <a:p>
            <a:r>
              <a:rPr lang="pt-BR" dirty="0"/>
              <a:t>Esse processo é chamado de </a:t>
            </a:r>
            <a:r>
              <a:rPr lang="pt-BR" b="1" i="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extLst>
              <p:ext uri="{D42A27DB-BD31-4B8C-83A1-F6EECF244321}">
                <p14:modId xmlns:p14="http://schemas.microsoft.com/office/powerpoint/2010/main" val="40405313"/>
              </p:ext>
            </p:extLst>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1579917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356351" cy="5032375"/>
          </a:xfrm>
        </p:spPr>
        <p:txBody>
          <a:bodyPr>
            <a:normAutofit lnSpcReduction="10000"/>
          </a:bodyPr>
          <a:lstStyle/>
          <a:p>
            <a:r>
              <a:rPr lang="pt-BR" dirty="0"/>
              <a:t>Aplicada, em geral, </a:t>
            </a:r>
            <a:r>
              <a:rPr lang="pt-BR" b="1" i="1" dirty="0">
                <a:solidFill>
                  <a:srgbClr val="00B050"/>
                </a:solidFill>
              </a:rPr>
              <a:t>após uma camada de convolução</a:t>
            </a:r>
            <a:r>
              <a:rPr lang="pt-BR" dirty="0"/>
              <a:t>.</a:t>
            </a:r>
          </a:p>
          <a:p>
            <a:r>
              <a:rPr lang="pt-BR" dirty="0"/>
              <a:t>Ela </a:t>
            </a:r>
            <a:r>
              <a:rPr lang="pt-BR" b="1" i="1" dirty="0">
                <a:solidFill>
                  <a:srgbClr val="00B050"/>
                </a:solidFill>
              </a:rPr>
              <a:t>subamostra</a:t>
            </a:r>
            <a:r>
              <a:rPr lang="pt-BR" dirty="0"/>
              <a:t> sua entrada. </a:t>
            </a:r>
          </a:p>
          <a:p>
            <a:r>
              <a:rPr lang="pt-BR" dirty="0"/>
              <a:t>O </a:t>
            </a:r>
            <a:r>
              <a:rPr lang="pt-BR" b="1" i="1" dirty="0">
                <a:solidFill>
                  <a:srgbClr val="7030A0"/>
                </a:solidFill>
              </a:rPr>
              <a:t>objetivo</a:t>
            </a:r>
            <a:r>
              <a:rPr lang="pt-BR" dirty="0"/>
              <a:t> da subamostragem é </a:t>
            </a:r>
            <a:r>
              <a:rPr lang="pt-BR" b="1" i="1" dirty="0">
                <a:solidFill>
                  <a:srgbClr val="7030A0"/>
                </a:solidFill>
              </a:rPr>
              <a:t>reduzir a carga computacional</a:t>
            </a:r>
            <a:r>
              <a:rPr lang="pt-BR" dirty="0"/>
              <a:t>, o </a:t>
            </a:r>
            <a:r>
              <a:rPr lang="pt-BR" b="1" i="1" dirty="0">
                <a:solidFill>
                  <a:srgbClr val="7030A0"/>
                </a:solidFill>
              </a:rPr>
              <a:t>uso de memória</a:t>
            </a:r>
            <a:r>
              <a:rPr lang="pt-BR" dirty="0"/>
              <a:t> e o </a:t>
            </a:r>
            <a:r>
              <a:rPr lang="pt-BR" b="1" i="1" dirty="0">
                <a:solidFill>
                  <a:srgbClr val="7030A0"/>
                </a:solidFill>
              </a:rPr>
              <a:t>número de parâmetros </a:t>
            </a:r>
            <a:r>
              <a:rPr lang="pt-BR" dirty="0"/>
              <a:t>(limitando assim o risco de </a:t>
            </a:r>
            <a:r>
              <a:rPr lang="pt-BR" b="1" i="1" dirty="0">
                <a:solidFill>
                  <a:srgbClr val="00B050"/>
                </a:solidFill>
              </a:rPr>
              <a:t>sobreajuste</a:t>
            </a:r>
            <a:r>
              <a:rPr lang="pt-BR" dirty="0"/>
              <a:t>).</a:t>
            </a:r>
          </a:p>
          <a:p>
            <a:r>
              <a:rPr lang="pt-BR" b="0" i="0" dirty="0">
                <a:effectLst/>
              </a:rPr>
              <a:t>Além disso, ela </a:t>
            </a:r>
            <a:r>
              <a:rPr lang="pt-BR" b="1" i="1" dirty="0">
                <a:solidFill>
                  <a:srgbClr val="00B050"/>
                </a:solidFill>
                <a:effectLst/>
              </a:rPr>
              <a:t>ajuda a tornar a rede mais robusta a pequenas mudanças na posição das características</a:t>
            </a:r>
            <a:r>
              <a:rPr lang="pt-BR" b="0" i="0" dirty="0">
                <a:effectLst/>
              </a:rPr>
              <a:t>, o que é útil em tarefas de reconhecimento de objetos.</a:t>
            </a:r>
            <a:endParaRPr lang="pt-BR" dirty="0"/>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435600" y="1825624"/>
                <a:ext cx="6546851" cy="5032375"/>
              </a:xfrm>
            </p:spPr>
            <p:txBody>
              <a:bodyPr>
                <a:normAutofit/>
              </a:bodyPr>
              <a:lstStyle/>
              <a:p>
                <a:r>
                  <a:rPr lang="pt-BR" dirty="0"/>
                  <a:t>A maneira </a:t>
                </a:r>
                <a:r>
                  <a:rPr lang="pt-BR" b="1" i="1" dirty="0">
                    <a:solidFill>
                      <a:srgbClr val="00B050"/>
                    </a:solidFill>
                  </a:rPr>
                  <a:t>mais comum </a:t>
                </a:r>
                <a:r>
                  <a:rPr lang="pt-BR" dirty="0"/>
                  <a:t>de subamostrar é aplicar uma </a:t>
                </a:r>
                <a:r>
                  <a:rPr lang="pt-BR" b="1" i="1" dirty="0">
                    <a:solidFill>
                      <a:srgbClr val="00B050"/>
                    </a:solidFill>
                  </a:rPr>
                  <a:t>operação </a:t>
                </a:r>
                <a14:m>
                  <m:oMath xmlns:m="http://schemas.openxmlformats.org/officeDocument/2006/math">
                    <m:r>
                      <a:rPr lang="pt-BR" b="1" i="0" smtClean="0">
                        <a:solidFill>
                          <a:srgbClr val="00B050"/>
                        </a:solidFill>
                        <a:latin typeface="Cambria Math" panose="02040503050406030204" pitchFamily="18" charset="0"/>
                      </a:rPr>
                      <m:t>𝐦𝐚𝐱</m:t>
                    </m:r>
                    <m:r>
                      <a:rPr lang="pt-BR" b="1" i="1" smtClean="0">
                        <a:solidFill>
                          <a:srgbClr val="00B050"/>
                        </a:solidFill>
                        <a:latin typeface="Cambria Math" panose="02040503050406030204" pitchFamily="18" charset="0"/>
                      </a:rPr>
                      <m:t>(.)</m:t>
                    </m:r>
                  </m:oMath>
                </a14:m>
                <a:r>
                  <a:rPr lang="pt-BR" b="1" i="1" dirty="0">
                    <a:solidFill>
                      <a:srgbClr val="00B050"/>
                    </a:solidFill>
                  </a:rPr>
                  <a:t> </a:t>
                </a:r>
                <a:r>
                  <a:rPr lang="pt-BR" dirty="0"/>
                  <a:t>ao resultado de cada </a:t>
                </a:r>
                <a:r>
                  <a:rPr lang="pt-BR" i="1" dirty="0"/>
                  <a:t>kernel</a:t>
                </a:r>
                <a:r>
                  <a:rPr lang="pt-BR" dirty="0"/>
                  <a:t>.</a:t>
                </a:r>
              </a:p>
              <a:p>
                <a:r>
                  <a:rPr lang="pt-BR" dirty="0"/>
                  <a:t>Somente o </a:t>
                </a:r>
                <a:r>
                  <a:rPr lang="pt-BR" b="1" i="1" dirty="0">
                    <a:solidFill>
                      <a:srgbClr val="00B050"/>
                    </a:solidFill>
                  </a:rPr>
                  <a:t>valor máximo de entrada em cada campo receptivo</a:t>
                </a:r>
                <a:r>
                  <a:rPr lang="pt-BR" dirty="0"/>
                  <a:t> da camada de </a:t>
                </a:r>
                <a:r>
                  <a:rPr lang="pt-BR" i="1" dirty="0"/>
                  <a:t>pooling</a:t>
                </a:r>
                <a:r>
                  <a:rPr lang="pt-BR" dirty="0"/>
                  <a:t> </a:t>
                </a:r>
                <a:r>
                  <a:rPr lang="pt-BR" b="1" i="1" dirty="0">
                    <a:solidFill>
                      <a:srgbClr val="00B050"/>
                    </a:solidFill>
                  </a:rPr>
                  <a:t>passa para a próxima camada</a:t>
                </a:r>
                <a:r>
                  <a:rPr lang="pt-BR" dirty="0"/>
                  <a:t>, enquanto as </a:t>
                </a:r>
                <a:r>
                  <a:rPr lang="pt-BR" b="1" i="1" dirty="0">
                    <a:solidFill>
                      <a:srgbClr val="00B050"/>
                    </a:solidFill>
                  </a:rPr>
                  <a:t>outras entradas são descartadas</a:t>
                </a:r>
                <a:r>
                  <a:rPr lang="pt-BR" dirty="0"/>
                  <a:t>.</a:t>
                </a:r>
              </a:p>
              <a:p>
                <a:r>
                  <a:rPr lang="pt-BR" dirty="0"/>
                  <a:t>O </a:t>
                </a:r>
                <a:r>
                  <a:rPr lang="pt-BR" i="1" dirty="0"/>
                  <a:t>pooling</a:t>
                </a:r>
                <a:r>
                  <a:rPr lang="pt-BR" dirty="0"/>
                  <a:t> é </a:t>
                </a:r>
                <a:r>
                  <a:rPr lang="pt-BR" b="1" i="1" dirty="0">
                    <a:solidFill>
                      <a:srgbClr val="00B050"/>
                    </a:solidFill>
                  </a:rPr>
                  <a:t>normalmente aplicado a cada canal de entrada de forma independente</a:t>
                </a:r>
                <a:r>
                  <a:rPr lang="pt-BR" dirty="0"/>
                  <a:t>, de forma que a </a:t>
                </a:r>
                <a:r>
                  <a:rPr lang="pt-BR" b="1" i="1" dirty="0">
                    <a:solidFill>
                      <a:srgbClr val="00B050"/>
                    </a:solidFill>
                  </a:rPr>
                  <a:t>profundidade de saída seja igual a de entrada</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435600" y="1825624"/>
                <a:ext cx="6546851" cy="5032375"/>
              </a:xfrm>
              <a:blipFill>
                <a:blip r:embed="rId3"/>
                <a:stretch>
                  <a:fillRect l="-1676" t="-1937" r="-2886" b="-1816"/>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4777483"/>
            <a:ext cx="11182565" cy="2080517"/>
          </a:xfrm>
        </p:spPr>
        <p:txBody>
          <a:bodyPr>
            <a:normAutofit lnSpcReduction="10000"/>
          </a:bodyPr>
          <a:lstStyle/>
          <a:p>
            <a:r>
              <a:rPr lang="pt-BR" dirty="0"/>
              <a:t>Adicionalmente, as camadas de </a:t>
            </a:r>
            <a:r>
              <a:rPr lang="pt-BR" i="1" dirty="0"/>
              <a:t>pooling</a:t>
            </a:r>
            <a:r>
              <a:rPr lang="pt-BR" dirty="0"/>
              <a:t> ajudam a </a:t>
            </a:r>
            <a:r>
              <a:rPr lang="pt-BR" b="1" i="1" dirty="0">
                <a:solidFill>
                  <a:srgbClr val="00B050"/>
                </a:solidFill>
              </a:rPr>
              <a:t>capturar e reter as características mais importantes</a:t>
            </a:r>
            <a:r>
              <a:rPr lang="pt-BR" dirty="0"/>
              <a:t>, ao mesmo tempo que </a:t>
            </a:r>
            <a:r>
              <a:rPr lang="pt-BR" b="1" i="1" dirty="0">
                <a:solidFill>
                  <a:srgbClr val="7030A0"/>
                </a:solidFill>
              </a:rPr>
              <a:t>descartam informações menos relevantes ou ruidosas</a:t>
            </a:r>
            <a:r>
              <a:rPr lang="pt-BR" dirty="0"/>
              <a:t>.</a:t>
            </a:r>
          </a:p>
          <a:p>
            <a:r>
              <a:rPr lang="pt-BR" dirty="0"/>
              <a:t>Portanto, elas </a:t>
            </a:r>
            <a:r>
              <a:rPr lang="pt-BR" b="1" i="1" dirty="0">
                <a:solidFill>
                  <a:srgbClr val="00B050"/>
                </a:solidFill>
              </a:rPr>
              <a:t>compactam</a:t>
            </a:r>
            <a:r>
              <a:rPr lang="pt-BR" dirty="0"/>
              <a:t> os dados </a:t>
            </a:r>
            <a:r>
              <a:rPr lang="pt-BR" b="1" i="1" dirty="0">
                <a:solidFill>
                  <a:srgbClr val="00B050"/>
                </a:solidFill>
              </a:rPr>
              <a:t>sem perder as características importantes</a:t>
            </a:r>
            <a:r>
              <a:rPr lang="pt-BR"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2066065" y="1690688"/>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b="1" i="1" dirty="0">
                    <a:solidFill>
                      <a:srgbClr val="00B050"/>
                    </a:solidFill>
                  </a:rPr>
                  <a:t>D</a:t>
                </a:r>
                <a:r>
                  <a:rPr lang="pt-BR" b="1" i="1" dirty="0">
                    <a:solidFill>
                      <a:srgbClr val="00B050"/>
                    </a:solidFill>
                    <a:effectLst/>
                  </a:rPr>
                  <a:t>epois de aplicar muitas convoluções </a:t>
                </a:r>
                <a:r>
                  <a:rPr lang="pt-BR" b="0" i="0" dirty="0">
                    <a:solidFill>
                      <a:schemeClr val="tx1"/>
                    </a:solidFill>
                    <a:effectLst/>
                  </a:rPr>
                  <a:t>sucessivas, </a:t>
                </a:r>
                <a:r>
                  <a:rPr lang="pt-BR" dirty="0"/>
                  <a:t>as </a:t>
                </a:r>
                <a:r>
                  <a:rPr lang="pt-BR" b="1" i="1" dirty="0">
                    <a:solidFill>
                      <a:srgbClr val="00B050"/>
                    </a:solidFill>
                  </a:rPr>
                  <a:t>imagens </a:t>
                </a:r>
                <a:r>
                  <a:rPr lang="pt-BR" b="1" i="1" dirty="0">
                    <a:solidFill>
                      <a:srgbClr val="00B050"/>
                    </a:solidFill>
                    <a:effectLst/>
                  </a:rPr>
                  <a:t>tendem </a:t>
                </a:r>
                <a:r>
                  <a:rPr lang="pt-BR" b="0" i="0" dirty="0">
                    <a:solidFill>
                      <a:schemeClr val="tx1"/>
                    </a:solidFill>
                    <a:effectLst/>
                  </a:rPr>
                  <a:t>a se </a:t>
                </a:r>
                <a:r>
                  <a:rPr lang="pt-BR" b="1" i="1" dirty="0">
                    <a:solidFill>
                      <a:srgbClr val="00B050"/>
                    </a:solidFill>
                    <a:effectLst/>
                  </a:rPr>
                  <a:t>tornarem</a:t>
                </a:r>
                <a:r>
                  <a:rPr lang="pt-BR" b="0" i="0" dirty="0">
                    <a:solidFill>
                      <a:schemeClr val="tx1"/>
                    </a:solidFill>
                    <a:effectLst/>
                  </a:rPr>
                  <a:t> consideravelmente </a:t>
                </a:r>
                <a:r>
                  <a:rPr lang="pt-BR" b="1" i="1" dirty="0">
                    <a:solidFill>
                      <a:srgbClr val="00B050"/>
                    </a:solidFill>
                    <a:effectLst/>
                  </a:rPr>
                  <a:t>menores</a:t>
                </a:r>
                <a:r>
                  <a:rPr lang="pt-BR" b="0" i="0" dirty="0">
                    <a:solidFill>
                      <a:schemeClr val="tx1"/>
                    </a:solidFill>
                    <a:effectLst/>
                  </a:rPr>
                  <a:t> do que as da entrada.</a:t>
                </a:r>
              </a:p>
              <a:p>
                <a:r>
                  <a:rPr lang="pt-BR" b="0" i="0" dirty="0">
                    <a:solidFill>
                      <a:schemeClr val="tx1"/>
                    </a:solidFill>
                    <a:effectLst/>
                  </a:rPr>
                  <a:t>Se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b="0" i="0" dirty="0">
                    <a:solidFill>
                      <a:schemeClr val="tx1"/>
                    </a:solidFill>
                    <a:effectLst/>
                  </a:rPr>
                  <a:t>, e consequentemente, faz com que qualquer </a:t>
                </a:r>
                <a:r>
                  <a:rPr lang="pt-BR" b="1" i="1" dirty="0">
                    <a:solidFill>
                      <a:srgbClr val="00B050"/>
                    </a:solidFill>
                    <a:effectLst/>
                  </a:rPr>
                  <a:t>informação interessante nas bordas da imagem desapareça</a:t>
                </a:r>
                <a:r>
                  <a:rPr lang="pt-BR" b="0" i="0" dirty="0">
                    <a:solidFill>
                      <a:schemeClr val="tx1"/>
                    </a:solidFill>
                    <a:effectLst/>
                  </a:rPr>
                  <a:t>. </a:t>
                </a: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337300" cy="5032375"/>
              </a:xfrm>
              <a:blipFill>
                <a:blip r:embed="rId3"/>
                <a:stretch>
                  <a:fillRect l="-1731" t="-1937" b="-181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08600" y="1825624"/>
            <a:ext cx="6718300" cy="5032375"/>
          </a:xfrm>
        </p:spPr>
        <p:txBody>
          <a:bodyPr>
            <a:normAutofit lnSpcReduction="10000"/>
          </a:bodyPr>
          <a:lstStyle/>
          <a:p>
            <a:r>
              <a:rPr lang="pt-BR" b="0" i="0" dirty="0">
                <a:effectLst/>
              </a:rPr>
              <a:t>O </a:t>
            </a:r>
            <a:r>
              <a:rPr lang="pt-BR" b="1" i="1" dirty="0">
                <a:effectLst/>
              </a:rPr>
              <a:t>padding</a:t>
            </a:r>
            <a:r>
              <a:rPr lang="pt-BR" b="0" i="0" dirty="0">
                <a:effectLst/>
              </a:rPr>
              <a:t> </a:t>
            </a:r>
            <a:r>
              <a:rPr lang="pt-BR" dirty="0"/>
              <a:t>é usado </a:t>
            </a:r>
            <a:r>
              <a:rPr lang="pt-BR" b="0" i="0" dirty="0">
                <a:effectLst/>
              </a:rPr>
              <a:t>para </a:t>
            </a:r>
            <a:r>
              <a:rPr lang="pt-BR" b="1" i="1" dirty="0">
                <a:solidFill>
                  <a:srgbClr val="00B050"/>
                </a:solidFill>
                <a:effectLst/>
              </a:rPr>
              <a:t>controlar o tamanho dos mapas de características </a:t>
            </a:r>
            <a:r>
              <a:rPr lang="pt-BR" b="0" i="0" dirty="0">
                <a:effectLst/>
              </a:rPr>
              <a:t>após uma camada convolucional</a:t>
            </a:r>
            <a:r>
              <a:rPr lang="pt-BR" dirty="0"/>
              <a:t>.</a:t>
            </a:r>
            <a:endParaRPr lang="pt-BR" b="0" i="0" dirty="0">
              <a:effectLst/>
            </a:endParaRPr>
          </a:p>
          <a:p>
            <a:r>
              <a:rPr lang="pt-BR" b="1" i="1" dirty="0">
                <a:solidFill>
                  <a:srgbClr val="00B050"/>
                </a:solidFill>
                <a:effectLst/>
              </a:rPr>
              <a:t>Pixels de preenchimento são adicionados ao redor da borda da imagem </a:t>
            </a:r>
            <a:r>
              <a:rPr lang="pt-BR" b="0" i="0" dirty="0">
                <a:effectLst/>
              </a:rPr>
              <a:t>de entrada,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são feitos iguais a zero</a:t>
            </a:r>
            <a:r>
              <a:rPr lang="pt-BR" b="0" i="0" dirty="0">
                <a:effectLst/>
              </a:rPr>
              <a:t>.</a:t>
            </a:r>
          </a:p>
          <a:p>
            <a:r>
              <a:rPr lang="pt-BR" b="0" i="0" dirty="0">
                <a:effectLst/>
              </a:rPr>
              <a:t>Em tarefas de </a:t>
            </a:r>
            <a:r>
              <a:rPr lang="pt-BR" b="1" i="1" dirty="0">
                <a:solidFill>
                  <a:srgbClr val="00B050"/>
                </a:solidFill>
                <a:effectLst/>
              </a:rPr>
              <a:t>classificação de imagens</a:t>
            </a:r>
            <a:r>
              <a:rPr lang="pt-BR" b="0" i="0" dirty="0">
                <a:effectLst/>
              </a:rPr>
              <a:t>, é comum aplicar </a:t>
            </a:r>
            <a:r>
              <a:rPr lang="pt-BR" b="0" i="1" dirty="0">
                <a:effectLst/>
              </a:rPr>
              <a:t>padding</a:t>
            </a:r>
            <a:r>
              <a:rPr lang="pt-BR" b="0" i="0" dirty="0">
                <a:effectLst/>
              </a:rPr>
              <a:t> nas </a:t>
            </a:r>
            <a:r>
              <a:rPr lang="pt-BR" b="1" i="1" dirty="0">
                <a:solidFill>
                  <a:srgbClr val="00B050"/>
                </a:solidFill>
                <a:effectLst/>
              </a:rPr>
              <a:t>camadas iniciais para </a:t>
            </a:r>
            <a:r>
              <a:rPr lang="pt-BR" b="1" i="1" dirty="0">
                <a:solidFill>
                  <a:srgbClr val="7030A0"/>
                </a:solidFill>
                <a:effectLst/>
              </a:rPr>
              <a:t>preservar informações de borda</a:t>
            </a:r>
            <a:r>
              <a:rPr lang="pt-BR" b="0" i="0" dirty="0">
                <a:effectLst/>
              </a:rPr>
              <a:t>, enquanto </a:t>
            </a:r>
            <a:r>
              <a:rPr lang="pt-BR" b="1" i="1" dirty="0">
                <a:solidFill>
                  <a:srgbClr val="00B050"/>
                </a:solidFill>
                <a:effectLst/>
              </a:rPr>
              <a:t>camadas finais não o aplicam</a:t>
            </a:r>
            <a:r>
              <a:rPr lang="pt-BR" b="0" i="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7000" y="2768600"/>
            <a:ext cx="5154070" cy="252916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605848" cy="5032375"/>
          </a:xfrm>
        </p:spPr>
        <p:txBody>
          <a:bodyPr>
            <a:normAutofit lnSpcReduction="10000"/>
          </a:bodyPr>
          <a:lstStyle/>
          <a:p>
            <a:r>
              <a:rPr lang="pt-BR" b="0" i="0" dirty="0">
                <a:effectLst/>
              </a:rPr>
              <a:t>Depois das camadas convolucionais, as CNN apresentam </a:t>
            </a:r>
            <a:r>
              <a:rPr lang="pt-BR" b="1" i="1" dirty="0">
                <a:solidFill>
                  <a:srgbClr val="00B050"/>
                </a:solidFill>
                <a:effectLst/>
              </a:rPr>
              <a:t>algumas camadas densas</a:t>
            </a:r>
            <a:r>
              <a:rPr lang="pt-BR" b="0" i="0" dirty="0">
                <a:effectLst/>
              </a:rPr>
              <a:t>.</a:t>
            </a:r>
          </a:p>
          <a:p>
            <a:r>
              <a:rPr lang="pt-BR" b="0" i="0" dirty="0">
                <a:effectLst/>
              </a:rPr>
              <a:t>Elas são responsáveis por </a:t>
            </a:r>
            <a:r>
              <a:rPr lang="pt-BR" b="1" i="1" dirty="0">
                <a:solidFill>
                  <a:srgbClr val="00B050"/>
                </a:solidFill>
                <a:effectLst/>
              </a:rPr>
              <a:t>realizar a classificação ou regressão</a:t>
            </a:r>
            <a:r>
              <a:rPr lang="pt-BR" b="0" i="0" dirty="0">
                <a:effectLst/>
              </a:rPr>
              <a:t> propriamente dita.</a:t>
            </a:r>
          </a:p>
          <a:p>
            <a:r>
              <a:rPr lang="pt-BR" b="0" i="0" dirty="0">
                <a:effectLst/>
              </a:rPr>
              <a:t>As camadas densas </a:t>
            </a:r>
            <a:r>
              <a:rPr lang="pt-BR" b="1" i="1" dirty="0">
                <a:solidFill>
                  <a:srgbClr val="00B050"/>
                </a:solidFill>
                <a:effectLst/>
              </a:rPr>
              <a:t>recebem as características extraídas pelas camadas convolucionais e </a:t>
            </a:r>
            <a:r>
              <a:rPr lang="pt-BR" b="1" i="1" dirty="0">
                <a:solidFill>
                  <a:srgbClr val="7030A0"/>
                </a:solidFill>
                <a:effectLst/>
              </a:rPr>
              <a:t>combinam essas informações para aprender padrões</a:t>
            </a:r>
            <a:r>
              <a:rPr lang="pt-BR" b="0" i="0" dirty="0">
                <a:solidFill>
                  <a:srgbClr val="7030A0"/>
                </a:solidFill>
                <a:effectLst/>
              </a:rPr>
              <a:t> </a:t>
            </a:r>
            <a:r>
              <a:rPr lang="pt-BR" b="0" i="0" dirty="0">
                <a:effectLst/>
              </a:rPr>
              <a:t>complexos e realizar a tarefa de classificação ou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Os filtros são aprendidos!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25218"/>
            <a:ext cx="11176000" cy="2232782"/>
          </a:xfrm>
        </p:spPr>
        <p:txBody>
          <a:bodyPr>
            <a:normAutofit/>
          </a:bodyPr>
          <a:lstStyle/>
          <a:p>
            <a:r>
              <a:rPr lang="pt-BR" dirty="0"/>
              <a:t>Nós não precisamos definir os filtros manualmente. </a:t>
            </a:r>
          </a:p>
          <a:p>
            <a:r>
              <a:rPr lang="pt-BR" dirty="0"/>
              <a:t>Em vez disso, durante o </a:t>
            </a:r>
            <a:r>
              <a:rPr lang="pt-BR" b="1" i="1" dirty="0">
                <a:solidFill>
                  <a:srgbClr val="00B050"/>
                </a:solidFill>
              </a:rPr>
              <a:t>treinamento</a:t>
            </a:r>
            <a:r>
              <a:rPr lang="pt-BR" dirty="0"/>
              <a:t>, as </a:t>
            </a:r>
            <a:r>
              <a:rPr lang="pt-BR" b="1" i="1" dirty="0">
                <a:solidFill>
                  <a:srgbClr val="00B050"/>
                </a:solidFill>
              </a:rPr>
              <a:t>camadas convolucionais aprenderão automaticamente</a:t>
            </a:r>
            <a:r>
              <a:rPr lang="pt-BR" b="1" i="1" dirty="0"/>
              <a:t> </a:t>
            </a:r>
            <a:r>
              <a:rPr lang="pt-BR" dirty="0"/>
              <a:t>os </a:t>
            </a:r>
            <a:r>
              <a:rPr lang="pt-BR" b="1" i="1" dirty="0">
                <a:solidFill>
                  <a:srgbClr val="7030A0"/>
                </a:solidFill>
              </a:rPr>
              <a:t>kernels</a:t>
            </a:r>
            <a:r>
              <a:rPr lang="pt-BR" dirty="0"/>
              <a:t> mais úteis para sua tarefa, e as camadas acima (i.e., densas) aprenderão a combiná-los em padrões mais complexos.</a:t>
            </a:r>
          </a:p>
        </p:txBody>
      </p:sp>
      <p:pic>
        <p:nvPicPr>
          <p:cNvPr id="4" name="Picture 2" descr="Convolutional Neural Network | Deep Learning | Developers Breach">
            <a:extLst>
              <a:ext uri="{FF2B5EF4-FFF2-40B4-BE49-F238E27FC236}">
                <a16:creationId xmlns:a16="http://schemas.microsoft.com/office/drawing/2014/main" id="{2FFBC0E7-4DB0-5196-082A-77A36C904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4160" y="1567398"/>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E513F9B7-5E9E-B422-D6B4-AFA521A8DE64}"/>
              </a:ext>
            </a:extLst>
          </p:cNvPr>
          <p:cNvSpPr/>
          <p:nvPr/>
        </p:nvSpPr>
        <p:spPr>
          <a:xfrm>
            <a:off x="3043239" y="4034934"/>
            <a:ext cx="382463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EC6DB7A4-20CE-0C35-A356-99094F500E4B}"/>
              </a:ext>
            </a:extLst>
          </p:cNvPr>
          <p:cNvSpPr/>
          <p:nvPr/>
        </p:nvSpPr>
        <p:spPr>
          <a:xfrm>
            <a:off x="6910492" y="4034934"/>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5967717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9175077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t>Quiz: “</a:t>
            </a:r>
            <a:r>
              <a:rPr lang="pt-BR" b="1" i="1" dirty="0"/>
              <a:t>TP557 – Introduzindo Convoluções</a:t>
            </a:r>
            <a:r>
              <a:rPr lang="pt-BR" dirty="0"/>
              <a:t>”.</a:t>
            </a:r>
          </a:p>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i="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i="1" dirty="0">
                <a:solidFill>
                  <a:srgbClr val="00B050"/>
                </a:solidFill>
              </a:rPr>
              <a:t>filtro ou um conjunto de filtros </a:t>
            </a:r>
            <a:r>
              <a:rPr lang="pt-BR" dirty="0"/>
              <a:t>que ao serem passados sobre a imagem </a:t>
            </a:r>
            <a:r>
              <a:rPr lang="pt-BR" b="1" i="1" dirty="0">
                <a:solidFill>
                  <a:srgbClr val="00B050"/>
                </a:solidFill>
              </a:rPr>
              <a:t>extraem as características</a:t>
            </a:r>
            <a:r>
              <a:rPr lang="pt-BR" b="1" i="1" dirty="0"/>
              <a:t> </a:t>
            </a:r>
            <a:r>
              <a:rPr lang="pt-BR" dirty="0"/>
              <a:t>mostradas ao lado. </a:t>
            </a:r>
          </a:p>
          <a:p>
            <a:r>
              <a:rPr lang="pt-BR" dirty="0"/>
              <a:t>Como podemos ver, </a:t>
            </a:r>
            <a:r>
              <a:rPr lang="pt-BR" b="1" i="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i="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i="1" dirty="0">
                <a:solidFill>
                  <a:srgbClr val="00B050"/>
                </a:solidFill>
              </a:rPr>
              <a:t>cérebro vê isso </a:t>
            </a:r>
            <a:r>
              <a:rPr lang="pt-BR" dirty="0"/>
              <a:t>e </a:t>
            </a:r>
            <a:r>
              <a:rPr lang="pt-BR" b="1" i="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um </a:t>
            </a:r>
            <a:r>
              <a:rPr lang="pt-BR" b="1" i="1" dirty="0">
                <a:solidFill>
                  <a:srgbClr val="00B050"/>
                </a:solidFill>
              </a:rPr>
              <a:t>outros filtros extraem um círculo com outros dois círculos menores, uma saliência e algumas formas paralelas</a:t>
            </a:r>
            <a:r>
              <a:rPr lang="pt-BR" dirty="0"/>
              <a:t>.</a:t>
            </a:r>
          </a:p>
          <a:p>
            <a:r>
              <a:rPr lang="pt-BR" dirty="0"/>
              <a:t>Nosso cérebro reconhece esse conjunto de </a:t>
            </a:r>
            <a:r>
              <a:rPr lang="pt-BR" i="1" dirty="0"/>
              <a:t>pixels</a:t>
            </a:r>
            <a:r>
              <a:rPr lang="pt-BR" dirty="0"/>
              <a:t> como um rosto com olhos, boca e nariz.</a:t>
            </a:r>
          </a:p>
          <a:p>
            <a:r>
              <a:rPr lang="pt-BR" dirty="0"/>
              <a:t>Mas, novamente, o modelo não tem contexto para decidir o que esses </a:t>
            </a:r>
            <a:r>
              <a:rPr lang="pt-BR" i="1" dirty="0"/>
              <a:t>pixels</a:t>
            </a:r>
            <a:r>
              <a:rPr lang="pt-BR" dirty="0"/>
              <a:t>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i="0" dirty="0">
                <a:effectLst/>
              </a:rPr>
              <a:t>Quando essas </a:t>
            </a:r>
            <a:r>
              <a:rPr lang="pt-BR" b="1" i="1" dirty="0">
                <a:effectLst/>
              </a:rPr>
              <a:t>c</a:t>
            </a:r>
            <a:r>
              <a:rPr lang="pt-BR" b="1" i="1" dirty="0">
                <a:solidFill>
                  <a:srgbClr val="00B050"/>
                </a:solidFill>
                <a:effectLst/>
              </a:rPr>
              <a:t>aracterísticas estão presentes em uma imagem rotulada como humana</a:t>
            </a:r>
            <a:r>
              <a:rPr lang="pt-BR" b="0" i="0" dirty="0">
                <a:effectLst/>
              </a:rPr>
              <a:t>, a rede neural pode ser </a:t>
            </a:r>
            <a:r>
              <a:rPr lang="pt-BR" b="1" i="1" dirty="0">
                <a:solidFill>
                  <a:srgbClr val="00B050"/>
                </a:solidFill>
                <a:effectLst/>
              </a:rPr>
              <a:t>treinada para aprender filtros que extraem essas informações</a:t>
            </a:r>
            <a:r>
              <a:rPr lang="pt-BR" b="0" i="0" dirty="0">
                <a:effectLst/>
              </a:rPr>
              <a:t>. </a:t>
            </a:r>
          </a:p>
          <a:p>
            <a:r>
              <a:rPr lang="pt-BR" dirty="0"/>
              <a:t>A rede </a:t>
            </a:r>
            <a:r>
              <a:rPr lang="pt-BR" b="1" i="1" dirty="0">
                <a:solidFill>
                  <a:srgbClr val="00B050"/>
                </a:solidFill>
              </a:rPr>
              <a:t>pode combinar as características extraídas pelos três filtros </a:t>
            </a:r>
            <a:r>
              <a:rPr lang="pt-BR" dirty="0"/>
              <a:t>(i.e., pernas, mãos e face) para detectar seres humanos </a:t>
            </a:r>
            <a:r>
              <a:rPr lang="pt-BR" b="0" i="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i="1" dirty="0">
                <a:solidFill>
                  <a:srgbClr val="00B050"/>
                </a:solidFill>
              </a:rPr>
              <a:t>mesma rede pode ser treinada para identificar </a:t>
            </a:r>
            <a:r>
              <a:rPr lang="pt-BR" dirty="0"/>
              <a:t>diferentes </a:t>
            </a:r>
            <a:r>
              <a:rPr lang="pt-BR" b="1" i="1" dirty="0">
                <a:solidFill>
                  <a:srgbClr val="00B050"/>
                </a:solidFill>
              </a:rPr>
              <a:t>características</a:t>
            </a:r>
            <a:r>
              <a:rPr lang="pt-BR" dirty="0"/>
              <a:t> presentes nas imagens de </a:t>
            </a:r>
            <a:r>
              <a:rPr lang="pt-BR" b="1" i="1" dirty="0">
                <a:solidFill>
                  <a:srgbClr val="00B050"/>
                </a:solidFill>
              </a:rPr>
              <a:t>cavalos</a:t>
            </a:r>
            <a:r>
              <a:rPr lang="pt-BR" dirty="0"/>
              <a:t>. </a:t>
            </a:r>
          </a:p>
          <a:p>
            <a:r>
              <a:rPr lang="pt-BR" dirty="0"/>
              <a:t>Assim, ao </a:t>
            </a:r>
            <a:r>
              <a:rPr lang="pt-BR" b="1" i="1" dirty="0">
                <a:solidFill>
                  <a:srgbClr val="00B050"/>
                </a:solidFill>
              </a:rPr>
              <a:t>aprender conjuntos de filtros que podem detectar humanos ou cavalos</a:t>
            </a:r>
            <a:r>
              <a:rPr lang="pt-BR" dirty="0"/>
              <a:t>, temos um </a:t>
            </a:r>
            <a:r>
              <a:rPr lang="pt-BR" b="1" i="1" dirty="0">
                <a:solidFill>
                  <a:srgbClr val="00B050"/>
                </a:solidFill>
              </a:rPr>
              <a:t>modelo de visão computacional</a:t>
            </a:r>
            <a:r>
              <a:rPr lang="pt-BR" dirty="0"/>
              <a:t> que pode </a:t>
            </a:r>
            <a:r>
              <a:rPr lang="pt-BR" b="1" i="1" dirty="0">
                <a:solidFill>
                  <a:srgbClr val="00B050"/>
                </a:solidFill>
              </a:rPr>
              <a:t>lidar</a:t>
            </a:r>
            <a:r>
              <a:rPr lang="pt-BR" dirty="0"/>
              <a:t> com </a:t>
            </a:r>
            <a:r>
              <a:rPr lang="pt-BR" b="1" i="1" dirty="0">
                <a:solidFill>
                  <a:srgbClr val="00B050"/>
                </a:solidFill>
              </a:rPr>
              <a:t>imagens complexas</a:t>
            </a:r>
            <a:r>
              <a:rPr lang="pt-BR" dirty="0"/>
              <a:t> e </a:t>
            </a:r>
            <a:r>
              <a:rPr lang="pt-BR" b="1" i="1" dirty="0">
                <a:solidFill>
                  <a:srgbClr val="00B050"/>
                </a:solidFill>
              </a:rPr>
              <a:t>predizer</a:t>
            </a:r>
            <a:r>
              <a:rPr lang="pt-BR" dirty="0"/>
              <a:t> </a:t>
            </a:r>
            <a:r>
              <a:rPr lang="pt-BR" b="1" i="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aprenderão características imperceptíveis a nós humanos.</a:t>
            </a:r>
            <a:endParaRPr lang="pt-BR" b="0" i="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i="0" dirty="0">
                <a:effectLst/>
              </a:rPr>
              <a:t>No entanto, </a:t>
            </a:r>
            <a:r>
              <a:rPr lang="pt-BR" b="1" i="1" dirty="0">
                <a:solidFill>
                  <a:srgbClr val="00B050"/>
                </a:solidFill>
                <a:effectLst/>
              </a:rPr>
              <a:t>quando filtros são treinados </a:t>
            </a:r>
            <a:r>
              <a:rPr lang="pt-BR" b="0" i="0" dirty="0">
                <a:effectLst/>
              </a:rPr>
              <a:t>para detectar características em imagens, </a:t>
            </a:r>
            <a:r>
              <a:rPr lang="pt-BR" b="1" i="1" dirty="0">
                <a:solidFill>
                  <a:srgbClr val="00B050"/>
                </a:solidFill>
                <a:effectLst/>
              </a:rPr>
              <a:t>eles podem identificar coisas que são imperceptíveis para os seres humanos</a:t>
            </a:r>
            <a:r>
              <a:rPr lang="pt-BR" b="0" i="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15221</TotalTime>
  <Words>6073</Words>
  <Application>Microsoft Office PowerPoint</Application>
  <PresentationFormat>Widescreen</PresentationFormat>
  <Paragraphs>1183</Paragraphs>
  <Slides>64</Slides>
  <Notes>32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64</vt:i4>
      </vt:variant>
    </vt:vector>
  </HeadingPairs>
  <TitlesOfParts>
    <vt:vector size="76" baseType="lpstr">
      <vt:lpstr>-apple-system</vt:lpstr>
      <vt:lpstr>Arial</vt:lpstr>
      <vt:lpstr>Calibri</vt:lpstr>
      <vt:lpstr>Calibri Light</vt:lpstr>
      <vt:lpstr>Cambria Math</vt:lpstr>
      <vt:lpstr>DeepSeek-CJK-patch</vt:lpstr>
      <vt:lpstr>Google Sans</vt:lpstr>
      <vt:lpstr>Roboto</vt:lpstr>
      <vt:lpstr>Söhne</vt:lpstr>
      <vt:lpstr>Trebuchet MS</vt:lpstr>
      <vt:lpstr>Wingdings</vt:lpstr>
      <vt:lpstr>Tema do Office</vt:lpstr>
      <vt:lpstr>TP557 - Tópicos avançados em IoT e Machine Learning: Introduzindo Convoluções</vt:lpstr>
      <vt:lpstr>O que vamos ver?</vt:lpstr>
      <vt:lpstr>Dados tabulares </vt:lpstr>
      <vt:lpstr>Padrões globais</vt:lpstr>
      <vt:lpstr>Localidade de referência</vt:lpstr>
      <vt:lpstr>Localidade de referência</vt:lpstr>
      <vt:lpstr>Estrutura espacial</vt:lpstr>
      <vt:lpstr>Imagens simples e “comportadas”</vt:lpstr>
      <vt:lpstr>Imagens complexas</vt:lpstr>
      <vt:lpstr>Imagens complexas</vt:lpstr>
      <vt:lpstr>Neurônios biológicos</vt:lpstr>
      <vt:lpstr>Neurônios biológicos</vt:lpstr>
      <vt:lpstr>Diferença entre camadas densas e convolucionais</vt:lpstr>
      <vt:lpstr>Diferença entre camadas densas e convolucionais</vt:lpstr>
      <vt:lpstr>Diferença entre camadas densas e convolucionais</vt:lpstr>
      <vt:lpstr>Cores básicas e canais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Convolução ou correlação cruzada?</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Kernels diferentes para características diferentes</vt:lpstr>
      <vt:lpstr>Filtros aprendem a detectar estruturas</vt:lpstr>
      <vt:lpstr>Aplicando kernels a imagens</vt:lpstr>
      <vt:lpstr>Aplicando kernels a imagens</vt:lpstr>
      <vt:lpstr>Camada de Pooling (ou subamostragem)</vt:lpstr>
      <vt:lpstr>Camada de Pooling (ou subamostragem)</vt:lpstr>
      <vt:lpstr>Camada de Pooling (ou subamostragem)</vt:lpstr>
      <vt:lpstr>Padding ou preenchimento</vt:lpstr>
      <vt:lpstr>Padding ou preenchimento</vt:lpstr>
      <vt:lpstr>Camadas densas</vt:lpstr>
      <vt:lpstr>Os filtros são aprendidos!</vt:lpstr>
      <vt:lpstr>Explorando CNNs</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Características imperceptíveis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2541</cp:revision>
  <dcterms:created xsi:type="dcterms:W3CDTF">2020-01-20T13:50:05Z</dcterms:created>
  <dcterms:modified xsi:type="dcterms:W3CDTF">2025-05-12T20:58:47Z</dcterms:modified>
</cp:coreProperties>
</file>