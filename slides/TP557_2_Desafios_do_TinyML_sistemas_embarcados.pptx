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7"/>
  </p:notesMasterIdLst>
  <p:handoutMasterIdLst>
    <p:handoutMasterId r:id="rId58"/>
  </p:handoutMasterIdLst>
  <p:sldIdLst>
    <p:sldId id="256" r:id="rId2"/>
    <p:sldId id="406" r:id="rId3"/>
    <p:sldId id="411" r:id="rId4"/>
    <p:sldId id="409" r:id="rId5"/>
    <p:sldId id="449" r:id="rId6"/>
    <p:sldId id="445" r:id="rId7"/>
    <p:sldId id="412" r:id="rId8"/>
    <p:sldId id="444" r:id="rId9"/>
    <p:sldId id="450" r:id="rId10"/>
    <p:sldId id="410" r:id="rId11"/>
    <p:sldId id="454" r:id="rId12"/>
    <p:sldId id="413" r:id="rId13"/>
    <p:sldId id="446" r:id="rId14"/>
    <p:sldId id="415" r:id="rId15"/>
    <p:sldId id="452" r:id="rId16"/>
    <p:sldId id="417" r:id="rId17"/>
    <p:sldId id="418" r:id="rId18"/>
    <p:sldId id="455" r:id="rId19"/>
    <p:sldId id="456" r:id="rId20"/>
    <p:sldId id="414" r:id="rId21"/>
    <p:sldId id="419" r:id="rId22"/>
    <p:sldId id="447" r:id="rId23"/>
    <p:sldId id="457" r:id="rId24"/>
    <p:sldId id="421" r:id="rId25"/>
    <p:sldId id="423" r:id="rId26"/>
    <p:sldId id="425" r:id="rId27"/>
    <p:sldId id="426" r:id="rId28"/>
    <p:sldId id="427" r:id="rId29"/>
    <p:sldId id="448" r:id="rId30"/>
    <p:sldId id="443" r:id="rId31"/>
    <p:sldId id="424" r:id="rId32"/>
    <p:sldId id="428" r:id="rId33"/>
    <p:sldId id="429" r:id="rId34"/>
    <p:sldId id="430" r:id="rId35"/>
    <p:sldId id="431" r:id="rId36"/>
    <p:sldId id="458" r:id="rId37"/>
    <p:sldId id="432" r:id="rId38"/>
    <p:sldId id="433" r:id="rId39"/>
    <p:sldId id="434" r:id="rId40"/>
    <p:sldId id="436" r:id="rId41"/>
    <p:sldId id="435" r:id="rId42"/>
    <p:sldId id="437" r:id="rId43"/>
    <p:sldId id="460" r:id="rId44"/>
    <p:sldId id="438" r:id="rId45"/>
    <p:sldId id="461" r:id="rId46"/>
    <p:sldId id="439" r:id="rId47"/>
    <p:sldId id="453" r:id="rId48"/>
    <p:sldId id="440" r:id="rId49"/>
    <p:sldId id="441" r:id="rId50"/>
    <p:sldId id="405" r:id="rId51"/>
    <p:sldId id="293" r:id="rId52"/>
    <p:sldId id="306" r:id="rId53"/>
    <p:sldId id="416" r:id="rId54"/>
    <p:sldId id="422" r:id="rId55"/>
    <p:sldId id="451" r:id="rId56"/>
  </p:sldIdLst>
  <p:sldSz cx="12192000" cy="6858000"/>
  <p:notesSz cx="7315200" cy="96012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1F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FCA41B-7398-400B-83DC-FDE8722EB923}" v="79" dt="2020-02-09T01:28:39.664"/>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Estilo Mé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202B0CA-FC54-4496-8BCA-5EF66A818D29}" styleName="Estilo Escuro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21E4AEA4-8DFA-4A89-87EB-49C32662AFE0}" styleName="Estilo Médio 2 - Ênfas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078" autoAdjust="0"/>
    <p:restoredTop sz="80872" autoAdjust="0"/>
  </p:normalViewPr>
  <p:slideViewPr>
    <p:cSldViewPr snapToGrid="0">
      <p:cViewPr varScale="1">
        <p:scale>
          <a:sx n="89" d="100"/>
          <a:sy n="89" d="100"/>
        </p:scale>
        <p:origin x="1656" y="90"/>
      </p:cViewPr>
      <p:guideLst/>
    </p:cSldViewPr>
  </p:slideViewPr>
  <p:outlineViewPr>
    <p:cViewPr>
      <p:scale>
        <a:sx n="33" d="100"/>
        <a:sy n="33" d="100"/>
      </p:scale>
      <p:origin x="0" y="-886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lipe Augusto Pereira de Figueiredo" userId="e1771b70d906f94b" providerId="Windows Live" clId="Web-{B3FCA41B-7398-400B-83DC-FDE8722EB923}"/>
    <pc:docChg chg="modSld">
      <pc:chgData name="Felipe Augusto Pereira de Figueiredo" userId="e1771b70d906f94b" providerId="Windows Live" clId="Web-{B3FCA41B-7398-400B-83DC-FDE8722EB923}" dt="2020-02-09T01:40:38.055" v="257"/>
      <pc:docMkLst>
        <pc:docMk/>
      </pc:docMkLst>
      <pc:sldChg chg="modSp modNotes">
        <pc:chgData name="Felipe Augusto Pereira de Figueiredo" userId="e1771b70d906f94b" providerId="Windows Live" clId="Web-{B3FCA41B-7398-400B-83DC-FDE8722EB923}" dt="2020-02-09T01:26:20.191" v="45"/>
        <pc:sldMkLst>
          <pc:docMk/>
          <pc:sldMk cId="636059476" sldId="259"/>
        </pc:sldMkLst>
        <pc:spChg chg="mod">
          <ac:chgData name="Felipe Augusto Pereira de Figueiredo" userId="e1771b70d906f94b" providerId="Windows Live" clId="Web-{B3FCA41B-7398-400B-83DC-FDE8722EB923}" dt="2020-02-09T01:22:23.081" v="18" actId="1076"/>
          <ac:spMkLst>
            <pc:docMk/>
            <pc:sldMk cId="636059476" sldId="259"/>
            <ac:spMk id="3" creationId="{979D29AC-E01B-406F-AC75-55866B75A7CC}"/>
          </ac:spMkLst>
        </pc:spChg>
      </pc:sldChg>
      <pc:sldChg chg="modNotes">
        <pc:chgData name="Felipe Augusto Pereira de Figueiredo" userId="e1771b70d906f94b" providerId="Windows Live" clId="Web-{B3FCA41B-7398-400B-83DC-FDE8722EB923}" dt="2020-02-09T01:21:46.721" v="16"/>
        <pc:sldMkLst>
          <pc:docMk/>
          <pc:sldMk cId="248504461" sldId="267"/>
        </pc:sldMkLst>
      </pc:sldChg>
      <pc:sldChg chg="modSp modNotes">
        <pc:chgData name="Felipe Augusto Pereira de Figueiredo" userId="e1771b70d906f94b" providerId="Windows Live" clId="Web-{B3FCA41B-7398-400B-83DC-FDE8722EB923}" dt="2020-02-09T01:40:38.055" v="257"/>
        <pc:sldMkLst>
          <pc:docMk/>
          <pc:sldMk cId="2076219387" sldId="277"/>
        </pc:sldMkLst>
        <pc:spChg chg="mod">
          <ac:chgData name="Felipe Augusto Pereira de Figueiredo" userId="e1771b70d906f94b" providerId="Windows Live" clId="Web-{B3FCA41B-7398-400B-83DC-FDE8722EB923}" dt="2020-02-09T01:28:39.664" v="120" actId="14100"/>
          <ac:spMkLst>
            <pc:docMk/>
            <pc:sldMk cId="2076219387" sldId="277"/>
            <ac:spMk id="3" creationId="{5E0262E2-3A0F-4805-BCCB-6745237D1574}"/>
          </ac:spMkLst>
        </pc:spChg>
      </pc:sldChg>
    </pc:docChg>
  </pc:docChgLst>
  <pc:docChgLst>
    <pc:chgData name="Felipe Augusto Pereira de Figueiredo" userId="e1771b70d906f94b" providerId="Windows Live" clId="Web-{1FA475AF-6444-47C2-89B1-9776BABC0E66}"/>
    <pc:docChg chg="modSld">
      <pc:chgData name="Felipe Augusto Pereira de Figueiredo" userId="e1771b70d906f94b" providerId="Windows Live" clId="Web-{1FA475AF-6444-47C2-89B1-9776BABC0E66}" dt="2020-02-09T18:53:52.767" v="85"/>
      <pc:docMkLst>
        <pc:docMk/>
      </pc:docMkLst>
      <pc:sldChg chg="modNotes">
        <pc:chgData name="Felipe Augusto Pereira de Figueiredo" userId="e1771b70d906f94b" providerId="Windows Live" clId="Web-{1FA475AF-6444-47C2-89B1-9776BABC0E66}" dt="2020-02-09T18:53:52.767" v="85"/>
        <pc:sldMkLst>
          <pc:docMk/>
          <pc:sldMk cId="248504461" sldId="26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169922" cy="480722"/>
          </a:xfrm>
          <a:prstGeom prst="rect">
            <a:avLst/>
          </a:prstGeom>
        </p:spPr>
        <p:txBody>
          <a:bodyPr vert="horz" lIns="168634" tIns="84317" rIns="168634" bIns="84317" rtlCol="0"/>
          <a:lstStyle>
            <a:lvl1pPr algn="l">
              <a:defRPr sz="2200"/>
            </a:lvl1pPr>
          </a:lstStyle>
          <a:p>
            <a:endParaRPr lang="nl-BE"/>
          </a:p>
        </p:txBody>
      </p:sp>
      <p:sp>
        <p:nvSpPr>
          <p:cNvPr id="3" name="Date Placeholder 2"/>
          <p:cNvSpPr>
            <a:spLocks noGrp="1"/>
          </p:cNvSpPr>
          <p:nvPr>
            <p:ph type="dt" sz="quarter" idx="1"/>
          </p:nvPr>
        </p:nvSpPr>
        <p:spPr>
          <a:xfrm>
            <a:off x="4143589" y="0"/>
            <a:ext cx="3169922" cy="480722"/>
          </a:xfrm>
          <a:prstGeom prst="rect">
            <a:avLst/>
          </a:prstGeom>
        </p:spPr>
        <p:txBody>
          <a:bodyPr vert="horz" lIns="168634" tIns="84317" rIns="168634" bIns="84317" rtlCol="0"/>
          <a:lstStyle>
            <a:lvl1pPr algn="r">
              <a:defRPr sz="2200"/>
            </a:lvl1pPr>
          </a:lstStyle>
          <a:p>
            <a:fld id="{144F1436-6906-4D93-B7A2-786C327BFA14}" type="datetimeFigureOut">
              <a:rPr lang="nl-BE" smtClean="0"/>
              <a:t>17/03/2025</a:t>
            </a:fld>
            <a:endParaRPr lang="nl-BE"/>
          </a:p>
        </p:txBody>
      </p:sp>
      <p:sp>
        <p:nvSpPr>
          <p:cNvPr id="4" name="Footer Placeholder 3"/>
          <p:cNvSpPr>
            <a:spLocks noGrp="1"/>
          </p:cNvSpPr>
          <p:nvPr>
            <p:ph type="ftr" sz="quarter" idx="2"/>
          </p:nvPr>
        </p:nvSpPr>
        <p:spPr>
          <a:xfrm>
            <a:off x="1" y="9120488"/>
            <a:ext cx="3169922" cy="480718"/>
          </a:xfrm>
          <a:prstGeom prst="rect">
            <a:avLst/>
          </a:prstGeom>
        </p:spPr>
        <p:txBody>
          <a:bodyPr vert="horz" lIns="168634" tIns="84317" rIns="168634" bIns="84317" rtlCol="0" anchor="b"/>
          <a:lstStyle>
            <a:lvl1pPr algn="l">
              <a:defRPr sz="2200"/>
            </a:lvl1pPr>
          </a:lstStyle>
          <a:p>
            <a:endParaRPr lang="nl-BE"/>
          </a:p>
        </p:txBody>
      </p:sp>
      <p:sp>
        <p:nvSpPr>
          <p:cNvPr id="5" name="Slide Number Placeholder 4"/>
          <p:cNvSpPr>
            <a:spLocks noGrp="1"/>
          </p:cNvSpPr>
          <p:nvPr>
            <p:ph type="sldNum" sz="quarter" idx="3"/>
          </p:nvPr>
        </p:nvSpPr>
        <p:spPr>
          <a:xfrm>
            <a:off x="4143589" y="9120488"/>
            <a:ext cx="3169922" cy="480718"/>
          </a:xfrm>
          <a:prstGeom prst="rect">
            <a:avLst/>
          </a:prstGeom>
        </p:spPr>
        <p:txBody>
          <a:bodyPr vert="horz" lIns="168634" tIns="84317" rIns="168634" bIns="84317" rtlCol="0" anchor="b"/>
          <a:lstStyle>
            <a:lvl1pPr algn="r">
              <a:defRPr sz="2200"/>
            </a:lvl1pPr>
          </a:lstStyle>
          <a:p>
            <a:fld id="{F7E56D9B-79AD-444A-AFED-DEC23408F8B4}" type="slidenum">
              <a:rPr lang="nl-BE" smtClean="0"/>
              <a:t>‹#›</a:t>
            </a:fld>
            <a:endParaRPr lang="nl-BE"/>
          </a:p>
        </p:txBody>
      </p:sp>
    </p:spTree>
    <p:extLst>
      <p:ext uri="{BB962C8B-B14F-4D97-AF65-F5344CB8AC3E}">
        <p14:creationId xmlns:p14="http://schemas.microsoft.com/office/powerpoint/2010/main" val="31635331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5" y="1"/>
            <a:ext cx="3169922" cy="1903121"/>
          </a:xfrm>
          <a:prstGeom prst="rect">
            <a:avLst/>
          </a:prstGeom>
        </p:spPr>
        <p:txBody>
          <a:bodyPr vert="horz" lIns="168634" tIns="84317" rIns="168634" bIns="84317" rtlCol="0"/>
          <a:lstStyle>
            <a:lvl1pPr algn="l">
              <a:defRPr sz="2200"/>
            </a:lvl1pPr>
          </a:lstStyle>
          <a:p>
            <a:endParaRPr lang="pt-BR"/>
          </a:p>
        </p:txBody>
      </p:sp>
      <p:sp>
        <p:nvSpPr>
          <p:cNvPr id="3" name="Espaço Reservado para Data 2"/>
          <p:cNvSpPr>
            <a:spLocks noGrp="1"/>
          </p:cNvSpPr>
          <p:nvPr>
            <p:ph type="dt" idx="1"/>
          </p:nvPr>
        </p:nvSpPr>
        <p:spPr>
          <a:xfrm>
            <a:off x="4143592" y="1"/>
            <a:ext cx="3169922" cy="1903121"/>
          </a:xfrm>
          <a:prstGeom prst="rect">
            <a:avLst/>
          </a:prstGeom>
        </p:spPr>
        <p:txBody>
          <a:bodyPr vert="horz" lIns="168634" tIns="84317" rIns="168634" bIns="84317" rtlCol="0"/>
          <a:lstStyle>
            <a:lvl1pPr algn="r">
              <a:defRPr sz="2200"/>
            </a:lvl1pPr>
          </a:lstStyle>
          <a:p>
            <a:fld id="{AA8CD09E-2914-4F47-B6C1-51B2C31814C9}" type="datetimeFigureOut">
              <a:rPr lang="pt-BR" smtClean="0"/>
              <a:t>17/03/2025</a:t>
            </a:fld>
            <a:endParaRPr lang="pt-BR"/>
          </a:p>
        </p:txBody>
      </p:sp>
      <p:sp>
        <p:nvSpPr>
          <p:cNvPr id="4" name="Espaço Reservado para Imagem de Slide 3"/>
          <p:cNvSpPr>
            <a:spLocks noGrp="1" noRot="1" noChangeAspect="1"/>
          </p:cNvSpPr>
          <p:nvPr>
            <p:ph type="sldImg" idx="2"/>
          </p:nvPr>
        </p:nvSpPr>
        <p:spPr>
          <a:xfrm>
            <a:off x="-7721600" y="4740275"/>
            <a:ext cx="22758400" cy="12801600"/>
          </a:xfrm>
          <a:prstGeom prst="rect">
            <a:avLst/>
          </a:prstGeom>
          <a:noFill/>
          <a:ln w="12700">
            <a:solidFill>
              <a:prstClr val="black"/>
            </a:solidFill>
          </a:ln>
        </p:spPr>
        <p:txBody>
          <a:bodyPr vert="horz" lIns="168634" tIns="84317" rIns="168634" bIns="84317" rtlCol="0" anchor="ctr"/>
          <a:lstStyle/>
          <a:p>
            <a:endParaRPr lang="pt-BR"/>
          </a:p>
        </p:txBody>
      </p:sp>
      <p:sp>
        <p:nvSpPr>
          <p:cNvPr id="5" name="Espaço Reservado para Anotações 4"/>
          <p:cNvSpPr>
            <a:spLocks noGrp="1"/>
          </p:cNvSpPr>
          <p:nvPr>
            <p:ph type="body" sz="quarter" idx="3"/>
          </p:nvPr>
        </p:nvSpPr>
        <p:spPr>
          <a:xfrm>
            <a:off x="731522" y="18254135"/>
            <a:ext cx="5852160" cy="14935200"/>
          </a:xfrm>
          <a:prstGeom prst="rect">
            <a:avLst/>
          </a:prstGeom>
        </p:spPr>
        <p:txBody>
          <a:bodyPr vert="horz" lIns="168634" tIns="84317" rIns="168634" bIns="84317" rtlCol="0"/>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5" y="36027558"/>
            <a:ext cx="3169922" cy="1903117"/>
          </a:xfrm>
          <a:prstGeom prst="rect">
            <a:avLst/>
          </a:prstGeom>
        </p:spPr>
        <p:txBody>
          <a:bodyPr vert="horz" lIns="168634" tIns="84317" rIns="168634" bIns="84317" rtlCol="0" anchor="b"/>
          <a:lstStyle>
            <a:lvl1pPr algn="l">
              <a:defRPr sz="2200"/>
            </a:lvl1pPr>
          </a:lstStyle>
          <a:p>
            <a:endParaRPr lang="pt-BR"/>
          </a:p>
        </p:txBody>
      </p:sp>
      <p:sp>
        <p:nvSpPr>
          <p:cNvPr id="7" name="Espaço Reservado para Número de Slide 6"/>
          <p:cNvSpPr>
            <a:spLocks noGrp="1"/>
          </p:cNvSpPr>
          <p:nvPr>
            <p:ph type="sldNum" sz="quarter" idx="5"/>
          </p:nvPr>
        </p:nvSpPr>
        <p:spPr>
          <a:xfrm>
            <a:off x="4143592" y="36027558"/>
            <a:ext cx="3169922" cy="1903117"/>
          </a:xfrm>
          <a:prstGeom prst="rect">
            <a:avLst/>
          </a:prstGeom>
        </p:spPr>
        <p:txBody>
          <a:bodyPr vert="horz" lIns="168634" tIns="84317" rIns="168634" bIns="84317" rtlCol="0" anchor="b"/>
          <a:lstStyle>
            <a:lvl1pPr algn="r">
              <a:defRPr sz="2200"/>
            </a:lvl1pPr>
          </a:lstStyle>
          <a:p>
            <a:fld id="{6FC8D850-966F-45A6-8DE7-15B891E7D40D}" type="slidenum">
              <a:rPr lang="pt-BR" smtClean="0"/>
              <a:t>‹#›</a:t>
            </a:fld>
            <a:endParaRPr lang="pt-BR"/>
          </a:p>
        </p:txBody>
      </p:sp>
    </p:spTree>
    <p:extLst>
      <p:ext uri="{BB962C8B-B14F-4D97-AF65-F5344CB8AC3E}">
        <p14:creationId xmlns:p14="http://schemas.microsoft.com/office/powerpoint/2010/main" val="3541814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a:t>
            </a:fld>
            <a:endParaRPr lang="pt-BR"/>
          </a:p>
        </p:txBody>
      </p:sp>
    </p:spTree>
    <p:extLst>
      <p:ext uri="{BB962C8B-B14F-4D97-AF65-F5344CB8AC3E}">
        <p14:creationId xmlns:p14="http://schemas.microsoft.com/office/powerpoint/2010/main" val="16607474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a:p>
            <a:r>
              <a:rPr lang="pt-BR" dirty="0"/>
              <a:t>Sistema embarcado: </a:t>
            </a:r>
            <a:r>
              <a:rPr lang="pt-BR" b="0" i="0" dirty="0">
                <a:solidFill>
                  <a:srgbClr val="374151"/>
                </a:solidFill>
                <a:effectLst/>
                <a:latin typeface="Söhne"/>
              </a:rPr>
              <a:t>é um sistema eletrônico dedicado a realizar uma função específica ou um conjunto limitado de funções pré-determinadas.</a:t>
            </a:r>
            <a:endParaRPr lang="pt-BR" dirty="0"/>
          </a:p>
          <a:p>
            <a:r>
              <a:rPr lang="pt-BR" b="0" i="0" dirty="0">
                <a:solidFill>
                  <a:srgbClr val="1F1F1F"/>
                </a:solidFill>
                <a:effectLst/>
                <a:latin typeface="Google Sans"/>
              </a:rPr>
              <a:t>Sistemas embarcados são tipicamente projetados para serem pequenos, eficientes em termos de energia e de baixo custo.</a:t>
            </a:r>
          </a:p>
          <a:p>
            <a:r>
              <a:rPr lang="pt-BR" b="0" i="0" dirty="0">
                <a:solidFill>
                  <a:srgbClr val="374151"/>
                </a:solidFill>
                <a:effectLst/>
                <a:latin typeface="Söhne"/>
              </a:rPr>
              <a:t>Os sistemas embarcados são compostos por hardware, como processadores, memória, periféricos e interfaces de comunicação, bem como por software desenvolvido para executar tarefas específicas.</a:t>
            </a:r>
          </a:p>
          <a:p>
            <a:pPr algn="l"/>
            <a:r>
              <a:rPr lang="pt-BR" b="0" i="0" dirty="0">
                <a:solidFill>
                  <a:srgbClr val="374151"/>
                </a:solidFill>
                <a:effectLst/>
                <a:latin typeface="Söhne"/>
              </a:rPr>
              <a:t>Esses sistemas podem ser encontrados em uma ampla variedade de dispositivos e aplicativos, desde eletrodomésticos, eletrônicos de consumo, sistemas de controle industrial, dispositivos médicos, automóveis, até sistemas de comunicação, entre outros.</a:t>
            </a:r>
          </a:p>
          <a:p>
            <a:pPr algn="l"/>
            <a:r>
              <a:rPr lang="pt-BR" b="0" i="0" dirty="0">
                <a:solidFill>
                  <a:srgbClr val="374151"/>
                </a:solidFill>
                <a:effectLst/>
                <a:latin typeface="Söhne"/>
              </a:rPr>
              <a:t>Diferente de um computador pessoal convencional, um sistema embarcado geralmente possui recursos limitados de processamento, memória e energia, além de estar otimizado para um propósito específico. Essa otimização permite que o sistema seja eficiente, confiável e de baixo custo.</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a:t>
            </a:fld>
            <a:endParaRPr lang="pt-BR"/>
          </a:p>
        </p:txBody>
      </p:sp>
    </p:spTree>
    <p:extLst>
      <p:ext uri="{BB962C8B-B14F-4D97-AF65-F5344CB8AC3E}">
        <p14:creationId xmlns:p14="http://schemas.microsoft.com/office/powerpoint/2010/main" val="18427683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b="1" i="0" dirty="0">
                <a:solidFill>
                  <a:srgbClr val="222222"/>
                </a:solidFill>
                <a:effectLst/>
                <a:latin typeface="Arial" panose="020B0604020202020204" pitchFamily="34" charset="0"/>
              </a:rPr>
              <a:t>Diferença entre microcontroladores ou microprocessadores?</a:t>
            </a:r>
            <a:br>
              <a:rPr lang="pt-BR" dirty="0"/>
            </a:br>
            <a:br>
              <a:rPr lang="pt-BR" dirty="0"/>
            </a:br>
            <a:r>
              <a:rPr lang="pt-BR" b="0" i="0" dirty="0">
                <a:solidFill>
                  <a:srgbClr val="222222"/>
                </a:solidFill>
                <a:effectLst/>
                <a:latin typeface="Arial" panose="020B0604020202020204" pitchFamily="34" charset="0"/>
              </a:rPr>
              <a:t>Microcontroladores e microprocessadores são componentes fundamentais em sistemas embarcados e têm diferenças significativas em termos de funcionalidade e aplicação. Aqui estão as principais diferenças entre os dois:</a:t>
            </a:r>
            <a:br>
              <a:rPr lang="pt-BR" dirty="0"/>
            </a:br>
            <a:br>
              <a:rPr lang="pt-BR" dirty="0"/>
            </a:br>
            <a:r>
              <a:rPr lang="pt-BR" b="0" i="0" dirty="0">
                <a:solidFill>
                  <a:srgbClr val="222222"/>
                </a:solidFill>
                <a:effectLst/>
                <a:latin typeface="Arial" panose="020B0604020202020204" pitchFamily="34" charset="0"/>
              </a:rPr>
              <a:t>Funcionalidade: Um microprocessador é o "cérebro" de um computador ou sistema, responsável por executar instruções e processar dados. Ele consiste em uma unidade de processamento central (CPU), que executa operações aritméticas e lógicas, e outros componentes, como memória e controladores de periféricos. Já um microcontrolador é um dispositivo completo em um único chip, que combina um microprocessador com memória, periféricos de entrada/saída e outros recursos, tornando-o adequado para aplicações embarcadas.</a:t>
            </a:r>
            <a:br>
              <a:rPr lang="pt-BR" dirty="0"/>
            </a:br>
            <a:br>
              <a:rPr lang="pt-BR" dirty="0"/>
            </a:br>
            <a:r>
              <a:rPr lang="pt-BR" b="0" i="0" dirty="0">
                <a:solidFill>
                  <a:srgbClr val="222222"/>
                </a:solidFill>
                <a:effectLst/>
                <a:latin typeface="Arial" panose="020B0604020202020204" pitchFamily="34" charset="0"/>
              </a:rPr>
              <a:t>Capacidade de processamento: Os microprocessadores são projetados para oferecer maior poder de processamento e flexibilidade. Eles são comumente usados em computadores pessoais, servidores, smartphones e outros dispositivos que requerem alto desempenho e capacidade de execução de tarefas complexas. Por outro lado, os microcontroladores são otimizados para aplicações específicas que exigem processamento mais simples e eficiente. Eles são amplamente utilizados em dispositivos eletrônicos embarcados, como eletrodomésticos, sistemas de controle industrial, automóveis, dispositivos médicos e produtos de consumo.</a:t>
            </a:r>
            <a:br>
              <a:rPr lang="pt-BR" dirty="0"/>
            </a:br>
            <a:br>
              <a:rPr lang="pt-BR" dirty="0"/>
            </a:br>
            <a:r>
              <a:rPr lang="pt-BR" b="0" i="0" dirty="0">
                <a:solidFill>
                  <a:srgbClr val="222222"/>
                </a:solidFill>
                <a:effectLst/>
                <a:latin typeface="Arial" panose="020B0604020202020204" pitchFamily="34" charset="0"/>
              </a:rPr>
              <a:t>Periféricos integrados: Os microcontroladores são projetados com periféricos integrados, como portas de entrada/saída (GPIO), conversores analógico-digitais (ADC), interfaces de comunicação (UART, SPI, I2C) e temporizadores, permitindo a interação direta com o ambiente externo. Isso simplifica o projeto e a implementação de sistemas embarcados, pois muitos recursos já estão incorporados no próprio chip. Por outro lado, os microprocessadores geralmente requerem componentes adicionais para fornecer funcionalidades periféricas, como </a:t>
            </a:r>
            <a:r>
              <a:rPr lang="pt-BR" b="0" i="0" dirty="0" err="1">
                <a:solidFill>
                  <a:srgbClr val="222222"/>
                </a:solidFill>
                <a:effectLst/>
                <a:latin typeface="Arial" panose="020B0604020202020204" pitchFamily="34" charset="0"/>
              </a:rPr>
              <a:t>placas-mãe</a:t>
            </a:r>
            <a:r>
              <a:rPr lang="pt-BR" b="0" i="0" dirty="0">
                <a:solidFill>
                  <a:srgbClr val="222222"/>
                </a:solidFill>
                <a:effectLst/>
                <a:latin typeface="Arial" panose="020B0604020202020204" pitchFamily="34" charset="0"/>
              </a:rPr>
              <a:t>, controladores de entrada/saída (I/O) e outros circuitos integrados.</a:t>
            </a:r>
            <a:br>
              <a:rPr lang="pt-BR" dirty="0"/>
            </a:br>
            <a:br>
              <a:rPr lang="pt-BR" dirty="0"/>
            </a:br>
            <a:r>
              <a:rPr lang="pt-BR" b="0" i="0" dirty="0">
                <a:solidFill>
                  <a:srgbClr val="222222"/>
                </a:solidFill>
                <a:effectLst/>
                <a:latin typeface="Arial" panose="020B0604020202020204" pitchFamily="34" charset="0"/>
              </a:rPr>
              <a:t>Custo e eficiência: Os microcontroladores são geralmente mais econômicos em termos de custo em comparação com os microprocessadores, pois incorporam todos os recursos essenciais em um único chip. Eles também são projetados para serem energeticamente eficientes, o que os torna adequados para aplicações de baixo consumo de energia e alimentados por baterias. Já os microprocessadores oferecem maior flexibilidade, mas geralmente são mais caros e requerem mais energia em comparação com os microcontroladores.</a:t>
            </a:r>
            <a:br>
              <a:rPr lang="pt-BR" dirty="0"/>
            </a:br>
            <a:br>
              <a:rPr lang="pt-BR" dirty="0"/>
            </a:br>
            <a:r>
              <a:rPr lang="pt-BR" b="0" i="0" dirty="0">
                <a:solidFill>
                  <a:srgbClr val="222222"/>
                </a:solidFill>
                <a:effectLst/>
                <a:latin typeface="Arial" panose="020B0604020202020204" pitchFamily="34" charset="0"/>
              </a:rPr>
              <a:t>Em resumo, a principal diferença entre microcontroladores e microprocessadores está na funcionalidade e aplicação. Os microprocessadores oferecem maior poder de processamento e flexibilidade, enquanto os microcontroladores são soluções completas, com periféricos integrados, otimizados para aplicações embarcadas específicas.</a:t>
            </a:r>
          </a:p>
          <a:p>
            <a:endParaRPr lang="pt-BR" b="0" i="0" dirty="0">
              <a:solidFill>
                <a:srgbClr val="222222"/>
              </a:solidFill>
              <a:effectLst/>
              <a:latin typeface="Arial" panose="020B0604020202020204" pitchFamily="34" charset="0"/>
            </a:endParaRPr>
          </a:p>
          <a:p>
            <a:r>
              <a:rPr lang="pt-BR" b="1" i="0" dirty="0">
                <a:solidFill>
                  <a:srgbClr val="222222"/>
                </a:solidFill>
                <a:effectLst/>
                <a:latin typeface="Arial" panose="020B0604020202020204" pitchFamily="34" charset="0"/>
              </a:rPr>
              <a:t>Temporizadores</a:t>
            </a:r>
          </a:p>
          <a:p>
            <a:r>
              <a:rPr lang="pt-BR" b="0" i="0" dirty="0">
                <a:solidFill>
                  <a:srgbClr val="374151"/>
                </a:solidFill>
                <a:effectLst/>
                <a:latin typeface="Söhne"/>
              </a:rPr>
              <a:t>Os temporizadores são periféricos integrados em microcontroladores que fornecem funcionalidades relacionadas à contagem de tempo. Eles são utilizados para gerar atrasos, medir intervalos de tempo, sincronizar eventos e executar tarefas agendadas. Os temporizadores permitem que o microcontrolador execute ações com base em intervalos de tempo pré-determinados, como acionar um evento após um determinado número de ciclos de clock ou aguardar um período específico antes de executar uma tarefa. </a:t>
            </a: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12</a:t>
            </a:fld>
            <a:endParaRPr lang="pt-BR"/>
          </a:p>
        </p:txBody>
      </p:sp>
    </p:spTree>
    <p:extLst>
      <p:ext uri="{BB962C8B-B14F-4D97-AF65-F5344CB8AC3E}">
        <p14:creationId xmlns:p14="http://schemas.microsoft.com/office/powerpoint/2010/main" val="40368454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b="1" i="0" dirty="0">
                <a:solidFill>
                  <a:srgbClr val="222222"/>
                </a:solidFill>
                <a:effectLst/>
                <a:latin typeface="Arial" panose="020B0604020202020204" pitchFamily="34" charset="0"/>
              </a:rPr>
              <a:t>Diferença entre microcontroladores ou microprocessadores?</a:t>
            </a:r>
            <a:br>
              <a:rPr lang="pt-BR" dirty="0"/>
            </a:br>
            <a:br>
              <a:rPr lang="pt-BR" dirty="0"/>
            </a:br>
            <a:r>
              <a:rPr lang="pt-BR" b="0" i="0" dirty="0">
                <a:solidFill>
                  <a:srgbClr val="222222"/>
                </a:solidFill>
                <a:effectLst/>
                <a:latin typeface="Arial" panose="020B0604020202020204" pitchFamily="34" charset="0"/>
              </a:rPr>
              <a:t>Microcontroladores e microprocessadores são componentes fundamentais em sistemas embarcados e têm diferenças significativas em termos de funcionalidade e aplicação. Aqui estão as principais diferenças entre os dois:</a:t>
            </a:r>
            <a:br>
              <a:rPr lang="pt-BR" dirty="0"/>
            </a:br>
            <a:br>
              <a:rPr lang="pt-BR" dirty="0"/>
            </a:br>
            <a:r>
              <a:rPr lang="pt-BR" b="0" i="0" dirty="0">
                <a:solidFill>
                  <a:srgbClr val="222222"/>
                </a:solidFill>
                <a:effectLst/>
                <a:latin typeface="Arial" panose="020B0604020202020204" pitchFamily="34" charset="0"/>
              </a:rPr>
              <a:t>Funcionalidade: Um microprocessador é o "cérebro" de um computador ou sistema, responsável por executar instruções e processar dados. Ele consiste em uma unidade de processamento central (CPU), que executa operações aritméticas e lógicas, e outros componentes, como memória e controladores de periféricos. Já um microcontrolador é um dispositivo completo em um único chip, que combina um microprocessador com memória, periféricos de entrada/saída e outros recursos, tornando-o adequado para aplicações embarcadas.</a:t>
            </a:r>
            <a:br>
              <a:rPr lang="pt-BR" dirty="0"/>
            </a:br>
            <a:br>
              <a:rPr lang="pt-BR" dirty="0"/>
            </a:br>
            <a:r>
              <a:rPr lang="pt-BR" b="0" i="0" dirty="0">
                <a:solidFill>
                  <a:srgbClr val="222222"/>
                </a:solidFill>
                <a:effectLst/>
                <a:latin typeface="Arial" panose="020B0604020202020204" pitchFamily="34" charset="0"/>
              </a:rPr>
              <a:t>Capacidade de processamento: Os microprocessadores são projetados para oferecer maior poder de processamento e flexibilidade. Eles são comumente usados em computadores pessoais, servidores, smartphones e outros dispositivos que requerem alto desempenho e capacidade de execução de tarefas complexas. Por outro lado, os microcontroladores são otimizados para aplicações específicas que exigem processamento mais simples e eficiente. Eles são amplamente utilizados em dispositivos eletrônicos embarcados, como eletrodomésticos, sistemas de controle industrial, automóveis, dispositivos médicos e produtos de consumo.</a:t>
            </a:r>
            <a:br>
              <a:rPr lang="pt-BR" dirty="0"/>
            </a:br>
            <a:br>
              <a:rPr lang="pt-BR" dirty="0"/>
            </a:br>
            <a:r>
              <a:rPr lang="pt-BR" b="0" i="0" dirty="0">
                <a:solidFill>
                  <a:srgbClr val="222222"/>
                </a:solidFill>
                <a:effectLst/>
                <a:latin typeface="Arial" panose="020B0604020202020204" pitchFamily="34" charset="0"/>
              </a:rPr>
              <a:t>Periféricos integrados: Os microcontroladores são projetados com periféricos integrados, como portas de entrada/saída (GPIO), conversores analógico-digitais (ADC), interfaces de comunicação (UART, SPI, I2C) e temporizadores, permitindo a interação direta com o ambiente externo. Isso simplifica o projeto e a implementação de sistemas embarcados, pois muitos recursos já estão incorporados no próprio chip. Por outro lado, os microprocessadores geralmente requerem componentes adicionais para fornecer funcionalidades periféricas, como </a:t>
            </a:r>
            <a:r>
              <a:rPr lang="pt-BR" b="0" i="0" dirty="0" err="1">
                <a:solidFill>
                  <a:srgbClr val="222222"/>
                </a:solidFill>
                <a:effectLst/>
                <a:latin typeface="Arial" panose="020B0604020202020204" pitchFamily="34" charset="0"/>
              </a:rPr>
              <a:t>placas-mãe</a:t>
            </a:r>
            <a:r>
              <a:rPr lang="pt-BR" b="0" i="0" dirty="0">
                <a:solidFill>
                  <a:srgbClr val="222222"/>
                </a:solidFill>
                <a:effectLst/>
                <a:latin typeface="Arial" panose="020B0604020202020204" pitchFamily="34" charset="0"/>
              </a:rPr>
              <a:t>, controladores de entrada/saída (I/O) e outros circuitos integrados.</a:t>
            </a:r>
            <a:br>
              <a:rPr lang="pt-BR" dirty="0"/>
            </a:br>
            <a:br>
              <a:rPr lang="pt-BR" dirty="0"/>
            </a:br>
            <a:r>
              <a:rPr lang="pt-BR" b="0" i="0" dirty="0">
                <a:solidFill>
                  <a:srgbClr val="222222"/>
                </a:solidFill>
                <a:effectLst/>
                <a:latin typeface="Arial" panose="020B0604020202020204" pitchFamily="34" charset="0"/>
              </a:rPr>
              <a:t>Custo e eficiência: Os microcontroladores são geralmente mais econômicos em termos de custo em comparação com os microprocessadores, pois incorporam todos os recursos essenciais em um único chip. Eles também são projetados para serem energeticamente eficientes, o que os torna adequados para aplicações de baixo consumo de energia e alimentados por baterias. Já os microprocessadores oferecem maior flexibilidade, mas geralmente são mais caros e requerem mais energia em comparação com os microcontroladores.</a:t>
            </a:r>
            <a:br>
              <a:rPr lang="pt-BR" dirty="0"/>
            </a:br>
            <a:br>
              <a:rPr lang="pt-BR" dirty="0"/>
            </a:br>
            <a:r>
              <a:rPr lang="pt-BR" b="0" i="0" dirty="0">
                <a:solidFill>
                  <a:srgbClr val="222222"/>
                </a:solidFill>
                <a:effectLst/>
                <a:latin typeface="Arial" panose="020B0604020202020204" pitchFamily="34" charset="0"/>
              </a:rPr>
              <a:t>Em resumo, a principal diferença entre microcontroladores e microprocessadores está na funcionalidade e aplicação. Os microprocessadores oferecem maior poder de processamento e flexibilidade, enquanto os microcontroladores são soluções completas, com periféricos integrados, otimizados para aplicações embarcadas específicas.</a:t>
            </a:r>
          </a:p>
          <a:p>
            <a:endParaRPr lang="pt-BR" b="0" i="0" dirty="0">
              <a:solidFill>
                <a:srgbClr val="222222"/>
              </a:solidFill>
              <a:effectLst/>
              <a:latin typeface="Arial" panose="020B0604020202020204" pitchFamily="34" charset="0"/>
            </a:endParaRPr>
          </a:p>
          <a:p>
            <a:r>
              <a:rPr lang="pt-BR" b="1" i="0" dirty="0">
                <a:solidFill>
                  <a:srgbClr val="222222"/>
                </a:solidFill>
                <a:effectLst/>
                <a:latin typeface="Arial" panose="020B0604020202020204" pitchFamily="34" charset="0"/>
              </a:rPr>
              <a:t>Temporizadores</a:t>
            </a:r>
          </a:p>
          <a:p>
            <a:r>
              <a:rPr lang="pt-BR" b="0" i="0" dirty="0">
                <a:solidFill>
                  <a:srgbClr val="374151"/>
                </a:solidFill>
                <a:effectLst/>
                <a:latin typeface="Söhne"/>
              </a:rPr>
              <a:t>Os temporizadores são periféricos integrados em microcontroladores que fornecem funcionalidades relacionadas à contagem de tempo. Eles são utilizados para gerar atrasos, medir intervalos de tempo, sincronizar eventos e executar tarefas agendadas. Os temporizadores permitem que o microcontrolador execute ações com base em intervalos de tempo pré-determinados, como acionar um evento após um determinado número de ciclos de clock ou aguardar um período específico antes de executar uma tarefa. </a:t>
            </a: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13</a:t>
            </a:fld>
            <a:endParaRPr lang="pt-BR"/>
          </a:p>
        </p:txBody>
      </p:sp>
    </p:spTree>
    <p:extLst>
      <p:ext uri="{BB962C8B-B14F-4D97-AF65-F5344CB8AC3E}">
        <p14:creationId xmlns:p14="http://schemas.microsoft.com/office/powerpoint/2010/main" val="10915933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algn="l"/>
            <a:r>
              <a:rPr lang="pt-BR" b="0" i="0" dirty="0">
                <a:solidFill>
                  <a:srgbClr val="374151"/>
                </a:solidFill>
                <a:effectLst/>
                <a:latin typeface="Söhne"/>
              </a:rPr>
              <a:t>Um sistema computacional oferece flexibilidade em seu design porque é projetado para ser usado em uma ampla variedade de aplicações e atender às necessidades variadas dos usuários. Os sistemas computacionais são geralmente dispositivos de propósito geral, capazes de executar uma variedade de tarefas e suportar uma ampla gama de software e periféricos.</a:t>
            </a:r>
          </a:p>
          <a:p>
            <a:pPr algn="l"/>
            <a:endParaRPr lang="pt-BR" b="0" i="0" dirty="0">
              <a:solidFill>
                <a:srgbClr val="374151"/>
              </a:solidFill>
              <a:effectLst/>
              <a:latin typeface="Söhne"/>
            </a:endParaRPr>
          </a:p>
          <a:p>
            <a:pPr algn="l"/>
            <a:r>
              <a:rPr lang="pt-BR" b="0" i="0" dirty="0">
                <a:solidFill>
                  <a:srgbClr val="374151"/>
                </a:solidFill>
                <a:effectLst/>
                <a:latin typeface="Söhne"/>
              </a:rPr>
              <a:t>Por outro lado, um sistema embarcado é projetado para atender a um propósito específico ou executar um conjunto limitado de funções pré-determinadas. Ele é otimizado para desempenhar uma tarefa específica com eficiência e confiabilidade. Como resultado, o design de um sistema embarcado é mais restrito e focado em suas funcionalidades essenciais, com menos flexibilidade para se adaptar a diferentes requisitos.</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16</a:t>
            </a:fld>
            <a:endParaRPr lang="pt-BR"/>
          </a:p>
        </p:txBody>
      </p:sp>
    </p:spTree>
    <p:extLst>
      <p:ext uri="{BB962C8B-B14F-4D97-AF65-F5344CB8AC3E}">
        <p14:creationId xmlns:p14="http://schemas.microsoft.com/office/powerpoint/2010/main" val="37261647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algn="l"/>
            <a:r>
              <a:rPr lang="pt-BR" b="0" i="0" dirty="0">
                <a:solidFill>
                  <a:srgbClr val="374151"/>
                </a:solidFill>
                <a:effectLst/>
                <a:latin typeface="Söhne"/>
              </a:rPr>
              <a:t>Quando a frequência do clock aumenta, a CPU executa mais ciclos de instruções por segundo, o que resulta em um maior consumo de energia.</a:t>
            </a:r>
          </a:p>
          <a:p>
            <a:pPr algn="l"/>
            <a:endParaRPr lang="pt-BR" b="0" i="0" dirty="0">
              <a:solidFill>
                <a:srgbClr val="374151"/>
              </a:solidFill>
              <a:effectLst/>
              <a:latin typeface="Söhne"/>
            </a:endParaRPr>
          </a:p>
          <a:p>
            <a:pPr algn="l"/>
            <a:r>
              <a:rPr lang="pt-BR" b="0" i="0" dirty="0">
                <a:solidFill>
                  <a:srgbClr val="374151"/>
                </a:solidFill>
                <a:effectLst/>
                <a:latin typeface="Söhne"/>
              </a:rPr>
              <a:t>O aumento do clock requer que a CPU funcione em uma taxa mais rápida, o que consome mais energia para alimentar os circuitos e processos internos. Além disso, um clock mais alto geralmente está associado a uma maior tensão de alimentação, o que também contribui para o aumento do consumo de energia.</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17</a:t>
            </a:fld>
            <a:endParaRPr lang="pt-BR"/>
          </a:p>
        </p:txBody>
      </p:sp>
    </p:spTree>
    <p:extLst>
      <p:ext uri="{BB962C8B-B14F-4D97-AF65-F5344CB8AC3E}">
        <p14:creationId xmlns:p14="http://schemas.microsoft.com/office/powerpoint/2010/main" val="41351106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1A1CC-8EC6-9232-791E-DADDE2E2888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9ECFF03-24ED-2356-3080-8418D40BB6ED}"/>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2AB07BD1-0096-C4BB-68DD-3EBB21C2FD47}"/>
              </a:ext>
            </a:extLst>
          </p:cNvPr>
          <p:cNvSpPr>
            <a:spLocks noGrp="1"/>
          </p:cNvSpPr>
          <p:nvPr>
            <p:ph type="body" idx="1"/>
          </p:nvPr>
        </p:nvSpPr>
        <p:spPr/>
        <p:txBody>
          <a:bodyPr/>
          <a:lstStyle/>
          <a:p>
            <a:pPr algn="l"/>
            <a:r>
              <a:rPr lang="pt-BR" b="0" i="0" dirty="0">
                <a:solidFill>
                  <a:srgbClr val="374151"/>
                </a:solidFill>
                <a:effectLst/>
                <a:latin typeface="Söhne"/>
              </a:rPr>
              <a:t>Quando a frequência do clock aumenta, a CPU executa mais ciclos de instruções por segundo, o que resulta em um maior consumo de energia.</a:t>
            </a:r>
          </a:p>
          <a:p>
            <a:pPr algn="l"/>
            <a:endParaRPr lang="pt-BR" b="0" i="0" dirty="0">
              <a:solidFill>
                <a:srgbClr val="374151"/>
              </a:solidFill>
              <a:effectLst/>
              <a:latin typeface="Söhne"/>
            </a:endParaRPr>
          </a:p>
          <a:p>
            <a:pPr algn="l"/>
            <a:r>
              <a:rPr lang="pt-BR" b="0" i="0" dirty="0">
                <a:solidFill>
                  <a:srgbClr val="374151"/>
                </a:solidFill>
                <a:effectLst/>
                <a:latin typeface="Söhne"/>
              </a:rPr>
              <a:t>O aumento do clock requer que a CPU funcione em uma taxa mais rápida, o que consome mais energia para alimentar os circuitos e processos internos. Além disso, um clock mais alto geralmente está associado a uma maior tensão de alimentação, o que também contribui para o aumento do consumo de energia.</a:t>
            </a:r>
          </a:p>
          <a:p>
            <a:endParaRPr lang="pt-BR" dirty="0"/>
          </a:p>
        </p:txBody>
      </p:sp>
      <p:sp>
        <p:nvSpPr>
          <p:cNvPr id="4" name="Espaço Reservado para Número de Slide 3">
            <a:extLst>
              <a:ext uri="{FF2B5EF4-FFF2-40B4-BE49-F238E27FC236}">
                <a16:creationId xmlns:a16="http://schemas.microsoft.com/office/drawing/2014/main" id="{401191CD-00C0-1B75-0EC2-0791D0349353}"/>
              </a:ext>
            </a:extLst>
          </p:cNvPr>
          <p:cNvSpPr>
            <a:spLocks noGrp="1"/>
          </p:cNvSpPr>
          <p:nvPr>
            <p:ph type="sldNum" sz="quarter" idx="5"/>
          </p:nvPr>
        </p:nvSpPr>
        <p:spPr/>
        <p:txBody>
          <a:bodyPr/>
          <a:lstStyle/>
          <a:p>
            <a:fld id="{6FC8D850-966F-45A6-8DE7-15B891E7D40D}" type="slidenum">
              <a:rPr lang="pt-BR" smtClean="0"/>
              <a:t>18</a:t>
            </a:fld>
            <a:endParaRPr lang="pt-BR"/>
          </a:p>
        </p:txBody>
      </p:sp>
    </p:spTree>
    <p:extLst>
      <p:ext uri="{BB962C8B-B14F-4D97-AF65-F5344CB8AC3E}">
        <p14:creationId xmlns:p14="http://schemas.microsoft.com/office/powerpoint/2010/main" val="16943881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85EC4-980E-A796-303C-DCF02525C0D0}"/>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428A5FDE-AC17-38CD-DDFF-7ED215779D26}"/>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2C889A31-6C25-9478-35FC-4FB263F2D4C2}"/>
              </a:ext>
            </a:extLst>
          </p:cNvPr>
          <p:cNvSpPr>
            <a:spLocks noGrp="1"/>
          </p:cNvSpPr>
          <p:nvPr>
            <p:ph type="body" idx="1"/>
          </p:nvPr>
        </p:nvSpPr>
        <p:spPr/>
        <p:txBody>
          <a:bodyPr/>
          <a:lstStyle/>
          <a:p>
            <a:pPr algn="l"/>
            <a:r>
              <a:rPr lang="pt-BR" b="0" i="0" dirty="0">
                <a:solidFill>
                  <a:srgbClr val="374151"/>
                </a:solidFill>
                <a:effectLst/>
                <a:latin typeface="Söhne"/>
              </a:rPr>
              <a:t>Quando a frequência do clock aumenta, a CPU executa mais ciclos de instruções por segundo, o que resulta em um maior consumo de energia.</a:t>
            </a:r>
          </a:p>
          <a:p>
            <a:pPr algn="l"/>
            <a:endParaRPr lang="pt-BR" b="0" i="0" dirty="0">
              <a:solidFill>
                <a:srgbClr val="374151"/>
              </a:solidFill>
              <a:effectLst/>
              <a:latin typeface="Söhne"/>
            </a:endParaRPr>
          </a:p>
          <a:p>
            <a:pPr algn="l"/>
            <a:r>
              <a:rPr lang="pt-BR" b="0" i="0" dirty="0">
                <a:solidFill>
                  <a:srgbClr val="374151"/>
                </a:solidFill>
                <a:effectLst/>
                <a:latin typeface="Söhne"/>
              </a:rPr>
              <a:t>O aumento do clock requer que a CPU funcione em uma taxa mais rápida, o que consome mais energia para alimentar os circuitos e processos internos. Além disso, um clock mais alto geralmente está associado a uma maior tensão de alimentação, o que também contribui para o aumento do consumo de energia.</a:t>
            </a:r>
          </a:p>
          <a:p>
            <a:endParaRPr lang="pt-BR" dirty="0"/>
          </a:p>
        </p:txBody>
      </p:sp>
      <p:sp>
        <p:nvSpPr>
          <p:cNvPr id="4" name="Espaço Reservado para Número de Slide 3">
            <a:extLst>
              <a:ext uri="{FF2B5EF4-FFF2-40B4-BE49-F238E27FC236}">
                <a16:creationId xmlns:a16="http://schemas.microsoft.com/office/drawing/2014/main" id="{B7DD836E-681D-EB53-BDE8-8C4C12D97DB6}"/>
              </a:ext>
            </a:extLst>
          </p:cNvPr>
          <p:cNvSpPr>
            <a:spLocks noGrp="1"/>
          </p:cNvSpPr>
          <p:nvPr>
            <p:ph type="sldNum" sz="quarter" idx="5"/>
          </p:nvPr>
        </p:nvSpPr>
        <p:spPr/>
        <p:txBody>
          <a:bodyPr/>
          <a:lstStyle/>
          <a:p>
            <a:fld id="{6FC8D850-966F-45A6-8DE7-15B891E7D40D}" type="slidenum">
              <a:rPr lang="pt-BR" smtClean="0"/>
              <a:t>19</a:t>
            </a:fld>
            <a:endParaRPr lang="pt-BR"/>
          </a:p>
        </p:txBody>
      </p:sp>
    </p:spTree>
    <p:extLst>
      <p:ext uri="{BB962C8B-B14F-4D97-AF65-F5344CB8AC3E}">
        <p14:creationId xmlns:p14="http://schemas.microsoft.com/office/powerpoint/2010/main" val="39407867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O </a:t>
            </a:r>
            <a:r>
              <a:rPr lang="pt-BR" dirty="0" err="1"/>
              <a:t>portenta</a:t>
            </a:r>
            <a:r>
              <a:rPr lang="pt-BR" dirty="0"/>
              <a:t> é mais caro (USD 80 a 100) pois é feito de forma mais profissional, seguindo normas industriais de estabilidade, criptografia, etc. Com o 1 MB de RAM do </a:t>
            </a:r>
            <a:r>
              <a:rPr lang="pt-BR" dirty="0" err="1"/>
              <a:t>Portenta</a:t>
            </a:r>
            <a:r>
              <a:rPr lang="pt-BR" dirty="0"/>
              <a:t>, é possível executar aplicações de detecção de objetos.</a:t>
            </a:r>
          </a:p>
          <a:p>
            <a:endParaRPr lang="pt-BR" dirty="0"/>
          </a:p>
          <a:p>
            <a:r>
              <a:rPr lang="pt-BR" dirty="0"/>
              <a:t>O </a:t>
            </a:r>
            <a:r>
              <a:rPr lang="pt-BR" dirty="0" err="1"/>
              <a:t>Wio</a:t>
            </a:r>
            <a:r>
              <a:rPr lang="pt-BR" dirty="0"/>
              <a:t> Terminal tem um display LCD.</a:t>
            </a:r>
          </a:p>
          <a:p>
            <a:endParaRPr lang="pt-BR" dirty="0"/>
          </a:p>
          <a:p>
            <a:r>
              <a:rPr lang="pt-BR" b="0" i="0" dirty="0">
                <a:solidFill>
                  <a:srgbClr val="374151"/>
                </a:solidFill>
                <a:effectLst/>
                <a:latin typeface="Söhne"/>
              </a:rPr>
              <a:t>Um dispositivo </a:t>
            </a:r>
            <a:r>
              <a:rPr lang="pt-BR" b="0" i="0" dirty="0" err="1">
                <a:solidFill>
                  <a:srgbClr val="374151"/>
                </a:solidFill>
                <a:effectLst/>
                <a:latin typeface="Söhne"/>
              </a:rPr>
              <a:t>IoT</a:t>
            </a:r>
            <a:r>
              <a:rPr lang="pt-BR" b="0" i="0" dirty="0">
                <a:solidFill>
                  <a:srgbClr val="374151"/>
                </a:solidFill>
                <a:effectLst/>
                <a:latin typeface="Söhne"/>
              </a:rPr>
              <a:t> (Internet das Coisas) é um dispositivo físico que está conectado à internet e tem a capacidade de coletar, enviar e receber dados, permitindo interações e controle remoto em tempo real, além de integração com outros dispositivos e sistemas.</a:t>
            </a:r>
          </a:p>
          <a:p>
            <a:endParaRPr lang="pt-BR" b="0" i="0" dirty="0">
              <a:solidFill>
                <a:srgbClr val="374151"/>
              </a:solidFill>
              <a:effectLst/>
              <a:latin typeface="Söhne"/>
            </a:endParaRPr>
          </a:p>
          <a:p>
            <a:r>
              <a:rPr lang="pt-BR" b="0" i="0" dirty="0">
                <a:solidFill>
                  <a:srgbClr val="374151"/>
                </a:solidFill>
                <a:effectLst/>
                <a:latin typeface="Söhne"/>
              </a:rPr>
              <a:t>um "</a:t>
            </a:r>
            <a:r>
              <a:rPr lang="pt-BR" b="0" i="0" dirty="0" err="1">
                <a:solidFill>
                  <a:srgbClr val="374151"/>
                </a:solidFill>
                <a:effectLst/>
                <a:latin typeface="Söhne"/>
              </a:rPr>
              <a:t>endpoint</a:t>
            </a:r>
            <a:r>
              <a:rPr lang="pt-BR" b="0" i="0" dirty="0">
                <a:solidFill>
                  <a:srgbClr val="374151"/>
                </a:solidFill>
                <a:effectLst/>
                <a:latin typeface="Söhne"/>
              </a:rPr>
              <a:t>" é um ponto final ou um dispositivo final de uma comunicação de rede. Pode ser um computador, um dispositivo </a:t>
            </a:r>
            <a:r>
              <a:rPr lang="pt-BR" b="0" i="0" dirty="0" err="1">
                <a:solidFill>
                  <a:srgbClr val="374151"/>
                </a:solidFill>
                <a:effectLst/>
                <a:latin typeface="Söhne"/>
              </a:rPr>
              <a:t>IoT</a:t>
            </a:r>
            <a:r>
              <a:rPr lang="pt-BR" b="0" i="0" dirty="0">
                <a:solidFill>
                  <a:srgbClr val="374151"/>
                </a:solidFill>
                <a:effectLst/>
                <a:latin typeface="Söhne"/>
              </a:rPr>
              <a:t>, um servidor ou qualquer outro dispositivo que inicie ou receba dados em uma rede de comunicação.</a:t>
            </a: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21</a:t>
            </a:fld>
            <a:endParaRPr lang="pt-BR"/>
          </a:p>
        </p:txBody>
      </p:sp>
    </p:spTree>
    <p:extLst>
      <p:ext uri="{BB962C8B-B14F-4D97-AF65-F5344CB8AC3E}">
        <p14:creationId xmlns:p14="http://schemas.microsoft.com/office/powerpoint/2010/main" val="29151718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algn="l"/>
            <a:r>
              <a:rPr lang="pt-BR" b="0" i="0" dirty="0">
                <a:solidFill>
                  <a:srgbClr val="000000"/>
                </a:solidFill>
                <a:effectLst/>
                <a:latin typeface="Söhne"/>
              </a:rPr>
              <a:t>Praticamente todo sistema embarcado usa processadores ARM por várias razões, sendo algumas das principais:</a:t>
            </a:r>
          </a:p>
          <a:p>
            <a:pPr algn="l">
              <a:buFont typeface="+mj-lt"/>
              <a:buAutoNum type="arabicPeriod"/>
            </a:pPr>
            <a:r>
              <a:rPr lang="pt-BR" b="0" i="0" dirty="0">
                <a:solidFill>
                  <a:srgbClr val="000000"/>
                </a:solidFill>
                <a:effectLst/>
                <a:latin typeface="Söhne"/>
              </a:rPr>
              <a:t>Eficiência Energética: Os processadores ARM são conhecidos por sua eficiência energética. Eles consomem menos energia em comparação com muitas outras arquiteturas de processadores, o que é crucial para dispositivos alimentados por baterias ou com restrições de energia.</a:t>
            </a:r>
          </a:p>
          <a:p>
            <a:pPr algn="l">
              <a:buFont typeface="+mj-lt"/>
              <a:buAutoNum type="arabicPeriod"/>
            </a:pPr>
            <a:r>
              <a:rPr lang="pt-BR" b="0" i="0" dirty="0">
                <a:solidFill>
                  <a:srgbClr val="000000"/>
                </a:solidFill>
                <a:effectLst/>
                <a:latin typeface="Söhne"/>
              </a:rPr>
              <a:t>Baixo Custo: A arquitetura ARM oferece uma variedade de núcleos e opções de licenciamento que permitem aos fabricantes produzir chips personalizados para atender a necessidades específicas. Essa flexibilidade pode levar a um menor custo de produção para sistemas embarcados.</a:t>
            </a:r>
          </a:p>
          <a:p>
            <a:pPr algn="l">
              <a:buFont typeface="+mj-lt"/>
              <a:buAutoNum type="arabicPeriod"/>
            </a:pPr>
            <a:r>
              <a:rPr lang="pt-BR" b="0" i="0" dirty="0">
                <a:solidFill>
                  <a:srgbClr val="000000"/>
                </a:solidFill>
                <a:effectLst/>
                <a:latin typeface="Söhne"/>
              </a:rPr>
              <a:t>Tamanho Compacto: Os processadores ARM geralmente possuem uma arquitetura de conjunto de instruções reduzido e um tamanho menor de silício, o que torna esses chips ideais para sistemas embarcados com recursos de hardware limitados.</a:t>
            </a:r>
          </a:p>
          <a:p>
            <a:pPr algn="l">
              <a:buFont typeface="+mj-lt"/>
              <a:buAutoNum type="arabicPeriod"/>
            </a:pPr>
            <a:r>
              <a:rPr lang="pt-BR" b="0" i="0" dirty="0">
                <a:solidFill>
                  <a:srgbClr val="000000"/>
                </a:solidFill>
                <a:effectLst/>
                <a:latin typeface="Söhne"/>
              </a:rPr>
              <a:t>Desempenho Equilibrado: Os processadores ARM oferecem um bom equilíbrio entre desempenho e consumo de energia. Isso é importante para sistemas embarcados, onde o objetivo é fornecer funcionalidades adequadas sem consumir muita energia.</a:t>
            </a:r>
          </a:p>
          <a:p>
            <a:pPr algn="l">
              <a:buFont typeface="+mj-lt"/>
              <a:buAutoNum type="arabicPeriod"/>
            </a:pPr>
            <a:r>
              <a:rPr lang="pt-BR" b="0" i="0" dirty="0">
                <a:solidFill>
                  <a:srgbClr val="000000"/>
                </a:solidFill>
                <a:effectLst/>
                <a:latin typeface="Söhne"/>
              </a:rPr>
              <a:t>Ecossistema e Suporte: A arquitetura ARM é amplamente adotada e possui um ecossistema rico de desenvolvimento de software, bibliotecas, ferramentas e sistemas operacionais. Isso facilita o desenvolvimento de software e a integração com outras tecnologias.</a:t>
            </a:r>
          </a:p>
          <a:p>
            <a:pPr algn="l">
              <a:buFont typeface="+mj-lt"/>
              <a:buAutoNum type="arabicPeriod"/>
            </a:pPr>
            <a:r>
              <a:rPr lang="pt-BR" b="0" i="0" dirty="0">
                <a:solidFill>
                  <a:srgbClr val="000000"/>
                </a:solidFill>
                <a:effectLst/>
                <a:latin typeface="Söhne"/>
              </a:rPr>
              <a:t>Versatilidade: Os processadores ARM são usados em uma ampla variedade de dispositivos, desde dispositivos </a:t>
            </a:r>
            <a:r>
              <a:rPr lang="pt-BR" b="0" i="0" dirty="0" err="1">
                <a:solidFill>
                  <a:srgbClr val="000000"/>
                </a:solidFill>
                <a:effectLst/>
                <a:latin typeface="Söhne"/>
              </a:rPr>
              <a:t>IoT</a:t>
            </a:r>
            <a:r>
              <a:rPr lang="pt-BR" b="0" i="0" dirty="0">
                <a:solidFill>
                  <a:srgbClr val="000000"/>
                </a:solidFill>
                <a:effectLst/>
                <a:latin typeface="Söhne"/>
              </a:rPr>
              <a:t> de baixo consumo de energia até smartphones, tablets, sistemas de entretenimento e até mesmo servidores de alto desempenho. Essa versatilidade torna os chips ARM uma escolha atraente para muitos fabricantes.</a:t>
            </a:r>
          </a:p>
          <a:p>
            <a:pPr algn="l">
              <a:buFont typeface="+mj-lt"/>
              <a:buAutoNum type="arabicPeriod"/>
            </a:pPr>
            <a:r>
              <a:rPr lang="pt-BR" b="0" i="0" dirty="0">
                <a:solidFill>
                  <a:srgbClr val="000000"/>
                </a:solidFill>
                <a:effectLst/>
                <a:latin typeface="Söhne"/>
              </a:rPr>
              <a:t>Escalabilidade: A arquitetura ARM oferece opções escaláveis, permitindo que os fabricantes escolham entre uma variedade de núcleos com diferentes níveis de desempenho e recursos, adaptando-os às necessidades específicas de seus sistemas embarcados.</a:t>
            </a:r>
          </a:p>
          <a:p>
            <a:pPr algn="l"/>
            <a:r>
              <a:rPr lang="pt-BR" b="0" i="0" dirty="0">
                <a:solidFill>
                  <a:srgbClr val="000000"/>
                </a:solidFill>
                <a:effectLst/>
                <a:latin typeface="Söhne"/>
              </a:rPr>
              <a:t>Em resumo, os processadores ARM são amplamente utilizados em sistemas embarcados devido à sua eficiência energética, custo competitivo, tamanho compacto, desempenho equilibrado e suporte abrangente, tornando-os uma escolha popular para uma ampla variedade de aplicações.</a:t>
            </a:r>
          </a:p>
          <a:p>
            <a:endParaRPr lang="pt-BR" b="0" i="0" dirty="0">
              <a:solidFill>
                <a:srgbClr val="000000"/>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br>
              <a:rPr lang="pt-BR" b="0" i="0" dirty="0">
                <a:solidFill>
                  <a:srgbClr val="000000"/>
                </a:solidFill>
                <a:effectLst/>
                <a:latin typeface="Söhne"/>
              </a:rPr>
            </a:br>
            <a:r>
              <a:rPr lang="pt-BR" b="1" dirty="0">
                <a:effectLst/>
              </a:rPr>
              <a:t>MMU</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effectLst/>
            </a:endParaRPr>
          </a:p>
          <a:p>
            <a:pPr algn="l"/>
            <a:r>
              <a:rPr lang="pt-BR" b="0" i="0" dirty="0">
                <a:solidFill>
                  <a:srgbClr val="374151"/>
                </a:solidFill>
                <a:effectLst/>
                <a:latin typeface="Söhne"/>
              </a:rPr>
              <a:t>A MMU (</a:t>
            </a:r>
            <a:r>
              <a:rPr lang="pt-BR" b="0" i="0" dirty="0" err="1">
                <a:solidFill>
                  <a:srgbClr val="374151"/>
                </a:solidFill>
                <a:effectLst/>
                <a:latin typeface="Söhne"/>
              </a:rPr>
              <a:t>Memory</a:t>
            </a:r>
            <a:r>
              <a:rPr lang="pt-BR" b="0" i="0" dirty="0">
                <a:solidFill>
                  <a:srgbClr val="374151"/>
                </a:solidFill>
                <a:effectLst/>
                <a:latin typeface="Söhne"/>
              </a:rPr>
              <a:t> Management Unit) é uma unidade presente em muitos processadores, incluindo os processadores ARM </a:t>
            </a:r>
            <a:r>
              <a:rPr lang="pt-BR" b="0" i="0" dirty="0" err="1">
                <a:solidFill>
                  <a:srgbClr val="374151"/>
                </a:solidFill>
                <a:effectLst/>
                <a:latin typeface="Söhne"/>
              </a:rPr>
              <a:t>Cortex</a:t>
            </a:r>
            <a:r>
              <a:rPr lang="pt-BR" b="0" i="0" dirty="0">
                <a:solidFill>
                  <a:srgbClr val="374151"/>
                </a:solidFill>
                <a:effectLst/>
                <a:latin typeface="Söhne"/>
              </a:rPr>
              <a:t>, e é responsável por gerenciar o mapeamento virtual para físico da memória em sistemas que utilizam memória virtual. A MMU tem várias funções importantes:</a:t>
            </a:r>
          </a:p>
          <a:p>
            <a:pPr algn="l">
              <a:buFont typeface="+mj-lt"/>
              <a:buAutoNum type="arabicPeriod"/>
            </a:pPr>
            <a:r>
              <a:rPr lang="pt-BR" b="0" i="0" dirty="0">
                <a:solidFill>
                  <a:srgbClr val="374151"/>
                </a:solidFill>
                <a:effectLst/>
                <a:latin typeface="Söhne"/>
              </a:rPr>
              <a:t>Mapeamento de Endereços: A MMU traduz endereços virtuais usados por programas em endereços físicos correspondentes na memória física do sistema. Isso permite que os programas sejam executados em um espaço de endereço virtual isolado e independente da memória física real disponível no sistema.</a:t>
            </a:r>
          </a:p>
          <a:p>
            <a:pPr algn="l">
              <a:buFont typeface="+mj-lt"/>
              <a:buAutoNum type="arabicPeriod"/>
            </a:pPr>
            <a:r>
              <a:rPr lang="pt-BR" b="0" i="0" dirty="0">
                <a:solidFill>
                  <a:srgbClr val="374151"/>
                </a:solidFill>
                <a:effectLst/>
                <a:latin typeface="Söhne"/>
              </a:rPr>
              <a:t>Proteção e Isolamento de Memória: A MMU permite a implementação de mecanismos de proteção e isolamento de memória. Com o uso de tabelas de páginas e permissões de acesso, a MMU controla quais partes da memória podem ser acessadas por cada programa, protegendo contra acessos não autorizados e isolando o espaço de endereço de um programa de outros.</a:t>
            </a:r>
          </a:p>
          <a:p>
            <a:pPr algn="l">
              <a:buFont typeface="+mj-lt"/>
              <a:buAutoNum type="arabicPeriod"/>
            </a:pPr>
            <a:r>
              <a:rPr lang="pt-BR" b="0" i="0" dirty="0">
                <a:solidFill>
                  <a:srgbClr val="374151"/>
                </a:solidFill>
                <a:effectLst/>
                <a:latin typeface="Söhne"/>
              </a:rPr>
              <a:t>Paginação: A MMU utiliza a técnica de paginação para dividir a memória virtual em páginas de tamanho fixo. Essas páginas podem ser mapeadas de forma flexível para páginas físicas correspondentes na memória física. A paginação permite um gerenciamento mais eficiente da memória, pois apenas as páginas necessárias para a execução de um programa específico são carregadas na memória física.</a:t>
            </a:r>
          </a:p>
          <a:p>
            <a:pPr algn="l">
              <a:buFont typeface="+mj-lt"/>
              <a:buAutoNum type="arabicPeriod"/>
            </a:pPr>
            <a:r>
              <a:rPr lang="pt-BR" b="0" i="0" dirty="0">
                <a:solidFill>
                  <a:srgbClr val="374151"/>
                </a:solidFill>
                <a:effectLst/>
                <a:latin typeface="Söhne"/>
              </a:rPr>
              <a:t>Suporte a Memória Virtual: A MMU permite a utilização de memória virtual, que é um recurso valioso em sistemas operacionais modernos. A memória virtual permite que programas usem mais memória do que está fisicamente disponível, pois partes da memória podem ser movidas entre a memória principal e o armazenamento secundário, como o disco rígido. Isso possibilita o compartilhamento de páginas de memória entre programas, economia de espaço e maior flexibilidade no gerenciamento da memória.</a:t>
            </a:r>
          </a:p>
          <a:p>
            <a:pPr algn="l">
              <a:buFont typeface="+mj-lt"/>
              <a:buAutoNum type="arabicPeriod"/>
            </a:pPr>
            <a:r>
              <a:rPr lang="pt-BR" b="0" i="0" dirty="0">
                <a:solidFill>
                  <a:srgbClr val="374151"/>
                </a:solidFill>
                <a:effectLst/>
                <a:latin typeface="Söhne"/>
              </a:rPr>
              <a:t>Swap de Páginas: A MMU facilita o recurso de swap de páginas, que permite que páginas de memória inativas sejam movidas do armazenamento principal para o armazenamento secundário e vice-versa. Isso é útil para liberar memória física para outros programas ou para permitir que programas que não estão em uso sejam movidos para o armazenamento secundário, liberando espaço na memória principal.</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22</a:t>
            </a:fld>
            <a:endParaRPr lang="pt-BR"/>
          </a:p>
        </p:txBody>
      </p:sp>
    </p:spTree>
    <p:extLst>
      <p:ext uri="{BB962C8B-B14F-4D97-AF65-F5344CB8AC3E}">
        <p14:creationId xmlns:p14="http://schemas.microsoft.com/office/powerpoint/2010/main" val="25030011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03C31-BCA8-3889-8FDF-440DBBB26C1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DAFE2F88-F4FB-AFC8-1F9D-BB069371109E}"/>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D55AE568-134A-6C5A-C10C-5CE0DE39480D}"/>
              </a:ext>
            </a:extLst>
          </p:cNvPr>
          <p:cNvSpPr>
            <a:spLocks noGrp="1"/>
          </p:cNvSpPr>
          <p:nvPr>
            <p:ph type="body" idx="1"/>
          </p:nvPr>
        </p:nvSpPr>
        <p:spPr/>
        <p:txBody>
          <a:bodyPr/>
          <a:lstStyle/>
          <a:p>
            <a:pPr algn="l"/>
            <a:r>
              <a:rPr lang="pt-BR" b="0" i="0" dirty="0">
                <a:solidFill>
                  <a:srgbClr val="000000"/>
                </a:solidFill>
                <a:effectLst/>
                <a:latin typeface="Söhne"/>
              </a:rPr>
              <a:t>Praticamente todo sistema embarcado usa processadores ARM por várias razões, sendo algumas das principais:</a:t>
            </a:r>
          </a:p>
          <a:p>
            <a:pPr algn="l">
              <a:buFont typeface="+mj-lt"/>
              <a:buAutoNum type="arabicPeriod"/>
            </a:pPr>
            <a:r>
              <a:rPr lang="pt-BR" b="0" i="0" dirty="0">
                <a:solidFill>
                  <a:srgbClr val="000000"/>
                </a:solidFill>
                <a:effectLst/>
                <a:latin typeface="Söhne"/>
              </a:rPr>
              <a:t>Eficiência Energética: Os processadores ARM são conhecidos por sua eficiência energética. Eles consomem menos energia em comparação com muitas outras arquiteturas de processadores, o que é crucial para dispositivos alimentados por baterias ou com restrições de energia.</a:t>
            </a:r>
          </a:p>
          <a:p>
            <a:pPr algn="l">
              <a:buFont typeface="+mj-lt"/>
              <a:buAutoNum type="arabicPeriod"/>
            </a:pPr>
            <a:r>
              <a:rPr lang="pt-BR" b="0" i="0" dirty="0">
                <a:solidFill>
                  <a:srgbClr val="000000"/>
                </a:solidFill>
                <a:effectLst/>
                <a:latin typeface="Söhne"/>
              </a:rPr>
              <a:t>Baixo Custo: A arquitetura ARM oferece uma variedade de núcleos e opções de licenciamento que permitem aos fabricantes produzir chips personalizados para atender a necessidades específicas. Essa flexibilidade pode levar a um menor custo de produção para sistemas embarcados.</a:t>
            </a:r>
          </a:p>
          <a:p>
            <a:pPr algn="l">
              <a:buFont typeface="+mj-lt"/>
              <a:buAutoNum type="arabicPeriod"/>
            </a:pPr>
            <a:r>
              <a:rPr lang="pt-BR" b="0" i="0" dirty="0">
                <a:solidFill>
                  <a:srgbClr val="000000"/>
                </a:solidFill>
                <a:effectLst/>
                <a:latin typeface="Söhne"/>
              </a:rPr>
              <a:t>Tamanho Compacto: Os processadores ARM geralmente possuem uma arquitetura de conjunto de instruções reduzido e um tamanho menor de silício, o que torna esses chips ideais para sistemas embarcados com recursos de hardware limitados.</a:t>
            </a:r>
          </a:p>
          <a:p>
            <a:pPr algn="l">
              <a:buFont typeface="+mj-lt"/>
              <a:buAutoNum type="arabicPeriod"/>
            </a:pPr>
            <a:r>
              <a:rPr lang="pt-BR" b="0" i="0" dirty="0">
                <a:solidFill>
                  <a:srgbClr val="000000"/>
                </a:solidFill>
                <a:effectLst/>
                <a:latin typeface="Söhne"/>
              </a:rPr>
              <a:t>Desempenho Equilibrado: Os processadores ARM oferecem um bom equilíbrio entre desempenho e consumo de energia. Isso é importante para sistemas embarcados, onde o objetivo é fornecer funcionalidades adequadas sem consumir muita energia.</a:t>
            </a:r>
          </a:p>
          <a:p>
            <a:pPr algn="l">
              <a:buFont typeface="+mj-lt"/>
              <a:buAutoNum type="arabicPeriod"/>
            </a:pPr>
            <a:r>
              <a:rPr lang="pt-BR" b="0" i="0" dirty="0">
                <a:solidFill>
                  <a:srgbClr val="000000"/>
                </a:solidFill>
                <a:effectLst/>
                <a:latin typeface="Söhne"/>
              </a:rPr>
              <a:t>Ecossistema e Suporte: A arquitetura ARM é amplamente adotada e possui um ecossistema rico de desenvolvimento de software, bibliotecas, ferramentas e sistemas operacionais. Isso facilita o desenvolvimento de software e a integração com outras tecnologias.</a:t>
            </a:r>
          </a:p>
          <a:p>
            <a:pPr algn="l">
              <a:buFont typeface="+mj-lt"/>
              <a:buAutoNum type="arabicPeriod"/>
            </a:pPr>
            <a:r>
              <a:rPr lang="pt-BR" b="0" i="0" dirty="0">
                <a:solidFill>
                  <a:srgbClr val="000000"/>
                </a:solidFill>
                <a:effectLst/>
                <a:latin typeface="Söhne"/>
              </a:rPr>
              <a:t>Versatilidade: Os processadores ARM são usados em uma ampla variedade de dispositivos, desde dispositivos </a:t>
            </a:r>
            <a:r>
              <a:rPr lang="pt-BR" b="0" i="0" dirty="0" err="1">
                <a:solidFill>
                  <a:srgbClr val="000000"/>
                </a:solidFill>
                <a:effectLst/>
                <a:latin typeface="Söhne"/>
              </a:rPr>
              <a:t>IoT</a:t>
            </a:r>
            <a:r>
              <a:rPr lang="pt-BR" b="0" i="0" dirty="0">
                <a:solidFill>
                  <a:srgbClr val="000000"/>
                </a:solidFill>
                <a:effectLst/>
                <a:latin typeface="Söhne"/>
              </a:rPr>
              <a:t> de baixo consumo de energia até smartphones, tablets, sistemas de entretenimento e até mesmo servidores de alto desempenho. Essa versatilidade torna os chips ARM uma escolha atraente para muitos fabricantes.</a:t>
            </a:r>
          </a:p>
          <a:p>
            <a:pPr algn="l">
              <a:buFont typeface="+mj-lt"/>
              <a:buAutoNum type="arabicPeriod"/>
            </a:pPr>
            <a:r>
              <a:rPr lang="pt-BR" b="0" i="0" dirty="0">
                <a:solidFill>
                  <a:srgbClr val="000000"/>
                </a:solidFill>
                <a:effectLst/>
                <a:latin typeface="Söhne"/>
              </a:rPr>
              <a:t>Escalabilidade: A arquitetura ARM oferece opções escaláveis, permitindo que os fabricantes escolham entre uma variedade de núcleos com diferentes níveis de desempenho e recursos, adaptando-os às necessidades específicas de seus sistemas embarcados.</a:t>
            </a:r>
          </a:p>
          <a:p>
            <a:pPr algn="l"/>
            <a:r>
              <a:rPr lang="pt-BR" b="0" i="0" dirty="0">
                <a:solidFill>
                  <a:srgbClr val="000000"/>
                </a:solidFill>
                <a:effectLst/>
                <a:latin typeface="Söhne"/>
              </a:rPr>
              <a:t>Em resumo, os processadores ARM são amplamente utilizados em sistemas embarcados devido à sua eficiência energética, custo competitivo, tamanho compacto, desempenho equilibrado e suporte abrangente, tornando-os uma escolha popular para uma ampla variedade de aplicações.</a:t>
            </a:r>
          </a:p>
          <a:p>
            <a:endParaRPr lang="pt-BR" b="0" i="0" dirty="0">
              <a:solidFill>
                <a:srgbClr val="000000"/>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br>
              <a:rPr lang="pt-BR" b="0" i="0" dirty="0">
                <a:solidFill>
                  <a:srgbClr val="000000"/>
                </a:solidFill>
                <a:effectLst/>
                <a:latin typeface="Söhne"/>
              </a:rPr>
            </a:br>
            <a:r>
              <a:rPr lang="pt-BR" b="1" dirty="0">
                <a:effectLst/>
              </a:rPr>
              <a:t>MMU</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effectLst/>
            </a:endParaRPr>
          </a:p>
          <a:p>
            <a:pPr algn="l"/>
            <a:r>
              <a:rPr lang="pt-BR" b="0" i="0" dirty="0">
                <a:solidFill>
                  <a:srgbClr val="374151"/>
                </a:solidFill>
                <a:effectLst/>
                <a:latin typeface="Söhne"/>
              </a:rPr>
              <a:t>A MMU (</a:t>
            </a:r>
            <a:r>
              <a:rPr lang="pt-BR" b="0" i="0" dirty="0" err="1">
                <a:solidFill>
                  <a:srgbClr val="374151"/>
                </a:solidFill>
                <a:effectLst/>
                <a:latin typeface="Söhne"/>
              </a:rPr>
              <a:t>Memory</a:t>
            </a:r>
            <a:r>
              <a:rPr lang="pt-BR" b="0" i="0" dirty="0">
                <a:solidFill>
                  <a:srgbClr val="374151"/>
                </a:solidFill>
                <a:effectLst/>
                <a:latin typeface="Söhne"/>
              </a:rPr>
              <a:t> Management Unit) é uma unidade presente em muitos processadores, incluindo os processadores ARM </a:t>
            </a:r>
            <a:r>
              <a:rPr lang="pt-BR" b="0" i="0" dirty="0" err="1">
                <a:solidFill>
                  <a:srgbClr val="374151"/>
                </a:solidFill>
                <a:effectLst/>
                <a:latin typeface="Söhne"/>
              </a:rPr>
              <a:t>Cortex</a:t>
            </a:r>
            <a:r>
              <a:rPr lang="pt-BR" b="0" i="0" dirty="0">
                <a:solidFill>
                  <a:srgbClr val="374151"/>
                </a:solidFill>
                <a:effectLst/>
                <a:latin typeface="Söhne"/>
              </a:rPr>
              <a:t>, e é responsável por gerenciar o mapeamento virtual para físico da memória em sistemas que utilizam memória virtual. A MMU tem várias funções importantes:</a:t>
            </a:r>
          </a:p>
          <a:p>
            <a:pPr algn="l">
              <a:buFont typeface="+mj-lt"/>
              <a:buAutoNum type="arabicPeriod"/>
            </a:pPr>
            <a:r>
              <a:rPr lang="pt-BR" b="0" i="0" dirty="0">
                <a:solidFill>
                  <a:srgbClr val="374151"/>
                </a:solidFill>
                <a:effectLst/>
                <a:latin typeface="Söhne"/>
              </a:rPr>
              <a:t>Mapeamento de Endereços: A MMU traduz endereços virtuais usados por programas em endereços físicos correspondentes na memória física do sistema. Isso permite que os programas sejam executados em um espaço de endereço virtual isolado e independente da memória física real disponível no sistema.</a:t>
            </a:r>
          </a:p>
          <a:p>
            <a:pPr algn="l">
              <a:buFont typeface="+mj-lt"/>
              <a:buAutoNum type="arabicPeriod"/>
            </a:pPr>
            <a:r>
              <a:rPr lang="pt-BR" b="0" i="0" dirty="0">
                <a:solidFill>
                  <a:srgbClr val="374151"/>
                </a:solidFill>
                <a:effectLst/>
                <a:latin typeface="Söhne"/>
              </a:rPr>
              <a:t>Proteção e Isolamento de Memória: A MMU permite a implementação de mecanismos de proteção e isolamento de memória. Com o uso de tabelas de páginas e permissões de acesso, a MMU controla quais partes da memória podem ser acessadas por cada programa, protegendo contra acessos não autorizados e isolando o espaço de endereço de um programa de outros.</a:t>
            </a:r>
          </a:p>
          <a:p>
            <a:pPr algn="l">
              <a:buFont typeface="+mj-lt"/>
              <a:buAutoNum type="arabicPeriod"/>
            </a:pPr>
            <a:r>
              <a:rPr lang="pt-BR" b="0" i="0" dirty="0">
                <a:solidFill>
                  <a:srgbClr val="374151"/>
                </a:solidFill>
                <a:effectLst/>
                <a:latin typeface="Söhne"/>
              </a:rPr>
              <a:t>Paginação: A MMU utiliza a técnica de paginação para dividir a memória virtual em páginas de tamanho fixo. Essas páginas podem ser mapeadas de forma flexível para páginas físicas correspondentes na memória física. A paginação permite um gerenciamento mais eficiente da memória, pois apenas as páginas necessárias para a execução de um programa específico são carregadas na memória física.</a:t>
            </a:r>
          </a:p>
          <a:p>
            <a:pPr algn="l">
              <a:buFont typeface="+mj-lt"/>
              <a:buAutoNum type="arabicPeriod"/>
            </a:pPr>
            <a:r>
              <a:rPr lang="pt-BR" b="0" i="0" dirty="0">
                <a:solidFill>
                  <a:srgbClr val="374151"/>
                </a:solidFill>
                <a:effectLst/>
                <a:latin typeface="Söhne"/>
              </a:rPr>
              <a:t>Suporte a Memória Virtual: A MMU permite a utilização de memória virtual, que é um recurso valioso em sistemas operacionais modernos. A memória virtual permite que programas usem mais memória do que está fisicamente disponível, pois partes da memória podem ser movidas entre a memória principal e o armazenamento secundário, como o disco rígido. Isso possibilita o compartilhamento de páginas de memória entre programas, economia de espaço e maior flexibilidade no gerenciamento da memória.</a:t>
            </a:r>
          </a:p>
          <a:p>
            <a:pPr algn="l">
              <a:buFont typeface="+mj-lt"/>
              <a:buAutoNum type="arabicPeriod"/>
            </a:pPr>
            <a:r>
              <a:rPr lang="pt-BR" b="0" i="0" dirty="0">
                <a:solidFill>
                  <a:srgbClr val="374151"/>
                </a:solidFill>
                <a:effectLst/>
                <a:latin typeface="Söhne"/>
              </a:rPr>
              <a:t>Swap de Páginas: A MMU facilita o recurso de swap de páginas, que permite que páginas de memória inativas sejam movidas do armazenamento principal para o armazenamento secundário e vice-versa. Isso é útil para liberar memória física para outros programas ou para permitir que programas que não estão em uso sejam movidos para o armazenamento secundário, liberando espaço na memória principal.</a:t>
            </a:r>
          </a:p>
          <a:p>
            <a:endParaRPr lang="pt-BR" dirty="0"/>
          </a:p>
        </p:txBody>
      </p:sp>
      <p:sp>
        <p:nvSpPr>
          <p:cNvPr id="4" name="Espaço Reservado para Número de Slide 3">
            <a:extLst>
              <a:ext uri="{FF2B5EF4-FFF2-40B4-BE49-F238E27FC236}">
                <a16:creationId xmlns:a16="http://schemas.microsoft.com/office/drawing/2014/main" id="{DA49C2E5-6A07-34C8-06A1-0AEC093FE0B0}"/>
              </a:ext>
            </a:extLst>
          </p:cNvPr>
          <p:cNvSpPr>
            <a:spLocks noGrp="1"/>
          </p:cNvSpPr>
          <p:nvPr>
            <p:ph type="sldNum" sz="quarter" idx="5"/>
          </p:nvPr>
        </p:nvSpPr>
        <p:spPr/>
        <p:txBody>
          <a:bodyPr/>
          <a:lstStyle/>
          <a:p>
            <a:fld id="{6FC8D850-966F-45A6-8DE7-15B891E7D40D}" type="slidenum">
              <a:rPr lang="pt-BR" smtClean="0"/>
              <a:t>23</a:t>
            </a:fld>
            <a:endParaRPr lang="pt-BR"/>
          </a:p>
        </p:txBody>
      </p:sp>
    </p:spTree>
    <p:extLst>
      <p:ext uri="{BB962C8B-B14F-4D97-AF65-F5344CB8AC3E}">
        <p14:creationId xmlns:p14="http://schemas.microsoft.com/office/powerpoint/2010/main" val="15752682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effectLst/>
              </a:rPr>
              <a:t>Os processadores da família ARM </a:t>
            </a:r>
            <a:r>
              <a:rPr lang="pt-BR" dirty="0" err="1">
                <a:effectLst/>
              </a:rPr>
              <a:t>Cortex</a:t>
            </a:r>
            <a:r>
              <a:rPr lang="pt-BR" dirty="0">
                <a:effectLst/>
              </a:rPr>
              <a:t> utilizados em smartphones e </a:t>
            </a:r>
            <a:r>
              <a:rPr lang="pt-BR" dirty="0" err="1">
                <a:effectLst/>
              </a:rPr>
              <a:t>tablets</a:t>
            </a:r>
            <a:r>
              <a:rPr lang="pt-BR" dirty="0">
                <a:effectLst/>
              </a:rPr>
              <a:t> até sistemas embarcados e dispositivos </a:t>
            </a:r>
            <a:r>
              <a:rPr lang="pt-BR" dirty="0" err="1">
                <a:effectLst/>
              </a:rPr>
              <a:t>IoT</a:t>
            </a:r>
            <a:r>
              <a:rPr lang="pt-BR" dirty="0">
                <a:effectLst/>
              </a:rPr>
              <a:t>.</a:t>
            </a:r>
            <a:br>
              <a:rPr lang="pt-BR" dirty="0">
                <a:effectLst/>
              </a:rPr>
            </a:br>
            <a:br>
              <a:rPr lang="pt-BR" dirty="0">
                <a:effectLst/>
              </a:rPr>
            </a:br>
            <a:r>
              <a:rPr lang="pt-BR" dirty="0" err="1">
                <a:effectLst/>
              </a:rPr>
              <a:t>Cortex-A</a:t>
            </a:r>
            <a:r>
              <a:rPr lang="pt-BR" dirty="0">
                <a:effectLst/>
              </a:rPr>
              <a:t>: série projetada para fornecer alto desempenho e é comumente encontrada em smartphones, </a:t>
            </a:r>
            <a:r>
              <a:rPr lang="pt-BR" dirty="0" err="1">
                <a:effectLst/>
              </a:rPr>
              <a:t>tablets</a:t>
            </a:r>
            <a:r>
              <a:rPr lang="pt-BR" dirty="0">
                <a:effectLst/>
              </a:rPr>
              <a:t> e dispositivos de computação móvel. Possuem uma arquitetura mais avançada e são capazes de executar sistemas operacionais completos, como </a:t>
            </a:r>
            <a:r>
              <a:rPr lang="pt-BR" dirty="0" err="1">
                <a:effectLst/>
              </a:rPr>
              <a:t>Android</a:t>
            </a:r>
            <a:r>
              <a:rPr lang="pt-BR" dirty="0">
                <a:effectLst/>
              </a:rPr>
              <a:t> e Linux. Eles também suportam tecnologias como múltiplos núcleos e virtualização.</a:t>
            </a:r>
            <a:br>
              <a:rPr lang="pt-BR" dirty="0">
                <a:effectLst/>
              </a:rPr>
            </a:br>
            <a:br>
              <a:rPr lang="pt-BR" dirty="0">
                <a:effectLst/>
              </a:rPr>
            </a:br>
            <a:r>
              <a:rPr lang="pt-BR" dirty="0" err="1">
                <a:effectLst/>
              </a:rPr>
              <a:t>Cortex</a:t>
            </a:r>
            <a:r>
              <a:rPr lang="pt-BR" dirty="0">
                <a:effectLst/>
              </a:rPr>
              <a:t>-R: série voltada para aplicações em tempo real, onde a previsibilidade e a confiabilidade são essenciais. São comumente usados em sistemas embarcados, como controladores de disco rígido, controladores de motor, sistemas de controle automotivo e outros sistemas críticos. São projetados para garantir uma execução confiável de tarefas em tempo real e possuem recursos de redundância e recuperação de falhas.</a:t>
            </a:r>
            <a:br>
              <a:rPr lang="pt-BR" dirty="0">
                <a:effectLst/>
              </a:rPr>
            </a:br>
            <a:br>
              <a:rPr lang="pt-BR" dirty="0">
                <a:effectLst/>
              </a:rPr>
            </a:br>
            <a:r>
              <a:rPr lang="pt-BR" dirty="0" err="1">
                <a:effectLst/>
              </a:rPr>
              <a:t>Cortex</a:t>
            </a:r>
            <a:r>
              <a:rPr lang="pt-BR" dirty="0">
                <a:effectLst/>
              </a:rPr>
              <a:t>-M: série destinada a sistemas de baixa potência e baixo custo, onde a eficiência energética e a área reduzida são importantes. São amplamente utilizados em dispositivos </a:t>
            </a:r>
            <a:r>
              <a:rPr lang="pt-BR" dirty="0" err="1">
                <a:effectLst/>
              </a:rPr>
              <a:t>IoT</a:t>
            </a:r>
            <a:r>
              <a:rPr lang="pt-BR" dirty="0">
                <a:effectLst/>
              </a:rPr>
              <a:t>, sensores, dispositivos médicos, microcontroladores e outras aplicações de baixa potência. São projetados para serem altamente eficientes, com recursos de economia de energia e um conjunto básico de instruções para suportar tarefas comuns em sistemas embarcados.</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b="1" dirty="0">
                <a:effectLst/>
              </a:rPr>
              <a:t>MMU</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effectLst/>
            </a:endParaRPr>
          </a:p>
          <a:p>
            <a:pPr algn="l"/>
            <a:r>
              <a:rPr lang="pt-BR" b="0" i="0" dirty="0">
                <a:solidFill>
                  <a:srgbClr val="374151"/>
                </a:solidFill>
                <a:effectLst/>
                <a:latin typeface="Söhne"/>
              </a:rPr>
              <a:t>A MMU (</a:t>
            </a:r>
            <a:r>
              <a:rPr lang="pt-BR" b="0" i="0" dirty="0" err="1">
                <a:solidFill>
                  <a:srgbClr val="374151"/>
                </a:solidFill>
                <a:effectLst/>
                <a:latin typeface="Söhne"/>
              </a:rPr>
              <a:t>Memory</a:t>
            </a:r>
            <a:r>
              <a:rPr lang="pt-BR" b="0" i="0" dirty="0">
                <a:solidFill>
                  <a:srgbClr val="374151"/>
                </a:solidFill>
                <a:effectLst/>
                <a:latin typeface="Söhne"/>
              </a:rPr>
              <a:t> Management Unit) é uma unidade presente em muitos processadores, incluindo os processadores ARM </a:t>
            </a:r>
            <a:r>
              <a:rPr lang="pt-BR" b="0" i="0" dirty="0" err="1">
                <a:solidFill>
                  <a:srgbClr val="374151"/>
                </a:solidFill>
                <a:effectLst/>
                <a:latin typeface="Söhne"/>
              </a:rPr>
              <a:t>Cortex</a:t>
            </a:r>
            <a:r>
              <a:rPr lang="pt-BR" b="0" i="0" dirty="0">
                <a:solidFill>
                  <a:srgbClr val="374151"/>
                </a:solidFill>
                <a:effectLst/>
                <a:latin typeface="Söhne"/>
              </a:rPr>
              <a:t>, e é responsável por gerenciar o mapeamento virtual para físico da memória em sistemas que utilizam memória virtual. A MMU tem várias funções importantes:</a:t>
            </a:r>
          </a:p>
          <a:p>
            <a:pPr algn="l">
              <a:buFont typeface="+mj-lt"/>
              <a:buAutoNum type="arabicPeriod"/>
            </a:pPr>
            <a:r>
              <a:rPr lang="pt-BR" b="0" i="0" dirty="0">
                <a:solidFill>
                  <a:srgbClr val="374151"/>
                </a:solidFill>
                <a:effectLst/>
                <a:latin typeface="Söhne"/>
              </a:rPr>
              <a:t>Mapeamento de Endereços: A MMU traduz endereços virtuais usados por programas em endereços físicos correspondentes na memória física do sistema. Isso permite que os programas sejam executados em um espaço de endereço virtual isolado e independente da memória física real disponível no sistema.</a:t>
            </a:r>
          </a:p>
          <a:p>
            <a:pPr algn="l">
              <a:buFont typeface="+mj-lt"/>
              <a:buAutoNum type="arabicPeriod"/>
            </a:pPr>
            <a:r>
              <a:rPr lang="pt-BR" b="0" i="0" dirty="0">
                <a:solidFill>
                  <a:srgbClr val="374151"/>
                </a:solidFill>
                <a:effectLst/>
                <a:latin typeface="Söhne"/>
              </a:rPr>
              <a:t>Proteção e Isolamento de Memória: A MMU permite a implementação de mecanismos de proteção e isolamento de memória. Com o uso de tabelas de páginas e permissões de acesso, a MMU controla quais partes da memória podem ser acessadas por cada programa, protegendo contra acessos não autorizados e isolando o espaço de endereço de um programa de outros.</a:t>
            </a:r>
          </a:p>
          <a:p>
            <a:pPr algn="l">
              <a:buFont typeface="+mj-lt"/>
              <a:buAutoNum type="arabicPeriod"/>
            </a:pPr>
            <a:r>
              <a:rPr lang="pt-BR" b="0" i="0" dirty="0">
                <a:solidFill>
                  <a:srgbClr val="374151"/>
                </a:solidFill>
                <a:effectLst/>
                <a:latin typeface="Söhne"/>
              </a:rPr>
              <a:t>Paginação: A MMU utiliza a técnica de paginação para dividir a memória virtual em páginas de tamanho fixo. Essas páginas podem ser mapeadas de forma flexível para páginas físicas correspondentes na memória física. A paginação permite um gerenciamento mais eficiente da memória, pois apenas as páginas necessárias para a execução de um programa específico são carregadas na memória física.</a:t>
            </a:r>
          </a:p>
          <a:p>
            <a:pPr algn="l">
              <a:buFont typeface="+mj-lt"/>
              <a:buAutoNum type="arabicPeriod"/>
            </a:pPr>
            <a:r>
              <a:rPr lang="pt-BR" b="0" i="0" dirty="0">
                <a:solidFill>
                  <a:srgbClr val="374151"/>
                </a:solidFill>
                <a:effectLst/>
                <a:latin typeface="Söhne"/>
              </a:rPr>
              <a:t>Suporte a Memória Virtual: A MMU permite a utilização de memória virtual, que é um recurso valioso em sistemas operacionais modernos. A memória virtual permite que programas usem mais memória do que está fisicamente disponível, pois partes da memória podem ser movidas entre a memória principal e o armazenamento secundário, como o disco rígido. Isso possibilita o compartilhamento de páginas de memória entre programas, economia de espaço e maior flexibilidade no gerenciamento da memória.</a:t>
            </a:r>
          </a:p>
          <a:p>
            <a:pPr algn="l">
              <a:buFont typeface="+mj-lt"/>
              <a:buAutoNum type="arabicPeriod"/>
            </a:pPr>
            <a:r>
              <a:rPr lang="pt-BR" b="0" i="0" dirty="0">
                <a:solidFill>
                  <a:srgbClr val="374151"/>
                </a:solidFill>
                <a:effectLst/>
                <a:latin typeface="Söhne"/>
              </a:rPr>
              <a:t>Swap de Páginas: A MMU facilita o recurso de swap de páginas, que permite que páginas de memória inativas sejam movidas do armazenamento principal para o armazenamento secundário e vice-versa. Isso é útil para liberar memória física para outros programas ou para permitir que programas que não estão em uso sejam movidos para o armazenamento secundário, liberando espaço na memória principal.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effectLst/>
              </a:rPr>
              <a:t>Referencia</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effectLst/>
              </a:rPr>
              <a:t>[1] https://www.anandtech.com/show/8400/arms-cortex-m-even-smaller-and-lower-power-cpu-cores</a:t>
            </a:r>
          </a:p>
        </p:txBody>
      </p:sp>
      <p:sp>
        <p:nvSpPr>
          <p:cNvPr id="4" name="Espaço Reservado para Número de Slide 3"/>
          <p:cNvSpPr>
            <a:spLocks noGrp="1"/>
          </p:cNvSpPr>
          <p:nvPr>
            <p:ph type="sldNum" sz="quarter" idx="10"/>
          </p:nvPr>
        </p:nvSpPr>
        <p:spPr/>
        <p:txBody>
          <a:bodyPr/>
          <a:lstStyle/>
          <a:p>
            <a:fld id="{6FC8D850-966F-45A6-8DE7-15B891E7D40D}" type="slidenum">
              <a:rPr lang="pt-BR" smtClean="0"/>
              <a:t>24</a:t>
            </a:fld>
            <a:endParaRPr lang="pt-BR"/>
          </a:p>
        </p:txBody>
      </p:sp>
    </p:spTree>
    <p:extLst>
      <p:ext uri="{BB962C8B-B14F-4D97-AF65-F5344CB8AC3E}">
        <p14:creationId xmlns:p14="http://schemas.microsoft.com/office/powerpoint/2010/main" val="3781378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A CPU Cortex-M3 adiciona processamento avançado de dados e instruções de manipulação de campo de bits que aceleram o controle mais complexo e tarefas computacionais de propósito geral.</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26</a:t>
            </a:fld>
            <a:endParaRPr lang="pt-BR"/>
          </a:p>
        </p:txBody>
      </p:sp>
    </p:spTree>
    <p:extLst>
      <p:ext uri="{BB962C8B-B14F-4D97-AF65-F5344CB8AC3E}">
        <p14:creationId xmlns:p14="http://schemas.microsoft.com/office/powerpoint/2010/main" val="21078013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A CPU Cortex-M3 adiciona processamento avançado de dados e instruções de manipulação de campo de bits que aceleram o controle mais complexo e tarefas computacionais de propósito geral.</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27</a:t>
            </a:fld>
            <a:endParaRPr lang="pt-BR"/>
          </a:p>
        </p:txBody>
      </p:sp>
    </p:spTree>
    <p:extLst>
      <p:ext uri="{BB962C8B-B14F-4D97-AF65-F5344CB8AC3E}">
        <p14:creationId xmlns:p14="http://schemas.microsoft.com/office/powerpoint/2010/main" val="28227454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A CPU Cortex-M3 adiciona processamento avançado de dados e instruções de manipulação de campo de bits que aceleram o controle mais complexo e tarefas computacionais de propósito geral.</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28</a:t>
            </a:fld>
            <a:endParaRPr lang="pt-BR"/>
          </a:p>
        </p:txBody>
      </p:sp>
    </p:spTree>
    <p:extLst>
      <p:ext uri="{BB962C8B-B14F-4D97-AF65-F5344CB8AC3E}">
        <p14:creationId xmlns:p14="http://schemas.microsoft.com/office/powerpoint/2010/main" val="15385659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A CPU Cortex-M3 adiciona processamento avançado de dados e instruções de manipulação de campo de bits que aceleram o controle mais complexo e tarefas computacionais de propósito geral.</a:t>
            </a:r>
          </a:p>
          <a:p>
            <a:endParaRPr lang="pt-BR" dirty="0"/>
          </a:p>
          <a:p>
            <a:pPr>
              <a:buNone/>
            </a:pPr>
            <a:r>
              <a:rPr lang="pt-BR" dirty="0"/>
              <a:t>A diferença entre </a:t>
            </a:r>
            <a:r>
              <a:rPr lang="pt-BR" b="1" dirty="0"/>
              <a:t>ponto fixo</a:t>
            </a:r>
            <a:r>
              <a:rPr lang="pt-BR" dirty="0"/>
              <a:t> e </a:t>
            </a:r>
            <a:r>
              <a:rPr lang="pt-BR" b="1" dirty="0"/>
              <a:t>ponto flutuante</a:t>
            </a:r>
            <a:r>
              <a:rPr lang="pt-BR" dirty="0"/>
              <a:t> está na forma como os números são representados e manipulados no computador, especialmente em contextos de aritmética e processamento digital. Vamos entender os dois conceitos:</a:t>
            </a:r>
          </a:p>
          <a:p>
            <a:pPr>
              <a:buNone/>
            </a:pPr>
            <a:r>
              <a:rPr lang="pt-BR" b="1" dirty="0"/>
              <a:t>🧩 1. Ponto Fixo (</a:t>
            </a:r>
            <a:r>
              <a:rPr lang="pt-BR" b="1" dirty="0" err="1"/>
              <a:t>Fixed</a:t>
            </a:r>
            <a:r>
              <a:rPr lang="pt-BR" b="1" dirty="0"/>
              <a:t>-Point)</a:t>
            </a:r>
          </a:p>
          <a:p>
            <a:pPr>
              <a:buNone/>
            </a:pPr>
            <a:r>
              <a:rPr lang="pt-BR" dirty="0"/>
              <a:t>No formato de </a:t>
            </a:r>
            <a:r>
              <a:rPr lang="pt-BR" b="1" dirty="0"/>
              <a:t>ponto fixo</a:t>
            </a:r>
            <a:r>
              <a:rPr lang="pt-BR" dirty="0"/>
              <a:t>, a posição da vírgula decimal (ou binária) é </a:t>
            </a:r>
            <a:r>
              <a:rPr lang="pt-BR" b="1" dirty="0"/>
              <a:t>fixa</a:t>
            </a:r>
            <a:r>
              <a:rPr lang="pt-BR" dirty="0"/>
              <a:t> e não se move durante as operações. Esse método é mais simples e eficiente, mas tem menor flexibilidade para representar números muito grandes ou muito pequenos.</a:t>
            </a:r>
          </a:p>
          <a:p>
            <a:pPr>
              <a:buNone/>
            </a:pPr>
            <a:r>
              <a:rPr lang="pt-BR" dirty="0"/>
              <a:t>✅ </a:t>
            </a:r>
            <a:r>
              <a:rPr lang="pt-BR" b="1" dirty="0"/>
              <a:t>Exemplo:</a:t>
            </a:r>
            <a:br>
              <a:rPr lang="pt-BR" dirty="0"/>
            </a:br>
            <a:r>
              <a:rPr lang="pt-BR" dirty="0"/>
              <a:t>Imagine que você tem 4 bits para a parte inteira e 4 bits para a parte fracionária:</a:t>
            </a:r>
          </a:p>
          <a:p>
            <a:pPr>
              <a:buFont typeface="Arial" panose="020B0604020202020204" pitchFamily="34" charset="0"/>
              <a:buChar char="•"/>
            </a:pPr>
            <a:r>
              <a:rPr lang="pt-BR" b="1" dirty="0"/>
              <a:t>1010.1101</a:t>
            </a:r>
            <a:r>
              <a:rPr lang="pt-BR" dirty="0"/>
              <a:t> em binário de ponto fixo representa </a:t>
            </a:r>
            <a:r>
              <a:rPr lang="pt-BR" b="1" dirty="0"/>
              <a:t>10,8125</a:t>
            </a:r>
            <a:r>
              <a:rPr lang="pt-BR" dirty="0"/>
              <a:t> em decimal.</a:t>
            </a:r>
          </a:p>
          <a:p>
            <a:pPr>
              <a:buFont typeface="Arial" panose="020B0604020202020204" pitchFamily="34" charset="0"/>
              <a:buChar char="•"/>
            </a:pPr>
            <a:r>
              <a:rPr lang="pt-BR" dirty="0"/>
              <a:t>O número de casas decimais é fixo, por exemplo, </a:t>
            </a:r>
            <a:r>
              <a:rPr lang="pt-BR" b="1" dirty="0"/>
              <a:t>4 bits para a parte inteira</a:t>
            </a:r>
            <a:r>
              <a:rPr lang="pt-BR" dirty="0"/>
              <a:t> e </a:t>
            </a:r>
            <a:r>
              <a:rPr lang="pt-BR" b="1" dirty="0"/>
              <a:t>4 bits para a parte fracionária</a:t>
            </a:r>
            <a:r>
              <a:rPr lang="pt-BR" dirty="0"/>
              <a:t>.</a:t>
            </a:r>
          </a:p>
          <a:p>
            <a:pPr>
              <a:buNone/>
            </a:pPr>
            <a:r>
              <a:rPr lang="pt-BR" b="1" dirty="0"/>
              <a:t>Vantagens:</a:t>
            </a:r>
            <a:endParaRPr lang="pt-BR" dirty="0"/>
          </a:p>
          <a:p>
            <a:pPr>
              <a:buFont typeface="Arial" panose="020B0604020202020204" pitchFamily="34" charset="0"/>
              <a:buChar char="•"/>
            </a:pPr>
            <a:r>
              <a:rPr lang="pt-BR" dirty="0"/>
              <a:t>Mais rápido e eficiente (especialmente em hardware dedicado como </a:t>
            </a:r>
            <a:r>
              <a:rPr lang="pt-BR" dirty="0" err="1"/>
              <a:t>DSPs</a:t>
            </a:r>
            <a:r>
              <a:rPr lang="pt-BR" dirty="0"/>
              <a:t> e </a:t>
            </a:r>
            <a:r>
              <a:rPr lang="pt-BR" dirty="0" err="1"/>
              <a:t>FPGAs</a:t>
            </a:r>
            <a:r>
              <a:rPr lang="pt-BR" dirty="0"/>
              <a:t>).</a:t>
            </a:r>
          </a:p>
          <a:p>
            <a:pPr>
              <a:buFont typeface="Arial" panose="020B0604020202020204" pitchFamily="34" charset="0"/>
              <a:buChar char="•"/>
            </a:pPr>
            <a:r>
              <a:rPr lang="pt-BR" dirty="0"/>
              <a:t>Menor consumo de energia e memória.</a:t>
            </a:r>
          </a:p>
          <a:p>
            <a:pPr>
              <a:buNone/>
            </a:pPr>
            <a:r>
              <a:rPr lang="pt-BR" b="1" dirty="0"/>
              <a:t>Desvantagens:</a:t>
            </a:r>
            <a:endParaRPr lang="pt-BR" dirty="0"/>
          </a:p>
          <a:p>
            <a:pPr>
              <a:buFont typeface="Arial" panose="020B0604020202020204" pitchFamily="34" charset="0"/>
              <a:buChar char="•"/>
            </a:pPr>
            <a:r>
              <a:rPr lang="pt-BR" dirty="0"/>
              <a:t>Menor faixa dinâmica de valores (não representa números muito grandes ou pequenos).</a:t>
            </a:r>
          </a:p>
          <a:p>
            <a:pPr>
              <a:buFont typeface="Arial" panose="020B0604020202020204" pitchFamily="34" charset="0"/>
              <a:buChar char="•"/>
            </a:pPr>
            <a:r>
              <a:rPr lang="pt-BR" dirty="0"/>
              <a:t>Pode exigir mais cuidado ao lidar com escalas de valores.</a:t>
            </a:r>
          </a:p>
          <a:p>
            <a:pPr>
              <a:buNone/>
            </a:pPr>
            <a:r>
              <a:rPr lang="pt-BR" b="1" dirty="0"/>
              <a:t>⚙️ 2. Ponto Flutuante (Floating-Point)</a:t>
            </a:r>
          </a:p>
          <a:p>
            <a:pPr>
              <a:buNone/>
            </a:pPr>
            <a:r>
              <a:rPr lang="pt-BR" dirty="0"/>
              <a:t>No formato de </a:t>
            </a:r>
            <a:r>
              <a:rPr lang="pt-BR" b="1" dirty="0"/>
              <a:t>ponto flutuante</a:t>
            </a:r>
            <a:r>
              <a:rPr lang="pt-BR" dirty="0"/>
              <a:t>, a vírgula decimal pode "flutuar", sendo representada por uma mantissa e um expoente (similar à notação científica). Isso dá maior flexibilidade para representar números extremamente grandes ou pequenos.</a:t>
            </a:r>
          </a:p>
          <a:p>
            <a:pPr>
              <a:buNone/>
            </a:pPr>
            <a:r>
              <a:rPr lang="pt-BR" dirty="0"/>
              <a:t>✅ </a:t>
            </a:r>
            <a:r>
              <a:rPr lang="pt-BR" b="1" dirty="0"/>
              <a:t>Exemplo:</a:t>
            </a:r>
            <a:br>
              <a:rPr lang="pt-BR" dirty="0"/>
            </a:br>
            <a:r>
              <a:rPr lang="pt-BR" dirty="0"/>
              <a:t>O número </a:t>
            </a:r>
            <a:r>
              <a:rPr lang="pt-BR" b="1" dirty="0"/>
              <a:t>12345,67</a:t>
            </a:r>
            <a:r>
              <a:rPr lang="pt-BR" dirty="0"/>
              <a:t> pode ser representado como:</a:t>
            </a:r>
          </a:p>
          <a:p>
            <a:pPr>
              <a:buFont typeface="Arial" panose="020B0604020202020204" pitchFamily="34" charset="0"/>
              <a:buChar char="•"/>
            </a:pPr>
            <a:r>
              <a:rPr lang="pt-BR" b="1" dirty="0"/>
              <a:t>1,234567 × 10⁴</a:t>
            </a:r>
            <a:r>
              <a:rPr lang="pt-BR" dirty="0"/>
              <a:t> (notação científica).</a:t>
            </a:r>
          </a:p>
          <a:p>
            <a:pPr>
              <a:buFont typeface="Arial" panose="020B0604020202020204" pitchFamily="34" charset="0"/>
              <a:buChar char="•"/>
            </a:pPr>
            <a:r>
              <a:rPr lang="pt-BR" dirty="0"/>
              <a:t>No padrão IEEE 754 (usado em computadores), isso seria armazenado como: </a:t>
            </a:r>
          </a:p>
          <a:p>
            <a:pPr marL="742950" lvl="1" indent="-285750">
              <a:buFont typeface="Arial" panose="020B0604020202020204" pitchFamily="34" charset="0"/>
              <a:buChar char="•"/>
            </a:pPr>
            <a:r>
              <a:rPr lang="pt-BR" b="1" dirty="0"/>
              <a:t>Sinal</a:t>
            </a:r>
            <a:r>
              <a:rPr lang="pt-BR" dirty="0"/>
              <a:t> (1 bit)</a:t>
            </a:r>
          </a:p>
          <a:p>
            <a:pPr marL="742950" lvl="1" indent="-285750">
              <a:buFont typeface="Arial" panose="020B0604020202020204" pitchFamily="34" charset="0"/>
              <a:buChar char="•"/>
            </a:pPr>
            <a:r>
              <a:rPr lang="pt-BR" b="1" dirty="0"/>
              <a:t>Expoente</a:t>
            </a:r>
            <a:r>
              <a:rPr lang="pt-BR" dirty="0"/>
              <a:t> (8 bits em precisão simples)</a:t>
            </a:r>
          </a:p>
          <a:p>
            <a:pPr marL="742950" lvl="1" indent="-285750">
              <a:buFont typeface="Arial" panose="020B0604020202020204" pitchFamily="34" charset="0"/>
              <a:buChar char="•"/>
            </a:pPr>
            <a:r>
              <a:rPr lang="pt-BR" b="1" dirty="0"/>
              <a:t>Mantissa</a:t>
            </a:r>
            <a:r>
              <a:rPr lang="pt-BR" dirty="0"/>
              <a:t> (23 bits em precisão simples)</a:t>
            </a:r>
          </a:p>
          <a:p>
            <a:pPr>
              <a:buNone/>
            </a:pPr>
            <a:r>
              <a:rPr lang="pt-BR" b="1" dirty="0"/>
              <a:t>Vantagens:</a:t>
            </a:r>
            <a:endParaRPr lang="pt-BR" dirty="0"/>
          </a:p>
          <a:p>
            <a:pPr>
              <a:buFont typeface="Arial" panose="020B0604020202020204" pitchFamily="34" charset="0"/>
              <a:buChar char="•"/>
            </a:pPr>
            <a:r>
              <a:rPr lang="pt-BR" dirty="0"/>
              <a:t>Maior faixa dinâmica de representação.</a:t>
            </a:r>
          </a:p>
          <a:p>
            <a:pPr>
              <a:buFont typeface="Arial" panose="020B0604020202020204" pitchFamily="34" charset="0"/>
              <a:buChar char="•"/>
            </a:pPr>
            <a:r>
              <a:rPr lang="pt-BR" dirty="0"/>
              <a:t>Ideal para cálculos científicos e engenharia.</a:t>
            </a:r>
          </a:p>
          <a:p>
            <a:pPr>
              <a:buNone/>
            </a:pPr>
            <a:r>
              <a:rPr lang="pt-BR" b="1" dirty="0"/>
              <a:t>Desvantagens:</a:t>
            </a:r>
            <a:endParaRPr lang="pt-BR" dirty="0"/>
          </a:p>
          <a:p>
            <a:pPr>
              <a:buFont typeface="Arial" panose="020B0604020202020204" pitchFamily="34" charset="0"/>
              <a:buChar char="•"/>
            </a:pPr>
            <a:r>
              <a:rPr lang="pt-BR" dirty="0"/>
              <a:t>Mais lento e consome mais energia.</a:t>
            </a:r>
          </a:p>
          <a:p>
            <a:pPr>
              <a:buFont typeface="Arial" panose="020B0604020202020204" pitchFamily="34" charset="0"/>
              <a:buChar char="•"/>
            </a:pPr>
            <a:r>
              <a:rPr lang="pt-BR" dirty="0"/>
              <a:t>Pode introduzir erros de arredondamento acumulativos.</a:t>
            </a:r>
          </a:p>
          <a:p>
            <a:pPr>
              <a:buNone/>
            </a:pPr>
            <a:r>
              <a:rPr lang="pt-BR" b="1" dirty="0"/>
              <a:t>📊 Resumo Comparativo:</a:t>
            </a:r>
          </a:p>
          <a:p>
            <a:r>
              <a:rPr lang="pt-BR" b="1" dirty="0"/>
              <a:t>Característica</a:t>
            </a:r>
            <a:r>
              <a:rPr lang="pt-BR" dirty="0"/>
              <a:t> </a:t>
            </a:r>
            <a:r>
              <a:rPr lang="pt-BR" b="1" dirty="0"/>
              <a:t>Ponto Fixo</a:t>
            </a:r>
            <a:r>
              <a:rPr lang="pt-BR" dirty="0"/>
              <a:t> 🛠️ </a:t>
            </a:r>
            <a:r>
              <a:rPr lang="pt-BR" b="1" dirty="0"/>
              <a:t>Ponto Flutuante</a:t>
            </a:r>
            <a:r>
              <a:rPr lang="pt-BR" dirty="0"/>
              <a:t> 🌊 </a:t>
            </a:r>
            <a:r>
              <a:rPr lang="pt-BR" b="1" dirty="0"/>
              <a:t>Precisão</a:t>
            </a:r>
            <a:r>
              <a:rPr lang="pt-BR" dirty="0"/>
              <a:t> Fixa Adaptável </a:t>
            </a:r>
            <a:r>
              <a:rPr lang="pt-BR" b="1" dirty="0"/>
              <a:t>Faixa de valores</a:t>
            </a:r>
            <a:r>
              <a:rPr lang="pt-BR" dirty="0"/>
              <a:t> Limitada Ampla </a:t>
            </a:r>
            <a:r>
              <a:rPr lang="pt-BR" b="1" dirty="0"/>
              <a:t>Velocidade/Complexidade</a:t>
            </a:r>
            <a:r>
              <a:rPr lang="pt-BR" dirty="0"/>
              <a:t> Mais rápido e simples Mais lento e complexo </a:t>
            </a:r>
            <a:r>
              <a:rPr lang="pt-BR" b="1" dirty="0"/>
              <a:t>Aplicações</a:t>
            </a:r>
            <a:r>
              <a:rPr lang="pt-BR" dirty="0"/>
              <a:t> Controle em tempo real, </a:t>
            </a:r>
            <a:r>
              <a:rPr lang="pt-BR" dirty="0" err="1"/>
              <a:t>DSPs</a:t>
            </a:r>
            <a:r>
              <a:rPr lang="pt-BR" dirty="0"/>
              <a:t> Computação científica, simulações </a:t>
            </a:r>
            <a:r>
              <a:rPr lang="pt-BR" b="1" dirty="0"/>
              <a:t>Arredondamento</a:t>
            </a:r>
            <a:r>
              <a:rPr lang="pt-BR" dirty="0"/>
              <a:t> Menor Maior risco Se estiver pensando em aplicar isso em algum projeto específico (como redes neurais ou processamento de sinais), me avise que podemos explorar qual formato seria o mais adequado! 🚀</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29</a:t>
            </a:fld>
            <a:endParaRPr lang="pt-BR"/>
          </a:p>
        </p:txBody>
      </p:sp>
    </p:spTree>
    <p:extLst>
      <p:ext uri="{BB962C8B-B14F-4D97-AF65-F5344CB8AC3E}">
        <p14:creationId xmlns:p14="http://schemas.microsoft.com/office/powerpoint/2010/main" val="19501554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b="0" i="0" dirty="0">
                <a:solidFill>
                  <a:srgbClr val="374151"/>
                </a:solidFill>
                <a:effectLst/>
                <a:latin typeface="Söhne"/>
              </a:rPr>
              <a:t>Um sistema operacional é um software essencial que gerencia recursos e fornece uma interface entre os componentes físicos do computador (hardware) e os aplicativos ou programas que são executados nele. Ele atua como uma camada de software intermediária que permite que os usuários interajam com o computador e execute tarefas de forma eficiente.</a:t>
            </a: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32</a:t>
            </a:fld>
            <a:endParaRPr lang="pt-BR"/>
          </a:p>
        </p:txBody>
      </p:sp>
    </p:spTree>
    <p:extLst>
      <p:ext uri="{BB962C8B-B14F-4D97-AF65-F5344CB8AC3E}">
        <p14:creationId xmlns:p14="http://schemas.microsoft.com/office/powerpoint/2010/main" val="23972051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b="0" i="0" dirty="0">
                <a:solidFill>
                  <a:srgbClr val="374151"/>
                </a:solidFill>
                <a:effectLst/>
                <a:latin typeface="Söhne"/>
              </a:rPr>
              <a:t>"Bare metal" refere-se a um ambiente de desenvolvimento em que um programa é executado diretamente no hardware, sem a presença de um sistema operacional ou qualquer outra camada de software intermediária. Em outras palavras, o código é executado "no metal", interagindo diretamente com os recursos e periféricos do hardware.</a:t>
            </a:r>
          </a:p>
          <a:p>
            <a:endParaRPr lang="pt-BR" b="0" i="0" dirty="0">
              <a:solidFill>
                <a:srgbClr val="374151"/>
              </a:solidFill>
              <a:effectLst/>
              <a:latin typeface="Söhne"/>
            </a:endParaRPr>
          </a:p>
          <a:p>
            <a:r>
              <a:rPr lang="pt-BR" b="0" i="0" dirty="0">
                <a:solidFill>
                  <a:srgbClr val="374151"/>
                </a:solidFill>
                <a:effectLst/>
                <a:latin typeface="Söhne"/>
              </a:rPr>
              <a:t>No entanto, é importante ressaltar que o desenvolvimento </a:t>
            </a:r>
            <a:r>
              <a:rPr lang="pt-BR" b="0" i="0" dirty="0" err="1">
                <a:solidFill>
                  <a:srgbClr val="374151"/>
                </a:solidFill>
                <a:effectLst/>
                <a:latin typeface="Söhne"/>
              </a:rPr>
              <a:t>bare</a:t>
            </a:r>
            <a:r>
              <a:rPr lang="pt-BR" b="0" i="0" dirty="0">
                <a:solidFill>
                  <a:srgbClr val="374151"/>
                </a:solidFill>
                <a:effectLst/>
                <a:latin typeface="Söhne"/>
              </a:rPr>
              <a:t> metal pode ser mais complexo e exigir conhecimentos profundos do hardware subjacente. Além disso, a falta de um sistema operacional pode limitar a capacidade de executar aplicativos complexos, multitarefa e gerenciar recursos de forma abstrata. </a:t>
            </a:r>
            <a:endParaRPr lang="pt-BR" dirty="0"/>
          </a:p>
          <a:p>
            <a:endParaRPr lang="pt-BR" dirty="0"/>
          </a:p>
          <a:p>
            <a:r>
              <a:rPr lang="pt-BR" dirty="0"/>
              <a:t>A detecção de palavras-chave lida com a identificação de palavras-chave em falas. É um problema de processamento de sinais de fala.</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33</a:t>
            </a:fld>
            <a:endParaRPr lang="pt-BR"/>
          </a:p>
        </p:txBody>
      </p:sp>
    </p:spTree>
    <p:extLst>
      <p:ext uri="{BB962C8B-B14F-4D97-AF65-F5344CB8AC3E}">
        <p14:creationId xmlns:p14="http://schemas.microsoft.com/office/powerpoint/2010/main" val="33048110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b="0" i="0" dirty="0">
                <a:solidFill>
                  <a:srgbClr val="374151"/>
                </a:solidFill>
                <a:effectLst/>
                <a:latin typeface="Söhne"/>
              </a:rPr>
              <a:t>Uma biblioteca é um conjunto de código reutilizável que contém funções, classes e outros componentes </a:t>
            </a:r>
            <a:r>
              <a:rPr lang="pt-BR" b="0" i="0" dirty="0" err="1">
                <a:solidFill>
                  <a:srgbClr val="374151"/>
                </a:solidFill>
                <a:effectLst/>
                <a:latin typeface="Söhne"/>
              </a:rPr>
              <a:t>pré</a:t>
            </a:r>
            <a:r>
              <a:rPr lang="pt-BR" b="0" i="0" dirty="0">
                <a:solidFill>
                  <a:srgbClr val="374151"/>
                </a:solidFill>
                <a:effectLst/>
                <a:latin typeface="Söhne"/>
              </a:rPr>
              <a:t>-compilados, permitindo que os desenvolvedores economizem tempo e esforço ao aproveitar o trabalho já realizado por outros. Elas oferecem funcionalidades prontas para uso em programas de software, promovendo a reutilização de código e aumentando a produtividade do desenvolvimento.</a:t>
            </a:r>
          </a:p>
          <a:p>
            <a:endParaRPr lang="pt-BR" b="0" i="0" dirty="0">
              <a:solidFill>
                <a:srgbClr val="374151"/>
              </a:solidFill>
              <a:effectLst/>
              <a:latin typeface="Söhne"/>
            </a:endParaRPr>
          </a:p>
          <a:p>
            <a:br>
              <a:rPr lang="pt-BR" dirty="0"/>
            </a:b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34</a:t>
            </a:fld>
            <a:endParaRPr lang="pt-BR"/>
          </a:p>
        </p:txBody>
      </p:sp>
    </p:spTree>
    <p:extLst>
      <p:ext uri="{BB962C8B-B14F-4D97-AF65-F5344CB8AC3E}">
        <p14:creationId xmlns:p14="http://schemas.microsoft.com/office/powerpoint/2010/main" val="38057619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Ele cria um nível de abstração. Portanto, você não precisa se preocupar com os detalhes minuciosos do nível inferior. E essa é a beleza de um sistema de uso geral.</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37</a:t>
            </a:fld>
            <a:endParaRPr lang="pt-BR"/>
          </a:p>
        </p:txBody>
      </p:sp>
    </p:spTree>
    <p:extLst>
      <p:ext uri="{BB962C8B-B14F-4D97-AF65-F5344CB8AC3E}">
        <p14:creationId xmlns:p14="http://schemas.microsoft.com/office/powerpoint/2010/main" val="36731844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38</a:t>
            </a:fld>
            <a:endParaRPr lang="pt-BR"/>
          </a:p>
        </p:txBody>
      </p:sp>
    </p:spTree>
    <p:extLst>
      <p:ext uri="{BB962C8B-B14F-4D97-AF65-F5344CB8AC3E}">
        <p14:creationId xmlns:p14="http://schemas.microsoft.com/office/powerpoint/2010/main" val="371724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39</a:t>
            </a:fld>
            <a:endParaRPr lang="pt-BR"/>
          </a:p>
        </p:txBody>
      </p:sp>
    </p:spTree>
    <p:extLst>
      <p:ext uri="{BB962C8B-B14F-4D97-AF65-F5344CB8AC3E}">
        <p14:creationId xmlns:p14="http://schemas.microsoft.com/office/powerpoint/2010/main" val="6422339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Abstrair: </a:t>
            </a:r>
            <a:r>
              <a:rPr lang="pt-BR" b="0" i="0" dirty="0">
                <a:solidFill>
                  <a:srgbClr val="BDC1C6"/>
                </a:solidFill>
                <a:effectLst/>
                <a:latin typeface="arial" panose="020B0604020202020204" pitchFamily="34" charset="0"/>
              </a:rPr>
              <a:t>não considerar, não levar em conta; alhear-se.</a:t>
            </a: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40</a:t>
            </a:fld>
            <a:endParaRPr lang="pt-BR"/>
          </a:p>
        </p:txBody>
      </p:sp>
    </p:spTree>
    <p:extLst>
      <p:ext uri="{BB962C8B-B14F-4D97-AF65-F5344CB8AC3E}">
        <p14:creationId xmlns:p14="http://schemas.microsoft.com/office/powerpoint/2010/main" val="2054989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algn="l">
              <a:buFont typeface="+mj-lt"/>
              <a:buAutoNum type="arabicPeriod"/>
            </a:pPr>
            <a:r>
              <a:rPr lang="en-US" b="0" i="0" dirty="0">
                <a:solidFill>
                  <a:srgbClr val="0074B5"/>
                </a:solidFill>
                <a:effectLst/>
                <a:latin typeface="Inter"/>
              </a:rPr>
              <a:t>The point is that you want uniform code portability, well,</a:t>
            </a:r>
          </a:p>
          <a:p>
            <a:pPr algn="l">
              <a:buFont typeface="+mj-lt"/>
              <a:buAutoNum type="arabicPeriod"/>
            </a:pPr>
            <a:r>
              <a:rPr lang="en-US" b="1" i="0" dirty="0">
                <a:solidFill>
                  <a:srgbClr val="333333"/>
                </a:solidFill>
                <a:effectLst/>
                <a:latin typeface="Inter"/>
              </a:rPr>
              <a:t>you're going to have to pay a price in terms of these things.</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42</a:t>
            </a:fld>
            <a:endParaRPr lang="pt-BR"/>
          </a:p>
        </p:txBody>
      </p:sp>
    </p:spTree>
    <p:extLst>
      <p:ext uri="{BB962C8B-B14F-4D97-AF65-F5344CB8AC3E}">
        <p14:creationId xmlns:p14="http://schemas.microsoft.com/office/powerpoint/2010/main" val="22288177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74169-F616-3DA7-F661-98B88E907146}"/>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3C6C7CD-8EF4-9794-B4AC-A91AE240C3F9}"/>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0EEF6CE-594A-403B-CEBD-E3AE8106187C}"/>
              </a:ext>
            </a:extLst>
          </p:cNvPr>
          <p:cNvSpPr>
            <a:spLocks noGrp="1"/>
          </p:cNvSpPr>
          <p:nvPr>
            <p:ph type="body" idx="1"/>
          </p:nvPr>
        </p:nvSpPr>
        <p:spPr/>
        <p:txBody>
          <a:bodyPr/>
          <a:lstStyle/>
          <a:p>
            <a:pPr algn="l">
              <a:buFont typeface="+mj-lt"/>
              <a:buAutoNum type="arabicPeriod"/>
            </a:pPr>
            <a:r>
              <a:rPr lang="en-US" b="0" i="0" dirty="0">
                <a:solidFill>
                  <a:srgbClr val="0074B5"/>
                </a:solidFill>
                <a:effectLst/>
                <a:latin typeface="Inter"/>
              </a:rPr>
              <a:t>The point is that you want uniform code portability, well,</a:t>
            </a:r>
          </a:p>
          <a:p>
            <a:pPr algn="l">
              <a:buFont typeface="+mj-lt"/>
              <a:buAutoNum type="arabicPeriod"/>
            </a:pPr>
            <a:r>
              <a:rPr lang="en-US" b="1" i="0" dirty="0">
                <a:solidFill>
                  <a:srgbClr val="333333"/>
                </a:solidFill>
                <a:effectLst/>
                <a:latin typeface="Inter"/>
              </a:rPr>
              <a:t>you're going to have to pay a price in terms of these things.</a:t>
            </a:r>
          </a:p>
          <a:p>
            <a:endParaRPr lang="pt-BR" dirty="0"/>
          </a:p>
        </p:txBody>
      </p:sp>
      <p:sp>
        <p:nvSpPr>
          <p:cNvPr id="4" name="Espaço Reservado para Número de Slide 3">
            <a:extLst>
              <a:ext uri="{FF2B5EF4-FFF2-40B4-BE49-F238E27FC236}">
                <a16:creationId xmlns:a16="http://schemas.microsoft.com/office/drawing/2014/main" id="{F7E59721-3320-D69C-3B01-A234AF49C26F}"/>
              </a:ext>
            </a:extLst>
          </p:cNvPr>
          <p:cNvSpPr>
            <a:spLocks noGrp="1"/>
          </p:cNvSpPr>
          <p:nvPr>
            <p:ph type="sldNum" sz="quarter" idx="5"/>
          </p:nvPr>
        </p:nvSpPr>
        <p:spPr/>
        <p:txBody>
          <a:bodyPr/>
          <a:lstStyle/>
          <a:p>
            <a:fld id="{6FC8D850-966F-45A6-8DE7-15B891E7D40D}" type="slidenum">
              <a:rPr lang="pt-BR" smtClean="0"/>
              <a:t>43</a:t>
            </a:fld>
            <a:endParaRPr lang="pt-BR"/>
          </a:p>
        </p:txBody>
      </p:sp>
    </p:spTree>
    <p:extLst>
      <p:ext uri="{BB962C8B-B14F-4D97-AF65-F5344CB8AC3E}">
        <p14:creationId xmlns:p14="http://schemas.microsoft.com/office/powerpoint/2010/main" val="16078100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Bem, agora o que eu faço?</a:t>
            </a:r>
          </a:p>
          <a:p>
            <a:r>
              <a:rPr lang="pt-BR" dirty="0"/>
              <a:t>O código que especializei para um sistema agora não é portátil.</a:t>
            </a:r>
          </a:p>
          <a:p>
            <a:r>
              <a:rPr lang="pt-BR" dirty="0"/>
              <a:t>Portanto, isso levanta uma questão fundamental.</a:t>
            </a:r>
          </a:p>
          <a:p>
            <a:r>
              <a:rPr lang="pt-BR" dirty="0"/>
              <a:t>Como habilitamos o TinyML uniformemente nesses sistemas embarcados tão diferentes?</a:t>
            </a:r>
          </a:p>
          <a:p>
            <a:r>
              <a:rPr lang="pt-BR" dirty="0"/>
              <a:t>se houver menor portabilidade de plataforma?</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46</a:t>
            </a:fld>
            <a:endParaRPr lang="pt-BR"/>
          </a:p>
        </p:txBody>
      </p:sp>
    </p:spTree>
    <p:extLst>
      <p:ext uri="{BB962C8B-B14F-4D97-AF65-F5344CB8AC3E}">
        <p14:creationId xmlns:p14="http://schemas.microsoft.com/office/powerpoint/2010/main" val="26160145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Bem, agora o que eu faço?</a:t>
            </a:r>
          </a:p>
          <a:p>
            <a:r>
              <a:rPr lang="pt-BR" dirty="0"/>
              <a:t>O código que especializei para um sistema agora não é portátil.</a:t>
            </a:r>
          </a:p>
          <a:p>
            <a:r>
              <a:rPr lang="pt-BR" dirty="0"/>
              <a:t>Portanto, isso levanta uma questão fundamental sobre a qual você agora precisa pensar.</a:t>
            </a:r>
          </a:p>
          <a:p>
            <a:r>
              <a:rPr lang="pt-BR" dirty="0"/>
              <a:t>Como habilitamos o </a:t>
            </a:r>
            <a:r>
              <a:rPr lang="pt-BR" dirty="0" err="1"/>
              <a:t>TinyML</a:t>
            </a:r>
            <a:r>
              <a:rPr lang="pt-BR" dirty="0"/>
              <a:t> uniformemente nesses sistemas embarcados tão diferentes se a portabilidade da plataforma é menor?</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48</a:t>
            </a:fld>
            <a:endParaRPr lang="pt-BR"/>
          </a:p>
        </p:txBody>
      </p:sp>
    </p:spTree>
    <p:extLst>
      <p:ext uri="{BB962C8B-B14F-4D97-AF65-F5344CB8AC3E}">
        <p14:creationId xmlns:p14="http://schemas.microsoft.com/office/powerpoint/2010/main" val="15730172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algn="l"/>
            <a:r>
              <a:rPr lang="pt-BR" b="0" i="0" dirty="0">
                <a:effectLst/>
                <a:latin typeface="Söhne"/>
              </a:rPr>
              <a:t>Essas conclusões destacam a natureza especializada e específica dos sistemas embarcados, onde o hardware e o software são projetados para atender a requisitos específicos, mas em troca, podem oferecer maior eficiência e otimização para suas aplicações específicas. Em contraste, sistemas de computação de uso geral são mais flexíveis e abrangentes, mas podem não ser tão eficientes em recursos para tarefas altamente especializadas.</a:t>
            </a:r>
          </a:p>
          <a:p>
            <a:pPr algn="l"/>
            <a:endParaRPr lang="pt-BR" b="0" i="0" dirty="0">
              <a:effectLst/>
              <a:latin typeface="Söhne"/>
            </a:endParaRPr>
          </a:p>
          <a:p>
            <a:pPr algn="l"/>
            <a:br>
              <a:rPr lang="pt-BR" b="0" i="0" dirty="0">
                <a:solidFill>
                  <a:srgbClr val="374151"/>
                </a:solidFill>
                <a:effectLst/>
                <a:latin typeface="Söhne"/>
              </a:rPr>
            </a:br>
            <a:r>
              <a:rPr lang="pt-BR" b="0" i="0" dirty="0">
                <a:solidFill>
                  <a:srgbClr val="374151"/>
                </a:solidFill>
                <a:effectLst/>
                <a:latin typeface="Söhne"/>
              </a:rPr>
              <a:t>Na frase "Software embarcado não é tão portável e flexível quanto o software para sistemas de computação de uso geral.", a diferença entre flexibilidade e portabilidade é a seguinte:</a:t>
            </a:r>
          </a:p>
          <a:p>
            <a:pPr algn="l">
              <a:buFont typeface="Arial" panose="020B0604020202020204" pitchFamily="34" charset="0"/>
              <a:buChar char="•"/>
            </a:pPr>
            <a:endParaRPr lang="pt-BR" b="1" i="0" dirty="0">
              <a:solidFill>
                <a:srgbClr val="374151"/>
              </a:solidFill>
              <a:effectLst/>
              <a:latin typeface="Söhne"/>
            </a:endParaRPr>
          </a:p>
          <a:p>
            <a:pPr algn="l">
              <a:buFont typeface="Arial" panose="020B0604020202020204" pitchFamily="34" charset="0"/>
              <a:buChar char="•"/>
            </a:pPr>
            <a:r>
              <a:rPr lang="pt-BR" b="1" i="0" dirty="0">
                <a:solidFill>
                  <a:srgbClr val="374151"/>
                </a:solidFill>
                <a:effectLst/>
                <a:latin typeface="Söhne"/>
              </a:rPr>
              <a:t>Flexibilidade:</a:t>
            </a:r>
            <a:r>
              <a:rPr lang="pt-BR" b="0" i="0" dirty="0">
                <a:solidFill>
                  <a:srgbClr val="374151"/>
                </a:solidFill>
                <a:effectLst/>
                <a:latin typeface="Söhne"/>
              </a:rPr>
              <a:t> Refere-se à capacidade do software de se adaptar e lidar com diferentes cenários ou requisitos. Um software flexível é capaz de lidar com mudanças nos requisitos ou nas condições de uso sem a necessidade de grandes modificações. Um software mais flexível pode ser facilmente ajustado ou configurado para atender a diferentes necessidades.</a:t>
            </a:r>
          </a:p>
          <a:p>
            <a:pPr algn="l">
              <a:buFont typeface="Arial" panose="020B0604020202020204" pitchFamily="34" charset="0"/>
              <a:buChar char="•"/>
            </a:pPr>
            <a:endParaRPr lang="pt-BR" b="1" i="0" dirty="0">
              <a:solidFill>
                <a:srgbClr val="374151"/>
              </a:solidFill>
              <a:effectLst/>
              <a:latin typeface="Söhne"/>
            </a:endParaRPr>
          </a:p>
          <a:p>
            <a:pPr algn="l">
              <a:buFont typeface="Arial" panose="020B0604020202020204" pitchFamily="34" charset="0"/>
              <a:buChar char="•"/>
            </a:pPr>
            <a:r>
              <a:rPr lang="pt-BR" b="1" i="0" dirty="0">
                <a:solidFill>
                  <a:srgbClr val="374151"/>
                </a:solidFill>
                <a:effectLst/>
                <a:latin typeface="Söhne"/>
              </a:rPr>
              <a:t>Portabilidade:</a:t>
            </a:r>
            <a:r>
              <a:rPr lang="pt-BR" b="0" i="0" dirty="0">
                <a:solidFill>
                  <a:srgbClr val="374151"/>
                </a:solidFill>
                <a:effectLst/>
                <a:latin typeface="Söhne"/>
              </a:rPr>
              <a:t> Refere-se à capacidade do software de ser executado em diferentes plataformas ou ambientes sem a necessidade de grandes modificações. Um software portátil pode ser facilmente movido ou transferido entre sistemas operacionais, arquiteturas de hardware ou ambientes sem muitas alterações.</a:t>
            </a:r>
          </a:p>
          <a:p>
            <a:pPr algn="l"/>
            <a:endParaRPr lang="pt-BR" b="0" i="0" dirty="0">
              <a:solidFill>
                <a:srgbClr val="374151"/>
              </a:solidFill>
              <a:effectLst/>
              <a:latin typeface="Söhne"/>
            </a:endParaRPr>
          </a:p>
          <a:p>
            <a:pPr algn="l"/>
            <a:r>
              <a:rPr lang="pt-BR" b="0" i="0" dirty="0">
                <a:solidFill>
                  <a:srgbClr val="374151"/>
                </a:solidFill>
                <a:effectLst/>
                <a:latin typeface="Söhne"/>
              </a:rPr>
              <a:t>No contexto da frase, a ideia é que o software embarcado tende a ser menos portável (mais difícil de ser transferido entre diferentes sistemas) e menos flexível (menos capaz de se adaptar a diferentes requisitos) em comparação com o software desenvolvido para sistemas de computação de uso geral.</a:t>
            </a:r>
          </a:p>
          <a:p>
            <a:pPr algn="l"/>
            <a:endParaRPr lang="pt-BR" b="0" i="0" dirty="0">
              <a:effectLst/>
              <a:latin typeface="Söhne"/>
            </a:endParaRPr>
          </a:p>
          <a:p>
            <a:br>
              <a:rPr lang="pt-BR" dirty="0"/>
            </a:b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49</a:t>
            </a:fld>
            <a:endParaRPr lang="pt-BR"/>
          </a:p>
        </p:txBody>
      </p:sp>
    </p:spTree>
    <p:extLst>
      <p:ext uri="{BB962C8B-B14F-4D97-AF65-F5344CB8AC3E}">
        <p14:creationId xmlns:p14="http://schemas.microsoft.com/office/powerpoint/2010/main" val="34894892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b="0" i="0" dirty="0">
                <a:solidFill>
                  <a:srgbClr val="374151"/>
                </a:solidFill>
                <a:effectLst/>
                <a:latin typeface="Söhne"/>
              </a:rPr>
              <a:t>O Z80 é um microprocessador de 8 bits desenvolvido pela </a:t>
            </a:r>
            <a:r>
              <a:rPr lang="pt-BR" b="0" i="0" dirty="0" err="1">
                <a:solidFill>
                  <a:srgbClr val="374151"/>
                </a:solidFill>
                <a:effectLst/>
                <a:latin typeface="Söhne"/>
              </a:rPr>
              <a:t>Zilog</a:t>
            </a:r>
            <a:r>
              <a:rPr lang="pt-BR" b="0" i="0" dirty="0">
                <a:solidFill>
                  <a:srgbClr val="374151"/>
                </a:solidFill>
                <a:effectLst/>
                <a:latin typeface="Söhne"/>
              </a:rPr>
              <a:t>, lançado pela primeira vez em 1976. Ele foi amplamente utilizado em computadores pessoais, videogames, controladores industriais e outros sistemas embarcados durante a década de 1980. O Z80 foi uma evolução do processador Intel 8080 e se tornou um dos microprocessadores mais populares da época.</a:t>
            </a: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53</a:t>
            </a:fld>
            <a:endParaRPr lang="pt-BR"/>
          </a:p>
        </p:txBody>
      </p:sp>
    </p:spTree>
    <p:extLst>
      <p:ext uri="{BB962C8B-B14F-4D97-AF65-F5344CB8AC3E}">
        <p14:creationId xmlns:p14="http://schemas.microsoft.com/office/powerpoint/2010/main" val="21874191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effectLst/>
              </a:rPr>
              <a:t>Os processadores da família ARM </a:t>
            </a:r>
            <a:r>
              <a:rPr lang="pt-BR" dirty="0" err="1">
                <a:effectLst/>
              </a:rPr>
              <a:t>Cortex</a:t>
            </a:r>
            <a:r>
              <a:rPr lang="pt-BR" dirty="0">
                <a:effectLst/>
              </a:rPr>
              <a:t> utilizados em smartphones e tablets até sistemas embarcados e dispositivos </a:t>
            </a:r>
            <a:r>
              <a:rPr lang="pt-BR" dirty="0" err="1">
                <a:effectLst/>
              </a:rPr>
              <a:t>IoT</a:t>
            </a:r>
            <a:r>
              <a:rPr lang="pt-BR" dirty="0">
                <a:effectLst/>
              </a:rPr>
              <a:t>.</a:t>
            </a:r>
            <a:br>
              <a:rPr lang="pt-BR" dirty="0">
                <a:effectLst/>
              </a:rPr>
            </a:br>
            <a:br>
              <a:rPr lang="pt-BR" dirty="0">
                <a:effectLst/>
              </a:rPr>
            </a:br>
            <a:r>
              <a:rPr lang="pt-BR" dirty="0" err="1">
                <a:effectLst/>
              </a:rPr>
              <a:t>Cortex-A</a:t>
            </a:r>
            <a:r>
              <a:rPr lang="pt-BR" dirty="0">
                <a:effectLst/>
              </a:rPr>
              <a:t>: série projetada para fornecer alto desempenho e é comumente encontrada em smartphones, tablets e dispositivos de computação móvel. Possuem uma arquitetura mais avançada e são capazes de executar sistemas operacionais completos, como Android e Linux. Eles também suportam tecnologias como múltiplos núcleos e virtualização.</a:t>
            </a:r>
            <a:br>
              <a:rPr lang="pt-BR" dirty="0">
                <a:effectLst/>
              </a:rPr>
            </a:br>
            <a:br>
              <a:rPr lang="pt-BR" dirty="0">
                <a:effectLst/>
              </a:rPr>
            </a:br>
            <a:r>
              <a:rPr lang="pt-BR" dirty="0" err="1">
                <a:effectLst/>
              </a:rPr>
              <a:t>Cortex</a:t>
            </a:r>
            <a:r>
              <a:rPr lang="pt-BR" dirty="0">
                <a:effectLst/>
              </a:rPr>
              <a:t>-R: série voltada para aplicações em tempo real, onde a previsibilidade e a confiabilidade são essenciais. São comumente usados em sistemas embarcados, como controladores de disco rígido, controladores de motor, sistemas de controle automotivo e outros sistemas críticos. São projetados para garantir uma execução confiável de tarefas em tempo real e possuem recursos de redundância e recuperação de falhas.</a:t>
            </a:r>
            <a:br>
              <a:rPr lang="pt-BR" dirty="0">
                <a:effectLst/>
              </a:rPr>
            </a:br>
            <a:br>
              <a:rPr lang="pt-BR" dirty="0">
                <a:effectLst/>
              </a:rPr>
            </a:br>
            <a:r>
              <a:rPr lang="pt-BR" dirty="0" err="1">
                <a:effectLst/>
              </a:rPr>
              <a:t>Cortex</a:t>
            </a:r>
            <a:r>
              <a:rPr lang="pt-BR" dirty="0">
                <a:effectLst/>
              </a:rPr>
              <a:t>-M: série destinada a sistemas de baixa potência e baixo custo, onde a eficiência energética e a área reduzida são importantes. São amplamente utilizados em dispositivos </a:t>
            </a:r>
            <a:r>
              <a:rPr lang="pt-BR" dirty="0" err="1">
                <a:effectLst/>
              </a:rPr>
              <a:t>IoT</a:t>
            </a:r>
            <a:r>
              <a:rPr lang="pt-BR" dirty="0">
                <a:effectLst/>
              </a:rPr>
              <a:t>, sensores, dispositivos médicos, microcontroladores e outras aplicações de baixa potência. São projetados para serem altamente eficientes, com recursos de economia de energia e um conjunto básico de instruções para suportar tarefas comuns em sistemas embarcados.</a:t>
            </a:r>
          </a:p>
          <a:p>
            <a:endParaRPr lang="pt-BR" dirty="0"/>
          </a:p>
        </p:txBody>
      </p:sp>
      <p:sp>
        <p:nvSpPr>
          <p:cNvPr id="4" name="Espaço Reservado para Número de Slide 3"/>
          <p:cNvSpPr>
            <a:spLocks noGrp="1"/>
          </p:cNvSpPr>
          <p:nvPr>
            <p:ph type="sldNum" sz="quarter" idx="10"/>
          </p:nvPr>
        </p:nvSpPr>
        <p:spPr/>
        <p:txBody>
          <a:bodyPr/>
          <a:lstStyle/>
          <a:p>
            <a:fld id="{6FC8D850-966F-45A6-8DE7-15B891E7D40D}" type="slidenum">
              <a:rPr lang="pt-BR" smtClean="0"/>
              <a:t>54</a:t>
            </a:fld>
            <a:endParaRPr lang="pt-BR"/>
          </a:p>
        </p:txBody>
      </p:sp>
    </p:spTree>
    <p:extLst>
      <p:ext uri="{BB962C8B-B14F-4D97-AF65-F5344CB8AC3E}">
        <p14:creationId xmlns:p14="http://schemas.microsoft.com/office/powerpoint/2010/main" val="12080512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B9B4FF-B06E-403C-A326-BDC64D8FF94E}"/>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247BDFCE-746E-45BF-A319-4733D58D16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9EDE2778-5372-4104-B96D-968184DA8288}"/>
              </a:ext>
            </a:extLst>
          </p:cNvPr>
          <p:cNvSpPr>
            <a:spLocks noGrp="1"/>
          </p:cNvSpPr>
          <p:nvPr>
            <p:ph type="dt" sz="half" idx="10"/>
          </p:nvPr>
        </p:nvSpPr>
        <p:spPr/>
        <p:txBody>
          <a:bodyPr/>
          <a:lstStyle/>
          <a:p>
            <a:fld id="{63289F7E-B80B-496E-81B4-D396C37C9454}" type="datetimeFigureOut">
              <a:rPr lang="pt-BR" smtClean="0"/>
              <a:t>17/03/2025</a:t>
            </a:fld>
            <a:endParaRPr lang="pt-BR"/>
          </a:p>
        </p:txBody>
      </p:sp>
      <p:sp>
        <p:nvSpPr>
          <p:cNvPr id="5" name="Espaço Reservado para Rodapé 4">
            <a:extLst>
              <a:ext uri="{FF2B5EF4-FFF2-40B4-BE49-F238E27FC236}">
                <a16:creationId xmlns:a16="http://schemas.microsoft.com/office/drawing/2014/main" id="{C1DD0F41-C861-4051-988D-3024A37A4B9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07E5967E-D980-431A-A5DB-3F0C5030A81E}"/>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3649754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BD44A5-8F21-4626-A01D-48A1C874B1D5}"/>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B79E8085-65A9-48AA-951D-71D978BFF4ED}"/>
              </a:ext>
            </a:extLst>
          </p:cNvPr>
          <p:cNvSpPr>
            <a:spLocks noGrp="1"/>
          </p:cNvSpPr>
          <p:nvPr>
            <p:ph idx="1"/>
          </p:nvPr>
        </p:nvSpPr>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05BE1AF-51EA-425D-B188-DE7BD675009F}"/>
              </a:ext>
            </a:extLst>
          </p:cNvPr>
          <p:cNvSpPr>
            <a:spLocks noGrp="1"/>
          </p:cNvSpPr>
          <p:nvPr>
            <p:ph type="dt" sz="half" idx="10"/>
          </p:nvPr>
        </p:nvSpPr>
        <p:spPr/>
        <p:txBody>
          <a:bodyPr/>
          <a:lstStyle/>
          <a:p>
            <a:fld id="{63289F7E-B80B-496E-81B4-D396C37C9454}" type="datetimeFigureOut">
              <a:rPr lang="pt-BR" smtClean="0"/>
              <a:t>17/03/2025</a:t>
            </a:fld>
            <a:endParaRPr lang="pt-BR"/>
          </a:p>
        </p:txBody>
      </p:sp>
      <p:sp>
        <p:nvSpPr>
          <p:cNvPr id="5" name="Espaço Reservado para Rodapé 4">
            <a:extLst>
              <a:ext uri="{FF2B5EF4-FFF2-40B4-BE49-F238E27FC236}">
                <a16:creationId xmlns:a16="http://schemas.microsoft.com/office/drawing/2014/main" id="{121BE632-29CF-4CB9-B365-C9EF38F89BE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0CF3DD1-9AEC-4A57-B461-4E4DD86FAC18}"/>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3687907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AB2FF0-A4D7-4E28-991D-FF26140D5988}"/>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E2AC45B0-4145-40DB-8E61-1054611706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Editar estilos de texto Mestre</a:t>
            </a:r>
          </a:p>
        </p:txBody>
      </p:sp>
      <p:sp>
        <p:nvSpPr>
          <p:cNvPr id="4" name="Espaço Reservado para Data 3">
            <a:extLst>
              <a:ext uri="{FF2B5EF4-FFF2-40B4-BE49-F238E27FC236}">
                <a16:creationId xmlns:a16="http://schemas.microsoft.com/office/drawing/2014/main" id="{50F1D3FB-740A-4EBA-A309-2CE71D12ECFB}"/>
              </a:ext>
            </a:extLst>
          </p:cNvPr>
          <p:cNvSpPr>
            <a:spLocks noGrp="1"/>
          </p:cNvSpPr>
          <p:nvPr>
            <p:ph type="dt" sz="half" idx="10"/>
          </p:nvPr>
        </p:nvSpPr>
        <p:spPr/>
        <p:txBody>
          <a:bodyPr/>
          <a:lstStyle/>
          <a:p>
            <a:fld id="{63289F7E-B80B-496E-81B4-D396C37C9454}" type="datetimeFigureOut">
              <a:rPr lang="pt-BR" smtClean="0"/>
              <a:t>17/03/2025</a:t>
            </a:fld>
            <a:endParaRPr lang="pt-BR"/>
          </a:p>
        </p:txBody>
      </p:sp>
      <p:sp>
        <p:nvSpPr>
          <p:cNvPr id="5" name="Espaço Reservado para Rodapé 4">
            <a:extLst>
              <a:ext uri="{FF2B5EF4-FFF2-40B4-BE49-F238E27FC236}">
                <a16:creationId xmlns:a16="http://schemas.microsoft.com/office/drawing/2014/main" id="{BDCAB18F-8715-4465-A940-F9C193A2ACE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353466C6-8248-429F-8056-FF040BF509EB}"/>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2465227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BB9F0-F14B-4A91-B2B7-35BC47FE4DE7}"/>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EC1FC1C4-73DA-47A6-8496-B0B457F7D39A}"/>
              </a:ext>
            </a:extLst>
          </p:cNvPr>
          <p:cNvSpPr>
            <a:spLocks noGrp="1"/>
          </p:cNvSpPr>
          <p:nvPr>
            <p:ph sz="half" idx="1"/>
          </p:nvPr>
        </p:nvSpPr>
        <p:spPr>
          <a:xfrm>
            <a:off x="838200" y="1825625"/>
            <a:ext cx="51816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E92F06A8-A449-4D92-9912-76873E529B38}"/>
              </a:ext>
            </a:extLst>
          </p:cNvPr>
          <p:cNvSpPr>
            <a:spLocks noGrp="1"/>
          </p:cNvSpPr>
          <p:nvPr>
            <p:ph sz="half" idx="2"/>
          </p:nvPr>
        </p:nvSpPr>
        <p:spPr>
          <a:xfrm>
            <a:off x="6172200" y="1825625"/>
            <a:ext cx="51816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938070A4-BC2F-4D55-BD8D-DEAF11BB9EE9}"/>
              </a:ext>
            </a:extLst>
          </p:cNvPr>
          <p:cNvSpPr>
            <a:spLocks noGrp="1"/>
          </p:cNvSpPr>
          <p:nvPr>
            <p:ph type="dt" sz="half" idx="10"/>
          </p:nvPr>
        </p:nvSpPr>
        <p:spPr/>
        <p:txBody>
          <a:bodyPr/>
          <a:lstStyle/>
          <a:p>
            <a:fld id="{63289F7E-B80B-496E-81B4-D396C37C9454}" type="datetimeFigureOut">
              <a:rPr lang="pt-BR" smtClean="0"/>
              <a:t>17/03/2025</a:t>
            </a:fld>
            <a:endParaRPr lang="pt-BR"/>
          </a:p>
        </p:txBody>
      </p:sp>
      <p:sp>
        <p:nvSpPr>
          <p:cNvPr id="6" name="Espaço Reservado para Rodapé 5">
            <a:extLst>
              <a:ext uri="{FF2B5EF4-FFF2-40B4-BE49-F238E27FC236}">
                <a16:creationId xmlns:a16="http://schemas.microsoft.com/office/drawing/2014/main" id="{45CC2DB8-844A-465F-BA9A-7734C80C7F43}"/>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4CC606A8-097B-4040-94E0-CD8C88280D8F}"/>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3898544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D66686-0143-4CB6-8C09-BA326F1E7ACA}"/>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0227AB85-F59E-4BCE-B846-4FA0992C2F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4" name="Espaço Reservado para Conteúdo 3">
            <a:extLst>
              <a:ext uri="{FF2B5EF4-FFF2-40B4-BE49-F238E27FC236}">
                <a16:creationId xmlns:a16="http://schemas.microsoft.com/office/drawing/2014/main" id="{3373456C-7319-4D0A-827D-D29F6B083F5D}"/>
              </a:ext>
            </a:extLst>
          </p:cNvPr>
          <p:cNvSpPr>
            <a:spLocks noGrp="1"/>
          </p:cNvSpPr>
          <p:nvPr>
            <p:ph sz="half" idx="2"/>
          </p:nvPr>
        </p:nvSpPr>
        <p:spPr>
          <a:xfrm>
            <a:off x="839788" y="2505075"/>
            <a:ext cx="5157787"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4CD109D0-2E83-4262-8029-A871CEC474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6" name="Espaço Reservado para Conteúdo 5">
            <a:extLst>
              <a:ext uri="{FF2B5EF4-FFF2-40B4-BE49-F238E27FC236}">
                <a16:creationId xmlns:a16="http://schemas.microsoft.com/office/drawing/2014/main" id="{AD706E3A-CFBB-4A6C-A65F-D0360A9E74FE}"/>
              </a:ext>
            </a:extLst>
          </p:cNvPr>
          <p:cNvSpPr>
            <a:spLocks noGrp="1"/>
          </p:cNvSpPr>
          <p:nvPr>
            <p:ph sz="quarter" idx="4"/>
          </p:nvPr>
        </p:nvSpPr>
        <p:spPr>
          <a:xfrm>
            <a:off x="6172200" y="2505075"/>
            <a:ext cx="5183188"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4172C0E5-5AF0-4805-BB51-443733CD2BD5}"/>
              </a:ext>
            </a:extLst>
          </p:cNvPr>
          <p:cNvSpPr>
            <a:spLocks noGrp="1"/>
          </p:cNvSpPr>
          <p:nvPr>
            <p:ph type="dt" sz="half" idx="10"/>
          </p:nvPr>
        </p:nvSpPr>
        <p:spPr/>
        <p:txBody>
          <a:bodyPr/>
          <a:lstStyle/>
          <a:p>
            <a:fld id="{63289F7E-B80B-496E-81B4-D396C37C9454}" type="datetimeFigureOut">
              <a:rPr lang="pt-BR" smtClean="0"/>
              <a:t>17/03/2025</a:t>
            </a:fld>
            <a:endParaRPr lang="pt-BR"/>
          </a:p>
        </p:txBody>
      </p:sp>
      <p:sp>
        <p:nvSpPr>
          <p:cNvPr id="8" name="Espaço Reservado para Rodapé 7">
            <a:extLst>
              <a:ext uri="{FF2B5EF4-FFF2-40B4-BE49-F238E27FC236}">
                <a16:creationId xmlns:a16="http://schemas.microsoft.com/office/drawing/2014/main" id="{0E801648-156F-497E-99CF-797DF48051E1}"/>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EEE23D32-80E7-4796-A137-66BF842E4B53}"/>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372245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CE2379-C78F-47E1-8CFC-B846E7AF148D}"/>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342600A9-7F92-4E22-9D94-E4717252A817}"/>
              </a:ext>
            </a:extLst>
          </p:cNvPr>
          <p:cNvSpPr>
            <a:spLocks noGrp="1"/>
          </p:cNvSpPr>
          <p:nvPr>
            <p:ph type="dt" sz="half" idx="10"/>
          </p:nvPr>
        </p:nvSpPr>
        <p:spPr/>
        <p:txBody>
          <a:bodyPr/>
          <a:lstStyle/>
          <a:p>
            <a:fld id="{63289F7E-B80B-496E-81B4-D396C37C9454}" type="datetimeFigureOut">
              <a:rPr lang="pt-BR" smtClean="0"/>
              <a:t>17/03/2025</a:t>
            </a:fld>
            <a:endParaRPr lang="pt-BR"/>
          </a:p>
        </p:txBody>
      </p:sp>
      <p:sp>
        <p:nvSpPr>
          <p:cNvPr id="4" name="Espaço Reservado para Rodapé 3">
            <a:extLst>
              <a:ext uri="{FF2B5EF4-FFF2-40B4-BE49-F238E27FC236}">
                <a16:creationId xmlns:a16="http://schemas.microsoft.com/office/drawing/2014/main" id="{192E6BED-F546-40CC-A2DF-99CBA853654E}"/>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6091CC40-A8C4-4063-80EB-CC5099621678}"/>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22441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DD19515C-212C-4EAE-84A3-8FF4BC844F1B}"/>
              </a:ext>
            </a:extLst>
          </p:cNvPr>
          <p:cNvSpPr>
            <a:spLocks noGrp="1"/>
          </p:cNvSpPr>
          <p:nvPr>
            <p:ph type="dt" sz="half" idx="10"/>
          </p:nvPr>
        </p:nvSpPr>
        <p:spPr/>
        <p:txBody>
          <a:bodyPr/>
          <a:lstStyle/>
          <a:p>
            <a:fld id="{63289F7E-B80B-496E-81B4-D396C37C9454}" type="datetimeFigureOut">
              <a:rPr lang="pt-BR" smtClean="0"/>
              <a:t>17/03/2025</a:t>
            </a:fld>
            <a:endParaRPr lang="pt-BR"/>
          </a:p>
        </p:txBody>
      </p:sp>
      <p:sp>
        <p:nvSpPr>
          <p:cNvPr id="3" name="Espaço Reservado para Rodapé 2">
            <a:extLst>
              <a:ext uri="{FF2B5EF4-FFF2-40B4-BE49-F238E27FC236}">
                <a16:creationId xmlns:a16="http://schemas.microsoft.com/office/drawing/2014/main" id="{94D3D120-B3E8-4C96-861D-7A4F12F49B3A}"/>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42E49B68-FA1B-468B-9F17-D5C09243D454}"/>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3181232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17BCBE-A897-4319-85EC-D87909C24980}"/>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4226F885-0204-4913-868B-4B8B82576F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00F9F784-A858-441B-8AB5-6970981417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id="{A4DC363A-5000-472E-8B17-02E7DCB8840A}"/>
              </a:ext>
            </a:extLst>
          </p:cNvPr>
          <p:cNvSpPr>
            <a:spLocks noGrp="1"/>
          </p:cNvSpPr>
          <p:nvPr>
            <p:ph type="dt" sz="half" idx="10"/>
          </p:nvPr>
        </p:nvSpPr>
        <p:spPr/>
        <p:txBody>
          <a:bodyPr/>
          <a:lstStyle/>
          <a:p>
            <a:fld id="{63289F7E-B80B-496E-81B4-D396C37C9454}" type="datetimeFigureOut">
              <a:rPr lang="pt-BR" smtClean="0"/>
              <a:t>17/03/2025</a:t>
            </a:fld>
            <a:endParaRPr lang="pt-BR"/>
          </a:p>
        </p:txBody>
      </p:sp>
      <p:sp>
        <p:nvSpPr>
          <p:cNvPr id="6" name="Espaço Reservado para Rodapé 5">
            <a:extLst>
              <a:ext uri="{FF2B5EF4-FFF2-40B4-BE49-F238E27FC236}">
                <a16:creationId xmlns:a16="http://schemas.microsoft.com/office/drawing/2014/main" id="{5548425D-2C21-4C56-BAD4-662978775C28}"/>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C63E9726-E64C-42B2-AE8A-8C235A956B48}"/>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2588610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086A78-3E74-450C-96A6-CA8AC37AF772}"/>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5F5B7312-975A-4DBC-9B2F-3652ADA006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AAF805F5-1DFF-41C6-944C-7D79FE0D09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id="{02113D81-8665-4516-BD81-C6A1F254EECD}"/>
              </a:ext>
            </a:extLst>
          </p:cNvPr>
          <p:cNvSpPr>
            <a:spLocks noGrp="1"/>
          </p:cNvSpPr>
          <p:nvPr>
            <p:ph type="dt" sz="half" idx="10"/>
          </p:nvPr>
        </p:nvSpPr>
        <p:spPr/>
        <p:txBody>
          <a:bodyPr/>
          <a:lstStyle/>
          <a:p>
            <a:fld id="{63289F7E-B80B-496E-81B4-D396C37C9454}" type="datetimeFigureOut">
              <a:rPr lang="pt-BR" smtClean="0"/>
              <a:t>17/03/2025</a:t>
            </a:fld>
            <a:endParaRPr lang="pt-BR"/>
          </a:p>
        </p:txBody>
      </p:sp>
      <p:sp>
        <p:nvSpPr>
          <p:cNvPr id="6" name="Espaço Reservado para Rodapé 5">
            <a:extLst>
              <a:ext uri="{FF2B5EF4-FFF2-40B4-BE49-F238E27FC236}">
                <a16:creationId xmlns:a16="http://schemas.microsoft.com/office/drawing/2014/main" id="{2B00C88B-FF32-40AA-A187-727D96FD7862}"/>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A04D1A2D-69F7-4B8F-A730-BC26DC340BA6}"/>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2034646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36C49F-3E68-4175-81BA-3C3FEE44308A}"/>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426FA736-3DD3-4D4E-B57B-BBE1D8F7D424}"/>
              </a:ext>
            </a:extLst>
          </p:cNvPr>
          <p:cNvSpPr>
            <a:spLocks noGrp="1"/>
          </p:cNvSpPr>
          <p:nvPr>
            <p:ph type="body" orient="vert" idx="1"/>
          </p:nvPr>
        </p:nvSpPr>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9E8855C-D8FD-48F6-B14E-861E0DE4D915}"/>
              </a:ext>
            </a:extLst>
          </p:cNvPr>
          <p:cNvSpPr>
            <a:spLocks noGrp="1"/>
          </p:cNvSpPr>
          <p:nvPr>
            <p:ph type="dt" sz="half" idx="10"/>
          </p:nvPr>
        </p:nvSpPr>
        <p:spPr/>
        <p:txBody>
          <a:bodyPr/>
          <a:lstStyle/>
          <a:p>
            <a:fld id="{63289F7E-B80B-496E-81B4-D396C37C9454}" type="datetimeFigureOut">
              <a:rPr lang="pt-BR" smtClean="0"/>
              <a:t>17/03/2025</a:t>
            </a:fld>
            <a:endParaRPr lang="pt-BR"/>
          </a:p>
        </p:txBody>
      </p:sp>
      <p:sp>
        <p:nvSpPr>
          <p:cNvPr id="5" name="Espaço Reservado para Rodapé 4">
            <a:extLst>
              <a:ext uri="{FF2B5EF4-FFF2-40B4-BE49-F238E27FC236}">
                <a16:creationId xmlns:a16="http://schemas.microsoft.com/office/drawing/2014/main" id="{97C0BB88-2F21-42A5-ACFF-83DA47F2D340}"/>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CB462B3-1F22-4C05-B4B8-7A279FB7D5E9}"/>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553481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AEAB728-701C-4207-A9D5-23FF45C60502}"/>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BA8C8CCF-7823-480A-9A19-0F664DD17E3B}"/>
              </a:ext>
            </a:extLst>
          </p:cNvPr>
          <p:cNvSpPr>
            <a:spLocks noGrp="1"/>
          </p:cNvSpPr>
          <p:nvPr>
            <p:ph type="body" orient="vert" idx="1"/>
          </p:nvPr>
        </p:nvSpPr>
        <p:spPr>
          <a:xfrm>
            <a:off x="838200" y="365125"/>
            <a:ext cx="7734300" cy="5811838"/>
          </a:xfr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721D5734-7B1F-425D-942F-6EB73344027C}"/>
              </a:ext>
            </a:extLst>
          </p:cNvPr>
          <p:cNvSpPr>
            <a:spLocks noGrp="1"/>
          </p:cNvSpPr>
          <p:nvPr>
            <p:ph type="dt" sz="half" idx="10"/>
          </p:nvPr>
        </p:nvSpPr>
        <p:spPr/>
        <p:txBody>
          <a:bodyPr/>
          <a:lstStyle/>
          <a:p>
            <a:fld id="{63289F7E-B80B-496E-81B4-D396C37C9454}" type="datetimeFigureOut">
              <a:rPr lang="pt-BR" smtClean="0"/>
              <a:t>17/03/2025</a:t>
            </a:fld>
            <a:endParaRPr lang="pt-BR"/>
          </a:p>
        </p:txBody>
      </p:sp>
      <p:sp>
        <p:nvSpPr>
          <p:cNvPr id="5" name="Espaço Reservado para Rodapé 4">
            <a:extLst>
              <a:ext uri="{FF2B5EF4-FFF2-40B4-BE49-F238E27FC236}">
                <a16:creationId xmlns:a16="http://schemas.microsoft.com/office/drawing/2014/main" id="{1E1AAEAC-F08D-45FE-89EC-B1B349A868C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AA44493-9911-47B2-87A6-C2141A972BC8}"/>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218245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E69A0273-1966-4A1B-9370-4C1CE50363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3B9CF87A-0448-49A7-AB25-EBC1D56A40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2EF7B1F2-BB5A-44D0-816D-16AD2C7143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289F7E-B80B-496E-81B4-D396C37C9454}" type="datetimeFigureOut">
              <a:rPr lang="pt-BR" smtClean="0"/>
              <a:t>17/03/2025</a:t>
            </a:fld>
            <a:endParaRPr lang="pt-BR"/>
          </a:p>
        </p:txBody>
      </p:sp>
      <p:sp>
        <p:nvSpPr>
          <p:cNvPr id="5" name="Espaço Reservado para Rodapé 4">
            <a:extLst>
              <a:ext uri="{FF2B5EF4-FFF2-40B4-BE49-F238E27FC236}">
                <a16:creationId xmlns:a16="http://schemas.microsoft.com/office/drawing/2014/main" id="{C703F94C-2CC8-4DAA-BC35-14FC3E841D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64051336-7048-457A-8B61-D94291D716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7E88B7-70CE-4035-AE73-13FA6FB985D4}" type="slidenum">
              <a:rPr lang="pt-BR" smtClean="0"/>
              <a:t>‹#›</a:t>
            </a:fld>
            <a:endParaRPr lang="pt-BR"/>
          </a:p>
        </p:txBody>
      </p:sp>
    </p:spTree>
    <p:extLst>
      <p:ext uri="{BB962C8B-B14F-4D97-AF65-F5344CB8AC3E}">
        <p14:creationId xmlns:p14="http://schemas.microsoft.com/office/powerpoint/2010/main" val="28362929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16.png"/><Relationship Id="rId7" Type="http://schemas.openxmlformats.org/officeDocument/2006/relationships/image" Target="../media/image19.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_rels/slide2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33.jpeg"/><Relationship Id="rId3" Type="http://schemas.openxmlformats.org/officeDocument/2006/relationships/image" Target="../media/image28.jpeg"/><Relationship Id="rId7"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jpeg"/><Relationship Id="rId4" Type="http://schemas.openxmlformats.org/officeDocument/2006/relationships/image" Target="../media/image29.jpeg"/></Relationships>
</file>

<file path=ppt/slides/_rels/slide33.xml.rels><?xml version="1.0" encoding="UTF-8" standalone="yes"?>
<Relationships xmlns="http://schemas.openxmlformats.org/package/2006/relationships"><Relationship Id="rId8" Type="http://schemas.openxmlformats.org/officeDocument/2006/relationships/image" Target="../media/image33.jpeg"/><Relationship Id="rId3" Type="http://schemas.openxmlformats.org/officeDocument/2006/relationships/image" Target="../media/image28.jpeg"/><Relationship Id="rId7"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jpeg"/><Relationship Id="rId4" Type="http://schemas.openxmlformats.org/officeDocument/2006/relationships/image" Target="../media/image29.jpeg"/><Relationship Id="rId9" Type="http://schemas.openxmlformats.org/officeDocument/2006/relationships/image" Target="../media/image19.jpe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jpeg"/><Relationship Id="rId1" Type="http://schemas.openxmlformats.org/officeDocument/2006/relationships/slideLayout" Target="../slideLayouts/slideLayout2.xml"/><Relationship Id="rId4" Type="http://schemas.openxmlformats.org/officeDocument/2006/relationships/image" Target="../media/image36.jpeg"/></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jpeg"/><Relationship Id="rId1" Type="http://schemas.openxmlformats.org/officeDocument/2006/relationships/slideLayout" Target="../slideLayouts/slideLayout2.xml"/><Relationship Id="rId4" Type="http://schemas.openxmlformats.org/officeDocument/2006/relationships/image" Target="../media/image36.jpeg"/></Relationships>
</file>

<file path=ppt/slides/_rels/slide3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6.jpeg"/><Relationship Id="rId4" Type="http://schemas.openxmlformats.org/officeDocument/2006/relationships/image" Target="../media/image35.png"/></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hyperlink" Target="https://pixabay.com/en/wrong-incorrect-delete-abort-295503/" TargetMode="External"/><Relationship Id="rId5" Type="http://schemas.openxmlformats.org/officeDocument/2006/relationships/image" Target="../media/image45.png"/><Relationship Id="rId4" Type="http://schemas.openxmlformats.org/officeDocument/2006/relationships/hyperlink" Target="https://openclipart.org/detail/26557/raemi_check_mark" TargetMode="External"/></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hyperlink" Target="https://pixabay.com/en/wrong-incorrect-delete-abort-295503/" TargetMode="External"/><Relationship Id="rId5" Type="http://schemas.openxmlformats.org/officeDocument/2006/relationships/image" Target="../media/image45.png"/><Relationship Id="rId4" Type="http://schemas.openxmlformats.org/officeDocument/2006/relationships/hyperlink" Target="https://openclipart.org/detail/26557/raemi_check_mark" TargetMode="External"/></Relationships>
</file>

<file path=ppt/slides/_rels/slide44.xml.rels><?xml version="1.0" encoding="UTF-8" standalone="yes"?>
<Relationships xmlns="http://schemas.openxmlformats.org/package/2006/relationships"><Relationship Id="rId3" Type="http://schemas.openxmlformats.org/officeDocument/2006/relationships/hyperlink" Target="https://openclipart.org/detail/26557/raemi_check_mark" TargetMode="External"/><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45.xml.rels><?xml version="1.0" encoding="UTF-8" standalone="yes"?>
<Relationships xmlns="http://schemas.openxmlformats.org/package/2006/relationships"><Relationship Id="rId3" Type="http://schemas.openxmlformats.org/officeDocument/2006/relationships/hyperlink" Target="https://openclipart.org/detail/26557/raemi_check_mark" TargetMode="External"/><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4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hyperlink" Target="https://openclipart.org/detail/26557/raemi_check_mark" TargetMode="External"/><Relationship Id="rId5" Type="http://schemas.openxmlformats.org/officeDocument/2006/relationships/image" Target="../media/image44.png"/><Relationship Id="rId4" Type="http://schemas.openxmlformats.org/officeDocument/2006/relationships/image" Target="../media/image46.png"/></Relationships>
</file>

<file path=ppt/slides/_rels/slide4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7.png"/><Relationship Id="rId1" Type="http://schemas.openxmlformats.org/officeDocument/2006/relationships/slideLayout" Target="../slideLayouts/slideLayout2.xml"/><Relationship Id="rId5" Type="http://schemas.openxmlformats.org/officeDocument/2006/relationships/hyperlink" Target="https://openclipart.org/detail/26557/raemi_check_mark" TargetMode="External"/><Relationship Id="rId4" Type="http://schemas.openxmlformats.org/officeDocument/2006/relationships/image" Target="../media/image44.png"/></Relationships>
</file>

<file path=ppt/slides/_rels/slide4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hyperlink" Target="https://openclipart.org/detail/26557/raemi_check_mark" TargetMode="External"/><Relationship Id="rId5" Type="http://schemas.openxmlformats.org/officeDocument/2006/relationships/image" Target="../media/image44.png"/><Relationship Id="rId4" Type="http://schemas.openxmlformats.org/officeDocument/2006/relationships/image" Target="../media/image46.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51.jpeg"/><Relationship Id="rId5" Type="http://schemas.openxmlformats.org/officeDocument/2006/relationships/image" Target="../media/image50.jpeg"/><Relationship Id="rId4" Type="http://schemas.openxmlformats.org/officeDocument/2006/relationships/image" Target="../media/image49.jpeg"/></Relationships>
</file>

<file path=ppt/slides/_rels/slide54.xml.rels><?xml version="1.0" encoding="UTF-8" standalone="yes"?>
<Relationships xmlns="http://schemas.openxmlformats.org/package/2006/relationships"><Relationship Id="rId8" Type="http://schemas.openxmlformats.org/officeDocument/2006/relationships/image" Target="../media/image56.jpeg"/><Relationship Id="rId3" Type="http://schemas.openxmlformats.org/officeDocument/2006/relationships/image" Target="../media/image19.jpeg"/><Relationship Id="rId7" Type="http://schemas.openxmlformats.org/officeDocument/2006/relationships/image" Target="../media/image55.jpe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54.jpeg"/><Relationship Id="rId11" Type="http://schemas.openxmlformats.org/officeDocument/2006/relationships/image" Target="../media/image59.jpeg"/><Relationship Id="rId5" Type="http://schemas.openxmlformats.org/officeDocument/2006/relationships/image" Target="../media/image53.jpeg"/><Relationship Id="rId10" Type="http://schemas.openxmlformats.org/officeDocument/2006/relationships/image" Target="../media/image58.jpeg"/><Relationship Id="rId4" Type="http://schemas.openxmlformats.org/officeDocument/2006/relationships/image" Target="../media/image52.jpeg"/><Relationship Id="rId9" Type="http://schemas.openxmlformats.org/officeDocument/2006/relationships/image" Target="../media/image57.png"/></Relationships>
</file>

<file path=ppt/slides/_rels/slide5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666AC8-2E17-4DB4-B0F5-60C640CCFD2E}"/>
              </a:ext>
            </a:extLst>
          </p:cNvPr>
          <p:cNvSpPr>
            <a:spLocks noGrp="1"/>
          </p:cNvSpPr>
          <p:nvPr>
            <p:ph type="ctrTitle"/>
          </p:nvPr>
        </p:nvSpPr>
        <p:spPr>
          <a:xfrm>
            <a:off x="1524000" y="672662"/>
            <a:ext cx="9144000" cy="2837301"/>
          </a:xfrm>
        </p:spPr>
        <p:txBody>
          <a:bodyPr>
            <a:normAutofit fontScale="90000"/>
          </a:bodyPr>
          <a:lstStyle/>
          <a:p>
            <a:r>
              <a:rPr lang="pt-BR" sz="5400" dirty="0"/>
              <a:t>TP557 - Tópicos avançados em IoT e Machine Learning:</a:t>
            </a:r>
            <a:br>
              <a:rPr lang="pt-BR" dirty="0"/>
            </a:br>
            <a:r>
              <a:rPr lang="pt-BR" b="1" i="1" dirty="0"/>
              <a:t>Desafios do </a:t>
            </a:r>
            <a:r>
              <a:rPr lang="pt-BR" b="1" i="1" dirty="0" err="1"/>
              <a:t>TinyML</a:t>
            </a:r>
            <a:r>
              <a:rPr lang="pt-BR" b="1" i="1" dirty="0"/>
              <a:t>:</a:t>
            </a:r>
            <a:br>
              <a:rPr lang="pt-BR" b="1" i="1" dirty="0"/>
            </a:br>
            <a:r>
              <a:rPr lang="pt-BR" sz="4900" b="1" i="1" dirty="0"/>
              <a:t>Sistemas Embarcados</a:t>
            </a:r>
            <a:endParaRPr lang="pt-BR" b="1" i="1" dirty="0"/>
          </a:p>
        </p:txBody>
      </p:sp>
      <p:sp>
        <p:nvSpPr>
          <p:cNvPr id="4" name="CaixaDeTexto 3">
            <a:extLst>
              <a:ext uri="{FF2B5EF4-FFF2-40B4-BE49-F238E27FC236}">
                <a16:creationId xmlns:a16="http://schemas.microsoft.com/office/drawing/2014/main" id="{430EB894-B7D4-434C-9D1A-A14094D9BEEC}"/>
              </a:ext>
            </a:extLst>
          </p:cNvPr>
          <p:cNvSpPr txBox="1"/>
          <p:nvPr/>
        </p:nvSpPr>
        <p:spPr>
          <a:xfrm>
            <a:off x="7915801" y="5780602"/>
            <a:ext cx="4004345" cy="677108"/>
          </a:xfrm>
          <a:prstGeom prst="rect">
            <a:avLst/>
          </a:prstGeom>
          <a:noFill/>
        </p:spPr>
        <p:txBody>
          <a:bodyPr wrap="square" rtlCol="0">
            <a:spAutoFit/>
          </a:bodyPr>
          <a:lstStyle/>
          <a:p>
            <a:r>
              <a:rPr lang="pt-BR" sz="2000" dirty="0"/>
              <a:t>Felipe Augusto Pereira de Figueiredo</a:t>
            </a:r>
          </a:p>
          <a:p>
            <a:r>
              <a:rPr lang="pt-BR" dirty="0"/>
              <a:t>felipe.figueiredo@inatel.br</a:t>
            </a:r>
          </a:p>
        </p:txBody>
      </p:sp>
      <p:pic>
        <p:nvPicPr>
          <p:cNvPr id="1026" name="Picture 2" descr="Logo">
            <a:extLst>
              <a:ext uri="{FF2B5EF4-FFF2-40B4-BE49-F238E27FC236}">
                <a16:creationId xmlns:a16="http://schemas.microsoft.com/office/drawing/2014/main" id="{3F2642E0-4F6A-4196-8F58-E77D36E9A33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8759" b="28872"/>
          <a:stretch/>
        </p:blipFill>
        <p:spPr bwMode="auto">
          <a:xfrm>
            <a:off x="393306" y="5780602"/>
            <a:ext cx="2261388" cy="677109"/>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Image result for machine learning">
            <a:extLst>
              <a:ext uri="{FF2B5EF4-FFF2-40B4-BE49-F238E27FC236}">
                <a16:creationId xmlns:a16="http://schemas.microsoft.com/office/drawing/2014/main" id="{810CE0A2-4102-44A6-A370-175E7896CDCB}"/>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0193" t="8107" r="14530" b="5794"/>
          <a:stretch/>
        </p:blipFill>
        <p:spPr bwMode="auto">
          <a:xfrm>
            <a:off x="6785107" y="3429000"/>
            <a:ext cx="2261389" cy="223706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IoT Group">
            <a:extLst>
              <a:ext uri="{FF2B5EF4-FFF2-40B4-BE49-F238E27FC236}">
                <a16:creationId xmlns:a16="http://schemas.microsoft.com/office/drawing/2014/main" id="{AC034F57-E830-B6E7-6790-12FDBBDB297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 r="63551" b="22561"/>
          <a:stretch/>
        </p:blipFill>
        <p:spPr bwMode="auto">
          <a:xfrm>
            <a:off x="2899985" y="3509963"/>
            <a:ext cx="2509138" cy="20099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6526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CB3FED-5D1A-7084-5333-A3B2FA75F608}"/>
              </a:ext>
            </a:extLst>
          </p:cNvPr>
          <p:cNvSpPr>
            <a:spLocks noGrp="1"/>
          </p:cNvSpPr>
          <p:nvPr>
            <p:ph type="title"/>
          </p:nvPr>
        </p:nvSpPr>
        <p:spPr/>
        <p:txBody>
          <a:bodyPr/>
          <a:lstStyle/>
          <a:p>
            <a:r>
              <a:rPr lang="pt-BR" dirty="0"/>
              <a:t>Recapitulando</a:t>
            </a:r>
          </a:p>
        </p:txBody>
      </p:sp>
      <p:sp>
        <p:nvSpPr>
          <p:cNvPr id="10" name="Espaço Reservado para Conteúdo 9">
            <a:extLst>
              <a:ext uri="{FF2B5EF4-FFF2-40B4-BE49-F238E27FC236}">
                <a16:creationId xmlns:a16="http://schemas.microsoft.com/office/drawing/2014/main" id="{CAD93E95-B9C0-F72A-DC66-5932B3365C00}"/>
              </a:ext>
            </a:extLst>
          </p:cNvPr>
          <p:cNvSpPr>
            <a:spLocks noGrp="1"/>
          </p:cNvSpPr>
          <p:nvPr>
            <p:ph idx="1"/>
          </p:nvPr>
        </p:nvSpPr>
        <p:spPr>
          <a:xfrm>
            <a:off x="6169572" y="1569146"/>
            <a:ext cx="5794094" cy="5288854"/>
          </a:xfrm>
        </p:spPr>
        <p:txBody>
          <a:bodyPr>
            <a:normAutofit/>
          </a:bodyPr>
          <a:lstStyle/>
          <a:p>
            <a:r>
              <a:rPr lang="pt-BR" dirty="0"/>
              <a:t>Vimos anteriormente que </a:t>
            </a:r>
            <a:r>
              <a:rPr lang="pt-BR" b="1" i="1" dirty="0"/>
              <a:t>Edge(</a:t>
            </a:r>
            <a:r>
              <a:rPr lang="pt-BR" b="1" i="1" dirty="0" err="1"/>
              <a:t>Tiny</a:t>
            </a:r>
            <a:r>
              <a:rPr lang="pt-BR" b="1" i="1"/>
              <a:t>)ML</a:t>
            </a:r>
            <a:r>
              <a:rPr lang="pt-BR"/>
              <a:t> </a:t>
            </a:r>
            <a:r>
              <a:rPr lang="pt-BR" dirty="0"/>
              <a:t>é a </a:t>
            </a:r>
            <a:r>
              <a:rPr lang="pt-BR" b="1" i="1" dirty="0">
                <a:solidFill>
                  <a:srgbClr val="00B050"/>
                </a:solidFill>
              </a:rPr>
              <a:t>junção de ML com sistemas embarcados</a:t>
            </a:r>
            <a:r>
              <a:rPr lang="pt-BR" dirty="0"/>
              <a:t>.</a:t>
            </a:r>
          </a:p>
          <a:p>
            <a:r>
              <a:rPr lang="pt-BR" dirty="0"/>
              <a:t>Ou seja, é a execução de algoritmos de ML em sistemas com </a:t>
            </a:r>
            <a:r>
              <a:rPr lang="pt-BR" b="1" i="1" dirty="0">
                <a:effectLst/>
              </a:rPr>
              <a:t>restrições de processamento, memória e consumo de energia</a:t>
            </a:r>
            <a:r>
              <a:rPr lang="pt-BR" b="0" i="0" dirty="0">
                <a:effectLst/>
              </a:rPr>
              <a:t>.</a:t>
            </a:r>
          </a:p>
          <a:p>
            <a:r>
              <a:rPr lang="pt-BR" dirty="0"/>
              <a:t>Nesta aula, falaremos sobre os </a:t>
            </a:r>
            <a:r>
              <a:rPr lang="pt-BR" b="1" i="1" dirty="0">
                <a:solidFill>
                  <a:srgbClr val="7030A0"/>
                </a:solidFill>
              </a:rPr>
              <a:t>desafios de hardware (HW) para execução de aplicações de ML nesses dispositivos</a:t>
            </a:r>
            <a:r>
              <a:rPr lang="pt-BR" dirty="0"/>
              <a:t> com restrições.</a:t>
            </a:r>
          </a:p>
        </p:txBody>
      </p:sp>
      <p:pic>
        <p:nvPicPr>
          <p:cNvPr id="12" name="Imagem 11">
            <a:extLst>
              <a:ext uri="{FF2B5EF4-FFF2-40B4-BE49-F238E27FC236}">
                <a16:creationId xmlns:a16="http://schemas.microsoft.com/office/drawing/2014/main" id="{CEA739A8-9DDE-54DC-65C2-46F29815DD7C}"/>
              </a:ext>
            </a:extLst>
          </p:cNvPr>
          <p:cNvPicPr>
            <a:picLocks noChangeAspect="1"/>
          </p:cNvPicPr>
          <p:nvPr/>
        </p:nvPicPr>
        <p:blipFill rotWithShape="1">
          <a:blip r:embed="rId2"/>
          <a:srcRect l="8982" t="2754" r="5837" b="2176"/>
          <a:stretch/>
        </p:blipFill>
        <p:spPr>
          <a:xfrm>
            <a:off x="543466" y="2184650"/>
            <a:ext cx="2630741" cy="3744685"/>
          </a:xfrm>
          <a:prstGeom prst="rect">
            <a:avLst/>
          </a:prstGeom>
        </p:spPr>
      </p:pic>
      <p:sp>
        <p:nvSpPr>
          <p:cNvPr id="13" name="Seta: para a Direita 12">
            <a:extLst>
              <a:ext uri="{FF2B5EF4-FFF2-40B4-BE49-F238E27FC236}">
                <a16:creationId xmlns:a16="http://schemas.microsoft.com/office/drawing/2014/main" id="{A58B0515-7EE2-661F-8CF7-159A3180611C}"/>
              </a:ext>
            </a:extLst>
          </p:cNvPr>
          <p:cNvSpPr/>
          <p:nvPr/>
        </p:nvSpPr>
        <p:spPr>
          <a:xfrm>
            <a:off x="3174207" y="3303384"/>
            <a:ext cx="847044" cy="1230086"/>
          </a:xfrm>
          <a:prstGeom prst="rightArrow">
            <a:avLst>
              <a:gd name="adj1" fmla="val 50000"/>
              <a:gd name="adj2" fmla="val 4864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CaixaDeTexto 14">
            <a:extLst>
              <a:ext uri="{FF2B5EF4-FFF2-40B4-BE49-F238E27FC236}">
                <a16:creationId xmlns:a16="http://schemas.microsoft.com/office/drawing/2014/main" id="{28114B5B-9C22-66F7-D654-04DADEBD308B}"/>
              </a:ext>
            </a:extLst>
          </p:cNvPr>
          <p:cNvSpPr txBox="1"/>
          <p:nvPr/>
        </p:nvSpPr>
        <p:spPr>
          <a:xfrm>
            <a:off x="4016829" y="3523593"/>
            <a:ext cx="2079171" cy="769441"/>
          </a:xfrm>
          <a:prstGeom prst="rect">
            <a:avLst/>
          </a:prstGeom>
          <a:noFill/>
        </p:spPr>
        <p:txBody>
          <a:bodyPr wrap="square" rtlCol="0">
            <a:spAutoFit/>
          </a:bodyPr>
          <a:lstStyle/>
          <a:p>
            <a:pPr algn="ctr"/>
            <a:r>
              <a:rPr lang="pt-BR" sz="4400" b="1" dirty="0" err="1">
                <a:solidFill>
                  <a:schemeClr val="accent2"/>
                </a:solidFill>
              </a:rPr>
              <a:t>EdgeML</a:t>
            </a:r>
            <a:endParaRPr lang="pt-BR" sz="4400" b="1" dirty="0">
              <a:solidFill>
                <a:schemeClr val="accent2"/>
              </a:solidFill>
            </a:endParaRPr>
          </a:p>
        </p:txBody>
      </p:sp>
    </p:spTree>
    <p:extLst>
      <p:ext uri="{BB962C8B-B14F-4D97-AF65-F5344CB8AC3E}">
        <p14:creationId xmlns:p14="http://schemas.microsoft.com/office/powerpoint/2010/main" val="529739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E593D060-375B-0AE6-38F7-37726F1E60C1}"/>
              </a:ext>
            </a:extLst>
          </p:cNvPr>
          <p:cNvSpPr>
            <a:spLocks noGrp="1"/>
          </p:cNvSpPr>
          <p:nvPr>
            <p:ph idx="1"/>
          </p:nvPr>
        </p:nvSpPr>
        <p:spPr>
          <a:xfrm>
            <a:off x="838200" y="1981199"/>
            <a:ext cx="10515600" cy="4195763"/>
          </a:xfrm>
        </p:spPr>
        <p:txBody>
          <a:bodyPr>
            <a:normAutofit/>
          </a:bodyPr>
          <a:lstStyle/>
          <a:p>
            <a:pPr marL="0" indent="0" algn="ctr">
              <a:buNone/>
            </a:pPr>
            <a:r>
              <a:rPr lang="pt-BR" sz="5400" dirty="0"/>
              <a:t>Quais desafios encontraremos na execução de </a:t>
            </a:r>
            <a:r>
              <a:rPr lang="pt-BR" sz="5400" i="1" dirty="0"/>
              <a:t>machine learning</a:t>
            </a:r>
            <a:r>
              <a:rPr lang="pt-BR" sz="5400" dirty="0"/>
              <a:t> em sistemas embarcados? </a:t>
            </a:r>
          </a:p>
        </p:txBody>
      </p:sp>
    </p:spTree>
    <p:extLst>
      <p:ext uri="{BB962C8B-B14F-4D97-AF65-F5344CB8AC3E}">
        <p14:creationId xmlns:p14="http://schemas.microsoft.com/office/powerpoint/2010/main" val="3171287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DD6D47-4125-BA5B-D927-ED65C2DF1AC5}"/>
              </a:ext>
            </a:extLst>
          </p:cNvPr>
          <p:cNvSpPr>
            <a:spLocks noGrp="1"/>
          </p:cNvSpPr>
          <p:nvPr>
            <p:ph type="title"/>
          </p:nvPr>
        </p:nvSpPr>
        <p:spPr/>
        <p:txBody>
          <a:bodyPr/>
          <a:lstStyle/>
          <a:p>
            <a:r>
              <a:rPr lang="pt-BR" dirty="0"/>
              <a:t>Sistema computacional de uso geral</a:t>
            </a:r>
          </a:p>
        </p:txBody>
      </p:sp>
      <p:sp>
        <p:nvSpPr>
          <p:cNvPr id="3" name="Espaço Reservado para Conteúdo 2">
            <a:extLst>
              <a:ext uri="{FF2B5EF4-FFF2-40B4-BE49-F238E27FC236}">
                <a16:creationId xmlns:a16="http://schemas.microsoft.com/office/drawing/2014/main" id="{C263FDBF-63E9-16B3-C03D-904806025257}"/>
              </a:ext>
            </a:extLst>
          </p:cNvPr>
          <p:cNvSpPr>
            <a:spLocks noGrp="1"/>
          </p:cNvSpPr>
          <p:nvPr>
            <p:ph idx="1"/>
          </p:nvPr>
        </p:nvSpPr>
        <p:spPr>
          <a:xfrm>
            <a:off x="5475513" y="1825624"/>
            <a:ext cx="6569341" cy="5032375"/>
          </a:xfrm>
        </p:spPr>
        <p:txBody>
          <a:bodyPr/>
          <a:lstStyle/>
          <a:p>
            <a:r>
              <a:rPr lang="pt-BR" dirty="0"/>
              <a:t>Antes de falarmos de sistemas </a:t>
            </a:r>
            <a:r>
              <a:rPr lang="pt-BR" b="1" i="1" dirty="0">
                <a:solidFill>
                  <a:schemeClr val="accent2"/>
                </a:solidFill>
              </a:rPr>
              <a:t>embarcados</a:t>
            </a:r>
            <a:r>
              <a:rPr lang="pt-BR" dirty="0"/>
              <a:t>, vamos fazer um </a:t>
            </a:r>
            <a:r>
              <a:rPr lang="pt-BR" b="1" i="1" dirty="0">
                <a:solidFill>
                  <a:srgbClr val="7030A0"/>
                </a:solidFill>
              </a:rPr>
              <a:t>paralelo</a:t>
            </a:r>
            <a:r>
              <a:rPr lang="pt-BR" dirty="0"/>
              <a:t> com o </a:t>
            </a:r>
            <a:r>
              <a:rPr lang="pt-BR" b="1" i="1" dirty="0">
                <a:solidFill>
                  <a:schemeClr val="accent6"/>
                </a:solidFill>
              </a:rPr>
              <a:t>sistema de um computador de uso geral</a:t>
            </a:r>
            <a:r>
              <a:rPr lang="pt-BR" dirty="0"/>
              <a:t>.</a:t>
            </a:r>
          </a:p>
          <a:p>
            <a:r>
              <a:rPr lang="pt-BR" dirty="0"/>
              <a:t>Em termos gerais, o que temos é o software (SW) (aplicações, bibliotecas e sistema operacional (SO)) rodando em cima do HW.</a:t>
            </a:r>
          </a:p>
        </p:txBody>
      </p:sp>
      <p:grpSp>
        <p:nvGrpSpPr>
          <p:cNvPr id="12" name="Agrupar 11">
            <a:extLst>
              <a:ext uri="{FF2B5EF4-FFF2-40B4-BE49-F238E27FC236}">
                <a16:creationId xmlns:a16="http://schemas.microsoft.com/office/drawing/2014/main" id="{2EDC408E-09E5-406C-3A23-771CF37E8451}"/>
              </a:ext>
            </a:extLst>
          </p:cNvPr>
          <p:cNvGrpSpPr/>
          <p:nvPr/>
        </p:nvGrpSpPr>
        <p:grpSpPr>
          <a:xfrm>
            <a:off x="1208313" y="1825625"/>
            <a:ext cx="2275115" cy="4201104"/>
            <a:chOff x="1164770" y="2145267"/>
            <a:chExt cx="2275115" cy="4201104"/>
          </a:xfrm>
        </p:grpSpPr>
        <p:sp>
          <p:nvSpPr>
            <p:cNvPr id="4" name="Retângulo 3">
              <a:extLst>
                <a:ext uri="{FF2B5EF4-FFF2-40B4-BE49-F238E27FC236}">
                  <a16:creationId xmlns:a16="http://schemas.microsoft.com/office/drawing/2014/main" id="{F7CD0A75-52D7-601B-3548-7DD16507AC55}"/>
                </a:ext>
              </a:extLst>
            </p:cNvPr>
            <p:cNvSpPr/>
            <p:nvPr/>
          </p:nvSpPr>
          <p:spPr>
            <a:xfrm>
              <a:off x="1295401" y="2667000"/>
              <a:ext cx="2024742" cy="762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Aplicações</a:t>
              </a:r>
            </a:p>
          </p:txBody>
        </p:sp>
        <p:sp>
          <p:nvSpPr>
            <p:cNvPr id="5" name="Retângulo 4">
              <a:extLst>
                <a:ext uri="{FF2B5EF4-FFF2-40B4-BE49-F238E27FC236}">
                  <a16:creationId xmlns:a16="http://schemas.microsoft.com/office/drawing/2014/main" id="{FB694568-DD33-C872-DC61-5F3350652B58}"/>
                </a:ext>
              </a:extLst>
            </p:cNvPr>
            <p:cNvSpPr/>
            <p:nvPr/>
          </p:nvSpPr>
          <p:spPr>
            <a:xfrm>
              <a:off x="1295401" y="3581400"/>
              <a:ext cx="2024742" cy="7620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pt-BR" dirty="0"/>
                <a:t>Bibliotecas</a:t>
              </a:r>
            </a:p>
          </p:txBody>
        </p:sp>
        <p:sp>
          <p:nvSpPr>
            <p:cNvPr id="6" name="Retângulo 5">
              <a:extLst>
                <a:ext uri="{FF2B5EF4-FFF2-40B4-BE49-F238E27FC236}">
                  <a16:creationId xmlns:a16="http://schemas.microsoft.com/office/drawing/2014/main" id="{CC32C5C9-CC2F-29AC-5FD2-C22A71D93240}"/>
                </a:ext>
              </a:extLst>
            </p:cNvPr>
            <p:cNvSpPr/>
            <p:nvPr/>
          </p:nvSpPr>
          <p:spPr>
            <a:xfrm>
              <a:off x="1295401" y="4495800"/>
              <a:ext cx="2024742" cy="7620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pt-BR" dirty="0"/>
                <a:t>Sistema Operacional</a:t>
              </a:r>
            </a:p>
          </p:txBody>
        </p:sp>
        <p:sp>
          <p:nvSpPr>
            <p:cNvPr id="7" name="Retângulo 6">
              <a:extLst>
                <a:ext uri="{FF2B5EF4-FFF2-40B4-BE49-F238E27FC236}">
                  <a16:creationId xmlns:a16="http://schemas.microsoft.com/office/drawing/2014/main" id="{B42C7A3A-9373-8002-2AD3-B85163BAF440}"/>
                </a:ext>
              </a:extLst>
            </p:cNvPr>
            <p:cNvSpPr/>
            <p:nvPr/>
          </p:nvSpPr>
          <p:spPr>
            <a:xfrm>
              <a:off x="1164770" y="5584371"/>
              <a:ext cx="2275115" cy="762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b="1" dirty="0"/>
                <a:t>Hardware</a:t>
              </a:r>
            </a:p>
          </p:txBody>
        </p:sp>
        <p:sp>
          <p:nvSpPr>
            <p:cNvPr id="10" name="CaixaDeTexto 9">
              <a:extLst>
                <a:ext uri="{FF2B5EF4-FFF2-40B4-BE49-F238E27FC236}">
                  <a16:creationId xmlns:a16="http://schemas.microsoft.com/office/drawing/2014/main" id="{7CA0E8A3-3CC7-3AD4-BAB3-28F3BEAE4EB9}"/>
                </a:ext>
              </a:extLst>
            </p:cNvPr>
            <p:cNvSpPr txBox="1"/>
            <p:nvPr/>
          </p:nvSpPr>
          <p:spPr>
            <a:xfrm>
              <a:off x="1219199" y="2145268"/>
              <a:ext cx="1295400" cy="369332"/>
            </a:xfrm>
            <a:prstGeom prst="rect">
              <a:avLst/>
            </a:prstGeom>
            <a:noFill/>
          </p:spPr>
          <p:txBody>
            <a:bodyPr wrap="square">
              <a:spAutoFit/>
            </a:bodyPr>
            <a:lstStyle/>
            <a:p>
              <a:r>
                <a:rPr lang="pt-BR" b="1" dirty="0">
                  <a:solidFill>
                    <a:srgbClr val="0070C0"/>
                  </a:solidFill>
                </a:rPr>
                <a:t>Software</a:t>
              </a:r>
            </a:p>
          </p:txBody>
        </p:sp>
        <p:sp>
          <p:nvSpPr>
            <p:cNvPr id="11" name="Retângulo 10">
              <a:extLst>
                <a:ext uri="{FF2B5EF4-FFF2-40B4-BE49-F238E27FC236}">
                  <a16:creationId xmlns:a16="http://schemas.microsoft.com/office/drawing/2014/main" id="{087FEC47-0CCA-81EA-5F83-D0A7A41D9F77}"/>
                </a:ext>
              </a:extLst>
            </p:cNvPr>
            <p:cNvSpPr/>
            <p:nvPr/>
          </p:nvSpPr>
          <p:spPr>
            <a:xfrm>
              <a:off x="1164770" y="2145267"/>
              <a:ext cx="2275115" cy="3228337"/>
            </a:xfrm>
            <a:prstGeom prst="rect">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extLst>
      <p:ext uri="{BB962C8B-B14F-4D97-AF65-F5344CB8AC3E}">
        <p14:creationId xmlns:p14="http://schemas.microsoft.com/office/powerpoint/2010/main" val="2500213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D5B010-D389-9F24-88DD-ABD819024EF4}"/>
              </a:ext>
            </a:extLst>
          </p:cNvPr>
          <p:cNvSpPr>
            <a:spLocks noGrp="1"/>
          </p:cNvSpPr>
          <p:nvPr>
            <p:ph type="title"/>
          </p:nvPr>
        </p:nvSpPr>
        <p:spPr/>
        <p:txBody>
          <a:bodyPr/>
          <a:lstStyle/>
          <a:p>
            <a:r>
              <a:rPr lang="pt-BR" dirty="0"/>
              <a:t>Hardware</a:t>
            </a:r>
          </a:p>
        </p:txBody>
      </p:sp>
      <p:sp>
        <p:nvSpPr>
          <p:cNvPr id="3" name="Espaço Reservado para Conteúdo 2">
            <a:extLst>
              <a:ext uri="{FF2B5EF4-FFF2-40B4-BE49-F238E27FC236}">
                <a16:creationId xmlns:a16="http://schemas.microsoft.com/office/drawing/2014/main" id="{89919961-CFD1-9874-E040-C32CC360CB7B}"/>
              </a:ext>
            </a:extLst>
          </p:cNvPr>
          <p:cNvSpPr>
            <a:spLocks noGrp="1"/>
          </p:cNvSpPr>
          <p:nvPr>
            <p:ph idx="1"/>
          </p:nvPr>
        </p:nvSpPr>
        <p:spPr>
          <a:xfrm>
            <a:off x="5693670" y="1825624"/>
            <a:ext cx="6302387" cy="5032375"/>
          </a:xfrm>
        </p:spPr>
        <p:txBody>
          <a:bodyPr>
            <a:normAutofit/>
          </a:bodyPr>
          <a:lstStyle/>
          <a:p>
            <a:r>
              <a:rPr lang="pt-BR" dirty="0"/>
              <a:t>Os componentes mais</a:t>
            </a:r>
            <a:r>
              <a:rPr lang="pt-BR" i="0" dirty="0">
                <a:effectLst/>
              </a:rPr>
              <a:t> importantes do HW de um computador de uso </a:t>
            </a:r>
            <a:r>
              <a:rPr lang="pt-BR" dirty="0"/>
              <a:t>geral </a:t>
            </a:r>
            <a:r>
              <a:rPr lang="pt-BR" i="0" dirty="0">
                <a:effectLst/>
              </a:rPr>
              <a:t>são:</a:t>
            </a:r>
          </a:p>
          <a:p>
            <a:pPr lvl="1">
              <a:buFont typeface="Wingdings" panose="05000000000000000000" pitchFamily="2" charset="2"/>
              <a:buChar char="§"/>
            </a:pPr>
            <a:r>
              <a:rPr lang="pt-BR" i="0" dirty="0">
                <a:effectLst/>
              </a:rPr>
              <a:t>Uni</a:t>
            </a:r>
            <a:r>
              <a:rPr lang="pt-BR" dirty="0"/>
              <a:t>dade de processamento central (CPU), o </a:t>
            </a:r>
            <a:r>
              <a:rPr lang="pt-BR" b="1" i="1" dirty="0">
                <a:solidFill>
                  <a:srgbClr val="7030A0"/>
                </a:solidFill>
              </a:rPr>
              <a:t>processador</a:t>
            </a:r>
            <a:r>
              <a:rPr lang="pt-BR" dirty="0"/>
              <a:t>.</a:t>
            </a:r>
          </a:p>
          <a:p>
            <a:pPr lvl="1">
              <a:buFont typeface="Wingdings" panose="05000000000000000000" pitchFamily="2" charset="2"/>
              <a:buChar char="§"/>
            </a:pPr>
            <a:r>
              <a:rPr lang="pt-BR" i="0" dirty="0">
                <a:effectLst/>
              </a:rPr>
              <a:t>E as mem</a:t>
            </a:r>
            <a:r>
              <a:rPr lang="pt-BR" dirty="0"/>
              <a:t>ó</a:t>
            </a:r>
            <a:r>
              <a:rPr lang="pt-BR" i="0" dirty="0">
                <a:effectLst/>
              </a:rPr>
              <a:t>rias de armazenamento volátil e de </a:t>
            </a:r>
            <a:r>
              <a:rPr lang="pt-BR" dirty="0"/>
              <a:t>l</a:t>
            </a:r>
            <a:r>
              <a:rPr lang="pt-BR" i="0" dirty="0">
                <a:effectLst/>
              </a:rPr>
              <a:t>ongo prazo.</a:t>
            </a:r>
          </a:p>
        </p:txBody>
      </p:sp>
      <p:pic>
        <p:nvPicPr>
          <p:cNvPr id="3076" name="Picture 4" descr="Intel PNG Images Transparent Free Download | PNGMart">
            <a:extLst>
              <a:ext uri="{FF2B5EF4-FFF2-40B4-BE49-F238E27FC236}">
                <a16:creationId xmlns:a16="http://schemas.microsoft.com/office/drawing/2014/main" id="{E0D6BF7A-CBA0-FFC0-CE24-D00179B2B11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5944" y="2235794"/>
            <a:ext cx="2056255" cy="1741086"/>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Ram white background Stock Photos, Royalty Free Ram white background Images  | Depositphotos">
            <a:extLst>
              <a:ext uri="{FF2B5EF4-FFF2-40B4-BE49-F238E27FC236}">
                <a16:creationId xmlns:a16="http://schemas.microsoft.com/office/drawing/2014/main" id="{B4E42250-58D2-E294-1B36-D464E3119D9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297" t="20674" r="4755" b="23858"/>
          <a:stretch/>
        </p:blipFill>
        <p:spPr bwMode="auto">
          <a:xfrm>
            <a:off x="2481018" y="2583716"/>
            <a:ext cx="2671945" cy="1062998"/>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Ssd Background Png - Samsung It 1tb 2.5&quot; 840 Evo Sataiii Ssd Transparent  PNG - 876x420 - Free Download on NicePNG">
            <a:extLst>
              <a:ext uri="{FF2B5EF4-FFF2-40B4-BE49-F238E27FC236}">
                <a16:creationId xmlns:a16="http://schemas.microsoft.com/office/drawing/2014/main" id="{AEB344B2-8DEA-A8F9-7E58-15A6044E3C56}"/>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498" t="9081" r="2195" b="2082"/>
          <a:stretch/>
        </p:blipFill>
        <p:spPr bwMode="auto">
          <a:xfrm>
            <a:off x="1389827" y="4594000"/>
            <a:ext cx="2671946" cy="1340565"/>
          </a:xfrm>
          <a:prstGeom prst="rect">
            <a:avLst/>
          </a:prstGeom>
          <a:noFill/>
          <a:extLst>
            <a:ext uri="{909E8E84-426E-40DD-AFC4-6F175D3DCCD1}">
              <a14:hiddenFill xmlns:a14="http://schemas.microsoft.com/office/drawing/2010/main">
                <a:solidFill>
                  <a:srgbClr val="FFFFFF"/>
                </a:solidFill>
              </a14:hiddenFill>
            </a:ext>
          </a:extLst>
        </p:spPr>
      </p:pic>
      <p:sp>
        <p:nvSpPr>
          <p:cNvPr id="5" name="CaixaDeTexto 4">
            <a:extLst>
              <a:ext uri="{FF2B5EF4-FFF2-40B4-BE49-F238E27FC236}">
                <a16:creationId xmlns:a16="http://schemas.microsoft.com/office/drawing/2014/main" id="{15B09719-877B-0B03-8617-606D5CDBFDB1}"/>
              </a:ext>
            </a:extLst>
          </p:cNvPr>
          <p:cNvSpPr txBox="1"/>
          <p:nvPr/>
        </p:nvSpPr>
        <p:spPr>
          <a:xfrm>
            <a:off x="1167836" y="1988006"/>
            <a:ext cx="580776" cy="369332"/>
          </a:xfrm>
          <a:prstGeom prst="rect">
            <a:avLst/>
          </a:prstGeom>
          <a:noFill/>
        </p:spPr>
        <p:txBody>
          <a:bodyPr wrap="square" rtlCol="0">
            <a:spAutoFit/>
          </a:bodyPr>
          <a:lstStyle/>
          <a:p>
            <a:pPr algn="ctr"/>
            <a:r>
              <a:rPr lang="pt-BR" b="1" dirty="0"/>
              <a:t>CPU</a:t>
            </a:r>
          </a:p>
        </p:txBody>
      </p:sp>
      <p:sp>
        <p:nvSpPr>
          <p:cNvPr id="6" name="CaixaDeTexto 5">
            <a:extLst>
              <a:ext uri="{FF2B5EF4-FFF2-40B4-BE49-F238E27FC236}">
                <a16:creationId xmlns:a16="http://schemas.microsoft.com/office/drawing/2014/main" id="{508D7EF1-8E4B-B507-D5FE-56EF8EF5C9C9}"/>
              </a:ext>
            </a:extLst>
          </p:cNvPr>
          <p:cNvSpPr txBox="1"/>
          <p:nvPr/>
        </p:nvSpPr>
        <p:spPr>
          <a:xfrm>
            <a:off x="2481018" y="2172672"/>
            <a:ext cx="1885522" cy="646331"/>
          </a:xfrm>
          <a:prstGeom prst="rect">
            <a:avLst/>
          </a:prstGeom>
          <a:noFill/>
        </p:spPr>
        <p:txBody>
          <a:bodyPr wrap="square" rtlCol="0">
            <a:spAutoFit/>
          </a:bodyPr>
          <a:lstStyle/>
          <a:p>
            <a:pPr algn="ctr"/>
            <a:r>
              <a:rPr lang="pt-BR" b="1" dirty="0"/>
              <a:t>Armazenamento de curto prazo</a:t>
            </a:r>
          </a:p>
        </p:txBody>
      </p:sp>
      <p:sp>
        <p:nvSpPr>
          <p:cNvPr id="7" name="CaixaDeTexto 6">
            <a:extLst>
              <a:ext uri="{FF2B5EF4-FFF2-40B4-BE49-F238E27FC236}">
                <a16:creationId xmlns:a16="http://schemas.microsoft.com/office/drawing/2014/main" id="{AA7F6C35-840A-E9AF-DB8B-4AFC270AC1D9}"/>
              </a:ext>
            </a:extLst>
          </p:cNvPr>
          <p:cNvSpPr txBox="1"/>
          <p:nvPr/>
        </p:nvSpPr>
        <p:spPr>
          <a:xfrm>
            <a:off x="903878" y="4179266"/>
            <a:ext cx="3817900" cy="369332"/>
          </a:xfrm>
          <a:prstGeom prst="rect">
            <a:avLst/>
          </a:prstGeom>
          <a:noFill/>
        </p:spPr>
        <p:txBody>
          <a:bodyPr wrap="square" rtlCol="0">
            <a:spAutoFit/>
          </a:bodyPr>
          <a:lstStyle/>
          <a:p>
            <a:pPr algn="ctr"/>
            <a:r>
              <a:rPr lang="pt-BR" b="1" dirty="0"/>
              <a:t>Armazenamento de longo prazo</a:t>
            </a:r>
          </a:p>
        </p:txBody>
      </p:sp>
    </p:spTree>
    <p:extLst>
      <p:ext uri="{BB962C8B-B14F-4D97-AF65-F5344CB8AC3E}">
        <p14:creationId xmlns:p14="http://schemas.microsoft.com/office/powerpoint/2010/main" val="2701744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D5B010-D389-9F24-88DD-ABD819024EF4}"/>
              </a:ext>
            </a:extLst>
          </p:cNvPr>
          <p:cNvSpPr>
            <a:spLocks noGrp="1"/>
          </p:cNvSpPr>
          <p:nvPr>
            <p:ph type="title"/>
          </p:nvPr>
        </p:nvSpPr>
        <p:spPr/>
        <p:txBody>
          <a:bodyPr/>
          <a:lstStyle/>
          <a:p>
            <a:r>
              <a:rPr lang="pt-BR" dirty="0"/>
              <a:t>Hardware</a:t>
            </a:r>
          </a:p>
        </p:txBody>
      </p:sp>
      <p:sp>
        <p:nvSpPr>
          <p:cNvPr id="3" name="Espaço Reservado para Conteúdo 2">
            <a:extLst>
              <a:ext uri="{FF2B5EF4-FFF2-40B4-BE49-F238E27FC236}">
                <a16:creationId xmlns:a16="http://schemas.microsoft.com/office/drawing/2014/main" id="{89919961-CFD1-9874-E040-C32CC360CB7B}"/>
              </a:ext>
            </a:extLst>
          </p:cNvPr>
          <p:cNvSpPr>
            <a:spLocks noGrp="1"/>
          </p:cNvSpPr>
          <p:nvPr>
            <p:ph idx="1"/>
          </p:nvPr>
        </p:nvSpPr>
        <p:spPr>
          <a:xfrm>
            <a:off x="5693670" y="1825624"/>
            <a:ext cx="6302387" cy="5032375"/>
          </a:xfrm>
        </p:spPr>
        <p:txBody>
          <a:bodyPr>
            <a:normAutofit/>
          </a:bodyPr>
          <a:lstStyle/>
          <a:p>
            <a:r>
              <a:rPr lang="pt-BR" b="1" dirty="0"/>
              <a:t>Unidade de processamento central</a:t>
            </a:r>
            <a:r>
              <a:rPr lang="pt-BR" dirty="0"/>
              <a:t> (CPU): é o </a:t>
            </a:r>
            <a:r>
              <a:rPr lang="pt-BR" b="1" i="1" dirty="0"/>
              <a:t>cérebro do computador</a:t>
            </a:r>
            <a:r>
              <a:rPr lang="pt-BR" dirty="0"/>
              <a:t>. </a:t>
            </a:r>
          </a:p>
          <a:p>
            <a:r>
              <a:rPr lang="pt-BR" dirty="0"/>
              <a:t>Ela é </a:t>
            </a:r>
            <a:r>
              <a:rPr lang="pt-BR" b="1" i="1" dirty="0">
                <a:solidFill>
                  <a:srgbClr val="00B050"/>
                </a:solidFill>
              </a:rPr>
              <a:t>responsável pela </a:t>
            </a:r>
            <a:r>
              <a:rPr lang="pt-BR" b="1" i="1" dirty="0">
                <a:solidFill>
                  <a:srgbClr val="00B050"/>
                </a:solidFill>
                <a:effectLst/>
              </a:rPr>
              <a:t>execução de programas</a:t>
            </a:r>
            <a:r>
              <a:rPr lang="pt-BR" i="0" dirty="0">
                <a:effectLst/>
              </a:rPr>
              <a:t>:</a:t>
            </a:r>
          </a:p>
          <a:p>
            <a:pPr lvl="1">
              <a:buFont typeface="Wingdings" panose="05000000000000000000" pitchFamily="2" charset="2"/>
              <a:buChar char="§"/>
            </a:pPr>
            <a:r>
              <a:rPr lang="pt-BR" i="0" dirty="0">
                <a:effectLst/>
              </a:rPr>
              <a:t>cálculos, </a:t>
            </a:r>
          </a:p>
          <a:p>
            <a:pPr lvl="1">
              <a:buFont typeface="Wingdings" panose="05000000000000000000" pitchFamily="2" charset="2"/>
              <a:buChar char="§"/>
            </a:pPr>
            <a:r>
              <a:rPr lang="pt-BR" i="0" dirty="0">
                <a:effectLst/>
              </a:rPr>
              <a:t>tomada de decisões, </a:t>
            </a:r>
          </a:p>
          <a:p>
            <a:pPr lvl="1">
              <a:buFont typeface="Wingdings" panose="05000000000000000000" pitchFamily="2" charset="2"/>
              <a:buChar char="§"/>
            </a:pPr>
            <a:r>
              <a:rPr lang="pt-BR" i="0" dirty="0">
                <a:effectLst/>
              </a:rPr>
              <a:t>controle de dispositivos</a:t>
            </a:r>
            <a:r>
              <a:rPr lang="pt-BR" dirty="0"/>
              <a:t>.</a:t>
            </a:r>
            <a:endParaRPr lang="pt-BR" i="0" dirty="0">
              <a:effectLst/>
            </a:endParaRPr>
          </a:p>
        </p:txBody>
      </p:sp>
      <p:pic>
        <p:nvPicPr>
          <p:cNvPr id="3076" name="Picture 4" descr="Intel PNG Images Transparent Free Download | PNGMart">
            <a:extLst>
              <a:ext uri="{FF2B5EF4-FFF2-40B4-BE49-F238E27FC236}">
                <a16:creationId xmlns:a16="http://schemas.microsoft.com/office/drawing/2014/main" id="{E0D6BF7A-CBA0-FFC0-CE24-D00179B2B11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5944" y="2235794"/>
            <a:ext cx="2056255" cy="1741086"/>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Ram white background Stock Photos, Royalty Free Ram white background Images  | Depositphotos">
            <a:extLst>
              <a:ext uri="{FF2B5EF4-FFF2-40B4-BE49-F238E27FC236}">
                <a16:creationId xmlns:a16="http://schemas.microsoft.com/office/drawing/2014/main" id="{B4E42250-58D2-E294-1B36-D464E3119D9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297" t="20674" r="4755" b="23858"/>
          <a:stretch/>
        </p:blipFill>
        <p:spPr bwMode="auto">
          <a:xfrm>
            <a:off x="2481018" y="2583716"/>
            <a:ext cx="2671945" cy="1062998"/>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Ssd Background Png - Samsung It 1tb 2.5&quot; 840 Evo Sataiii Ssd Transparent  PNG - 876x420 - Free Download on NicePNG">
            <a:extLst>
              <a:ext uri="{FF2B5EF4-FFF2-40B4-BE49-F238E27FC236}">
                <a16:creationId xmlns:a16="http://schemas.microsoft.com/office/drawing/2014/main" id="{AEB344B2-8DEA-A8F9-7E58-15A6044E3C56}"/>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498" t="9081" r="2195" b="2082"/>
          <a:stretch/>
        </p:blipFill>
        <p:spPr bwMode="auto">
          <a:xfrm>
            <a:off x="1389827" y="4594000"/>
            <a:ext cx="2671946" cy="1340565"/>
          </a:xfrm>
          <a:prstGeom prst="rect">
            <a:avLst/>
          </a:prstGeom>
          <a:noFill/>
          <a:extLst>
            <a:ext uri="{909E8E84-426E-40DD-AFC4-6F175D3DCCD1}">
              <a14:hiddenFill xmlns:a14="http://schemas.microsoft.com/office/drawing/2010/main">
                <a:solidFill>
                  <a:srgbClr val="FFFFFF"/>
                </a:solidFill>
              </a14:hiddenFill>
            </a:ext>
          </a:extLst>
        </p:spPr>
      </p:pic>
      <p:sp>
        <p:nvSpPr>
          <p:cNvPr id="5" name="CaixaDeTexto 4">
            <a:extLst>
              <a:ext uri="{FF2B5EF4-FFF2-40B4-BE49-F238E27FC236}">
                <a16:creationId xmlns:a16="http://schemas.microsoft.com/office/drawing/2014/main" id="{15B09719-877B-0B03-8617-606D5CDBFDB1}"/>
              </a:ext>
            </a:extLst>
          </p:cNvPr>
          <p:cNvSpPr txBox="1"/>
          <p:nvPr/>
        </p:nvSpPr>
        <p:spPr>
          <a:xfrm>
            <a:off x="1167836" y="1988006"/>
            <a:ext cx="580776" cy="369332"/>
          </a:xfrm>
          <a:prstGeom prst="rect">
            <a:avLst/>
          </a:prstGeom>
          <a:noFill/>
        </p:spPr>
        <p:txBody>
          <a:bodyPr wrap="square" rtlCol="0">
            <a:spAutoFit/>
          </a:bodyPr>
          <a:lstStyle/>
          <a:p>
            <a:pPr algn="ctr"/>
            <a:r>
              <a:rPr lang="pt-BR" b="1" dirty="0"/>
              <a:t>CPU</a:t>
            </a:r>
          </a:p>
        </p:txBody>
      </p:sp>
      <p:sp>
        <p:nvSpPr>
          <p:cNvPr id="6" name="CaixaDeTexto 5">
            <a:extLst>
              <a:ext uri="{FF2B5EF4-FFF2-40B4-BE49-F238E27FC236}">
                <a16:creationId xmlns:a16="http://schemas.microsoft.com/office/drawing/2014/main" id="{508D7EF1-8E4B-B507-D5FE-56EF8EF5C9C9}"/>
              </a:ext>
            </a:extLst>
          </p:cNvPr>
          <p:cNvSpPr txBox="1"/>
          <p:nvPr/>
        </p:nvSpPr>
        <p:spPr>
          <a:xfrm>
            <a:off x="2481018" y="2172672"/>
            <a:ext cx="1885522" cy="646331"/>
          </a:xfrm>
          <a:prstGeom prst="rect">
            <a:avLst/>
          </a:prstGeom>
          <a:noFill/>
        </p:spPr>
        <p:txBody>
          <a:bodyPr wrap="square" rtlCol="0">
            <a:spAutoFit/>
          </a:bodyPr>
          <a:lstStyle/>
          <a:p>
            <a:pPr algn="ctr"/>
            <a:r>
              <a:rPr lang="pt-BR" b="1" dirty="0"/>
              <a:t>Armazenamento de curto prazo</a:t>
            </a:r>
          </a:p>
        </p:txBody>
      </p:sp>
      <p:sp>
        <p:nvSpPr>
          <p:cNvPr id="7" name="CaixaDeTexto 6">
            <a:extLst>
              <a:ext uri="{FF2B5EF4-FFF2-40B4-BE49-F238E27FC236}">
                <a16:creationId xmlns:a16="http://schemas.microsoft.com/office/drawing/2014/main" id="{AA7F6C35-840A-E9AF-DB8B-4AFC270AC1D9}"/>
              </a:ext>
            </a:extLst>
          </p:cNvPr>
          <p:cNvSpPr txBox="1"/>
          <p:nvPr/>
        </p:nvSpPr>
        <p:spPr>
          <a:xfrm>
            <a:off x="903878" y="4179266"/>
            <a:ext cx="3817900" cy="369332"/>
          </a:xfrm>
          <a:prstGeom prst="rect">
            <a:avLst/>
          </a:prstGeom>
          <a:noFill/>
        </p:spPr>
        <p:txBody>
          <a:bodyPr wrap="square" rtlCol="0">
            <a:spAutoFit/>
          </a:bodyPr>
          <a:lstStyle/>
          <a:p>
            <a:pPr algn="ctr"/>
            <a:r>
              <a:rPr lang="pt-BR" b="1" dirty="0"/>
              <a:t>Armazenamento de longo prazo</a:t>
            </a:r>
          </a:p>
        </p:txBody>
      </p:sp>
      <p:sp>
        <p:nvSpPr>
          <p:cNvPr id="4" name="Retângulo 3">
            <a:extLst>
              <a:ext uri="{FF2B5EF4-FFF2-40B4-BE49-F238E27FC236}">
                <a16:creationId xmlns:a16="http://schemas.microsoft.com/office/drawing/2014/main" id="{012C58A6-A74E-6D7B-25D9-956EE829222D}"/>
              </a:ext>
            </a:extLst>
          </p:cNvPr>
          <p:cNvSpPr/>
          <p:nvPr/>
        </p:nvSpPr>
        <p:spPr>
          <a:xfrm>
            <a:off x="2375338" y="1988006"/>
            <a:ext cx="2869324" cy="1776248"/>
          </a:xfrm>
          <a:prstGeom prst="rect">
            <a:avLst/>
          </a:prstGeom>
          <a:solidFill>
            <a:schemeClr val="bg1">
              <a:alpha val="7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8" name="Retângulo 7">
            <a:extLst>
              <a:ext uri="{FF2B5EF4-FFF2-40B4-BE49-F238E27FC236}">
                <a16:creationId xmlns:a16="http://schemas.microsoft.com/office/drawing/2014/main" id="{F98168A0-C5DC-DF0C-CF4D-94A99FACCE6D}"/>
              </a:ext>
            </a:extLst>
          </p:cNvPr>
          <p:cNvSpPr/>
          <p:nvPr/>
        </p:nvSpPr>
        <p:spPr>
          <a:xfrm>
            <a:off x="1120608" y="4212165"/>
            <a:ext cx="3601170" cy="1776248"/>
          </a:xfrm>
          <a:prstGeom prst="rect">
            <a:avLst/>
          </a:prstGeom>
          <a:solidFill>
            <a:schemeClr val="bg1">
              <a:alpha val="7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1432153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D5B010-D389-9F24-88DD-ABD819024EF4}"/>
              </a:ext>
            </a:extLst>
          </p:cNvPr>
          <p:cNvSpPr>
            <a:spLocks noGrp="1"/>
          </p:cNvSpPr>
          <p:nvPr>
            <p:ph type="title"/>
          </p:nvPr>
        </p:nvSpPr>
        <p:spPr/>
        <p:txBody>
          <a:bodyPr/>
          <a:lstStyle/>
          <a:p>
            <a:r>
              <a:rPr lang="pt-BR" dirty="0"/>
              <a:t>Hardware</a:t>
            </a:r>
          </a:p>
        </p:txBody>
      </p:sp>
      <p:sp>
        <p:nvSpPr>
          <p:cNvPr id="3" name="Espaço Reservado para Conteúdo 2">
            <a:extLst>
              <a:ext uri="{FF2B5EF4-FFF2-40B4-BE49-F238E27FC236}">
                <a16:creationId xmlns:a16="http://schemas.microsoft.com/office/drawing/2014/main" id="{89919961-CFD1-9874-E040-C32CC360CB7B}"/>
              </a:ext>
            </a:extLst>
          </p:cNvPr>
          <p:cNvSpPr>
            <a:spLocks noGrp="1"/>
          </p:cNvSpPr>
          <p:nvPr>
            <p:ph idx="1"/>
          </p:nvPr>
        </p:nvSpPr>
        <p:spPr>
          <a:xfrm>
            <a:off x="5381783" y="1825624"/>
            <a:ext cx="6614274" cy="5032375"/>
          </a:xfrm>
        </p:spPr>
        <p:txBody>
          <a:bodyPr>
            <a:normAutofit/>
          </a:bodyPr>
          <a:lstStyle/>
          <a:p>
            <a:r>
              <a:rPr lang="pt-BR" b="1" dirty="0"/>
              <a:t>Memória volátil</a:t>
            </a:r>
            <a:r>
              <a:rPr lang="pt-BR" dirty="0"/>
              <a:t>: </a:t>
            </a:r>
            <a:r>
              <a:rPr lang="pt-BR" b="1" i="1" dirty="0">
                <a:solidFill>
                  <a:srgbClr val="00B050"/>
                </a:solidFill>
                <a:effectLst/>
              </a:rPr>
              <a:t>armazena temporariamente dados e instruções sendo processados pela CPU</a:t>
            </a:r>
            <a:r>
              <a:rPr lang="pt-BR" i="0" dirty="0">
                <a:effectLst/>
              </a:rPr>
              <a:t>.</a:t>
            </a:r>
          </a:p>
          <a:p>
            <a:pPr lvl="1">
              <a:buFont typeface="Wingdings" panose="05000000000000000000" pitchFamily="2" charset="2"/>
              <a:buChar char="§"/>
            </a:pPr>
            <a:r>
              <a:rPr lang="pt-BR" i="0" dirty="0">
                <a:effectLst/>
              </a:rPr>
              <a:t>Exemplos: RAM e a cache do processador.</a:t>
            </a:r>
          </a:p>
        </p:txBody>
      </p:sp>
      <p:pic>
        <p:nvPicPr>
          <p:cNvPr id="3076" name="Picture 4" descr="Intel PNG Images Transparent Free Download | PNGMart">
            <a:extLst>
              <a:ext uri="{FF2B5EF4-FFF2-40B4-BE49-F238E27FC236}">
                <a16:creationId xmlns:a16="http://schemas.microsoft.com/office/drawing/2014/main" id="{E0D6BF7A-CBA0-FFC0-CE24-D00179B2B11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5944" y="2235794"/>
            <a:ext cx="2056255" cy="1741086"/>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Ram white background Stock Photos, Royalty Free Ram white background Images  | Depositphotos">
            <a:extLst>
              <a:ext uri="{FF2B5EF4-FFF2-40B4-BE49-F238E27FC236}">
                <a16:creationId xmlns:a16="http://schemas.microsoft.com/office/drawing/2014/main" id="{B4E42250-58D2-E294-1B36-D464E3119D9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297" t="20674" r="4755" b="23858"/>
          <a:stretch/>
        </p:blipFill>
        <p:spPr bwMode="auto">
          <a:xfrm>
            <a:off x="2481018" y="2583716"/>
            <a:ext cx="2671945" cy="1062998"/>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Ssd Background Png - Samsung It 1tb 2.5&quot; 840 Evo Sataiii Ssd Transparent  PNG - 876x420 - Free Download on NicePNG">
            <a:extLst>
              <a:ext uri="{FF2B5EF4-FFF2-40B4-BE49-F238E27FC236}">
                <a16:creationId xmlns:a16="http://schemas.microsoft.com/office/drawing/2014/main" id="{AEB344B2-8DEA-A8F9-7E58-15A6044E3C56}"/>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498" t="9081" r="2195" b="2082"/>
          <a:stretch/>
        </p:blipFill>
        <p:spPr bwMode="auto">
          <a:xfrm>
            <a:off x="1389827" y="4594000"/>
            <a:ext cx="2671946" cy="1340565"/>
          </a:xfrm>
          <a:prstGeom prst="rect">
            <a:avLst/>
          </a:prstGeom>
          <a:noFill/>
          <a:extLst>
            <a:ext uri="{909E8E84-426E-40DD-AFC4-6F175D3DCCD1}">
              <a14:hiddenFill xmlns:a14="http://schemas.microsoft.com/office/drawing/2010/main">
                <a:solidFill>
                  <a:srgbClr val="FFFFFF"/>
                </a:solidFill>
              </a14:hiddenFill>
            </a:ext>
          </a:extLst>
        </p:spPr>
      </p:pic>
      <p:sp>
        <p:nvSpPr>
          <p:cNvPr id="5" name="CaixaDeTexto 4">
            <a:extLst>
              <a:ext uri="{FF2B5EF4-FFF2-40B4-BE49-F238E27FC236}">
                <a16:creationId xmlns:a16="http://schemas.microsoft.com/office/drawing/2014/main" id="{15B09719-877B-0B03-8617-606D5CDBFDB1}"/>
              </a:ext>
            </a:extLst>
          </p:cNvPr>
          <p:cNvSpPr txBox="1"/>
          <p:nvPr/>
        </p:nvSpPr>
        <p:spPr>
          <a:xfrm>
            <a:off x="1167836" y="1988006"/>
            <a:ext cx="580776" cy="369332"/>
          </a:xfrm>
          <a:prstGeom prst="rect">
            <a:avLst/>
          </a:prstGeom>
          <a:noFill/>
        </p:spPr>
        <p:txBody>
          <a:bodyPr wrap="square" rtlCol="0">
            <a:spAutoFit/>
          </a:bodyPr>
          <a:lstStyle/>
          <a:p>
            <a:pPr algn="ctr"/>
            <a:r>
              <a:rPr lang="pt-BR" b="1" dirty="0"/>
              <a:t>CPU</a:t>
            </a:r>
          </a:p>
        </p:txBody>
      </p:sp>
      <p:sp>
        <p:nvSpPr>
          <p:cNvPr id="6" name="CaixaDeTexto 5">
            <a:extLst>
              <a:ext uri="{FF2B5EF4-FFF2-40B4-BE49-F238E27FC236}">
                <a16:creationId xmlns:a16="http://schemas.microsoft.com/office/drawing/2014/main" id="{508D7EF1-8E4B-B507-D5FE-56EF8EF5C9C9}"/>
              </a:ext>
            </a:extLst>
          </p:cNvPr>
          <p:cNvSpPr txBox="1"/>
          <p:nvPr/>
        </p:nvSpPr>
        <p:spPr>
          <a:xfrm>
            <a:off x="2481018" y="2172672"/>
            <a:ext cx="1885522" cy="646331"/>
          </a:xfrm>
          <a:prstGeom prst="rect">
            <a:avLst/>
          </a:prstGeom>
          <a:noFill/>
        </p:spPr>
        <p:txBody>
          <a:bodyPr wrap="square" rtlCol="0">
            <a:spAutoFit/>
          </a:bodyPr>
          <a:lstStyle/>
          <a:p>
            <a:pPr algn="ctr"/>
            <a:r>
              <a:rPr lang="pt-BR" b="1" dirty="0"/>
              <a:t>Armazenamento de curto prazo</a:t>
            </a:r>
          </a:p>
        </p:txBody>
      </p:sp>
      <p:sp>
        <p:nvSpPr>
          <p:cNvPr id="7" name="CaixaDeTexto 6">
            <a:extLst>
              <a:ext uri="{FF2B5EF4-FFF2-40B4-BE49-F238E27FC236}">
                <a16:creationId xmlns:a16="http://schemas.microsoft.com/office/drawing/2014/main" id="{AA7F6C35-840A-E9AF-DB8B-4AFC270AC1D9}"/>
              </a:ext>
            </a:extLst>
          </p:cNvPr>
          <p:cNvSpPr txBox="1"/>
          <p:nvPr/>
        </p:nvSpPr>
        <p:spPr>
          <a:xfrm>
            <a:off x="903878" y="4179266"/>
            <a:ext cx="3817900" cy="369332"/>
          </a:xfrm>
          <a:prstGeom prst="rect">
            <a:avLst/>
          </a:prstGeom>
          <a:noFill/>
        </p:spPr>
        <p:txBody>
          <a:bodyPr wrap="square" rtlCol="0">
            <a:spAutoFit/>
          </a:bodyPr>
          <a:lstStyle/>
          <a:p>
            <a:pPr algn="ctr"/>
            <a:r>
              <a:rPr lang="pt-BR" b="1" dirty="0"/>
              <a:t>Armazenamento de longo prazo</a:t>
            </a:r>
          </a:p>
        </p:txBody>
      </p:sp>
      <p:sp>
        <p:nvSpPr>
          <p:cNvPr id="4" name="Retângulo 3">
            <a:extLst>
              <a:ext uri="{FF2B5EF4-FFF2-40B4-BE49-F238E27FC236}">
                <a16:creationId xmlns:a16="http://schemas.microsoft.com/office/drawing/2014/main" id="{123C1250-94ED-FA28-A8CB-BE10BFE6770F}"/>
              </a:ext>
            </a:extLst>
          </p:cNvPr>
          <p:cNvSpPr/>
          <p:nvPr/>
        </p:nvSpPr>
        <p:spPr>
          <a:xfrm>
            <a:off x="0" y="1938476"/>
            <a:ext cx="2252198" cy="2195388"/>
          </a:xfrm>
          <a:prstGeom prst="rect">
            <a:avLst/>
          </a:prstGeom>
          <a:solidFill>
            <a:schemeClr val="bg1">
              <a:alpha val="7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8" name="Retângulo 7">
            <a:extLst>
              <a:ext uri="{FF2B5EF4-FFF2-40B4-BE49-F238E27FC236}">
                <a16:creationId xmlns:a16="http://schemas.microsoft.com/office/drawing/2014/main" id="{C4297711-F27D-7623-3894-BBF37A03D8F6}"/>
              </a:ext>
            </a:extLst>
          </p:cNvPr>
          <p:cNvSpPr/>
          <p:nvPr/>
        </p:nvSpPr>
        <p:spPr>
          <a:xfrm>
            <a:off x="734658" y="4224668"/>
            <a:ext cx="3817899" cy="2195388"/>
          </a:xfrm>
          <a:prstGeom prst="rect">
            <a:avLst/>
          </a:prstGeom>
          <a:solidFill>
            <a:schemeClr val="bg1">
              <a:alpha val="7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1120878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D5B010-D389-9F24-88DD-ABD819024EF4}"/>
              </a:ext>
            </a:extLst>
          </p:cNvPr>
          <p:cNvSpPr>
            <a:spLocks noGrp="1"/>
          </p:cNvSpPr>
          <p:nvPr>
            <p:ph type="title"/>
          </p:nvPr>
        </p:nvSpPr>
        <p:spPr/>
        <p:txBody>
          <a:bodyPr/>
          <a:lstStyle/>
          <a:p>
            <a:r>
              <a:rPr lang="pt-BR" dirty="0"/>
              <a:t>Hardware</a:t>
            </a:r>
          </a:p>
        </p:txBody>
      </p:sp>
      <p:sp>
        <p:nvSpPr>
          <p:cNvPr id="3" name="Espaço Reservado para Conteúdo 2">
            <a:extLst>
              <a:ext uri="{FF2B5EF4-FFF2-40B4-BE49-F238E27FC236}">
                <a16:creationId xmlns:a16="http://schemas.microsoft.com/office/drawing/2014/main" id="{89919961-CFD1-9874-E040-C32CC360CB7B}"/>
              </a:ext>
            </a:extLst>
          </p:cNvPr>
          <p:cNvSpPr>
            <a:spLocks noGrp="1"/>
          </p:cNvSpPr>
          <p:nvPr>
            <p:ph idx="1"/>
          </p:nvPr>
        </p:nvSpPr>
        <p:spPr>
          <a:xfrm>
            <a:off x="5381783" y="1825624"/>
            <a:ext cx="6614274" cy="5032375"/>
          </a:xfrm>
        </p:spPr>
        <p:txBody>
          <a:bodyPr>
            <a:normAutofit/>
          </a:bodyPr>
          <a:lstStyle/>
          <a:p>
            <a:r>
              <a:rPr lang="pt-BR" b="1" dirty="0"/>
              <a:t>Memória não-volátil</a:t>
            </a:r>
            <a:r>
              <a:rPr lang="pt-BR" dirty="0"/>
              <a:t>: </a:t>
            </a:r>
            <a:r>
              <a:rPr lang="pt-BR" b="1" i="1" dirty="0">
                <a:solidFill>
                  <a:srgbClr val="7030A0"/>
                </a:solidFill>
                <a:effectLst/>
              </a:rPr>
              <a:t>armazena permanentemente arquivos</a:t>
            </a:r>
            <a:r>
              <a:rPr lang="pt-BR" b="0" i="0" dirty="0">
                <a:effectLst/>
              </a:rPr>
              <a:t>, programas e outros dados que podem ser acessados posteriormente mesmo após sistema ser reiniciado.</a:t>
            </a:r>
          </a:p>
          <a:p>
            <a:pPr lvl="1">
              <a:buFont typeface="Wingdings" panose="05000000000000000000" pitchFamily="2" charset="2"/>
              <a:buChar char="§"/>
            </a:pPr>
            <a:r>
              <a:rPr lang="pt-BR" b="0" i="0" dirty="0">
                <a:effectLst/>
              </a:rPr>
              <a:t>Exemplos: discos rígidos (HDs), unidades de estado sólido (</a:t>
            </a:r>
            <a:r>
              <a:rPr lang="pt-BR" b="0" i="0" dirty="0" err="1">
                <a:effectLst/>
              </a:rPr>
              <a:t>SSDs</a:t>
            </a:r>
            <a:r>
              <a:rPr lang="pt-BR" b="0" i="0" dirty="0">
                <a:effectLst/>
              </a:rPr>
              <a:t>), memória </a:t>
            </a:r>
            <a:r>
              <a:rPr lang="pt-BR" b="0" i="1" dirty="0">
                <a:effectLst/>
              </a:rPr>
              <a:t>flash</a:t>
            </a:r>
            <a:r>
              <a:rPr lang="pt-BR" b="0" i="0" dirty="0">
                <a:effectLst/>
              </a:rPr>
              <a:t> e memória de acesso aleatório não volátil (NVRAM). </a:t>
            </a:r>
            <a:endParaRPr lang="pt-BR" i="0" dirty="0">
              <a:effectLst/>
            </a:endParaRPr>
          </a:p>
        </p:txBody>
      </p:sp>
      <p:pic>
        <p:nvPicPr>
          <p:cNvPr id="3076" name="Picture 4" descr="Intel PNG Images Transparent Free Download | PNGMart">
            <a:extLst>
              <a:ext uri="{FF2B5EF4-FFF2-40B4-BE49-F238E27FC236}">
                <a16:creationId xmlns:a16="http://schemas.microsoft.com/office/drawing/2014/main" id="{E0D6BF7A-CBA0-FFC0-CE24-D00179B2B11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5944" y="2235794"/>
            <a:ext cx="2056255" cy="1741086"/>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Ram white background Stock Photos, Royalty Free Ram white background Images  | Depositphotos">
            <a:extLst>
              <a:ext uri="{FF2B5EF4-FFF2-40B4-BE49-F238E27FC236}">
                <a16:creationId xmlns:a16="http://schemas.microsoft.com/office/drawing/2014/main" id="{B4E42250-58D2-E294-1B36-D464E3119D9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297" t="20674" r="4755" b="23858"/>
          <a:stretch/>
        </p:blipFill>
        <p:spPr bwMode="auto">
          <a:xfrm>
            <a:off x="2481018" y="2583716"/>
            <a:ext cx="2671945" cy="1062998"/>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Ssd Background Png - Samsung It 1tb 2.5&quot; 840 Evo Sataiii Ssd Transparent  PNG - 876x420 - Free Download on NicePNG">
            <a:extLst>
              <a:ext uri="{FF2B5EF4-FFF2-40B4-BE49-F238E27FC236}">
                <a16:creationId xmlns:a16="http://schemas.microsoft.com/office/drawing/2014/main" id="{AEB344B2-8DEA-A8F9-7E58-15A6044E3C56}"/>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498" t="9081" r="2195" b="2082"/>
          <a:stretch/>
        </p:blipFill>
        <p:spPr bwMode="auto">
          <a:xfrm>
            <a:off x="1389827" y="4594000"/>
            <a:ext cx="2671946" cy="1340565"/>
          </a:xfrm>
          <a:prstGeom prst="rect">
            <a:avLst/>
          </a:prstGeom>
          <a:noFill/>
          <a:extLst>
            <a:ext uri="{909E8E84-426E-40DD-AFC4-6F175D3DCCD1}">
              <a14:hiddenFill xmlns:a14="http://schemas.microsoft.com/office/drawing/2010/main">
                <a:solidFill>
                  <a:srgbClr val="FFFFFF"/>
                </a:solidFill>
              </a14:hiddenFill>
            </a:ext>
          </a:extLst>
        </p:spPr>
      </p:pic>
      <p:sp>
        <p:nvSpPr>
          <p:cNvPr id="5" name="CaixaDeTexto 4">
            <a:extLst>
              <a:ext uri="{FF2B5EF4-FFF2-40B4-BE49-F238E27FC236}">
                <a16:creationId xmlns:a16="http://schemas.microsoft.com/office/drawing/2014/main" id="{15B09719-877B-0B03-8617-606D5CDBFDB1}"/>
              </a:ext>
            </a:extLst>
          </p:cNvPr>
          <p:cNvSpPr txBox="1"/>
          <p:nvPr/>
        </p:nvSpPr>
        <p:spPr>
          <a:xfrm>
            <a:off x="1167836" y="1988006"/>
            <a:ext cx="580776" cy="369332"/>
          </a:xfrm>
          <a:prstGeom prst="rect">
            <a:avLst/>
          </a:prstGeom>
          <a:noFill/>
        </p:spPr>
        <p:txBody>
          <a:bodyPr wrap="square" rtlCol="0">
            <a:spAutoFit/>
          </a:bodyPr>
          <a:lstStyle/>
          <a:p>
            <a:pPr algn="ctr"/>
            <a:r>
              <a:rPr lang="pt-BR" b="1" dirty="0"/>
              <a:t>CPU</a:t>
            </a:r>
          </a:p>
        </p:txBody>
      </p:sp>
      <p:sp>
        <p:nvSpPr>
          <p:cNvPr id="6" name="CaixaDeTexto 5">
            <a:extLst>
              <a:ext uri="{FF2B5EF4-FFF2-40B4-BE49-F238E27FC236}">
                <a16:creationId xmlns:a16="http://schemas.microsoft.com/office/drawing/2014/main" id="{508D7EF1-8E4B-B507-D5FE-56EF8EF5C9C9}"/>
              </a:ext>
            </a:extLst>
          </p:cNvPr>
          <p:cNvSpPr txBox="1"/>
          <p:nvPr/>
        </p:nvSpPr>
        <p:spPr>
          <a:xfrm>
            <a:off x="2481018" y="2172672"/>
            <a:ext cx="1885522" cy="646331"/>
          </a:xfrm>
          <a:prstGeom prst="rect">
            <a:avLst/>
          </a:prstGeom>
          <a:noFill/>
        </p:spPr>
        <p:txBody>
          <a:bodyPr wrap="square" rtlCol="0">
            <a:spAutoFit/>
          </a:bodyPr>
          <a:lstStyle/>
          <a:p>
            <a:pPr algn="ctr"/>
            <a:r>
              <a:rPr lang="pt-BR" b="1" dirty="0"/>
              <a:t>Armazenamento de curto prazo</a:t>
            </a:r>
          </a:p>
        </p:txBody>
      </p:sp>
      <p:sp>
        <p:nvSpPr>
          <p:cNvPr id="7" name="CaixaDeTexto 6">
            <a:extLst>
              <a:ext uri="{FF2B5EF4-FFF2-40B4-BE49-F238E27FC236}">
                <a16:creationId xmlns:a16="http://schemas.microsoft.com/office/drawing/2014/main" id="{AA7F6C35-840A-E9AF-DB8B-4AFC270AC1D9}"/>
              </a:ext>
            </a:extLst>
          </p:cNvPr>
          <p:cNvSpPr txBox="1"/>
          <p:nvPr/>
        </p:nvSpPr>
        <p:spPr>
          <a:xfrm>
            <a:off x="788505" y="4179266"/>
            <a:ext cx="3817900" cy="369332"/>
          </a:xfrm>
          <a:prstGeom prst="rect">
            <a:avLst/>
          </a:prstGeom>
          <a:noFill/>
        </p:spPr>
        <p:txBody>
          <a:bodyPr wrap="square" rtlCol="0">
            <a:spAutoFit/>
          </a:bodyPr>
          <a:lstStyle/>
          <a:p>
            <a:pPr algn="ctr"/>
            <a:r>
              <a:rPr lang="pt-BR" b="1" dirty="0"/>
              <a:t>Armazenamento de longo prazo</a:t>
            </a:r>
          </a:p>
        </p:txBody>
      </p:sp>
      <p:sp>
        <p:nvSpPr>
          <p:cNvPr id="4" name="Retângulo 3">
            <a:extLst>
              <a:ext uri="{FF2B5EF4-FFF2-40B4-BE49-F238E27FC236}">
                <a16:creationId xmlns:a16="http://schemas.microsoft.com/office/drawing/2014/main" id="{D24152D4-8BAB-B5DB-C155-B1487F0535E0}"/>
              </a:ext>
            </a:extLst>
          </p:cNvPr>
          <p:cNvSpPr/>
          <p:nvPr/>
        </p:nvSpPr>
        <p:spPr>
          <a:xfrm>
            <a:off x="0" y="1938476"/>
            <a:ext cx="2252198" cy="2195388"/>
          </a:xfrm>
          <a:prstGeom prst="rect">
            <a:avLst/>
          </a:prstGeom>
          <a:solidFill>
            <a:schemeClr val="bg1">
              <a:alpha val="7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8" name="Retângulo 7">
            <a:extLst>
              <a:ext uri="{FF2B5EF4-FFF2-40B4-BE49-F238E27FC236}">
                <a16:creationId xmlns:a16="http://schemas.microsoft.com/office/drawing/2014/main" id="{246505FC-90F7-1115-B3F1-ECA1AF7C350C}"/>
              </a:ext>
            </a:extLst>
          </p:cNvPr>
          <p:cNvSpPr/>
          <p:nvPr/>
        </p:nvSpPr>
        <p:spPr>
          <a:xfrm>
            <a:off x="2293934" y="1983878"/>
            <a:ext cx="2950727" cy="2195388"/>
          </a:xfrm>
          <a:prstGeom prst="rect">
            <a:avLst/>
          </a:prstGeom>
          <a:solidFill>
            <a:schemeClr val="bg1">
              <a:alpha val="7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2427121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D5B010-D389-9F24-88DD-ABD819024EF4}"/>
              </a:ext>
            </a:extLst>
          </p:cNvPr>
          <p:cNvSpPr>
            <a:spLocks noGrp="1"/>
          </p:cNvSpPr>
          <p:nvPr>
            <p:ph type="title"/>
          </p:nvPr>
        </p:nvSpPr>
        <p:spPr/>
        <p:txBody>
          <a:bodyPr/>
          <a:lstStyle/>
          <a:p>
            <a:r>
              <a:rPr lang="pt-BR" dirty="0"/>
              <a:t>Hardware</a:t>
            </a:r>
          </a:p>
        </p:txBody>
      </p:sp>
      <p:sp>
        <p:nvSpPr>
          <p:cNvPr id="3" name="Espaço Reservado para Conteúdo 2">
            <a:extLst>
              <a:ext uri="{FF2B5EF4-FFF2-40B4-BE49-F238E27FC236}">
                <a16:creationId xmlns:a16="http://schemas.microsoft.com/office/drawing/2014/main" id="{89919961-CFD1-9874-E040-C32CC360CB7B}"/>
              </a:ext>
            </a:extLst>
          </p:cNvPr>
          <p:cNvSpPr>
            <a:spLocks noGrp="1"/>
          </p:cNvSpPr>
          <p:nvPr>
            <p:ph idx="1"/>
          </p:nvPr>
        </p:nvSpPr>
        <p:spPr>
          <a:xfrm>
            <a:off x="6370983" y="1825624"/>
            <a:ext cx="5625074" cy="5032375"/>
          </a:xfrm>
        </p:spPr>
        <p:txBody>
          <a:bodyPr>
            <a:normAutofit/>
          </a:bodyPr>
          <a:lstStyle/>
          <a:p>
            <a:r>
              <a:rPr lang="pt-BR" dirty="0"/>
              <a:t>Mas percebam que todos eles são </a:t>
            </a:r>
            <a:r>
              <a:rPr lang="pt-BR" b="1" i="1" dirty="0"/>
              <a:t>componentes separados</a:t>
            </a:r>
            <a:r>
              <a:rPr lang="pt-BR" dirty="0"/>
              <a:t>.</a:t>
            </a:r>
          </a:p>
          <a:p>
            <a:r>
              <a:rPr lang="pt-BR" dirty="0">
                <a:effectLst/>
              </a:rPr>
              <a:t>Discutiremos mais sobre isso </a:t>
            </a:r>
            <a:r>
              <a:rPr lang="pt-BR" dirty="0"/>
              <a:t>na sequência</a:t>
            </a:r>
            <a:endParaRPr lang="pt-BR" dirty="0">
              <a:effectLst/>
            </a:endParaRPr>
          </a:p>
        </p:txBody>
      </p:sp>
      <p:pic>
        <p:nvPicPr>
          <p:cNvPr id="1026" name="Picture 2" descr="Fotografia do Stock: Computer Hardware, hard drive, cpu, ram, vga card, and  Motherboard, on Wooden Floor | Adobe Stock">
            <a:extLst>
              <a:ext uri="{FF2B5EF4-FFF2-40B4-BE49-F238E27FC236}">
                <a16:creationId xmlns:a16="http://schemas.microsoft.com/office/drawing/2014/main" id="{C37B45C3-88C9-F64B-563C-893089DC7DF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68"/>
          <a:stretch/>
        </p:blipFill>
        <p:spPr bwMode="auto">
          <a:xfrm>
            <a:off x="339812" y="2196545"/>
            <a:ext cx="5756188" cy="3985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4896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D9FEA643-8A9F-77B8-9B0B-66484FEBBB9D}"/>
              </a:ext>
            </a:extLst>
          </p:cNvPr>
          <p:cNvSpPr>
            <a:spLocks noGrp="1"/>
          </p:cNvSpPr>
          <p:nvPr>
            <p:ph idx="1"/>
          </p:nvPr>
        </p:nvSpPr>
        <p:spPr>
          <a:xfrm>
            <a:off x="838200" y="2126171"/>
            <a:ext cx="10515600" cy="2605657"/>
          </a:xfrm>
        </p:spPr>
        <p:txBody>
          <a:bodyPr>
            <a:normAutofit/>
          </a:bodyPr>
          <a:lstStyle/>
          <a:p>
            <a:pPr marL="0" indent="0" algn="ctr">
              <a:buNone/>
            </a:pPr>
            <a:r>
              <a:rPr lang="pt-BR" sz="6000" b="1" i="1" dirty="0">
                <a:solidFill>
                  <a:srgbClr val="7030A0"/>
                </a:solidFill>
              </a:rPr>
              <a:t>Porém, em geral, sistemas embarcados possuem microcontroladores! </a:t>
            </a:r>
          </a:p>
        </p:txBody>
      </p:sp>
    </p:spTree>
    <p:extLst>
      <p:ext uri="{BB962C8B-B14F-4D97-AF65-F5344CB8AC3E}">
        <p14:creationId xmlns:p14="http://schemas.microsoft.com/office/powerpoint/2010/main" val="11596725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BD78C-3220-336D-74DB-A81A13EDE137}"/>
            </a:ext>
          </a:extLst>
        </p:cNvPr>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4EB561AC-16FA-A92E-C82F-F5A9FD7A7CC7}"/>
              </a:ext>
            </a:extLst>
          </p:cNvPr>
          <p:cNvSpPr>
            <a:spLocks noGrp="1"/>
          </p:cNvSpPr>
          <p:nvPr>
            <p:ph idx="1"/>
          </p:nvPr>
        </p:nvSpPr>
        <p:spPr>
          <a:xfrm>
            <a:off x="838200" y="2248348"/>
            <a:ext cx="10515600" cy="2988474"/>
          </a:xfrm>
        </p:spPr>
        <p:txBody>
          <a:bodyPr>
            <a:normAutofit/>
          </a:bodyPr>
          <a:lstStyle/>
          <a:p>
            <a:pPr marL="0" indent="0" algn="ctr">
              <a:buNone/>
            </a:pPr>
            <a:r>
              <a:rPr lang="pt-BR" sz="6000" dirty="0"/>
              <a:t>Micro</a:t>
            </a:r>
            <a:r>
              <a:rPr lang="pt-BR" sz="6000" b="1" i="1" dirty="0">
                <a:solidFill>
                  <a:srgbClr val="00B050"/>
                </a:solidFill>
              </a:rPr>
              <a:t>processador</a:t>
            </a:r>
          </a:p>
          <a:p>
            <a:pPr marL="0" indent="0" algn="ctr">
              <a:buNone/>
            </a:pPr>
            <a:r>
              <a:rPr lang="pt-BR" sz="6000" dirty="0"/>
              <a:t>versus</a:t>
            </a:r>
          </a:p>
          <a:p>
            <a:pPr marL="0" indent="0" algn="ctr">
              <a:buNone/>
            </a:pPr>
            <a:r>
              <a:rPr lang="pt-BR" sz="6000" dirty="0"/>
              <a:t>Micro</a:t>
            </a:r>
            <a:r>
              <a:rPr lang="pt-BR" sz="6000" b="1" i="1" dirty="0">
                <a:solidFill>
                  <a:srgbClr val="00B050"/>
                </a:solidFill>
              </a:rPr>
              <a:t>controlador</a:t>
            </a:r>
          </a:p>
        </p:txBody>
      </p:sp>
    </p:spTree>
    <p:extLst>
      <p:ext uri="{BB962C8B-B14F-4D97-AF65-F5344CB8AC3E}">
        <p14:creationId xmlns:p14="http://schemas.microsoft.com/office/powerpoint/2010/main" val="16116667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D0973F-D2B2-1D1F-BABA-5460CE496DC0}"/>
              </a:ext>
            </a:extLst>
          </p:cNvPr>
          <p:cNvSpPr>
            <a:spLocks noGrp="1"/>
          </p:cNvSpPr>
          <p:nvPr>
            <p:ph type="title"/>
          </p:nvPr>
        </p:nvSpPr>
        <p:spPr/>
        <p:txBody>
          <a:bodyPr/>
          <a:lstStyle/>
          <a:p>
            <a:r>
              <a:rPr lang="pt-BR" dirty="0"/>
              <a:t>Microprocessador: apenas uma peça do quebra-cabeças</a:t>
            </a:r>
          </a:p>
        </p:txBody>
      </p:sp>
      <p:sp>
        <p:nvSpPr>
          <p:cNvPr id="3" name="Espaço Reservado para Conteúdo 2">
            <a:extLst>
              <a:ext uri="{FF2B5EF4-FFF2-40B4-BE49-F238E27FC236}">
                <a16:creationId xmlns:a16="http://schemas.microsoft.com/office/drawing/2014/main" id="{C03DD8FA-22C9-F5AB-A6A8-FF66C22C6933}"/>
              </a:ext>
            </a:extLst>
          </p:cNvPr>
          <p:cNvSpPr>
            <a:spLocks noGrp="1"/>
          </p:cNvSpPr>
          <p:nvPr>
            <p:ph idx="1"/>
          </p:nvPr>
        </p:nvSpPr>
        <p:spPr>
          <a:xfrm>
            <a:off x="6629401" y="1825624"/>
            <a:ext cx="5478516" cy="5032375"/>
          </a:xfrm>
        </p:spPr>
        <p:txBody>
          <a:bodyPr>
            <a:normAutofit/>
          </a:bodyPr>
          <a:lstStyle/>
          <a:p>
            <a:r>
              <a:rPr lang="pt-BR" dirty="0"/>
              <a:t>A CPU é a </a:t>
            </a:r>
            <a:r>
              <a:rPr lang="pt-BR" b="1" i="1" dirty="0"/>
              <a:t>parte principal do computador</a:t>
            </a:r>
            <a:r>
              <a:rPr lang="pt-BR" dirty="0"/>
              <a:t>, mas para que ela funcione, </a:t>
            </a:r>
            <a:r>
              <a:rPr lang="pt-BR" b="1" i="1" dirty="0"/>
              <a:t>são necessários outros componentes</a:t>
            </a:r>
            <a:r>
              <a:rPr lang="pt-BR" dirty="0"/>
              <a:t>, como: </a:t>
            </a:r>
          </a:p>
          <a:p>
            <a:pPr lvl="1">
              <a:buFont typeface="Wingdings" panose="05000000000000000000" pitchFamily="2" charset="2"/>
              <a:buChar char="§"/>
            </a:pPr>
            <a:r>
              <a:rPr lang="pt-BR" dirty="0"/>
              <a:t>sistema de </a:t>
            </a:r>
            <a:r>
              <a:rPr lang="pt-BR" i="1" dirty="0" err="1"/>
              <a:t>clock</a:t>
            </a:r>
            <a:endParaRPr lang="pt-BR" dirty="0"/>
          </a:p>
          <a:p>
            <a:pPr lvl="1">
              <a:buFont typeface="Wingdings" panose="05000000000000000000" pitchFamily="2" charset="2"/>
              <a:buChar char="§"/>
            </a:pPr>
            <a:r>
              <a:rPr lang="pt-BR" dirty="0"/>
              <a:t>memórias volátil e não-volátil, </a:t>
            </a:r>
          </a:p>
          <a:p>
            <a:pPr lvl="1">
              <a:buFont typeface="Wingdings" panose="05000000000000000000" pitchFamily="2" charset="2"/>
              <a:buChar char="§"/>
            </a:pPr>
            <a:r>
              <a:rPr lang="pt-BR" dirty="0"/>
              <a:t>controladores de I/O, </a:t>
            </a:r>
          </a:p>
          <a:p>
            <a:pPr lvl="1">
              <a:buFont typeface="Wingdings" panose="05000000000000000000" pitchFamily="2" charset="2"/>
              <a:buChar char="§"/>
            </a:pPr>
            <a:r>
              <a:rPr lang="pt-BR" dirty="0"/>
              <a:t>interfaces de comunicação, </a:t>
            </a:r>
          </a:p>
          <a:p>
            <a:pPr lvl="1">
              <a:buFont typeface="Wingdings" panose="05000000000000000000" pitchFamily="2" charset="2"/>
              <a:buChar char="§"/>
            </a:pPr>
            <a:r>
              <a:rPr lang="pt-BR" dirty="0"/>
              <a:t>timers,</a:t>
            </a:r>
          </a:p>
          <a:p>
            <a:pPr lvl="1">
              <a:buFont typeface="Wingdings" panose="05000000000000000000" pitchFamily="2" charset="2"/>
              <a:buChar char="§"/>
            </a:pPr>
            <a:r>
              <a:rPr lang="pt-BR" dirty="0"/>
              <a:t>etc.</a:t>
            </a:r>
          </a:p>
        </p:txBody>
      </p:sp>
      <p:grpSp>
        <p:nvGrpSpPr>
          <p:cNvPr id="14" name="Agrupar 13">
            <a:extLst>
              <a:ext uri="{FF2B5EF4-FFF2-40B4-BE49-F238E27FC236}">
                <a16:creationId xmlns:a16="http://schemas.microsoft.com/office/drawing/2014/main" id="{30367650-A702-9AA3-F2F4-C7AA726DAA09}"/>
              </a:ext>
            </a:extLst>
          </p:cNvPr>
          <p:cNvGrpSpPr/>
          <p:nvPr/>
        </p:nvGrpSpPr>
        <p:grpSpPr>
          <a:xfrm>
            <a:off x="240842" y="2289402"/>
            <a:ext cx="6192610" cy="2766103"/>
            <a:chOff x="1035505" y="2006374"/>
            <a:chExt cx="6192610" cy="2766103"/>
          </a:xfrm>
        </p:grpSpPr>
        <p:sp>
          <p:nvSpPr>
            <p:cNvPr id="5" name="Retângulo 4">
              <a:extLst>
                <a:ext uri="{FF2B5EF4-FFF2-40B4-BE49-F238E27FC236}">
                  <a16:creationId xmlns:a16="http://schemas.microsoft.com/office/drawing/2014/main" id="{3C4DEE34-0E69-8818-3384-3458A2C40144}"/>
                </a:ext>
              </a:extLst>
            </p:cNvPr>
            <p:cNvSpPr/>
            <p:nvPr/>
          </p:nvSpPr>
          <p:spPr>
            <a:xfrm>
              <a:off x="1035505" y="2991873"/>
              <a:ext cx="1344386" cy="7402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CPU</a:t>
              </a:r>
            </a:p>
          </p:txBody>
        </p:sp>
        <p:sp>
          <p:nvSpPr>
            <p:cNvPr id="6" name="Retângulo 5">
              <a:extLst>
                <a:ext uri="{FF2B5EF4-FFF2-40B4-BE49-F238E27FC236}">
                  <a16:creationId xmlns:a16="http://schemas.microsoft.com/office/drawing/2014/main" id="{59D45822-DBEC-F306-40B4-5E633970FCFF}"/>
                </a:ext>
              </a:extLst>
            </p:cNvPr>
            <p:cNvSpPr/>
            <p:nvPr/>
          </p:nvSpPr>
          <p:spPr>
            <a:xfrm>
              <a:off x="4182835" y="2006374"/>
              <a:ext cx="1344386" cy="74022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RAM</a:t>
              </a:r>
            </a:p>
          </p:txBody>
        </p:sp>
        <p:sp>
          <p:nvSpPr>
            <p:cNvPr id="7" name="Retângulo 6">
              <a:extLst>
                <a:ext uri="{FF2B5EF4-FFF2-40B4-BE49-F238E27FC236}">
                  <a16:creationId xmlns:a16="http://schemas.microsoft.com/office/drawing/2014/main" id="{7584E838-82E3-85EF-78FA-9A5AC8685F24}"/>
                </a:ext>
              </a:extLst>
            </p:cNvPr>
            <p:cNvSpPr/>
            <p:nvPr/>
          </p:nvSpPr>
          <p:spPr>
            <a:xfrm>
              <a:off x="2628900" y="2006374"/>
              <a:ext cx="1344386" cy="74022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HD/</a:t>
              </a:r>
            </a:p>
            <a:p>
              <a:pPr algn="ctr"/>
              <a:r>
                <a:rPr lang="pt-BR" dirty="0">
                  <a:solidFill>
                    <a:schemeClr val="tx1"/>
                  </a:solidFill>
                </a:rPr>
                <a:t>SSD</a:t>
              </a:r>
            </a:p>
          </p:txBody>
        </p:sp>
        <p:sp>
          <p:nvSpPr>
            <p:cNvPr id="8" name="Retângulo 7">
              <a:extLst>
                <a:ext uri="{FF2B5EF4-FFF2-40B4-BE49-F238E27FC236}">
                  <a16:creationId xmlns:a16="http://schemas.microsoft.com/office/drawing/2014/main" id="{8E52A325-5FA1-CC62-3B12-C139039F3760}"/>
                </a:ext>
              </a:extLst>
            </p:cNvPr>
            <p:cNvSpPr/>
            <p:nvPr/>
          </p:nvSpPr>
          <p:spPr>
            <a:xfrm>
              <a:off x="2628900" y="4001293"/>
              <a:ext cx="1344385" cy="74022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Timer</a:t>
              </a:r>
            </a:p>
          </p:txBody>
        </p:sp>
        <p:sp>
          <p:nvSpPr>
            <p:cNvPr id="9" name="Retângulo 8">
              <a:extLst>
                <a:ext uri="{FF2B5EF4-FFF2-40B4-BE49-F238E27FC236}">
                  <a16:creationId xmlns:a16="http://schemas.microsoft.com/office/drawing/2014/main" id="{2D84A235-8D55-651D-AB9D-4BB20117A6CC}"/>
                </a:ext>
              </a:extLst>
            </p:cNvPr>
            <p:cNvSpPr/>
            <p:nvPr/>
          </p:nvSpPr>
          <p:spPr>
            <a:xfrm>
              <a:off x="4182834" y="3963534"/>
              <a:ext cx="1344386" cy="80894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Portas de I/O</a:t>
              </a:r>
            </a:p>
          </p:txBody>
        </p:sp>
        <p:sp>
          <p:nvSpPr>
            <p:cNvPr id="10" name="Retângulo 9">
              <a:extLst>
                <a:ext uri="{FF2B5EF4-FFF2-40B4-BE49-F238E27FC236}">
                  <a16:creationId xmlns:a16="http://schemas.microsoft.com/office/drawing/2014/main" id="{C01FCDE1-D1C8-19F8-CF94-13CA38A37148}"/>
                </a:ext>
              </a:extLst>
            </p:cNvPr>
            <p:cNvSpPr/>
            <p:nvPr/>
          </p:nvSpPr>
          <p:spPr>
            <a:xfrm>
              <a:off x="5713633" y="2904784"/>
              <a:ext cx="1514482" cy="97166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Interfaces de comunicação</a:t>
              </a:r>
            </a:p>
            <a:p>
              <a:pPr algn="ctr"/>
              <a:r>
                <a:rPr lang="pt-BR" sz="1400" dirty="0">
                  <a:solidFill>
                    <a:schemeClr val="tx1"/>
                  </a:solidFill>
                </a:rPr>
                <a:t>(USB, SPI, I2C, UART)</a:t>
              </a:r>
              <a:endParaRPr lang="pt-BR" dirty="0">
                <a:solidFill>
                  <a:schemeClr val="tx1"/>
                </a:solidFill>
              </a:endParaRPr>
            </a:p>
          </p:txBody>
        </p:sp>
        <p:sp>
          <p:nvSpPr>
            <p:cNvPr id="11" name="Seta: da Esquerda para a Direita 10">
              <a:extLst>
                <a:ext uri="{FF2B5EF4-FFF2-40B4-BE49-F238E27FC236}">
                  <a16:creationId xmlns:a16="http://schemas.microsoft.com/office/drawing/2014/main" id="{922C4890-45F7-3511-5E6C-CC58BA97EBBD}"/>
                </a:ext>
              </a:extLst>
            </p:cNvPr>
            <p:cNvSpPr/>
            <p:nvPr/>
          </p:nvSpPr>
          <p:spPr>
            <a:xfrm>
              <a:off x="2379891" y="3187816"/>
              <a:ext cx="3333742" cy="396000"/>
            </a:xfrm>
            <a:prstGeom prst="lef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  Barramento</a:t>
              </a:r>
            </a:p>
          </p:txBody>
        </p:sp>
        <p:sp>
          <p:nvSpPr>
            <p:cNvPr id="12" name="Seta: da Esquerda para a Direita 11">
              <a:extLst>
                <a:ext uri="{FF2B5EF4-FFF2-40B4-BE49-F238E27FC236}">
                  <a16:creationId xmlns:a16="http://schemas.microsoft.com/office/drawing/2014/main" id="{3893CD57-227B-F091-616A-8D04B149BAB8}"/>
                </a:ext>
              </a:extLst>
            </p:cNvPr>
            <p:cNvSpPr/>
            <p:nvPr/>
          </p:nvSpPr>
          <p:spPr>
            <a:xfrm rot="5400000">
              <a:off x="2673747" y="3199779"/>
              <a:ext cx="1254690" cy="348342"/>
            </a:xfrm>
            <a:prstGeom prst="lef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Seta: da Esquerda para a Direita 12">
              <a:extLst>
                <a:ext uri="{FF2B5EF4-FFF2-40B4-BE49-F238E27FC236}">
                  <a16:creationId xmlns:a16="http://schemas.microsoft.com/office/drawing/2014/main" id="{983D2CCA-ABE5-85E4-A12D-F667348B3F78}"/>
                </a:ext>
              </a:extLst>
            </p:cNvPr>
            <p:cNvSpPr/>
            <p:nvPr/>
          </p:nvSpPr>
          <p:spPr>
            <a:xfrm rot="5400000">
              <a:off x="4244521" y="3180897"/>
              <a:ext cx="1216932" cy="348342"/>
            </a:xfrm>
            <a:prstGeom prst="lef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4" name="Retângulo 3">
            <a:extLst>
              <a:ext uri="{FF2B5EF4-FFF2-40B4-BE49-F238E27FC236}">
                <a16:creationId xmlns:a16="http://schemas.microsoft.com/office/drawing/2014/main" id="{39088F56-F2FC-3879-38A6-8CA75253EE59}"/>
              </a:ext>
            </a:extLst>
          </p:cNvPr>
          <p:cNvSpPr/>
          <p:nvPr/>
        </p:nvSpPr>
        <p:spPr>
          <a:xfrm>
            <a:off x="581374" y="4284321"/>
            <a:ext cx="662609" cy="35780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i="1" dirty="0" err="1">
                <a:solidFill>
                  <a:schemeClr val="tx1"/>
                </a:solidFill>
              </a:rPr>
              <a:t>clock</a:t>
            </a:r>
            <a:endParaRPr lang="pt-BR" i="1" dirty="0">
              <a:solidFill>
                <a:schemeClr val="tx1"/>
              </a:solidFill>
            </a:endParaRPr>
          </a:p>
        </p:txBody>
      </p:sp>
      <p:cxnSp>
        <p:nvCxnSpPr>
          <p:cNvPr id="16" name="Conector de Seta Reta 15">
            <a:extLst>
              <a:ext uri="{FF2B5EF4-FFF2-40B4-BE49-F238E27FC236}">
                <a16:creationId xmlns:a16="http://schemas.microsoft.com/office/drawing/2014/main" id="{8D716017-65EF-93DB-6677-FA7217576175}"/>
              </a:ext>
            </a:extLst>
          </p:cNvPr>
          <p:cNvCxnSpPr>
            <a:stCxn id="4" idx="0"/>
            <a:endCxn id="5" idx="2"/>
          </p:cNvCxnSpPr>
          <p:nvPr/>
        </p:nvCxnSpPr>
        <p:spPr>
          <a:xfrm flipV="1">
            <a:off x="912679" y="4015129"/>
            <a:ext cx="356" cy="2691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03347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D0973F-D2B2-1D1F-BABA-5460CE496DC0}"/>
              </a:ext>
            </a:extLst>
          </p:cNvPr>
          <p:cNvSpPr>
            <a:spLocks noGrp="1"/>
          </p:cNvSpPr>
          <p:nvPr>
            <p:ph type="title"/>
          </p:nvPr>
        </p:nvSpPr>
        <p:spPr/>
        <p:txBody>
          <a:bodyPr/>
          <a:lstStyle/>
          <a:p>
            <a:r>
              <a:rPr lang="pt-BR" dirty="0"/>
              <a:t>Microprocessador: apenas uma peça do quebra-cabeças</a:t>
            </a:r>
          </a:p>
        </p:txBody>
      </p:sp>
      <p:sp>
        <p:nvSpPr>
          <p:cNvPr id="3" name="Espaço Reservado para Conteúdo 2">
            <a:extLst>
              <a:ext uri="{FF2B5EF4-FFF2-40B4-BE49-F238E27FC236}">
                <a16:creationId xmlns:a16="http://schemas.microsoft.com/office/drawing/2014/main" id="{C03DD8FA-22C9-F5AB-A6A8-FF66C22C6933}"/>
              </a:ext>
            </a:extLst>
          </p:cNvPr>
          <p:cNvSpPr>
            <a:spLocks noGrp="1"/>
          </p:cNvSpPr>
          <p:nvPr>
            <p:ph idx="1"/>
          </p:nvPr>
        </p:nvSpPr>
        <p:spPr>
          <a:xfrm>
            <a:off x="6629401" y="1825624"/>
            <a:ext cx="5478516" cy="5032375"/>
          </a:xfrm>
        </p:spPr>
        <p:txBody>
          <a:bodyPr>
            <a:normAutofit/>
          </a:bodyPr>
          <a:lstStyle/>
          <a:p>
            <a:r>
              <a:rPr lang="pt-BR" dirty="0"/>
              <a:t>Em um computador de uso geral, </a:t>
            </a:r>
            <a:r>
              <a:rPr lang="pt-BR" b="1" i="1" dirty="0">
                <a:solidFill>
                  <a:srgbClr val="7030A0"/>
                </a:solidFill>
              </a:rPr>
              <a:t>todos</a:t>
            </a:r>
            <a:r>
              <a:rPr lang="pt-BR" dirty="0">
                <a:solidFill>
                  <a:srgbClr val="7030A0"/>
                </a:solidFill>
              </a:rPr>
              <a:t> </a:t>
            </a:r>
            <a:r>
              <a:rPr lang="pt-BR" b="1" i="1" dirty="0">
                <a:solidFill>
                  <a:srgbClr val="7030A0"/>
                </a:solidFill>
              </a:rPr>
              <a:t>estes componentes são chips separados</a:t>
            </a:r>
            <a:r>
              <a:rPr lang="pt-BR" b="1" i="1" dirty="0"/>
              <a:t> </a:t>
            </a:r>
            <a:r>
              <a:rPr lang="pt-BR" dirty="0"/>
              <a:t>soldados ou conectados à placa mãe e </a:t>
            </a:r>
            <a:r>
              <a:rPr lang="pt-BR" b="1" i="1" dirty="0">
                <a:solidFill>
                  <a:srgbClr val="7030A0"/>
                </a:solidFill>
              </a:rPr>
              <a:t>interligados através do barramento</a:t>
            </a:r>
            <a:r>
              <a:rPr lang="pt-BR" b="1" i="1" dirty="0"/>
              <a:t> </a:t>
            </a:r>
            <a:r>
              <a:rPr lang="pt-BR" dirty="0"/>
              <a:t>de comunicação disponibilizado pela </a:t>
            </a:r>
            <a:r>
              <a:rPr lang="pt-BR" b="1" i="1" dirty="0">
                <a:solidFill>
                  <a:srgbClr val="7030A0"/>
                </a:solidFill>
              </a:rPr>
              <a:t>placa mãe</a:t>
            </a:r>
            <a:r>
              <a:rPr lang="pt-BR" dirty="0"/>
              <a:t>.</a:t>
            </a:r>
          </a:p>
        </p:txBody>
      </p:sp>
      <p:pic>
        <p:nvPicPr>
          <p:cNvPr id="1028" name="Picture 4" descr="How to Choose a Motherboard for Gaming (2023 Guide)">
            <a:extLst>
              <a:ext uri="{FF2B5EF4-FFF2-40B4-BE49-F238E27FC236}">
                <a16:creationId xmlns:a16="http://schemas.microsoft.com/office/drawing/2014/main" id="{5525797E-81F3-47BB-2415-766F3109FB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484" y="2030587"/>
            <a:ext cx="5478516" cy="46396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82403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51582E-261F-9396-409B-BC9C8175B123}"/>
              </a:ext>
            </a:extLst>
          </p:cNvPr>
          <p:cNvSpPr>
            <a:spLocks noGrp="1"/>
          </p:cNvSpPr>
          <p:nvPr>
            <p:ph type="title"/>
          </p:nvPr>
        </p:nvSpPr>
        <p:spPr/>
        <p:txBody>
          <a:bodyPr/>
          <a:lstStyle/>
          <a:p>
            <a:r>
              <a:rPr lang="pt-BR" dirty="0"/>
              <a:t>Microcontrolador, tudo junto e misturado</a:t>
            </a:r>
          </a:p>
        </p:txBody>
      </p:sp>
      <p:sp>
        <p:nvSpPr>
          <p:cNvPr id="3" name="Espaço Reservado para Conteúdo 2">
            <a:extLst>
              <a:ext uri="{FF2B5EF4-FFF2-40B4-BE49-F238E27FC236}">
                <a16:creationId xmlns:a16="http://schemas.microsoft.com/office/drawing/2014/main" id="{F1B422FC-C77B-004E-75A9-ACB85706F1C6}"/>
              </a:ext>
            </a:extLst>
          </p:cNvPr>
          <p:cNvSpPr>
            <a:spLocks noGrp="1"/>
          </p:cNvSpPr>
          <p:nvPr>
            <p:ph idx="1"/>
          </p:nvPr>
        </p:nvSpPr>
        <p:spPr>
          <a:xfrm>
            <a:off x="5609064" y="2326307"/>
            <a:ext cx="6398709" cy="4166568"/>
          </a:xfrm>
        </p:spPr>
        <p:txBody>
          <a:bodyPr>
            <a:normAutofit/>
          </a:bodyPr>
          <a:lstStyle/>
          <a:p>
            <a:r>
              <a:rPr lang="pt-BR" b="0" i="0" dirty="0">
                <a:effectLst/>
              </a:rPr>
              <a:t>O microcontrolador é um </a:t>
            </a:r>
            <a:r>
              <a:rPr lang="pt-BR" b="1" i="1" dirty="0">
                <a:effectLst/>
              </a:rPr>
              <a:t>dispositivo completo em um único chip</a:t>
            </a:r>
            <a:r>
              <a:rPr lang="pt-BR" dirty="0"/>
              <a:t>.</a:t>
            </a:r>
            <a:endParaRPr lang="pt-BR" b="0" i="0" dirty="0">
              <a:effectLst/>
            </a:endParaRPr>
          </a:p>
          <a:p>
            <a:r>
              <a:rPr lang="pt-BR" dirty="0"/>
              <a:t>Ele</a:t>
            </a:r>
            <a:r>
              <a:rPr lang="pt-BR" b="0" i="0" dirty="0">
                <a:effectLst/>
              </a:rPr>
              <a:t> combina uma CPU com memórias, periféricos de entrada/saída, temporizadores e outros recursos, tornando-o </a:t>
            </a:r>
            <a:r>
              <a:rPr lang="pt-BR" b="1" i="1" dirty="0">
                <a:solidFill>
                  <a:srgbClr val="00B050"/>
                </a:solidFill>
                <a:effectLst/>
              </a:rPr>
              <a:t>adequado para aplicações embarcadas</a:t>
            </a:r>
            <a:r>
              <a:rPr lang="pt-BR" b="0" i="0" dirty="0">
                <a:effectLst/>
              </a:rPr>
              <a:t>.</a:t>
            </a:r>
          </a:p>
          <a:p>
            <a:r>
              <a:rPr lang="pt-BR" dirty="0"/>
              <a:t>O </a:t>
            </a:r>
            <a:r>
              <a:rPr lang="pt-BR" b="1" i="1" dirty="0">
                <a:solidFill>
                  <a:schemeClr val="accent2"/>
                </a:solidFill>
              </a:rPr>
              <a:t>barramento é interno ao chip</a:t>
            </a:r>
            <a:r>
              <a:rPr lang="pt-BR" dirty="0"/>
              <a:t>.</a:t>
            </a:r>
          </a:p>
        </p:txBody>
      </p:sp>
      <p:grpSp>
        <p:nvGrpSpPr>
          <p:cNvPr id="11" name="Agrupar 10">
            <a:extLst>
              <a:ext uri="{FF2B5EF4-FFF2-40B4-BE49-F238E27FC236}">
                <a16:creationId xmlns:a16="http://schemas.microsoft.com/office/drawing/2014/main" id="{F7ADFC76-8A64-7FBD-5EBE-11219A39AF3E}"/>
              </a:ext>
            </a:extLst>
          </p:cNvPr>
          <p:cNvGrpSpPr/>
          <p:nvPr/>
        </p:nvGrpSpPr>
        <p:grpSpPr>
          <a:xfrm>
            <a:off x="838200" y="1795945"/>
            <a:ext cx="4244779" cy="1510394"/>
            <a:chOff x="417044" y="2259464"/>
            <a:chExt cx="4244779" cy="1510394"/>
          </a:xfrm>
        </p:grpSpPr>
        <p:sp>
          <p:nvSpPr>
            <p:cNvPr id="4" name="Retângulo 3">
              <a:extLst>
                <a:ext uri="{FF2B5EF4-FFF2-40B4-BE49-F238E27FC236}">
                  <a16:creationId xmlns:a16="http://schemas.microsoft.com/office/drawing/2014/main" id="{6A8F98E3-0C93-49D0-38B3-DE9A3F162D66}"/>
                </a:ext>
              </a:extLst>
            </p:cNvPr>
            <p:cNvSpPr/>
            <p:nvPr/>
          </p:nvSpPr>
          <p:spPr>
            <a:xfrm>
              <a:off x="417724" y="2259465"/>
              <a:ext cx="1415153" cy="7551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CPU</a:t>
              </a:r>
            </a:p>
          </p:txBody>
        </p:sp>
        <p:sp>
          <p:nvSpPr>
            <p:cNvPr id="5" name="Retângulo 4">
              <a:extLst>
                <a:ext uri="{FF2B5EF4-FFF2-40B4-BE49-F238E27FC236}">
                  <a16:creationId xmlns:a16="http://schemas.microsoft.com/office/drawing/2014/main" id="{D5452024-086D-7C52-B04A-E1C57DB6B2E2}"/>
                </a:ext>
              </a:extLst>
            </p:cNvPr>
            <p:cNvSpPr/>
            <p:nvPr/>
          </p:nvSpPr>
          <p:spPr>
            <a:xfrm>
              <a:off x="3246670" y="2259464"/>
              <a:ext cx="1415153" cy="75519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RAM</a:t>
              </a:r>
            </a:p>
          </p:txBody>
        </p:sp>
        <p:sp>
          <p:nvSpPr>
            <p:cNvPr id="6" name="Retângulo 5">
              <a:extLst>
                <a:ext uri="{FF2B5EF4-FFF2-40B4-BE49-F238E27FC236}">
                  <a16:creationId xmlns:a16="http://schemas.microsoft.com/office/drawing/2014/main" id="{D4C46550-04FE-2833-408B-63852065BD8A}"/>
                </a:ext>
              </a:extLst>
            </p:cNvPr>
            <p:cNvSpPr/>
            <p:nvPr/>
          </p:nvSpPr>
          <p:spPr>
            <a:xfrm>
              <a:off x="1832197" y="2259464"/>
              <a:ext cx="1415153" cy="75519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HD/</a:t>
              </a:r>
            </a:p>
            <a:p>
              <a:pPr algn="ctr"/>
              <a:r>
                <a:rPr lang="pt-BR" dirty="0">
                  <a:solidFill>
                    <a:schemeClr val="tx1"/>
                  </a:solidFill>
                </a:rPr>
                <a:t>SSD</a:t>
              </a:r>
            </a:p>
          </p:txBody>
        </p:sp>
        <p:sp>
          <p:nvSpPr>
            <p:cNvPr id="7" name="Retângulo 6">
              <a:extLst>
                <a:ext uri="{FF2B5EF4-FFF2-40B4-BE49-F238E27FC236}">
                  <a16:creationId xmlns:a16="http://schemas.microsoft.com/office/drawing/2014/main" id="{AB715C5F-10E6-0F20-0D36-4A08D069A29E}"/>
                </a:ext>
              </a:extLst>
            </p:cNvPr>
            <p:cNvSpPr/>
            <p:nvPr/>
          </p:nvSpPr>
          <p:spPr>
            <a:xfrm>
              <a:off x="417045" y="3014663"/>
              <a:ext cx="1415152" cy="75519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Timer</a:t>
              </a:r>
            </a:p>
          </p:txBody>
        </p:sp>
        <p:sp>
          <p:nvSpPr>
            <p:cNvPr id="8" name="Retângulo 7">
              <a:extLst>
                <a:ext uri="{FF2B5EF4-FFF2-40B4-BE49-F238E27FC236}">
                  <a16:creationId xmlns:a16="http://schemas.microsoft.com/office/drawing/2014/main" id="{44ED9C6F-EA00-2FD2-189D-A783956850AA}"/>
                </a:ext>
              </a:extLst>
            </p:cNvPr>
            <p:cNvSpPr/>
            <p:nvPr/>
          </p:nvSpPr>
          <p:spPr>
            <a:xfrm>
              <a:off x="1832196" y="3014663"/>
              <a:ext cx="1415153" cy="75519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Portas de I/O</a:t>
              </a:r>
            </a:p>
          </p:txBody>
        </p:sp>
        <p:sp>
          <p:nvSpPr>
            <p:cNvPr id="9" name="Retângulo 8">
              <a:extLst>
                <a:ext uri="{FF2B5EF4-FFF2-40B4-BE49-F238E27FC236}">
                  <a16:creationId xmlns:a16="http://schemas.microsoft.com/office/drawing/2014/main" id="{1B432901-F664-19AF-DCEE-6D8A903D5F08}"/>
                </a:ext>
              </a:extLst>
            </p:cNvPr>
            <p:cNvSpPr/>
            <p:nvPr/>
          </p:nvSpPr>
          <p:spPr>
            <a:xfrm>
              <a:off x="3246670" y="3014663"/>
              <a:ext cx="1415152" cy="75519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Interfaces de comunicação</a:t>
              </a:r>
            </a:p>
          </p:txBody>
        </p:sp>
        <p:sp>
          <p:nvSpPr>
            <p:cNvPr id="10" name="Retângulo 9">
              <a:extLst>
                <a:ext uri="{FF2B5EF4-FFF2-40B4-BE49-F238E27FC236}">
                  <a16:creationId xmlns:a16="http://schemas.microsoft.com/office/drawing/2014/main" id="{D759A1EB-BCF3-1320-1FF9-5D290B7F7B5E}"/>
                </a:ext>
              </a:extLst>
            </p:cNvPr>
            <p:cNvSpPr/>
            <p:nvPr/>
          </p:nvSpPr>
          <p:spPr>
            <a:xfrm>
              <a:off x="417044" y="2259464"/>
              <a:ext cx="4244777" cy="1510394"/>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ln>
                  <a:solidFill>
                    <a:schemeClr val="accent1"/>
                  </a:solidFill>
                </a:ln>
                <a:noFill/>
              </a:endParaRPr>
            </a:p>
          </p:txBody>
        </p:sp>
      </p:grpSp>
      <p:pic>
        <p:nvPicPr>
          <p:cNvPr id="35" name="Imagem 34">
            <a:extLst>
              <a:ext uri="{FF2B5EF4-FFF2-40B4-BE49-F238E27FC236}">
                <a16:creationId xmlns:a16="http://schemas.microsoft.com/office/drawing/2014/main" id="{0F4AFA33-706B-64BE-D3C8-ED369FFBDD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1649" y="3518209"/>
            <a:ext cx="4244777" cy="3292331"/>
          </a:xfrm>
          <a:prstGeom prst="rect">
            <a:avLst/>
          </a:prstGeom>
        </p:spPr>
      </p:pic>
      <p:sp>
        <p:nvSpPr>
          <p:cNvPr id="13" name="CaixaDeTexto 12">
            <a:extLst>
              <a:ext uri="{FF2B5EF4-FFF2-40B4-BE49-F238E27FC236}">
                <a16:creationId xmlns:a16="http://schemas.microsoft.com/office/drawing/2014/main" id="{D548A02C-3E47-72D8-1633-374FDB8E0CA0}"/>
              </a:ext>
            </a:extLst>
          </p:cNvPr>
          <p:cNvSpPr txBox="1"/>
          <p:nvPr/>
        </p:nvSpPr>
        <p:spPr>
          <a:xfrm>
            <a:off x="838200" y="1426609"/>
            <a:ext cx="4244777" cy="369332"/>
          </a:xfrm>
          <a:prstGeom prst="rect">
            <a:avLst/>
          </a:prstGeom>
          <a:noFill/>
        </p:spPr>
        <p:txBody>
          <a:bodyPr wrap="square">
            <a:spAutoFit/>
          </a:bodyPr>
          <a:lstStyle/>
          <a:p>
            <a:r>
              <a:rPr lang="pt-BR" b="1" dirty="0"/>
              <a:t>M</a:t>
            </a:r>
            <a:r>
              <a:rPr lang="pt-BR" b="1" i="0" dirty="0">
                <a:effectLst/>
              </a:rPr>
              <a:t>icrocontrolador</a:t>
            </a:r>
            <a:endParaRPr lang="pt-BR" b="1" dirty="0"/>
          </a:p>
        </p:txBody>
      </p:sp>
    </p:spTree>
    <p:extLst>
      <p:ext uri="{BB962C8B-B14F-4D97-AF65-F5344CB8AC3E}">
        <p14:creationId xmlns:p14="http://schemas.microsoft.com/office/powerpoint/2010/main" val="26131541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BA08CA-BE8D-3D1F-58BE-8023788F61F4}"/>
              </a:ext>
            </a:extLst>
          </p:cNvPr>
          <p:cNvSpPr>
            <a:spLocks noGrp="1"/>
          </p:cNvSpPr>
          <p:nvPr>
            <p:ph type="title"/>
          </p:nvPr>
        </p:nvSpPr>
        <p:spPr/>
        <p:txBody>
          <a:bodyPr/>
          <a:lstStyle/>
          <a:p>
            <a:r>
              <a:rPr lang="pt-BR" dirty="0"/>
              <a:t>Microcontrolador, tudo junto e misturado</a:t>
            </a:r>
          </a:p>
        </p:txBody>
      </p:sp>
      <p:sp>
        <p:nvSpPr>
          <p:cNvPr id="3" name="Espaço Reservado para Conteúdo 2">
            <a:extLst>
              <a:ext uri="{FF2B5EF4-FFF2-40B4-BE49-F238E27FC236}">
                <a16:creationId xmlns:a16="http://schemas.microsoft.com/office/drawing/2014/main" id="{4D722084-B769-F95F-42A9-974DEA124B8D}"/>
              </a:ext>
            </a:extLst>
          </p:cNvPr>
          <p:cNvSpPr>
            <a:spLocks noGrp="1"/>
          </p:cNvSpPr>
          <p:nvPr>
            <p:ph idx="1"/>
          </p:nvPr>
        </p:nvSpPr>
        <p:spPr>
          <a:xfrm>
            <a:off x="5717629" y="1825624"/>
            <a:ext cx="6253654" cy="5032375"/>
          </a:xfrm>
        </p:spPr>
        <p:txBody>
          <a:bodyPr>
            <a:normAutofit lnSpcReduction="10000"/>
          </a:bodyPr>
          <a:lstStyle/>
          <a:p>
            <a:r>
              <a:rPr lang="pt-BR" b="1" i="1" dirty="0"/>
              <a:t>D</a:t>
            </a:r>
            <a:r>
              <a:rPr lang="pt-BR" b="1" i="1" dirty="0">
                <a:effectLst/>
              </a:rPr>
              <a:t>ie</a:t>
            </a:r>
            <a:r>
              <a:rPr lang="pt-BR" b="0" i="0" dirty="0">
                <a:effectLst/>
              </a:rPr>
              <a:t> (ou pastilha) do microcontrolador RP2040.</a:t>
            </a:r>
          </a:p>
          <a:p>
            <a:pPr lvl="1">
              <a:buFont typeface="Wingdings" panose="05000000000000000000" pitchFamily="2" charset="2"/>
              <a:buChar char="§"/>
            </a:pPr>
            <a:r>
              <a:rPr lang="pt-BR" i="1" dirty="0"/>
              <a:t>Die</a:t>
            </a:r>
            <a:r>
              <a:rPr lang="pt-BR" dirty="0"/>
              <a:t> é bloco de material semicondutor onde um </a:t>
            </a:r>
            <a:r>
              <a:rPr lang="pt-BR" b="0" i="0" dirty="0">
                <a:effectLst/>
              </a:rPr>
              <a:t>circuito é fabricado.</a:t>
            </a:r>
          </a:p>
          <a:p>
            <a:r>
              <a:rPr lang="pt-BR" dirty="0"/>
              <a:t>Primeiro </a:t>
            </a:r>
            <a:r>
              <a:rPr lang="pt-BR" b="1" i="1" dirty="0">
                <a:solidFill>
                  <a:srgbClr val="00B050"/>
                </a:solidFill>
              </a:rPr>
              <a:t>microcontrolador</a:t>
            </a:r>
            <a:r>
              <a:rPr lang="pt-BR" dirty="0"/>
              <a:t> projetado pela </a:t>
            </a:r>
            <a:r>
              <a:rPr lang="pt-BR" b="1" i="1" dirty="0" err="1">
                <a:solidFill>
                  <a:schemeClr val="accent5"/>
                </a:solidFill>
              </a:rPr>
              <a:t>Raspberry</a:t>
            </a:r>
            <a:r>
              <a:rPr lang="pt-BR" b="1" i="1" dirty="0">
                <a:solidFill>
                  <a:schemeClr val="accent5"/>
                </a:solidFill>
              </a:rPr>
              <a:t> Pi Ltd</a:t>
            </a:r>
            <a:r>
              <a:rPr lang="pt-BR" dirty="0"/>
              <a:t>.</a:t>
            </a:r>
          </a:p>
          <a:p>
            <a:r>
              <a:rPr lang="pt-BR" dirty="0"/>
              <a:t>Contém um ARM Cortex-M0+ dual core de 32 bits.</a:t>
            </a:r>
          </a:p>
          <a:p>
            <a:r>
              <a:rPr lang="pt-BR" dirty="0"/>
              <a:t>Percebam que ele possui os componentes necessários para funcionar integrados em um pequeno </a:t>
            </a:r>
            <a:r>
              <a:rPr lang="pt-BR" i="1" dirty="0"/>
              <a:t>chip</a:t>
            </a:r>
            <a:r>
              <a:rPr lang="pt-BR" dirty="0"/>
              <a:t>.</a:t>
            </a:r>
          </a:p>
        </p:txBody>
      </p:sp>
      <p:pic>
        <p:nvPicPr>
          <p:cNvPr id="3074" name="Picture 2" descr="Floorplan of RP2040 with photo by John McMaster">
            <a:extLst>
              <a:ext uri="{FF2B5EF4-FFF2-40B4-BE49-F238E27FC236}">
                <a16:creationId xmlns:a16="http://schemas.microsoft.com/office/drawing/2014/main" id="{E7B3A7ED-7117-F5B5-42CE-1669C33951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4820" y="1647924"/>
            <a:ext cx="3675118" cy="356215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Two RP2040 microcontroller chips">
            <a:extLst>
              <a:ext uri="{FF2B5EF4-FFF2-40B4-BE49-F238E27FC236}">
                <a16:creationId xmlns:a16="http://schemas.microsoft.com/office/drawing/2014/main" id="{5238D032-F3E7-CCBA-B9DF-BCE3AEDA8DE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2187" t="9446" r="7275" b="22982"/>
          <a:stretch/>
        </p:blipFill>
        <p:spPr bwMode="auto">
          <a:xfrm>
            <a:off x="1138273" y="5572041"/>
            <a:ext cx="841801" cy="103740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Raspberry Pi Pico - Rp2040 - Smart Componentes Eletronicos">
            <a:extLst>
              <a:ext uri="{FF2B5EF4-FFF2-40B4-BE49-F238E27FC236}">
                <a16:creationId xmlns:a16="http://schemas.microsoft.com/office/drawing/2014/main" id="{76FE6CB4-D0B1-3347-37C8-2ED3F949743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851" t="4638" r="4000" b="4638"/>
          <a:stretch/>
        </p:blipFill>
        <p:spPr bwMode="auto">
          <a:xfrm>
            <a:off x="2923378" y="5658261"/>
            <a:ext cx="1966560" cy="1037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6098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F1F8584B-E993-50A8-0D76-536AE907A936}"/>
              </a:ext>
            </a:extLst>
          </p:cNvPr>
          <p:cNvSpPr/>
          <p:nvPr/>
        </p:nvSpPr>
        <p:spPr>
          <a:xfrm>
            <a:off x="1" y="0"/>
            <a:ext cx="609600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 name="Título 1">
            <a:extLst>
              <a:ext uri="{FF2B5EF4-FFF2-40B4-BE49-F238E27FC236}">
                <a16:creationId xmlns:a16="http://schemas.microsoft.com/office/drawing/2014/main" id="{6DDD9460-09E3-23AA-5C2A-E79B995172F4}"/>
              </a:ext>
            </a:extLst>
          </p:cNvPr>
          <p:cNvSpPr>
            <a:spLocks noGrp="1"/>
          </p:cNvSpPr>
          <p:nvPr>
            <p:ph type="title"/>
          </p:nvPr>
        </p:nvSpPr>
        <p:spPr>
          <a:xfrm>
            <a:off x="0" y="349674"/>
            <a:ext cx="6095999" cy="1325563"/>
          </a:xfrm>
        </p:spPr>
        <p:txBody>
          <a:bodyPr>
            <a:normAutofit/>
          </a:bodyPr>
          <a:lstStyle/>
          <a:p>
            <a:pPr marL="0" indent="0" algn="ctr"/>
            <a:r>
              <a:rPr lang="pt-BR" sz="4400" dirty="0"/>
              <a:t>Microprocessador</a:t>
            </a:r>
            <a:endParaRPr lang="pt-BR" dirty="0"/>
          </a:p>
        </p:txBody>
      </p:sp>
      <p:sp>
        <p:nvSpPr>
          <p:cNvPr id="3" name="Espaço Reservado para Conteúdo 2">
            <a:extLst>
              <a:ext uri="{FF2B5EF4-FFF2-40B4-BE49-F238E27FC236}">
                <a16:creationId xmlns:a16="http://schemas.microsoft.com/office/drawing/2014/main" id="{ED143668-44B4-F990-AAAA-0469E8810191}"/>
              </a:ext>
            </a:extLst>
          </p:cNvPr>
          <p:cNvSpPr>
            <a:spLocks noGrp="1"/>
          </p:cNvSpPr>
          <p:nvPr>
            <p:ph idx="1"/>
          </p:nvPr>
        </p:nvSpPr>
        <p:spPr>
          <a:xfrm>
            <a:off x="420414" y="1690688"/>
            <a:ext cx="5439555" cy="5167314"/>
          </a:xfrm>
        </p:spPr>
        <p:txBody>
          <a:bodyPr>
            <a:normAutofit fontScale="92500" lnSpcReduction="20000"/>
          </a:bodyPr>
          <a:lstStyle/>
          <a:p>
            <a:r>
              <a:rPr lang="pt-BR" b="1" i="1" dirty="0"/>
              <a:t>Cérebro</a:t>
            </a:r>
            <a:r>
              <a:rPr lang="pt-BR" dirty="0"/>
              <a:t> de um </a:t>
            </a:r>
            <a:r>
              <a:rPr lang="pt-BR" b="1" i="1" dirty="0"/>
              <a:t>sistema</a:t>
            </a:r>
            <a:r>
              <a:rPr lang="pt-BR" dirty="0"/>
              <a:t> </a:t>
            </a:r>
            <a:r>
              <a:rPr lang="pt-BR" b="1" i="1" dirty="0"/>
              <a:t>de uso geral</a:t>
            </a:r>
            <a:r>
              <a:rPr lang="pt-BR" dirty="0"/>
              <a:t>.</a:t>
            </a:r>
          </a:p>
          <a:p>
            <a:r>
              <a:rPr lang="pt-BR" dirty="0"/>
              <a:t>É </a:t>
            </a:r>
            <a:r>
              <a:rPr lang="pt-BR" b="1" i="1" dirty="0"/>
              <a:t>apenas a CPU</a:t>
            </a:r>
            <a:r>
              <a:rPr lang="pt-BR" dirty="0"/>
              <a:t>, memória, armazenamento, etc. são externos a ele.</a:t>
            </a:r>
          </a:p>
          <a:p>
            <a:r>
              <a:rPr lang="pt-BR" dirty="0"/>
              <a:t>Usado principalmente </a:t>
            </a:r>
            <a:r>
              <a:rPr lang="pt-BR" b="1" i="1" dirty="0"/>
              <a:t>sistemas de uso geral</a:t>
            </a:r>
            <a:r>
              <a:rPr lang="pt-BR" dirty="0"/>
              <a:t> como desktops, laptops e servidores.</a:t>
            </a:r>
          </a:p>
          <a:p>
            <a:r>
              <a:rPr lang="pt-BR" dirty="0"/>
              <a:t>Oferece </a:t>
            </a:r>
            <a:r>
              <a:rPr lang="pt-BR" b="1" i="1" dirty="0"/>
              <a:t>flexibilidade</a:t>
            </a:r>
            <a:r>
              <a:rPr lang="pt-BR" dirty="0"/>
              <a:t> </a:t>
            </a:r>
            <a:r>
              <a:rPr lang="pt-BR" b="0" i="0" dirty="0">
                <a:effectLst/>
              </a:rPr>
              <a:t>porque é projetado para ser </a:t>
            </a:r>
            <a:r>
              <a:rPr lang="pt-BR" b="1" i="1" dirty="0">
                <a:effectLst/>
              </a:rPr>
              <a:t>usado em uma ampla variedade de aplicações</a:t>
            </a:r>
            <a:r>
              <a:rPr lang="pt-BR" dirty="0"/>
              <a:t>.</a:t>
            </a:r>
          </a:p>
          <a:p>
            <a:r>
              <a:rPr lang="pt-BR" dirty="0"/>
              <a:t>O </a:t>
            </a:r>
            <a:r>
              <a:rPr lang="pt-BR" b="1" i="1" dirty="0"/>
              <a:t>sistema é grande </a:t>
            </a:r>
            <a:r>
              <a:rPr lang="pt-BR" dirty="0"/>
              <a:t>e, em geral, </a:t>
            </a:r>
            <a:r>
              <a:rPr lang="pt-BR" b="1" i="1" dirty="0"/>
              <a:t>não apresenta restrições </a:t>
            </a:r>
            <a:r>
              <a:rPr lang="pt-BR" dirty="0"/>
              <a:t>de processamento, memória, armazenamento e consumo de energia.</a:t>
            </a:r>
          </a:p>
        </p:txBody>
      </p:sp>
      <p:sp>
        <p:nvSpPr>
          <p:cNvPr id="4" name="Espaço Reservado para Conteúdo 2">
            <a:extLst>
              <a:ext uri="{FF2B5EF4-FFF2-40B4-BE49-F238E27FC236}">
                <a16:creationId xmlns:a16="http://schemas.microsoft.com/office/drawing/2014/main" id="{6CCBE6EA-0AB3-DC5F-E3AE-90789E4E9145}"/>
              </a:ext>
            </a:extLst>
          </p:cNvPr>
          <p:cNvSpPr txBox="1">
            <a:spLocks/>
          </p:cNvSpPr>
          <p:nvPr/>
        </p:nvSpPr>
        <p:spPr>
          <a:xfrm>
            <a:off x="6332032" y="1675237"/>
            <a:ext cx="5723334" cy="5182763"/>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b="1" dirty="0"/>
              <a:t>Cérebro</a:t>
            </a:r>
            <a:r>
              <a:rPr lang="pt-BR" dirty="0"/>
              <a:t> de um </a:t>
            </a:r>
            <a:r>
              <a:rPr lang="pt-BR" b="1" i="1" dirty="0"/>
              <a:t>sistema embarcado</a:t>
            </a:r>
            <a:r>
              <a:rPr lang="pt-BR" dirty="0"/>
              <a:t>.</a:t>
            </a:r>
          </a:p>
          <a:p>
            <a:r>
              <a:rPr lang="pt-BR" b="1" i="1" dirty="0"/>
              <a:t>Memória, armazenamento e outros periféricos </a:t>
            </a:r>
            <a:r>
              <a:rPr lang="pt-BR" dirty="0"/>
              <a:t>(e.g., controladores de I/O, ADC, DAC, timers, etc.) </a:t>
            </a:r>
            <a:r>
              <a:rPr lang="pt-BR" b="1" i="1" dirty="0"/>
              <a:t>são internos ao chip</a:t>
            </a:r>
            <a:r>
              <a:rPr lang="pt-BR" dirty="0"/>
              <a:t>.</a:t>
            </a:r>
          </a:p>
          <a:p>
            <a:r>
              <a:rPr lang="pt-BR" dirty="0"/>
              <a:t>Usado principalmente em </a:t>
            </a:r>
            <a:r>
              <a:rPr lang="pt-BR" b="1" i="1" dirty="0"/>
              <a:t>sistemas especializados</a:t>
            </a:r>
            <a:r>
              <a:rPr lang="pt-BR" dirty="0"/>
              <a:t>, com </a:t>
            </a:r>
            <a:r>
              <a:rPr lang="pt-BR" b="0" i="0" dirty="0">
                <a:effectLst/>
              </a:rPr>
              <a:t>função específica, como MP3 players, telefones, sensores, etc.</a:t>
            </a:r>
          </a:p>
          <a:p>
            <a:r>
              <a:rPr lang="pt-BR" b="1" i="1" dirty="0">
                <a:effectLst/>
              </a:rPr>
              <a:t>Não o</a:t>
            </a:r>
            <a:r>
              <a:rPr lang="pt-BR" b="1" i="1" dirty="0"/>
              <a:t>ferece flexibilidade </a:t>
            </a:r>
            <a:r>
              <a:rPr lang="pt-BR" dirty="0"/>
              <a:t>porque </a:t>
            </a:r>
            <a:r>
              <a:rPr lang="pt-BR" b="0" i="0" dirty="0">
                <a:effectLst/>
              </a:rPr>
              <a:t>é projetado para atender a um </a:t>
            </a:r>
            <a:r>
              <a:rPr lang="pt-BR" b="1" i="1" dirty="0">
                <a:effectLst/>
              </a:rPr>
              <a:t>propósito específico</a:t>
            </a:r>
            <a:r>
              <a:rPr lang="pt-BR" b="0" i="0" dirty="0">
                <a:effectLst/>
              </a:rPr>
              <a:t>.</a:t>
            </a:r>
            <a:endParaRPr lang="pt-BR" dirty="0"/>
          </a:p>
          <a:p>
            <a:r>
              <a:rPr lang="pt-BR" dirty="0"/>
              <a:t>O </a:t>
            </a:r>
            <a:r>
              <a:rPr lang="pt-BR" b="1" i="1" dirty="0"/>
              <a:t>sistema é pequeno </a:t>
            </a:r>
            <a:r>
              <a:rPr lang="pt-BR" dirty="0"/>
              <a:t>e </a:t>
            </a:r>
            <a:r>
              <a:rPr lang="pt-BR" b="1" i="1" dirty="0"/>
              <a:t>apresenta restrições</a:t>
            </a:r>
            <a:r>
              <a:rPr lang="pt-BR" dirty="0"/>
              <a:t> de processamento, memória armazenamento e consumo de energia.</a:t>
            </a:r>
          </a:p>
        </p:txBody>
      </p:sp>
      <p:sp>
        <p:nvSpPr>
          <p:cNvPr id="5" name="Título 1">
            <a:extLst>
              <a:ext uri="{FF2B5EF4-FFF2-40B4-BE49-F238E27FC236}">
                <a16:creationId xmlns:a16="http://schemas.microsoft.com/office/drawing/2014/main" id="{4B7BDE57-C5E1-BD4B-EE4F-9F8CF1946BFF}"/>
              </a:ext>
            </a:extLst>
          </p:cNvPr>
          <p:cNvSpPr txBox="1">
            <a:spLocks/>
          </p:cNvSpPr>
          <p:nvPr/>
        </p:nvSpPr>
        <p:spPr>
          <a:xfrm>
            <a:off x="6095999" y="365124"/>
            <a:ext cx="6095999"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dirty="0"/>
              <a:t>Microcontrolador</a:t>
            </a:r>
          </a:p>
        </p:txBody>
      </p:sp>
    </p:spTree>
    <p:extLst>
      <p:ext uri="{BB962C8B-B14F-4D97-AF65-F5344CB8AC3E}">
        <p14:creationId xmlns:p14="http://schemas.microsoft.com/office/powerpoint/2010/main" val="38190975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37B57C-5C5B-63F0-3BCA-41D707B14FCF}"/>
              </a:ext>
            </a:extLst>
          </p:cNvPr>
          <p:cNvSpPr>
            <a:spLocks noGrp="1"/>
          </p:cNvSpPr>
          <p:nvPr>
            <p:ph type="title"/>
          </p:nvPr>
        </p:nvSpPr>
        <p:spPr/>
        <p:txBody>
          <a:bodyPr/>
          <a:lstStyle/>
          <a:p>
            <a:r>
              <a:rPr lang="pt-BR" dirty="0"/>
              <a:t>Diferenças de magnitude</a:t>
            </a:r>
          </a:p>
        </p:txBody>
      </p:sp>
      <mc:AlternateContent xmlns:mc="http://schemas.openxmlformats.org/markup-compatibility/2006" xmlns:a14="http://schemas.microsoft.com/office/drawing/2010/main">
        <mc:Choice Requires="a14">
          <p:graphicFrame>
            <p:nvGraphicFramePr>
              <p:cNvPr id="7" name="Tabela 7">
                <a:extLst>
                  <a:ext uri="{FF2B5EF4-FFF2-40B4-BE49-F238E27FC236}">
                    <a16:creationId xmlns:a16="http://schemas.microsoft.com/office/drawing/2014/main" id="{CF075D20-780E-1792-6D5A-733B2F8F1F7E}"/>
                  </a:ext>
                </a:extLst>
              </p:cNvPr>
              <p:cNvGraphicFramePr>
                <a:graphicFrameLocks noGrp="1"/>
              </p:cNvGraphicFramePr>
              <p:nvPr>
                <p:extLst>
                  <p:ext uri="{D42A27DB-BD31-4B8C-83A1-F6EECF244321}">
                    <p14:modId xmlns:p14="http://schemas.microsoft.com/office/powerpoint/2010/main" val="712769696"/>
                  </p:ext>
                </p:extLst>
              </p:nvPr>
            </p:nvGraphicFramePr>
            <p:xfrm>
              <a:off x="116629" y="2842250"/>
              <a:ext cx="8398108" cy="1879600"/>
            </p:xfrm>
            <a:graphic>
              <a:graphicData uri="http://schemas.openxmlformats.org/drawingml/2006/table">
                <a:tbl>
                  <a:tblPr bandRow="1">
                    <a:tableStyleId>{5202B0CA-FC54-4496-8BCA-5EF66A818D29}</a:tableStyleId>
                  </a:tblPr>
                  <a:tblGrid>
                    <a:gridCol w="2099527">
                      <a:extLst>
                        <a:ext uri="{9D8B030D-6E8A-4147-A177-3AD203B41FA5}">
                          <a16:colId xmlns:a16="http://schemas.microsoft.com/office/drawing/2014/main" val="3494750001"/>
                        </a:ext>
                      </a:extLst>
                    </a:gridCol>
                    <a:gridCol w="2099527">
                      <a:extLst>
                        <a:ext uri="{9D8B030D-6E8A-4147-A177-3AD203B41FA5}">
                          <a16:colId xmlns:a16="http://schemas.microsoft.com/office/drawing/2014/main" val="3898912472"/>
                        </a:ext>
                      </a:extLst>
                    </a:gridCol>
                    <a:gridCol w="2099527">
                      <a:extLst>
                        <a:ext uri="{9D8B030D-6E8A-4147-A177-3AD203B41FA5}">
                          <a16:colId xmlns:a16="http://schemas.microsoft.com/office/drawing/2014/main" val="4063873170"/>
                        </a:ext>
                      </a:extLst>
                    </a:gridCol>
                    <a:gridCol w="2099527">
                      <a:extLst>
                        <a:ext uri="{9D8B030D-6E8A-4147-A177-3AD203B41FA5}">
                          <a16:colId xmlns:a16="http://schemas.microsoft.com/office/drawing/2014/main" val="975674981"/>
                        </a:ext>
                      </a:extLst>
                    </a:gridCol>
                  </a:tblGrid>
                  <a:tr h="370840">
                    <a:tc>
                      <a:txBody>
                        <a:bodyPr/>
                        <a:lstStyle/>
                        <a:p>
                          <a:pPr algn="ctr"/>
                          <a:endParaRPr lang="pt-BR"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2000" b="1" dirty="0"/>
                            <a:t>Microprocessador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sz="2000" b="1" dirty="0"/>
                            <a:t>&gt;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sz="2000" b="1" dirty="0"/>
                            <a:t>Microcontrolador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2427868"/>
                      </a:ext>
                    </a:extLst>
                  </a:tr>
                  <a:tr h="370840">
                    <a:tc>
                      <a:txBody>
                        <a:bodyPr/>
                        <a:lstStyle/>
                        <a:p>
                          <a:pPr algn="ctr"/>
                          <a:r>
                            <a:rPr lang="pt-BR" dirty="0"/>
                            <a:t>Freq. de operação</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dirty="0"/>
                            <a:t>1 GHz – 4 GHz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 xmlns:m="http://schemas.openxmlformats.org/officeDocument/2006/math">
                              <m:r>
                                <a:rPr lang="pt-BR" b="0" i="1" smtClean="0">
                                  <a:latin typeface="Cambria Math" panose="02040503050406030204" pitchFamily="18" charset="0"/>
                                </a:rPr>
                                <m:t>&gt;</m:t>
                              </m:r>
                            </m:oMath>
                          </a14:m>
                          <a:r>
                            <a:rPr lang="pt-BR" dirty="0"/>
                            <a:t> 2.5 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dirty="0"/>
                            <a:t>1 MHz – 400 MHz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65239804"/>
                      </a:ext>
                    </a:extLst>
                  </a:tr>
                  <a:tr h="370840">
                    <a:tc>
                      <a:txBody>
                        <a:bodyPr/>
                        <a:lstStyle/>
                        <a:p>
                          <a:pPr algn="ctr"/>
                          <a:r>
                            <a:rPr lang="pt-BR" dirty="0"/>
                            <a:t>Memória RAM</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dirty="0"/>
                            <a:t>512 MB – 128 GB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 xmlns:m="http://schemas.openxmlformats.org/officeDocument/2006/math">
                              <m:r>
                                <a:rPr lang="pt-BR" b="0" i="1" smtClean="0">
                                  <a:latin typeface="Cambria Math" panose="02040503050406030204" pitchFamily="18" charset="0"/>
                                </a:rPr>
                                <m:t>&gt;</m:t>
                              </m:r>
                            </m:oMath>
                          </a14:m>
                          <a:r>
                            <a:rPr lang="pt-BR" dirty="0"/>
                            <a:t> </a:t>
                          </a:r>
                          <a:r>
                            <a:rPr lang="pt-BR" sz="1800" b="0" i="0" kern="1200" dirty="0">
                              <a:solidFill>
                                <a:schemeClr val="dk1"/>
                              </a:solidFill>
                              <a:effectLst/>
                              <a:latin typeface="+mn-lt"/>
                              <a:ea typeface="+mn-ea"/>
                              <a:cs typeface="+mn-cs"/>
                            </a:rPr>
                            <a:t>1000 </a:t>
                          </a:r>
                          <a:r>
                            <a:rPr lang="pt-BR"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dirty="0"/>
                            <a:t>2 KB – 512 KB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90909376"/>
                      </a:ext>
                    </a:extLst>
                  </a:tr>
                  <a:tr h="370840">
                    <a:tc>
                      <a:txBody>
                        <a:bodyPr/>
                        <a:lstStyle/>
                        <a:p>
                          <a:pPr algn="ctr"/>
                          <a:r>
                            <a:rPr lang="pt-BR" dirty="0"/>
                            <a:t>Armazenamento</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dirty="0"/>
                            <a:t>64 GB – 16 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 xmlns:m="http://schemas.openxmlformats.org/officeDocument/2006/math">
                              <m:r>
                                <a:rPr lang="pt-BR" b="0" i="1" smtClean="0">
                                  <a:latin typeface="Cambria Math" panose="02040503050406030204" pitchFamily="18" charset="0"/>
                                </a:rPr>
                                <m:t>&gt;</m:t>
                              </m:r>
                            </m:oMath>
                          </a14:m>
                          <a:r>
                            <a:rPr lang="pt-BR" dirty="0"/>
                            <a:t> </a:t>
                          </a:r>
                          <a:r>
                            <a:rPr lang="pt-BR" sz="1800" b="0" i="0" kern="1200" dirty="0">
                              <a:solidFill>
                                <a:schemeClr val="dk1"/>
                              </a:solidFill>
                              <a:effectLst/>
                              <a:latin typeface="+mn-lt"/>
                              <a:ea typeface="+mn-ea"/>
                              <a:cs typeface="+mn-cs"/>
                            </a:rPr>
                            <a:t>30000</a:t>
                          </a:r>
                          <a:r>
                            <a:rPr lang="pt-BR" dirty="0"/>
                            <a:t> 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dirty="0"/>
                            <a:t>32 KB – 2 MB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3077546"/>
                      </a:ext>
                    </a:extLst>
                  </a:tr>
                  <a:tr h="370840">
                    <a:tc>
                      <a:txBody>
                        <a:bodyPr/>
                        <a:lstStyle/>
                        <a:p>
                          <a:pPr algn="ctr"/>
                          <a:r>
                            <a:rPr lang="pt-BR" dirty="0"/>
                            <a:t>Consumo</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dirty="0"/>
                            <a:t>30 – 700 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 xmlns:m="http://schemas.openxmlformats.org/officeDocument/2006/math">
                              <m:r>
                                <a:rPr lang="pt-BR" b="0" i="1" smtClean="0">
                                  <a:latin typeface="Cambria Math" panose="02040503050406030204" pitchFamily="18" charset="0"/>
                                </a:rPr>
                                <m:t>&gt;</m:t>
                              </m:r>
                            </m:oMath>
                          </a14:m>
                          <a:r>
                            <a:rPr lang="pt-BR" dirty="0"/>
                            <a:t> 1000</a:t>
                          </a:r>
                          <a:r>
                            <a:rPr lang="pt-BR" baseline="0" dirty="0"/>
                            <a:t> </a:t>
                          </a:r>
                          <a:r>
                            <a:rPr lang="pt-BR"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dirty="0"/>
                            <a:t>150 </a:t>
                          </a:r>
                          <a14:m>
                            <m:oMath xmlns:m="http://schemas.openxmlformats.org/officeDocument/2006/math">
                              <m:r>
                                <a:rPr lang="pt-BR" i="1" smtClean="0">
                                  <a:latin typeface="Cambria Math" panose="02040503050406030204" pitchFamily="18" charset="0"/>
                                  <a:ea typeface="Cambria Math" panose="02040503050406030204" pitchFamily="18" charset="0"/>
                                </a:rPr>
                                <m:t>𝜇</m:t>
                              </m:r>
                            </m:oMath>
                          </a14:m>
                          <a:r>
                            <a:rPr lang="pt-BR" dirty="0"/>
                            <a:t>W – 24</a:t>
                          </a:r>
                          <a:r>
                            <a:rPr lang="pt-BR" baseline="0" dirty="0"/>
                            <a:t> mW</a:t>
                          </a:r>
                          <a:endParaRPr lang="pt-B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8420758"/>
                      </a:ext>
                    </a:extLst>
                  </a:tr>
                </a:tbl>
              </a:graphicData>
            </a:graphic>
          </p:graphicFrame>
        </mc:Choice>
        <mc:Fallback xmlns="">
          <p:graphicFrame>
            <p:nvGraphicFramePr>
              <p:cNvPr id="7" name="Tabela 7">
                <a:extLst>
                  <a:ext uri="{FF2B5EF4-FFF2-40B4-BE49-F238E27FC236}">
                    <a16:creationId xmlns:a16="http://schemas.microsoft.com/office/drawing/2014/main" id="{CF075D20-780E-1792-6D5A-733B2F8F1F7E}"/>
                  </a:ext>
                </a:extLst>
              </p:cNvPr>
              <p:cNvGraphicFramePr>
                <a:graphicFrameLocks noGrp="1"/>
              </p:cNvGraphicFramePr>
              <p:nvPr>
                <p:extLst>
                  <p:ext uri="{D42A27DB-BD31-4B8C-83A1-F6EECF244321}">
                    <p14:modId xmlns:p14="http://schemas.microsoft.com/office/powerpoint/2010/main" val="712769696"/>
                  </p:ext>
                </p:extLst>
              </p:nvPr>
            </p:nvGraphicFramePr>
            <p:xfrm>
              <a:off x="116629" y="2842250"/>
              <a:ext cx="8398108" cy="1879600"/>
            </p:xfrm>
            <a:graphic>
              <a:graphicData uri="http://schemas.openxmlformats.org/drawingml/2006/table">
                <a:tbl>
                  <a:tblPr bandRow="1">
                    <a:tableStyleId>{5202B0CA-FC54-4496-8BCA-5EF66A818D29}</a:tableStyleId>
                  </a:tblPr>
                  <a:tblGrid>
                    <a:gridCol w="2099527">
                      <a:extLst>
                        <a:ext uri="{9D8B030D-6E8A-4147-A177-3AD203B41FA5}">
                          <a16:colId xmlns:a16="http://schemas.microsoft.com/office/drawing/2014/main" val="3494750001"/>
                        </a:ext>
                      </a:extLst>
                    </a:gridCol>
                    <a:gridCol w="2099527">
                      <a:extLst>
                        <a:ext uri="{9D8B030D-6E8A-4147-A177-3AD203B41FA5}">
                          <a16:colId xmlns:a16="http://schemas.microsoft.com/office/drawing/2014/main" val="3898912472"/>
                        </a:ext>
                      </a:extLst>
                    </a:gridCol>
                    <a:gridCol w="2099527">
                      <a:extLst>
                        <a:ext uri="{9D8B030D-6E8A-4147-A177-3AD203B41FA5}">
                          <a16:colId xmlns:a16="http://schemas.microsoft.com/office/drawing/2014/main" val="4063873170"/>
                        </a:ext>
                      </a:extLst>
                    </a:gridCol>
                    <a:gridCol w="2099527">
                      <a:extLst>
                        <a:ext uri="{9D8B030D-6E8A-4147-A177-3AD203B41FA5}">
                          <a16:colId xmlns:a16="http://schemas.microsoft.com/office/drawing/2014/main" val="975674981"/>
                        </a:ext>
                      </a:extLst>
                    </a:gridCol>
                  </a:tblGrid>
                  <a:tr h="396240">
                    <a:tc>
                      <a:txBody>
                        <a:bodyPr/>
                        <a:lstStyle/>
                        <a:p>
                          <a:pPr algn="ctr"/>
                          <a:endParaRPr lang="pt-BR"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2000" b="1" dirty="0"/>
                            <a:t>Microprocessador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sz="2000" b="1" dirty="0"/>
                            <a:t>&gt;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sz="2000" b="1" dirty="0"/>
                            <a:t>Microcontrolador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2427868"/>
                      </a:ext>
                    </a:extLst>
                  </a:tr>
                  <a:tr h="370840">
                    <a:tc>
                      <a:txBody>
                        <a:bodyPr/>
                        <a:lstStyle/>
                        <a:p>
                          <a:pPr algn="ctr"/>
                          <a:r>
                            <a:rPr lang="pt-BR" dirty="0"/>
                            <a:t>Freq. de operação</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dirty="0"/>
                            <a:t>1 GHz – 4 GHz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99710" t="-114754" r="-100290" b="-324590"/>
                          </a:stretch>
                        </a:blipFill>
                      </a:tcPr>
                    </a:tc>
                    <a:tc>
                      <a:txBody>
                        <a:bodyPr/>
                        <a:lstStyle/>
                        <a:p>
                          <a:pPr algn="ctr"/>
                          <a:r>
                            <a:rPr lang="pt-BR" dirty="0"/>
                            <a:t>1 MHz – 400 MHz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65239804"/>
                      </a:ext>
                    </a:extLst>
                  </a:tr>
                  <a:tr h="370840">
                    <a:tc>
                      <a:txBody>
                        <a:bodyPr/>
                        <a:lstStyle/>
                        <a:p>
                          <a:pPr algn="ctr"/>
                          <a:r>
                            <a:rPr lang="pt-BR" dirty="0"/>
                            <a:t>Memória RAM</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dirty="0"/>
                            <a:t>512 MB – 128 GB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99710" t="-214754" r="-100290" b="-224590"/>
                          </a:stretch>
                        </a:blipFill>
                      </a:tcPr>
                    </a:tc>
                    <a:tc>
                      <a:txBody>
                        <a:bodyPr/>
                        <a:lstStyle/>
                        <a:p>
                          <a:pPr algn="ctr"/>
                          <a:r>
                            <a:rPr lang="pt-BR" dirty="0"/>
                            <a:t>2 KB – 512 KB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90909376"/>
                      </a:ext>
                    </a:extLst>
                  </a:tr>
                  <a:tr h="370840">
                    <a:tc>
                      <a:txBody>
                        <a:bodyPr/>
                        <a:lstStyle/>
                        <a:p>
                          <a:pPr algn="ctr"/>
                          <a:r>
                            <a:rPr lang="pt-BR" dirty="0"/>
                            <a:t>Armazenamento</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dirty="0"/>
                            <a:t>64 GB – 16 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99710" t="-314754" r="-100290" b="-124590"/>
                          </a:stretch>
                        </a:blipFill>
                      </a:tcPr>
                    </a:tc>
                    <a:tc>
                      <a:txBody>
                        <a:bodyPr/>
                        <a:lstStyle/>
                        <a:p>
                          <a:pPr algn="ctr"/>
                          <a:r>
                            <a:rPr lang="pt-BR" dirty="0"/>
                            <a:t>32 KB – 2 MB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3077546"/>
                      </a:ext>
                    </a:extLst>
                  </a:tr>
                  <a:tr h="370840">
                    <a:tc>
                      <a:txBody>
                        <a:bodyPr/>
                        <a:lstStyle/>
                        <a:p>
                          <a:pPr algn="ctr"/>
                          <a:r>
                            <a:rPr lang="pt-BR" dirty="0"/>
                            <a:t>Consumo</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dirty="0"/>
                            <a:t>30 – 700 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99710" t="-414754" r="-100290" b="-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581" t="-414754" r="-581" b="-24590"/>
                          </a:stretch>
                        </a:blipFill>
                      </a:tcPr>
                    </a:tc>
                    <a:extLst>
                      <a:ext uri="{0D108BD9-81ED-4DB2-BD59-A6C34878D82A}">
                        <a16:rowId xmlns:a16="http://schemas.microsoft.com/office/drawing/2014/main" val="1918420758"/>
                      </a:ext>
                    </a:extLst>
                  </a:tr>
                </a:tbl>
              </a:graphicData>
            </a:graphic>
          </p:graphicFrame>
        </mc:Fallback>
      </mc:AlternateContent>
      <p:graphicFrame>
        <p:nvGraphicFramePr>
          <p:cNvPr id="8" name="Tabela 8">
            <a:extLst>
              <a:ext uri="{FF2B5EF4-FFF2-40B4-BE49-F238E27FC236}">
                <a16:creationId xmlns:a16="http://schemas.microsoft.com/office/drawing/2014/main" id="{39A27E60-111E-513B-FF2B-A0E26FF49C6C}"/>
              </a:ext>
            </a:extLst>
          </p:cNvPr>
          <p:cNvGraphicFramePr>
            <a:graphicFrameLocks noGrp="1"/>
          </p:cNvGraphicFramePr>
          <p:nvPr>
            <p:extLst>
              <p:ext uri="{D42A27DB-BD31-4B8C-83A1-F6EECF244321}">
                <p14:modId xmlns:p14="http://schemas.microsoft.com/office/powerpoint/2010/main" val="3466743227"/>
              </p:ext>
            </p:extLst>
          </p:nvPr>
        </p:nvGraphicFramePr>
        <p:xfrm>
          <a:off x="9507196" y="2842250"/>
          <a:ext cx="1481871" cy="1875601"/>
        </p:xfrm>
        <a:graphic>
          <a:graphicData uri="http://schemas.openxmlformats.org/drawingml/2006/table">
            <a:tbl>
              <a:tblPr>
                <a:tableStyleId>{5C22544A-7EE6-4342-B048-85BDC9FD1C3A}</a:tableStyleId>
              </a:tblPr>
              <a:tblGrid>
                <a:gridCol w="1481871">
                  <a:extLst>
                    <a:ext uri="{9D8B030D-6E8A-4147-A177-3AD203B41FA5}">
                      <a16:colId xmlns:a16="http://schemas.microsoft.com/office/drawing/2014/main" val="2844960681"/>
                    </a:ext>
                  </a:extLst>
                </a:gridCol>
              </a:tblGrid>
              <a:tr h="40057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2000" b="1" i="0" kern="1200" dirty="0">
                          <a:solidFill>
                            <a:schemeClr val="dk1"/>
                          </a:solidFill>
                          <a:effectLst/>
                          <a:latin typeface="+mn-lt"/>
                          <a:ea typeface="+mn-ea"/>
                          <a:cs typeface="+mn-cs"/>
                        </a:rPr>
                        <a:t>nRF52840*</a:t>
                      </a:r>
                      <a:endParaRPr lang="pt-BR" sz="1800" b="0" i="0" kern="1200" dirty="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8239852"/>
                  </a:ext>
                </a:extLst>
              </a:tr>
              <a:tr h="369757">
                <a:tc>
                  <a:txBody>
                    <a:bodyPr/>
                    <a:lstStyle/>
                    <a:p>
                      <a:pPr marL="0" algn="ctr" defTabSz="914400" rtl="0" eaLnBrk="1" latinLnBrk="0" hangingPunct="1"/>
                      <a:r>
                        <a:rPr lang="pt-BR" sz="1800" b="0" kern="1200" dirty="0">
                          <a:solidFill>
                            <a:schemeClr val="dk1"/>
                          </a:solidFill>
                          <a:latin typeface="+mn-lt"/>
                          <a:ea typeface="+mn-ea"/>
                          <a:cs typeface="+mn-cs"/>
                        </a:rPr>
                        <a:t>64 MHz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93748292"/>
                  </a:ext>
                </a:extLst>
              </a:tr>
              <a:tr h="369757">
                <a:tc>
                  <a:txBody>
                    <a:bodyPr/>
                    <a:lstStyle/>
                    <a:p>
                      <a:pPr marL="0" algn="ctr" defTabSz="914400" rtl="0" eaLnBrk="1" latinLnBrk="0" hangingPunct="1"/>
                      <a:r>
                        <a:rPr lang="pt-BR" sz="1800" b="0" kern="1200" dirty="0">
                          <a:solidFill>
                            <a:schemeClr val="dk1"/>
                          </a:solidFill>
                          <a:latin typeface="+mn-lt"/>
                          <a:ea typeface="+mn-ea"/>
                          <a:cs typeface="+mn-cs"/>
                        </a:rPr>
                        <a:t>256 KB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6209873"/>
                  </a:ext>
                </a:extLst>
              </a:tr>
              <a:tr h="369757">
                <a:tc>
                  <a:txBody>
                    <a:bodyPr/>
                    <a:lstStyle/>
                    <a:p>
                      <a:pPr marL="0" algn="ctr" defTabSz="914400" rtl="0" eaLnBrk="1" latinLnBrk="0" hangingPunct="1"/>
                      <a:r>
                        <a:rPr lang="pt-BR" sz="1800" b="0" kern="1200" dirty="0">
                          <a:solidFill>
                            <a:schemeClr val="dk1"/>
                          </a:solidFill>
                          <a:latin typeface="+mn-lt"/>
                          <a:ea typeface="+mn-ea"/>
                          <a:cs typeface="+mn-cs"/>
                        </a:rPr>
                        <a:t>1 MB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0254665"/>
                  </a:ext>
                </a:extLst>
              </a:tr>
              <a:tr h="346838">
                <a:tc>
                  <a:txBody>
                    <a:bodyPr/>
                    <a:lstStyle/>
                    <a:p>
                      <a:pPr marL="0" algn="ctr" defTabSz="914400" rtl="0" eaLnBrk="1" latinLnBrk="0" hangingPunct="1"/>
                      <a:r>
                        <a:rPr lang="pt-BR" sz="1800" b="0" kern="1200" dirty="0">
                          <a:solidFill>
                            <a:schemeClr val="dk1"/>
                          </a:solidFill>
                          <a:latin typeface="+mn-lt"/>
                          <a:ea typeface="+mn-ea"/>
                          <a:cs typeface="+mn-cs"/>
                        </a:rPr>
                        <a:t>&lt; 1 mW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9462053"/>
                  </a:ext>
                </a:extLst>
              </a:tr>
            </a:tbl>
          </a:graphicData>
        </a:graphic>
      </p:graphicFrame>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B4D3C011-DA2F-DE87-DBA7-B129F3A22805}"/>
                  </a:ext>
                </a:extLst>
              </p:cNvPr>
              <p:cNvSpPr txBox="1"/>
              <p:nvPr/>
            </p:nvSpPr>
            <p:spPr>
              <a:xfrm>
                <a:off x="10989066" y="2842250"/>
                <a:ext cx="1063083" cy="461665"/>
              </a:xfrm>
              <a:prstGeom prst="rect">
                <a:avLst/>
              </a:prstGeom>
              <a:noFill/>
            </p:spPr>
            <p:txBody>
              <a:bodyPr wrap="square" rtlCol="0">
                <a:spAutoFit/>
              </a:bodyPr>
              <a:lstStyle/>
              <a:p>
                <a:pPr algn="ctr"/>
                <a:r>
                  <a:rPr lang="pt-BR" sz="1200" b="1" dirty="0">
                    <a:ea typeface="Cambria Math" panose="02040503050406030204" pitchFamily="18" charset="0"/>
                  </a:rPr>
                  <a:t>* </a:t>
                </a:r>
                <a14:m>
                  <m:oMath xmlns:m="http://schemas.openxmlformats.org/officeDocument/2006/math">
                    <m:r>
                      <a:rPr lang="pt-BR" sz="1200" i="1" smtClean="0">
                        <a:latin typeface="Cambria Math" panose="02040503050406030204" pitchFamily="18" charset="0"/>
                        <a:ea typeface="Cambria Math" panose="02040503050406030204" pitchFamily="18" charset="0"/>
                      </a:rPr>
                      <m:t>𝜇</m:t>
                    </m:r>
                  </m:oMath>
                </a14:m>
                <a:r>
                  <a:rPr lang="pt-BR" sz="1200" dirty="0"/>
                  <a:t>C usado no kit </a:t>
                </a:r>
                <a:r>
                  <a:rPr lang="pt-BR" sz="1200" dirty="0" err="1"/>
                  <a:t>tinyML</a:t>
                </a:r>
                <a:endParaRPr lang="pt-BR" sz="1200" dirty="0"/>
              </a:p>
            </p:txBody>
          </p:sp>
        </mc:Choice>
        <mc:Fallback xmlns="">
          <p:sp>
            <p:nvSpPr>
              <p:cNvPr id="11" name="CaixaDeTexto 10">
                <a:extLst>
                  <a:ext uri="{FF2B5EF4-FFF2-40B4-BE49-F238E27FC236}">
                    <a16:creationId xmlns:a16="http://schemas.microsoft.com/office/drawing/2014/main" id="{B4D3C011-DA2F-DE87-DBA7-B129F3A22805}"/>
                  </a:ext>
                </a:extLst>
              </p:cNvPr>
              <p:cNvSpPr txBox="1">
                <a:spLocks noRot="1" noChangeAspect="1" noMove="1" noResize="1" noEditPoints="1" noAdjustHandles="1" noChangeArrowheads="1" noChangeShapeType="1" noTextEdit="1"/>
              </p:cNvSpPr>
              <p:nvPr/>
            </p:nvSpPr>
            <p:spPr>
              <a:xfrm>
                <a:off x="10989066" y="2842250"/>
                <a:ext cx="1063083" cy="461665"/>
              </a:xfrm>
              <a:prstGeom prst="rect">
                <a:avLst/>
              </a:prstGeom>
              <a:blipFill>
                <a:blip r:embed="rId4"/>
                <a:stretch>
                  <a:fillRect b="-9211"/>
                </a:stretch>
              </a:blipFill>
            </p:spPr>
            <p:txBody>
              <a:bodyPr/>
              <a:lstStyle/>
              <a:p>
                <a:r>
                  <a:rPr lang="en-US">
                    <a:noFill/>
                  </a:rPr>
                  <a:t> </a:t>
                </a:r>
              </a:p>
            </p:txBody>
          </p:sp>
        </mc:Fallback>
      </mc:AlternateContent>
      <p:pic>
        <p:nvPicPr>
          <p:cNvPr id="1026" name="Picture 2" descr="Arduino Nano 33 BLE Sense [ABX00031] | Amazon.com.br">
            <a:extLst>
              <a:ext uri="{FF2B5EF4-FFF2-40B4-BE49-F238E27FC236}">
                <a16:creationId xmlns:a16="http://schemas.microsoft.com/office/drawing/2014/main" id="{E06913D6-32DF-7575-B1B1-C85F498FCBB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507196" y="1690688"/>
            <a:ext cx="1481871" cy="1009483"/>
          </a:xfrm>
          <a:prstGeom prst="rect">
            <a:avLst/>
          </a:prstGeom>
          <a:noFill/>
          <a:extLst>
            <a:ext uri="{909E8E84-426E-40DD-AFC4-6F175D3DCCD1}">
              <a14:hiddenFill xmlns:a14="http://schemas.microsoft.com/office/drawing/2010/main">
                <a:solidFill>
                  <a:srgbClr val="FFFFFF"/>
                </a:solidFill>
              </a14:hiddenFill>
            </a:ext>
          </a:extLst>
        </p:spPr>
      </p:pic>
      <p:sp>
        <p:nvSpPr>
          <p:cNvPr id="3" name="Seta: para a Direita 2">
            <a:extLst>
              <a:ext uri="{FF2B5EF4-FFF2-40B4-BE49-F238E27FC236}">
                <a16:creationId xmlns:a16="http://schemas.microsoft.com/office/drawing/2014/main" id="{683B0344-A084-5AC5-CC2D-61BF18C89A6E}"/>
              </a:ext>
            </a:extLst>
          </p:cNvPr>
          <p:cNvSpPr/>
          <p:nvPr/>
        </p:nvSpPr>
        <p:spPr>
          <a:xfrm>
            <a:off x="2109364" y="3303915"/>
            <a:ext cx="262759" cy="21170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Seta: para a Direita 3">
            <a:extLst>
              <a:ext uri="{FF2B5EF4-FFF2-40B4-BE49-F238E27FC236}">
                <a16:creationId xmlns:a16="http://schemas.microsoft.com/office/drawing/2014/main" id="{4C288004-0CFC-B9CA-C2EC-C4113A14BEB7}"/>
              </a:ext>
            </a:extLst>
          </p:cNvPr>
          <p:cNvSpPr/>
          <p:nvPr/>
        </p:nvSpPr>
        <p:spPr>
          <a:xfrm>
            <a:off x="2109362" y="3673441"/>
            <a:ext cx="262759" cy="21170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Seta: para a Direita 4">
            <a:extLst>
              <a:ext uri="{FF2B5EF4-FFF2-40B4-BE49-F238E27FC236}">
                <a16:creationId xmlns:a16="http://schemas.microsoft.com/office/drawing/2014/main" id="{8CF3B84E-19A8-EAF4-90B5-0D5BF3420C56}"/>
              </a:ext>
            </a:extLst>
          </p:cNvPr>
          <p:cNvSpPr/>
          <p:nvPr/>
        </p:nvSpPr>
        <p:spPr>
          <a:xfrm>
            <a:off x="2109363" y="4053345"/>
            <a:ext cx="262759" cy="21170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Seta: para a Direita 5">
            <a:extLst>
              <a:ext uri="{FF2B5EF4-FFF2-40B4-BE49-F238E27FC236}">
                <a16:creationId xmlns:a16="http://schemas.microsoft.com/office/drawing/2014/main" id="{E1B6CB48-BD28-64E8-CA60-EE6391381F54}"/>
              </a:ext>
            </a:extLst>
          </p:cNvPr>
          <p:cNvSpPr/>
          <p:nvPr/>
        </p:nvSpPr>
        <p:spPr>
          <a:xfrm>
            <a:off x="2109363" y="4422871"/>
            <a:ext cx="262759" cy="21170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9020176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CCC47-80CC-A250-1026-D6CED44B1C4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8508A07-59AF-C14C-72BB-508AA9B758F7}"/>
              </a:ext>
            </a:extLst>
          </p:cNvPr>
          <p:cNvSpPr>
            <a:spLocks noGrp="1"/>
          </p:cNvSpPr>
          <p:nvPr>
            <p:ph type="title"/>
          </p:nvPr>
        </p:nvSpPr>
        <p:spPr/>
        <p:txBody>
          <a:bodyPr/>
          <a:lstStyle/>
          <a:p>
            <a:r>
              <a:rPr lang="pt-BR" dirty="0"/>
              <a:t>Diferenças de magnitude</a:t>
            </a:r>
          </a:p>
        </p:txBody>
      </p:sp>
      <p:sp>
        <p:nvSpPr>
          <p:cNvPr id="9" name="Espaço Reservado para Conteúdo 2">
            <a:extLst>
              <a:ext uri="{FF2B5EF4-FFF2-40B4-BE49-F238E27FC236}">
                <a16:creationId xmlns:a16="http://schemas.microsoft.com/office/drawing/2014/main" id="{3BDBE2E6-C64D-496C-A763-C59F05942289}"/>
              </a:ext>
            </a:extLst>
          </p:cNvPr>
          <p:cNvSpPr>
            <a:spLocks noGrp="1"/>
          </p:cNvSpPr>
          <p:nvPr>
            <p:ph idx="1"/>
          </p:nvPr>
        </p:nvSpPr>
        <p:spPr>
          <a:xfrm>
            <a:off x="4765638" y="1690689"/>
            <a:ext cx="7221923" cy="5167312"/>
          </a:xfrm>
        </p:spPr>
        <p:txBody>
          <a:bodyPr>
            <a:normAutofit/>
          </a:bodyPr>
          <a:lstStyle/>
          <a:p>
            <a:r>
              <a:rPr lang="pt-BR" dirty="0"/>
              <a:t>Quanto </a:t>
            </a:r>
            <a:r>
              <a:rPr lang="pt-BR" b="1" i="1" dirty="0">
                <a:solidFill>
                  <a:schemeClr val="accent5"/>
                </a:solidFill>
              </a:rPr>
              <a:t>mais elevada é a frequência de operação</a:t>
            </a:r>
            <a:r>
              <a:rPr lang="pt-BR" b="1" i="1" dirty="0"/>
              <a:t> </a:t>
            </a:r>
            <a:r>
              <a:rPr lang="pt-BR" dirty="0"/>
              <a:t>de uma CPU, </a:t>
            </a:r>
            <a:r>
              <a:rPr lang="pt-BR" b="1" i="1" dirty="0">
                <a:solidFill>
                  <a:srgbClr val="00B050"/>
                </a:solidFill>
              </a:rPr>
              <a:t>mais instruções por segundo são processadas</a:t>
            </a:r>
            <a:r>
              <a:rPr lang="pt-BR" dirty="0"/>
              <a:t> e, consequentemente, </a:t>
            </a:r>
            <a:r>
              <a:rPr lang="pt-BR" b="1" i="1" dirty="0">
                <a:solidFill>
                  <a:schemeClr val="accent2"/>
                </a:solidFill>
              </a:rPr>
              <a:t>maior é o consumo de energia</a:t>
            </a:r>
            <a:r>
              <a:rPr lang="pt-BR" dirty="0"/>
              <a:t>.</a:t>
            </a:r>
          </a:p>
          <a:p>
            <a:r>
              <a:rPr lang="pt-BR" dirty="0"/>
              <a:t>As diferenças são muito grandes, principalmente devido ao tamanho dos sistemas e suas limitações.</a:t>
            </a:r>
          </a:p>
          <a:p>
            <a:r>
              <a:rPr lang="pt-BR" dirty="0"/>
              <a:t>Percebam que </a:t>
            </a:r>
            <a:r>
              <a:rPr lang="pt-BR" b="1" i="1" dirty="0"/>
              <a:t>vários desafios devem ser superados </a:t>
            </a:r>
            <a:r>
              <a:rPr lang="pt-BR" dirty="0"/>
              <a:t>para que aplicações de ML possam ser executadas nesses dispositivos com várias restrições.</a:t>
            </a:r>
          </a:p>
        </p:txBody>
      </p:sp>
      <p:pic>
        <p:nvPicPr>
          <p:cNvPr id="10" name="Picture 2" descr="Arduino Nano 33 BLE Sense [ABX00031] | Amazon.com.br">
            <a:extLst>
              <a:ext uri="{FF2B5EF4-FFF2-40B4-BE49-F238E27FC236}">
                <a16:creationId xmlns:a16="http://schemas.microsoft.com/office/drawing/2014/main" id="{A0535E08-8919-A7FE-9003-FAE48E89016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18965" y="6078071"/>
            <a:ext cx="1144897" cy="77992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How to Choose a Motherboard for Gaming (2023 Guide)">
            <a:extLst>
              <a:ext uri="{FF2B5EF4-FFF2-40B4-BE49-F238E27FC236}">
                <a16:creationId xmlns:a16="http://schemas.microsoft.com/office/drawing/2014/main" id="{63F7D4FB-5713-16F0-2D22-05A3A71931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8939" y="1904104"/>
            <a:ext cx="3481122" cy="2948105"/>
          </a:xfrm>
          <a:prstGeom prst="rect">
            <a:avLst/>
          </a:prstGeom>
          <a:noFill/>
          <a:extLst>
            <a:ext uri="{909E8E84-426E-40DD-AFC4-6F175D3DCCD1}">
              <a14:hiddenFill xmlns:a14="http://schemas.microsoft.com/office/drawing/2010/main">
                <a:solidFill>
                  <a:srgbClr val="FFFFFF"/>
                </a:solidFill>
              </a14:hiddenFill>
            </a:ext>
          </a:extLst>
        </p:spPr>
      </p:pic>
      <p:sp>
        <p:nvSpPr>
          <p:cNvPr id="13" name="Arrow: Down 12">
            <a:extLst>
              <a:ext uri="{FF2B5EF4-FFF2-40B4-BE49-F238E27FC236}">
                <a16:creationId xmlns:a16="http://schemas.microsoft.com/office/drawing/2014/main" id="{881D0AC4-3F09-AA3D-8605-0943CABFD69B}"/>
              </a:ext>
            </a:extLst>
          </p:cNvPr>
          <p:cNvSpPr/>
          <p:nvPr/>
        </p:nvSpPr>
        <p:spPr>
          <a:xfrm>
            <a:off x="2391413" y="5249732"/>
            <a:ext cx="405575" cy="51636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600287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52554-32A1-DE22-3393-9EE2C7E9EF9A}"/>
            </a:ext>
          </a:extLst>
        </p:cNvPr>
        <p:cNvGrpSpPr/>
        <p:nvPr/>
      </p:nvGrpSpPr>
      <p:grpSpPr>
        <a:xfrm>
          <a:off x="0" y="0"/>
          <a:ext cx="0" cy="0"/>
          <a:chOff x="0" y="0"/>
          <a:chExt cx="0" cy="0"/>
        </a:xfrm>
      </p:grpSpPr>
      <p:sp>
        <p:nvSpPr>
          <p:cNvPr id="9" name="Espaço Reservado para Conteúdo 2">
            <a:extLst>
              <a:ext uri="{FF2B5EF4-FFF2-40B4-BE49-F238E27FC236}">
                <a16:creationId xmlns:a16="http://schemas.microsoft.com/office/drawing/2014/main" id="{AA600546-3461-2717-A9AD-CBDE88BB8B5F}"/>
              </a:ext>
            </a:extLst>
          </p:cNvPr>
          <p:cNvSpPr>
            <a:spLocks noGrp="1"/>
          </p:cNvSpPr>
          <p:nvPr>
            <p:ph idx="1"/>
          </p:nvPr>
        </p:nvSpPr>
        <p:spPr>
          <a:xfrm>
            <a:off x="381918" y="2155087"/>
            <a:ext cx="11428163" cy="2547825"/>
          </a:xfrm>
        </p:spPr>
        <p:txBody>
          <a:bodyPr>
            <a:normAutofit/>
          </a:bodyPr>
          <a:lstStyle/>
          <a:p>
            <a:pPr marL="0" indent="0" algn="ctr">
              <a:buNone/>
            </a:pPr>
            <a:r>
              <a:rPr lang="pt-BR" sz="4400" dirty="0"/>
              <a:t>Portanto, </a:t>
            </a:r>
            <a:r>
              <a:rPr lang="pt-BR" sz="4400" b="1" i="1" dirty="0"/>
              <a:t>vários desafios devem ser superados </a:t>
            </a:r>
            <a:r>
              <a:rPr lang="pt-BR" sz="4400" dirty="0"/>
              <a:t>para que aplicações de ML possam ser executadas nesses dispositivos com restrições computacionais.</a:t>
            </a:r>
          </a:p>
        </p:txBody>
      </p:sp>
    </p:spTree>
    <p:extLst>
      <p:ext uri="{BB962C8B-B14F-4D97-AF65-F5344CB8AC3E}">
        <p14:creationId xmlns:p14="http://schemas.microsoft.com/office/powerpoint/2010/main" val="17765872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8B31A6-DC93-99FC-D2E7-D4F729B87C66}"/>
              </a:ext>
            </a:extLst>
          </p:cNvPr>
          <p:cNvSpPr>
            <a:spLocks noGrp="1"/>
          </p:cNvSpPr>
          <p:nvPr>
            <p:ph type="title"/>
          </p:nvPr>
        </p:nvSpPr>
        <p:spPr/>
        <p:txBody>
          <a:bodyPr/>
          <a:lstStyle/>
          <a:p>
            <a:r>
              <a:rPr lang="pt-BR" dirty="0"/>
              <a:t>Quais são as implicações </a:t>
            </a:r>
            <a:r>
              <a:rPr lang="pt-BR"/>
              <a:t>das limitações?</a:t>
            </a:r>
          </a:p>
        </p:txBody>
      </p:sp>
      <p:sp>
        <p:nvSpPr>
          <p:cNvPr id="3" name="Espaço Reservado para Conteúdo 2">
            <a:extLst>
              <a:ext uri="{FF2B5EF4-FFF2-40B4-BE49-F238E27FC236}">
                <a16:creationId xmlns:a16="http://schemas.microsoft.com/office/drawing/2014/main" id="{D6D4C17C-7FBB-B1A7-C11D-C9008C60A343}"/>
              </a:ext>
            </a:extLst>
          </p:cNvPr>
          <p:cNvSpPr>
            <a:spLocks noGrp="1"/>
          </p:cNvSpPr>
          <p:nvPr>
            <p:ph idx="1"/>
          </p:nvPr>
        </p:nvSpPr>
        <p:spPr>
          <a:xfrm>
            <a:off x="3534936" y="2004044"/>
            <a:ext cx="8425835" cy="4853956"/>
          </a:xfrm>
        </p:spPr>
        <p:txBody>
          <a:bodyPr/>
          <a:lstStyle/>
          <a:p>
            <a:r>
              <a:rPr lang="pt-BR" dirty="0"/>
              <a:t>Com </a:t>
            </a:r>
            <a:r>
              <a:rPr lang="pt-BR" b="1" i="1" dirty="0">
                <a:solidFill>
                  <a:srgbClr val="FF0000"/>
                </a:solidFill>
              </a:rPr>
              <a:t>sistemas computacionais de uso geral</a:t>
            </a:r>
            <a:r>
              <a:rPr lang="pt-BR" dirty="0"/>
              <a:t>, nós praticamente </a:t>
            </a:r>
            <a:r>
              <a:rPr lang="pt-BR" b="1" i="1" dirty="0">
                <a:solidFill>
                  <a:srgbClr val="00B050"/>
                </a:solidFill>
              </a:rPr>
              <a:t>não precisamos nos preocupar com memória, consumo, poder computacional</a:t>
            </a:r>
            <a:r>
              <a:rPr lang="pt-BR" dirty="0"/>
              <a:t>.  </a:t>
            </a:r>
          </a:p>
          <a:p>
            <a:r>
              <a:rPr lang="pt-BR" dirty="0"/>
              <a:t>Porém, com sistemas embarcados precisamos saber </a:t>
            </a:r>
          </a:p>
          <a:p>
            <a:pPr lvl="1">
              <a:buFont typeface="Wingdings" panose="05000000000000000000" pitchFamily="2" charset="2"/>
              <a:buChar char="§"/>
            </a:pPr>
            <a:r>
              <a:rPr lang="pt-BR" dirty="0"/>
              <a:t>o </a:t>
            </a:r>
            <a:r>
              <a:rPr lang="pt-BR" b="1" i="1" dirty="0"/>
              <a:t>quanto de memória a aplicação requer,</a:t>
            </a:r>
            <a:r>
              <a:rPr lang="pt-BR" dirty="0"/>
              <a:t> pois pode não caber na memória.</a:t>
            </a:r>
          </a:p>
          <a:p>
            <a:pPr lvl="1">
              <a:buFont typeface="Wingdings" panose="05000000000000000000" pitchFamily="2" charset="2"/>
              <a:buChar char="§"/>
            </a:pPr>
            <a:r>
              <a:rPr lang="pt-BR" dirty="0"/>
              <a:t>o </a:t>
            </a:r>
            <a:r>
              <a:rPr lang="pt-BR" b="1" i="1" dirty="0"/>
              <a:t>consumo de energia da aplicação</a:t>
            </a:r>
            <a:r>
              <a:rPr lang="pt-BR" dirty="0"/>
              <a:t>, pois a bateria pode não durar muito.</a:t>
            </a:r>
          </a:p>
          <a:p>
            <a:pPr lvl="1">
              <a:buFont typeface="Wingdings" panose="05000000000000000000" pitchFamily="2" charset="2"/>
              <a:buChar char="§"/>
            </a:pPr>
            <a:r>
              <a:rPr lang="pt-BR" dirty="0"/>
              <a:t>a </a:t>
            </a:r>
            <a:r>
              <a:rPr lang="pt-BR" b="1" i="1" dirty="0"/>
              <a:t>quantidade necessária de processamento de dados requerido pela aplicação</a:t>
            </a:r>
            <a:r>
              <a:rPr lang="pt-BR" dirty="0"/>
              <a:t>, pois a CPU pode não atender.</a:t>
            </a:r>
          </a:p>
        </p:txBody>
      </p:sp>
      <p:graphicFrame>
        <p:nvGraphicFramePr>
          <p:cNvPr id="4" name="Tabela 8">
            <a:extLst>
              <a:ext uri="{FF2B5EF4-FFF2-40B4-BE49-F238E27FC236}">
                <a16:creationId xmlns:a16="http://schemas.microsoft.com/office/drawing/2014/main" id="{10165618-7933-E8ED-F70D-E1EDD7395C9A}"/>
              </a:ext>
            </a:extLst>
          </p:cNvPr>
          <p:cNvGraphicFramePr>
            <a:graphicFrameLocks noGrp="1"/>
          </p:cNvGraphicFramePr>
          <p:nvPr>
            <p:extLst>
              <p:ext uri="{D42A27DB-BD31-4B8C-83A1-F6EECF244321}">
                <p14:modId xmlns:p14="http://schemas.microsoft.com/office/powerpoint/2010/main" val="904662803"/>
              </p:ext>
            </p:extLst>
          </p:nvPr>
        </p:nvGraphicFramePr>
        <p:xfrm>
          <a:off x="1294783" y="3429000"/>
          <a:ext cx="1481871" cy="1875601"/>
        </p:xfrm>
        <a:graphic>
          <a:graphicData uri="http://schemas.openxmlformats.org/drawingml/2006/table">
            <a:tbl>
              <a:tblPr>
                <a:tableStyleId>{5C22544A-7EE6-4342-B048-85BDC9FD1C3A}</a:tableStyleId>
              </a:tblPr>
              <a:tblGrid>
                <a:gridCol w="1481871">
                  <a:extLst>
                    <a:ext uri="{9D8B030D-6E8A-4147-A177-3AD203B41FA5}">
                      <a16:colId xmlns:a16="http://schemas.microsoft.com/office/drawing/2014/main" val="2844960681"/>
                    </a:ext>
                  </a:extLst>
                </a:gridCol>
              </a:tblGrid>
              <a:tr h="40057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2000" b="1" i="0" kern="1200" dirty="0">
                          <a:solidFill>
                            <a:schemeClr val="dk1"/>
                          </a:solidFill>
                          <a:effectLst/>
                          <a:latin typeface="+mn-lt"/>
                          <a:ea typeface="+mn-ea"/>
                          <a:cs typeface="+mn-cs"/>
                        </a:rPr>
                        <a:t>nRF52840</a:t>
                      </a:r>
                      <a:endParaRPr lang="pt-BR" sz="1800" b="1" i="0" kern="1200" dirty="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8239852"/>
                  </a:ext>
                </a:extLst>
              </a:tr>
              <a:tr h="369757">
                <a:tc>
                  <a:txBody>
                    <a:bodyPr/>
                    <a:lstStyle/>
                    <a:p>
                      <a:pPr marL="0" algn="ctr" defTabSz="914400" rtl="0" eaLnBrk="1" latinLnBrk="0" hangingPunct="1"/>
                      <a:r>
                        <a:rPr lang="pt-BR" sz="1800" b="0" kern="1200" dirty="0">
                          <a:solidFill>
                            <a:schemeClr val="dk1"/>
                          </a:solidFill>
                          <a:latin typeface="+mn-lt"/>
                          <a:ea typeface="+mn-ea"/>
                          <a:cs typeface="+mn-cs"/>
                        </a:rPr>
                        <a:t>64 MHz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93748292"/>
                  </a:ext>
                </a:extLst>
              </a:tr>
              <a:tr h="369757">
                <a:tc>
                  <a:txBody>
                    <a:bodyPr/>
                    <a:lstStyle/>
                    <a:p>
                      <a:pPr marL="0" algn="ctr" defTabSz="914400" rtl="0" eaLnBrk="1" latinLnBrk="0" hangingPunct="1"/>
                      <a:r>
                        <a:rPr lang="pt-BR" sz="1800" b="0" kern="1200" dirty="0">
                          <a:solidFill>
                            <a:schemeClr val="dk1"/>
                          </a:solidFill>
                          <a:latin typeface="+mn-lt"/>
                          <a:ea typeface="+mn-ea"/>
                          <a:cs typeface="+mn-cs"/>
                        </a:rPr>
                        <a:t>256 KB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6209873"/>
                  </a:ext>
                </a:extLst>
              </a:tr>
              <a:tr h="369757">
                <a:tc>
                  <a:txBody>
                    <a:bodyPr/>
                    <a:lstStyle/>
                    <a:p>
                      <a:pPr marL="0" algn="ctr" defTabSz="914400" rtl="0" eaLnBrk="1" latinLnBrk="0" hangingPunct="1"/>
                      <a:r>
                        <a:rPr lang="pt-BR" sz="1800" b="0" kern="1200" dirty="0">
                          <a:solidFill>
                            <a:schemeClr val="dk1"/>
                          </a:solidFill>
                          <a:latin typeface="+mn-lt"/>
                          <a:ea typeface="+mn-ea"/>
                          <a:cs typeface="+mn-cs"/>
                        </a:rPr>
                        <a:t>1 MB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0254665"/>
                  </a:ext>
                </a:extLst>
              </a:tr>
              <a:tr h="346838">
                <a:tc>
                  <a:txBody>
                    <a:bodyPr/>
                    <a:lstStyle/>
                    <a:p>
                      <a:pPr marL="0" algn="ctr" defTabSz="914400" rtl="0" eaLnBrk="1" latinLnBrk="0" hangingPunct="1"/>
                      <a:r>
                        <a:rPr lang="pt-BR" sz="1800" b="0" kern="1200" dirty="0">
                          <a:solidFill>
                            <a:schemeClr val="dk1"/>
                          </a:solidFill>
                          <a:latin typeface="+mn-lt"/>
                          <a:ea typeface="+mn-ea"/>
                          <a:cs typeface="+mn-cs"/>
                        </a:rPr>
                        <a:t>&lt; 1 mW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9462053"/>
                  </a:ext>
                </a:extLst>
              </a:tr>
            </a:tbl>
          </a:graphicData>
        </a:graphic>
      </p:graphicFrame>
      <p:pic>
        <p:nvPicPr>
          <p:cNvPr id="6" name="Picture 2" descr="Arduino Nano 33 BLE Sense [ABX00031] | Amazon.com.br">
            <a:extLst>
              <a:ext uri="{FF2B5EF4-FFF2-40B4-BE49-F238E27FC236}">
                <a16:creationId xmlns:a16="http://schemas.microsoft.com/office/drawing/2014/main" id="{2A64C43F-94D3-BEAF-2634-E9633F80C4A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94783" y="2232882"/>
            <a:ext cx="1481871" cy="11022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43476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E1A8EA-433E-ABAA-7239-187400568C28}"/>
              </a:ext>
            </a:extLst>
          </p:cNvPr>
          <p:cNvSpPr>
            <a:spLocks noGrp="1"/>
          </p:cNvSpPr>
          <p:nvPr>
            <p:ph type="title"/>
          </p:nvPr>
        </p:nvSpPr>
        <p:spPr/>
        <p:txBody>
          <a:bodyPr/>
          <a:lstStyle/>
          <a:p>
            <a:r>
              <a:rPr lang="pt-BR" dirty="0"/>
              <a:t>Comparação de hardwares embarcados</a:t>
            </a:r>
          </a:p>
        </p:txBody>
      </p:sp>
      <mc:AlternateContent xmlns:mc="http://schemas.openxmlformats.org/markup-compatibility/2006" xmlns:a14="http://schemas.microsoft.com/office/drawing/2010/main">
        <mc:Choice Requires="a14">
          <p:graphicFrame>
            <p:nvGraphicFramePr>
              <p:cNvPr id="4" name="Tabela 4">
                <a:extLst>
                  <a:ext uri="{FF2B5EF4-FFF2-40B4-BE49-F238E27FC236}">
                    <a16:creationId xmlns:a16="http://schemas.microsoft.com/office/drawing/2014/main" id="{F4B2D296-BDEC-C218-E2B2-76DF5F45B227}"/>
                  </a:ext>
                </a:extLst>
              </p:cNvPr>
              <p:cNvGraphicFramePr>
                <a:graphicFrameLocks noGrp="1"/>
              </p:cNvGraphicFramePr>
              <p:nvPr>
                <p:ph idx="1"/>
                <p:extLst>
                  <p:ext uri="{D42A27DB-BD31-4B8C-83A1-F6EECF244321}">
                    <p14:modId xmlns:p14="http://schemas.microsoft.com/office/powerpoint/2010/main" val="1671485411"/>
                  </p:ext>
                </p:extLst>
              </p:nvPr>
            </p:nvGraphicFramePr>
            <p:xfrm>
              <a:off x="2070407" y="3150111"/>
              <a:ext cx="9344721" cy="3444240"/>
            </p:xfrm>
            <a:graphic>
              <a:graphicData uri="http://schemas.openxmlformats.org/drawingml/2006/table">
                <a:tbl>
                  <a:tblPr firstRow="1" bandRow="1">
                    <a:tableStyleId>{21E4AEA4-8DFA-4A89-87EB-49C32662AFE0}</a:tableStyleId>
                  </a:tblPr>
                  <a:tblGrid>
                    <a:gridCol w="1146633">
                      <a:extLst>
                        <a:ext uri="{9D8B030D-6E8A-4147-A177-3AD203B41FA5}">
                          <a16:colId xmlns:a16="http://schemas.microsoft.com/office/drawing/2014/main" val="1934294912"/>
                        </a:ext>
                      </a:extLst>
                    </a:gridCol>
                    <a:gridCol w="1662974">
                      <a:extLst>
                        <a:ext uri="{9D8B030D-6E8A-4147-A177-3AD203B41FA5}">
                          <a16:colId xmlns:a16="http://schemas.microsoft.com/office/drawing/2014/main" val="172314416"/>
                        </a:ext>
                      </a:extLst>
                    </a:gridCol>
                    <a:gridCol w="1615379">
                      <a:extLst>
                        <a:ext uri="{9D8B030D-6E8A-4147-A177-3AD203B41FA5}">
                          <a16:colId xmlns:a16="http://schemas.microsoft.com/office/drawing/2014/main" val="1164014426"/>
                        </a:ext>
                      </a:extLst>
                    </a:gridCol>
                    <a:gridCol w="1797269">
                      <a:extLst>
                        <a:ext uri="{9D8B030D-6E8A-4147-A177-3AD203B41FA5}">
                          <a16:colId xmlns:a16="http://schemas.microsoft.com/office/drawing/2014/main" val="2064211572"/>
                        </a:ext>
                      </a:extLst>
                    </a:gridCol>
                    <a:gridCol w="1528981">
                      <a:extLst>
                        <a:ext uri="{9D8B030D-6E8A-4147-A177-3AD203B41FA5}">
                          <a16:colId xmlns:a16="http://schemas.microsoft.com/office/drawing/2014/main" val="641811415"/>
                        </a:ext>
                      </a:extLst>
                    </a:gridCol>
                    <a:gridCol w="1593485">
                      <a:extLst>
                        <a:ext uri="{9D8B030D-6E8A-4147-A177-3AD203B41FA5}">
                          <a16:colId xmlns:a16="http://schemas.microsoft.com/office/drawing/2014/main" val="608239403"/>
                        </a:ext>
                      </a:extLst>
                    </a:gridCol>
                  </a:tblGrid>
                  <a:tr h="370840">
                    <a:tc>
                      <a:txBody>
                        <a:bodyPr/>
                        <a:lstStyle/>
                        <a:p>
                          <a:pPr algn="ctr"/>
                          <a:endParaRPr lang="pt-BR" dirty="0"/>
                        </a:p>
                      </a:txBody>
                      <a:tcPr/>
                    </a:tc>
                    <a:tc>
                      <a:txBody>
                        <a:bodyPr/>
                        <a:lstStyle/>
                        <a:p>
                          <a:pPr algn="ctr"/>
                          <a:r>
                            <a:rPr lang="pt-BR" dirty="0" err="1"/>
                            <a:t>Raspberry</a:t>
                          </a:r>
                          <a:r>
                            <a:rPr lang="pt-BR" dirty="0"/>
                            <a:t> Pi Pico</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dirty="0"/>
                            <a:t>Arduino Nano Sense</a:t>
                          </a:r>
                        </a:p>
                      </a:txBody>
                      <a:tcPr/>
                    </a:tc>
                    <a:tc>
                      <a:txBody>
                        <a:bodyPr/>
                        <a:lstStyle/>
                        <a:p>
                          <a:pPr algn="ctr"/>
                          <a:r>
                            <a:rPr lang="pt-BR" dirty="0"/>
                            <a:t>ESP 32</a:t>
                          </a:r>
                        </a:p>
                      </a:txBody>
                      <a:tcPr/>
                    </a:tc>
                    <a:tc>
                      <a:txBody>
                        <a:bodyPr/>
                        <a:lstStyle/>
                        <a:p>
                          <a:pPr algn="ctr"/>
                          <a:r>
                            <a:rPr lang="pt-BR" dirty="0" err="1"/>
                            <a:t>Seeed</a:t>
                          </a:r>
                          <a:r>
                            <a:rPr lang="pt-BR" dirty="0"/>
                            <a:t> </a:t>
                          </a:r>
                          <a:r>
                            <a:rPr lang="pt-BR" dirty="0" err="1"/>
                            <a:t>Wio</a:t>
                          </a:r>
                          <a:r>
                            <a:rPr lang="pt-BR" dirty="0"/>
                            <a:t> Terminal</a:t>
                          </a:r>
                        </a:p>
                      </a:txBody>
                      <a:tcPr/>
                    </a:tc>
                    <a:tc>
                      <a:txBody>
                        <a:bodyPr/>
                        <a:lstStyle/>
                        <a:p>
                          <a:pPr algn="ctr"/>
                          <a:r>
                            <a:rPr lang="pt-BR" dirty="0"/>
                            <a:t>Arduino </a:t>
                          </a:r>
                          <a:r>
                            <a:rPr lang="pt-BR" dirty="0" err="1"/>
                            <a:t>Portenta</a:t>
                          </a:r>
                          <a:endParaRPr lang="pt-BR" dirty="0"/>
                        </a:p>
                      </a:txBody>
                      <a:tcPr/>
                    </a:tc>
                    <a:extLst>
                      <a:ext uri="{0D108BD9-81ED-4DB2-BD59-A6C34878D82A}">
                        <a16:rowId xmlns:a16="http://schemas.microsoft.com/office/drawing/2014/main" val="2156804700"/>
                      </a:ext>
                    </a:extLst>
                  </a:tr>
                  <a:tr h="370840">
                    <a:tc>
                      <a:txBody>
                        <a:bodyPr/>
                        <a:lstStyle/>
                        <a:p>
                          <a:pPr algn="ctr"/>
                          <a:r>
                            <a:rPr lang="pt-BR" sz="1600" b="1" dirty="0"/>
                            <a:t>CPU*</a:t>
                          </a:r>
                        </a:p>
                      </a:txBody>
                      <a:tcPr/>
                    </a:tc>
                    <a:tc>
                      <a:txBody>
                        <a:bodyPr/>
                        <a:lstStyle/>
                        <a:p>
                          <a:pPr algn="ctr"/>
                          <a:r>
                            <a:rPr lang="pt-BR" sz="1600" dirty="0"/>
                            <a:t>Dual Core ARM </a:t>
                          </a:r>
                          <a:r>
                            <a:rPr lang="pt-BR" sz="1600" dirty="0" err="1"/>
                            <a:t>Cortex</a:t>
                          </a:r>
                          <a:r>
                            <a:rPr lang="pt-BR" sz="1600" dirty="0"/>
                            <a:t> M0+</a:t>
                          </a:r>
                        </a:p>
                      </a:txBody>
                      <a:tcPr/>
                    </a:tc>
                    <a:tc>
                      <a:txBody>
                        <a:bodyPr/>
                        <a:lstStyle/>
                        <a:p>
                          <a:pPr algn="ctr"/>
                          <a:r>
                            <a:rPr lang="pt-BR" sz="1600" dirty="0"/>
                            <a:t>Single Core ARM </a:t>
                          </a:r>
                          <a:r>
                            <a:rPr lang="pt-BR" sz="1600" dirty="0" err="1"/>
                            <a:t>Cortex</a:t>
                          </a:r>
                          <a:r>
                            <a:rPr lang="pt-BR" sz="1600" dirty="0"/>
                            <a:t> M4</a:t>
                          </a:r>
                        </a:p>
                      </a:txBody>
                      <a:tcPr/>
                    </a:tc>
                    <a:tc>
                      <a:txBody>
                        <a:bodyPr/>
                        <a:lstStyle/>
                        <a:p>
                          <a:pPr algn="ctr"/>
                          <a:r>
                            <a:rPr lang="pt-BR" sz="1600" dirty="0"/>
                            <a:t>Dual Core </a:t>
                          </a:r>
                          <a:r>
                            <a:rPr lang="pt-BR" sz="1600" dirty="0" err="1"/>
                            <a:t>Cadence</a:t>
                          </a:r>
                          <a:r>
                            <a:rPr lang="pt-BR" sz="1600" dirty="0"/>
                            <a:t> </a:t>
                          </a:r>
                          <a:r>
                            <a:rPr lang="pt-BR" sz="1600" dirty="0" err="1"/>
                            <a:t>Xtensa</a:t>
                          </a:r>
                          <a:r>
                            <a:rPr lang="pt-BR" sz="1600" dirty="0"/>
                            <a:t> LX6</a:t>
                          </a:r>
                        </a:p>
                      </a:txBody>
                      <a:tcPr/>
                    </a:tc>
                    <a:tc>
                      <a:txBody>
                        <a:bodyPr/>
                        <a:lstStyle/>
                        <a:p>
                          <a:pPr algn="ctr"/>
                          <a:r>
                            <a:rPr lang="pt-BR" sz="1600" dirty="0"/>
                            <a:t>Single Core ARM </a:t>
                          </a:r>
                          <a:r>
                            <a:rPr lang="pt-BR" sz="1600" dirty="0" err="1"/>
                            <a:t>Cortex</a:t>
                          </a:r>
                          <a:r>
                            <a:rPr lang="pt-BR" sz="1600" dirty="0"/>
                            <a:t> M4</a:t>
                          </a:r>
                        </a:p>
                      </a:txBody>
                      <a:tcPr/>
                    </a:tc>
                    <a:tc>
                      <a:txBody>
                        <a:bodyPr/>
                        <a:lstStyle/>
                        <a:p>
                          <a:pPr algn="ctr"/>
                          <a:r>
                            <a:rPr lang="pt-BR" sz="1600" dirty="0"/>
                            <a:t>Dual Core ARM </a:t>
                          </a:r>
                          <a:r>
                            <a:rPr lang="pt-BR" sz="1600" dirty="0" err="1"/>
                            <a:t>Cortex</a:t>
                          </a:r>
                          <a:r>
                            <a:rPr lang="pt-BR" sz="1600" dirty="0"/>
                            <a:t> M4/M7</a:t>
                          </a:r>
                        </a:p>
                      </a:txBody>
                      <a:tcPr/>
                    </a:tc>
                    <a:extLst>
                      <a:ext uri="{0D108BD9-81ED-4DB2-BD59-A6C34878D82A}">
                        <a16:rowId xmlns:a16="http://schemas.microsoft.com/office/drawing/2014/main" val="3121812842"/>
                      </a:ext>
                    </a:extLst>
                  </a:tr>
                  <a:tr h="370840">
                    <a:tc>
                      <a:txBody>
                        <a:bodyPr/>
                        <a:lstStyle/>
                        <a:p>
                          <a:pPr algn="ctr"/>
                          <a:r>
                            <a:rPr lang="pt-BR" sz="1600" b="1" dirty="0"/>
                            <a:t>Clock</a:t>
                          </a:r>
                        </a:p>
                      </a:txBody>
                      <a:tcPr/>
                    </a:tc>
                    <a:tc>
                      <a:txBody>
                        <a:bodyPr/>
                        <a:lstStyle/>
                        <a:p>
                          <a:pPr algn="ctr"/>
                          <a:r>
                            <a:rPr lang="pt-BR" sz="1600" dirty="0"/>
                            <a:t>133 MHz</a:t>
                          </a:r>
                        </a:p>
                      </a:txBody>
                      <a:tcPr/>
                    </a:tc>
                    <a:tc>
                      <a:txBody>
                        <a:bodyPr/>
                        <a:lstStyle/>
                        <a:p>
                          <a:pPr algn="ctr"/>
                          <a:r>
                            <a:rPr lang="pt-BR" sz="1600" dirty="0"/>
                            <a:t>64 MHz</a:t>
                          </a:r>
                        </a:p>
                      </a:txBody>
                      <a:tcPr/>
                    </a:tc>
                    <a:tc>
                      <a:txBody>
                        <a:bodyPr/>
                        <a:lstStyle/>
                        <a:p>
                          <a:pPr algn="ctr"/>
                          <a:r>
                            <a:rPr lang="pt-BR" sz="1600" dirty="0"/>
                            <a:t>240 MHz</a:t>
                          </a:r>
                        </a:p>
                      </a:txBody>
                      <a:tcPr/>
                    </a:tc>
                    <a:tc>
                      <a:txBody>
                        <a:bodyPr/>
                        <a:lstStyle/>
                        <a:p>
                          <a:pPr algn="ctr"/>
                          <a:r>
                            <a:rPr lang="pt-BR" sz="1600" dirty="0"/>
                            <a:t>120 MHz</a:t>
                          </a:r>
                        </a:p>
                      </a:txBody>
                      <a:tcPr/>
                    </a:tc>
                    <a:tc>
                      <a:txBody>
                        <a:bodyPr/>
                        <a:lstStyle/>
                        <a:p>
                          <a:pPr algn="ctr"/>
                          <a:r>
                            <a:rPr lang="pt-BR" sz="1600" dirty="0"/>
                            <a:t>240/480 MHz</a:t>
                          </a:r>
                        </a:p>
                      </a:txBody>
                      <a:tcPr/>
                    </a:tc>
                    <a:extLst>
                      <a:ext uri="{0D108BD9-81ED-4DB2-BD59-A6C34878D82A}">
                        <a16:rowId xmlns:a16="http://schemas.microsoft.com/office/drawing/2014/main" val="67192086"/>
                      </a:ext>
                    </a:extLst>
                  </a:tr>
                  <a:tr h="370840">
                    <a:tc>
                      <a:txBody>
                        <a:bodyPr/>
                        <a:lstStyle/>
                        <a:p>
                          <a:pPr algn="ctr"/>
                          <a:r>
                            <a:rPr lang="pt-BR" sz="1600" b="1" dirty="0"/>
                            <a:t>RAM</a:t>
                          </a:r>
                        </a:p>
                      </a:txBody>
                      <a:tcPr/>
                    </a:tc>
                    <a:tc>
                      <a:txBody>
                        <a:bodyPr/>
                        <a:lstStyle/>
                        <a:p>
                          <a:pPr algn="ctr"/>
                          <a:r>
                            <a:rPr lang="pt-BR" sz="1600" dirty="0"/>
                            <a:t>264 KB</a:t>
                          </a:r>
                        </a:p>
                      </a:txBody>
                      <a:tcPr/>
                    </a:tc>
                    <a:tc>
                      <a:txBody>
                        <a:bodyPr/>
                        <a:lstStyle/>
                        <a:p>
                          <a:pPr algn="ctr"/>
                          <a:r>
                            <a:rPr lang="pt-BR" sz="1600" dirty="0"/>
                            <a:t>256 KB</a:t>
                          </a:r>
                        </a:p>
                      </a:txBody>
                      <a:tcPr/>
                    </a:tc>
                    <a:tc>
                      <a:txBody>
                        <a:bodyPr/>
                        <a:lstStyle/>
                        <a:p>
                          <a:pPr algn="ctr"/>
                          <a:r>
                            <a:rPr lang="pt-BR" sz="1600" dirty="0"/>
                            <a:t>520 KB</a:t>
                          </a:r>
                        </a:p>
                      </a:txBody>
                      <a:tcPr/>
                    </a:tc>
                    <a:tc>
                      <a:txBody>
                        <a:bodyPr/>
                        <a:lstStyle/>
                        <a:p>
                          <a:pPr algn="ctr"/>
                          <a:r>
                            <a:rPr lang="pt-BR" sz="1600" dirty="0"/>
                            <a:t>192 KB</a:t>
                          </a:r>
                        </a:p>
                      </a:txBody>
                      <a:tcPr/>
                    </a:tc>
                    <a:tc>
                      <a:txBody>
                        <a:bodyPr/>
                        <a:lstStyle/>
                        <a:p>
                          <a:pPr algn="ctr"/>
                          <a:r>
                            <a:rPr lang="pt-BR" sz="1600" dirty="0"/>
                            <a:t>1 MB***</a:t>
                          </a:r>
                        </a:p>
                      </a:txBody>
                      <a:tcPr/>
                    </a:tc>
                    <a:extLst>
                      <a:ext uri="{0D108BD9-81ED-4DB2-BD59-A6C34878D82A}">
                        <a16:rowId xmlns:a16="http://schemas.microsoft.com/office/drawing/2014/main" val="3060960579"/>
                      </a:ext>
                    </a:extLst>
                  </a:tr>
                  <a:tr h="370840">
                    <a:tc>
                      <a:txBody>
                        <a:bodyPr/>
                        <a:lstStyle/>
                        <a:p>
                          <a:pPr algn="ctr"/>
                          <a:r>
                            <a:rPr lang="pt-BR" sz="1600" b="1" dirty="0"/>
                            <a:t>Flash</a:t>
                          </a:r>
                        </a:p>
                      </a:txBody>
                      <a:tcPr/>
                    </a:tc>
                    <a:tc>
                      <a:txBody>
                        <a:bodyPr/>
                        <a:lstStyle/>
                        <a:p>
                          <a:pPr algn="ctr"/>
                          <a:r>
                            <a:rPr lang="pt-BR" sz="1600" dirty="0"/>
                            <a:t>2 MB</a:t>
                          </a:r>
                        </a:p>
                      </a:txBody>
                      <a:tcPr/>
                    </a:tc>
                    <a:tc>
                      <a:txBody>
                        <a:bodyPr/>
                        <a:lstStyle/>
                        <a:p>
                          <a:pPr algn="ctr"/>
                          <a:r>
                            <a:rPr lang="pt-BR" sz="1600" dirty="0"/>
                            <a:t>1 MB</a:t>
                          </a:r>
                        </a:p>
                      </a:txBody>
                      <a:tcPr/>
                    </a:tc>
                    <a:tc>
                      <a:txBody>
                        <a:bodyPr/>
                        <a:lstStyle/>
                        <a:p>
                          <a:pPr algn="ctr"/>
                          <a:r>
                            <a:rPr lang="pt-BR" sz="1600" dirty="0"/>
                            <a:t>2 MB</a:t>
                          </a:r>
                        </a:p>
                      </a:txBody>
                      <a:tcPr/>
                    </a:tc>
                    <a:tc>
                      <a:txBody>
                        <a:bodyPr/>
                        <a:lstStyle/>
                        <a:p>
                          <a:pPr algn="ctr"/>
                          <a:r>
                            <a:rPr lang="pt-BR" sz="1600" dirty="0"/>
                            <a:t>4 MB</a:t>
                          </a:r>
                        </a:p>
                      </a:txBody>
                      <a:tcPr/>
                    </a:tc>
                    <a:tc>
                      <a:txBody>
                        <a:bodyPr/>
                        <a:lstStyle/>
                        <a:p>
                          <a:pPr algn="ctr"/>
                          <a:r>
                            <a:rPr lang="pt-BR" sz="1600" dirty="0"/>
                            <a:t>2 MB</a:t>
                          </a:r>
                        </a:p>
                      </a:txBody>
                      <a:tcPr/>
                    </a:tc>
                    <a:extLst>
                      <a:ext uri="{0D108BD9-81ED-4DB2-BD59-A6C34878D82A}">
                        <a16:rowId xmlns:a16="http://schemas.microsoft.com/office/drawing/2014/main" val="1230844552"/>
                      </a:ext>
                    </a:extLst>
                  </a:tr>
                  <a:tr h="370840">
                    <a:tc>
                      <a:txBody>
                        <a:bodyPr/>
                        <a:lstStyle/>
                        <a:p>
                          <a:pPr algn="ctr"/>
                          <a:r>
                            <a:rPr lang="pt-BR" sz="1600" b="1" dirty="0"/>
                            <a:t>Rádio</a:t>
                          </a:r>
                        </a:p>
                      </a:txBody>
                      <a:tcPr/>
                    </a:tc>
                    <a:tc>
                      <a:txBody>
                        <a:bodyPr/>
                        <a:lstStyle/>
                        <a:p>
                          <a:pPr algn="ctr"/>
                          <a:r>
                            <a:rPr lang="pt-BR" sz="1600" dirty="0"/>
                            <a:t>-</a:t>
                          </a:r>
                        </a:p>
                      </a:txBody>
                      <a:tcPr/>
                    </a:tc>
                    <a:tc>
                      <a:txBody>
                        <a:bodyPr/>
                        <a:lstStyle/>
                        <a:p>
                          <a:pPr algn="ctr"/>
                          <a:r>
                            <a:rPr lang="pt-BR" sz="1600" dirty="0"/>
                            <a:t>BLE**</a:t>
                          </a:r>
                        </a:p>
                      </a:txBody>
                      <a:tcPr/>
                    </a:tc>
                    <a:tc>
                      <a:txBody>
                        <a:bodyPr/>
                        <a:lstStyle/>
                        <a:p>
                          <a:pPr algn="ctr"/>
                          <a:r>
                            <a:rPr lang="pt-BR" sz="1600" dirty="0"/>
                            <a:t>BLE/WiFi</a:t>
                          </a:r>
                        </a:p>
                      </a:txBody>
                      <a:tcPr/>
                    </a:tc>
                    <a:tc>
                      <a:txBody>
                        <a:bodyPr/>
                        <a:lstStyle/>
                        <a:p>
                          <a:pPr algn="ctr"/>
                          <a:r>
                            <a:rPr lang="pt-BR" sz="1600" dirty="0"/>
                            <a:t>BLE/WiFi</a:t>
                          </a:r>
                        </a:p>
                      </a:txBody>
                      <a:tcPr/>
                    </a:tc>
                    <a:tc>
                      <a:txBody>
                        <a:bodyPr/>
                        <a:lstStyle/>
                        <a:p>
                          <a:pPr algn="ctr"/>
                          <a:r>
                            <a:rPr lang="pt-BR" sz="1600" dirty="0"/>
                            <a:t>BLE/WiFi</a:t>
                          </a:r>
                        </a:p>
                      </a:txBody>
                      <a:tcPr/>
                    </a:tc>
                    <a:extLst>
                      <a:ext uri="{0D108BD9-81ED-4DB2-BD59-A6C34878D82A}">
                        <a16:rowId xmlns:a16="http://schemas.microsoft.com/office/drawing/2014/main" val="482253283"/>
                      </a:ext>
                    </a:extLst>
                  </a:tr>
                  <a:tr h="370840">
                    <a:tc>
                      <a:txBody>
                        <a:bodyPr/>
                        <a:lstStyle/>
                        <a:p>
                          <a:pPr algn="ctr"/>
                          <a:r>
                            <a:rPr lang="pt-BR" sz="1600" b="1" dirty="0"/>
                            <a:t>Sensores</a:t>
                          </a:r>
                        </a:p>
                      </a:txBody>
                      <a:tcPr/>
                    </a:tc>
                    <a:tc>
                      <a:txBody>
                        <a:bodyPr/>
                        <a:lstStyle/>
                        <a:p>
                          <a:pPr algn="ctr"/>
                          <a:r>
                            <a:rPr lang="pt-BR" sz="1600" dirty="0"/>
                            <a:t>Não</a:t>
                          </a:r>
                        </a:p>
                      </a:txBody>
                      <a:tcPr/>
                    </a:tc>
                    <a:tc>
                      <a:txBody>
                        <a:bodyPr/>
                        <a:lstStyle/>
                        <a:p>
                          <a:pPr algn="ctr"/>
                          <a:r>
                            <a:rPr lang="pt-BR" sz="1600" dirty="0"/>
                            <a:t>Sim</a:t>
                          </a:r>
                        </a:p>
                      </a:txBody>
                      <a:tcPr/>
                    </a:tc>
                    <a:tc>
                      <a:txBody>
                        <a:bodyPr/>
                        <a:lstStyle/>
                        <a:p>
                          <a:pPr algn="ctr"/>
                          <a:r>
                            <a:rPr lang="pt-BR" sz="1600" dirty="0"/>
                            <a:t>Não</a:t>
                          </a:r>
                        </a:p>
                      </a:txBody>
                      <a:tcPr/>
                    </a:tc>
                    <a:tc>
                      <a:txBody>
                        <a:bodyPr/>
                        <a:lstStyle/>
                        <a:p>
                          <a:pPr algn="ctr"/>
                          <a:r>
                            <a:rPr lang="pt-BR" sz="1600" dirty="0"/>
                            <a:t>Sim</a:t>
                          </a:r>
                        </a:p>
                      </a:txBody>
                      <a:tcPr/>
                    </a:tc>
                    <a:tc>
                      <a:txBody>
                        <a:bodyPr/>
                        <a:lstStyle/>
                        <a:p>
                          <a:pPr algn="ctr"/>
                          <a:r>
                            <a:rPr lang="pt-BR" sz="1600" dirty="0"/>
                            <a:t>Não</a:t>
                          </a:r>
                        </a:p>
                      </a:txBody>
                      <a:tcPr/>
                    </a:tc>
                    <a:extLst>
                      <a:ext uri="{0D108BD9-81ED-4DB2-BD59-A6C34878D82A}">
                        <a16:rowId xmlns:a16="http://schemas.microsoft.com/office/drawing/2014/main" val="4248534087"/>
                      </a:ext>
                    </a:extLst>
                  </a:tr>
                  <a:tr h="370840">
                    <a:tc>
                      <a:txBody>
                        <a:bodyPr/>
                        <a:lstStyle/>
                        <a:p>
                          <a:pPr algn="ctr"/>
                          <a:r>
                            <a:rPr lang="pt-BR" sz="1600" b="1" dirty="0"/>
                            <a:t>Preço</a:t>
                          </a:r>
                        </a:p>
                      </a:txBody>
                      <a:tcPr/>
                    </a:tc>
                    <a:tc>
                      <a:txBody>
                        <a:bodyPr/>
                        <a:lstStyle/>
                        <a:p>
                          <a:pPr algn="ctr"/>
                          <a14:m>
                            <m:oMath xmlns:m="http://schemas.openxmlformats.org/officeDocument/2006/math">
                              <m:r>
                                <a:rPr lang="pt-BR" sz="1600" i="1" dirty="0" smtClean="0">
                                  <a:latin typeface="Cambria Math" panose="02040503050406030204" pitchFamily="18" charset="0"/>
                                  <a:ea typeface="Cambria Math" panose="02040503050406030204" pitchFamily="18" charset="0"/>
                                </a:rPr>
                                <m:t>~</m:t>
                              </m:r>
                            </m:oMath>
                          </a14:m>
                          <a:r>
                            <a:rPr lang="pt-BR" sz="1600" dirty="0"/>
                            <a:t> $ 5,00</a:t>
                          </a:r>
                        </a:p>
                      </a:txBody>
                      <a:tcPr/>
                    </a:tc>
                    <a:tc>
                      <a:txBody>
                        <a:bodyPr/>
                        <a:lstStyle/>
                        <a:p>
                          <a:pPr algn="ctr"/>
                          <a14:m>
                            <m:oMath xmlns:m="http://schemas.openxmlformats.org/officeDocument/2006/math">
                              <m:r>
                                <a:rPr lang="pt-BR" sz="1600" i="1" dirty="0" smtClean="0">
                                  <a:latin typeface="Cambria Math" panose="02040503050406030204" pitchFamily="18" charset="0"/>
                                  <a:ea typeface="Cambria Math" panose="02040503050406030204" pitchFamily="18" charset="0"/>
                                </a:rPr>
                                <m:t>~</m:t>
                              </m:r>
                            </m:oMath>
                          </a14:m>
                          <a:r>
                            <a:rPr lang="pt-BR" sz="1600" dirty="0"/>
                            <a:t> $ 40,00</a:t>
                          </a:r>
                        </a:p>
                      </a:txBody>
                      <a:tcPr/>
                    </a:tc>
                    <a:tc>
                      <a:txBody>
                        <a:bodyPr/>
                        <a:lstStyle/>
                        <a:p>
                          <a:pPr algn="ctr"/>
                          <a14:m>
                            <m:oMath xmlns:m="http://schemas.openxmlformats.org/officeDocument/2006/math">
                              <m:r>
                                <a:rPr lang="pt-BR" sz="1600" i="1" dirty="0" smtClean="0">
                                  <a:latin typeface="Cambria Math" panose="02040503050406030204" pitchFamily="18" charset="0"/>
                                  <a:ea typeface="Cambria Math" panose="02040503050406030204" pitchFamily="18" charset="0"/>
                                </a:rPr>
                                <m:t>~</m:t>
                              </m:r>
                            </m:oMath>
                          </a14:m>
                          <a:r>
                            <a:rPr lang="pt-BR" sz="1600" dirty="0"/>
                            <a:t> $ 16,00</a:t>
                          </a:r>
                        </a:p>
                      </a:txBody>
                      <a:tcPr/>
                    </a:tc>
                    <a:tc>
                      <a:txBody>
                        <a:bodyPr/>
                        <a:lstStyle/>
                        <a:p>
                          <a:pPr algn="ctr"/>
                          <a14:m>
                            <m:oMath xmlns:m="http://schemas.openxmlformats.org/officeDocument/2006/math">
                              <m:r>
                                <a:rPr lang="pt-BR" sz="1600" i="1" dirty="0" smtClean="0">
                                  <a:latin typeface="Cambria Math" panose="02040503050406030204" pitchFamily="18" charset="0"/>
                                  <a:ea typeface="Cambria Math" panose="02040503050406030204" pitchFamily="18" charset="0"/>
                                </a:rPr>
                                <m:t>~</m:t>
                              </m:r>
                            </m:oMath>
                          </a14:m>
                          <a:r>
                            <a:rPr lang="pt-BR" sz="1600" dirty="0"/>
                            <a:t> $ 44,00</a:t>
                          </a:r>
                        </a:p>
                      </a:txBody>
                      <a:tcPr/>
                    </a:tc>
                    <a:tc>
                      <a:txBody>
                        <a:bodyPr/>
                        <a:lstStyle/>
                        <a:p>
                          <a:pPr algn="ctr"/>
                          <a14:m>
                            <m:oMath xmlns:m="http://schemas.openxmlformats.org/officeDocument/2006/math">
                              <m:r>
                                <a:rPr lang="pt-BR" sz="1600" i="1" dirty="0" smtClean="0">
                                  <a:latin typeface="Cambria Math" panose="02040503050406030204" pitchFamily="18" charset="0"/>
                                  <a:ea typeface="Cambria Math" panose="02040503050406030204" pitchFamily="18" charset="0"/>
                                </a:rPr>
                                <m:t>~</m:t>
                              </m:r>
                            </m:oMath>
                          </a14:m>
                          <a:r>
                            <a:rPr lang="pt-BR" sz="1600" dirty="0"/>
                            <a:t> $ 100,00</a:t>
                          </a:r>
                        </a:p>
                      </a:txBody>
                      <a:tcPr/>
                    </a:tc>
                    <a:extLst>
                      <a:ext uri="{0D108BD9-81ED-4DB2-BD59-A6C34878D82A}">
                        <a16:rowId xmlns:a16="http://schemas.microsoft.com/office/drawing/2014/main" val="3873771758"/>
                      </a:ext>
                    </a:extLst>
                  </a:tr>
                </a:tbl>
              </a:graphicData>
            </a:graphic>
          </p:graphicFrame>
        </mc:Choice>
        <mc:Fallback xmlns="">
          <p:graphicFrame>
            <p:nvGraphicFramePr>
              <p:cNvPr id="4" name="Tabela 4">
                <a:extLst>
                  <a:ext uri="{FF2B5EF4-FFF2-40B4-BE49-F238E27FC236}">
                    <a16:creationId xmlns:a16="http://schemas.microsoft.com/office/drawing/2014/main" id="{F4B2D296-BDEC-C218-E2B2-76DF5F45B227}"/>
                  </a:ext>
                </a:extLst>
              </p:cNvPr>
              <p:cNvGraphicFramePr>
                <a:graphicFrameLocks noGrp="1"/>
              </p:cNvGraphicFramePr>
              <p:nvPr>
                <p:ph idx="1"/>
                <p:extLst>
                  <p:ext uri="{D42A27DB-BD31-4B8C-83A1-F6EECF244321}">
                    <p14:modId xmlns:p14="http://schemas.microsoft.com/office/powerpoint/2010/main" val="1671485411"/>
                  </p:ext>
                </p:extLst>
              </p:nvPr>
            </p:nvGraphicFramePr>
            <p:xfrm>
              <a:off x="2070407" y="3150111"/>
              <a:ext cx="9344721" cy="3444240"/>
            </p:xfrm>
            <a:graphic>
              <a:graphicData uri="http://schemas.openxmlformats.org/drawingml/2006/table">
                <a:tbl>
                  <a:tblPr firstRow="1" bandRow="1">
                    <a:tableStyleId>{21E4AEA4-8DFA-4A89-87EB-49C32662AFE0}</a:tableStyleId>
                  </a:tblPr>
                  <a:tblGrid>
                    <a:gridCol w="1146633">
                      <a:extLst>
                        <a:ext uri="{9D8B030D-6E8A-4147-A177-3AD203B41FA5}">
                          <a16:colId xmlns:a16="http://schemas.microsoft.com/office/drawing/2014/main" val="1934294912"/>
                        </a:ext>
                      </a:extLst>
                    </a:gridCol>
                    <a:gridCol w="1662974">
                      <a:extLst>
                        <a:ext uri="{9D8B030D-6E8A-4147-A177-3AD203B41FA5}">
                          <a16:colId xmlns:a16="http://schemas.microsoft.com/office/drawing/2014/main" val="172314416"/>
                        </a:ext>
                      </a:extLst>
                    </a:gridCol>
                    <a:gridCol w="1615379">
                      <a:extLst>
                        <a:ext uri="{9D8B030D-6E8A-4147-A177-3AD203B41FA5}">
                          <a16:colId xmlns:a16="http://schemas.microsoft.com/office/drawing/2014/main" val="1164014426"/>
                        </a:ext>
                      </a:extLst>
                    </a:gridCol>
                    <a:gridCol w="1797269">
                      <a:extLst>
                        <a:ext uri="{9D8B030D-6E8A-4147-A177-3AD203B41FA5}">
                          <a16:colId xmlns:a16="http://schemas.microsoft.com/office/drawing/2014/main" val="2064211572"/>
                        </a:ext>
                      </a:extLst>
                    </a:gridCol>
                    <a:gridCol w="1528981">
                      <a:extLst>
                        <a:ext uri="{9D8B030D-6E8A-4147-A177-3AD203B41FA5}">
                          <a16:colId xmlns:a16="http://schemas.microsoft.com/office/drawing/2014/main" val="641811415"/>
                        </a:ext>
                      </a:extLst>
                    </a:gridCol>
                    <a:gridCol w="1593485">
                      <a:extLst>
                        <a:ext uri="{9D8B030D-6E8A-4147-A177-3AD203B41FA5}">
                          <a16:colId xmlns:a16="http://schemas.microsoft.com/office/drawing/2014/main" val="608239403"/>
                        </a:ext>
                      </a:extLst>
                    </a:gridCol>
                  </a:tblGrid>
                  <a:tr h="640080">
                    <a:tc>
                      <a:txBody>
                        <a:bodyPr/>
                        <a:lstStyle/>
                        <a:p>
                          <a:pPr algn="ctr"/>
                          <a:endParaRPr lang="pt-BR" dirty="0"/>
                        </a:p>
                      </a:txBody>
                      <a:tcPr/>
                    </a:tc>
                    <a:tc>
                      <a:txBody>
                        <a:bodyPr/>
                        <a:lstStyle/>
                        <a:p>
                          <a:pPr algn="ctr"/>
                          <a:r>
                            <a:rPr lang="pt-BR" dirty="0" err="1"/>
                            <a:t>Raspberry</a:t>
                          </a:r>
                          <a:r>
                            <a:rPr lang="pt-BR" dirty="0"/>
                            <a:t> Pi Pico</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dirty="0"/>
                            <a:t>Arduino Nano Sense</a:t>
                          </a:r>
                        </a:p>
                      </a:txBody>
                      <a:tcPr/>
                    </a:tc>
                    <a:tc>
                      <a:txBody>
                        <a:bodyPr/>
                        <a:lstStyle/>
                        <a:p>
                          <a:pPr algn="ctr"/>
                          <a:r>
                            <a:rPr lang="pt-BR" dirty="0"/>
                            <a:t>ESP 32</a:t>
                          </a:r>
                        </a:p>
                      </a:txBody>
                      <a:tcPr/>
                    </a:tc>
                    <a:tc>
                      <a:txBody>
                        <a:bodyPr/>
                        <a:lstStyle/>
                        <a:p>
                          <a:pPr algn="ctr"/>
                          <a:r>
                            <a:rPr lang="pt-BR" dirty="0" err="1"/>
                            <a:t>Seeed</a:t>
                          </a:r>
                          <a:r>
                            <a:rPr lang="pt-BR" dirty="0"/>
                            <a:t> </a:t>
                          </a:r>
                          <a:r>
                            <a:rPr lang="pt-BR" dirty="0" err="1"/>
                            <a:t>Wio</a:t>
                          </a:r>
                          <a:r>
                            <a:rPr lang="pt-BR" dirty="0"/>
                            <a:t> Terminal</a:t>
                          </a:r>
                        </a:p>
                      </a:txBody>
                      <a:tcPr/>
                    </a:tc>
                    <a:tc>
                      <a:txBody>
                        <a:bodyPr/>
                        <a:lstStyle/>
                        <a:p>
                          <a:pPr algn="ctr"/>
                          <a:r>
                            <a:rPr lang="pt-BR" dirty="0"/>
                            <a:t>Arduino </a:t>
                          </a:r>
                          <a:r>
                            <a:rPr lang="pt-BR" dirty="0" err="1"/>
                            <a:t>Portenta</a:t>
                          </a:r>
                          <a:endParaRPr lang="pt-BR" dirty="0"/>
                        </a:p>
                      </a:txBody>
                      <a:tcPr/>
                    </a:tc>
                    <a:extLst>
                      <a:ext uri="{0D108BD9-81ED-4DB2-BD59-A6C34878D82A}">
                        <a16:rowId xmlns:a16="http://schemas.microsoft.com/office/drawing/2014/main" val="2156804700"/>
                      </a:ext>
                    </a:extLst>
                  </a:tr>
                  <a:tr h="579120">
                    <a:tc>
                      <a:txBody>
                        <a:bodyPr/>
                        <a:lstStyle/>
                        <a:p>
                          <a:pPr algn="ctr"/>
                          <a:r>
                            <a:rPr lang="pt-BR" sz="1600" b="1" dirty="0"/>
                            <a:t>CPU*</a:t>
                          </a:r>
                        </a:p>
                      </a:txBody>
                      <a:tcPr/>
                    </a:tc>
                    <a:tc>
                      <a:txBody>
                        <a:bodyPr/>
                        <a:lstStyle/>
                        <a:p>
                          <a:pPr algn="ctr"/>
                          <a:r>
                            <a:rPr lang="pt-BR" sz="1600" dirty="0"/>
                            <a:t>Dual Core ARM </a:t>
                          </a:r>
                          <a:r>
                            <a:rPr lang="pt-BR" sz="1600" dirty="0" err="1"/>
                            <a:t>Cortex</a:t>
                          </a:r>
                          <a:r>
                            <a:rPr lang="pt-BR" sz="1600" dirty="0"/>
                            <a:t> M0+</a:t>
                          </a:r>
                        </a:p>
                      </a:txBody>
                      <a:tcPr/>
                    </a:tc>
                    <a:tc>
                      <a:txBody>
                        <a:bodyPr/>
                        <a:lstStyle/>
                        <a:p>
                          <a:pPr algn="ctr"/>
                          <a:r>
                            <a:rPr lang="pt-BR" sz="1600" dirty="0"/>
                            <a:t>Single Core ARM </a:t>
                          </a:r>
                          <a:r>
                            <a:rPr lang="pt-BR" sz="1600" dirty="0" err="1"/>
                            <a:t>Cortex</a:t>
                          </a:r>
                          <a:r>
                            <a:rPr lang="pt-BR" sz="1600" dirty="0"/>
                            <a:t> M4</a:t>
                          </a:r>
                        </a:p>
                      </a:txBody>
                      <a:tcPr/>
                    </a:tc>
                    <a:tc>
                      <a:txBody>
                        <a:bodyPr/>
                        <a:lstStyle/>
                        <a:p>
                          <a:pPr algn="ctr"/>
                          <a:r>
                            <a:rPr lang="pt-BR" sz="1600" dirty="0"/>
                            <a:t>Dual Core </a:t>
                          </a:r>
                          <a:r>
                            <a:rPr lang="pt-BR" sz="1600" dirty="0" err="1"/>
                            <a:t>Cadence</a:t>
                          </a:r>
                          <a:r>
                            <a:rPr lang="pt-BR" sz="1600" dirty="0"/>
                            <a:t> </a:t>
                          </a:r>
                          <a:r>
                            <a:rPr lang="pt-BR" sz="1600" dirty="0" err="1"/>
                            <a:t>Xtensa</a:t>
                          </a:r>
                          <a:r>
                            <a:rPr lang="pt-BR" sz="1600" dirty="0"/>
                            <a:t> LX6</a:t>
                          </a:r>
                        </a:p>
                      </a:txBody>
                      <a:tcPr/>
                    </a:tc>
                    <a:tc>
                      <a:txBody>
                        <a:bodyPr/>
                        <a:lstStyle/>
                        <a:p>
                          <a:pPr algn="ctr"/>
                          <a:r>
                            <a:rPr lang="pt-BR" sz="1600" dirty="0"/>
                            <a:t>Single Core ARM </a:t>
                          </a:r>
                          <a:r>
                            <a:rPr lang="pt-BR" sz="1600" dirty="0" err="1"/>
                            <a:t>Cortex</a:t>
                          </a:r>
                          <a:r>
                            <a:rPr lang="pt-BR" sz="1600" dirty="0"/>
                            <a:t> M4</a:t>
                          </a:r>
                        </a:p>
                      </a:txBody>
                      <a:tcPr/>
                    </a:tc>
                    <a:tc>
                      <a:txBody>
                        <a:bodyPr/>
                        <a:lstStyle/>
                        <a:p>
                          <a:pPr algn="ctr"/>
                          <a:r>
                            <a:rPr lang="pt-BR" sz="1600" dirty="0"/>
                            <a:t>Dual Core ARM </a:t>
                          </a:r>
                          <a:r>
                            <a:rPr lang="pt-BR" sz="1600" dirty="0" err="1"/>
                            <a:t>Cortex</a:t>
                          </a:r>
                          <a:r>
                            <a:rPr lang="pt-BR" sz="1600" dirty="0"/>
                            <a:t> M4/M7</a:t>
                          </a:r>
                        </a:p>
                      </a:txBody>
                      <a:tcPr/>
                    </a:tc>
                    <a:extLst>
                      <a:ext uri="{0D108BD9-81ED-4DB2-BD59-A6C34878D82A}">
                        <a16:rowId xmlns:a16="http://schemas.microsoft.com/office/drawing/2014/main" val="3121812842"/>
                      </a:ext>
                    </a:extLst>
                  </a:tr>
                  <a:tr h="370840">
                    <a:tc>
                      <a:txBody>
                        <a:bodyPr/>
                        <a:lstStyle/>
                        <a:p>
                          <a:pPr algn="ctr"/>
                          <a:r>
                            <a:rPr lang="pt-BR" sz="1600" b="1" dirty="0"/>
                            <a:t>Clock</a:t>
                          </a:r>
                        </a:p>
                      </a:txBody>
                      <a:tcPr/>
                    </a:tc>
                    <a:tc>
                      <a:txBody>
                        <a:bodyPr/>
                        <a:lstStyle/>
                        <a:p>
                          <a:pPr algn="ctr"/>
                          <a:r>
                            <a:rPr lang="pt-BR" sz="1600" dirty="0"/>
                            <a:t>133 MHz</a:t>
                          </a:r>
                        </a:p>
                      </a:txBody>
                      <a:tcPr/>
                    </a:tc>
                    <a:tc>
                      <a:txBody>
                        <a:bodyPr/>
                        <a:lstStyle/>
                        <a:p>
                          <a:pPr algn="ctr"/>
                          <a:r>
                            <a:rPr lang="pt-BR" sz="1600" dirty="0"/>
                            <a:t>64 MHz</a:t>
                          </a:r>
                        </a:p>
                      </a:txBody>
                      <a:tcPr/>
                    </a:tc>
                    <a:tc>
                      <a:txBody>
                        <a:bodyPr/>
                        <a:lstStyle/>
                        <a:p>
                          <a:pPr algn="ctr"/>
                          <a:r>
                            <a:rPr lang="pt-BR" sz="1600" dirty="0"/>
                            <a:t>240 MHz</a:t>
                          </a:r>
                        </a:p>
                      </a:txBody>
                      <a:tcPr/>
                    </a:tc>
                    <a:tc>
                      <a:txBody>
                        <a:bodyPr/>
                        <a:lstStyle/>
                        <a:p>
                          <a:pPr algn="ctr"/>
                          <a:r>
                            <a:rPr lang="pt-BR" sz="1600" dirty="0"/>
                            <a:t>120 MHz</a:t>
                          </a:r>
                        </a:p>
                      </a:txBody>
                      <a:tcPr/>
                    </a:tc>
                    <a:tc>
                      <a:txBody>
                        <a:bodyPr/>
                        <a:lstStyle/>
                        <a:p>
                          <a:pPr algn="ctr"/>
                          <a:r>
                            <a:rPr lang="pt-BR" sz="1600" dirty="0"/>
                            <a:t>240/480 MHz</a:t>
                          </a:r>
                        </a:p>
                      </a:txBody>
                      <a:tcPr/>
                    </a:tc>
                    <a:extLst>
                      <a:ext uri="{0D108BD9-81ED-4DB2-BD59-A6C34878D82A}">
                        <a16:rowId xmlns:a16="http://schemas.microsoft.com/office/drawing/2014/main" val="67192086"/>
                      </a:ext>
                    </a:extLst>
                  </a:tr>
                  <a:tr h="370840">
                    <a:tc>
                      <a:txBody>
                        <a:bodyPr/>
                        <a:lstStyle/>
                        <a:p>
                          <a:pPr algn="ctr"/>
                          <a:r>
                            <a:rPr lang="pt-BR" sz="1600" b="1" dirty="0"/>
                            <a:t>RAM</a:t>
                          </a:r>
                        </a:p>
                      </a:txBody>
                      <a:tcPr/>
                    </a:tc>
                    <a:tc>
                      <a:txBody>
                        <a:bodyPr/>
                        <a:lstStyle/>
                        <a:p>
                          <a:pPr algn="ctr"/>
                          <a:r>
                            <a:rPr lang="pt-BR" sz="1600" dirty="0"/>
                            <a:t>264 KB</a:t>
                          </a:r>
                        </a:p>
                      </a:txBody>
                      <a:tcPr/>
                    </a:tc>
                    <a:tc>
                      <a:txBody>
                        <a:bodyPr/>
                        <a:lstStyle/>
                        <a:p>
                          <a:pPr algn="ctr"/>
                          <a:r>
                            <a:rPr lang="pt-BR" sz="1600" dirty="0"/>
                            <a:t>256 KB</a:t>
                          </a:r>
                        </a:p>
                      </a:txBody>
                      <a:tcPr/>
                    </a:tc>
                    <a:tc>
                      <a:txBody>
                        <a:bodyPr/>
                        <a:lstStyle/>
                        <a:p>
                          <a:pPr algn="ctr"/>
                          <a:r>
                            <a:rPr lang="pt-BR" sz="1600" dirty="0"/>
                            <a:t>520 KB</a:t>
                          </a:r>
                        </a:p>
                      </a:txBody>
                      <a:tcPr/>
                    </a:tc>
                    <a:tc>
                      <a:txBody>
                        <a:bodyPr/>
                        <a:lstStyle/>
                        <a:p>
                          <a:pPr algn="ctr"/>
                          <a:r>
                            <a:rPr lang="pt-BR" sz="1600" dirty="0"/>
                            <a:t>192 KB</a:t>
                          </a:r>
                        </a:p>
                      </a:txBody>
                      <a:tcPr/>
                    </a:tc>
                    <a:tc>
                      <a:txBody>
                        <a:bodyPr/>
                        <a:lstStyle/>
                        <a:p>
                          <a:pPr algn="ctr"/>
                          <a:r>
                            <a:rPr lang="pt-BR" sz="1600" dirty="0"/>
                            <a:t>1 MB***</a:t>
                          </a:r>
                        </a:p>
                      </a:txBody>
                      <a:tcPr/>
                    </a:tc>
                    <a:extLst>
                      <a:ext uri="{0D108BD9-81ED-4DB2-BD59-A6C34878D82A}">
                        <a16:rowId xmlns:a16="http://schemas.microsoft.com/office/drawing/2014/main" val="3060960579"/>
                      </a:ext>
                    </a:extLst>
                  </a:tr>
                  <a:tr h="370840">
                    <a:tc>
                      <a:txBody>
                        <a:bodyPr/>
                        <a:lstStyle/>
                        <a:p>
                          <a:pPr algn="ctr"/>
                          <a:r>
                            <a:rPr lang="pt-BR" sz="1600" b="1" dirty="0"/>
                            <a:t>Flash</a:t>
                          </a:r>
                        </a:p>
                      </a:txBody>
                      <a:tcPr/>
                    </a:tc>
                    <a:tc>
                      <a:txBody>
                        <a:bodyPr/>
                        <a:lstStyle/>
                        <a:p>
                          <a:pPr algn="ctr"/>
                          <a:r>
                            <a:rPr lang="pt-BR" sz="1600" dirty="0"/>
                            <a:t>2 MB</a:t>
                          </a:r>
                        </a:p>
                      </a:txBody>
                      <a:tcPr/>
                    </a:tc>
                    <a:tc>
                      <a:txBody>
                        <a:bodyPr/>
                        <a:lstStyle/>
                        <a:p>
                          <a:pPr algn="ctr"/>
                          <a:r>
                            <a:rPr lang="pt-BR" sz="1600" dirty="0"/>
                            <a:t>1 MB</a:t>
                          </a:r>
                        </a:p>
                      </a:txBody>
                      <a:tcPr/>
                    </a:tc>
                    <a:tc>
                      <a:txBody>
                        <a:bodyPr/>
                        <a:lstStyle/>
                        <a:p>
                          <a:pPr algn="ctr"/>
                          <a:r>
                            <a:rPr lang="pt-BR" sz="1600" dirty="0"/>
                            <a:t>2 MB</a:t>
                          </a:r>
                        </a:p>
                      </a:txBody>
                      <a:tcPr/>
                    </a:tc>
                    <a:tc>
                      <a:txBody>
                        <a:bodyPr/>
                        <a:lstStyle/>
                        <a:p>
                          <a:pPr algn="ctr"/>
                          <a:r>
                            <a:rPr lang="pt-BR" sz="1600" dirty="0"/>
                            <a:t>4 MB</a:t>
                          </a:r>
                        </a:p>
                      </a:txBody>
                      <a:tcPr/>
                    </a:tc>
                    <a:tc>
                      <a:txBody>
                        <a:bodyPr/>
                        <a:lstStyle/>
                        <a:p>
                          <a:pPr algn="ctr"/>
                          <a:r>
                            <a:rPr lang="pt-BR" sz="1600" dirty="0"/>
                            <a:t>2 MB</a:t>
                          </a:r>
                        </a:p>
                      </a:txBody>
                      <a:tcPr/>
                    </a:tc>
                    <a:extLst>
                      <a:ext uri="{0D108BD9-81ED-4DB2-BD59-A6C34878D82A}">
                        <a16:rowId xmlns:a16="http://schemas.microsoft.com/office/drawing/2014/main" val="1230844552"/>
                      </a:ext>
                    </a:extLst>
                  </a:tr>
                  <a:tr h="370840">
                    <a:tc>
                      <a:txBody>
                        <a:bodyPr/>
                        <a:lstStyle/>
                        <a:p>
                          <a:pPr algn="ctr"/>
                          <a:r>
                            <a:rPr lang="pt-BR" sz="1600" b="1" dirty="0"/>
                            <a:t>Rádio</a:t>
                          </a:r>
                        </a:p>
                      </a:txBody>
                      <a:tcPr/>
                    </a:tc>
                    <a:tc>
                      <a:txBody>
                        <a:bodyPr/>
                        <a:lstStyle/>
                        <a:p>
                          <a:pPr algn="ctr"/>
                          <a:r>
                            <a:rPr lang="pt-BR" sz="1600" dirty="0"/>
                            <a:t>-</a:t>
                          </a:r>
                        </a:p>
                      </a:txBody>
                      <a:tcPr/>
                    </a:tc>
                    <a:tc>
                      <a:txBody>
                        <a:bodyPr/>
                        <a:lstStyle/>
                        <a:p>
                          <a:pPr algn="ctr"/>
                          <a:r>
                            <a:rPr lang="pt-BR" sz="1600" dirty="0"/>
                            <a:t>BLE**</a:t>
                          </a:r>
                        </a:p>
                      </a:txBody>
                      <a:tcPr/>
                    </a:tc>
                    <a:tc>
                      <a:txBody>
                        <a:bodyPr/>
                        <a:lstStyle/>
                        <a:p>
                          <a:pPr algn="ctr"/>
                          <a:r>
                            <a:rPr lang="pt-BR" sz="1600" dirty="0"/>
                            <a:t>BLE/WiFi</a:t>
                          </a:r>
                        </a:p>
                      </a:txBody>
                      <a:tcPr/>
                    </a:tc>
                    <a:tc>
                      <a:txBody>
                        <a:bodyPr/>
                        <a:lstStyle/>
                        <a:p>
                          <a:pPr algn="ctr"/>
                          <a:r>
                            <a:rPr lang="pt-BR" sz="1600" dirty="0"/>
                            <a:t>BLE/WiFi</a:t>
                          </a:r>
                        </a:p>
                      </a:txBody>
                      <a:tcPr/>
                    </a:tc>
                    <a:tc>
                      <a:txBody>
                        <a:bodyPr/>
                        <a:lstStyle/>
                        <a:p>
                          <a:pPr algn="ctr"/>
                          <a:r>
                            <a:rPr lang="pt-BR" sz="1600" dirty="0"/>
                            <a:t>BLE/WiFi</a:t>
                          </a:r>
                        </a:p>
                      </a:txBody>
                      <a:tcPr/>
                    </a:tc>
                    <a:extLst>
                      <a:ext uri="{0D108BD9-81ED-4DB2-BD59-A6C34878D82A}">
                        <a16:rowId xmlns:a16="http://schemas.microsoft.com/office/drawing/2014/main" val="482253283"/>
                      </a:ext>
                    </a:extLst>
                  </a:tr>
                  <a:tr h="370840">
                    <a:tc>
                      <a:txBody>
                        <a:bodyPr/>
                        <a:lstStyle/>
                        <a:p>
                          <a:pPr algn="ctr"/>
                          <a:r>
                            <a:rPr lang="pt-BR" sz="1600" b="1" dirty="0"/>
                            <a:t>Sensores</a:t>
                          </a:r>
                        </a:p>
                      </a:txBody>
                      <a:tcPr/>
                    </a:tc>
                    <a:tc>
                      <a:txBody>
                        <a:bodyPr/>
                        <a:lstStyle/>
                        <a:p>
                          <a:pPr algn="ctr"/>
                          <a:r>
                            <a:rPr lang="pt-BR" sz="1600" dirty="0"/>
                            <a:t>Não</a:t>
                          </a:r>
                        </a:p>
                      </a:txBody>
                      <a:tcPr/>
                    </a:tc>
                    <a:tc>
                      <a:txBody>
                        <a:bodyPr/>
                        <a:lstStyle/>
                        <a:p>
                          <a:pPr algn="ctr"/>
                          <a:r>
                            <a:rPr lang="pt-BR" sz="1600" dirty="0"/>
                            <a:t>Sim</a:t>
                          </a:r>
                        </a:p>
                      </a:txBody>
                      <a:tcPr/>
                    </a:tc>
                    <a:tc>
                      <a:txBody>
                        <a:bodyPr/>
                        <a:lstStyle/>
                        <a:p>
                          <a:pPr algn="ctr"/>
                          <a:r>
                            <a:rPr lang="pt-BR" sz="1600" dirty="0"/>
                            <a:t>Não</a:t>
                          </a:r>
                        </a:p>
                      </a:txBody>
                      <a:tcPr/>
                    </a:tc>
                    <a:tc>
                      <a:txBody>
                        <a:bodyPr/>
                        <a:lstStyle/>
                        <a:p>
                          <a:pPr algn="ctr"/>
                          <a:r>
                            <a:rPr lang="pt-BR" sz="1600" dirty="0"/>
                            <a:t>Sim</a:t>
                          </a:r>
                        </a:p>
                      </a:txBody>
                      <a:tcPr/>
                    </a:tc>
                    <a:tc>
                      <a:txBody>
                        <a:bodyPr/>
                        <a:lstStyle/>
                        <a:p>
                          <a:pPr algn="ctr"/>
                          <a:r>
                            <a:rPr lang="pt-BR" sz="1600" dirty="0"/>
                            <a:t>Não</a:t>
                          </a:r>
                        </a:p>
                      </a:txBody>
                      <a:tcPr/>
                    </a:tc>
                    <a:extLst>
                      <a:ext uri="{0D108BD9-81ED-4DB2-BD59-A6C34878D82A}">
                        <a16:rowId xmlns:a16="http://schemas.microsoft.com/office/drawing/2014/main" val="4248534087"/>
                      </a:ext>
                    </a:extLst>
                  </a:tr>
                  <a:tr h="370840">
                    <a:tc>
                      <a:txBody>
                        <a:bodyPr/>
                        <a:lstStyle/>
                        <a:p>
                          <a:pPr algn="ctr"/>
                          <a:r>
                            <a:rPr lang="pt-BR" sz="1600" b="1" dirty="0"/>
                            <a:t>Preço</a:t>
                          </a:r>
                        </a:p>
                      </a:txBody>
                      <a:tcPr/>
                    </a:tc>
                    <a:tc>
                      <a:txBody>
                        <a:bodyPr/>
                        <a:lstStyle/>
                        <a:p>
                          <a:endParaRPr lang="en-US"/>
                        </a:p>
                      </a:txBody>
                      <a:tcPr>
                        <a:blipFill>
                          <a:blip r:embed="rId3"/>
                          <a:stretch>
                            <a:fillRect l="-69231" t="-836066" r="-394505" b="-11475"/>
                          </a:stretch>
                        </a:blipFill>
                      </a:tcPr>
                    </a:tc>
                    <a:tc>
                      <a:txBody>
                        <a:bodyPr/>
                        <a:lstStyle/>
                        <a:p>
                          <a:endParaRPr lang="en-US"/>
                        </a:p>
                      </a:txBody>
                      <a:tcPr>
                        <a:blipFill>
                          <a:blip r:embed="rId3"/>
                          <a:stretch>
                            <a:fillRect l="-174340" t="-836066" r="-306415" b="-11475"/>
                          </a:stretch>
                        </a:blipFill>
                      </a:tcPr>
                    </a:tc>
                    <a:tc>
                      <a:txBody>
                        <a:bodyPr/>
                        <a:lstStyle/>
                        <a:p>
                          <a:endParaRPr lang="en-US"/>
                        </a:p>
                      </a:txBody>
                      <a:tcPr>
                        <a:blipFill>
                          <a:blip r:embed="rId3"/>
                          <a:stretch>
                            <a:fillRect l="-246441" t="-836066" r="-175254" b="-11475"/>
                          </a:stretch>
                        </a:blipFill>
                      </a:tcPr>
                    </a:tc>
                    <a:tc>
                      <a:txBody>
                        <a:bodyPr/>
                        <a:lstStyle/>
                        <a:p>
                          <a:endParaRPr lang="en-US"/>
                        </a:p>
                      </a:txBody>
                      <a:tcPr>
                        <a:blipFill>
                          <a:blip r:embed="rId3"/>
                          <a:stretch>
                            <a:fillRect l="-407171" t="-836066" r="-105976" b="-11475"/>
                          </a:stretch>
                        </a:blipFill>
                      </a:tcPr>
                    </a:tc>
                    <a:tc>
                      <a:txBody>
                        <a:bodyPr/>
                        <a:lstStyle/>
                        <a:p>
                          <a:endParaRPr lang="en-US"/>
                        </a:p>
                      </a:txBody>
                      <a:tcPr>
                        <a:blipFill>
                          <a:blip r:embed="rId3"/>
                          <a:stretch>
                            <a:fillRect l="-485878" t="-836066" r="-1527" b="-11475"/>
                          </a:stretch>
                        </a:blipFill>
                      </a:tcPr>
                    </a:tc>
                    <a:extLst>
                      <a:ext uri="{0D108BD9-81ED-4DB2-BD59-A6C34878D82A}">
                        <a16:rowId xmlns:a16="http://schemas.microsoft.com/office/drawing/2014/main" val="3873771758"/>
                      </a:ext>
                    </a:extLst>
                  </a:tr>
                </a:tbl>
              </a:graphicData>
            </a:graphic>
          </p:graphicFrame>
        </mc:Fallback>
      </mc:AlternateContent>
      <p:pic>
        <p:nvPicPr>
          <p:cNvPr id="2050" name="Picture 2">
            <a:extLst>
              <a:ext uri="{FF2B5EF4-FFF2-40B4-BE49-F238E27FC236}">
                <a16:creationId xmlns:a16="http://schemas.microsoft.com/office/drawing/2014/main" id="{E9B07D62-E6B8-0A9F-4C46-3236B2B0E266}"/>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2866" t="17886" r="19969" b="14797"/>
          <a:stretch/>
        </p:blipFill>
        <p:spPr bwMode="auto">
          <a:xfrm>
            <a:off x="8519078" y="2362694"/>
            <a:ext cx="1130471" cy="74882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Arduino Nano 33 BLE Sense [ABX00031] | Amazon.com.br">
            <a:extLst>
              <a:ext uri="{FF2B5EF4-FFF2-40B4-BE49-F238E27FC236}">
                <a16:creationId xmlns:a16="http://schemas.microsoft.com/office/drawing/2014/main" id="{69BD64CD-8570-2806-E32F-1B69EF20E10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98741" y="2288944"/>
            <a:ext cx="1130470" cy="84089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Esp32 Esp32 Typc C Placa De Desenvolvimento Wifi + Bluetooth Ultra-baixo  Consumo De Energia Núcleo Duplo Esp-32 Esp-32s Esp 32 Semelhante Esp8266 -  Peças De Reposição - AliExpress">
            <a:extLst>
              <a:ext uri="{FF2B5EF4-FFF2-40B4-BE49-F238E27FC236}">
                <a16:creationId xmlns:a16="http://schemas.microsoft.com/office/drawing/2014/main" id="{E983D9C4-AB1B-0F40-9F10-5D28AE0F4150}"/>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5014" t="30031" r="2304" b="12846"/>
          <a:stretch/>
        </p:blipFill>
        <p:spPr bwMode="auto">
          <a:xfrm>
            <a:off x="6779005" y="2314328"/>
            <a:ext cx="1290278" cy="795244"/>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PLACA RASPBERRY PI PICO W - ACEPIC Tecnologia">
            <a:extLst>
              <a:ext uri="{FF2B5EF4-FFF2-40B4-BE49-F238E27FC236}">
                <a16:creationId xmlns:a16="http://schemas.microsoft.com/office/drawing/2014/main" id="{9C1E59A2-92D3-896D-BAFE-55048A77D662}"/>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517575" y="2288944"/>
            <a:ext cx="1175575" cy="840898"/>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ABX00042 Arduino | Arduino Portenta H7 Module | 201-1441 | RS Components">
            <a:extLst>
              <a:ext uri="{FF2B5EF4-FFF2-40B4-BE49-F238E27FC236}">
                <a16:creationId xmlns:a16="http://schemas.microsoft.com/office/drawing/2014/main" id="{4D7F960A-E096-D29C-41B4-CAE0E8590BE9}"/>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6571" t="6914" r="6126" b="6916"/>
          <a:stretch/>
        </p:blipFill>
        <p:spPr bwMode="auto">
          <a:xfrm>
            <a:off x="10083932" y="2190197"/>
            <a:ext cx="1246782" cy="922945"/>
          </a:xfrm>
          <a:prstGeom prst="rect">
            <a:avLst/>
          </a:prstGeom>
          <a:noFill/>
          <a:extLst>
            <a:ext uri="{909E8E84-426E-40DD-AFC4-6F175D3DCCD1}">
              <a14:hiddenFill xmlns:a14="http://schemas.microsoft.com/office/drawing/2010/main">
                <a:solidFill>
                  <a:srgbClr val="FFFFFF"/>
                </a:solidFill>
              </a14:hiddenFill>
            </a:ext>
          </a:extLst>
        </p:spPr>
      </p:pic>
      <p:sp>
        <p:nvSpPr>
          <p:cNvPr id="6" name="CaixaDeTexto 5">
            <a:extLst>
              <a:ext uri="{FF2B5EF4-FFF2-40B4-BE49-F238E27FC236}">
                <a16:creationId xmlns:a16="http://schemas.microsoft.com/office/drawing/2014/main" id="{DC1D912A-A905-15FA-76C3-045BA036F272}"/>
              </a:ext>
            </a:extLst>
          </p:cNvPr>
          <p:cNvSpPr txBox="1"/>
          <p:nvPr/>
        </p:nvSpPr>
        <p:spPr>
          <a:xfrm>
            <a:off x="2070407" y="6581001"/>
            <a:ext cx="2125904" cy="276999"/>
          </a:xfrm>
          <a:prstGeom prst="rect">
            <a:avLst/>
          </a:prstGeom>
          <a:noFill/>
        </p:spPr>
        <p:txBody>
          <a:bodyPr wrap="square" rtlCol="0">
            <a:spAutoFit/>
          </a:bodyPr>
          <a:lstStyle/>
          <a:p>
            <a:pPr algn="ctr"/>
            <a:r>
              <a:rPr lang="pt-BR" sz="1200" dirty="0">
                <a:ea typeface="Cambria Math" panose="02040503050406030204" pitchFamily="18" charset="0"/>
              </a:rPr>
              <a:t>* Todas as CPUs são de 32 bits.</a:t>
            </a:r>
            <a:endParaRPr lang="pt-BR" sz="1200" dirty="0"/>
          </a:p>
        </p:txBody>
      </p:sp>
      <p:sp>
        <p:nvSpPr>
          <p:cNvPr id="8" name="CaixaDeTexto 7">
            <a:extLst>
              <a:ext uri="{FF2B5EF4-FFF2-40B4-BE49-F238E27FC236}">
                <a16:creationId xmlns:a16="http://schemas.microsoft.com/office/drawing/2014/main" id="{73E94740-FBB8-8B9B-976F-1EEA5624E272}"/>
              </a:ext>
            </a:extLst>
          </p:cNvPr>
          <p:cNvSpPr txBox="1"/>
          <p:nvPr/>
        </p:nvSpPr>
        <p:spPr>
          <a:xfrm>
            <a:off x="159026" y="1686133"/>
            <a:ext cx="3029714" cy="1200329"/>
          </a:xfrm>
          <a:prstGeom prst="rect">
            <a:avLst/>
          </a:prstGeom>
          <a:noFill/>
        </p:spPr>
        <p:txBody>
          <a:bodyPr wrap="square">
            <a:spAutoFit/>
          </a:bodyPr>
          <a:lstStyle/>
          <a:p>
            <a:pPr algn="ctr"/>
            <a:r>
              <a:rPr lang="pt-BR" sz="2400" dirty="0"/>
              <a:t>Os </a:t>
            </a:r>
            <a:r>
              <a:rPr lang="pt-BR" sz="2400" b="1" i="1" dirty="0" err="1"/>
              <a:t>endpoints</a:t>
            </a:r>
            <a:r>
              <a:rPr lang="pt-BR" sz="2400" dirty="0"/>
              <a:t> são, em geral, dispositivos com restrições de recursos.</a:t>
            </a:r>
          </a:p>
        </p:txBody>
      </p:sp>
      <p:sp>
        <p:nvSpPr>
          <p:cNvPr id="3" name="CaixaDeTexto 2">
            <a:extLst>
              <a:ext uri="{FF2B5EF4-FFF2-40B4-BE49-F238E27FC236}">
                <a16:creationId xmlns:a16="http://schemas.microsoft.com/office/drawing/2014/main" id="{BA21EC4E-CE9C-5C1E-3723-4F34CBC6A68E}"/>
              </a:ext>
            </a:extLst>
          </p:cNvPr>
          <p:cNvSpPr txBox="1"/>
          <p:nvPr/>
        </p:nvSpPr>
        <p:spPr>
          <a:xfrm>
            <a:off x="4196311" y="6594350"/>
            <a:ext cx="4459368" cy="276999"/>
          </a:xfrm>
          <a:prstGeom prst="rect">
            <a:avLst/>
          </a:prstGeom>
          <a:noFill/>
        </p:spPr>
        <p:txBody>
          <a:bodyPr wrap="square" rtlCol="0">
            <a:spAutoFit/>
          </a:bodyPr>
          <a:lstStyle/>
          <a:p>
            <a:r>
              <a:rPr lang="pt-BR" sz="1200" dirty="0">
                <a:ea typeface="Cambria Math" panose="02040503050406030204" pitchFamily="18" charset="0"/>
              </a:rPr>
              <a:t>** Chip BLE multiprotocolo: suporta os protocolos </a:t>
            </a:r>
            <a:r>
              <a:rPr lang="pt-BR" sz="1200" dirty="0" err="1">
                <a:ea typeface="Cambria Math" panose="02040503050406030204" pitchFamily="18" charset="0"/>
              </a:rPr>
              <a:t>ZigBee</a:t>
            </a:r>
            <a:r>
              <a:rPr lang="pt-BR" sz="1200" dirty="0">
                <a:ea typeface="Cambria Math" panose="02040503050406030204" pitchFamily="18" charset="0"/>
              </a:rPr>
              <a:t> e Thread.</a:t>
            </a:r>
            <a:endParaRPr lang="pt-BR" sz="1200" dirty="0"/>
          </a:p>
        </p:txBody>
      </p:sp>
      <p:sp>
        <p:nvSpPr>
          <p:cNvPr id="7" name="CaixaDeTexto 6">
            <a:extLst>
              <a:ext uri="{FF2B5EF4-FFF2-40B4-BE49-F238E27FC236}">
                <a16:creationId xmlns:a16="http://schemas.microsoft.com/office/drawing/2014/main" id="{EE4E7D52-B052-23AC-E311-783F843F6C65}"/>
              </a:ext>
            </a:extLst>
          </p:cNvPr>
          <p:cNvSpPr txBox="1"/>
          <p:nvPr/>
        </p:nvSpPr>
        <p:spPr>
          <a:xfrm>
            <a:off x="8599248" y="6594350"/>
            <a:ext cx="3672922" cy="276999"/>
          </a:xfrm>
          <a:prstGeom prst="rect">
            <a:avLst/>
          </a:prstGeom>
          <a:noFill/>
        </p:spPr>
        <p:txBody>
          <a:bodyPr wrap="square" rtlCol="0">
            <a:spAutoFit/>
          </a:bodyPr>
          <a:lstStyle/>
          <a:p>
            <a:r>
              <a:rPr lang="pt-BR" sz="1200" dirty="0">
                <a:ea typeface="Cambria Math" panose="02040503050406030204" pitchFamily="18" charset="0"/>
              </a:rPr>
              <a:t>*** É possível rodar aplicações de detecção de objetos.</a:t>
            </a:r>
            <a:endParaRPr lang="pt-BR" sz="1200" dirty="0"/>
          </a:p>
        </p:txBody>
      </p:sp>
    </p:spTree>
    <p:extLst>
      <p:ext uri="{BB962C8B-B14F-4D97-AF65-F5344CB8AC3E}">
        <p14:creationId xmlns:p14="http://schemas.microsoft.com/office/powerpoint/2010/main" val="6225217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C074FF-B284-1137-1A8F-CBDB34F76BBB}"/>
              </a:ext>
            </a:extLst>
          </p:cNvPr>
          <p:cNvSpPr>
            <a:spLocks noGrp="1"/>
          </p:cNvSpPr>
          <p:nvPr>
            <p:ph type="title"/>
          </p:nvPr>
        </p:nvSpPr>
        <p:spPr/>
        <p:txBody>
          <a:bodyPr/>
          <a:lstStyle/>
          <a:p>
            <a:r>
              <a:rPr lang="pt-BR" dirty="0"/>
              <a:t>Dominância dos processadores ARM</a:t>
            </a:r>
          </a:p>
        </p:txBody>
      </p:sp>
      <p:sp>
        <p:nvSpPr>
          <p:cNvPr id="3" name="Espaço Reservado para Conteúdo 2">
            <a:extLst>
              <a:ext uri="{FF2B5EF4-FFF2-40B4-BE49-F238E27FC236}">
                <a16:creationId xmlns:a16="http://schemas.microsoft.com/office/drawing/2014/main" id="{A8FC61A8-DE67-16F3-69E6-373AB7C5B1E5}"/>
              </a:ext>
            </a:extLst>
          </p:cNvPr>
          <p:cNvSpPr>
            <a:spLocks noGrp="1"/>
          </p:cNvSpPr>
          <p:nvPr>
            <p:ph idx="1"/>
          </p:nvPr>
        </p:nvSpPr>
        <p:spPr>
          <a:xfrm>
            <a:off x="6690395" y="2618739"/>
            <a:ext cx="5186048" cy="1620522"/>
          </a:xfrm>
        </p:spPr>
        <p:txBody>
          <a:bodyPr>
            <a:normAutofit/>
          </a:bodyPr>
          <a:lstStyle/>
          <a:p>
            <a:pPr marL="0" indent="0">
              <a:buNone/>
            </a:pPr>
            <a:r>
              <a:rPr lang="pt-BR" dirty="0"/>
              <a:t>Processadores ARM estão em praticamente todos os sistemas embarcados.</a:t>
            </a:r>
          </a:p>
        </p:txBody>
      </p:sp>
      <p:pic>
        <p:nvPicPr>
          <p:cNvPr id="2050" name="Picture 2" descr="ARM revela ARMv9, nova arquitetura de chips mais rápida e segura – Tecnoblog">
            <a:extLst>
              <a:ext uri="{FF2B5EF4-FFF2-40B4-BE49-F238E27FC236}">
                <a16:creationId xmlns:a16="http://schemas.microsoft.com/office/drawing/2014/main" id="{2518111F-9B14-0C8D-60BB-AAC3715C5E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453" y="2013420"/>
            <a:ext cx="5000683" cy="281288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ARM Announces New Cortex-R8 Real-Time Processor">
            <a:extLst>
              <a:ext uri="{FF2B5EF4-FFF2-40B4-BE49-F238E27FC236}">
                <a16:creationId xmlns:a16="http://schemas.microsoft.com/office/drawing/2014/main" id="{F1F6E639-165E-1FDE-CDAE-6BCC7FB4985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672" t="57437" r="67759" b="6502"/>
          <a:stretch/>
        </p:blipFill>
        <p:spPr bwMode="auto">
          <a:xfrm>
            <a:off x="823153" y="5111184"/>
            <a:ext cx="1774021" cy="135074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ARM Announces New Cortex-R8 Real-Time Processor">
            <a:extLst>
              <a:ext uri="{FF2B5EF4-FFF2-40B4-BE49-F238E27FC236}">
                <a16:creationId xmlns:a16="http://schemas.microsoft.com/office/drawing/2014/main" id="{44D12A83-705C-2EF4-298B-4A86F27264E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6437" t="58434" r="37155" b="5837"/>
          <a:stretch/>
        </p:blipFill>
        <p:spPr bwMode="auto">
          <a:xfrm>
            <a:off x="2765337" y="5111184"/>
            <a:ext cx="1924516" cy="1350746"/>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ARM Announces New Cortex-R8 Real-Time Processor">
            <a:extLst>
              <a:ext uri="{FF2B5EF4-FFF2-40B4-BE49-F238E27FC236}">
                <a16:creationId xmlns:a16="http://schemas.microsoft.com/office/drawing/2014/main" id="{C62B96CB-3CE1-2F72-D38C-EA301A51E15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7414" t="55775" r="7586" b="7167"/>
          <a:stretch/>
        </p:blipFill>
        <p:spPr bwMode="auto">
          <a:xfrm>
            <a:off x="4729428" y="5086001"/>
            <a:ext cx="1756575" cy="13507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38738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2152C-F21F-0BE4-2786-21F268AFC82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AF20995-2FE9-8A7D-6596-AA8AE44B7E14}"/>
              </a:ext>
            </a:extLst>
          </p:cNvPr>
          <p:cNvSpPr>
            <a:spLocks noGrp="1"/>
          </p:cNvSpPr>
          <p:nvPr>
            <p:ph type="title"/>
          </p:nvPr>
        </p:nvSpPr>
        <p:spPr/>
        <p:txBody>
          <a:bodyPr/>
          <a:lstStyle/>
          <a:p>
            <a:r>
              <a:rPr lang="pt-BR" dirty="0"/>
              <a:t>Dominância dos processadores ARM</a:t>
            </a:r>
          </a:p>
        </p:txBody>
      </p:sp>
      <p:sp>
        <p:nvSpPr>
          <p:cNvPr id="3" name="Espaço Reservado para Conteúdo 2">
            <a:extLst>
              <a:ext uri="{FF2B5EF4-FFF2-40B4-BE49-F238E27FC236}">
                <a16:creationId xmlns:a16="http://schemas.microsoft.com/office/drawing/2014/main" id="{665507BE-47BB-B690-0CA0-C9D270CC8C22}"/>
              </a:ext>
            </a:extLst>
          </p:cNvPr>
          <p:cNvSpPr>
            <a:spLocks noGrp="1"/>
          </p:cNvSpPr>
          <p:nvPr>
            <p:ph idx="1"/>
          </p:nvPr>
        </p:nvSpPr>
        <p:spPr>
          <a:xfrm>
            <a:off x="5885794" y="1825624"/>
            <a:ext cx="6148552" cy="5032375"/>
          </a:xfrm>
        </p:spPr>
        <p:txBody>
          <a:bodyPr>
            <a:normAutofit/>
          </a:bodyPr>
          <a:lstStyle/>
          <a:p>
            <a:r>
              <a:rPr lang="pt-BR" dirty="0"/>
              <a:t>Isso se deve a alguns fatores principais:</a:t>
            </a:r>
          </a:p>
          <a:p>
            <a:pPr lvl="1">
              <a:buFont typeface="Wingdings" panose="05000000000000000000" pitchFamily="2" charset="2"/>
              <a:buChar char="§"/>
            </a:pPr>
            <a:r>
              <a:rPr lang="pt-BR" b="1" i="1" dirty="0"/>
              <a:t>Alta e</a:t>
            </a:r>
            <a:r>
              <a:rPr lang="pt-BR" b="1" i="1" dirty="0">
                <a:effectLst/>
              </a:rPr>
              <a:t>ficiência energética</a:t>
            </a:r>
            <a:r>
              <a:rPr lang="pt-BR" b="0" i="0" dirty="0">
                <a:effectLst/>
              </a:rPr>
              <a:t>: consomem menos energia em comparação com outras arquiteturas de processadores.</a:t>
            </a:r>
          </a:p>
          <a:p>
            <a:pPr lvl="1">
              <a:buFont typeface="Wingdings" panose="05000000000000000000" pitchFamily="2" charset="2"/>
              <a:buChar char="§"/>
            </a:pPr>
            <a:r>
              <a:rPr lang="pt-BR" b="1" i="1" dirty="0">
                <a:effectLst/>
              </a:rPr>
              <a:t>Baixo Custo</a:t>
            </a:r>
            <a:r>
              <a:rPr lang="pt-BR" b="0" i="0" dirty="0">
                <a:effectLst/>
              </a:rPr>
              <a:t>: como são focados em sistemas </a:t>
            </a:r>
            <a:r>
              <a:rPr lang="pt-BR" dirty="0">
                <a:effectLst/>
              </a:rPr>
              <a:t>embarcados, têm alta demanda </a:t>
            </a:r>
            <a:r>
              <a:rPr lang="pt-BR" b="0" i="0" dirty="0">
                <a:effectLst/>
              </a:rPr>
              <a:t>e com isso têm custo bem menor do que outros processadores.</a:t>
            </a:r>
          </a:p>
          <a:p>
            <a:pPr lvl="1">
              <a:buFont typeface="Wingdings" panose="05000000000000000000" pitchFamily="2" charset="2"/>
              <a:buChar char="§"/>
            </a:pPr>
            <a:r>
              <a:rPr lang="pt-BR" b="1" i="1" dirty="0"/>
              <a:t>Flexibilidade</a:t>
            </a:r>
            <a:r>
              <a:rPr lang="pt-BR" dirty="0"/>
              <a:t>: </a:t>
            </a:r>
            <a:r>
              <a:rPr lang="pt-BR" b="0" i="0" dirty="0">
                <a:effectLst/>
              </a:rPr>
              <a:t>fabricantes podem produzir </a:t>
            </a:r>
            <a:r>
              <a:rPr lang="pt-BR" b="0" i="1" dirty="0">
                <a:effectLst/>
              </a:rPr>
              <a:t>chips</a:t>
            </a:r>
            <a:r>
              <a:rPr lang="pt-BR" b="0" i="0" dirty="0">
                <a:effectLst/>
              </a:rPr>
              <a:t> personalizados para atender a necessidades específicas (número de núcleos, FPU, MMU, DSP, SIMD, etc.). </a:t>
            </a:r>
            <a:endParaRPr lang="pt-BR" dirty="0"/>
          </a:p>
        </p:txBody>
      </p:sp>
      <p:pic>
        <p:nvPicPr>
          <p:cNvPr id="2050" name="Picture 2" descr="ARM revela ARMv9, nova arquitetura de chips mais rápida e segura – Tecnoblog">
            <a:extLst>
              <a:ext uri="{FF2B5EF4-FFF2-40B4-BE49-F238E27FC236}">
                <a16:creationId xmlns:a16="http://schemas.microsoft.com/office/drawing/2014/main" id="{FD618B2A-984F-212E-2832-6900A4AEBC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840" y="1825624"/>
            <a:ext cx="5000683" cy="281288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ARM Announces New Cortex-R8 Real-Time Processor">
            <a:extLst>
              <a:ext uri="{FF2B5EF4-FFF2-40B4-BE49-F238E27FC236}">
                <a16:creationId xmlns:a16="http://schemas.microsoft.com/office/drawing/2014/main" id="{757DC627-4819-0842-7970-D3B7F1A4E30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672" t="57437" r="67759" b="6502"/>
          <a:stretch/>
        </p:blipFill>
        <p:spPr bwMode="auto">
          <a:xfrm>
            <a:off x="317540" y="4923388"/>
            <a:ext cx="1774021" cy="135074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ARM Announces New Cortex-R8 Real-Time Processor">
            <a:extLst>
              <a:ext uri="{FF2B5EF4-FFF2-40B4-BE49-F238E27FC236}">
                <a16:creationId xmlns:a16="http://schemas.microsoft.com/office/drawing/2014/main" id="{86EA4D7D-6051-1107-0BDC-E83F183BDD8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6437" t="58434" r="37155" b="5837"/>
          <a:stretch/>
        </p:blipFill>
        <p:spPr bwMode="auto">
          <a:xfrm>
            <a:off x="2259724" y="4923388"/>
            <a:ext cx="1924516" cy="1350746"/>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ARM Announces New Cortex-R8 Real-Time Processor">
            <a:extLst>
              <a:ext uri="{FF2B5EF4-FFF2-40B4-BE49-F238E27FC236}">
                <a16:creationId xmlns:a16="http://schemas.microsoft.com/office/drawing/2014/main" id="{04074B43-1787-F1C8-575A-325FCC58080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7414" t="55775" r="7586" b="7167"/>
          <a:stretch/>
        </p:blipFill>
        <p:spPr bwMode="auto">
          <a:xfrm>
            <a:off x="4223815" y="4898205"/>
            <a:ext cx="1756575" cy="13507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06964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D8A548-721B-2F1C-FA71-406773F1D3EF}"/>
              </a:ext>
            </a:extLst>
          </p:cNvPr>
          <p:cNvSpPr>
            <a:spLocks noGrp="1"/>
          </p:cNvSpPr>
          <p:nvPr>
            <p:ph type="title"/>
          </p:nvPr>
        </p:nvSpPr>
        <p:spPr>
          <a:xfrm>
            <a:off x="838200" y="365125"/>
            <a:ext cx="10796752" cy="1325563"/>
          </a:xfrm>
        </p:spPr>
        <p:txBody>
          <a:bodyPr/>
          <a:lstStyle/>
          <a:p>
            <a:r>
              <a:rPr lang="pt-BR" dirty="0"/>
              <a:t>CPUs ARM </a:t>
            </a:r>
            <a:r>
              <a:rPr lang="pt-BR" dirty="0" err="1"/>
              <a:t>Cortex</a:t>
            </a:r>
            <a:r>
              <a:rPr lang="pt-BR" dirty="0"/>
              <a:t> para sistemas embarcados</a:t>
            </a:r>
          </a:p>
        </p:txBody>
      </p:sp>
      <p:sp>
        <p:nvSpPr>
          <p:cNvPr id="3" name="Espaço Reservado para Conteúdo 2">
            <a:extLst>
              <a:ext uri="{FF2B5EF4-FFF2-40B4-BE49-F238E27FC236}">
                <a16:creationId xmlns:a16="http://schemas.microsoft.com/office/drawing/2014/main" id="{5F8716DE-7ADD-6778-BBE4-F45374A55917}"/>
              </a:ext>
            </a:extLst>
          </p:cNvPr>
          <p:cNvSpPr>
            <a:spLocks noGrp="1"/>
          </p:cNvSpPr>
          <p:nvPr>
            <p:ph idx="1"/>
          </p:nvPr>
        </p:nvSpPr>
        <p:spPr>
          <a:xfrm>
            <a:off x="7448654" y="1597572"/>
            <a:ext cx="4648754" cy="5260429"/>
          </a:xfrm>
        </p:spPr>
        <p:txBody>
          <a:bodyPr>
            <a:normAutofit fontScale="92500" lnSpcReduction="20000"/>
          </a:bodyPr>
          <a:lstStyle/>
          <a:p>
            <a:r>
              <a:rPr lang="pt-BR" b="1" dirty="0" err="1"/>
              <a:t>Cortex</a:t>
            </a:r>
            <a:r>
              <a:rPr lang="pt-BR" b="1" dirty="0"/>
              <a:t> A</a:t>
            </a:r>
            <a:r>
              <a:rPr lang="pt-BR" dirty="0"/>
              <a:t>: alta performance.</a:t>
            </a:r>
          </a:p>
          <a:p>
            <a:pPr lvl="1">
              <a:buFont typeface="Wingdings" panose="05000000000000000000" pitchFamily="2" charset="2"/>
              <a:buChar char="§"/>
            </a:pPr>
            <a:r>
              <a:rPr lang="pt-BR" dirty="0"/>
              <a:t>Suportam até 4 cores. </a:t>
            </a:r>
          </a:p>
          <a:p>
            <a:pPr lvl="1">
              <a:buFont typeface="Wingdings" panose="05000000000000000000" pitchFamily="2" charset="2"/>
              <a:buChar char="§"/>
            </a:pPr>
            <a:r>
              <a:rPr lang="pt-BR" dirty="0"/>
              <a:t>Por terem MMU, executam </a:t>
            </a:r>
            <a:r>
              <a:rPr lang="pt-BR" dirty="0" err="1"/>
              <a:t>SOs</a:t>
            </a:r>
            <a:r>
              <a:rPr lang="pt-BR" dirty="0"/>
              <a:t> completos, como Android e Linux.</a:t>
            </a:r>
          </a:p>
          <a:p>
            <a:r>
              <a:rPr lang="pt-BR" b="1" dirty="0" err="1"/>
              <a:t>Cortex</a:t>
            </a:r>
            <a:r>
              <a:rPr lang="pt-BR" b="1" dirty="0"/>
              <a:t> R</a:t>
            </a:r>
            <a:r>
              <a:rPr lang="pt-BR" dirty="0"/>
              <a:t>: alta performance e resposta rápida. </a:t>
            </a:r>
          </a:p>
          <a:p>
            <a:pPr lvl="1">
              <a:buFont typeface="Wingdings" panose="05000000000000000000" pitchFamily="2" charset="2"/>
              <a:buChar char="§"/>
            </a:pPr>
            <a:r>
              <a:rPr lang="pt-BR" dirty="0"/>
              <a:t>Suportam até 2 cores.</a:t>
            </a:r>
          </a:p>
          <a:p>
            <a:pPr lvl="1">
              <a:buFont typeface="Wingdings" panose="05000000000000000000" pitchFamily="2" charset="2"/>
              <a:buChar char="§"/>
            </a:pPr>
            <a:r>
              <a:rPr lang="pt-BR" dirty="0"/>
              <a:t>Possuem </a:t>
            </a:r>
            <a:r>
              <a:rPr lang="pt-BR" dirty="0">
                <a:effectLst/>
              </a:rPr>
              <a:t>recursos de redundância e recuperação de falhas.</a:t>
            </a:r>
            <a:endParaRPr lang="pt-BR" dirty="0"/>
          </a:p>
          <a:p>
            <a:pPr lvl="1">
              <a:buFont typeface="Wingdings" panose="05000000000000000000" pitchFamily="2" charset="2"/>
              <a:buChar char="§"/>
            </a:pPr>
            <a:r>
              <a:rPr lang="pt-BR" dirty="0"/>
              <a:t>Não têm MMU, assim, não executam </a:t>
            </a:r>
            <a:r>
              <a:rPr lang="pt-BR" dirty="0" err="1"/>
              <a:t>SOs</a:t>
            </a:r>
            <a:r>
              <a:rPr lang="pt-BR" dirty="0"/>
              <a:t> completos, apenas </a:t>
            </a:r>
            <a:r>
              <a:rPr lang="pt-BR" dirty="0" err="1"/>
              <a:t>SOs</a:t>
            </a:r>
            <a:r>
              <a:rPr lang="pt-BR" dirty="0"/>
              <a:t> mais simples como </a:t>
            </a:r>
            <a:r>
              <a:rPr lang="pt-BR" dirty="0" err="1"/>
              <a:t>RTOSs</a:t>
            </a:r>
            <a:r>
              <a:rPr lang="pt-BR" dirty="0"/>
              <a:t>.</a:t>
            </a:r>
          </a:p>
          <a:p>
            <a:r>
              <a:rPr lang="pt-BR" b="1" dirty="0" err="1"/>
              <a:t>Cortex</a:t>
            </a:r>
            <a:r>
              <a:rPr lang="pt-BR" b="1" dirty="0"/>
              <a:t> M</a:t>
            </a:r>
            <a:r>
              <a:rPr lang="pt-BR" dirty="0"/>
              <a:t>: pequenos e com baixíssimo consumo.</a:t>
            </a:r>
          </a:p>
          <a:p>
            <a:pPr lvl="1">
              <a:buFont typeface="Wingdings" panose="05000000000000000000" pitchFamily="2" charset="2"/>
              <a:buChar char="§"/>
            </a:pPr>
            <a:r>
              <a:rPr lang="pt-BR" dirty="0"/>
              <a:t>Não executam </a:t>
            </a:r>
            <a:r>
              <a:rPr lang="pt-BR" dirty="0" err="1"/>
              <a:t>SOs</a:t>
            </a:r>
            <a:r>
              <a:rPr lang="pt-BR" dirty="0"/>
              <a:t> completos, mas podem executar </a:t>
            </a:r>
            <a:r>
              <a:rPr lang="pt-BR" dirty="0" err="1"/>
              <a:t>RTOSs</a:t>
            </a:r>
            <a:r>
              <a:rPr lang="pt-BR" dirty="0"/>
              <a:t>.</a:t>
            </a:r>
          </a:p>
        </p:txBody>
      </p:sp>
      <p:pic>
        <p:nvPicPr>
          <p:cNvPr id="11" name="Imagem 10">
            <a:extLst>
              <a:ext uri="{FF2B5EF4-FFF2-40B4-BE49-F238E27FC236}">
                <a16:creationId xmlns:a16="http://schemas.microsoft.com/office/drawing/2014/main" id="{E1E4D882-DB9A-5FC7-598C-43444E0B0659}"/>
              </a:ext>
            </a:extLst>
          </p:cNvPr>
          <p:cNvPicPr>
            <a:picLocks noChangeAspect="1"/>
          </p:cNvPicPr>
          <p:nvPr/>
        </p:nvPicPr>
        <p:blipFill rotWithShape="1">
          <a:blip r:embed="rId3">
            <a:extLst>
              <a:ext uri="{28A0092B-C50C-407E-A947-70E740481C1C}">
                <a14:useLocalDpi xmlns:a14="http://schemas.microsoft.com/office/drawing/2010/main" val="0"/>
              </a:ext>
            </a:extLst>
          </a:blip>
          <a:srcRect l="1012" b="1881"/>
          <a:stretch/>
        </p:blipFill>
        <p:spPr>
          <a:xfrm>
            <a:off x="25050" y="1573647"/>
            <a:ext cx="7237598" cy="4699881"/>
          </a:xfrm>
          <a:prstGeom prst="rect">
            <a:avLst/>
          </a:prstGeom>
        </p:spPr>
      </p:pic>
      <p:sp>
        <p:nvSpPr>
          <p:cNvPr id="14" name="CaixaDeTexto 13">
            <a:extLst>
              <a:ext uri="{FF2B5EF4-FFF2-40B4-BE49-F238E27FC236}">
                <a16:creationId xmlns:a16="http://schemas.microsoft.com/office/drawing/2014/main" id="{317FCA5B-6F59-804E-1F7C-C6D105428FE2}"/>
              </a:ext>
            </a:extLst>
          </p:cNvPr>
          <p:cNvSpPr txBox="1"/>
          <p:nvPr/>
        </p:nvSpPr>
        <p:spPr>
          <a:xfrm>
            <a:off x="931203" y="6102189"/>
            <a:ext cx="3691039" cy="646331"/>
          </a:xfrm>
          <a:prstGeom prst="rect">
            <a:avLst/>
          </a:prstGeom>
          <a:noFill/>
        </p:spPr>
        <p:txBody>
          <a:bodyPr wrap="square" rtlCol="0">
            <a:spAutoFit/>
          </a:bodyPr>
          <a:lstStyle/>
          <a:p>
            <a:pPr algn="ctr"/>
            <a:r>
              <a:rPr lang="pt-BR" sz="1200" dirty="0"/>
              <a:t>Família usada em </a:t>
            </a:r>
            <a:r>
              <a:rPr lang="pt-BR" sz="1200" b="0" i="0" dirty="0">
                <a:effectLst/>
              </a:rPr>
              <a:t>sistemas que requerem alta eficiência energética Porém, a alta eficiência energética</a:t>
            </a:r>
            <a:r>
              <a:rPr lang="pt-BR" sz="1200" dirty="0"/>
              <a:t> </a:t>
            </a:r>
            <a:r>
              <a:rPr lang="pt-BR" sz="1200" b="0" i="0" dirty="0">
                <a:effectLst/>
              </a:rPr>
              <a:t>implica em menor poder computacional.</a:t>
            </a:r>
            <a:endParaRPr lang="pt-BR" sz="1200" dirty="0"/>
          </a:p>
        </p:txBody>
      </p:sp>
      <p:sp>
        <p:nvSpPr>
          <p:cNvPr id="15" name="Retângulo 14">
            <a:extLst>
              <a:ext uri="{FF2B5EF4-FFF2-40B4-BE49-F238E27FC236}">
                <a16:creationId xmlns:a16="http://schemas.microsoft.com/office/drawing/2014/main" id="{65E15F29-C070-7BA6-413A-943C45F56AF0}"/>
              </a:ext>
            </a:extLst>
          </p:cNvPr>
          <p:cNvSpPr/>
          <p:nvPr/>
        </p:nvSpPr>
        <p:spPr>
          <a:xfrm>
            <a:off x="325820" y="4665333"/>
            <a:ext cx="2469931" cy="1325563"/>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7" name="Conector: Angulado 16">
            <a:extLst>
              <a:ext uri="{FF2B5EF4-FFF2-40B4-BE49-F238E27FC236}">
                <a16:creationId xmlns:a16="http://schemas.microsoft.com/office/drawing/2014/main" id="{5AB7648F-FE0B-224B-9D75-925605BE91A7}"/>
              </a:ext>
            </a:extLst>
          </p:cNvPr>
          <p:cNvCxnSpPr>
            <a:cxnSpLocks/>
          </p:cNvCxnSpPr>
          <p:nvPr/>
        </p:nvCxnSpPr>
        <p:spPr>
          <a:xfrm rot="16200000" flipH="1">
            <a:off x="623475" y="6117627"/>
            <a:ext cx="429450" cy="186005"/>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39319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8A5536-E433-CB63-9D32-2E846F3A6506}"/>
              </a:ext>
            </a:extLst>
          </p:cNvPr>
          <p:cNvSpPr>
            <a:spLocks noGrp="1"/>
          </p:cNvSpPr>
          <p:nvPr>
            <p:ph type="title"/>
          </p:nvPr>
        </p:nvSpPr>
        <p:spPr/>
        <p:txBody>
          <a:bodyPr/>
          <a:lstStyle/>
          <a:p>
            <a:r>
              <a:rPr lang="pt-BR" dirty="0"/>
              <a:t>Conjunto de instruções da família ARM </a:t>
            </a:r>
            <a:r>
              <a:rPr lang="pt-BR" dirty="0" err="1"/>
              <a:t>Cortex</a:t>
            </a:r>
            <a:r>
              <a:rPr lang="pt-BR" dirty="0"/>
              <a:t>-M</a:t>
            </a:r>
          </a:p>
        </p:txBody>
      </p:sp>
      <p:pic>
        <p:nvPicPr>
          <p:cNvPr id="7" name="Imagem 6">
            <a:extLst>
              <a:ext uri="{FF2B5EF4-FFF2-40B4-BE49-F238E27FC236}">
                <a16:creationId xmlns:a16="http://schemas.microsoft.com/office/drawing/2014/main" id="{C4B70E1D-FB25-C150-9C3B-D7E5B5325080}"/>
              </a:ext>
            </a:extLst>
          </p:cNvPr>
          <p:cNvPicPr>
            <a:picLocks noChangeAspect="1"/>
          </p:cNvPicPr>
          <p:nvPr/>
        </p:nvPicPr>
        <p:blipFill>
          <a:blip r:embed="rId2"/>
          <a:stretch>
            <a:fillRect/>
          </a:stretch>
        </p:blipFill>
        <p:spPr>
          <a:xfrm>
            <a:off x="252248" y="2689828"/>
            <a:ext cx="5938345" cy="2399666"/>
          </a:xfrm>
          <a:prstGeom prst="rect">
            <a:avLst/>
          </a:prstGeom>
        </p:spPr>
      </p:pic>
      <p:sp>
        <p:nvSpPr>
          <p:cNvPr id="8" name="Espaço Reservado para Conteúdo 2">
            <a:extLst>
              <a:ext uri="{FF2B5EF4-FFF2-40B4-BE49-F238E27FC236}">
                <a16:creationId xmlns:a16="http://schemas.microsoft.com/office/drawing/2014/main" id="{3D851E3E-DE15-DD44-93D0-92902D4930B3}"/>
              </a:ext>
            </a:extLst>
          </p:cNvPr>
          <p:cNvSpPr>
            <a:spLocks noGrp="1"/>
          </p:cNvSpPr>
          <p:nvPr>
            <p:ph idx="1"/>
          </p:nvPr>
        </p:nvSpPr>
        <p:spPr>
          <a:xfrm>
            <a:off x="6461090" y="1825624"/>
            <a:ext cx="5478662" cy="5032376"/>
          </a:xfrm>
        </p:spPr>
        <p:txBody>
          <a:bodyPr>
            <a:normAutofit/>
          </a:bodyPr>
          <a:lstStyle/>
          <a:p>
            <a:pPr marL="0" indent="0">
              <a:buNone/>
            </a:pPr>
            <a:r>
              <a:rPr lang="pt-BR" sz="3200" b="1" dirty="0"/>
              <a:t>Cortex-M0+ e M0</a:t>
            </a:r>
          </a:p>
          <a:p>
            <a:r>
              <a:rPr lang="pt-BR" b="0" i="0" dirty="0">
                <a:effectLst/>
              </a:rPr>
              <a:t>Apresentam um </a:t>
            </a:r>
            <a:r>
              <a:rPr lang="pt-BR" b="1" i="1" dirty="0">
                <a:solidFill>
                  <a:srgbClr val="00B050"/>
                </a:solidFill>
                <a:effectLst/>
              </a:rPr>
              <a:t>conjunto de instruções simplificado</a:t>
            </a:r>
            <a:r>
              <a:rPr lang="pt-BR" b="0" i="0" dirty="0">
                <a:effectLst/>
              </a:rPr>
              <a:t>, focando em </a:t>
            </a:r>
            <a:r>
              <a:rPr lang="pt-BR" b="1" i="1" dirty="0">
                <a:solidFill>
                  <a:schemeClr val="accent2"/>
                </a:solidFill>
                <a:effectLst/>
              </a:rPr>
              <a:t>operações essenciais</a:t>
            </a:r>
            <a:r>
              <a:rPr lang="pt-BR" b="0" i="0" dirty="0">
                <a:effectLst/>
              </a:rPr>
              <a:t>, projetado para </a:t>
            </a:r>
            <a:r>
              <a:rPr lang="pt-BR" b="1" i="1" dirty="0">
                <a:solidFill>
                  <a:srgbClr val="7030A0"/>
                </a:solidFill>
                <a:effectLst/>
              </a:rPr>
              <a:t>economizar memória e energia</a:t>
            </a:r>
            <a:r>
              <a:rPr lang="pt-BR" b="1" i="1" dirty="0">
                <a:solidFill>
                  <a:srgbClr val="00B050"/>
                </a:solidFill>
                <a:effectLst/>
              </a:rPr>
              <a:t> </a:t>
            </a:r>
            <a:r>
              <a:rPr lang="pt-BR" b="1" i="1" dirty="0">
                <a:effectLst/>
              </a:rPr>
              <a:t>em sistemas com recursos limitados</a:t>
            </a:r>
            <a:r>
              <a:rPr lang="pt-BR" b="0" i="0" dirty="0">
                <a:effectLst/>
              </a:rPr>
              <a:t>.</a:t>
            </a:r>
            <a:endParaRPr lang="pt-BR" dirty="0"/>
          </a:p>
          <a:p>
            <a:r>
              <a:rPr lang="pt-BR" dirty="0"/>
              <a:t>Possui um conjunto de </a:t>
            </a:r>
            <a:r>
              <a:rPr lang="pt-BR" b="1" i="1" dirty="0">
                <a:solidFill>
                  <a:schemeClr val="accent2"/>
                </a:solidFill>
              </a:rPr>
              <a:t>instruções</a:t>
            </a:r>
            <a:r>
              <a:rPr lang="pt-BR" dirty="0"/>
              <a:t> para </a:t>
            </a:r>
            <a:r>
              <a:rPr lang="pt-BR" b="1" i="1" dirty="0">
                <a:solidFill>
                  <a:srgbClr val="00B050"/>
                </a:solidFill>
              </a:rPr>
              <a:t>processamento de dados de uso geral </a:t>
            </a:r>
            <a:r>
              <a:rPr lang="pt-BR" dirty="0"/>
              <a:t>e </a:t>
            </a:r>
            <a:r>
              <a:rPr lang="pt-BR" b="1" i="1" dirty="0">
                <a:solidFill>
                  <a:srgbClr val="00B050"/>
                </a:solidFill>
              </a:rPr>
              <a:t>tarefas simples de controle de E/S</a:t>
            </a:r>
            <a:r>
              <a:rPr lang="pt-BR" dirty="0"/>
              <a:t>.</a:t>
            </a:r>
          </a:p>
        </p:txBody>
      </p:sp>
    </p:spTree>
    <p:extLst>
      <p:ext uri="{BB962C8B-B14F-4D97-AF65-F5344CB8AC3E}">
        <p14:creationId xmlns:p14="http://schemas.microsoft.com/office/powerpoint/2010/main" val="10026096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8A5536-E433-CB63-9D32-2E846F3A6506}"/>
              </a:ext>
            </a:extLst>
          </p:cNvPr>
          <p:cNvSpPr>
            <a:spLocks noGrp="1"/>
          </p:cNvSpPr>
          <p:nvPr>
            <p:ph type="title"/>
          </p:nvPr>
        </p:nvSpPr>
        <p:spPr/>
        <p:txBody>
          <a:bodyPr/>
          <a:lstStyle/>
          <a:p>
            <a:r>
              <a:rPr lang="pt-BR" dirty="0"/>
              <a:t>Conjunto de instruções da família ARM </a:t>
            </a:r>
            <a:r>
              <a:rPr lang="pt-BR" dirty="0" err="1"/>
              <a:t>Cortex</a:t>
            </a:r>
            <a:r>
              <a:rPr lang="pt-BR" dirty="0"/>
              <a:t>-M</a:t>
            </a:r>
          </a:p>
        </p:txBody>
      </p:sp>
      <p:sp>
        <p:nvSpPr>
          <p:cNvPr id="8" name="Espaço Reservado para Conteúdo 2">
            <a:extLst>
              <a:ext uri="{FF2B5EF4-FFF2-40B4-BE49-F238E27FC236}">
                <a16:creationId xmlns:a16="http://schemas.microsoft.com/office/drawing/2014/main" id="{3D851E3E-DE15-DD44-93D0-92902D4930B3}"/>
              </a:ext>
            </a:extLst>
          </p:cNvPr>
          <p:cNvSpPr>
            <a:spLocks noGrp="1"/>
          </p:cNvSpPr>
          <p:nvPr>
            <p:ph idx="1"/>
          </p:nvPr>
        </p:nvSpPr>
        <p:spPr>
          <a:xfrm>
            <a:off x="6842234" y="1825624"/>
            <a:ext cx="5160580" cy="5032375"/>
          </a:xfrm>
        </p:spPr>
        <p:txBody>
          <a:bodyPr>
            <a:normAutofit/>
          </a:bodyPr>
          <a:lstStyle/>
          <a:p>
            <a:pPr marL="0" indent="0">
              <a:buNone/>
            </a:pPr>
            <a:r>
              <a:rPr lang="pt-BR" sz="3200" b="1" dirty="0"/>
              <a:t>Cortex-M3</a:t>
            </a:r>
          </a:p>
          <a:p>
            <a:r>
              <a:rPr lang="pt-BR" dirty="0"/>
              <a:t>O conjunto de instruções aumenta com o modelo.</a:t>
            </a:r>
          </a:p>
          <a:p>
            <a:r>
              <a:rPr lang="pt-BR" dirty="0"/>
              <a:t>Cada modelo mais alto oferece um </a:t>
            </a:r>
            <a:r>
              <a:rPr lang="pt-BR" b="1" i="1" dirty="0"/>
              <a:t>superconjunto</a:t>
            </a:r>
            <a:r>
              <a:rPr lang="pt-BR" dirty="0"/>
              <a:t> das instruções do modelo anterior. </a:t>
            </a:r>
          </a:p>
          <a:p>
            <a:pPr lvl="1">
              <a:buFont typeface="Wingdings" panose="05000000000000000000" pitchFamily="2" charset="2"/>
              <a:buChar char="§"/>
            </a:pPr>
            <a:r>
              <a:rPr lang="pt-BR" dirty="0"/>
              <a:t>Por exemplo, um M3 deve executar códigos do M0/M0+.</a:t>
            </a:r>
          </a:p>
          <a:p>
            <a:r>
              <a:rPr lang="pt-BR" dirty="0"/>
              <a:t>Os Cortex-M3 </a:t>
            </a:r>
            <a:r>
              <a:rPr lang="pt-BR" b="1" i="1" dirty="0">
                <a:solidFill>
                  <a:srgbClr val="00B050"/>
                </a:solidFill>
              </a:rPr>
              <a:t>adicionam</a:t>
            </a:r>
            <a:r>
              <a:rPr lang="pt-BR" dirty="0"/>
              <a:t> instruções para </a:t>
            </a:r>
            <a:r>
              <a:rPr lang="pt-BR" b="1" i="1" dirty="0">
                <a:solidFill>
                  <a:srgbClr val="00B050"/>
                </a:solidFill>
              </a:rPr>
              <a:t>manipulação de bits e divisão em hardware</a:t>
            </a:r>
            <a:r>
              <a:rPr lang="pt-BR" dirty="0"/>
              <a:t>.</a:t>
            </a:r>
          </a:p>
        </p:txBody>
      </p:sp>
      <p:pic>
        <p:nvPicPr>
          <p:cNvPr id="5" name="Imagem 4">
            <a:extLst>
              <a:ext uri="{FF2B5EF4-FFF2-40B4-BE49-F238E27FC236}">
                <a16:creationId xmlns:a16="http://schemas.microsoft.com/office/drawing/2014/main" id="{3E6C70E5-F85D-1F23-54F0-251C7D0FFC60}"/>
              </a:ext>
            </a:extLst>
          </p:cNvPr>
          <p:cNvPicPr>
            <a:picLocks noChangeAspect="1"/>
          </p:cNvPicPr>
          <p:nvPr/>
        </p:nvPicPr>
        <p:blipFill>
          <a:blip r:embed="rId3"/>
          <a:stretch>
            <a:fillRect/>
          </a:stretch>
        </p:blipFill>
        <p:spPr>
          <a:xfrm>
            <a:off x="189186" y="2437578"/>
            <a:ext cx="6257161" cy="2891167"/>
          </a:xfrm>
          <a:prstGeom prst="rect">
            <a:avLst/>
          </a:prstGeom>
        </p:spPr>
      </p:pic>
    </p:spTree>
    <p:extLst>
      <p:ext uri="{BB962C8B-B14F-4D97-AF65-F5344CB8AC3E}">
        <p14:creationId xmlns:p14="http://schemas.microsoft.com/office/powerpoint/2010/main" val="836875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8A5536-E433-CB63-9D32-2E846F3A6506}"/>
              </a:ext>
            </a:extLst>
          </p:cNvPr>
          <p:cNvSpPr>
            <a:spLocks noGrp="1"/>
          </p:cNvSpPr>
          <p:nvPr>
            <p:ph type="title"/>
          </p:nvPr>
        </p:nvSpPr>
        <p:spPr/>
        <p:txBody>
          <a:bodyPr/>
          <a:lstStyle/>
          <a:p>
            <a:r>
              <a:rPr lang="pt-BR" dirty="0"/>
              <a:t>Conjunto de instruções da família ARM </a:t>
            </a:r>
            <a:r>
              <a:rPr lang="pt-BR" dirty="0" err="1"/>
              <a:t>Cortex</a:t>
            </a:r>
            <a:r>
              <a:rPr lang="pt-BR" dirty="0"/>
              <a:t>-M</a:t>
            </a:r>
          </a:p>
        </p:txBody>
      </p:sp>
      <p:sp>
        <p:nvSpPr>
          <p:cNvPr id="8" name="Espaço Reservado para Conteúdo 2">
            <a:extLst>
              <a:ext uri="{FF2B5EF4-FFF2-40B4-BE49-F238E27FC236}">
                <a16:creationId xmlns:a16="http://schemas.microsoft.com/office/drawing/2014/main" id="{3D851E3E-DE15-DD44-93D0-92902D4930B3}"/>
              </a:ext>
            </a:extLst>
          </p:cNvPr>
          <p:cNvSpPr>
            <a:spLocks noGrp="1"/>
          </p:cNvSpPr>
          <p:nvPr>
            <p:ph idx="1"/>
          </p:nvPr>
        </p:nvSpPr>
        <p:spPr>
          <a:xfrm>
            <a:off x="6632027" y="1825624"/>
            <a:ext cx="5465379" cy="5032375"/>
          </a:xfrm>
        </p:spPr>
        <p:txBody>
          <a:bodyPr>
            <a:normAutofit fontScale="92500" lnSpcReduction="20000"/>
          </a:bodyPr>
          <a:lstStyle/>
          <a:p>
            <a:pPr marL="0" indent="0">
              <a:buNone/>
            </a:pPr>
            <a:r>
              <a:rPr lang="pt-BR" sz="3000" b="1" dirty="0"/>
              <a:t>Cortex-M4</a:t>
            </a:r>
            <a:endParaRPr lang="pt-BR" b="1" dirty="0"/>
          </a:p>
          <a:p>
            <a:r>
              <a:rPr lang="pt-BR" dirty="0"/>
              <a:t>Adicionam instruções básicas de processamento digital de sinais (DSP) como:</a:t>
            </a:r>
          </a:p>
          <a:p>
            <a:pPr lvl="1">
              <a:buFont typeface="Wingdings" panose="05000000000000000000" pitchFamily="2" charset="2"/>
              <a:buChar char="§"/>
            </a:pPr>
            <a:r>
              <a:rPr lang="pt-BR" b="1" i="1" dirty="0"/>
              <a:t>Single </a:t>
            </a:r>
            <a:r>
              <a:rPr lang="pt-BR" b="1" i="1" dirty="0" err="1"/>
              <a:t>Instruction</a:t>
            </a:r>
            <a:r>
              <a:rPr lang="pt-BR" b="1" i="1" dirty="0"/>
              <a:t> </a:t>
            </a:r>
            <a:r>
              <a:rPr lang="pt-BR" b="1" i="1" dirty="0" err="1"/>
              <a:t>Multiple</a:t>
            </a:r>
            <a:r>
              <a:rPr lang="pt-BR" b="1" i="1" dirty="0"/>
              <a:t> Data </a:t>
            </a:r>
            <a:r>
              <a:rPr lang="pt-BR" b="1" dirty="0"/>
              <a:t>(SIMD)</a:t>
            </a:r>
            <a:r>
              <a:rPr lang="pt-BR" dirty="0"/>
              <a:t>: a mesma instrução é aplicada a grandes quantidades de dados. </a:t>
            </a:r>
          </a:p>
          <a:p>
            <a:pPr lvl="1">
              <a:buFont typeface="Wingdings" panose="05000000000000000000" pitchFamily="2" charset="2"/>
              <a:buChar char="§"/>
            </a:pPr>
            <a:r>
              <a:rPr lang="pt-BR" b="1" i="1" dirty="0" err="1"/>
              <a:t>Multiply</a:t>
            </a:r>
            <a:r>
              <a:rPr lang="pt-BR" b="1" i="1" dirty="0"/>
              <a:t> </a:t>
            </a:r>
            <a:r>
              <a:rPr lang="pt-BR" b="1" i="1" dirty="0" err="1"/>
              <a:t>and</a:t>
            </a:r>
            <a:r>
              <a:rPr lang="pt-BR" b="1" i="1" dirty="0"/>
              <a:t> </a:t>
            </a:r>
            <a:r>
              <a:rPr lang="pt-BR" b="1" i="1" dirty="0" err="1"/>
              <a:t>Accumulate</a:t>
            </a:r>
            <a:r>
              <a:rPr lang="pt-BR" b="1" i="1" dirty="0"/>
              <a:t> </a:t>
            </a:r>
            <a:r>
              <a:rPr lang="pt-BR" b="1" dirty="0"/>
              <a:t>(MAC)</a:t>
            </a:r>
            <a:r>
              <a:rPr lang="pt-BR" dirty="0"/>
              <a:t>: realiza multiplicação e soma em </a:t>
            </a:r>
            <a:r>
              <a:rPr lang="pt-BR" b="1" i="1" dirty="0">
                <a:solidFill>
                  <a:srgbClr val="00B050"/>
                </a:solidFill>
              </a:rPr>
              <a:t>um único ciclo de clock</a:t>
            </a:r>
            <a:r>
              <a:rPr lang="pt-BR" dirty="0"/>
              <a:t>.</a:t>
            </a:r>
          </a:p>
          <a:p>
            <a:r>
              <a:rPr lang="pt-BR" dirty="0"/>
              <a:t>Esses instruções </a:t>
            </a:r>
            <a:r>
              <a:rPr lang="pt-BR" b="1" i="1" dirty="0"/>
              <a:t>aceleram tarefas complexas de processamento de dados</a:t>
            </a:r>
            <a:r>
              <a:rPr lang="pt-BR" dirty="0"/>
              <a:t>, como as encontradas em </a:t>
            </a:r>
            <a:r>
              <a:rPr lang="pt-BR" b="1" i="1" dirty="0"/>
              <a:t>aplicações de áudio e vídeo</a:t>
            </a:r>
            <a:r>
              <a:rPr lang="pt-BR" dirty="0"/>
              <a:t>.</a:t>
            </a:r>
          </a:p>
          <a:p>
            <a:r>
              <a:rPr lang="pt-BR" dirty="0"/>
              <a:t>Podem ter </a:t>
            </a:r>
            <a:r>
              <a:rPr lang="pt-BR" b="1" i="1" dirty="0"/>
              <a:t>opcionalmente</a:t>
            </a:r>
            <a:r>
              <a:rPr lang="pt-BR" dirty="0"/>
              <a:t> uma unidade de ponto flutuante (FPU).</a:t>
            </a:r>
          </a:p>
        </p:txBody>
      </p:sp>
      <p:pic>
        <p:nvPicPr>
          <p:cNvPr id="4" name="Imagem 3">
            <a:extLst>
              <a:ext uri="{FF2B5EF4-FFF2-40B4-BE49-F238E27FC236}">
                <a16:creationId xmlns:a16="http://schemas.microsoft.com/office/drawing/2014/main" id="{04C1123F-F382-134D-FC66-F8C48013ECF3}"/>
              </a:ext>
            </a:extLst>
          </p:cNvPr>
          <p:cNvPicPr>
            <a:picLocks noChangeAspect="1"/>
          </p:cNvPicPr>
          <p:nvPr/>
        </p:nvPicPr>
        <p:blipFill>
          <a:blip r:embed="rId3"/>
          <a:stretch>
            <a:fillRect/>
          </a:stretch>
        </p:blipFill>
        <p:spPr>
          <a:xfrm>
            <a:off x="189186" y="2340581"/>
            <a:ext cx="6369269" cy="3248623"/>
          </a:xfrm>
          <a:prstGeom prst="rect">
            <a:avLst/>
          </a:prstGeom>
        </p:spPr>
      </p:pic>
    </p:spTree>
    <p:extLst>
      <p:ext uri="{BB962C8B-B14F-4D97-AF65-F5344CB8AC3E}">
        <p14:creationId xmlns:p14="http://schemas.microsoft.com/office/powerpoint/2010/main" val="39388833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8A5536-E433-CB63-9D32-2E846F3A6506}"/>
              </a:ext>
            </a:extLst>
          </p:cNvPr>
          <p:cNvSpPr>
            <a:spLocks noGrp="1"/>
          </p:cNvSpPr>
          <p:nvPr>
            <p:ph type="title"/>
          </p:nvPr>
        </p:nvSpPr>
        <p:spPr/>
        <p:txBody>
          <a:bodyPr/>
          <a:lstStyle/>
          <a:p>
            <a:r>
              <a:rPr lang="pt-BR" dirty="0"/>
              <a:t>Conjunto de instruções da família ARM </a:t>
            </a:r>
            <a:r>
              <a:rPr lang="pt-BR" dirty="0" err="1"/>
              <a:t>Cortex</a:t>
            </a:r>
            <a:r>
              <a:rPr lang="pt-BR" dirty="0"/>
              <a:t>-M</a:t>
            </a:r>
          </a:p>
        </p:txBody>
      </p:sp>
      <p:sp>
        <p:nvSpPr>
          <p:cNvPr id="8" name="Espaço Reservado para Conteúdo 2">
            <a:extLst>
              <a:ext uri="{FF2B5EF4-FFF2-40B4-BE49-F238E27FC236}">
                <a16:creationId xmlns:a16="http://schemas.microsoft.com/office/drawing/2014/main" id="{3D851E3E-DE15-DD44-93D0-92902D4930B3}"/>
              </a:ext>
            </a:extLst>
          </p:cNvPr>
          <p:cNvSpPr>
            <a:spLocks noGrp="1"/>
          </p:cNvSpPr>
          <p:nvPr>
            <p:ph idx="1"/>
          </p:nvPr>
        </p:nvSpPr>
        <p:spPr>
          <a:xfrm>
            <a:off x="6704945" y="1690688"/>
            <a:ext cx="5392462" cy="5167311"/>
          </a:xfrm>
        </p:spPr>
        <p:txBody>
          <a:bodyPr>
            <a:normAutofit/>
          </a:bodyPr>
          <a:lstStyle/>
          <a:p>
            <a:pPr marL="0" indent="0">
              <a:buNone/>
            </a:pPr>
            <a:r>
              <a:rPr lang="pt-BR" sz="3000" b="1" dirty="0"/>
              <a:t>Cortex-M4F</a:t>
            </a:r>
          </a:p>
          <a:p>
            <a:r>
              <a:rPr lang="pt-BR" dirty="0"/>
              <a:t>Superconjunto contendo todas as instruções dos modelos anteriores.</a:t>
            </a:r>
          </a:p>
          <a:p>
            <a:r>
              <a:rPr lang="pt-BR" dirty="0"/>
              <a:t>Diferença para o M4 é que </a:t>
            </a:r>
            <a:r>
              <a:rPr lang="pt-BR" b="1" i="1" dirty="0">
                <a:solidFill>
                  <a:srgbClr val="7030A0"/>
                </a:solidFill>
              </a:rPr>
              <a:t>já vem com uma unidade de ponto flutuante (FPU)</a:t>
            </a:r>
            <a:r>
              <a:rPr lang="pt-BR" dirty="0"/>
              <a:t>.</a:t>
            </a:r>
          </a:p>
          <a:p>
            <a:r>
              <a:rPr lang="pt-BR" dirty="0"/>
              <a:t>Como eles têm FPU, </a:t>
            </a:r>
            <a:r>
              <a:rPr lang="pt-BR" b="1" i="1" dirty="0">
                <a:solidFill>
                  <a:srgbClr val="00B050"/>
                </a:solidFill>
              </a:rPr>
              <a:t>possuem as instruções necessárias para cálculos em ponto flutuante</a:t>
            </a:r>
            <a:r>
              <a:rPr lang="pt-BR" dirty="0"/>
              <a:t>.</a:t>
            </a:r>
          </a:p>
        </p:txBody>
      </p:sp>
      <p:pic>
        <p:nvPicPr>
          <p:cNvPr id="5" name="Imagem 4">
            <a:extLst>
              <a:ext uri="{FF2B5EF4-FFF2-40B4-BE49-F238E27FC236}">
                <a16:creationId xmlns:a16="http://schemas.microsoft.com/office/drawing/2014/main" id="{B78B752D-8A92-6C99-99F8-9AB81769B31A}"/>
              </a:ext>
            </a:extLst>
          </p:cNvPr>
          <p:cNvPicPr>
            <a:picLocks noChangeAspect="1"/>
          </p:cNvPicPr>
          <p:nvPr/>
        </p:nvPicPr>
        <p:blipFill>
          <a:blip r:embed="rId3"/>
          <a:stretch>
            <a:fillRect/>
          </a:stretch>
        </p:blipFill>
        <p:spPr>
          <a:xfrm>
            <a:off x="94594" y="2425917"/>
            <a:ext cx="6327227" cy="3464476"/>
          </a:xfrm>
          <a:prstGeom prst="rect">
            <a:avLst/>
          </a:prstGeom>
        </p:spPr>
      </p:pic>
    </p:spTree>
    <p:extLst>
      <p:ext uri="{BB962C8B-B14F-4D97-AF65-F5344CB8AC3E}">
        <p14:creationId xmlns:p14="http://schemas.microsoft.com/office/powerpoint/2010/main" val="26849069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8A5536-E433-CB63-9D32-2E846F3A6506}"/>
              </a:ext>
            </a:extLst>
          </p:cNvPr>
          <p:cNvSpPr>
            <a:spLocks noGrp="1"/>
          </p:cNvSpPr>
          <p:nvPr>
            <p:ph type="title"/>
          </p:nvPr>
        </p:nvSpPr>
        <p:spPr/>
        <p:txBody>
          <a:bodyPr/>
          <a:lstStyle/>
          <a:p>
            <a:r>
              <a:rPr lang="pt-BR" dirty="0"/>
              <a:t>Conjunto de instruções da família ARM </a:t>
            </a:r>
            <a:r>
              <a:rPr lang="pt-BR" dirty="0" err="1"/>
              <a:t>Cortex</a:t>
            </a:r>
            <a:r>
              <a:rPr lang="pt-BR" dirty="0"/>
              <a:t>-M</a:t>
            </a:r>
          </a:p>
        </p:txBody>
      </p:sp>
      <p:sp>
        <p:nvSpPr>
          <p:cNvPr id="8" name="Espaço Reservado para Conteúdo 2">
            <a:extLst>
              <a:ext uri="{FF2B5EF4-FFF2-40B4-BE49-F238E27FC236}">
                <a16:creationId xmlns:a16="http://schemas.microsoft.com/office/drawing/2014/main" id="{3D851E3E-DE15-DD44-93D0-92902D4930B3}"/>
              </a:ext>
            </a:extLst>
          </p:cNvPr>
          <p:cNvSpPr>
            <a:spLocks noGrp="1"/>
          </p:cNvSpPr>
          <p:nvPr>
            <p:ph idx="1"/>
          </p:nvPr>
        </p:nvSpPr>
        <p:spPr>
          <a:xfrm>
            <a:off x="6704945" y="1690688"/>
            <a:ext cx="5392462" cy="5167311"/>
          </a:xfrm>
        </p:spPr>
        <p:txBody>
          <a:bodyPr>
            <a:normAutofit fontScale="92500" lnSpcReduction="10000"/>
          </a:bodyPr>
          <a:lstStyle/>
          <a:p>
            <a:pPr marL="0" indent="0">
              <a:buNone/>
            </a:pPr>
            <a:r>
              <a:rPr lang="pt-BR" b="1" dirty="0"/>
              <a:t>Observações</a:t>
            </a:r>
          </a:p>
          <a:p>
            <a:r>
              <a:rPr lang="pt-BR" dirty="0"/>
              <a:t>Até os modelos M3 e M4 não há FPU, todas as operações são feitas em </a:t>
            </a:r>
            <a:r>
              <a:rPr lang="pt-BR" b="1" i="1" dirty="0">
                <a:solidFill>
                  <a:srgbClr val="00B050"/>
                </a:solidFill>
              </a:rPr>
              <a:t>ponto fixo</a:t>
            </a:r>
            <a:r>
              <a:rPr lang="pt-BR" dirty="0"/>
              <a:t>.</a:t>
            </a:r>
          </a:p>
          <a:p>
            <a:r>
              <a:rPr lang="pt-BR" dirty="0"/>
              <a:t>Com o </a:t>
            </a:r>
            <a:r>
              <a:rPr lang="pt-BR" dirty="0" err="1"/>
              <a:t>EdgeML</a:t>
            </a:r>
            <a:r>
              <a:rPr lang="pt-BR" dirty="0"/>
              <a:t>, evita-se ao máximo usar operações em </a:t>
            </a:r>
            <a:r>
              <a:rPr lang="pt-BR" b="1" i="1" dirty="0"/>
              <a:t>ponto flutuante</a:t>
            </a:r>
            <a:r>
              <a:rPr lang="pt-BR" dirty="0"/>
              <a:t>, pois </a:t>
            </a:r>
            <a:r>
              <a:rPr lang="pt-BR" b="1" i="1" dirty="0">
                <a:solidFill>
                  <a:srgbClr val="7030A0"/>
                </a:solidFill>
              </a:rPr>
              <a:t>consomem mais memória</a:t>
            </a:r>
            <a:r>
              <a:rPr lang="pt-BR" b="1" i="1" dirty="0">
                <a:solidFill>
                  <a:srgbClr val="00B050"/>
                </a:solidFill>
              </a:rPr>
              <a:t> e </a:t>
            </a:r>
            <a:r>
              <a:rPr lang="pt-BR" b="1" i="1" dirty="0">
                <a:solidFill>
                  <a:schemeClr val="accent2"/>
                </a:solidFill>
              </a:rPr>
              <a:t>processamento</a:t>
            </a:r>
            <a:r>
              <a:rPr lang="pt-BR" b="1" i="1" dirty="0">
                <a:solidFill>
                  <a:srgbClr val="00B050"/>
                </a:solidFill>
              </a:rPr>
              <a:t>, o que implica em </a:t>
            </a:r>
            <a:r>
              <a:rPr lang="pt-BR" b="1" i="1" dirty="0">
                <a:solidFill>
                  <a:srgbClr val="FF0000"/>
                </a:solidFill>
              </a:rPr>
              <a:t>mais consumo de energia</a:t>
            </a:r>
            <a:r>
              <a:rPr lang="pt-BR" dirty="0"/>
              <a:t>.</a:t>
            </a:r>
          </a:p>
          <a:p>
            <a:pPr lvl="1">
              <a:buFont typeface="Wingdings" panose="05000000000000000000" pitchFamily="2" charset="2"/>
              <a:buChar char="§"/>
            </a:pPr>
            <a:r>
              <a:rPr lang="pt-BR" dirty="0"/>
              <a:t>Uma variável de ponto flutuante de precisão simples ocupa 4 bytes.</a:t>
            </a:r>
          </a:p>
          <a:p>
            <a:pPr lvl="1">
              <a:buFont typeface="Wingdings" panose="05000000000000000000" pitchFamily="2" charset="2"/>
              <a:buChar char="§"/>
            </a:pPr>
            <a:r>
              <a:rPr lang="pt-BR" dirty="0"/>
              <a:t>O uso de operações em </a:t>
            </a:r>
            <a:r>
              <a:rPr lang="pt-BR" b="1" i="1" dirty="0"/>
              <a:t>ponto fixo</a:t>
            </a:r>
            <a:r>
              <a:rPr lang="pt-BR" dirty="0"/>
              <a:t> é uma das técnicas para reduzir o tamanhos de modelos de ML.</a:t>
            </a:r>
          </a:p>
        </p:txBody>
      </p:sp>
      <p:pic>
        <p:nvPicPr>
          <p:cNvPr id="5" name="Imagem 4">
            <a:extLst>
              <a:ext uri="{FF2B5EF4-FFF2-40B4-BE49-F238E27FC236}">
                <a16:creationId xmlns:a16="http://schemas.microsoft.com/office/drawing/2014/main" id="{B78B752D-8A92-6C99-99F8-9AB81769B31A}"/>
              </a:ext>
            </a:extLst>
          </p:cNvPr>
          <p:cNvPicPr>
            <a:picLocks noChangeAspect="1"/>
          </p:cNvPicPr>
          <p:nvPr/>
        </p:nvPicPr>
        <p:blipFill>
          <a:blip r:embed="rId3"/>
          <a:stretch>
            <a:fillRect/>
          </a:stretch>
        </p:blipFill>
        <p:spPr>
          <a:xfrm>
            <a:off x="94594" y="2425917"/>
            <a:ext cx="6327227" cy="3464476"/>
          </a:xfrm>
          <a:prstGeom prst="rect">
            <a:avLst/>
          </a:prstGeom>
        </p:spPr>
      </p:pic>
    </p:spTree>
    <p:extLst>
      <p:ext uri="{BB962C8B-B14F-4D97-AF65-F5344CB8AC3E}">
        <p14:creationId xmlns:p14="http://schemas.microsoft.com/office/powerpoint/2010/main" val="10503149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CB3FED-5D1A-7084-5333-A3B2FA75F608}"/>
              </a:ext>
            </a:extLst>
          </p:cNvPr>
          <p:cNvSpPr>
            <a:spLocks noGrp="1"/>
          </p:cNvSpPr>
          <p:nvPr>
            <p:ph type="title"/>
          </p:nvPr>
        </p:nvSpPr>
        <p:spPr/>
        <p:txBody>
          <a:bodyPr/>
          <a:lstStyle/>
          <a:p>
            <a:r>
              <a:rPr lang="pt-BR" dirty="0"/>
              <a:t>Desafios da execução de SW em sistemas embarcados</a:t>
            </a:r>
          </a:p>
        </p:txBody>
      </p:sp>
      <p:sp>
        <p:nvSpPr>
          <p:cNvPr id="10" name="Espaço Reservado para Conteúdo 9">
            <a:extLst>
              <a:ext uri="{FF2B5EF4-FFF2-40B4-BE49-F238E27FC236}">
                <a16:creationId xmlns:a16="http://schemas.microsoft.com/office/drawing/2014/main" id="{CAD93E95-B9C0-F72A-DC66-5932B3365C00}"/>
              </a:ext>
            </a:extLst>
          </p:cNvPr>
          <p:cNvSpPr>
            <a:spLocks noGrp="1"/>
          </p:cNvSpPr>
          <p:nvPr>
            <p:ph idx="1"/>
          </p:nvPr>
        </p:nvSpPr>
        <p:spPr>
          <a:xfrm>
            <a:off x="6549043" y="1569146"/>
            <a:ext cx="5485301" cy="5288854"/>
          </a:xfrm>
        </p:spPr>
        <p:txBody>
          <a:bodyPr>
            <a:normAutofit/>
          </a:bodyPr>
          <a:lstStyle/>
          <a:p>
            <a:r>
              <a:rPr lang="pt-BR" dirty="0"/>
              <a:t>Anteriormente, </a:t>
            </a:r>
            <a:r>
              <a:rPr lang="pt-BR" b="1" i="1" dirty="0">
                <a:solidFill>
                  <a:srgbClr val="FF0000"/>
                </a:solidFill>
              </a:rPr>
              <a:t>falamos dos desafios de hardware</a:t>
            </a:r>
            <a:r>
              <a:rPr lang="pt-BR" dirty="0"/>
              <a:t>, agora falaremos do </a:t>
            </a:r>
            <a:r>
              <a:rPr lang="pt-BR" b="1" i="1" dirty="0"/>
              <a:t>software de um sistema computacional de uso geral para fazermos um paralelo </a:t>
            </a:r>
            <a:r>
              <a:rPr lang="pt-BR" dirty="0"/>
              <a:t>com o mundo do </a:t>
            </a:r>
            <a:r>
              <a:rPr lang="pt-BR" b="1" i="1" dirty="0" err="1"/>
              <a:t>EdgeML</a:t>
            </a:r>
            <a:r>
              <a:rPr lang="pt-BR" dirty="0"/>
              <a:t>.</a:t>
            </a:r>
          </a:p>
          <a:p>
            <a:r>
              <a:rPr lang="pt-BR" dirty="0"/>
              <a:t>Na sequência, </a:t>
            </a:r>
            <a:r>
              <a:rPr lang="pt-BR" b="1" i="1" dirty="0">
                <a:solidFill>
                  <a:srgbClr val="00B050"/>
                </a:solidFill>
              </a:rPr>
              <a:t>veremos os desafios para execução de SW</a:t>
            </a:r>
            <a:r>
              <a:rPr lang="pt-BR" dirty="0"/>
              <a:t>, incluindo algoritmos de ML, em dispositivos </a:t>
            </a:r>
            <a:r>
              <a:rPr lang="pt-BR" b="1" i="1" dirty="0"/>
              <a:t>pequenos</a:t>
            </a:r>
            <a:r>
              <a:rPr lang="pt-BR" dirty="0"/>
              <a:t>, com </a:t>
            </a:r>
            <a:r>
              <a:rPr lang="pt-BR" b="1" i="1" dirty="0"/>
              <a:t>restrições de custo</a:t>
            </a:r>
            <a:r>
              <a:rPr lang="pt-BR" dirty="0"/>
              <a:t>, </a:t>
            </a:r>
            <a:r>
              <a:rPr lang="pt-BR" b="1" i="1" dirty="0"/>
              <a:t>recursos</a:t>
            </a:r>
            <a:r>
              <a:rPr lang="pt-BR" dirty="0"/>
              <a:t> </a:t>
            </a:r>
            <a:r>
              <a:rPr lang="pt-BR" b="1" i="1" dirty="0"/>
              <a:t>computacionais e consumo</a:t>
            </a:r>
            <a:r>
              <a:rPr lang="pt-BR" dirty="0"/>
              <a:t>.</a:t>
            </a:r>
          </a:p>
        </p:txBody>
      </p:sp>
      <p:grpSp>
        <p:nvGrpSpPr>
          <p:cNvPr id="4" name="Agrupar 3">
            <a:extLst>
              <a:ext uri="{FF2B5EF4-FFF2-40B4-BE49-F238E27FC236}">
                <a16:creationId xmlns:a16="http://schemas.microsoft.com/office/drawing/2014/main" id="{35FD2549-26FC-7133-A127-D130ABECED2F}"/>
              </a:ext>
            </a:extLst>
          </p:cNvPr>
          <p:cNvGrpSpPr/>
          <p:nvPr/>
        </p:nvGrpSpPr>
        <p:grpSpPr>
          <a:xfrm>
            <a:off x="851546" y="2090057"/>
            <a:ext cx="5552534" cy="3744685"/>
            <a:chOff x="851546" y="2090057"/>
            <a:chExt cx="5552534" cy="3744685"/>
          </a:xfrm>
        </p:grpSpPr>
        <p:pic>
          <p:nvPicPr>
            <p:cNvPr id="12" name="Imagem 11">
              <a:extLst>
                <a:ext uri="{FF2B5EF4-FFF2-40B4-BE49-F238E27FC236}">
                  <a16:creationId xmlns:a16="http://schemas.microsoft.com/office/drawing/2014/main" id="{CEA739A8-9DDE-54DC-65C2-46F29815DD7C}"/>
                </a:ext>
              </a:extLst>
            </p:cNvPr>
            <p:cNvPicPr>
              <a:picLocks noChangeAspect="1"/>
            </p:cNvPicPr>
            <p:nvPr/>
          </p:nvPicPr>
          <p:blipFill rotWithShape="1">
            <a:blip r:embed="rId2"/>
            <a:srcRect l="8982" t="2754" r="5837" b="2176"/>
            <a:stretch/>
          </p:blipFill>
          <p:spPr>
            <a:xfrm>
              <a:off x="851546" y="2090057"/>
              <a:ext cx="2630741" cy="3744685"/>
            </a:xfrm>
            <a:prstGeom prst="rect">
              <a:avLst/>
            </a:prstGeom>
          </p:spPr>
        </p:pic>
        <p:sp>
          <p:nvSpPr>
            <p:cNvPr id="13" name="Seta: para a Direita 12">
              <a:extLst>
                <a:ext uri="{FF2B5EF4-FFF2-40B4-BE49-F238E27FC236}">
                  <a16:creationId xmlns:a16="http://schemas.microsoft.com/office/drawing/2014/main" id="{A58B0515-7EE2-661F-8CF7-159A3180611C}"/>
                </a:ext>
              </a:extLst>
            </p:cNvPr>
            <p:cNvSpPr/>
            <p:nvPr/>
          </p:nvSpPr>
          <p:spPr>
            <a:xfrm>
              <a:off x="3482287" y="3208791"/>
              <a:ext cx="847044" cy="1230086"/>
            </a:xfrm>
            <a:prstGeom prst="rightArrow">
              <a:avLst>
                <a:gd name="adj1" fmla="val 50000"/>
                <a:gd name="adj2" fmla="val 4864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CaixaDeTexto 14">
              <a:extLst>
                <a:ext uri="{FF2B5EF4-FFF2-40B4-BE49-F238E27FC236}">
                  <a16:creationId xmlns:a16="http://schemas.microsoft.com/office/drawing/2014/main" id="{28114B5B-9C22-66F7-D654-04DADEBD308B}"/>
                </a:ext>
              </a:extLst>
            </p:cNvPr>
            <p:cNvSpPr txBox="1"/>
            <p:nvPr/>
          </p:nvSpPr>
          <p:spPr>
            <a:xfrm>
              <a:off x="4324909" y="3429000"/>
              <a:ext cx="2079171" cy="769441"/>
            </a:xfrm>
            <a:prstGeom prst="rect">
              <a:avLst/>
            </a:prstGeom>
            <a:noFill/>
          </p:spPr>
          <p:txBody>
            <a:bodyPr wrap="square" rtlCol="0">
              <a:spAutoFit/>
            </a:bodyPr>
            <a:lstStyle/>
            <a:p>
              <a:pPr algn="ctr"/>
              <a:r>
                <a:rPr lang="pt-BR" sz="4400" b="1" dirty="0" err="1">
                  <a:solidFill>
                    <a:schemeClr val="accent2"/>
                  </a:solidFill>
                </a:rPr>
                <a:t>EdgeML</a:t>
              </a:r>
              <a:endParaRPr lang="pt-BR" sz="4400" b="1" dirty="0">
                <a:solidFill>
                  <a:schemeClr val="accent2"/>
                </a:solidFill>
              </a:endParaRPr>
            </a:p>
          </p:txBody>
        </p:sp>
      </p:grpSp>
    </p:spTree>
    <p:extLst>
      <p:ext uri="{BB962C8B-B14F-4D97-AF65-F5344CB8AC3E}">
        <p14:creationId xmlns:p14="http://schemas.microsoft.com/office/powerpoint/2010/main" val="20720742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689943-76AC-C0A0-4147-67CB17AD1220}"/>
              </a:ext>
            </a:extLst>
          </p:cNvPr>
          <p:cNvSpPr>
            <a:spLocks noGrp="1"/>
          </p:cNvSpPr>
          <p:nvPr>
            <p:ph type="title"/>
          </p:nvPr>
        </p:nvSpPr>
        <p:spPr/>
        <p:txBody>
          <a:bodyPr/>
          <a:lstStyle/>
          <a:p>
            <a:r>
              <a:rPr lang="pt-BR"/>
              <a:t>Software</a:t>
            </a:r>
            <a:endParaRPr lang="pt-BR" dirty="0"/>
          </a:p>
        </p:txBody>
      </p:sp>
      <p:sp>
        <p:nvSpPr>
          <p:cNvPr id="3" name="Espaço Reservado para Conteúdo 2">
            <a:extLst>
              <a:ext uri="{FF2B5EF4-FFF2-40B4-BE49-F238E27FC236}">
                <a16:creationId xmlns:a16="http://schemas.microsoft.com/office/drawing/2014/main" id="{9EF5E6AA-B900-E5DA-064D-246F5EDE2770}"/>
              </a:ext>
            </a:extLst>
          </p:cNvPr>
          <p:cNvSpPr>
            <a:spLocks noGrp="1"/>
          </p:cNvSpPr>
          <p:nvPr>
            <p:ph idx="1"/>
          </p:nvPr>
        </p:nvSpPr>
        <p:spPr>
          <a:xfrm>
            <a:off x="5602014" y="1825625"/>
            <a:ext cx="6358758" cy="5032375"/>
          </a:xfrm>
        </p:spPr>
        <p:txBody>
          <a:bodyPr>
            <a:normAutofit/>
          </a:bodyPr>
          <a:lstStyle/>
          <a:p>
            <a:r>
              <a:rPr lang="pt-BR" dirty="0"/>
              <a:t>Vamos começar pelo sistema operacional (SO).</a:t>
            </a:r>
          </a:p>
          <a:p>
            <a:r>
              <a:rPr lang="pt-BR" b="0" i="0" dirty="0">
                <a:effectLst/>
              </a:rPr>
              <a:t>Um sistema operacional </a:t>
            </a:r>
            <a:r>
              <a:rPr lang="pt-BR" b="1" i="1" dirty="0">
                <a:solidFill>
                  <a:srgbClr val="FF0000"/>
                </a:solidFill>
                <a:effectLst/>
              </a:rPr>
              <a:t>gerencia recursos</a:t>
            </a:r>
            <a:r>
              <a:rPr lang="pt-BR" b="1" i="1" dirty="0">
                <a:effectLst/>
              </a:rPr>
              <a:t> e </a:t>
            </a:r>
            <a:r>
              <a:rPr lang="pt-BR" b="1" i="1" dirty="0">
                <a:solidFill>
                  <a:srgbClr val="00B050"/>
                </a:solidFill>
                <a:effectLst/>
              </a:rPr>
              <a:t>fornece uma interface entre </a:t>
            </a:r>
            <a:r>
              <a:rPr lang="pt-BR" b="1" i="1" dirty="0">
                <a:effectLst/>
              </a:rPr>
              <a:t>os componentes físicos do computador (i.e., </a:t>
            </a:r>
            <a:r>
              <a:rPr lang="pt-BR" b="1" i="1" dirty="0">
                <a:solidFill>
                  <a:srgbClr val="00B050"/>
                </a:solidFill>
                <a:effectLst/>
              </a:rPr>
              <a:t>hardware</a:t>
            </a:r>
            <a:r>
              <a:rPr lang="pt-BR" b="1" i="1" dirty="0">
                <a:effectLst/>
              </a:rPr>
              <a:t>) </a:t>
            </a:r>
            <a:r>
              <a:rPr lang="pt-BR" b="1" i="1" dirty="0">
                <a:solidFill>
                  <a:srgbClr val="00B050"/>
                </a:solidFill>
                <a:effectLst/>
              </a:rPr>
              <a:t>e os programas</a:t>
            </a:r>
            <a:r>
              <a:rPr lang="pt-BR" b="0" i="0" dirty="0">
                <a:solidFill>
                  <a:srgbClr val="00B050"/>
                </a:solidFill>
                <a:effectLst/>
              </a:rPr>
              <a:t> </a:t>
            </a:r>
            <a:r>
              <a:rPr lang="pt-BR" b="0" i="0" dirty="0">
                <a:effectLst/>
              </a:rPr>
              <a:t>que são executados nele. </a:t>
            </a:r>
          </a:p>
          <a:p>
            <a:r>
              <a:rPr lang="pt-BR" b="0" i="0" dirty="0">
                <a:effectLst/>
              </a:rPr>
              <a:t>Ele atua como uma </a:t>
            </a:r>
            <a:r>
              <a:rPr lang="pt-BR" b="1" i="1" dirty="0">
                <a:solidFill>
                  <a:srgbClr val="7030A0"/>
                </a:solidFill>
                <a:effectLst/>
              </a:rPr>
              <a:t>camada de software intermediária</a:t>
            </a:r>
            <a:r>
              <a:rPr lang="pt-BR" b="0" i="0" dirty="0">
                <a:solidFill>
                  <a:srgbClr val="7030A0"/>
                </a:solidFill>
                <a:effectLst/>
              </a:rPr>
              <a:t> </a:t>
            </a:r>
            <a:r>
              <a:rPr lang="pt-BR" b="0" i="0" dirty="0">
                <a:effectLst/>
              </a:rPr>
              <a:t>que permite que os usuários interajam com o computador e executem tarefas de forma eficiente.</a:t>
            </a:r>
            <a:endParaRPr lang="pt-BR" dirty="0"/>
          </a:p>
        </p:txBody>
      </p:sp>
      <p:grpSp>
        <p:nvGrpSpPr>
          <p:cNvPr id="4" name="Agrupar 3">
            <a:extLst>
              <a:ext uri="{FF2B5EF4-FFF2-40B4-BE49-F238E27FC236}">
                <a16:creationId xmlns:a16="http://schemas.microsoft.com/office/drawing/2014/main" id="{598D4000-D187-1C16-4832-5F4E06F7576E}"/>
              </a:ext>
            </a:extLst>
          </p:cNvPr>
          <p:cNvGrpSpPr/>
          <p:nvPr/>
        </p:nvGrpSpPr>
        <p:grpSpPr>
          <a:xfrm>
            <a:off x="1523623" y="1993791"/>
            <a:ext cx="2275115" cy="4201104"/>
            <a:chOff x="1164770" y="2145267"/>
            <a:chExt cx="2275115" cy="4201104"/>
          </a:xfrm>
        </p:grpSpPr>
        <p:sp>
          <p:nvSpPr>
            <p:cNvPr id="5" name="Retângulo 4">
              <a:extLst>
                <a:ext uri="{FF2B5EF4-FFF2-40B4-BE49-F238E27FC236}">
                  <a16:creationId xmlns:a16="http://schemas.microsoft.com/office/drawing/2014/main" id="{02DF7727-34E0-DA6D-9FD9-F350C8096927}"/>
                </a:ext>
              </a:extLst>
            </p:cNvPr>
            <p:cNvSpPr/>
            <p:nvPr/>
          </p:nvSpPr>
          <p:spPr>
            <a:xfrm>
              <a:off x="1295401" y="2667000"/>
              <a:ext cx="2024742" cy="762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Aplicações</a:t>
              </a:r>
            </a:p>
          </p:txBody>
        </p:sp>
        <p:sp>
          <p:nvSpPr>
            <p:cNvPr id="6" name="Retângulo 5">
              <a:extLst>
                <a:ext uri="{FF2B5EF4-FFF2-40B4-BE49-F238E27FC236}">
                  <a16:creationId xmlns:a16="http://schemas.microsoft.com/office/drawing/2014/main" id="{066FBC63-8EA6-4C24-1613-BC617D47D9E9}"/>
                </a:ext>
              </a:extLst>
            </p:cNvPr>
            <p:cNvSpPr/>
            <p:nvPr/>
          </p:nvSpPr>
          <p:spPr>
            <a:xfrm>
              <a:off x="1295401" y="3581400"/>
              <a:ext cx="2024742" cy="7620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pt-BR" dirty="0"/>
                <a:t>Bibliotecas</a:t>
              </a:r>
            </a:p>
          </p:txBody>
        </p:sp>
        <p:sp>
          <p:nvSpPr>
            <p:cNvPr id="7" name="Retângulo 6">
              <a:extLst>
                <a:ext uri="{FF2B5EF4-FFF2-40B4-BE49-F238E27FC236}">
                  <a16:creationId xmlns:a16="http://schemas.microsoft.com/office/drawing/2014/main" id="{3A2B19FF-0A4D-098B-554B-B6246DD48305}"/>
                </a:ext>
              </a:extLst>
            </p:cNvPr>
            <p:cNvSpPr/>
            <p:nvPr/>
          </p:nvSpPr>
          <p:spPr>
            <a:xfrm>
              <a:off x="1295401" y="4495800"/>
              <a:ext cx="2024742" cy="7620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pt-BR" dirty="0"/>
                <a:t>Sistema Operacional</a:t>
              </a:r>
            </a:p>
          </p:txBody>
        </p:sp>
        <p:sp>
          <p:nvSpPr>
            <p:cNvPr id="8" name="Retângulo 7">
              <a:extLst>
                <a:ext uri="{FF2B5EF4-FFF2-40B4-BE49-F238E27FC236}">
                  <a16:creationId xmlns:a16="http://schemas.microsoft.com/office/drawing/2014/main" id="{59213BE1-5A72-E78C-D504-5E24FC433F2A}"/>
                </a:ext>
              </a:extLst>
            </p:cNvPr>
            <p:cNvSpPr/>
            <p:nvPr/>
          </p:nvSpPr>
          <p:spPr>
            <a:xfrm>
              <a:off x="1164770" y="5584371"/>
              <a:ext cx="2275115" cy="762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b="1" dirty="0"/>
                <a:t>Hardware</a:t>
              </a:r>
            </a:p>
          </p:txBody>
        </p:sp>
        <p:sp>
          <p:nvSpPr>
            <p:cNvPr id="9" name="CaixaDeTexto 8">
              <a:extLst>
                <a:ext uri="{FF2B5EF4-FFF2-40B4-BE49-F238E27FC236}">
                  <a16:creationId xmlns:a16="http://schemas.microsoft.com/office/drawing/2014/main" id="{568145FE-6B2B-18C0-B02E-D78087316456}"/>
                </a:ext>
              </a:extLst>
            </p:cNvPr>
            <p:cNvSpPr txBox="1"/>
            <p:nvPr/>
          </p:nvSpPr>
          <p:spPr>
            <a:xfrm>
              <a:off x="1219199" y="2145268"/>
              <a:ext cx="1295400" cy="369332"/>
            </a:xfrm>
            <a:prstGeom prst="rect">
              <a:avLst/>
            </a:prstGeom>
            <a:noFill/>
          </p:spPr>
          <p:txBody>
            <a:bodyPr wrap="square">
              <a:spAutoFit/>
            </a:bodyPr>
            <a:lstStyle/>
            <a:p>
              <a:r>
                <a:rPr lang="pt-BR" b="1" dirty="0">
                  <a:solidFill>
                    <a:srgbClr val="0070C0"/>
                  </a:solidFill>
                </a:rPr>
                <a:t>Software</a:t>
              </a:r>
            </a:p>
          </p:txBody>
        </p:sp>
        <p:sp>
          <p:nvSpPr>
            <p:cNvPr id="10" name="Retângulo 9">
              <a:extLst>
                <a:ext uri="{FF2B5EF4-FFF2-40B4-BE49-F238E27FC236}">
                  <a16:creationId xmlns:a16="http://schemas.microsoft.com/office/drawing/2014/main" id="{CF6673FA-7BB0-5B65-ED3A-D0914F7E5AD9}"/>
                </a:ext>
              </a:extLst>
            </p:cNvPr>
            <p:cNvSpPr/>
            <p:nvPr/>
          </p:nvSpPr>
          <p:spPr>
            <a:xfrm>
              <a:off x="1164770" y="2145267"/>
              <a:ext cx="2275115" cy="3228337"/>
            </a:xfrm>
            <a:prstGeom prst="rect">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extLst>
      <p:ext uri="{BB962C8B-B14F-4D97-AF65-F5344CB8AC3E}">
        <p14:creationId xmlns:p14="http://schemas.microsoft.com/office/powerpoint/2010/main" val="31223991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6F1666-FCB0-224C-6172-440D71C53A0C}"/>
              </a:ext>
            </a:extLst>
          </p:cNvPr>
          <p:cNvSpPr>
            <a:spLocks noGrp="1"/>
          </p:cNvSpPr>
          <p:nvPr>
            <p:ph type="title"/>
          </p:nvPr>
        </p:nvSpPr>
        <p:spPr/>
        <p:txBody>
          <a:bodyPr/>
          <a:lstStyle/>
          <a:p>
            <a:r>
              <a:rPr lang="pt-BR" dirty="0"/>
              <a:t>Sistemas operacionais amplamente usados</a:t>
            </a:r>
          </a:p>
        </p:txBody>
      </p:sp>
      <p:sp>
        <p:nvSpPr>
          <p:cNvPr id="3" name="Espaço Reservado para Conteúdo 2">
            <a:extLst>
              <a:ext uri="{FF2B5EF4-FFF2-40B4-BE49-F238E27FC236}">
                <a16:creationId xmlns:a16="http://schemas.microsoft.com/office/drawing/2014/main" id="{37933B8B-D179-1531-C88F-01FD9E108BFB}"/>
              </a:ext>
            </a:extLst>
          </p:cNvPr>
          <p:cNvSpPr>
            <a:spLocks noGrp="1"/>
          </p:cNvSpPr>
          <p:nvPr>
            <p:ph idx="1"/>
          </p:nvPr>
        </p:nvSpPr>
        <p:spPr>
          <a:xfrm>
            <a:off x="6749323" y="3115680"/>
            <a:ext cx="5140310" cy="1499591"/>
          </a:xfrm>
        </p:spPr>
        <p:txBody>
          <a:bodyPr/>
          <a:lstStyle/>
          <a:p>
            <a:pPr marL="0" indent="0">
              <a:buNone/>
            </a:pPr>
            <a:r>
              <a:rPr lang="pt-BR" dirty="0"/>
              <a:t>Podemos dividir os OSs nos três grandes grupos ao lado.</a:t>
            </a:r>
          </a:p>
          <a:p>
            <a:pPr marL="0" indent="0">
              <a:buNone/>
            </a:pPr>
            <a:endParaRPr lang="pt-BR" dirty="0"/>
          </a:p>
        </p:txBody>
      </p:sp>
      <p:grpSp>
        <p:nvGrpSpPr>
          <p:cNvPr id="5" name="Group 4">
            <a:extLst>
              <a:ext uri="{FF2B5EF4-FFF2-40B4-BE49-F238E27FC236}">
                <a16:creationId xmlns:a16="http://schemas.microsoft.com/office/drawing/2014/main" id="{88ED89D8-12F7-501A-45BB-A0B37BB32044}"/>
              </a:ext>
            </a:extLst>
          </p:cNvPr>
          <p:cNvGrpSpPr/>
          <p:nvPr/>
        </p:nvGrpSpPr>
        <p:grpSpPr>
          <a:xfrm>
            <a:off x="1001965" y="1690688"/>
            <a:ext cx="5252591" cy="4907688"/>
            <a:chOff x="1443029" y="1825624"/>
            <a:chExt cx="5252591" cy="4907688"/>
          </a:xfrm>
        </p:grpSpPr>
        <p:pic>
          <p:nvPicPr>
            <p:cNvPr id="1026" name="Picture 2" descr="9.1. Operating Systems — CS160 Reader">
              <a:extLst>
                <a:ext uri="{FF2B5EF4-FFF2-40B4-BE49-F238E27FC236}">
                  <a16:creationId xmlns:a16="http://schemas.microsoft.com/office/drawing/2014/main" id="{4440ED9D-9FC7-EBA9-6DFB-66730B632F7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0260"/>
            <a:stretch/>
          </p:blipFill>
          <p:spPr bwMode="auto">
            <a:xfrm>
              <a:off x="2441939" y="2196557"/>
              <a:ext cx="3294401" cy="1227780"/>
            </a:xfrm>
            <a:prstGeom prst="rect">
              <a:avLst/>
            </a:prstGeom>
            <a:noFill/>
            <a:extLst>
              <a:ext uri="{909E8E84-426E-40DD-AFC4-6F175D3DCCD1}">
                <a14:hiddenFill xmlns:a14="http://schemas.microsoft.com/office/drawing/2010/main">
                  <a:solidFill>
                    <a:srgbClr val="FFFFFF"/>
                  </a:solidFill>
                </a14:hiddenFill>
              </a:ext>
            </a:extLst>
          </p:spPr>
        </p:pic>
        <p:sp>
          <p:nvSpPr>
            <p:cNvPr id="4" name="CaixaDeTexto 3">
              <a:extLst>
                <a:ext uri="{FF2B5EF4-FFF2-40B4-BE49-F238E27FC236}">
                  <a16:creationId xmlns:a16="http://schemas.microsoft.com/office/drawing/2014/main" id="{389D1538-2E32-ADD1-6D91-7039B2332131}"/>
                </a:ext>
              </a:extLst>
            </p:cNvPr>
            <p:cNvSpPr txBox="1"/>
            <p:nvPr/>
          </p:nvSpPr>
          <p:spPr>
            <a:xfrm>
              <a:off x="1482661" y="1825624"/>
              <a:ext cx="5212959" cy="369332"/>
            </a:xfrm>
            <a:prstGeom prst="rect">
              <a:avLst/>
            </a:prstGeom>
            <a:noFill/>
          </p:spPr>
          <p:txBody>
            <a:bodyPr wrap="square" rtlCol="0">
              <a:spAutoFit/>
            </a:bodyPr>
            <a:lstStyle/>
            <a:p>
              <a:pPr algn="ctr"/>
              <a:r>
                <a:rPr lang="pt-BR" b="1" dirty="0"/>
                <a:t>Sistemas operacionais de uso geral</a:t>
              </a:r>
            </a:p>
          </p:txBody>
        </p:sp>
        <p:pic>
          <p:nvPicPr>
            <p:cNvPr id="1028" name="Picture 4" descr="What is the Most Used Operating System ? - wikigain">
              <a:extLst>
                <a:ext uri="{FF2B5EF4-FFF2-40B4-BE49-F238E27FC236}">
                  <a16:creationId xmlns:a16="http://schemas.microsoft.com/office/drawing/2014/main" id="{65D1AE70-C663-04BE-C4E8-E8DF862905C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4029" b="49542"/>
            <a:stretch/>
          </p:blipFill>
          <p:spPr bwMode="auto">
            <a:xfrm>
              <a:off x="2872522" y="3496564"/>
              <a:ext cx="1147962" cy="127812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What is the Most Used Operating System ? - wikigain">
              <a:extLst>
                <a:ext uri="{FF2B5EF4-FFF2-40B4-BE49-F238E27FC236}">
                  <a16:creationId xmlns:a16="http://schemas.microsoft.com/office/drawing/2014/main" id="{C95E1A4E-ADD2-0D4B-637A-E79EAC56F98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4029" t="49542"/>
            <a:stretch/>
          </p:blipFill>
          <p:spPr bwMode="auto">
            <a:xfrm>
              <a:off x="4191805" y="3643626"/>
              <a:ext cx="1082097" cy="1204794"/>
            </a:xfrm>
            <a:prstGeom prst="rect">
              <a:avLst/>
            </a:prstGeom>
            <a:noFill/>
            <a:extLst>
              <a:ext uri="{909E8E84-426E-40DD-AFC4-6F175D3DCCD1}">
                <a14:hiddenFill xmlns:a14="http://schemas.microsoft.com/office/drawing/2010/main">
                  <a:solidFill>
                    <a:srgbClr val="FFFFFF"/>
                  </a:solidFill>
                </a14:hiddenFill>
              </a:ext>
            </a:extLst>
          </p:spPr>
        </p:pic>
        <p:sp>
          <p:nvSpPr>
            <p:cNvPr id="8" name="CaixaDeTexto 7">
              <a:extLst>
                <a:ext uri="{FF2B5EF4-FFF2-40B4-BE49-F238E27FC236}">
                  <a16:creationId xmlns:a16="http://schemas.microsoft.com/office/drawing/2014/main" id="{DEC3739A-7744-E70E-50EB-16709E0BA84D}"/>
                </a:ext>
              </a:extLst>
            </p:cNvPr>
            <p:cNvSpPr txBox="1"/>
            <p:nvPr/>
          </p:nvSpPr>
          <p:spPr>
            <a:xfrm>
              <a:off x="1472054" y="3496144"/>
              <a:ext cx="5212959" cy="369332"/>
            </a:xfrm>
            <a:prstGeom prst="rect">
              <a:avLst/>
            </a:prstGeom>
            <a:noFill/>
          </p:spPr>
          <p:txBody>
            <a:bodyPr wrap="square" rtlCol="0">
              <a:spAutoFit/>
            </a:bodyPr>
            <a:lstStyle/>
            <a:p>
              <a:pPr algn="ctr"/>
              <a:r>
                <a:rPr lang="pt-BR" b="1" dirty="0"/>
                <a:t>Sistemas operacionais móveis</a:t>
              </a:r>
            </a:p>
          </p:txBody>
        </p:sp>
        <p:pic>
          <p:nvPicPr>
            <p:cNvPr id="1032" name="Picture 8" descr="FreeRTOS - Market leading RTOS (Real Time Operating System) for embedded  systems with Internet of Things extensions">
              <a:extLst>
                <a:ext uri="{FF2B5EF4-FFF2-40B4-BE49-F238E27FC236}">
                  <a16:creationId xmlns:a16="http://schemas.microsoft.com/office/drawing/2014/main" id="{5473B8CC-2DC1-2860-936E-8054201C218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37619" y="5494575"/>
              <a:ext cx="1429493" cy="605673"/>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Operating systems for IoT. Source: Devopedia.">
              <a:extLst>
                <a:ext uri="{FF2B5EF4-FFF2-40B4-BE49-F238E27FC236}">
                  <a16:creationId xmlns:a16="http://schemas.microsoft.com/office/drawing/2014/main" id="{300C8735-EF9D-61EF-E325-2317ABE9BB05}"/>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1547" t="52351" r="34347" b="39836"/>
            <a:stretch/>
          </p:blipFill>
          <p:spPr bwMode="auto">
            <a:xfrm>
              <a:off x="3070934" y="5358409"/>
              <a:ext cx="1783928" cy="369332"/>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IoT Operating Systems - javatpoint">
              <a:extLst>
                <a:ext uri="{FF2B5EF4-FFF2-40B4-BE49-F238E27FC236}">
                  <a16:creationId xmlns:a16="http://schemas.microsoft.com/office/drawing/2014/main" id="{36D594A3-2D29-DB00-3E70-BB63256ABAD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75637" y="6127639"/>
              <a:ext cx="1432335" cy="605673"/>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Operating system for memory constrained devices in IoT">
              <a:extLst>
                <a:ext uri="{FF2B5EF4-FFF2-40B4-BE49-F238E27FC236}">
                  <a16:creationId xmlns:a16="http://schemas.microsoft.com/office/drawing/2014/main" id="{B3C5A1E0-F145-4415-D953-75E4E0CFEFA6}"/>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64515" t="66200" r="3578" b="18400"/>
            <a:stretch/>
          </p:blipFill>
          <p:spPr bwMode="auto">
            <a:xfrm>
              <a:off x="5024672" y="5612745"/>
              <a:ext cx="1423335" cy="369332"/>
            </a:xfrm>
            <a:prstGeom prst="rect">
              <a:avLst/>
            </a:prstGeom>
            <a:noFill/>
            <a:extLst>
              <a:ext uri="{909E8E84-426E-40DD-AFC4-6F175D3DCCD1}">
                <a14:hiddenFill xmlns:a14="http://schemas.microsoft.com/office/drawing/2010/main">
                  <a:solidFill>
                    <a:srgbClr val="FFFFFF"/>
                  </a:solidFill>
                </a14:hiddenFill>
              </a:ext>
            </a:extLst>
          </p:spPr>
        </p:pic>
        <p:sp>
          <p:nvSpPr>
            <p:cNvPr id="13" name="CaixaDeTexto 12">
              <a:extLst>
                <a:ext uri="{FF2B5EF4-FFF2-40B4-BE49-F238E27FC236}">
                  <a16:creationId xmlns:a16="http://schemas.microsoft.com/office/drawing/2014/main" id="{F14D5421-B5CF-CB70-8EB3-40430928BD07}"/>
                </a:ext>
              </a:extLst>
            </p:cNvPr>
            <p:cNvSpPr txBox="1"/>
            <p:nvPr/>
          </p:nvSpPr>
          <p:spPr>
            <a:xfrm>
              <a:off x="1443029" y="4874423"/>
              <a:ext cx="5212959" cy="369332"/>
            </a:xfrm>
            <a:prstGeom prst="rect">
              <a:avLst/>
            </a:prstGeom>
            <a:noFill/>
          </p:spPr>
          <p:txBody>
            <a:bodyPr wrap="square" rtlCol="0">
              <a:spAutoFit/>
            </a:bodyPr>
            <a:lstStyle/>
            <a:p>
              <a:pPr algn="ctr"/>
              <a:r>
                <a:rPr lang="pt-BR" b="1" dirty="0"/>
                <a:t>Sistemas operacionais embarcados</a:t>
              </a:r>
            </a:p>
          </p:txBody>
        </p:sp>
      </p:grpSp>
    </p:spTree>
    <p:extLst>
      <p:ext uri="{BB962C8B-B14F-4D97-AF65-F5344CB8AC3E}">
        <p14:creationId xmlns:p14="http://schemas.microsoft.com/office/powerpoint/2010/main" val="39520514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6F1666-FCB0-224C-6172-440D71C53A0C}"/>
              </a:ext>
            </a:extLst>
          </p:cNvPr>
          <p:cNvSpPr>
            <a:spLocks noGrp="1"/>
          </p:cNvSpPr>
          <p:nvPr>
            <p:ph type="title"/>
          </p:nvPr>
        </p:nvSpPr>
        <p:spPr/>
        <p:txBody>
          <a:bodyPr/>
          <a:lstStyle/>
          <a:p>
            <a:r>
              <a:rPr lang="pt-BR" dirty="0"/>
              <a:t>Sistemas operacionais amplamente usados</a:t>
            </a:r>
          </a:p>
        </p:txBody>
      </p:sp>
      <p:sp>
        <p:nvSpPr>
          <p:cNvPr id="3" name="Espaço Reservado para Conteúdo 2">
            <a:extLst>
              <a:ext uri="{FF2B5EF4-FFF2-40B4-BE49-F238E27FC236}">
                <a16:creationId xmlns:a16="http://schemas.microsoft.com/office/drawing/2014/main" id="{37933B8B-D179-1531-C88F-01FD9E108BFB}"/>
              </a:ext>
            </a:extLst>
          </p:cNvPr>
          <p:cNvSpPr>
            <a:spLocks noGrp="1"/>
          </p:cNvSpPr>
          <p:nvPr>
            <p:ph idx="1"/>
          </p:nvPr>
        </p:nvSpPr>
        <p:spPr>
          <a:xfrm>
            <a:off x="5622424" y="1825624"/>
            <a:ext cx="6424102" cy="5032376"/>
          </a:xfrm>
        </p:spPr>
        <p:txBody>
          <a:bodyPr>
            <a:normAutofit/>
          </a:bodyPr>
          <a:lstStyle/>
          <a:p>
            <a:r>
              <a:rPr lang="pt-BR" dirty="0"/>
              <a:t>Por exemplo, o </a:t>
            </a:r>
            <a:r>
              <a:rPr lang="pt-BR" dirty="0" err="1"/>
              <a:t>arduino</a:t>
            </a:r>
            <a:r>
              <a:rPr lang="pt-BR" dirty="0"/>
              <a:t> nano 33 pode rodar os </a:t>
            </a:r>
            <a:r>
              <a:rPr lang="pt-BR" dirty="0" err="1"/>
              <a:t>SOs</a:t>
            </a:r>
            <a:r>
              <a:rPr lang="pt-BR" dirty="0"/>
              <a:t>: </a:t>
            </a:r>
            <a:r>
              <a:rPr lang="pt-BR" b="1" i="1" dirty="0"/>
              <a:t>Free RTOS </a:t>
            </a:r>
            <a:r>
              <a:rPr lang="pt-BR" dirty="0"/>
              <a:t>e </a:t>
            </a:r>
            <a:r>
              <a:rPr lang="pt-BR" b="1" i="1" dirty="0"/>
              <a:t>ARM </a:t>
            </a:r>
            <a:r>
              <a:rPr lang="pt-BR" b="1" i="1" dirty="0" err="1"/>
              <a:t>mbed</a:t>
            </a:r>
            <a:r>
              <a:rPr lang="pt-BR" dirty="0"/>
              <a:t>.</a:t>
            </a:r>
          </a:p>
          <a:p>
            <a:r>
              <a:rPr lang="pt-BR" dirty="0"/>
              <a:t>Mesmo podendo usar um SO, em alguns casos, opta-se pela execução em “</a:t>
            </a:r>
            <a:r>
              <a:rPr lang="pt-BR" b="1" i="1" dirty="0" err="1">
                <a:solidFill>
                  <a:srgbClr val="00B050"/>
                </a:solidFill>
              </a:rPr>
              <a:t>bare</a:t>
            </a:r>
            <a:r>
              <a:rPr lang="pt-BR" b="1" i="1" dirty="0">
                <a:solidFill>
                  <a:srgbClr val="00B050"/>
                </a:solidFill>
              </a:rPr>
              <a:t> metal</a:t>
            </a:r>
            <a:r>
              <a:rPr lang="pt-BR" dirty="0"/>
              <a:t>” (metal nu), i.e., sem SO, em cima do HW.</a:t>
            </a:r>
          </a:p>
          <a:p>
            <a:r>
              <a:rPr lang="pt-BR" dirty="0"/>
              <a:t>O </a:t>
            </a:r>
            <a:r>
              <a:rPr lang="pt-BR" b="1" i="1" dirty="0" err="1">
                <a:solidFill>
                  <a:srgbClr val="00B050"/>
                </a:solidFill>
              </a:rPr>
              <a:t>bare</a:t>
            </a:r>
            <a:r>
              <a:rPr lang="pt-BR" b="1" i="1" dirty="0">
                <a:solidFill>
                  <a:srgbClr val="00B050"/>
                </a:solidFill>
              </a:rPr>
              <a:t> metal</a:t>
            </a:r>
            <a:r>
              <a:rPr lang="pt-BR" dirty="0"/>
              <a:t> é usado quando se quer ter </a:t>
            </a:r>
            <a:r>
              <a:rPr lang="pt-BR" b="1" i="1" dirty="0">
                <a:solidFill>
                  <a:srgbClr val="7030A0"/>
                </a:solidFill>
              </a:rPr>
              <a:t>controle direto sobre o HW</a:t>
            </a:r>
            <a:r>
              <a:rPr lang="pt-BR" dirty="0"/>
              <a:t>, criar </a:t>
            </a:r>
            <a:r>
              <a:rPr lang="pt-BR" b="1" i="1" dirty="0">
                <a:solidFill>
                  <a:schemeClr val="accent2"/>
                </a:solidFill>
              </a:rPr>
              <a:t>soluções extremamente específicas</a:t>
            </a:r>
            <a:r>
              <a:rPr lang="pt-BR" dirty="0"/>
              <a:t>, </a:t>
            </a:r>
            <a:r>
              <a:rPr lang="pt-BR" b="1" i="1" dirty="0">
                <a:solidFill>
                  <a:schemeClr val="accent5"/>
                </a:solidFill>
              </a:rPr>
              <a:t>eficientes</a:t>
            </a:r>
            <a:r>
              <a:rPr lang="pt-BR" b="1" i="1" dirty="0">
                <a:solidFill>
                  <a:srgbClr val="00B050"/>
                </a:solidFill>
              </a:rPr>
              <a:t> e enxutas</a:t>
            </a:r>
            <a:r>
              <a:rPr lang="pt-BR" dirty="0"/>
              <a:t>.</a:t>
            </a:r>
          </a:p>
          <a:p>
            <a:pPr lvl="1">
              <a:buFont typeface="Wingdings" panose="05000000000000000000" pitchFamily="2" charset="2"/>
              <a:buChar char="§"/>
            </a:pPr>
            <a:r>
              <a:rPr lang="pt-BR" dirty="0"/>
              <a:t>Ex.: Aplicação </a:t>
            </a:r>
            <a:r>
              <a:rPr lang="pt-BR" i="1" dirty="0" err="1"/>
              <a:t>always</a:t>
            </a:r>
            <a:r>
              <a:rPr lang="pt-BR" i="1" dirty="0"/>
              <a:t> </a:t>
            </a:r>
            <a:r>
              <a:rPr lang="pt-BR" i="1" dirty="0" err="1"/>
              <a:t>on</a:t>
            </a:r>
            <a:r>
              <a:rPr lang="pt-BR" dirty="0"/>
              <a:t> para </a:t>
            </a:r>
            <a:r>
              <a:rPr lang="pt-BR" i="1" dirty="0" err="1"/>
              <a:t>keyword</a:t>
            </a:r>
            <a:r>
              <a:rPr lang="pt-BR" i="1" dirty="0"/>
              <a:t> </a:t>
            </a:r>
            <a:r>
              <a:rPr lang="pt-BR" i="1" dirty="0" err="1"/>
              <a:t>spotting</a:t>
            </a:r>
            <a:r>
              <a:rPr lang="pt-BR" dirty="0"/>
              <a:t>.</a:t>
            </a:r>
          </a:p>
        </p:txBody>
      </p:sp>
      <p:pic>
        <p:nvPicPr>
          <p:cNvPr id="1026" name="Picture 2" descr="9.1. Operating Systems — CS160 Reader">
            <a:extLst>
              <a:ext uri="{FF2B5EF4-FFF2-40B4-BE49-F238E27FC236}">
                <a16:creationId xmlns:a16="http://schemas.microsoft.com/office/drawing/2014/main" id="{4440ED9D-9FC7-EBA9-6DFB-66730B632F7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0260"/>
          <a:stretch/>
        </p:blipFill>
        <p:spPr bwMode="auto">
          <a:xfrm>
            <a:off x="1104752" y="2195930"/>
            <a:ext cx="3294401" cy="1227780"/>
          </a:xfrm>
          <a:prstGeom prst="rect">
            <a:avLst/>
          </a:prstGeom>
          <a:noFill/>
          <a:extLst>
            <a:ext uri="{909E8E84-426E-40DD-AFC4-6F175D3DCCD1}">
              <a14:hiddenFill xmlns:a14="http://schemas.microsoft.com/office/drawing/2010/main">
                <a:solidFill>
                  <a:srgbClr val="FFFFFF"/>
                </a:solidFill>
              </a14:hiddenFill>
            </a:ext>
          </a:extLst>
        </p:spPr>
      </p:pic>
      <p:sp>
        <p:nvSpPr>
          <p:cNvPr id="4" name="CaixaDeTexto 3">
            <a:extLst>
              <a:ext uri="{FF2B5EF4-FFF2-40B4-BE49-F238E27FC236}">
                <a16:creationId xmlns:a16="http://schemas.microsoft.com/office/drawing/2014/main" id="{389D1538-2E32-ADD1-6D91-7039B2332131}"/>
              </a:ext>
            </a:extLst>
          </p:cNvPr>
          <p:cNvSpPr txBox="1"/>
          <p:nvPr/>
        </p:nvSpPr>
        <p:spPr>
          <a:xfrm>
            <a:off x="145474" y="1824997"/>
            <a:ext cx="5212959" cy="369332"/>
          </a:xfrm>
          <a:prstGeom prst="rect">
            <a:avLst/>
          </a:prstGeom>
          <a:noFill/>
        </p:spPr>
        <p:txBody>
          <a:bodyPr wrap="square" rtlCol="0">
            <a:spAutoFit/>
          </a:bodyPr>
          <a:lstStyle/>
          <a:p>
            <a:pPr algn="ctr"/>
            <a:r>
              <a:rPr lang="pt-BR" b="1" dirty="0"/>
              <a:t>Sistemas operacionais de uso geral</a:t>
            </a:r>
          </a:p>
        </p:txBody>
      </p:sp>
      <p:pic>
        <p:nvPicPr>
          <p:cNvPr id="1028" name="Picture 4" descr="What is the Most Used Operating System ? - wikigain">
            <a:extLst>
              <a:ext uri="{FF2B5EF4-FFF2-40B4-BE49-F238E27FC236}">
                <a16:creationId xmlns:a16="http://schemas.microsoft.com/office/drawing/2014/main" id="{65D1AE70-C663-04BE-C4E8-E8DF862905C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4029" b="49542"/>
          <a:stretch/>
        </p:blipFill>
        <p:spPr bwMode="auto">
          <a:xfrm>
            <a:off x="1535335" y="3495937"/>
            <a:ext cx="1147962" cy="127812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What is the Most Used Operating System ? - wikigain">
            <a:extLst>
              <a:ext uri="{FF2B5EF4-FFF2-40B4-BE49-F238E27FC236}">
                <a16:creationId xmlns:a16="http://schemas.microsoft.com/office/drawing/2014/main" id="{C95E1A4E-ADD2-0D4B-637A-E79EAC56F98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4029" t="49542"/>
          <a:stretch/>
        </p:blipFill>
        <p:spPr bwMode="auto">
          <a:xfrm>
            <a:off x="2854618" y="3642999"/>
            <a:ext cx="1082097" cy="1204794"/>
          </a:xfrm>
          <a:prstGeom prst="rect">
            <a:avLst/>
          </a:prstGeom>
          <a:noFill/>
          <a:extLst>
            <a:ext uri="{909E8E84-426E-40DD-AFC4-6F175D3DCCD1}">
              <a14:hiddenFill xmlns:a14="http://schemas.microsoft.com/office/drawing/2010/main">
                <a:solidFill>
                  <a:srgbClr val="FFFFFF"/>
                </a:solidFill>
              </a14:hiddenFill>
            </a:ext>
          </a:extLst>
        </p:spPr>
      </p:pic>
      <p:sp>
        <p:nvSpPr>
          <p:cNvPr id="8" name="CaixaDeTexto 7">
            <a:extLst>
              <a:ext uri="{FF2B5EF4-FFF2-40B4-BE49-F238E27FC236}">
                <a16:creationId xmlns:a16="http://schemas.microsoft.com/office/drawing/2014/main" id="{DEC3739A-7744-E70E-50EB-16709E0BA84D}"/>
              </a:ext>
            </a:extLst>
          </p:cNvPr>
          <p:cNvSpPr txBox="1"/>
          <p:nvPr/>
        </p:nvSpPr>
        <p:spPr>
          <a:xfrm>
            <a:off x="134867" y="3495517"/>
            <a:ext cx="5212959" cy="369332"/>
          </a:xfrm>
          <a:prstGeom prst="rect">
            <a:avLst/>
          </a:prstGeom>
          <a:noFill/>
        </p:spPr>
        <p:txBody>
          <a:bodyPr wrap="square" rtlCol="0">
            <a:spAutoFit/>
          </a:bodyPr>
          <a:lstStyle/>
          <a:p>
            <a:pPr algn="ctr"/>
            <a:r>
              <a:rPr lang="pt-BR" b="1" dirty="0"/>
              <a:t>Sistemas operacionais móveis</a:t>
            </a:r>
          </a:p>
        </p:txBody>
      </p:sp>
      <p:pic>
        <p:nvPicPr>
          <p:cNvPr id="1032" name="Picture 8" descr="FreeRTOS - Market leading RTOS (Real Time Operating System) for embedded  systems with Internet of Things extensions">
            <a:extLst>
              <a:ext uri="{FF2B5EF4-FFF2-40B4-BE49-F238E27FC236}">
                <a16:creationId xmlns:a16="http://schemas.microsoft.com/office/drawing/2014/main" id="{5473B8CC-2DC1-2860-936E-8054201C218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0432" y="5493948"/>
            <a:ext cx="1429493" cy="605673"/>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Operating systems for IoT. Source: Devopedia.">
            <a:extLst>
              <a:ext uri="{FF2B5EF4-FFF2-40B4-BE49-F238E27FC236}">
                <a16:creationId xmlns:a16="http://schemas.microsoft.com/office/drawing/2014/main" id="{300C8735-EF9D-61EF-E325-2317ABE9BB05}"/>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1547" t="52351" r="34347" b="39836"/>
          <a:stretch/>
        </p:blipFill>
        <p:spPr bwMode="auto">
          <a:xfrm>
            <a:off x="1733747" y="5357782"/>
            <a:ext cx="1783928" cy="369332"/>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IoT Operating Systems - javatpoint">
            <a:extLst>
              <a:ext uri="{FF2B5EF4-FFF2-40B4-BE49-F238E27FC236}">
                <a16:creationId xmlns:a16="http://schemas.microsoft.com/office/drawing/2014/main" id="{36D594A3-2D29-DB00-3E70-BB63256ABAD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38450" y="6127012"/>
            <a:ext cx="1432335" cy="605673"/>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Operating system for memory constrained devices in IoT">
            <a:extLst>
              <a:ext uri="{FF2B5EF4-FFF2-40B4-BE49-F238E27FC236}">
                <a16:creationId xmlns:a16="http://schemas.microsoft.com/office/drawing/2014/main" id="{B3C5A1E0-F145-4415-D953-75E4E0CFEFA6}"/>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64515" t="66200" r="3578" b="18400"/>
          <a:stretch/>
        </p:blipFill>
        <p:spPr bwMode="auto">
          <a:xfrm>
            <a:off x="3687485" y="5612118"/>
            <a:ext cx="1423335" cy="369332"/>
          </a:xfrm>
          <a:prstGeom prst="rect">
            <a:avLst/>
          </a:prstGeom>
          <a:noFill/>
          <a:extLst>
            <a:ext uri="{909E8E84-426E-40DD-AFC4-6F175D3DCCD1}">
              <a14:hiddenFill xmlns:a14="http://schemas.microsoft.com/office/drawing/2010/main">
                <a:solidFill>
                  <a:srgbClr val="FFFFFF"/>
                </a:solidFill>
              </a14:hiddenFill>
            </a:ext>
          </a:extLst>
        </p:spPr>
      </p:pic>
      <p:sp>
        <p:nvSpPr>
          <p:cNvPr id="13" name="CaixaDeTexto 12">
            <a:extLst>
              <a:ext uri="{FF2B5EF4-FFF2-40B4-BE49-F238E27FC236}">
                <a16:creationId xmlns:a16="http://schemas.microsoft.com/office/drawing/2014/main" id="{F14D5421-B5CF-CB70-8EB3-40430928BD07}"/>
              </a:ext>
            </a:extLst>
          </p:cNvPr>
          <p:cNvSpPr txBox="1"/>
          <p:nvPr/>
        </p:nvSpPr>
        <p:spPr>
          <a:xfrm>
            <a:off x="105842" y="4873796"/>
            <a:ext cx="5212959" cy="369332"/>
          </a:xfrm>
          <a:prstGeom prst="rect">
            <a:avLst/>
          </a:prstGeom>
          <a:noFill/>
        </p:spPr>
        <p:txBody>
          <a:bodyPr wrap="square" rtlCol="0">
            <a:spAutoFit/>
          </a:bodyPr>
          <a:lstStyle/>
          <a:p>
            <a:pPr algn="ctr"/>
            <a:r>
              <a:rPr lang="pt-BR" b="1" dirty="0"/>
              <a:t>Sistemas operacionais embarcados</a:t>
            </a:r>
          </a:p>
        </p:txBody>
      </p:sp>
      <p:pic>
        <p:nvPicPr>
          <p:cNvPr id="14" name="Picture 6" descr="PLACA RASPBERRY PI PICO W - ACEPIC Tecnologia">
            <a:extLst>
              <a:ext uri="{FF2B5EF4-FFF2-40B4-BE49-F238E27FC236}">
                <a16:creationId xmlns:a16="http://schemas.microsoft.com/office/drawing/2014/main" id="{309378BC-09FC-C715-08C7-0C1EF6C30104}"/>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94949" y="6170837"/>
            <a:ext cx="724199" cy="518025"/>
          </a:xfrm>
          <a:prstGeom prst="rect">
            <a:avLst/>
          </a:prstGeom>
          <a:noFill/>
          <a:extLst>
            <a:ext uri="{909E8E84-426E-40DD-AFC4-6F175D3DCCD1}">
              <a14:hiddenFill xmlns:a14="http://schemas.microsoft.com/office/drawing/2010/main">
                <a:solidFill>
                  <a:srgbClr val="FFFFFF"/>
                </a:solidFill>
              </a14:hiddenFill>
            </a:ext>
          </a:extLst>
        </p:spPr>
      </p:pic>
      <p:sp>
        <p:nvSpPr>
          <p:cNvPr id="15" name="Elipse 14">
            <a:extLst>
              <a:ext uri="{FF2B5EF4-FFF2-40B4-BE49-F238E27FC236}">
                <a16:creationId xmlns:a16="http://schemas.microsoft.com/office/drawing/2014/main" id="{A50A0745-C520-C89D-3D83-E093A82D5CBC}"/>
              </a:ext>
            </a:extLst>
          </p:cNvPr>
          <p:cNvSpPr/>
          <p:nvPr/>
        </p:nvSpPr>
        <p:spPr>
          <a:xfrm rot="21240277">
            <a:off x="81659" y="5185622"/>
            <a:ext cx="3579616" cy="915830"/>
          </a:xfrm>
          <a:prstGeom prst="ellipse">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7" name="Conector: Curvo 16">
            <a:extLst>
              <a:ext uri="{FF2B5EF4-FFF2-40B4-BE49-F238E27FC236}">
                <a16:creationId xmlns:a16="http://schemas.microsoft.com/office/drawing/2014/main" id="{98ADAE2E-F4F5-1AF1-7E43-97374A071659}"/>
              </a:ext>
            </a:extLst>
          </p:cNvPr>
          <p:cNvCxnSpPr>
            <a:stCxn id="15" idx="3"/>
          </p:cNvCxnSpPr>
          <p:nvPr/>
        </p:nvCxnSpPr>
        <p:spPr>
          <a:xfrm rot="16200000" flipH="1">
            <a:off x="686831" y="6057542"/>
            <a:ext cx="188141" cy="268554"/>
          </a:xfrm>
          <a:prstGeom prst="curvedConnector2">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0407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FCDF6A-A6D5-5DDA-8279-8E12BFB06E5E}"/>
              </a:ext>
            </a:extLst>
          </p:cNvPr>
          <p:cNvSpPr>
            <a:spLocks noGrp="1"/>
          </p:cNvSpPr>
          <p:nvPr>
            <p:ph type="title"/>
          </p:nvPr>
        </p:nvSpPr>
        <p:spPr/>
        <p:txBody>
          <a:bodyPr/>
          <a:lstStyle/>
          <a:p>
            <a:r>
              <a:rPr lang="pt-BR" dirty="0"/>
              <a:t>Bibliotecas</a:t>
            </a:r>
          </a:p>
        </p:txBody>
      </p:sp>
      <p:sp>
        <p:nvSpPr>
          <p:cNvPr id="3" name="Espaço Reservado para Conteúdo 2">
            <a:extLst>
              <a:ext uri="{FF2B5EF4-FFF2-40B4-BE49-F238E27FC236}">
                <a16:creationId xmlns:a16="http://schemas.microsoft.com/office/drawing/2014/main" id="{93DD67BC-6328-8102-B71B-B10F0E63EB8E}"/>
              </a:ext>
            </a:extLst>
          </p:cNvPr>
          <p:cNvSpPr>
            <a:spLocks noGrp="1"/>
          </p:cNvSpPr>
          <p:nvPr>
            <p:ph idx="1"/>
          </p:nvPr>
        </p:nvSpPr>
        <p:spPr>
          <a:xfrm>
            <a:off x="5602013" y="1825625"/>
            <a:ext cx="6403173" cy="5032375"/>
          </a:xfrm>
        </p:spPr>
        <p:txBody>
          <a:bodyPr>
            <a:normAutofit/>
          </a:bodyPr>
          <a:lstStyle/>
          <a:p>
            <a:r>
              <a:rPr lang="pt-BR" dirty="0"/>
              <a:t>Em cima do OS nós temos as bibliotecas.</a:t>
            </a:r>
          </a:p>
          <a:p>
            <a:r>
              <a:rPr lang="pt-BR" b="0" i="0" dirty="0">
                <a:effectLst/>
              </a:rPr>
              <a:t>Bibliotecas </a:t>
            </a:r>
            <a:r>
              <a:rPr lang="pt-BR" dirty="0"/>
              <a:t>são </a:t>
            </a:r>
            <a:r>
              <a:rPr lang="pt-BR" b="1" i="1" dirty="0">
                <a:solidFill>
                  <a:schemeClr val="accent1"/>
                </a:solidFill>
                <a:effectLst/>
              </a:rPr>
              <a:t>conjuntos de código reutilizável</a:t>
            </a:r>
            <a:r>
              <a:rPr lang="pt-BR" b="0" i="0" dirty="0">
                <a:effectLst/>
              </a:rPr>
              <a:t> (funções, classes, etc.) para </a:t>
            </a:r>
            <a:r>
              <a:rPr lang="pt-BR" b="1" i="1" dirty="0">
                <a:solidFill>
                  <a:srgbClr val="00B050"/>
                </a:solidFill>
                <a:effectLst/>
              </a:rPr>
              <a:t>adicionar funcionalidades</a:t>
            </a:r>
            <a:r>
              <a:rPr lang="pt-BR" b="1" i="1" dirty="0">
                <a:effectLst/>
              </a:rPr>
              <a:t> a um programa </a:t>
            </a:r>
            <a:r>
              <a:rPr lang="pt-BR" b="1" i="1" dirty="0">
                <a:solidFill>
                  <a:schemeClr val="accent2"/>
                </a:solidFill>
                <a:effectLst/>
              </a:rPr>
              <a:t>sem a necessidade de escrever todo o código do zero</a:t>
            </a:r>
            <a:r>
              <a:rPr lang="pt-BR" b="0" i="0" dirty="0">
                <a:effectLst/>
              </a:rPr>
              <a:t>.</a:t>
            </a:r>
          </a:p>
          <a:p>
            <a:pPr lvl="1">
              <a:buFont typeface="Wingdings" panose="05000000000000000000" pitchFamily="2" charset="2"/>
              <a:buChar char="§"/>
            </a:pPr>
            <a:r>
              <a:rPr lang="pt-BR" dirty="0"/>
              <a:t>Por exemplo a biblioteca </a:t>
            </a:r>
            <a:r>
              <a:rPr lang="pt-BR" dirty="0" err="1"/>
              <a:t>TensorFlow</a:t>
            </a:r>
            <a:r>
              <a:rPr lang="pt-BR" dirty="0"/>
              <a:t>, que possibilita a criação e treinamento de modelos de ML.</a:t>
            </a:r>
          </a:p>
          <a:p>
            <a:pPr lvl="1">
              <a:buFont typeface="Wingdings" panose="05000000000000000000" pitchFamily="2" charset="2"/>
              <a:buChar char="§"/>
            </a:pPr>
            <a:r>
              <a:rPr lang="pt-BR" dirty="0"/>
              <a:t>Ou a biblioteca </a:t>
            </a:r>
            <a:r>
              <a:rPr lang="pt-BR" dirty="0" err="1"/>
              <a:t>NumPy</a:t>
            </a:r>
            <a:r>
              <a:rPr lang="pt-BR" dirty="0"/>
              <a:t> </a:t>
            </a:r>
            <a:r>
              <a:rPr lang="pt-BR" b="0" i="0" dirty="0">
                <a:effectLst/>
              </a:rPr>
              <a:t>que fornece código para trabalharmos com matrizes multidimensionais (chamadas de </a:t>
            </a:r>
            <a:r>
              <a:rPr lang="pt-BR" i="1" dirty="0" err="1">
                <a:effectLst/>
              </a:rPr>
              <a:t>arrays</a:t>
            </a:r>
            <a:r>
              <a:rPr lang="pt-BR" b="0" i="0" dirty="0">
                <a:effectLst/>
              </a:rPr>
              <a:t>).</a:t>
            </a:r>
            <a:endParaRPr lang="pt-BR" dirty="0"/>
          </a:p>
        </p:txBody>
      </p:sp>
      <p:grpSp>
        <p:nvGrpSpPr>
          <p:cNvPr id="4" name="Agrupar 3">
            <a:extLst>
              <a:ext uri="{FF2B5EF4-FFF2-40B4-BE49-F238E27FC236}">
                <a16:creationId xmlns:a16="http://schemas.microsoft.com/office/drawing/2014/main" id="{4BF706A0-B17A-C0B5-78CD-0BF6651ED000}"/>
              </a:ext>
            </a:extLst>
          </p:cNvPr>
          <p:cNvGrpSpPr/>
          <p:nvPr/>
        </p:nvGrpSpPr>
        <p:grpSpPr>
          <a:xfrm>
            <a:off x="1397499" y="1825625"/>
            <a:ext cx="2275115" cy="4201104"/>
            <a:chOff x="1164770" y="2145267"/>
            <a:chExt cx="2275115" cy="4201104"/>
          </a:xfrm>
        </p:grpSpPr>
        <p:sp>
          <p:nvSpPr>
            <p:cNvPr id="5" name="Retângulo 4">
              <a:extLst>
                <a:ext uri="{FF2B5EF4-FFF2-40B4-BE49-F238E27FC236}">
                  <a16:creationId xmlns:a16="http://schemas.microsoft.com/office/drawing/2014/main" id="{845D88AC-A018-9708-701E-CDEB404E9251}"/>
                </a:ext>
              </a:extLst>
            </p:cNvPr>
            <p:cNvSpPr/>
            <p:nvPr/>
          </p:nvSpPr>
          <p:spPr>
            <a:xfrm>
              <a:off x="1295401" y="2667000"/>
              <a:ext cx="2024742" cy="762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Aplicações</a:t>
              </a:r>
            </a:p>
          </p:txBody>
        </p:sp>
        <p:sp>
          <p:nvSpPr>
            <p:cNvPr id="6" name="Retângulo 5">
              <a:extLst>
                <a:ext uri="{FF2B5EF4-FFF2-40B4-BE49-F238E27FC236}">
                  <a16:creationId xmlns:a16="http://schemas.microsoft.com/office/drawing/2014/main" id="{34234B25-1422-D593-9CFC-86FBB114965D}"/>
                </a:ext>
              </a:extLst>
            </p:cNvPr>
            <p:cNvSpPr/>
            <p:nvPr/>
          </p:nvSpPr>
          <p:spPr>
            <a:xfrm>
              <a:off x="1295401" y="3581400"/>
              <a:ext cx="2024742" cy="7620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pt-BR" dirty="0"/>
                <a:t>Bibliotecas</a:t>
              </a:r>
            </a:p>
          </p:txBody>
        </p:sp>
        <p:sp>
          <p:nvSpPr>
            <p:cNvPr id="7" name="Retângulo 6">
              <a:extLst>
                <a:ext uri="{FF2B5EF4-FFF2-40B4-BE49-F238E27FC236}">
                  <a16:creationId xmlns:a16="http://schemas.microsoft.com/office/drawing/2014/main" id="{E7BB8AE6-22EB-C5A9-5677-ECE0A2034428}"/>
                </a:ext>
              </a:extLst>
            </p:cNvPr>
            <p:cNvSpPr/>
            <p:nvPr/>
          </p:nvSpPr>
          <p:spPr>
            <a:xfrm>
              <a:off x="1295401" y="4495800"/>
              <a:ext cx="2024742" cy="7620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pt-BR" dirty="0"/>
                <a:t>Sistema Operacional</a:t>
              </a:r>
            </a:p>
          </p:txBody>
        </p:sp>
        <p:sp>
          <p:nvSpPr>
            <p:cNvPr id="8" name="Retângulo 7">
              <a:extLst>
                <a:ext uri="{FF2B5EF4-FFF2-40B4-BE49-F238E27FC236}">
                  <a16:creationId xmlns:a16="http://schemas.microsoft.com/office/drawing/2014/main" id="{F1EF8DFD-10F4-687A-227B-EB811CC03127}"/>
                </a:ext>
              </a:extLst>
            </p:cNvPr>
            <p:cNvSpPr/>
            <p:nvPr/>
          </p:nvSpPr>
          <p:spPr>
            <a:xfrm>
              <a:off x="1164770" y="5584371"/>
              <a:ext cx="2275115" cy="762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b="1" dirty="0"/>
                <a:t>Hardware</a:t>
              </a:r>
            </a:p>
          </p:txBody>
        </p:sp>
        <p:sp>
          <p:nvSpPr>
            <p:cNvPr id="9" name="CaixaDeTexto 8">
              <a:extLst>
                <a:ext uri="{FF2B5EF4-FFF2-40B4-BE49-F238E27FC236}">
                  <a16:creationId xmlns:a16="http://schemas.microsoft.com/office/drawing/2014/main" id="{1FEF18C9-84C6-9AB7-F688-48EB7B08BF89}"/>
                </a:ext>
              </a:extLst>
            </p:cNvPr>
            <p:cNvSpPr txBox="1"/>
            <p:nvPr/>
          </p:nvSpPr>
          <p:spPr>
            <a:xfrm>
              <a:off x="1219199" y="2145268"/>
              <a:ext cx="1295400" cy="369332"/>
            </a:xfrm>
            <a:prstGeom prst="rect">
              <a:avLst/>
            </a:prstGeom>
            <a:noFill/>
          </p:spPr>
          <p:txBody>
            <a:bodyPr wrap="square">
              <a:spAutoFit/>
            </a:bodyPr>
            <a:lstStyle/>
            <a:p>
              <a:r>
                <a:rPr lang="pt-BR" b="1" dirty="0">
                  <a:solidFill>
                    <a:srgbClr val="0070C0"/>
                  </a:solidFill>
                </a:rPr>
                <a:t>Software</a:t>
              </a:r>
            </a:p>
          </p:txBody>
        </p:sp>
        <p:sp>
          <p:nvSpPr>
            <p:cNvPr id="10" name="Retângulo 9">
              <a:extLst>
                <a:ext uri="{FF2B5EF4-FFF2-40B4-BE49-F238E27FC236}">
                  <a16:creationId xmlns:a16="http://schemas.microsoft.com/office/drawing/2014/main" id="{632E21B4-A387-6F6B-E66E-6773E5855FAA}"/>
                </a:ext>
              </a:extLst>
            </p:cNvPr>
            <p:cNvSpPr/>
            <p:nvPr/>
          </p:nvSpPr>
          <p:spPr>
            <a:xfrm>
              <a:off x="1164770" y="2145267"/>
              <a:ext cx="2275115" cy="3228337"/>
            </a:xfrm>
            <a:prstGeom prst="rect">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extLst>
      <p:ext uri="{BB962C8B-B14F-4D97-AF65-F5344CB8AC3E}">
        <p14:creationId xmlns:p14="http://schemas.microsoft.com/office/powerpoint/2010/main" val="41596438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629C08-BB5C-BC0D-8007-0D790339385A}"/>
              </a:ext>
            </a:extLst>
          </p:cNvPr>
          <p:cNvSpPr>
            <a:spLocks noGrp="1"/>
          </p:cNvSpPr>
          <p:nvPr>
            <p:ph type="title"/>
          </p:nvPr>
        </p:nvSpPr>
        <p:spPr/>
        <p:txBody>
          <a:bodyPr/>
          <a:lstStyle/>
          <a:p>
            <a:r>
              <a:rPr lang="pt-BR" dirty="0"/>
              <a:t>Bibliotecas</a:t>
            </a:r>
          </a:p>
        </p:txBody>
      </p:sp>
      <p:sp>
        <p:nvSpPr>
          <p:cNvPr id="3" name="Espaço Reservado para Conteúdo 2">
            <a:extLst>
              <a:ext uri="{FF2B5EF4-FFF2-40B4-BE49-F238E27FC236}">
                <a16:creationId xmlns:a16="http://schemas.microsoft.com/office/drawing/2014/main" id="{349B569E-FA6C-8795-B843-0B4F2F9F0047}"/>
              </a:ext>
            </a:extLst>
          </p:cNvPr>
          <p:cNvSpPr>
            <a:spLocks noGrp="1"/>
          </p:cNvSpPr>
          <p:nvPr>
            <p:ph idx="1"/>
          </p:nvPr>
        </p:nvSpPr>
        <p:spPr>
          <a:xfrm>
            <a:off x="5902311" y="1690688"/>
            <a:ext cx="6138791" cy="5167312"/>
          </a:xfrm>
        </p:spPr>
        <p:txBody>
          <a:bodyPr>
            <a:normAutofit/>
          </a:bodyPr>
          <a:lstStyle/>
          <a:p>
            <a:r>
              <a:rPr lang="pt-BR" dirty="0"/>
              <a:t>A aplicação ao lado importa a biblioteca </a:t>
            </a:r>
            <a:r>
              <a:rPr lang="pt-BR" b="1" i="1" dirty="0" err="1"/>
              <a:t>Numpy</a:t>
            </a:r>
            <a:r>
              <a:rPr lang="pt-BR" dirty="0"/>
              <a:t> e utiliza a função </a:t>
            </a:r>
            <a:r>
              <a:rPr lang="pt-BR" b="1" i="1" dirty="0" err="1"/>
              <a:t>sqrt</a:t>
            </a:r>
            <a:r>
              <a:rPr lang="pt-BR" b="1" i="1" dirty="0"/>
              <a:t>()</a:t>
            </a:r>
            <a:r>
              <a:rPr lang="pt-BR" dirty="0"/>
              <a:t> para calcular as raízes quadradas de 0 a 9.</a:t>
            </a:r>
          </a:p>
          <a:p>
            <a:r>
              <a:rPr lang="pt-BR" dirty="0"/>
              <a:t>O resultado são valores em </a:t>
            </a:r>
            <a:r>
              <a:rPr lang="pt-BR" b="1" i="1" dirty="0">
                <a:solidFill>
                  <a:srgbClr val="00B050"/>
                </a:solidFill>
              </a:rPr>
              <a:t>ponto flutuante</a:t>
            </a:r>
            <a:r>
              <a:rPr lang="pt-BR" dirty="0"/>
              <a:t> (</a:t>
            </a:r>
            <a:r>
              <a:rPr lang="pt-BR" i="1" dirty="0" err="1"/>
              <a:t>float</a:t>
            </a:r>
            <a:r>
              <a:rPr lang="pt-BR" dirty="0"/>
              <a:t>).</a:t>
            </a:r>
          </a:p>
          <a:p>
            <a:endParaRPr lang="pt-BR" dirty="0"/>
          </a:p>
        </p:txBody>
      </p:sp>
      <p:grpSp>
        <p:nvGrpSpPr>
          <p:cNvPr id="27" name="Agrupar 26">
            <a:extLst>
              <a:ext uri="{FF2B5EF4-FFF2-40B4-BE49-F238E27FC236}">
                <a16:creationId xmlns:a16="http://schemas.microsoft.com/office/drawing/2014/main" id="{FCBBF0A0-36B6-11F0-6E69-11B838C847B7}"/>
              </a:ext>
            </a:extLst>
          </p:cNvPr>
          <p:cNvGrpSpPr/>
          <p:nvPr/>
        </p:nvGrpSpPr>
        <p:grpSpPr>
          <a:xfrm>
            <a:off x="218841" y="1690688"/>
            <a:ext cx="6067786" cy="4993990"/>
            <a:chOff x="302921" y="1690688"/>
            <a:chExt cx="6067786" cy="4993990"/>
          </a:xfrm>
        </p:grpSpPr>
        <p:grpSp>
          <p:nvGrpSpPr>
            <p:cNvPr id="28" name="Agrupar 27">
              <a:extLst>
                <a:ext uri="{FF2B5EF4-FFF2-40B4-BE49-F238E27FC236}">
                  <a16:creationId xmlns:a16="http://schemas.microsoft.com/office/drawing/2014/main" id="{0633833E-7A69-EF01-3A74-731827D2BD86}"/>
                </a:ext>
              </a:extLst>
            </p:cNvPr>
            <p:cNvGrpSpPr/>
            <p:nvPr/>
          </p:nvGrpSpPr>
          <p:grpSpPr>
            <a:xfrm>
              <a:off x="472588" y="1690688"/>
              <a:ext cx="2275115" cy="4201104"/>
              <a:chOff x="1164770" y="2145267"/>
              <a:chExt cx="2275115" cy="4201104"/>
            </a:xfrm>
          </p:grpSpPr>
          <p:sp>
            <p:nvSpPr>
              <p:cNvPr id="36" name="Retângulo 35">
                <a:extLst>
                  <a:ext uri="{FF2B5EF4-FFF2-40B4-BE49-F238E27FC236}">
                    <a16:creationId xmlns:a16="http://schemas.microsoft.com/office/drawing/2014/main" id="{21352B29-D388-6E71-E1A7-C2FA5CC50100}"/>
                  </a:ext>
                </a:extLst>
              </p:cNvPr>
              <p:cNvSpPr/>
              <p:nvPr/>
            </p:nvSpPr>
            <p:spPr>
              <a:xfrm>
                <a:off x="1295401" y="2667000"/>
                <a:ext cx="2024742" cy="762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Aplicações</a:t>
                </a:r>
              </a:p>
            </p:txBody>
          </p:sp>
          <p:sp>
            <p:nvSpPr>
              <p:cNvPr id="37" name="Retângulo 36">
                <a:extLst>
                  <a:ext uri="{FF2B5EF4-FFF2-40B4-BE49-F238E27FC236}">
                    <a16:creationId xmlns:a16="http://schemas.microsoft.com/office/drawing/2014/main" id="{39063CAF-17FB-571A-8171-318A0B30661F}"/>
                  </a:ext>
                </a:extLst>
              </p:cNvPr>
              <p:cNvSpPr/>
              <p:nvPr/>
            </p:nvSpPr>
            <p:spPr>
              <a:xfrm>
                <a:off x="1295401" y="3581400"/>
                <a:ext cx="2024742" cy="7620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pt-BR" dirty="0"/>
                  <a:t>Bibliotecas</a:t>
                </a:r>
              </a:p>
            </p:txBody>
          </p:sp>
          <p:sp>
            <p:nvSpPr>
              <p:cNvPr id="38" name="Retângulo 37">
                <a:extLst>
                  <a:ext uri="{FF2B5EF4-FFF2-40B4-BE49-F238E27FC236}">
                    <a16:creationId xmlns:a16="http://schemas.microsoft.com/office/drawing/2014/main" id="{C91BA6C6-0A6B-F55B-7768-232D0192EE6E}"/>
                  </a:ext>
                </a:extLst>
              </p:cNvPr>
              <p:cNvSpPr/>
              <p:nvPr/>
            </p:nvSpPr>
            <p:spPr>
              <a:xfrm>
                <a:off x="1295401" y="4495800"/>
                <a:ext cx="2024742" cy="7620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pt-BR" dirty="0"/>
                  <a:t>Sistema Operacional</a:t>
                </a:r>
              </a:p>
            </p:txBody>
          </p:sp>
          <p:sp>
            <p:nvSpPr>
              <p:cNvPr id="39" name="Retângulo 38">
                <a:extLst>
                  <a:ext uri="{FF2B5EF4-FFF2-40B4-BE49-F238E27FC236}">
                    <a16:creationId xmlns:a16="http://schemas.microsoft.com/office/drawing/2014/main" id="{5235B38F-81C8-5BEB-2C10-0779DFAD601A}"/>
                  </a:ext>
                </a:extLst>
              </p:cNvPr>
              <p:cNvSpPr/>
              <p:nvPr/>
            </p:nvSpPr>
            <p:spPr>
              <a:xfrm>
                <a:off x="1164770" y="5584371"/>
                <a:ext cx="2275115" cy="762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b="1" dirty="0"/>
                  <a:t>Hardware</a:t>
                </a:r>
              </a:p>
            </p:txBody>
          </p:sp>
          <p:sp>
            <p:nvSpPr>
              <p:cNvPr id="40" name="CaixaDeTexto 39">
                <a:extLst>
                  <a:ext uri="{FF2B5EF4-FFF2-40B4-BE49-F238E27FC236}">
                    <a16:creationId xmlns:a16="http://schemas.microsoft.com/office/drawing/2014/main" id="{81875F59-5192-B6AF-672A-A939E0416CCF}"/>
                  </a:ext>
                </a:extLst>
              </p:cNvPr>
              <p:cNvSpPr txBox="1"/>
              <p:nvPr/>
            </p:nvSpPr>
            <p:spPr>
              <a:xfrm>
                <a:off x="1219199" y="2145268"/>
                <a:ext cx="1295400" cy="369332"/>
              </a:xfrm>
              <a:prstGeom prst="rect">
                <a:avLst/>
              </a:prstGeom>
              <a:noFill/>
            </p:spPr>
            <p:txBody>
              <a:bodyPr wrap="square">
                <a:spAutoFit/>
              </a:bodyPr>
              <a:lstStyle/>
              <a:p>
                <a:r>
                  <a:rPr lang="pt-BR" b="1" dirty="0">
                    <a:solidFill>
                      <a:srgbClr val="0070C0"/>
                    </a:solidFill>
                  </a:rPr>
                  <a:t>Software</a:t>
                </a:r>
              </a:p>
            </p:txBody>
          </p:sp>
          <p:sp>
            <p:nvSpPr>
              <p:cNvPr id="41" name="Retângulo 40">
                <a:extLst>
                  <a:ext uri="{FF2B5EF4-FFF2-40B4-BE49-F238E27FC236}">
                    <a16:creationId xmlns:a16="http://schemas.microsoft.com/office/drawing/2014/main" id="{A1BA069B-467C-3A66-735B-99270A7B5B2B}"/>
                  </a:ext>
                </a:extLst>
              </p:cNvPr>
              <p:cNvSpPr/>
              <p:nvPr/>
            </p:nvSpPr>
            <p:spPr>
              <a:xfrm>
                <a:off x="1164770" y="2145267"/>
                <a:ext cx="2275115" cy="3228337"/>
              </a:xfrm>
              <a:prstGeom prst="rect">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29" name="CaixaDeTexto 28">
              <a:extLst>
                <a:ext uri="{FF2B5EF4-FFF2-40B4-BE49-F238E27FC236}">
                  <a16:creationId xmlns:a16="http://schemas.microsoft.com/office/drawing/2014/main" id="{DD8212A9-4961-3D63-296C-FF5B3BF8599F}"/>
                </a:ext>
              </a:extLst>
            </p:cNvPr>
            <p:cNvSpPr txBox="1"/>
            <p:nvPr/>
          </p:nvSpPr>
          <p:spPr>
            <a:xfrm>
              <a:off x="3106119" y="1856868"/>
              <a:ext cx="3264588" cy="1477328"/>
            </a:xfrm>
            <a:prstGeom prst="rect">
              <a:avLst/>
            </a:prstGeom>
            <a:noFill/>
          </p:spPr>
          <p:txBody>
            <a:bodyPr wrap="square">
              <a:spAutoFit/>
            </a:bodyPr>
            <a:lstStyle/>
            <a:p>
              <a:r>
                <a:rPr lang="pt-BR" sz="1800" b="1" dirty="0" err="1">
                  <a:solidFill>
                    <a:srgbClr val="0000FF"/>
                  </a:solidFill>
                  <a:highlight>
                    <a:srgbClr val="FFFFFF"/>
                  </a:highlight>
                </a:rPr>
                <a:t>import</a:t>
              </a:r>
              <a:r>
                <a:rPr lang="pt-BR" sz="1800" b="0" dirty="0">
                  <a:solidFill>
                    <a:srgbClr val="000000"/>
                  </a:solidFill>
                  <a:highlight>
                    <a:srgbClr val="FFFFFF"/>
                  </a:highlight>
                </a:rPr>
                <a:t> </a:t>
              </a:r>
              <a:r>
                <a:rPr lang="pt-BR" sz="1800" b="0" dirty="0" err="1">
                  <a:solidFill>
                    <a:srgbClr val="000000"/>
                  </a:solidFill>
                  <a:highlight>
                    <a:srgbClr val="FFFFFF"/>
                  </a:highlight>
                </a:rPr>
                <a:t>numpy</a:t>
              </a:r>
              <a:r>
                <a:rPr lang="pt-BR" sz="1800" b="0" dirty="0">
                  <a:solidFill>
                    <a:srgbClr val="000000"/>
                  </a:solidFill>
                  <a:highlight>
                    <a:srgbClr val="FFFFFF"/>
                  </a:highlight>
                </a:rPr>
                <a:t> </a:t>
              </a:r>
              <a:r>
                <a:rPr lang="pt-BR" sz="1800" b="1" dirty="0">
                  <a:solidFill>
                    <a:srgbClr val="0000FF"/>
                  </a:solidFill>
                  <a:highlight>
                    <a:srgbClr val="FFFFFF"/>
                  </a:highlight>
                </a:rPr>
                <a:t>as</a:t>
              </a:r>
              <a:r>
                <a:rPr lang="pt-BR" sz="1800" b="0" dirty="0">
                  <a:solidFill>
                    <a:srgbClr val="000000"/>
                  </a:solidFill>
                  <a:highlight>
                    <a:srgbClr val="FFFFFF"/>
                  </a:highlight>
                </a:rPr>
                <a:t> </a:t>
              </a:r>
              <a:r>
                <a:rPr lang="pt-BR" sz="1800" b="0" dirty="0" err="1">
                  <a:solidFill>
                    <a:srgbClr val="000000"/>
                  </a:solidFill>
                  <a:highlight>
                    <a:srgbClr val="FFFFFF"/>
                  </a:highlight>
                </a:rPr>
                <a:t>np</a:t>
              </a:r>
              <a:endParaRPr lang="pt-BR" sz="1800" b="0" dirty="0">
                <a:solidFill>
                  <a:srgbClr val="000000"/>
                </a:solidFill>
                <a:highlight>
                  <a:srgbClr val="FFFFFF"/>
                </a:highlight>
              </a:endParaRPr>
            </a:p>
            <a:p>
              <a:endParaRPr lang="pt-BR" sz="1800" b="0" dirty="0">
                <a:solidFill>
                  <a:srgbClr val="000000"/>
                </a:solidFill>
                <a:highlight>
                  <a:srgbClr val="FFFFFF"/>
                </a:highlight>
              </a:endParaRPr>
            </a:p>
            <a:p>
              <a:r>
                <a:rPr lang="en-US" sz="1800" b="1" dirty="0">
                  <a:solidFill>
                    <a:srgbClr val="0000FF"/>
                  </a:solidFill>
                  <a:highlight>
                    <a:srgbClr val="FFFFFF"/>
                  </a:highlight>
                </a:rPr>
                <a:t>for</a:t>
              </a:r>
              <a:r>
                <a:rPr lang="en-US" sz="1800" b="0" dirty="0">
                  <a:solidFill>
                    <a:srgbClr val="000000"/>
                  </a:solidFill>
                  <a:highlight>
                    <a:srgbClr val="FFFFFF"/>
                  </a:highlight>
                </a:rPr>
                <a:t> </a:t>
              </a:r>
              <a:r>
                <a:rPr lang="en-US" dirty="0">
                  <a:solidFill>
                    <a:srgbClr val="000000"/>
                  </a:solidFill>
                  <a:highlight>
                    <a:srgbClr val="FFFFFF"/>
                  </a:highlight>
                </a:rPr>
                <a:t>x</a:t>
              </a:r>
              <a:r>
                <a:rPr lang="en-US" sz="1800" b="0" dirty="0">
                  <a:solidFill>
                    <a:srgbClr val="000000"/>
                  </a:solidFill>
                  <a:highlight>
                    <a:srgbClr val="FFFFFF"/>
                  </a:highlight>
                </a:rPr>
                <a:t> </a:t>
              </a:r>
              <a:r>
                <a:rPr lang="en-US" sz="1800" b="1" dirty="0">
                  <a:solidFill>
                    <a:srgbClr val="0000FF"/>
                  </a:solidFill>
                  <a:highlight>
                    <a:srgbClr val="FFFFFF"/>
                  </a:highlight>
                </a:rPr>
                <a:t>in</a:t>
              </a:r>
              <a:r>
                <a:rPr lang="en-US" sz="1800" b="0" dirty="0">
                  <a:solidFill>
                    <a:srgbClr val="000000"/>
                  </a:solidFill>
                  <a:highlight>
                    <a:srgbClr val="FFFFFF"/>
                  </a:highlight>
                </a:rPr>
                <a:t> </a:t>
              </a:r>
              <a:r>
                <a:rPr lang="en-US" sz="1800" b="1" dirty="0">
                  <a:solidFill>
                    <a:srgbClr val="880088"/>
                  </a:solidFill>
                  <a:highlight>
                    <a:srgbClr val="FFFFFF"/>
                  </a:highlight>
                </a:rPr>
                <a:t>range</a:t>
              </a:r>
              <a:r>
                <a:rPr lang="en-US" sz="1800" b="1" dirty="0">
                  <a:solidFill>
                    <a:srgbClr val="000080"/>
                  </a:solidFill>
                  <a:highlight>
                    <a:srgbClr val="FFFFFF"/>
                  </a:highlight>
                </a:rPr>
                <a:t>(</a:t>
              </a:r>
              <a:r>
                <a:rPr lang="en-US" sz="1800" b="0" dirty="0">
                  <a:solidFill>
                    <a:srgbClr val="FF0000"/>
                  </a:solidFill>
                  <a:highlight>
                    <a:srgbClr val="FFFFFF"/>
                  </a:highlight>
                </a:rPr>
                <a:t>10</a:t>
              </a:r>
              <a:r>
                <a:rPr lang="en-US" sz="1800" b="1" dirty="0">
                  <a:solidFill>
                    <a:srgbClr val="000080"/>
                  </a:solidFill>
                  <a:highlight>
                    <a:srgbClr val="FFFFFF"/>
                  </a:highlight>
                </a:rPr>
                <a:t>):</a:t>
              </a:r>
              <a:endParaRPr lang="en-US" sz="1800" b="0" dirty="0">
                <a:solidFill>
                  <a:srgbClr val="000000"/>
                </a:solidFill>
                <a:highlight>
                  <a:srgbClr val="FFFFFF"/>
                </a:highlight>
              </a:endParaRPr>
            </a:p>
            <a:p>
              <a:r>
                <a:rPr lang="pt-BR" dirty="0">
                  <a:solidFill>
                    <a:srgbClr val="000000"/>
                  </a:solidFill>
                  <a:highlight>
                    <a:srgbClr val="FFFFFF"/>
                  </a:highlight>
                </a:rPr>
                <a:t>    </a:t>
              </a:r>
              <a:r>
                <a:rPr lang="pt-BR" sz="1800" b="0" dirty="0">
                  <a:solidFill>
                    <a:srgbClr val="000000"/>
                  </a:solidFill>
                  <a:highlight>
                    <a:srgbClr val="FFFFFF"/>
                  </a:highlight>
                </a:rPr>
                <a:t>resultado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np</a:t>
              </a:r>
              <a:r>
                <a:rPr lang="pt-BR" sz="1800" b="1" dirty="0" err="1">
                  <a:solidFill>
                    <a:srgbClr val="000080"/>
                  </a:solidFill>
                  <a:highlight>
                    <a:srgbClr val="FFFFFF"/>
                  </a:highlight>
                </a:rPr>
                <a:t>.</a:t>
              </a:r>
              <a:r>
                <a:rPr lang="pt-BR" sz="1800" b="0" dirty="0" err="1">
                  <a:solidFill>
                    <a:srgbClr val="000000"/>
                  </a:solidFill>
                  <a:highlight>
                    <a:srgbClr val="FFFFFF"/>
                  </a:highlight>
                </a:rPr>
                <a:t>sqrt</a:t>
              </a:r>
              <a:r>
                <a:rPr lang="pt-BR" sz="1800" b="1" dirty="0">
                  <a:solidFill>
                    <a:srgbClr val="000080"/>
                  </a:solidFill>
                  <a:highlight>
                    <a:srgbClr val="FFFFFF"/>
                  </a:highlight>
                </a:rPr>
                <a:t>(</a:t>
              </a:r>
              <a:r>
                <a:rPr lang="pt-BR" dirty="0">
                  <a:solidFill>
                    <a:srgbClr val="000000"/>
                  </a:solidFill>
                  <a:highlight>
                    <a:srgbClr val="FFFFFF"/>
                  </a:highlight>
                </a:rPr>
                <a:t>x</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dirty="0">
                  <a:solidFill>
                    <a:srgbClr val="000000"/>
                  </a:solidFill>
                  <a:highlight>
                    <a:srgbClr val="FFFFFF"/>
                  </a:highlight>
                </a:rPr>
                <a:t>    </a:t>
              </a:r>
              <a:r>
                <a:rPr lang="pt-BR" sz="1800" b="1" dirty="0">
                  <a:solidFill>
                    <a:srgbClr val="880088"/>
                  </a:solidFill>
                  <a:highlight>
                    <a:srgbClr val="FFFFFF"/>
                  </a:highlight>
                </a:rPr>
                <a:t>print</a:t>
              </a:r>
              <a:r>
                <a:rPr lang="pt-BR" sz="1800" b="1" dirty="0">
                  <a:solidFill>
                    <a:srgbClr val="000080"/>
                  </a:solidFill>
                  <a:highlight>
                    <a:srgbClr val="FFFFFF"/>
                  </a:highlight>
                </a:rPr>
                <a:t>(</a:t>
              </a:r>
              <a:r>
                <a:rPr lang="pt-BR" sz="1800" b="0" dirty="0">
                  <a:solidFill>
                    <a:srgbClr val="000000"/>
                  </a:solidFill>
                  <a:highlight>
                    <a:srgbClr val="FFFFFF"/>
                  </a:highlight>
                </a:rPr>
                <a:t>resultado</a:t>
              </a:r>
              <a:r>
                <a:rPr lang="pt-BR" sz="1800" b="1" dirty="0">
                  <a:solidFill>
                    <a:srgbClr val="000080"/>
                  </a:solidFill>
                  <a:highlight>
                    <a:srgbClr val="FFFFFF"/>
                  </a:highlight>
                </a:rPr>
                <a:t>)</a:t>
              </a:r>
              <a:endParaRPr lang="pt-BR" dirty="0"/>
            </a:p>
          </p:txBody>
        </p:sp>
        <p:cxnSp>
          <p:nvCxnSpPr>
            <p:cNvPr id="30" name="Conector reto 29">
              <a:extLst>
                <a:ext uri="{FF2B5EF4-FFF2-40B4-BE49-F238E27FC236}">
                  <a16:creationId xmlns:a16="http://schemas.microsoft.com/office/drawing/2014/main" id="{3BCEA35F-D3EF-25B1-7BBA-3A6020CFBFB4}"/>
                </a:ext>
              </a:extLst>
            </p:cNvPr>
            <p:cNvCxnSpPr>
              <a:cxnSpLocks/>
            </p:cNvCxnSpPr>
            <p:nvPr/>
          </p:nvCxnSpPr>
          <p:spPr>
            <a:xfrm flipV="1">
              <a:off x="2627961" y="1992520"/>
              <a:ext cx="476567" cy="2309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Conector reto 30">
              <a:extLst>
                <a:ext uri="{FF2B5EF4-FFF2-40B4-BE49-F238E27FC236}">
                  <a16:creationId xmlns:a16="http://schemas.microsoft.com/office/drawing/2014/main" id="{0DCB414A-2327-8E0E-98F0-55E35B640767}"/>
                </a:ext>
              </a:extLst>
            </p:cNvPr>
            <p:cNvCxnSpPr>
              <a:cxnSpLocks/>
            </p:cNvCxnSpPr>
            <p:nvPr/>
          </p:nvCxnSpPr>
          <p:spPr>
            <a:xfrm>
              <a:off x="2627961" y="2974421"/>
              <a:ext cx="736662" cy="249825"/>
            </a:xfrm>
            <a:prstGeom prst="line">
              <a:avLst/>
            </a:prstGeom>
          </p:spPr>
          <p:style>
            <a:lnRef idx="1">
              <a:schemeClr val="accent1"/>
            </a:lnRef>
            <a:fillRef idx="0">
              <a:schemeClr val="accent1"/>
            </a:fillRef>
            <a:effectRef idx="0">
              <a:schemeClr val="accent1"/>
            </a:effectRef>
            <a:fontRef idx="minor">
              <a:schemeClr val="tx1"/>
            </a:fontRef>
          </p:style>
        </p:cxnSp>
        <p:pic>
          <p:nvPicPr>
            <p:cNvPr id="32" name="Picture 2" descr="Processador CPU Intel i7-860 2.80Ghz">
              <a:extLst>
                <a:ext uri="{FF2B5EF4-FFF2-40B4-BE49-F238E27FC236}">
                  <a16:creationId xmlns:a16="http://schemas.microsoft.com/office/drawing/2014/main" id="{59C2EFCE-517B-B734-D893-9C79A26543C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76" t="8430" b="8506"/>
            <a:stretch/>
          </p:blipFill>
          <p:spPr bwMode="auto">
            <a:xfrm>
              <a:off x="2020159" y="6056214"/>
              <a:ext cx="747689" cy="628464"/>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4" descr="Utilitário AMD Ryzen Master para o controle do overclock | AMD">
              <a:extLst>
                <a:ext uri="{FF2B5EF4-FFF2-40B4-BE49-F238E27FC236}">
                  <a16:creationId xmlns:a16="http://schemas.microsoft.com/office/drawing/2014/main" id="{E27489B0-FA10-69E0-8164-1D0BE3844A8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786" t="-1" r="16207" b="255"/>
            <a:stretch/>
          </p:blipFill>
          <p:spPr bwMode="auto">
            <a:xfrm>
              <a:off x="302921" y="6033750"/>
              <a:ext cx="747689" cy="530989"/>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8" descr="Arm Cortex-M0+ - Microcontrollers - STMicroelectronics">
              <a:extLst>
                <a:ext uri="{FF2B5EF4-FFF2-40B4-BE49-F238E27FC236}">
                  <a16:creationId xmlns:a16="http://schemas.microsoft.com/office/drawing/2014/main" id="{3649BE3E-9CE4-EC32-301E-4ECBB75E12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1084" y="6010639"/>
              <a:ext cx="672725" cy="674039"/>
            </a:xfrm>
            <a:prstGeom prst="rect">
              <a:avLst/>
            </a:prstGeom>
            <a:noFill/>
            <a:extLst>
              <a:ext uri="{909E8E84-426E-40DD-AFC4-6F175D3DCCD1}">
                <a14:hiddenFill xmlns:a14="http://schemas.microsoft.com/office/drawing/2010/main">
                  <a:solidFill>
                    <a:srgbClr val="FFFFFF"/>
                  </a:solidFill>
                </a14:hiddenFill>
              </a:ext>
            </a:extLst>
          </p:spPr>
        </p:pic>
        <p:sp>
          <p:nvSpPr>
            <p:cNvPr id="35" name="CaixaDeTexto 34">
              <a:extLst>
                <a:ext uri="{FF2B5EF4-FFF2-40B4-BE49-F238E27FC236}">
                  <a16:creationId xmlns:a16="http://schemas.microsoft.com/office/drawing/2014/main" id="{455E3561-A471-B50C-F036-BF0C1EA36208}"/>
                </a:ext>
              </a:extLst>
            </p:cNvPr>
            <p:cNvSpPr txBox="1"/>
            <p:nvPr/>
          </p:nvSpPr>
          <p:spPr>
            <a:xfrm>
              <a:off x="3364623" y="3452725"/>
              <a:ext cx="2004848" cy="1938992"/>
            </a:xfrm>
            <a:prstGeom prst="rect">
              <a:avLst/>
            </a:prstGeom>
            <a:noFill/>
          </p:spPr>
          <p:txBody>
            <a:bodyPr wrap="square">
              <a:spAutoFit/>
            </a:bodyPr>
            <a:lstStyle/>
            <a:p>
              <a:r>
                <a:rPr lang="pt-BR" sz="1200" b="0" i="0" dirty="0">
                  <a:solidFill>
                    <a:srgbClr val="212121"/>
                  </a:solidFill>
                  <a:effectLst/>
                  <a:latin typeface="Courier New" panose="02070309020205020404" pitchFamily="49" charset="0"/>
                </a:rPr>
                <a:t>0.0</a:t>
              </a:r>
            </a:p>
            <a:p>
              <a:r>
                <a:rPr lang="pt-BR" sz="1200" b="0" i="0" dirty="0">
                  <a:solidFill>
                    <a:srgbClr val="212121"/>
                  </a:solidFill>
                  <a:effectLst/>
                  <a:latin typeface="Courier New" panose="02070309020205020404" pitchFamily="49" charset="0"/>
                </a:rPr>
                <a:t>1.0</a:t>
              </a:r>
            </a:p>
            <a:p>
              <a:r>
                <a:rPr lang="pt-BR" sz="1200" b="0" i="0" dirty="0">
                  <a:solidFill>
                    <a:srgbClr val="212121"/>
                  </a:solidFill>
                  <a:effectLst/>
                  <a:latin typeface="Courier New" panose="02070309020205020404" pitchFamily="49" charset="0"/>
                </a:rPr>
                <a:t>1.4142135623730951</a:t>
              </a:r>
            </a:p>
            <a:p>
              <a:r>
                <a:rPr lang="pt-BR" sz="1200" b="0" i="0" dirty="0">
                  <a:solidFill>
                    <a:srgbClr val="212121"/>
                  </a:solidFill>
                  <a:effectLst/>
                  <a:latin typeface="Courier New" panose="02070309020205020404" pitchFamily="49" charset="0"/>
                </a:rPr>
                <a:t>1.7320508075688772 </a:t>
              </a:r>
              <a:endParaRPr lang="pt-BR" sz="1200" dirty="0">
                <a:solidFill>
                  <a:srgbClr val="212121"/>
                </a:solidFill>
                <a:latin typeface="Courier New" panose="02070309020205020404" pitchFamily="49" charset="0"/>
              </a:endParaRPr>
            </a:p>
            <a:p>
              <a:r>
                <a:rPr lang="pt-BR" sz="1200" b="0" i="0" dirty="0">
                  <a:solidFill>
                    <a:srgbClr val="212121"/>
                  </a:solidFill>
                  <a:effectLst/>
                  <a:latin typeface="Courier New" panose="02070309020205020404" pitchFamily="49" charset="0"/>
                </a:rPr>
                <a:t>2.0</a:t>
              </a:r>
            </a:p>
            <a:p>
              <a:r>
                <a:rPr lang="pt-BR" sz="1200" b="0" i="0" dirty="0">
                  <a:solidFill>
                    <a:srgbClr val="212121"/>
                  </a:solidFill>
                  <a:effectLst/>
                  <a:latin typeface="Courier New" panose="02070309020205020404" pitchFamily="49" charset="0"/>
                </a:rPr>
                <a:t>2.23606797749979</a:t>
              </a:r>
            </a:p>
            <a:p>
              <a:r>
                <a:rPr lang="pt-BR" sz="1200" b="0" i="0" dirty="0">
                  <a:solidFill>
                    <a:srgbClr val="212121"/>
                  </a:solidFill>
                  <a:effectLst/>
                  <a:latin typeface="Courier New" panose="02070309020205020404" pitchFamily="49" charset="0"/>
                </a:rPr>
                <a:t>2.449489742783178</a:t>
              </a:r>
            </a:p>
            <a:p>
              <a:r>
                <a:rPr lang="pt-BR" sz="1200" b="0" i="0" dirty="0">
                  <a:solidFill>
                    <a:srgbClr val="212121"/>
                  </a:solidFill>
                  <a:effectLst/>
                  <a:latin typeface="Courier New" panose="02070309020205020404" pitchFamily="49" charset="0"/>
                </a:rPr>
                <a:t>2.6457513110645907</a:t>
              </a:r>
            </a:p>
            <a:p>
              <a:r>
                <a:rPr lang="pt-BR" sz="1200" b="0" i="0" dirty="0">
                  <a:solidFill>
                    <a:srgbClr val="212121"/>
                  </a:solidFill>
                  <a:effectLst/>
                  <a:latin typeface="Courier New" panose="02070309020205020404" pitchFamily="49" charset="0"/>
                </a:rPr>
                <a:t>2.8284271247461903 </a:t>
              </a:r>
              <a:endParaRPr lang="pt-BR" sz="1200" dirty="0">
                <a:solidFill>
                  <a:srgbClr val="212121"/>
                </a:solidFill>
                <a:latin typeface="Courier New" panose="02070309020205020404" pitchFamily="49" charset="0"/>
              </a:endParaRPr>
            </a:p>
            <a:p>
              <a:r>
                <a:rPr lang="pt-BR" sz="1200" b="0" i="0" dirty="0">
                  <a:solidFill>
                    <a:srgbClr val="212121"/>
                  </a:solidFill>
                  <a:effectLst/>
                  <a:latin typeface="Courier New" panose="02070309020205020404" pitchFamily="49" charset="0"/>
                </a:rPr>
                <a:t>3.0</a:t>
              </a:r>
              <a:endParaRPr lang="pt-BR" sz="1200" dirty="0"/>
            </a:p>
          </p:txBody>
        </p:sp>
      </p:grpSp>
    </p:spTree>
    <p:extLst>
      <p:ext uri="{BB962C8B-B14F-4D97-AF65-F5344CB8AC3E}">
        <p14:creationId xmlns:p14="http://schemas.microsoft.com/office/powerpoint/2010/main" val="29302812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CDA54-DBA1-578F-0A10-2058F2C0D0A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2F637FC-3E76-01EC-E77C-0BD935C54CC0}"/>
              </a:ext>
            </a:extLst>
          </p:cNvPr>
          <p:cNvSpPr>
            <a:spLocks noGrp="1"/>
          </p:cNvSpPr>
          <p:nvPr>
            <p:ph type="title"/>
          </p:nvPr>
        </p:nvSpPr>
        <p:spPr/>
        <p:txBody>
          <a:bodyPr/>
          <a:lstStyle/>
          <a:p>
            <a:r>
              <a:rPr lang="pt-BR" dirty="0"/>
              <a:t>Bibliotecas</a:t>
            </a:r>
          </a:p>
        </p:txBody>
      </p:sp>
      <p:sp>
        <p:nvSpPr>
          <p:cNvPr id="3" name="Espaço Reservado para Conteúdo 2">
            <a:extLst>
              <a:ext uri="{FF2B5EF4-FFF2-40B4-BE49-F238E27FC236}">
                <a16:creationId xmlns:a16="http://schemas.microsoft.com/office/drawing/2014/main" id="{AB2191A4-48C7-AC71-27DE-EB7134436969}"/>
              </a:ext>
            </a:extLst>
          </p:cNvPr>
          <p:cNvSpPr>
            <a:spLocks noGrp="1"/>
          </p:cNvSpPr>
          <p:nvPr>
            <p:ph idx="1"/>
          </p:nvPr>
        </p:nvSpPr>
        <p:spPr>
          <a:xfrm>
            <a:off x="5902311" y="1690688"/>
            <a:ext cx="6138791" cy="5167312"/>
          </a:xfrm>
        </p:spPr>
        <p:txBody>
          <a:bodyPr>
            <a:normAutofit/>
          </a:bodyPr>
          <a:lstStyle/>
          <a:p>
            <a:r>
              <a:rPr lang="pt-BR" dirty="0"/>
              <a:t>Uma vez escrito o código, </a:t>
            </a:r>
            <a:r>
              <a:rPr lang="pt-BR" b="1" i="1" dirty="0">
                <a:solidFill>
                  <a:srgbClr val="00B050"/>
                </a:solidFill>
              </a:rPr>
              <a:t>devido à </a:t>
            </a:r>
            <a:r>
              <a:rPr lang="pt-BR" b="1" i="1" dirty="0">
                <a:solidFill>
                  <a:srgbClr val="7030A0"/>
                </a:solidFill>
              </a:rPr>
              <a:t>portabilidade do Python</a:t>
            </a:r>
            <a:r>
              <a:rPr lang="pt-BR" dirty="0"/>
              <a:t>, podemos </a:t>
            </a:r>
            <a:r>
              <a:rPr lang="pt-BR" b="1" i="1" dirty="0">
                <a:solidFill>
                  <a:srgbClr val="00B050"/>
                </a:solidFill>
              </a:rPr>
              <a:t>executá-lo</a:t>
            </a:r>
            <a:r>
              <a:rPr lang="pt-BR" dirty="0"/>
              <a:t> </a:t>
            </a:r>
            <a:r>
              <a:rPr lang="pt-BR" b="1" i="1" dirty="0">
                <a:solidFill>
                  <a:schemeClr val="accent2"/>
                </a:solidFill>
              </a:rPr>
              <a:t>virtualmente</a:t>
            </a:r>
            <a:r>
              <a:rPr lang="pt-BR" dirty="0"/>
              <a:t> </a:t>
            </a:r>
            <a:r>
              <a:rPr lang="pt-BR" b="1" i="1" dirty="0">
                <a:solidFill>
                  <a:srgbClr val="00B050"/>
                </a:solidFill>
              </a:rPr>
              <a:t>em qualquer sistema, com qualquer tipo de CPU</a:t>
            </a:r>
            <a:r>
              <a:rPr lang="pt-BR" dirty="0"/>
              <a:t>.</a:t>
            </a:r>
          </a:p>
          <a:p>
            <a:r>
              <a:rPr lang="pt-BR" dirty="0"/>
              <a:t>Nós não precisamos nós preocupar com a portabilidade, </a:t>
            </a:r>
            <a:r>
              <a:rPr lang="pt-BR" b="1" i="1" dirty="0">
                <a:solidFill>
                  <a:srgbClr val="00B050"/>
                </a:solidFill>
              </a:rPr>
              <a:t>apenas em escrever e executar o código</a:t>
            </a:r>
            <a:r>
              <a:rPr lang="pt-BR" dirty="0"/>
              <a:t>.</a:t>
            </a:r>
          </a:p>
          <a:p>
            <a:endParaRPr lang="pt-BR" dirty="0"/>
          </a:p>
        </p:txBody>
      </p:sp>
      <p:grpSp>
        <p:nvGrpSpPr>
          <p:cNvPr id="27" name="Agrupar 26">
            <a:extLst>
              <a:ext uri="{FF2B5EF4-FFF2-40B4-BE49-F238E27FC236}">
                <a16:creationId xmlns:a16="http://schemas.microsoft.com/office/drawing/2014/main" id="{15165EDC-DF3A-7B33-2318-181833DBAF07}"/>
              </a:ext>
            </a:extLst>
          </p:cNvPr>
          <p:cNvGrpSpPr/>
          <p:nvPr/>
        </p:nvGrpSpPr>
        <p:grpSpPr>
          <a:xfrm>
            <a:off x="218841" y="1690688"/>
            <a:ext cx="6067786" cy="4993990"/>
            <a:chOff x="302921" y="1690688"/>
            <a:chExt cx="6067786" cy="4993990"/>
          </a:xfrm>
        </p:grpSpPr>
        <p:grpSp>
          <p:nvGrpSpPr>
            <p:cNvPr id="28" name="Agrupar 27">
              <a:extLst>
                <a:ext uri="{FF2B5EF4-FFF2-40B4-BE49-F238E27FC236}">
                  <a16:creationId xmlns:a16="http://schemas.microsoft.com/office/drawing/2014/main" id="{5F9B8B63-D9EE-838E-F9E3-4A02810DEB5E}"/>
                </a:ext>
              </a:extLst>
            </p:cNvPr>
            <p:cNvGrpSpPr/>
            <p:nvPr/>
          </p:nvGrpSpPr>
          <p:grpSpPr>
            <a:xfrm>
              <a:off x="472588" y="1690688"/>
              <a:ext cx="2275115" cy="4201104"/>
              <a:chOff x="1164770" y="2145267"/>
              <a:chExt cx="2275115" cy="4201104"/>
            </a:xfrm>
          </p:grpSpPr>
          <p:sp>
            <p:nvSpPr>
              <p:cNvPr id="36" name="Retângulo 35">
                <a:extLst>
                  <a:ext uri="{FF2B5EF4-FFF2-40B4-BE49-F238E27FC236}">
                    <a16:creationId xmlns:a16="http://schemas.microsoft.com/office/drawing/2014/main" id="{A60333AA-3754-613D-0666-5873081B6E5D}"/>
                  </a:ext>
                </a:extLst>
              </p:cNvPr>
              <p:cNvSpPr/>
              <p:nvPr/>
            </p:nvSpPr>
            <p:spPr>
              <a:xfrm>
                <a:off x="1295401" y="2667000"/>
                <a:ext cx="2024742" cy="762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Aplicações</a:t>
                </a:r>
              </a:p>
            </p:txBody>
          </p:sp>
          <p:sp>
            <p:nvSpPr>
              <p:cNvPr id="37" name="Retângulo 36">
                <a:extLst>
                  <a:ext uri="{FF2B5EF4-FFF2-40B4-BE49-F238E27FC236}">
                    <a16:creationId xmlns:a16="http://schemas.microsoft.com/office/drawing/2014/main" id="{22A200A6-5436-E175-75D3-725E94FB7458}"/>
                  </a:ext>
                </a:extLst>
              </p:cNvPr>
              <p:cNvSpPr/>
              <p:nvPr/>
            </p:nvSpPr>
            <p:spPr>
              <a:xfrm>
                <a:off x="1295401" y="3581400"/>
                <a:ext cx="2024742" cy="7620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pt-BR" dirty="0"/>
                  <a:t>Bibliotecas</a:t>
                </a:r>
              </a:p>
            </p:txBody>
          </p:sp>
          <p:sp>
            <p:nvSpPr>
              <p:cNvPr id="38" name="Retângulo 37">
                <a:extLst>
                  <a:ext uri="{FF2B5EF4-FFF2-40B4-BE49-F238E27FC236}">
                    <a16:creationId xmlns:a16="http://schemas.microsoft.com/office/drawing/2014/main" id="{86AF0296-84E0-FD30-46DB-C7E9D048AC2E}"/>
                  </a:ext>
                </a:extLst>
              </p:cNvPr>
              <p:cNvSpPr/>
              <p:nvPr/>
            </p:nvSpPr>
            <p:spPr>
              <a:xfrm>
                <a:off x="1295401" y="4495800"/>
                <a:ext cx="2024742" cy="7620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pt-BR" dirty="0"/>
                  <a:t>Sistema Operacional</a:t>
                </a:r>
              </a:p>
            </p:txBody>
          </p:sp>
          <p:sp>
            <p:nvSpPr>
              <p:cNvPr id="39" name="Retângulo 38">
                <a:extLst>
                  <a:ext uri="{FF2B5EF4-FFF2-40B4-BE49-F238E27FC236}">
                    <a16:creationId xmlns:a16="http://schemas.microsoft.com/office/drawing/2014/main" id="{AD663076-9499-2FDE-FDA1-6B8A8BA02DC8}"/>
                  </a:ext>
                </a:extLst>
              </p:cNvPr>
              <p:cNvSpPr/>
              <p:nvPr/>
            </p:nvSpPr>
            <p:spPr>
              <a:xfrm>
                <a:off x="1164770" y="5584371"/>
                <a:ext cx="2275115" cy="762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b="1" dirty="0"/>
                  <a:t>Hardware</a:t>
                </a:r>
              </a:p>
            </p:txBody>
          </p:sp>
          <p:sp>
            <p:nvSpPr>
              <p:cNvPr id="40" name="CaixaDeTexto 39">
                <a:extLst>
                  <a:ext uri="{FF2B5EF4-FFF2-40B4-BE49-F238E27FC236}">
                    <a16:creationId xmlns:a16="http://schemas.microsoft.com/office/drawing/2014/main" id="{3EE7BB05-722A-0F86-0410-C2CA05376DBE}"/>
                  </a:ext>
                </a:extLst>
              </p:cNvPr>
              <p:cNvSpPr txBox="1"/>
              <p:nvPr/>
            </p:nvSpPr>
            <p:spPr>
              <a:xfrm>
                <a:off x="1219199" y="2145268"/>
                <a:ext cx="1295400" cy="369332"/>
              </a:xfrm>
              <a:prstGeom prst="rect">
                <a:avLst/>
              </a:prstGeom>
              <a:noFill/>
            </p:spPr>
            <p:txBody>
              <a:bodyPr wrap="square">
                <a:spAutoFit/>
              </a:bodyPr>
              <a:lstStyle/>
              <a:p>
                <a:r>
                  <a:rPr lang="pt-BR" b="1" dirty="0">
                    <a:solidFill>
                      <a:srgbClr val="0070C0"/>
                    </a:solidFill>
                  </a:rPr>
                  <a:t>Software</a:t>
                </a:r>
              </a:p>
            </p:txBody>
          </p:sp>
          <p:sp>
            <p:nvSpPr>
              <p:cNvPr id="41" name="Retângulo 40">
                <a:extLst>
                  <a:ext uri="{FF2B5EF4-FFF2-40B4-BE49-F238E27FC236}">
                    <a16:creationId xmlns:a16="http://schemas.microsoft.com/office/drawing/2014/main" id="{09914F12-84F0-012C-77AB-6ACC4D446CC2}"/>
                  </a:ext>
                </a:extLst>
              </p:cNvPr>
              <p:cNvSpPr/>
              <p:nvPr/>
            </p:nvSpPr>
            <p:spPr>
              <a:xfrm>
                <a:off x="1164770" y="2145267"/>
                <a:ext cx="2275115" cy="3228337"/>
              </a:xfrm>
              <a:prstGeom prst="rect">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29" name="CaixaDeTexto 28">
              <a:extLst>
                <a:ext uri="{FF2B5EF4-FFF2-40B4-BE49-F238E27FC236}">
                  <a16:creationId xmlns:a16="http://schemas.microsoft.com/office/drawing/2014/main" id="{E1B4F66B-AEE1-03D6-76BB-000EA9550424}"/>
                </a:ext>
              </a:extLst>
            </p:cNvPr>
            <p:cNvSpPr txBox="1"/>
            <p:nvPr/>
          </p:nvSpPr>
          <p:spPr>
            <a:xfrm>
              <a:off x="3106119" y="1856868"/>
              <a:ext cx="3264588" cy="1477328"/>
            </a:xfrm>
            <a:prstGeom prst="rect">
              <a:avLst/>
            </a:prstGeom>
            <a:noFill/>
          </p:spPr>
          <p:txBody>
            <a:bodyPr wrap="square">
              <a:spAutoFit/>
            </a:bodyPr>
            <a:lstStyle/>
            <a:p>
              <a:r>
                <a:rPr lang="pt-BR" sz="1800" b="1" dirty="0" err="1">
                  <a:solidFill>
                    <a:srgbClr val="0000FF"/>
                  </a:solidFill>
                  <a:highlight>
                    <a:srgbClr val="FFFFFF"/>
                  </a:highlight>
                </a:rPr>
                <a:t>import</a:t>
              </a:r>
              <a:r>
                <a:rPr lang="pt-BR" sz="1800" b="0" dirty="0">
                  <a:solidFill>
                    <a:srgbClr val="000000"/>
                  </a:solidFill>
                  <a:highlight>
                    <a:srgbClr val="FFFFFF"/>
                  </a:highlight>
                </a:rPr>
                <a:t> </a:t>
              </a:r>
              <a:r>
                <a:rPr lang="pt-BR" sz="1800" b="0" dirty="0" err="1">
                  <a:solidFill>
                    <a:srgbClr val="000000"/>
                  </a:solidFill>
                  <a:highlight>
                    <a:srgbClr val="FFFFFF"/>
                  </a:highlight>
                </a:rPr>
                <a:t>numpy</a:t>
              </a:r>
              <a:r>
                <a:rPr lang="pt-BR" sz="1800" b="0" dirty="0">
                  <a:solidFill>
                    <a:srgbClr val="000000"/>
                  </a:solidFill>
                  <a:highlight>
                    <a:srgbClr val="FFFFFF"/>
                  </a:highlight>
                </a:rPr>
                <a:t> </a:t>
              </a:r>
              <a:r>
                <a:rPr lang="pt-BR" sz="1800" b="1" dirty="0">
                  <a:solidFill>
                    <a:srgbClr val="0000FF"/>
                  </a:solidFill>
                  <a:highlight>
                    <a:srgbClr val="FFFFFF"/>
                  </a:highlight>
                </a:rPr>
                <a:t>as</a:t>
              </a:r>
              <a:r>
                <a:rPr lang="pt-BR" sz="1800" b="0" dirty="0">
                  <a:solidFill>
                    <a:srgbClr val="000000"/>
                  </a:solidFill>
                  <a:highlight>
                    <a:srgbClr val="FFFFFF"/>
                  </a:highlight>
                </a:rPr>
                <a:t> </a:t>
              </a:r>
              <a:r>
                <a:rPr lang="pt-BR" sz="1800" b="0" dirty="0" err="1">
                  <a:solidFill>
                    <a:srgbClr val="000000"/>
                  </a:solidFill>
                  <a:highlight>
                    <a:srgbClr val="FFFFFF"/>
                  </a:highlight>
                </a:rPr>
                <a:t>np</a:t>
              </a:r>
              <a:endParaRPr lang="pt-BR" sz="1800" b="0" dirty="0">
                <a:solidFill>
                  <a:srgbClr val="000000"/>
                </a:solidFill>
                <a:highlight>
                  <a:srgbClr val="FFFFFF"/>
                </a:highlight>
              </a:endParaRPr>
            </a:p>
            <a:p>
              <a:endParaRPr lang="pt-BR" sz="1800" b="0" dirty="0">
                <a:solidFill>
                  <a:srgbClr val="000000"/>
                </a:solidFill>
                <a:highlight>
                  <a:srgbClr val="FFFFFF"/>
                </a:highlight>
              </a:endParaRPr>
            </a:p>
            <a:p>
              <a:r>
                <a:rPr lang="en-US" sz="1800" b="1" dirty="0">
                  <a:solidFill>
                    <a:srgbClr val="0000FF"/>
                  </a:solidFill>
                  <a:highlight>
                    <a:srgbClr val="FFFFFF"/>
                  </a:highlight>
                </a:rPr>
                <a:t>for</a:t>
              </a:r>
              <a:r>
                <a:rPr lang="en-US" sz="1800" b="0" dirty="0">
                  <a:solidFill>
                    <a:srgbClr val="000000"/>
                  </a:solidFill>
                  <a:highlight>
                    <a:srgbClr val="FFFFFF"/>
                  </a:highlight>
                </a:rPr>
                <a:t> </a:t>
              </a:r>
              <a:r>
                <a:rPr lang="en-US" dirty="0">
                  <a:solidFill>
                    <a:srgbClr val="000000"/>
                  </a:solidFill>
                  <a:highlight>
                    <a:srgbClr val="FFFFFF"/>
                  </a:highlight>
                </a:rPr>
                <a:t>x</a:t>
              </a:r>
              <a:r>
                <a:rPr lang="en-US" sz="1800" b="0" dirty="0">
                  <a:solidFill>
                    <a:srgbClr val="000000"/>
                  </a:solidFill>
                  <a:highlight>
                    <a:srgbClr val="FFFFFF"/>
                  </a:highlight>
                </a:rPr>
                <a:t> </a:t>
              </a:r>
              <a:r>
                <a:rPr lang="en-US" sz="1800" b="1" dirty="0">
                  <a:solidFill>
                    <a:srgbClr val="0000FF"/>
                  </a:solidFill>
                  <a:highlight>
                    <a:srgbClr val="FFFFFF"/>
                  </a:highlight>
                </a:rPr>
                <a:t>in</a:t>
              </a:r>
              <a:r>
                <a:rPr lang="en-US" sz="1800" b="0" dirty="0">
                  <a:solidFill>
                    <a:srgbClr val="000000"/>
                  </a:solidFill>
                  <a:highlight>
                    <a:srgbClr val="FFFFFF"/>
                  </a:highlight>
                </a:rPr>
                <a:t> </a:t>
              </a:r>
              <a:r>
                <a:rPr lang="en-US" sz="1800" b="1" dirty="0">
                  <a:solidFill>
                    <a:srgbClr val="880088"/>
                  </a:solidFill>
                  <a:highlight>
                    <a:srgbClr val="FFFFFF"/>
                  </a:highlight>
                </a:rPr>
                <a:t>range</a:t>
              </a:r>
              <a:r>
                <a:rPr lang="en-US" sz="1800" b="1" dirty="0">
                  <a:solidFill>
                    <a:srgbClr val="000080"/>
                  </a:solidFill>
                  <a:highlight>
                    <a:srgbClr val="FFFFFF"/>
                  </a:highlight>
                </a:rPr>
                <a:t>(</a:t>
              </a:r>
              <a:r>
                <a:rPr lang="en-US" sz="1800" b="0" dirty="0">
                  <a:solidFill>
                    <a:srgbClr val="FF0000"/>
                  </a:solidFill>
                  <a:highlight>
                    <a:srgbClr val="FFFFFF"/>
                  </a:highlight>
                </a:rPr>
                <a:t>10</a:t>
              </a:r>
              <a:r>
                <a:rPr lang="en-US" sz="1800" b="1" dirty="0">
                  <a:solidFill>
                    <a:srgbClr val="000080"/>
                  </a:solidFill>
                  <a:highlight>
                    <a:srgbClr val="FFFFFF"/>
                  </a:highlight>
                </a:rPr>
                <a:t>):</a:t>
              </a:r>
              <a:endParaRPr lang="en-US" sz="1800" b="0" dirty="0">
                <a:solidFill>
                  <a:srgbClr val="000000"/>
                </a:solidFill>
                <a:highlight>
                  <a:srgbClr val="FFFFFF"/>
                </a:highlight>
              </a:endParaRPr>
            </a:p>
            <a:p>
              <a:r>
                <a:rPr lang="pt-BR" dirty="0">
                  <a:solidFill>
                    <a:srgbClr val="000000"/>
                  </a:solidFill>
                  <a:highlight>
                    <a:srgbClr val="FFFFFF"/>
                  </a:highlight>
                </a:rPr>
                <a:t>    </a:t>
              </a:r>
              <a:r>
                <a:rPr lang="pt-BR" sz="1800" b="0" dirty="0">
                  <a:solidFill>
                    <a:srgbClr val="000000"/>
                  </a:solidFill>
                  <a:highlight>
                    <a:srgbClr val="FFFFFF"/>
                  </a:highlight>
                </a:rPr>
                <a:t>resultado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np</a:t>
              </a:r>
              <a:r>
                <a:rPr lang="pt-BR" sz="1800" b="1" dirty="0" err="1">
                  <a:solidFill>
                    <a:srgbClr val="000080"/>
                  </a:solidFill>
                  <a:highlight>
                    <a:srgbClr val="FFFFFF"/>
                  </a:highlight>
                </a:rPr>
                <a:t>.</a:t>
              </a:r>
              <a:r>
                <a:rPr lang="pt-BR" sz="1800" b="0" dirty="0" err="1">
                  <a:solidFill>
                    <a:srgbClr val="000000"/>
                  </a:solidFill>
                  <a:highlight>
                    <a:srgbClr val="FFFFFF"/>
                  </a:highlight>
                </a:rPr>
                <a:t>sqrt</a:t>
              </a:r>
              <a:r>
                <a:rPr lang="pt-BR" sz="1800" b="1" dirty="0">
                  <a:solidFill>
                    <a:srgbClr val="000080"/>
                  </a:solidFill>
                  <a:highlight>
                    <a:srgbClr val="FFFFFF"/>
                  </a:highlight>
                </a:rPr>
                <a:t>(</a:t>
              </a:r>
              <a:r>
                <a:rPr lang="pt-BR" dirty="0">
                  <a:solidFill>
                    <a:srgbClr val="000000"/>
                  </a:solidFill>
                  <a:highlight>
                    <a:srgbClr val="FFFFFF"/>
                  </a:highlight>
                </a:rPr>
                <a:t>x</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dirty="0">
                  <a:solidFill>
                    <a:srgbClr val="000000"/>
                  </a:solidFill>
                  <a:highlight>
                    <a:srgbClr val="FFFFFF"/>
                  </a:highlight>
                </a:rPr>
                <a:t>    </a:t>
              </a:r>
              <a:r>
                <a:rPr lang="pt-BR" sz="1800" b="1" dirty="0">
                  <a:solidFill>
                    <a:srgbClr val="880088"/>
                  </a:solidFill>
                  <a:highlight>
                    <a:srgbClr val="FFFFFF"/>
                  </a:highlight>
                </a:rPr>
                <a:t>print</a:t>
              </a:r>
              <a:r>
                <a:rPr lang="pt-BR" sz="1800" b="1" dirty="0">
                  <a:solidFill>
                    <a:srgbClr val="000080"/>
                  </a:solidFill>
                  <a:highlight>
                    <a:srgbClr val="FFFFFF"/>
                  </a:highlight>
                </a:rPr>
                <a:t>(</a:t>
              </a:r>
              <a:r>
                <a:rPr lang="pt-BR" sz="1800" b="0" dirty="0">
                  <a:solidFill>
                    <a:srgbClr val="000000"/>
                  </a:solidFill>
                  <a:highlight>
                    <a:srgbClr val="FFFFFF"/>
                  </a:highlight>
                </a:rPr>
                <a:t>resultado</a:t>
              </a:r>
              <a:r>
                <a:rPr lang="pt-BR" sz="1800" b="1" dirty="0">
                  <a:solidFill>
                    <a:srgbClr val="000080"/>
                  </a:solidFill>
                  <a:highlight>
                    <a:srgbClr val="FFFFFF"/>
                  </a:highlight>
                </a:rPr>
                <a:t>)</a:t>
              </a:r>
              <a:endParaRPr lang="pt-BR" dirty="0"/>
            </a:p>
          </p:txBody>
        </p:sp>
        <p:cxnSp>
          <p:nvCxnSpPr>
            <p:cNvPr id="30" name="Conector reto 29">
              <a:extLst>
                <a:ext uri="{FF2B5EF4-FFF2-40B4-BE49-F238E27FC236}">
                  <a16:creationId xmlns:a16="http://schemas.microsoft.com/office/drawing/2014/main" id="{9BB10872-0F5C-DCE5-CDA4-36A96006C161}"/>
                </a:ext>
              </a:extLst>
            </p:cNvPr>
            <p:cNvCxnSpPr>
              <a:cxnSpLocks/>
            </p:cNvCxnSpPr>
            <p:nvPr/>
          </p:nvCxnSpPr>
          <p:spPr>
            <a:xfrm flipV="1">
              <a:off x="2627961" y="1992520"/>
              <a:ext cx="476567" cy="2309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Conector reto 30">
              <a:extLst>
                <a:ext uri="{FF2B5EF4-FFF2-40B4-BE49-F238E27FC236}">
                  <a16:creationId xmlns:a16="http://schemas.microsoft.com/office/drawing/2014/main" id="{EDCFE04B-FA3A-4CB1-E325-52D979949656}"/>
                </a:ext>
              </a:extLst>
            </p:cNvPr>
            <p:cNvCxnSpPr>
              <a:cxnSpLocks/>
            </p:cNvCxnSpPr>
            <p:nvPr/>
          </p:nvCxnSpPr>
          <p:spPr>
            <a:xfrm>
              <a:off x="2627961" y="2974421"/>
              <a:ext cx="736662" cy="249825"/>
            </a:xfrm>
            <a:prstGeom prst="line">
              <a:avLst/>
            </a:prstGeom>
          </p:spPr>
          <p:style>
            <a:lnRef idx="1">
              <a:schemeClr val="accent1"/>
            </a:lnRef>
            <a:fillRef idx="0">
              <a:schemeClr val="accent1"/>
            </a:fillRef>
            <a:effectRef idx="0">
              <a:schemeClr val="accent1"/>
            </a:effectRef>
            <a:fontRef idx="minor">
              <a:schemeClr val="tx1"/>
            </a:fontRef>
          </p:style>
        </p:cxnSp>
        <p:pic>
          <p:nvPicPr>
            <p:cNvPr id="32" name="Picture 2" descr="Processador CPU Intel i7-860 2.80Ghz">
              <a:extLst>
                <a:ext uri="{FF2B5EF4-FFF2-40B4-BE49-F238E27FC236}">
                  <a16:creationId xmlns:a16="http://schemas.microsoft.com/office/drawing/2014/main" id="{66179E9A-89BD-68D9-A7AD-7601A0B9C3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76" t="8430" b="8506"/>
            <a:stretch/>
          </p:blipFill>
          <p:spPr bwMode="auto">
            <a:xfrm>
              <a:off x="2020159" y="6056214"/>
              <a:ext cx="747689" cy="628464"/>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4" descr="Utilitário AMD Ryzen Master para o controle do overclock | AMD">
              <a:extLst>
                <a:ext uri="{FF2B5EF4-FFF2-40B4-BE49-F238E27FC236}">
                  <a16:creationId xmlns:a16="http://schemas.microsoft.com/office/drawing/2014/main" id="{CBEEB41D-99AC-7B9B-153E-A97E1EB7FAC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786" t="-1" r="16207" b="255"/>
            <a:stretch/>
          </p:blipFill>
          <p:spPr bwMode="auto">
            <a:xfrm>
              <a:off x="302921" y="6033750"/>
              <a:ext cx="747689" cy="530989"/>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8" descr="Arm Cortex-M0+ - Microcontrollers - STMicroelectronics">
              <a:extLst>
                <a:ext uri="{FF2B5EF4-FFF2-40B4-BE49-F238E27FC236}">
                  <a16:creationId xmlns:a16="http://schemas.microsoft.com/office/drawing/2014/main" id="{F185C4C1-449E-F8C2-D344-BEF9C24F23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1084" y="6010639"/>
              <a:ext cx="672725" cy="674039"/>
            </a:xfrm>
            <a:prstGeom prst="rect">
              <a:avLst/>
            </a:prstGeom>
            <a:noFill/>
            <a:extLst>
              <a:ext uri="{909E8E84-426E-40DD-AFC4-6F175D3DCCD1}">
                <a14:hiddenFill xmlns:a14="http://schemas.microsoft.com/office/drawing/2010/main">
                  <a:solidFill>
                    <a:srgbClr val="FFFFFF"/>
                  </a:solidFill>
                </a14:hiddenFill>
              </a:ext>
            </a:extLst>
          </p:spPr>
        </p:pic>
        <p:sp>
          <p:nvSpPr>
            <p:cNvPr id="35" name="CaixaDeTexto 34">
              <a:extLst>
                <a:ext uri="{FF2B5EF4-FFF2-40B4-BE49-F238E27FC236}">
                  <a16:creationId xmlns:a16="http://schemas.microsoft.com/office/drawing/2014/main" id="{09868722-3D3F-3965-8BA5-E3CF9CD215F1}"/>
                </a:ext>
              </a:extLst>
            </p:cNvPr>
            <p:cNvSpPr txBox="1"/>
            <p:nvPr/>
          </p:nvSpPr>
          <p:spPr>
            <a:xfrm>
              <a:off x="3364623" y="3452725"/>
              <a:ext cx="2004848" cy="1938992"/>
            </a:xfrm>
            <a:prstGeom prst="rect">
              <a:avLst/>
            </a:prstGeom>
            <a:noFill/>
          </p:spPr>
          <p:txBody>
            <a:bodyPr wrap="square">
              <a:spAutoFit/>
            </a:bodyPr>
            <a:lstStyle/>
            <a:p>
              <a:r>
                <a:rPr lang="pt-BR" sz="1200" b="0" i="0" dirty="0">
                  <a:solidFill>
                    <a:srgbClr val="212121"/>
                  </a:solidFill>
                  <a:effectLst/>
                  <a:latin typeface="Courier New" panose="02070309020205020404" pitchFamily="49" charset="0"/>
                </a:rPr>
                <a:t>0.0</a:t>
              </a:r>
            </a:p>
            <a:p>
              <a:r>
                <a:rPr lang="pt-BR" sz="1200" b="0" i="0" dirty="0">
                  <a:solidFill>
                    <a:srgbClr val="212121"/>
                  </a:solidFill>
                  <a:effectLst/>
                  <a:latin typeface="Courier New" panose="02070309020205020404" pitchFamily="49" charset="0"/>
                </a:rPr>
                <a:t>1.0</a:t>
              </a:r>
            </a:p>
            <a:p>
              <a:r>
                <a:rPr lang="pt-BR" sz="1200" b="0" i="0" dirty="0">
                  <a:solidFill>
                    <a:srgbClr val="212121"/>
                  </a:solidFill>
                  <a:effectLst/>
                  <a:latin typeface="Courier New" panose="02070309020205020404" pitchFamily="49" charset="0"/>
                </a:rPr>
                <a:t>1.4142135623730951</a:t>
              </a:r>
            </a:p>
            <a:p>
              <a:r>
                <a:rPr lang="pt-BR" sz="1200" b="0" i="0" dirty="0">
                  <a:solidFill>
                    <a:srgbClr val="212121"/>
                  </a:solidFill>
                  <a:effectLst/>
                  <a:latin typeface="Courier New" panose="02070309020205020404" pitchFamily="49" charset="0"/>
                </a:rPr>
                <a:t>1.7320508075688772 </a:t>
              </a:r>
              <a:endParaRPr lang="pt-BR" sz="1200" dirty="0">
                <a:solidFill>
                  <a:srgbClr val="212121"/>
                </a:solidFill>
                <a:latin typeface="Courier New" panose="02070309020205020404" pitchFamily="49" charset="0"/>
              </a:endParaRPr>
            </a:p>
            <a:p>
              <a:r>
                <a:rPr lang="pt-BR" sz="1200" b="0" i="0" dirty="0">
                  <a:solidFill>
                    <a:srgbClr val="212121"/>
                  </a:solidFill>
                  <a:effectLst/>
                  <a:latin typeface="Courier New" panose="02070309020205020404" pitchFamily="49" charset="0"/>
                </a:rPr>
                <a:t>2.0</a:t>
              </a:r>
            </a:p>
            <a:p>
              <a:r>
                <a:rPr lang="pt-BR" sz="1200" b="0" i="0" dirty="0">
                  <a:solidFill>
                    <a:srgbClr val="212121"/>
                  </a:solidFill>
                  <a:effectLst/>
                  <a:latin typeface="Courier New" panose="02070309020205020404" pitchFamily="49" charset="0"/>
                </a:rPr>
                <a:t>2.23606797749979</a:t>
              </a:r>
            </a:p>
            <a:p>
              <a:r>
                <a:rPr lang="pt-BR" sz="1200" b="0" i="0" dirty="0">
                  <a:solidFill>
                    <a:srgbClr val="212121"/>
                  </a:solidFill>
                  <a:effectLst/>
                  <a:latin typeface="Courier New" panose="02070309020205020404" pitchFamily="49" charset="0"/>
                </a:rPr>
                <a:t>2.449489742783178</a:t>
              </a:r>
            </a:p>
            <a:p>
              <a:r>
                <a:rPr lang="pt-BR" sz="1200" b="0" i="0" dirty="0">
                  <a:solidFill>
                    <a:srgbClr val="212121"/>
                  </a:solidFill>
                  <a:effectLst/>
                  <a:latin typeface="Courier New" panose="02070309020205020404" pitchFamily="49" charset="0"/>
                </a:rPr>
                <a:t>2.6457513110645907</a:t>
              </a:r>
            </a:p>
            <a:p>
              <a:r>
                <a:rPr lang="pt-BR" sz="1200" b="0" i="0" dirty="0">
                  <a:solidFill>
                    <a:srgbClr val="212121"/>
                  </a:solidFill>
                  <a:effectLst/>
                  <a:latin typeface="Courier New" panose="02070309020205020404" pitchFamily="49" charset="0"/>
                </a:rPr>
                <a:t>2.8284271247461903 </a:t>
              </a:r>
              <a:endParaRPr lang="pt-BR" sz="1200" dirty="0">
                <a:solidFill>
                  <a:srgbClr val="212121"/>
                </a:solidFill>
                <a:latin typeface="Courier New" panose="02070309020205020404" pitchFamily="49" charset="0"/>
              </a:endParaRPr>
            </a:p>
            <a:p>
              <a:r>
                <a:rPr lang="pt-BR" sz="1200" b="0" i="0" dirty="0">
                  <a:solidFill>
                    <a:srgbClr val="212121"/>
                  </a:solidFill>
                  <a:effectLst/>
                  <a:latin typeface="Courier New" panose="02070309020205020404" pitchFamily="49" charset="0"/>
                </a:rPr>
                <a:t>3.0</a:t>
              </a:r>
              <a:endParaRPr lang="pt-BR" sz="1200" dirty="0"/>
            </a:p>
          </p:txBody>
        </p:sp>
      </p:grpSp>
    </p:spTree>
    <p:extLst>
      <p:ext uri="{BB962C8B-B14F-4D97-AF65-F5344CB8AC3E}">
        <p14:creationId xmlns:p14="http://schemas.microsoft.com/office/powerpoint/2010/main" val="3148602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629C08-BB5C-BC0D-8007-0D790339385A}"/>
              </a:ext>
            </a:extLst>
          </p:cNvPr>
          <p:cNvSpPr>
            <a:spLocks noGrp="1"/>
          </p:cNvSpPr>
          <p:nvPr>
            <p:ph type="title"/>
          </p:nvPr>
        </p:nvSpPr>
        <p:spPr/>
        <p:txBody>
          <a:bodyPr/>
          <a:lstStyle/>
          <a:p>
            <a:r>
              <a:rPr lang="pt-BR" dirty="0"/>
              <a:t>Bibliotecas</a:t>
            </a:r>
          </a:p>
        </p:txBody>
      </p:sp>
      <p:sp>
        <p:nvSpPr>
          <p:cNvPr id="3" name="Espaço Reservado para Conteúdo 2">
            <a:extLst>
              <a:ext uri="{FF2B5EF4-FFF2-40B4-BE49-F238E27FC236}">
                <a16:creationId xmlns:a16="http://schemas.microsoft.com/office/drawing/2014/main" id="{349B569E-FA6C-8795-B843-0B4F2F9F0047}"/>
              </a:ext>
            </a:extLst>
          </p:cNvPr>
          <p:cNvSpPr>
            <a:spLocks noGrp="1"/>
          </p:cNvSpPr>
          <p:nvPr>
            <p:ph idx="1"/>
          </p:nvPr>
        </p:nvSpPr>
        <p:spPr>
          <a:xfrm>
            <a:off x="6286627" y="1690688"/>
            <a:ext cx="5754475" cy="5167312"/>
          </a:xfrm>
        </p:spPr>
        <p:txBody>
          <a:bodyPr>
            <a:normAutofit/>
          </a:bodyPr>
          <a:lstStyle/>
          <a:p>
            <a:r>
              <a:rPr lang="pt-BR" dirty="0"/>
              <a:t>A </a:t>
            </a:r>
            <a:r>
              <a:rPr lang="pt-BR" b="1" i="1" dirty="0">
                <a:solidFill>
                  <a:srgbClr val="00B050"/>
                </a:solidFill>
              </a:rPr>
              <a:t>máquina virtual </a:t>
            </a:r>
            <a:r>
              <a:rPr lang="pt-BR" dirty="0"/>
              <a:t>do Python se encarrega da </a:t>
            </a:r>
            <a:r>
              <a:rPr lang="pt-BR" b="1" i="1" dirty="0">
                <a:solidFill>
                  <a:srgbClr val="00B050"/>
                </a:solidFill>
              </a:rPr>
              <a:t>portabilidade</a:t>
            </a:r>
            <a:r>
              <a:rPr lang="pt-BR" dirty="0"/>
              <a:t>.</a:t>
            </a:r>
          </a:p>
          <a:p>
            <a:r>
              <a:rPr lang="pt-BR" dirty="0"/>
              <a:t>Ela cria uma </a:t>
            </a:r>
            <a:r>
              <a:rPr lang="pt-BR" b="1" i="1" dirty="0">
                <a:solidFill>
                  <a:schemeClr val="accent2"/>
                </a:solidFill>
              </a:rPr>
              <a:t>camada de abstração</a:t>
            </a:r>
            <a:r>
              <a:rPr lang="pt-BR" dirty="0"/>
              <a:t> que </a:t>
            </a:r>
            <a:r>
              <a:rPr lang="pt-BR" b="1" i="1" dirty="0">
                <a:solidFill>
                  <a:srgbClr val="7030A0"/>
                </a:solidFill>
              </a:rPr>
              <a:t>lida com os detalhes de baixo nível</a:t>
            </a:r>
            <a:r>
              <a:rPr lang="pt-BR" dirty="0"/>
              <a:t>.</a:t>
            </a:r>
          </a:p>
          <a:p>
            <a:r>
              <a:rPr lang="pt-BR" dirty="0"/>
              <a:t>Desta forma, o código roda perfeitamente em qualquer SO e HW.</a:t>
            </a:r>
          </a:p>
          <a:p>
            <a:r>
              <a:rPr lang="pt-BR" dirty="0"/>
              <a:t>Essa é a beleza de um sistema de uso geral.</a:t>
            </a:r>
          </a:p>
        </p:txBody>
      </p:sp>
      <p:grpSp>
        <p:nvGrpSpPr>
          <p:cNvPr id="11" name="Agrupar 10">
            <a:extLst>
              <a:ext uri="{FF2B5EF4-FFF2-40B4-BE49-F238E27FC236}">
                <a16:creationId xmlns:a16="http://schemas.microsoft.com/office/drawing/2014/main" id="{66E22EDB-7687-4D83-799C-15F5CF911B41}"/>
              </a:ext>
            </a:extLst>
          </p:cNvPr>
          <p:cNvGrpSpPr/>
          <p:nvPr/>
        </p:nvGrpSpPr>
        <p:grpSpPr>
          <a:xfrm>
            <a:off x="218841" y="1690688"/>
            <a:ext cx="6067786" cy="4993990"/>
            <a:chOff x="302921" y="1690688"/>
            <a:chExt cx="6067786" cy="4993990"/>
          </a:xfrm>
        </p:grpSpPr>
        <p:grpSp>
          <p:nvGrpSpPr>
            <p:cNvPr id="14" name="Agrupar 13">
              <a:extLst>
                <a:ext uri="{FF2B5EF4-FFF2-40B4-BE49-F238E27FC236}">
                  <a16:creationId xmlns:a16="http://schemas.microsoft.com/office/drawing/2014/main" id="{0095D9C1-85A2-A398-62A1-AD9BD2AB2674}"/>
                </a:ext>
              </a:extLst>
            </p:cNvPr>
            <p:cNvGrpSpPr/>
            <p:nvPr/>
          </p:nvGrpSpPr>
          <p:grpSpPr>
            <a:xfrm>
              <a:off x="472588" y="1690688"/>
              <a:ext cx="2275115" cy="4201104"/>
              <a:chOff x="1164770" y="2145267"/>
              <a:chExt cx="2275115" cy="4201104"/>
            </a:xfrm>
          </p:grpSpPr>
          <p:sp>
            <p:nvSpPr>
              <p:cNvPr id="25" name="Retângulo 24">
                <a:extLst>
                  <a:ext uri="{FF2B5EF4-FFF2-40B4-BE49-F238E27FC236}">
                    <a16:creationId xmlns:a16="http://schemas.microsoft.com/office/drawing/2014/main" id="{2ECCED86-8F83-0C94-C2FA-D3D1748DFA87}"/>
                  </a:ext>
                </a:extLst>
              </p:cNvPr>
              <p:cNvSpPr/>
              <p:nvPr/>
            </p:nvSpPr>
            <p:spPr>
              <a:xfrm>
                <a:off x="1295401" y="2667000"/>
                <a:ext cx="2024742" cy="762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Aplicações</a:t>
                </a:r>
              </a:p>
            </p:txBody>
          </p:sp>
          <p:sp>
            <p:nvSpPr>
              <p:cNvPr id="26" name="Retângulo 25">
                <a:extLst>
                  <a:ext uri="{FF2B5EF4-FFF2-40B4-BE49-F238E27FC236}">
                    <a16:creationId xmlns:a16="http://schemas.microsoft.com/office/drawing/2014/main" id="{78995300-8583-FED6-5A10-BD59BE2F5EEC}"/>
                  </a:ext>
                </a:extLst>
              </p:cNvPr>
              <p:cNvSpPr/>
              <p:nvPr/>
            </p:nvSpPr>
            <p:spPr>
              <a:xfrm>
                <a:off x="1295401" y="3581400"/>
                <a:ext cx="2024742" cy="7620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pt-BR" dirty="0"/>
                  <a:t>Bibliotecas</a:t>
                </a:r>
              </a:p>
            </p:txBody>
          </p:sp>
          <p:sp>
            <p:nvSpPr>
              <p:cNvPr id="27" name="Retângulo 26">
                <a:extLst>
                  <a:ext uri="{FF2B5EF4-FFF2-40B4-BE49-F238E27FC236}">
                    <a16:creationId xmlns:a16="http://schemas.microsoft.com/office/drawing/2014/main" id="{5DAAF25A-FD05-7BD2-5637-D01CFA5B8624}"/>
                  </a:ext>
                </a:extLst>
              </p:cNvPr>
              <p:cNvSpPr/>
              <p:nvPr/>
            </p:nvSpPr>
            <p:spPr>
              <a:xfrm>
                <a:off x="1295401" y="4495800"/>
                <a:ext cx="2024742" cy="7620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pt-BR" dirty="0"/>
                  <a:t>Sistema Operacional</a:t>
                </a:r>
              </a:p>
            </p:txBody>
          </p:sp>
          <p:sp>
            <p:nvSpPr>
              <p:cNvPr id="28" name="Retângulo 27">
                <a:extLst>
                  <a:ext uri="{FF2B5EF4-FFF2-40B4-BE49-F238E27FC236}">
                    <a16:creationId xmlns:a16="http://schemas.microsoft.com/office/drawing/2014/main" id="{D76BF4D2-050A-D9A1-0D88-93D24591FEF5}"/>
                  </a:ext>
                </a:extLst>
              </p:cNvPr>
              <p:cNvSpPr/>
              <p:nvPr/>
            </p:nvSpPr>
            <p:spPr>
              <a:xfrm>
                <a:off x="1164770" y="5584371"/>
                <a:ext cx="2275115" cy="762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b="1" dirty="0"/>
                  <a:t>Hardware</a:t>
                </a:r>
              </a:p>
            </p:txBody>
          </p:sp>
          <p:sp>
            <p:nvSpPr>
              <p:cNvPr id="29" name="CaixaDeTexto 28">
                <a:extLst>
                  <a:ext uri="{FF2B5EF4-FFF2-40B4-BE49-F238E27FC236}">
                    <a16:creationId xmlns:a16="http://schemas.microsoft.com/office/drawing/2014/main" id="{08F62E42-88A5-62D3-6492-64F61F7DE37F}"/>
                  </a:ext>
                </a:extLst>
              </p:cNvPr>
              <p:cNvSpPr txBox="1"/>
              <p:nvPr/>
            </p:nvSpPr>
            <p:spPr>
              <a:xfrm>
                <a:off x="1219199" y="2145268"/>
                <a:ext cx="1295400" cy="369332"/>
              </a:xfrm>
              <a:prstGeom prst="rect">
                <a:avLst/>
              </a:prstGeom>
              <a:noFill/>
            </p:spPr>
            <p:txBody>
              <a:bodyPr wrap="square">
                <a:spAutoFit/>
              </a:bodyPr>
              <a:lstStyle/>
              <a:p>
                <a:r>
                  <a:rPr lang="pt-BR" b="1" dirty="0">
                    <a:solidFill>
                      <a:srgbClr val="0070C0"/>
                    </a:solidFill>
                  </a:rPr>
                  <a:t>Software</a:t>
                </a:r>
              </a:p>
            </p:txBody>
          </p:sp>
          <p:sp>
            <p:nvSpPr>
              <p:cNvPr id="30" name="Retângulo 29">
                <a:extLst>
                  <a:ext uri="{FF2B5EF4-FFF2-40B4-BE49-F238E27FC236}">
                    <a16:creationId xmlns:a16="http://schemas.microsoft.com/office/drawing/2014/main" id="{886CCAE8-19B6-4FDF-7D43-27911704B8F7}"/>
                  </a:ext>
                </a:extLst>
              </p:cNvPr>
              <p:cNvSpPr/>
              <p:nvPr/>
            </p:nvSpPr>
            <p:spPr>
              <a:xfrm>
                <a:off x="1164770" y="2145267"/>
                <a:ext cx="2275115" cy="3228337"/>
              </a:xfrm>
              <a:prstGeom prst="rect">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16" name="CaixaDeTexto 15">
              <a:extLst>
                <a:ext uri="{FF2B5EF4-FFF2-40B4-BE49-F238E27FC236}">
                  <a16:creationId xmlns:a16="http://schemas.microsoft.com/office/drawing/2014/main" id="{1097E7F7-9E40-2E67-971B-D87CC668F882}"/>
                </a:ext>
              </a:extLst>
            </p:cNvPr>
            <p:cNvSpPr txBox="1"/>
            <p:nvPr/>
          </p:nvSpPr>
          <p:spPr>
            <a:xfrm>
              <a:off x="3106119" y="1856868"/>
              <a:ext cx="3264588" cy="1477328"/>
            </a:xfrm>
            <a:prstGeom prst="rect">
              <a:avLst/>
            </a:prstGeom>
            <a:noFill/>
          </p:spPr>
          <p:txBody>
            <a:bodyPr wrap="square">
              <a:spAutoFit/>
            </a:bodyPr>
            <a:lstStyle/>
            <a:p>
              <a:r>
                <a:rPr lang="pt-BR" sz="1800" b="1" dirty="0" err="1">
                  <a:solidFill>
                    <a:srgbClr val="0000FF"/>
                  </a:solidFill>
                  <a:highlight>
                    <a:srgbClr val="FFFFFF"/>
                  </a:highlight>
                </a:rPr>
                <a:t>import</a:t>
              </a:r>
              <a:r>
                <a:rPr lang="pt-BR" sz="1800" b="0" dirty="0">
                  <a:solidFill>
                    <a:srgbClr val="000000"/>
                  </a:solidFill>
                  <a:highlight>
                    <a:srgbClr val="FFFFFF"/>
                  </a:highlight>
                </a:rPr>
                <a:t> </a:t>
              </a:r>
              <a:r>
                <a:rPr lang="pt-BR" sz="1800" b="0" dirty="0" err="1">
                  <a:solidFill>
                    <a:srgbClr val="000000"/>
                  </a:solidFill>
                  <a:highlight>
                    <a:srgbClr val="FFFFFF"/>
                  </a:highlight>
                </a:rPr>
                <a:t>numpy</a:t>
              </a:r>
              <a:r>
                <a:rPr lang="pt-BR" sz="1800" b="0" dirty="0">
                  <a:solidFill>
                    <a:srgbClr val="000000"/>
                  </a:solidFill>
                  <a:highlight>
                    <a:srgbClr val="FFFFFF"/>
                  </a:highlight>
                </a:rPr>
                <a:t> </a:t>
              </a:r>
              <a:r>
                <a:rPr lang="pt-BR" sz="1800" b="1" dirty="0">
                  <a:solidFill>
                    <a:srgbClr val="0000FF"/>
                  </a:solidFill>
                  <a:highlight>
                    <a:srgbClr val="FFFFFF"/>
                  </a:highlight>
                </a:rPr>
                <a:t>as</a:t>
              </a:r>
              <a:r>
                <a:rPr lang="pt-BR" sz="1800" b="0" dirty="0">
                  <a:solidFill>
                    <a:srgbClr val="000000"/>
                  </a:solidFill>
                  <a:highlight>
                    <a:srgbClr val="FFFFFF"/>
                  </a:highlight>
                </a:rPr>
                <a:t> </a:t>
              </a:r>
              <a:r>
                <a:rPr lang="pt-BR" sz="1800" b="0" dirty="0" err="1">
                  <a:solidFill>
                    <a:srgbClr val="000000"/>
                  </a:solidFill>
                  <a:highlight>
                    <a:srgbClr val="FFFFFF"/>
                  </a:highlight>
                </a:rPr>
                <a:t>np</a:t>
              </a:r>
              <a:endParaRPr lang="pt-BR" sz="1800" b="0" dirty="0">
                <a:solidFill>
                  <a:srgbClr val="000000"/>
                </a:solidFill>
                <a:highlight>
                  <a:srgbClr val="FFFFFF"/>
                </a:highlight>
              </a:endParaRPr>
            </a:p>
            <a:p>
              <a:endParaRPr lang="pt-BR" sz="1800" b="0" dirty="0">
                <a:solidFill>
                  <a:srgbClr val="000000"/>
                </a:solidFill>
                <a:highlight>
                  <a:srgbClr val="FFFFFF"/>
                </a:highlight>
              </a:endParaRPr>
            </a:p>
            <a:p>
              <a:r>
                <a:rPr lang="en-US" sz="1800" b="1" dirty="0">
                  <a:solidFill>
                    <a:srgbClr val="0000FF"/>
                  </a:solidFill>
                  <a:highlight>
                    <a:srgbClr val="FFFFFF"/>
                  </a:highlight>
                </a:rPr>
                <a:t>for</a:t>
              </a:r>
              <a:r>
                <a:rPr lang="en-US" sz="1800" b="0" dirty="0">
                  <a:solidFill>
                    <a:srgbClr val="000000"/>
                  </a:solidFill>
                  <a:highlight>
                    <a:srgbClr val="FFFFFF"/>
                  </a:highlight>
                </a:rPr>
                <a:t> </a:t>
              </a:r>
              <a:r>
                <a:rPr lang="en-US" dirty="0">
                  <a:solidFill>
                    <a:srgbClr val="000000"/>
                  </a:solidFill>
                  <a:highlight>
                    <a:srgbClr val="FFFFFF"/>
                  </a:highlight>
                </a:rPr>
                <a:t>x</a:t>
              </a:r>
              <a:r>
                <a:rPr lang="en-US" sz="1800" b="0" dirty="0">
                  <a:solidFill>
                    <a:srgbClr val="000000"/>
                  </a:solidFill>
                  <a:highlight>
                    <a:srgbClr val="FFFFFF"/>
                  </a:highlight>
                </a:rPr>
                <a:t> </a:t>
              </a:r>
              <a:r>
                <a:rPr lang="en-US" sz="1800" b="1" dirty="0">
                  <a:solidFill>
                    <a:srgbClr val="0000FF"/>
                  </a:solidFill>
                  <a:highlight>
                    <a:srgbClr val="FFFFFF"/>
                  </a:highlight>
                </a:rPr>
                <a:t>in</a:t>
              </a:r>
              <a:r>
                <a:rPr lang="en-US" sz="1800" b="0" dirty="0">
                  <a:solidFill>
                    <a:srgbClr val="000000"/>
                  </a:solidFill>
                  <a:highlight>
                    <a:srgbClr val="FFFFFF"/>
                  </a:highlight>
                </a:rPr>
                <a:t> </a:t>
              </a:r>
              <a:r>
                <a:rPr lang="en-US" sz="1800" b="1" dirty="0">
                  <a:solidFill>
                    <a:srgbClr val="880088"/>
                  </a:solidFill>
                  <a:highlight>
                    <a:srgbClr val="FFFFFF"/>
                  </a:highlight>
                </a:rPr>
                <a:t>range</a:t>
              </a:r>
              <a:r>
                <a:rPr lang="en-US" sz="1800" b="1" dirty="0">
                  <a:solidFill>
                    <a:srgbClr val="000080"/>
                  </a:solidFill>
                  <a:highlight>
                    <a:srgbClr val="FFFFFF"/>
                  </a:highlight>
                </a:rPr>
                <a:t>(</a:t>
              </a:r>
              <a:r>
                <a:rPr lang="en-US" sz="1800" b="0" dirty="0">
                  <a:solidFill>
                    <a:srgbClr val="FF0000"/>
                  </a:solidFill>
                  <a:highlight>
                    <a:srgbClr val="FFFFFF"/>
                  </a:highlight>
                </a:rPr>
                <a:t>10</a:t>
              </a:r>
              <a:r>
                <a:rPr lang="en-US" sz="1800" b="1" dirty="0">
                  <a:solidFill>
                    <a:srgbClr val="000080"/>
                  </a:solidFill>
                  <a:highlight>
                    <a:srgbClr val="FFFFFF"/>
                  </a:highlight>
                </a:rPr>
                <a:t>):</a:t>
              </a:r>
              <a:endParaRPr lang="en-US" sz="1800" b="0" dirty="0">
                <a:solidFill>
                  <a:srgbClr val="000000"/>
                </a:solidFill>
                <a:highlight>
                  <a:srgbClr val="FFFFFF"/>
                </a:highlight>
              </a:endParaRPr>
            </a:p>
            <a:p>
              <a:r>
                <a:rPr lang="pt-BR" dirty="0">
                  <a:solidFill>
                    <a:srgbClr val="000000"/>
                  </a:solidFill>
                  <a:highlight>
                    <a:srgbClr val="FFFFFF"/>
                  </a:highlight>
                </a:rPr>
                <a:t>    </a:t>
              </a:r>
              <a:r>
                <a:rPr lang="pt-BR" sz="1800" b="0" dirty="0">
                  <a:solidFill>
                    <a:srgbClr val="000000"/>
                  </a:solidFill>
                  <a:highlight>
                    <a:srgbClr val="FFFFFF"/>
                  </a:highlight>
                </a:rPr>
                <a:t>resultado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np</a:t>
              </a:r>
              <a:r>
                <a:rPr lang="pt-BR" sz="1800" b="1" dirty="0" err="1">
                  <a:solidFill>
                    <a:srgbClr val="000080"/>
                  </a:solidFill>
                  <a:highlight>
                    <a:srgbClr val="FFFFFF"/>
                  </a:highlight>
                </a:rPr>
                <a:t>.</a:t>
              </a:r>
              <a:r>
                <a:rPr lang="pt-BR" sz="1800" b="0" dirty="0" err="1">
                  <a:solidFill>
                    <a:srgbClr val="000000"/>
                  </a:solidFill>
                  <a:highlight>
                    <a:srgbClr val="FFFFFF"/>
                  </a:highlight>
                </a:rPr>
                <a:t>sqrt</a:t>
              </a:r>
              <a:r>
                <a:rPr lang="pt-BR" sz="1800" b="1" dirty="0">
                  <a:solidFill>
                    <a:srgbClr val="000080"/>
                  </a:solidFill>
                  <a:highlight>
                    <a:srgbClr val="FFFFFF"/>
                  </a:highlight>
                </a:rPr>
                <a:t>(</a:t>
              </a:r>
              <a:r>
                <a:rPr lang="pt-BR" dirty="0">
                  <a:solidFill>
                    <a:srgbClr val="000000"/>
                  </a:solidFill>
                  <a:highlight>
                    <a:srgbClr val="FFFFFF"/>
                  </a:highlight>
                </a:rPr>
                <a:t>x</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dirty="0">
                  <a:solidFill>
                    <a:srgbClr val="000000"/>
                  </a:solidFill>
                  <a:highlight>
                    <a:srgbClr val="FFFFFF"/>
                  </a:highlight>
                </a:rPr>
                <a:t>    </a:t>
              </a:r>
              <a:r>
                <a:rPr lang="pt-BR" sz="1800" b="1" dirty="0">
                  <a:solidFill>
                    <a:srgbClr val="880088"/>
                  </a:solidFill>
                  <a:highlight>
                    <a:srgbClr val="FFFFFF"/>
                  </a:highlight>
                </a:rPr>
                <a:t>print</a:t>
              </a:r>
              <a:r>
                <a:rPr lang="pt-BR" sz="1800" b="1" dirty="0">
                  <a:solidFill>
                    <a:srgbClr val="000080"/>
                  </a:solidFill>
                  <a:highlight>
                    <a:srgbClr val="FFFFFF"/>
                  </a:highlight>
                </a:rPr>
                <a:t>(</a:t>
              </a:r>
              <a:r>
                <a:rPr lang="pt-BR" sz="1800" b="0" dirty="0">
                  <a:solidFill>
                    <a:srgbClr val="000000"/>
                  </a:solidFill>
                  <a:highlight>
                    <a:srgbClr val="FFFFFF"/>
                  </a:highlight>
                </a:rPr>
                <a:t>resultado</a:t>
              </a:r>
              <a:r>
                <a:rPr lang="pt-BR" sz="1800" b="1" dirty="0">
                  <a:solidFill>
                    <a:srgbClr val="000080"/>
                  </a:solidFill>
                  <a:highlight>
                    <a:srgbClr val="FFFFFF"/>
                  </a:highlight>
                </a:rPr>
                <a:t>)</a:t>
              </a:r>
              <a:endParaRPr lang="pt-BR" dirty="0"/>
            </a:p>
          </p:txBody>
        </p:sp>
        <p:cxnSp>
          <p:nvCxnSpPr>
            <p:cNvPr id="17" name="Conector reto 16">
              <a:extLst>
                <a:ext uri="{FF2B5EF4-FFF2-40B4-BE49-F238E27FC236}">
                  <a16:creationId xmlns:a16="http://schemas.microsoft.com/office/drawing/2014/main" id="{AA733468-A94E-9C03-12E7-7EC89B2C9B5B}"/>
                </a:ext>
              </a:extLst>
            </p:cNvPr>
            <p:cNvCxnSpPr>
              <a:cxnSpLocks/>
            </p:cNvCxnSpPr>
            <p:nvPr/>
          </p:nvCxnSpPr>
          <p:spPr>
            <a:xfrm flipV="1">
              <a:off x="2627961" y="1992520"/>
              <a:ext cx="476567" cy="2309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Conector reto 19">
              <a:extLst>
                <a:ext uri="{FF2B5EF4-FFF2-40B4-BE49-F238E27FC236}">
                  <a16:creationId xmlns:a16="http://schemas.microsoft.com/office/drawing/2014/main" id="{7C94D625-9367-97B1-B54F-346690A391ED}"/>
                </a:ext>
              </a:extLst>
            </p:cNvPr>
            <p:cNvCxnSpPr>
              <a:cxnSpLocks/>
            </p:cNvCxnSpPr>
            <p:nvPr/>
          </p:nvCxnSpPr>
          <p:spPr>
            <a:xfrm>
              <a:off x="2627961" y="2974421"/>
              <a:ext cx="736662" cy="249825"/>
            </a:xfrm>
            <a:prstGeom prst="line">
              <a:avLst/>
            </a:prstGeom>
          </p:spPr>
          <p:style>
            <a:lnRef idx="1">
              <a:schemeClr val="accent1"/>
            </a:lnRef>
            <a:fillRef idx="0">
              <a:schemeClr val="accent1"/>
            </a:fillRef>
            <a:effectRef idx="0">
              <a:schemeClr val="accent1"/>
            </a:effectRef>
            <a:fontRef idx="minor">
              <a:schemeClr val="tx1"/>
            </a:fontRef>
          </p:style>
        </p:cxnSp>
        <p:pic>
          <p:nvPicPr>
            <p:cNvPr id="21" name="Picture 2" descr="Processador CPU Intel i7-860 2.80Ghz">
              <a:extLst>
                <a:ext uri="{FF2B5EF4-FFF2-40B4-BE49-F238E27FC236}">
                  <a16:creationId xmlns:a16="http://schemas.microsoft.com/office/drawing/2014/main" id="{4A308FA5-3714-E153-26FC-C0303E07D0E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76" t="8430" b="8506"/>
            <a:stretch/>
          </p:blipFill>
          <p:spPr bwMode="auto">
            <a:xfrm>
              <a:off x="2020159" y="6056214"/>
              <a:ext cx="747689" cy="628464"/>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4" descr="Utilitário AMD Ryzen Master para o controle do overclock | AMD">
              <a:extLst>
                <a:ext uri="{FF2B5EF4-FFF2-40B4-BE49-F238E27FC236}">
                  <a16:creationId xmlns:a16="http://schemas.microsoft.com/office/drawing/2014/main" id="{54F9E388-8E0B-FCF9-DE3D-30F5AADF06F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6786" t="-1" r="16207" b="255"/>
            <a:stretch/>
          </p:blipFill>
          <p:spPr bwMode="auto">
            <a:xfrm>
              <a:off x="302921" y="6033750"/>
              <a:ext cx="747689" cy="530989"/>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8" descr="Arm Cortex-M0+ - Microcontrollers - STMicroelectronics">
              <a:extLst>
                <a:ext uri="{FF2B5EF4-FFF2-40B4-BE49-F238E27FC236}">
                  <a16:creationId xmlns:a16="http://schemas.microsoft.com/office/drawing/2014/main" id="{06CB45C4-ED03-7F22-607F-86CEE3A04C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01084" y="6010639"/>
              <a:ext cx="672725" cy="674039"/>
            </a:xfrm>
            <a:prstGeom prst="rect">
              <a:avLst/>
            </a:prstGeom>
            <a:noFill/>
            <a:extLst>
              <a:ext uri="{909E8E84-426E-40DD-AFC4-6F175D3DCCD1}">
                <a14:hiddenFill xmlns:a14="http://schemas.microsoft.com/office/drawing/2010/main">
                  <a:solidFill>
                    <a:srgbClr val="FFFFFF"/>
                  </a:solidFill>
                </a14:hiddenFill>
              </a:ext>
            </a:extLst>
          </p:spPr>
        </p:pic>
        <p:sp>
          <p:nvSpPr>
            <p:cNvPr id="24" name="CaixaDeTexto 23">
              <a:extLst>
                <a:ext uri="{FF2B5EF4-FFF2-40B4-BE49-F238E27FC236}">
                  <a16:creationId xmlns:a16="http://schemas.microsoft.com/office/drawing/2014/main" id="{6F1A6452-12EC-C217-EEEE-3385FF0ECB6D}"/>
                </a:ext>
              </a:extLst>
            </p:cNvPr>
            <p:cNvSpPr txBox="1"/>
            <p:nvPr/>
          </p:nvSpPr>
          <p:spPr>
            <a:xfrm>
              <a:off x="3364623" y="3452725"/>
              <a:ext cx="2004848" cy="1938992"/>
            </a:xfrm>
            <a:prstGeom prst="rect">
              <a:avLst/>
            </a:prstGeom>
            <a:noFill/>
          </p:spPr>
          <p:txBody>
            <a:bodyPr wrap="square">
              <a:spAutoFit/>
            </a:bodyPr>
            <a:lstStyle/>
            <a:p>
              <a:r>
                <a:rPr lang="pt-BR" sz="1200" b="0" i="0" dirty="0">
                  <a:solidFill>
                    <a:srgbClr val="212121"/>
                  </a:solidFill>
                  <a:effectLst/>
                  <a:latin typeface="Courier New" panose="02070309020205020404" pitchFamily="49" charset="0"/>
                </a:rPr>
                <a:t>0.0</a:t>
              </a:r>
            </a:p>
            <a:p>
              <a:r>
                <a:rPr lang="pt-BR" sz="1200" b="0" i="0" dirty="0">
                  <a:solidFill>
                    <a:srgbClr val="212121"/>
                  </a:solidFill>
                  <a:effectLst/>
                  <a:latin typeface="Courier New" panose="02070309020205020404" pitchFamily="49" charset="0"/>
                </a:rPr>
                <a:t>1.0</a:t>
              </a:r>
            </a:p>
            <a:p>
              <a:r>
                <a:rPr lang="pt-BR" sz="1200" b="0" i="0" dirty="0">
                  <a:solidFill>
                    <a:srgbClr val="212121"/>
                  </a:solidFill>
                  <a:effectLst/>
                  <a:latin typeface="Courier New" panose="02070309020205020404" pitchFamily="49" charset="0"/>
                </a:rPr>
                <a:t>1.4142135623730951</a:t>
              </a:r>
            </a:p>
            <a:p>
              <a:r>
                <a:rPr lang="pt-BR" sz="1200" b="0" i="0" dirty="0">
                  <a:solidFill>
                    <a:srgbClr val="212121"/>
                  </a:solidFill>
                  <a:effectLst/>
                  <a:latin typeface="Courier New" panose="02070309020205020404" pitchFamily="49" charset="0"/>
                </a:rPr>
                <a:t>1.7320508075688772 </a:t>
              </a:r>
              <a:endParaRPr lang="pt-BR" sz="1200" dirty="0">
                <a:solidFill>
                  <a:srgbClr val="212121"/>
                </a:solidFill>
                <a:latin typeface="Courier New" panose="02070309020205020404" pitchFamily="49" charset="0"/>
              </a:endParaRPr>
            </a:p>
            <a:p>
              <a:r>
                <a:rPr lang="pt-BR" sz="1200" b="0" i="0" dirty="0">
                  <a:solidFill>
                    <a:srgbClr val="212121"/>
                  </a:solidFill>
                  <a:effectLst/>
                  <a:latin typeface="Courier New" panose="02070309020205020404" pitchFamily="49" charset="0"/>
                </a:rPr>
                <a:t>2.0</a:t>
              </a:r>
            </a:p>
            <a:p>
              <a:r>
                <a:rPr lang="pt-BR" sz="1200" b="0" i="0" dirty="0">
                  <a:solidFill>
                    <a:srgbClr val="212121"/>
                  </a:solidFill>
                  <a:effectLst/>
                  <a:latin typeface="Courier New" panose="02070309020205020404" pitchFamily="49" charset="0"/>
                </a:rPr>
                <a:t>2.23606797749979</a:t>
              </a:r>
            </a:p>
            <a:p>
              <a:r>
                <a:rPr lang="pt-BR" sz="1200" b="0" i="0" dirty="0">
                  <a:solidFill>
                    <a:srgbClr val="212121"/>
                  </a:solidFill>
                  <a:effectLst/>
                  <a:latin typeface="Courier New" panose="02070309020205020404" pitchFamily="49" charset="0"/>
                </a:rPr>
                <a:t>2.449489742783178</a:t>
              </a:r>
            </a:p>
            <a:p>
              <a:r>
                <a:rPr lang="pt-BR" sz="1200" b="0" i="0" dirty="0">
                  <a:solidFill>
                    <a:srgbClr val="212121"/>
                  </a:solidFill>
                  <a:effectLst/>
                  <a:latin typeface="Courier New" panose="02070309020205020404" pitchFamily="49" charset="0"/>
                </a:rPr>
                <a:t>2.6457513110645907</a:t>
              </a:r>
            </a:p>
            <a:p>
              <a:r>
                <a:rPr lang="pt-BR" sz="1200" b="0" i="0" dirty="0">
                  <a:solidFill>
                    <a:srgbClr val="212121"/>
                  </a:solidFill>
                  <a:effectLst/>
                  <a:latin typeface="Courier New" panose="02070309020205020404" pitchFamily="49" charset="0"/>
                </a:rPr>
                <a:t>2.8284271247461903 </a:t>
              </a:r>
              <a:endParaRPr lang="pt-BR" sz="1200" dirty="0">
                <a:solidFill>
                  <a:srgbClr val="212121"/>
                </a:solidFill>
                <a:latin typeface="Courier New" panose="02070309020205020404" pitchFamily="49" charset="0"/>
              </a:endParaRPr>
            </a:p>
            <a:p>
              <a:r>
                <a:rPr lang="pt-BR" sz="1200" b="0" i="0" dirty="0">
                  <a:solidFill>
                    <a:srgbClr val="212121"/>
                  </a:solidFill>
                  <a:effectLst/>
                  <a:latin typeface="Courier New" panose="02070309020205020404" pitchFamily="49" charset="0"/>
                </a:rPr>
                <a:t>3.0</a:t>
              </a:r>
              <a:endParaRPr lang="pt-BR" sz="1200" dirty="0"/>
            </a:p>
          </p:txBody>
        </p:sp>
      </p:grpSp>
    </p:spTree>
    <p:extLst>
      <p:ext uri="{BB962C8B-B14F-4D97-AF65-F5344CB8AC3E}">
        <p14:creationId xmlns:p14="http://schemas.microsoft.com/office/powerpoint/2010/main" val="11753448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A0E2D2-FDD9-B41D-180C-D5EE7734DE8F}"/>
              </a:ext>
            </a:extLst>
          </p:cNvPr>
          <p:cNvSpPr>
            <a:spLocks noGrp="1"/>
          </p:cNvSpPr>
          <p:nvPr>
            <p:ph type="title"/>
          </p:nvPr>
        </p:nvSpPr>
        <p:spPr/>
        <p:txBody>
          <a:bodyPr/>
          <a:lstStyle/>
          <a:p>
            <a:r>
              <a:rPr lang="pt-BR" dirty="0"/>
              <a:t>Portabilidade</a:t>
            </a:r>
          </a:p>
        </p:txBody>
      </p:sp>
      <mc:AlternateContent xmlns:mc="http://schemas.openxmlformats.org/markup-compatibility/2006">
        <mc:Choice xmlns:a14="http://schemas.microsoft.com/office/drawing/2010/main" Requires="a14">
          <p:sp>
            <p:nvSpPr>
              <p:cNvPr id="3" name="Espaço Reservado para Conteúdo 2">
                <a:extLst>
                  <a:ext uri="{FF2B5EF4-FFF2-40B4-BE49-F238E27FC236}">
                    <a16:creationId xmlns:a16="http://schemas.microsoft.com/office/drawing/2014/main" id="{00EF41F9-79F8-89BF-93BA-3C30883F64B6}"/>
                  </a:ext>
                </a:extLst>
              </p:cNvPr>
              <p:cNvSpPr>
                <a:spLocks noGrp="1"/>
              </p:cNvSpPr>
              <p:nvPr>
                <p:ph idx="1"/>
              </p:nvPr>
            </p:nvSpPr>
            <p:spPr>
              <a:xfrm>
                <a:off x="6379285" y="1825624"/>
                <a:ext cx="5684555" cy="5032375"/>
              </a:xfrm>
            </p:spPr>
            <p:txBody>
              <a:bodyPr>
                <a:normAutofit/>
              </a:bodyPr>
              <a:lstStyle/>
              <a:p>
                <a:r>
                  <a:rPr lang="pt-BR" b="1" i="1" dirty="0">
                    <a:solidFill>
                      <a:srgbClr val="7030A0"/>
                    </a:solidFill>
                  </a:rPr>
                  <a:t>Portabilidade</a:t>
                </a:r>
                <a:r>
                  <a:rPr lang="pt-BR" dirty="0"/>
                  <a:t> é </a:t>
                </a:r>
                <a:r>
                  <a:rPr lang="pt-BR" b="1" i="1" dirty="0">
                    <a:solidFill>
                      <a:srgbClr val="00B050"/>
                    </a:solidFill>
                  </a:rPr>
                  <a:t>algo que </a:t>
                </a:r>
                <a:r>
                  <a:rPr lang="pt-BR" b="1" i="1" dirty="0">
                    <a:solidFill>
                      <a:schemeClr val="accent2"/>
                    </a:solidFill>
                  </a:rPr>
                  <a:t>damos como certo</a:t>
                </a:r>
                <a:r>
                  <a:rPr lang="pt-BR" b="1" i="1" dirty="0">
                    <a:solidFill>
                      <a:srgbClr val="00B050"/>
                    </a:solidFill>
                  </a:rPr>
                  <a:t> e que não pensamos muito a respeito </a:t>
                </a:r>
                <a:r>
                  <a:rPr lang="pt-BR" dirty="0"/>
                  <a:t>quando criamos códigos para sistemas de uso geral.</a:t>
                </a:r>
              </a:p>
              <a:p>
                <a:r>
                  <a:rPr lang="pt-BR" dirty="0"/>
                  <a:t>Porém quando partimos para </a:t>
                </a:r>
                <a:r>
                  <a:rPr lang="pt-BR" b="1" i="1" dirty="0">
                    <a:solidFill>
                      <a:srgbClr val="FF0000"/>
                    </a:solidFill>
                  </a:rPr>
                  <a:t>sistemas embarcados, isso se torna um problema</a:t>
                </a:r>
                <a:r>
                  <a:rPr lang="pt-BR" dirty="0"/>
                  <a:t>.</a:t>
                </a:r>
              </a:p>
              <a:p>
                <a:r>
                  <a:rPr lang="pt-BR" dirty="0"/>
                  <a:t>Vamos ver um problema envolvendo cálculos em ponto flutuante: o calculo de </a:t>
                </a:r>
                <a14:m>
                  <m:oMath xmlns:m="http://schemas.openxmlformats.org/officeDocument/2006/math">
                    <m:r>
                      <a:rPr lang="pt-BR" i="1" smtClean="0">
                        <a:latin typeface="Cambria Math" panose="02040503050406030204" pitchFamily="18" charset="0"/>
                        <a:ea typeface="Cambria Math" panose="02040503050406030204" pitchFamily="18" charset="0"/>
                      </a:rPr>
                      <m:t>𝜋</m:t>
                    </m:r>
                  </m:oMath>
                </a14:m>
                <a:r>
                  <a:rPr lang="pt-BR" dirty="0"/>
                  <a:t>.</a:t>
                </a:r>
              </a:p>
            </p:txBody>
          </p:sp>
        </mc:Choice>
        <mc:Fallback>
          <p:sp>
            <p:nvSpPr>
              <p:cNvPr id="3" name="Espaço Reservado para Conteúdo 2">
                <a:extLst>
                  <a:ext uri="{FF2B5EF4-FFF2-40B4-BE49-F238E27FC236}">
                    <a16:creationId xmlns:a16="http://schemas.microsoft.com/office/drawing/2014/main" id="{00EF41F9-79F8-89BF-93BA-3C30883F64B6}"/>
                  </a:ext>
                </a:extLst>
              </p:cNvPr>
              <p:cNvSpPr>
                <a:spLocks noGrp="1" noRot="1" noChangeAspect="1" noMove="1" noResize="1" noEditPoints="1" noAdjustHandles="1" noChangeArrowheads="1" noChangeShapeType="1" noTextEdit="1"/>
              </p:cNvSpPr>
              <p:nvPr>
                <p:ph idx="1"/>
              </p:nvPr>
            </p:nvSpPr>
            <p:spPr>
              <a:xfrm>
                <a:off x="6379285" y="1825624"/>
                <a:ext cx="5684555" cy="5032375"/>
              </a:xfrm>
              <a:blipFill>
                <a:blip r:embed="rId3"/>
                <a:stretch>
                  <a:fillRect l="-1929" t="-1937" r="-1822"/>
                </a:stretch>
              </a:blipFill>
            </p:spPr>
            <p:txBody>
              <a:bodyPr/>
              <a:lstStyle/>
              <a:p>
                <a:r>
                  <a:rPr lang="en-US">
                    <a:noFill/>
                  </a:rPr>
                  <a:t> </a:t>
                </a:r>
              </a:p>
            </p:txBody>
          </p:sp>
        </mc:Fallback>
      </mc:AlternateContent>
      <p:pic>
        <p:nvPicPr>
          <p:cNvPr id="5" name="Imagem 4">
            <a:extLst>
              <a:ext uri="{FF2B5EF4-FFF2-40B4-BE49-F238E27FC236}">
                <a16:creationId xmlns:a16="http://schemas.microsoft.com/office/drawing/2014/main" id="{05FB09EE-13F8-0D75-51F2-EC5AE4269504}"/>
              </a:ext>
            </a:extLst>
          </p:cNvPr>
          <p:cNvPicPr>
            <a:picLocks noChangeAspect="1"/>
          </p:cNvPicPr>
          <p:nvPr/>
        </p:nvPicPr>
        <p:blipFill>
          <a:blip r:embed="rId4"/>
          <a:stretch>
            <a:fillRect/>
          </a:stretch>
        </p:blipFill>
        <p:spPr>
          <a:xfrm>
            <a:off x="281274" y="2213128"/>
            <a:ext cx="5911545" cy="3560662"/>
          </a:xfrm>
          <a:prstGeom prst="rect">
            <a:avLst/>
          </a:prstGeom>
        </p:spPr>
      </p:pic>
    </p:spTree>
    <p:extLst>
      <p:ext uri="{BB962C8B-B14F-4D97-AF65-F5344CB8AC3E}">
        <p14:creationId xmlns:p14="http://schemas.microsoft.com/office/powerpoint/2010/main" val="25274892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A0E2D2-FDD9-B41D-180C-D5EE7734DE8F}"/>
              </a:ext>
            </a:extLst>
          </p:cNvPr>
          <p:cNvSpPr>
            <a:spLocks noGrp="1"/>
          </p:cNvSpPr>
          <p:nvPr>
            <p:ph type="title"/>
          </p:nvPr>
        </p:nvSpPr>
        <p:spPr/>
        <p:txBody>
          <a:bodyPr/>
          <a:lstStyle/>
          <a:p>
            <a:r>
              <a:rPr lang="pt-BR" dirty="0"/>
              <a:t>Portabilidade</a:t>
            </a:r>
          </a:p>
        </p:txBody>
      </p:sp>
      <p:sp>
        <p:nvSpPr>
          <p:cNvPr id="3" name="Espaço Reservado para Conteúdo 2">
            <a:extLst>
              <a:ext uri="{FF2B5EF4-FFF2-40B4-BE49-F238E27FC236}">
                <a16:creationId xmlns:a16="http://schemas.microsoft.com/office/drawing/2014/main" id="{00EF41F9-79F8-89BF-93BA-3C30883F64B6}"/>
              </a:ext>
            </a:extLst>
          </p:cNvPr>
          <p:cNvSpPr>
            <a:spLocks noGrp="1"/>
          </p:cNvSpPr>
          <p:nvPr>
            <p:ph idx="1"/>
          </p:nvPr>
        </p:nvSpPr>
        <p:spPr>
          <a:xfrm>
            <a:off x="6257927" y="1807779"/>
            <a:ext cx="5776417" cy="5050220"/>
          </a:xfrm>
        </p:spPr>
        <p:txBody>
          <a:bodyPr>
            <a:normAutofit/>
          </a:bodyPr>
          <a:lstStyle/>
          <a:p>
            <a:r>
              <a:rPr lang="pt-BR" dirty="0"/>
              <a:t>Suponhamos um código com o seguinte cálculo: </a:t>
            </a:r>
          </a:p>
          <a:p>
            <a:pPr lvl="1">
              <a:buFont typeface="Wingdings" panose="05000000000000000000" pitchFamily="2" charset="2"/>
              <a:buChar char="§"/>
            </a:pPr>
            <a:r>
              <a:rPr lang="pt-BR" dirty="0"/>
              <a:t>22/7 = </a:t>
            </a:r>
            <a:r>
              <a:rPr lang="pt-BR" b="0" i="0" dirty="0">
                <a:effectLst/>
              </a:rPr>
              <a:t>3.14159265359...</a:t>
            </a:r>
          </a:p>
          <a:p>
            <a:r>
              <a:rPr lang="pt-BR" dirty="0"/>
              <a:t>A resposta é um </a:t>
            </a:r>
            <a:r>
              <a:rPr lang="pt-BR" b="1" i="1" dirty="0">
                <a:solidFill>
                  <a:schemeClr val="accent2"/>
                </a:solidFill>
              </a:rPr>
              <a:t>valor em ponto flutuante</a:t>
            </a:r>
            <a:r>
              <a:rPr lang="pt-BR" dirty="0"/>
              <a:t>, que é tipicamente expresso como 3 componentes: </a:t>
            </a:r>
            <a:r>
              <a:rPr lang="pt-BR" b="1" i="1" dirty="0">
                <a:solidFill>
                  <a:srgbClr val="7030A0"/>
                </a:solidFill>
              </a:rPr>
              <a:t>sinal</a:t>
            </a:r>
            <a:r>
              <a:rPr lang="pt-BR" dirty="0"/>
              <a:t>, </a:t>
            </a:r>
            <a:r>
              <a:rPr lang="pt-BR" b="1" i="1" dirty="0">
                <a:solidFill>
                  <a:srgbClr val="00B050"/>
                </a:solidFill>
              </a:rPr>
              <a:t>expoente</a:t>
            </a:r>
            <a:r>
              <a:rPr lang="pt-BR" dirty="0"/>
              <a:t> e </a:t>
            </a:r>
            <a:r>
              <a:rPr lang="pt-BR" b="1" i="1" dirty="0">
                <a:solidFill>
                  <a:schemeClr val="accent1"/>
                </a:solidFill>
              </a:rPr>
              <a:t>mantissa</a:t>
            </a:r>
            <a:r>
              <a:rPr lang="pt-BR" dirty="0"/>
              <a:t> (ou fração).</a:t>
            </a:r>
          </a:p>
          <a:p>
            <a:r>
              <a:rPr lang="pt-BR" dirty="0"/>
              <a:t>Operações com valores em ponto flutuante </a:t>
            </a:r>
            <a:r>
              <a:rPr lang="pt-BR" b="1" i="1" dirty="0">
                <a:solidFill>
                  <a:srgbClr val="00B050"/>
                </a:solidFill>
              </a:rPr>
              <a:t>são </a:t>
            </a:r>
            <a:r>
              <a:rPr lang="pt-BR" b="1" i="1" dirty="0">
                <a:solidFill>
                  <a:srgbClr val="FF0000"/>
                </a:solidFill>
              </a:rPr>
              <a:t>complexas</a:t>
            </a:r>
            <a:r>
              <a:rPr lang="pt-BR" b="1" i="1" dirty="0">
                <a:solidFill>
                  <a:srgbClr val="00B050"/>
                </a:solidFill>
              </a:rPr>
              <a:t> e</a:t>
            </a:r>
            <a:r>
              <a:rPr lang="pt-BR" dirty="0"/>
              <a:t>, consequentemente,</a:t>
            </a:r>
            <a:r>
              <a:rPr lang="pt-BR" b="1" i="1" dirty="0">
                <a:solidFill>
                  <a:srgbClr val="00B050"/>
                </a:solidFill>
              </a:rPr>
              <a:t> </a:t>
            </a:r>
            <a:r>
              <a:rPr lang="pt-BR" b="1" i="1" dirty="0">
                <a:solidFill>
                  <a:srgbClr val="7030A0"/>
                </a:solidFill>
              </a:rPr>
              <a:t>computacionalmente custosas</a:t>
            </a:r>
            <a:r>
              <a:rPr lang="pt-BR" dirty="0"/>
              <a:t>.</a:t>
            </a:r>
          </a:p>
        </p:txBody>
      </p:sp>
      <p:pic>
        <p:nvPicPr>
          <p:cNvPr id="5" name="Imagem 4">
            <a:extLst>
              <a:ext uri="{FF2B5EF4-FFF2-40B4-BE49-F238E27FC236}">
                <a16:creationId xmlns:a16="http://schemas.microsoft.com/office/drawing/2014/main" id="{05FB09EE-13F8-0D75-51F2-EC5AE4269504}"/>
              </a:ext>
            </a:extLst>
          </p:cNvPr>
          <p:cNvPicPr>
            <a:picLocks noChangeAspect="1"/>
          </p:cNvPicPr>
          <p:nvPr/>
        </p:nvPicPr>
        <p:blipFill>
          <a:blip r:embed="rId3"/>
          <a:stretch>
            <a:fillRect/>
          </a:stretch>
        </p:blipFill>
        <p:spPr>
          <a:xfrm>
            <a:off x="1242848" y="1690688"/>
            <a:ext cx="4338146" cy="2612967"/>
          </a:xfrm>
          <a:prstGeom prst="rect">
            <a:avLst/>
          </a:prstGeom>
        </p:spPr>
      </p:pic>
      <p:pic>
        <p:nvPicPr>
          <p:cNvPr id="6" name="Imagem 5">
            <a:extLst>
              <a:ext uri="{FF2B5EF4-FFF2-40B4-BE49-F238E27FC236}">
                <a16:creationId xmlns:a16="http://schemas.microsoft.com/office/drawing/2014/main" id="{03DA70D7-EB01-D384-D138-167BECB4F08B}"/>
              </a:ext>
            </a:extLst>
          </p:cNvPr>
          <p:cNvPicPr>
            <a:picLocks noChangeAspect="1"/>
          </p:cNvPicPr>
          <p:nvPr/>
        </p:nvPicPr>
        <p:blipFill>
          <a:blip r:embed="rId4"/>
          <a:stretch>
            <a:fillRect/>
          </a:stretch>
        </p:blipFill>
        <p:spPr>
          <a:xfrm>
            <a:off x="838200" y="4850524"/>
            <a:ext cx="5095875" cy="1066800"/>
          </a:xfrm>
          <a:prstGeom prst="rect">
            <a:avLst/>
          </a:prstGeom>
        </p:spPr>
      </p:pic>
    </p:spTree>
    <p:extLst>
      <p:ext uri="{BB962C8B-B14F-4D97-AF65-F5344CB8AC3E}">
        <p14:creationId xmlns:p14="http://schemas.microsoft.com/office/powerpoint/2010/main" val="22657651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A0E2D2-FDD9-B41D-180C-D5EE7734DE8F}"/>
              </a:ext>
            </a:extLst>
          </p:cNvPr>
          <p:cNvSpPr>
            <a:spLocks noGrp="1"/>
          </p:cNvSpPr>
          <p:nvPr>
            <p:ph type="title"/>
          </p:nvPr>
        </p:nvSpPr>
        <p:spPr/>
        <p:txBody>
          <a:bodyPr/>
          <a:lstStyle/>
          <a:p>
            <a:r>
              <a:rPr lang="pt-BR" dirty="0"/>
              <a:t>Portabilidade</a:t>
            </a:r>
          </a:p>
        </p:txBody>
      </p:sp>
      <p:sp>
        <p:nvSpPr>
          <p:cNvPr id="3" name="Espaço Reservado para Conteúdo 2">
            <a:extLst>
              <a:ext uri="{FF2B5EF4-FFF2-40B4-BE49-F238E27FC236}">
                <a16:creationId xmlns:a16="http://schemas.microsoft.com/office/drawing/2014/main" id="{00EF41F9-79F8-89BF-93BA-3C30883F64B6}"/>
              </a:ext>
            </a:extLst>
          </p:cNvPr>
          <p:cNvSpPr>
            <a:spLocks noGrp="1"/>
          </p:cNvSpPr>
          <p:nvPr>
            <p:ph idx="1"/>
          </p:nvPr>
        </p:nvSpPr>
        <p:spPr>
          <a:xfrm>
            <a:off x="6272981" y="1807779"/>
            <a:ext cx="5761364" cy="5050220"/>
          </a:xfrm>
        </p:spPr>
        <p:txBody>
          <a:bodyPr>
            <a:normAutofit/>
          </a:bodyPr>
          <a:lstStyle/>
          <a:p>
            <a:r>
              <a:rPr lang="pt-BR" dirty="0"/>
              <a:t>Como forma de </a:t>
            </a:r>
            <a:r>
              <a:rPr lang="pt-BR" b="1" i="1" dirty="0">
                <a:solidFill>
                  <a:schemeClr val="accent2"/>
                </a:solidFill>
              </a:rPr>
              <a:t>abstrair a complexidade</a:t>
            </a:r>
            <a:r>
              <a:rPr lang="pt-BR" b="1" i="1" dirty="0">
                <a:solidFill>
                  <a:srgbClr val="00B050"/>
                </a:solidFill>
              </a:rPr>
              <a:t> dos cálculos e facilitar o uso</a:t>
            </a:r>
            <a:r>
              <a:rPr lang="pt-BR" dirty="0"/>
              <a:t> de operações em ponto flutuante, podemos </a:t>
            </a:r>
            <a:r>
              <a:rPr lang="pt-BR" b="1" i="1" dirty="0">
                <a:solidFill>
                  <a:srgbClr val="00B050"/>
                </a:solidFill>
              </a:rPr>
              <a:t>implementá-las como uma </a:t>
            </a:r>
            <a:r>
              <a:rPr lang="pt-BR" b="1" i="1" dirty="0">
                <a:solidFill>
                  <a:srgbClr val="7030A0"/>
                </a:solidFill>
              </a:rPr>
              <a:t>biblioteca</a:t>
            </a:r>
            <a:r>
              <a:rPr lang="pt-BR" b="1" i="1" dirty="0">
                <a:solidFill>
                  <a:srgbClr val="00B050"/>
                </a:solidFill>
              </a:rPr>
              <a:t> </a:t>
            </a:r>
            <a:r>
              <a:rPr lang="pt-BR" dirty="0"/>
              <a:t>que teria funções para adição, multiplicação, etc. destes valores.</a:t>
            </a:r>
          </a:p>
          <a:p>
            <a:r>
              <a:rPr lang="pt-BR" dirty="0"/>
              <a:t>Entretanto, uma </a:t>
            </a:r>
            <a:r>
              <a:rPr lang="pt-BR" b="1" i="1" dirty="0">
                <a:solidFill>
                  <a:srgbClr val="0070C0"/>
                </a:solidFill>
              </a:rPr>
              <a:t>biblioteca puramente feita em SW</a:t>
            </a:r>
            <a:r>
              <a:rPr lang="pt-BR" dirty="0"/>
              <a:t> para tal finalidade tende a ser </a:t>
            </a:r>
            <a:r>
              <a:rPr lang="pt-BR" b="1" i="1" dirty="0">
                <a:solidFill>
                  <a:srgbClr val="00B050"/>
                </a:solidFill>
              </a:rPr>
              <a:t>muito lenta</a:t>
            </a:r>
            <a:r>
              <a:rPr lang="pt-BR" dirty="0"/>
              <a:t>.</a:t>
            </a:r>
          </a:p>
        </p:txBody>
      </p:sp>
      <p:pic>
        <p:nvPicPr>
          <p:cNvPr id="7" name="Imagem 6">
            <a:extLst>
              <a:ext uri="{FF2B5EF4-FFF2-40B4-BE49-F238E27FC236}">
                <a16:creationId xmlns:a16="http://schemas.microsoft.com/office/drawing/2014/main" id="{3842041B-54CE-6B62-85CE-A1032B3D3B5A}"/>
              </a:ext>
            </a:extLst>
          </p:cNvPr>
          <p:cNvPicPr>
            <a:picLocks noChangeAspect="1"/>
          </p:cNvPicPr>
          <p:nvPr/>
        </p:nvPicPr>
        <p:blipFill>
          <a:blip r:embed="rId3"/>
          <a:stretch>
            <a:fillRect/>
          </a:stretch>
        </p:blipFill>
        <p:spPr>
          <a:xfrm>
            <a:off x="1923393" y="5035039"/>
            <a:ext cx="1994338" cy="1728788"/>
          </a:xfrm>
          <a:prstGeom prst="rect">
            <a:avLst/>
          </a:prstGeom>
        </p:spPr>
      </p:pic>
      <p:pic>
        <p:nvPicPr>
          <p:cNvPr id="9" name="Imagem 8">
            <a:extLst>
              <a:ext uri="{FF2B5EF4-FFF2-40B4-BE49-F238E27FC236}">
                <a16:creationId xmlns:a16="http://schemas.microsoft.com/office/drawing/2014/main" id="{4E6932C6-E19A-0D36-971E-925E185A2E2D}"/>
              </a:ext>
            </a:extLst>
          </p:cNvPr>
          <p:cNvPicPr>
            <a:picLocks noChangeAspect="1"/>
          </p:cNvPicPr>
          <p:nvPr/>
        </p:nvPicPr>
        <p:blipFill>
          <a:blip r:embed="rId4"/>
          <a:stretch>
            <a:fillRect/>
          </a:stretch>
        </p:blipFill>
        <p:spPr>
          <a:xfrm>
            <a:off x="354724" y="1807779"/>
            <a:ext cx="5095875" cy="2381250"/>
          </a:xfrm>
          <a:prstGeom prst="rect">
            <a:avLst/>
          </a:prstGeom>
        </p:spPr>
      </p:pic>
      <p:sp>
        <p:nvSpPr>
          <p:cNvPr id="10" name="Seta: para a Direita 9">
            <a:extLst>
              <a:ext uri="{FF2B5EF4-FFF2-40B4-BE49-F238E27FC236}">
                <a16:creationId xmlns:a16="http://schemas.microsoft.com/office/drawing/2014/main" id="{29B15E1A-FAAC-7C05-1C02-B15341B986C5}"/>
              </a:ext>
            </a:extLst>
          </p:cNvPr>
          <p:cNvSpPr/>
          <p:nvPr/>
        </p:nvSpPr>
        <p:spPr>
          <a:xfrm rot="5400000">
            <a:off x="2578296" y="4293909"/>
            <a:ext cx="568917" cy="64687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3118325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A3597A-F1DB-B79E-408B-6CD6B8B271CB}"/>
              </a:ext>
            </a:extLst>
          </p:cNvPr>
          <p:cNvSpPr>
            <a:spLocks noGrp="1"/>
          </p:cNvSpPr>
          <p:nvPr>
            <p:ph type="title"/>
          </p:nvPr>
        </p:nvSpPr>
        <p:spPr/>
        <p:txBody>
          <a:bodyPr/>
          <a:lstStyle/>
          <a:p>
            <a:r>
              <a:rPr lang="pt-BR" dirty="0"/>
              <a:t>Portabilidade</a:t>
            </a:r>
          </a:p>
        </p:txBody>
      </p:sp>
      <p:sp>
        <p:nvSpPr>
          <p:cNvPr id="3" name="Espaço Reservado para Conteúdo 2">
            <a:extLst>
              <a:ext uri="{FF2B5EF4-FFF2-40B4-BE49-F238E27FC236}">
                <a16:creationId xmlns:a16="http://schemas.microsoft.com/office/drawing/2014/main" id="{08496313-E246-A028-1C9C-99E08135F669}"/>
              </a:ext>
            </a:extLst>
          </p:cNvPr>
          <p:cNvSpPr>
            <a:spLocks noGrp="1"/>
          </p:cNvSpPr>
          <p:nvPr>
            <p:ph idx="1"/>
          </p:nvPr>
        </p:nvSpPr>
        <p:spPr>
          <a:xfrm>
            <a:off x="5555226" y="1825624"/>
            <a:ext cx="6426566" cy="5032376"/>
          </a:xfrm>
        </p:spPr>
        <p:txBody>
          <a:bodyPr>
            <a:normAutofit lnSpcReduction="10000"/>
          </a:bodyPr>
          <a:lstStyle/>
          <a:p>
            <a:r>
              <a:rPr lang="pt-BR" dirty="0"/>
              <a:t>Ao longo dos anos, para acelerar essas operações, o que ocorreu foi a criação de </a:t>
            </a:r>
            <a:r>
              <a:rPr lang="pt-BR" b="1" i="1" dirty="0">
                <a:solidFill>
                  <a:srgbClr val="00B050"/>
                </a:solidFill>
              </a:rPr>
              <a:t>partes da CPU especializadas em operações de ponto flutuante</a:t>
            </a:r>
            <a:r>
              <a:rPr lang="pt-BR" dirty="0"/>
              <a:t>, as chamadas </a:t>
            </a:r>
            <a:r>
              <a:rPr lang="pt-BR" i="1" dirty="0"/>
              <a:t>Floating Point </a:t>
            </a:r>
            <a:r>
              <a:rPr lang="pt-BR" i="1" dirty="0" err="1"/>
              <a:t>Units</a:t>
            </a:r>
            <a:r>
              <a:rPr lang="pt-BR" dirty="0"/>
              <a:t> (</a:t>
            </a:r>
            <a:r>
              <a:rPr lang="pt-BR" dirty="0" err="1"/>
              <a:t>FPUs</a:t>
            </a:r>
            <a:r>
              <a:rPr lang="pt-BR" dirty="0"/>
              <a:t>).</a:t>
            </a:r>
          </a:p>
          <a:p>
            <a:r>
              <a:rPr lang="pt-BR" dirty="0"/>
              <a:t>Isso foi ótimo porque desde sua </a:t>
            </a:r>
            <a:r>
              <a:rPr lang="pt-BR" b="1" i="1" dirty="0">
                <a:solidFill>
                  <a:srgbClr val="0070C0"/>
                </a:solidFill>
              </a:rPr>
              <a:t>proliferação</a:t>
            </a:r>
            <a:r>
              <a:rPr lang="pt-BR" dirty="0"/>
              <a:t>, </a:t>
            </a:r>
            <a:r>
              <a:rPr lang="pt-BR" b="1" i="1" dirty="0">
                <a:solidFill>
                  <a:srgbClr val="7030A0"/>
                </a:solidFill>
              </a:rPr>
              <a:t>praticamente toda CPU tem uma FPU dentro dela</a:t>
            </a:r>
            <a:r>
              <a:rPr lang="pt-BR" dirty="0"/>
              <a:t>. </a:t>
            </a:r>
          </a:p>
          <a:p>
            <a:r>
              <a:rPr lang="pt-BR" dirty="0"/>
              <a:t>Portanto, </a:t>
            </a:r>
            <a:r>
              <a:rPr lang="pt-BR" b="1" i="1" dirty="0">
                <a:solidFill>
                  <a:srgbClr val="00B050"/>
                </a:solidFill>
              </a:rPr>
              <a:t>escrevemos o código uma única vez e ele é executado em qualquer lugar</a:t>
            </a:r>
            <a:r>
              <a:rPr lang="pt-BR" dirty="0"/>
              <a:t>. </a:t>
            </a:r>
          </a:p>
          <a:p>
            <a:r>
              <a:rPr lang="pt-BR" dirty="0"/>
              <a:t>Mas isso expõe uma </a:t>
            </a:r>
            <a:r>
              <a:rPr lang="pt-BR" b="1" i="1" dirty="0">
                <a:solidFill>
                  <a:schemeClr val="accent1"/>
                </a:solidFill>
              </a:rPr>
              <a:t>relação de compromisso</a:t>
            </a:r>
            <a:r>
              <a:rPr lang="pt-BR" dirty="0"/>
              <a:t>.</a:t>
            </a:r>
          </a:p>
        </p:txBody>
      </p:sp>
      <p:pic>
        <p:nvPicPr>
          <p:cNvPr id="5" name="Imagem 4">
            <a:extLst>
              <a:ext uri="{FF2B5EF4-FFF2-40B4-BE49-F238E27FC236}">
                <a16:creationId xmlns:a16="http://schemas.microsoft.com/office/drawing/2014/main" id="{49DFB8EA-B83F-6EA7-5D52-F52072B50025}"/>
              </a:ext>
            </a:extLst>
          </p:cNvPr>
          <p:cNvPicPr>
            <a:picLocks noChangeAspect="1"/>
          </p:cNvPicPr>
          <p:nvPr/>
        </p:nvPicPr>
        <p:blipFill>
          <a:blip r:embed="rId2"/>
          <a:stretch>
            <a:fillRect/>
          </a:stretch>
        </p:blipFill>
        <p:spPr>
          <a:xfrm>
            <a:off x="361786" y="1690688"/>
            <a:ext cx="3134710" cy="3467179"/>
          </a:xfrm>
          <a:prstGeom prst="rect">
            <a:avLst/>
          </a:prstGeom>
        </p:spPr>
      </p:pic>
      <p:pic>
        <p:nvPicPr>
          <p:cNvPr id="9" name="Imagem 8">
            <a:extLst>
              <a:ext uri="{FF2B5EF4-FFF2-40B4-BE49-F238E27FC236}">
                <a16:creationId xmlns:a16="http://schemas.microsoft.com/office/drawing/2014/main" id="{CF3D539D-9EA3-3B50-EDE9-8CFD03CBA8DB}"/>
              </a:ext>
            </a:extLst>
          </p:cNvPr>
          <p:cNvPicPr>
            <a:picLocks noChangeAspect="1"/>
          </p:cNvPicPr>
          <p:nvPr/>
        </p:nvPicPr>
        <p:blipFill>
          <a:blip r:embed="rId3"/>
          <a:stretch>
            <a:fillRect/>
          </a:stretch>
        </p:blipFill>
        <p:spPr>
          <a:xfrm>
            <a:off x="3141695" y="3424277"/>
            <a:ext cx="2204725" cy="1217995"/>
          </a:xfrm>
          <a:prstGeom prst="rect">
            <a:avLst/>
          </a:prstGeom>
        </p:spPr>
      </p:pic>
      <p:sp>
        <p:nvSpPr>
          <p:cNvPr id="10" name="Seta: para a Direita 9">
            <a:extLst>
              <a:ext uri="{FF2B5EF4-FFF2-40B4-BE49-F238E27FC236}">
                <a16:creationId xmlns:a16="http://schemas.microsoft.com/office/drawing/2014/main" id="{C6BA27D4-5FF8-C2D8-4D3F-32BFFE78D914}"/>
              </a:ext>
            </a:extLst>
          </p:cNvPr>
          <p:cNvSpPr/>
          <p:nvPr/>
        </p:nvSpPr>
        <p:spPr>
          <a:xfrm>
            <a:off x="2602324" y="3966066"/>
            <a:ext cx="409904" cy="26275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CaixaDeTexto 3">
            <a:extLst>
              <a:ext uri="{FF2B5EF4-FFF2-40B4-BE49-F238E27FC236}">
                <a16:creationId xmlns:a16="http://schemas.microsoft.com/office/drawing/2014/main" id="{542A1A7B-4D5D-B287-05C4-C78E5DB0B89D}"/>
              </a:ext>
            </a:extLst>
          </p:cNvPr>
          <p:cNvSpPr txBox="1"/>
          <p:nvPr/>
        </p:nvSpPr>
        <p:spPr>
          <a:xfrm>
            <a:off x="1030095" y="5415955"/>
            <a:ext cx="3816226" cy="738664"/>
          </a:xfrm>
          <a:prstGeom prst="rect">
            <a:avLst/>
          </a:prstGeom>
          <a:noFill/>
        </p:spPr>
        <p:txBody>
          <a:bodyPr wrap="square" rtlCol="0">
            <a:spAutoFit/>
          </a:bodyPr>
          <a:lstStyle/>
          <a:p>
            <a:pPr algn="ctr"/>
            <a:r>
              <a:rPr lang="pt-BR" sz="1400" dirty="0"/>
              <a:t>Até as CPUs 386, o coprocessador matemático, contendo a FPU, era um </a:t>
            </a:r>
            <a:r>
              <a:rPr lang="pt-BR" sz="1400" i="1" dirty="0"/>
              <a:t>chip</a:t>
            </a:r>
            <a:r>
              <a:rPr lang="pt-BR" sz="1400" dirty="0"/>
              <a:t> separado instalado opcionalmente em um </a:t>
            </a:r>
            <a:r>
              <a:rPr lang="pt-BR" sz="1400" i="1" dirty="0"/>
              <a:t>socket</a:t>
            </a:r>
            <a:r>
              <a:rPr lang="pt-BR" sz="1400" dirty="0"/>
              <a:t> da placa mãe.</a:t>
            </a:r>
          </a:p>
        </p:txBody>
      </p:sp>
    </p:spTree>
    <p:extLst>
      <p:ext uri="{BB962C8B-B14F-4D97-AF65-F5344CB8AC3E}">
        <p14:creationId xmlns:p14="http://schemas.microsoft.com/office/powerpoint/2010/main" val="4073120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6D14E7-9D5A-5F84-464A-6878378460B7}"/>
              </a:ext>
            </a:extLst>
          </p:cNvPr>
          <p:cNvSpPr>
            <a:spLocks noGrp="1"/>
          </p:cNvSpPr>
          <p:nvPr>
            <p:ph type="title"/>
          </p:nvPr>
        </p:nvSpPr>
        <p:spPr/>
        <p:txBody>
          <a:bodyPr/>
          <a:lstStyle/>
          <a:p>
            <a:r>
              <a:rPr lang="pt-BR" dirty="0"/>
              <a:t>O perde-e-ganha da portabilidade</a:t>
            </a:r>
          </a:p>
        </p:txBody>
      </p:sp>
      <p:sp>
        <p:nvSpPr>
          <p:cNvPr id="3" name="Espaço Reservado para Conteúdo 2">
            <a:extLst>
              <a:ext uri="{FF2B5EF4-FFF2-40B4-BE49-F238E27FC236}">
                <a16:creationId xmlns:a16="http://schemas.microsoft.com/office/drawing/2014/main" id="{7EEEEC54-7A6C-782C-9072-DBC17E9BF467}"/>
              </a:ext>
            </a:extLst>
          </p:cNvPr>
          <p:cNvSpPr>
            <a:spLocks noGrp="1"/>
          </p:cNvSpPr>
          <p:nvPr>
            <p:ph idx="1"/>
          </p:nvPr>
        </p:nvSpPr>
        <p:spPr>
          <a:xfrm>
            <a:off x="838201" y="4695385"/>
            <a:ext cx="11353802" cy="2162614"/>
          </a:xfrm>
        </p:spPr>
        <p:txBody>
          <a:bodyPr>
            <a:normAutofit/>
          </a:bodyPr>
          <a:lstStyle/>
          <a:p>
            <a:r>
              <a:rPr lang="pt-BR" dirty="0"/>
              <a:t>A </a:t>
            </a:r>
            <a:r>
              <a:rPr lang="pt-BR" b="1" i="1" dirty="0">
                <a:solidFill>
                  <a:srgbClr val="FF0000"/>
                </a:solidFill>
              </a:rPr>
              <a:t>portabilidade universal de código têm altos custos</a:t>
            </a:r>
            <a:r>
              <a:rPr lang="pt-BR" dirty="0">
                <a:solidFill>
                  <a:srgbClr val="FF0000"/>
                </a:solidFill>
              </a:rPr>
              <a:t> </a:t>
            </a:r>
            <a:r>
              <a:rPr lang="pt-BR" dirty="0"/>
              <a:t>associados.</a:t>
            </a:r>
          </a:p>
          <a:p>
            <a:r>
              <a:rPr lang="pt-BR" dirty="0"/>
              <a:t>Sua </a:t>
            </a:r>
            <a:r>
              <a:rPr lang="pt-BR" b="1" i="1" dirty="0"/>
              <a:t>implementação custa caro </a:t>
            </a:r>
            <a:r>
              <a:rPr lang="pt-BR" dirty="0"/>
              <a:t>(HW complexo e mais caro).</a:t>
            </a:r>
          </a:p>
          <a:p>
            <a:r>
              <a:rPr lang="pt-BR" b="1" i="1" dirty="0"/>
              <a:t>Mais energia é consumida </a:t>
            </a:r>
            <a:r>
              <a:rPr lang="pt-BR" dirty="0"/>
              <a:t>por esses sistemas de uso geral (W).</a:t>
            </a:r>
          </a:p>
          <a:p>
            <a:pPr lvl="1">
              <a:buFont typeface="Wingdings" panose="05000000000000000000" pitchFamily="2" charset="2"/>
              <a:buChar char="§"/>
            </a:pPr>
            <a:r>
              <a:rPr lang="pt-BR" dirty="0"/>
              <a:t>Por exemplo, a FPU quando usada aumenta o consumo de energia da CPU.</a:t>
            </a:r>
          </a:p>
        </p:txBody>
      </p:sp>
      <p:grpSp>
        <p:nvGrpSpPr>
          <p:cNvPr id="4" name="Group 3">
            <a:extLst>
              <a:ext uri="{FF2B5EF4-FFF2-40B4-BE49-F238E27FC236}">
                <a16:creationId xmlns:a16="http://schemas.microsoft.com/office/drawing/2014/main" id="{EFE7EFD6-F3FA-47DD-3BB6-BBD1E83C83CA}"/>
              </a:ext>
            </a:extLst>
          </p:cNvPr>
          <p:cNvGrpSpPr/>
          <p:nvPr/>
        </p:nvGrpSpPr>
        <p:grpSpPr>
          <a:xfrm>
            <a:off x="3243588" y="1926300"/>
            <a:ext cx="5972130" cy="2549566"/>
            <a:chOff x="123870" y="2733126"/>
            <a:chExt cx="5972130" cy="2549566"/>
          </a:xfrm>
        </p:grpSpPr>
        <p:grpSp>
          <p:nvGrpSpPr>
            <p:cNvPr id="16" name="Agrupar 15">
              <a:extLst>
                <a:ext uri="{FF2B5EF4-FFF2-40B4-BE49-F238E27FC236}">
                  <a16:creationId xmlns:a16="http://schemas.microsoft.com/office/drawing/2014/main" id="{4060895C-1B19-CC1F-90DA-B0C2976CC659}"/>
                </a:ext>
              </a:extLst>
            </p:cNvPr>
            <p:cNvGrpSpPr/>
            <p:nvPr/>
          </p:nvGrpSpPr>
          <p:grpSpPr>
            <a:xfrm>
              <a:off x="165911" y="2733126"/>
              <a:ext cx="5930089" cy="1791851"/>
              <a:chOff x="294292" y="1797706"/>
              <a:chExt cx="5930089" cy="1791851"/>
            </a:xfrm>
          </p:grpSpPr>
          <p:sp>
            <p:nvSpPr>
              <p:cNvPr id="6" name="Retângulo 5">
                <a:extLst>
                  <a:ext uri="{FF2B5EF4-FFF2-40B4-BE49-F238E27FC236}">
                    <a16:creationId xmlns:a16="http://schemas.microsoft.com/office/drawing/2014/main" id="{09BBDE75-7710-2E09-3176-2345DBD1726F}"/>
                  </a:ext>
                </a:extLst>
              </p:cNvPr>
              <p:cNvSpPr/>
              <p:nvPr/>
            </p:nvSpPr>
            <p:spPr>
              <a:xfrm>
                <a:off x="294292" y="1825625"/>
                <a:ext cx="5507421" cy="315311"/>
              </a:xfrm>
              <a:prstGeom prst="rect">
                <a:avLst/>
              </a:prstGeom>
              <a:solidFill>
                <a:srgbClr val="92D050"/>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r"/>
                <a:r>
                  <a:rPr lang="pt-BR" sz="1400" b="1" dirty="0"/>
                  <a:t>Portabilidade universal de código</a:t>
                </a:r>
              </a:p>
            </p:txBody>
          </p:sp>
          <p:sp>
            <p:nvSpPr>
              <p:cNvPr id="7" name="Retângulo 6">
                <a:extLst>
                  <a:ext uri="{FF2B5EF4-FFF2-40B4-BE49-F238E27FC236}">
                    <a16:creationId xmlns:a16="http://schemas.microsoft.com/office/drawing/2014/main" id="{ACAAB372-B052-AAA4-38AD-A622856BEC78}"/>
                  </a:ext>
                </a:extLst>
              </p:cNvPr>
              <p:cNvSpPr/>
              <p:nvPr/>
            </p:nvSpPr>
            <p:spPr>
              <a:xfrm>
                <a:off x="294293" y="2336908"/>
                <a:ext cx="4939862" cy="315311"/>
              </a:xfrm>
              <a:prstGeom prst="rect">
                <a:avLst/>
              </a:prstGeom>
              <a:solidFill>
                <a:srgbClr val="FF0000"/>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r"/>
                <a:r>
                  <a:rPr lang="pt-BR" sz="1400" b="1" dirty="0"/>
                  <a:t>Custo ($)</a:t>
                </a:r>
              </a:p>
            </p:txBody>
          </p:sp>
          <p:sp>
            <p:nvSpPr>
              <p:cNvPr id="8" name="Retângulo 7">
                <a:extLst>
                  <a:ext uri="{FF2B5EF4-FFF2-40B4-BE49-F238E27FC236}">
                    <a16:creationId xmlns:a16="http://schemas.microsoft.com/office/drawing/2014/main" id="{FCFB2203-E74E-D953-2DAD-68549BEA2478}"/>
                  </a:ext>
                </a:extLst>
              </p:cNvPr>
              <p:cNvSpPr/>
              <p:nvPr/>
            </p:nvSpPr>
            <p:spPr>
              <a:xfrm>
                <a:off x="294292" y="2785405"/>
                <a:ext cx="5192111" cy="315311"/>
              </a:xfrm>
              <a:prstGeom prst="rect">
                <a:avLst/>
              </a:prstGeom>
              <a:solidFill>
                <a:srgbClr val="FF0000"/>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r"/>
                <a:r>
                  <a:rPr lang="pt-BR" sz="1400" b="1" dirty="0"/>
                  <a:t>Consumo de energia (W)</a:t>
                </a:r>
              </a:p>
            </p:txBody>
          </p:sp>
          <p:sp>
            <p:nvSpPr>
              <p:cNvPr id="9" name="Retângulo 8">
                <a:extLst>
                  <a:ext uri="{FF2B5EF4-FFF2-40B4-BE49-F238E27FC236}">
                    <a16:creationId xmlns:a16="http://schemas.microsoft.com/office/drawing/2014/main" id="{CDE9FDB5-AB13-0131-9A5B-D5FDA12F44DB}"/>
                  </a:ext>
                </a:extLst>
              </p:cNvPr>
              <p:cNvSpPr/>
              <p:nvPr/>
            </p:nvSpPr>
            <p:spPr>
              <a:xfrm>
                <a:off x="294292" y="3274246"/>
                <a:ext cx="5192111" cy="315311"/>
              </a:xfrm>
              <a:prstGeom prst="rect">
                <a:avLst/>
              </a:prstGeom>
              <a:solidFill>
                <a:srgbClr val="FF0000"/>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r"/>
                <a:r>
                  <a:rPr lang="pt-BR" sz="1400" b="1" dirty="0"/>
                  <a:t>Esforço de engenharia</a:t>
                </a:r>
              </a:p>
            </p:txBody>
          </p:sp>
          <p:pic>
            <p:nvPicPr>
              <p:cNvPr id="11" name="Imagem 10">
                <a:extLst>
                  <a:ext uri="{FF2B5EF4-FFF2-40B4-BE49-F238E27FC236}">
                    <a16:creationId xmlns:a16="http://schemas.microsoft.com/office/drawing/2014/main" id="{73C7DC1A-D875-E47D-76DA-932DE48067AD}"/>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5936381" y="1797706"/>
                <a:ext cx="288000" cy="266880"/>
              </a:xfrm>
              <a:prstGeom prst="rect">
                <a:avLst/>
              </a:prstGeom>
            </p:spPr>
          </p:pic>
          <p:pic>
            <p:nvPicPr>
              <p:cNvPr id="13" name="Imagem 12">
                <a:extLst>
                  <a:ext uri="{FF2B5EF4-FFF2-40B4-BE49-F238E27FC236}">
                    <a16:creationId xmlns:a16="http://schemas.microsoft.com/office/drawing/2014/main" id="{795F8E48-75FC-F986-93F3-D06B6431E084}"/>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5381920" y="2368565"/>
                <a:ext cx="252000" cy="252000"/>
              </a:xfrm>
              <a:prstGeom prst="rect">
                <a:avLst/>
              </a:prstGeom>
            </p:spPr>
          </p:pic>
          <p:pic>
            <p:nvPicPr>
              <p:cNvPr id="14" name="Imagem 13">
                <a:extLst>
                  <a:ext uri="{FF2B5EF4-FFF2-40B4-BE49-F238E27FC236}">
                    <a16:creationId xmlns:a16="http://schemas.microsoft.com/office/drawing/2014/main" id="{00AE45CD-AB9F-B582-56D7-24E504DF23F1}"/>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5639444" y="2818813"/>
                <a:ext cx="252000" cy="252000"/>
              </a:xfrm>
              <a:prstGeom prst="rect">
                <a:avLst/>
              </a:prstGeom>
            </p:spPr>
          </p:pic>
          <p:pic>
            <p:nvPicPr>
              <p:cNvPr id="15" name="Imagem 14">
                <a:extLst>
                  <a:ext uri="{FF2B5EF4-FFF2-40B4-BE49-F238E27FC236}">
                    <a16:creationId xmlns:a16="http://schemas.microsoft.com/office/drawing/2014/main" id="{71105135-F588-0693-01C7-A14C231B20AB}"/>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5633920" y="3303000"/>
                <a:ext cx="252000" cy="252000"/>
              </a:xfrm>
              <a:prstGeom prst="rect">
                <a:avLst/>
              </a:prstGeom>
            </p:spPr>
          </p:pic>
        </p:grpSp>
        <p:sp>
          <p:nvSpPr>
            <p:cNvPr id="17" name="Chave Esquerda 16">
              <a:extLst>
                <a:ext uri="{FF2B5EF4-FFF2-40B4-BE49-F238E27FC236}">
                  <a16:creationId xmlns:a16="http://schemas.microsoft.com/office/drawing/2014/main" id="{6C130C4E-80BF-BCE4-1C4C-85A3A210B085}"/>
                </a:ext>
              </a:extLst>
            </p:cNvPr>
            <p:cNvSpPr/>
            <p:nvPr/>
          </p:nvSpPr>
          <p:spPr>
            <a:xfrm rot="16200000">
              <a:off x="2734709" y="1933136"/>
              <a:ext cx="420414" cy="5642092"/>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8" name="CaixaDeTexto 17">
              <a:extLst>
                <a:ext uri="{FF2B5EF4-FFF2-40B4-BE49-F238E27FC236}">
                  <a16:creationId xmlns:a16="http://schemas.microsoft.com/office/drawing/2014/main" id="{50865737-6935-C786-E912-706B913181D1}"/>
                </a:ext>
              </a:extLst>
            </p:cNvPr>
            <p:cNvSpPr txBox="1"/>
            <p:nvPr/>
          </p:nvSpPr>
          <p:spPr>
            <a:xfrm>
              <a:off x="2408888" y="4913360"/>
              <a:ext cx="1072055" cy="369332"/>
            </a:xfrm>
            <a:prstGeom prst="rect">
              <a:avLst/>
            </a:prstGeom>
            <a:noFill/>
          </p:spPr>
          <p:txBody>
            <a:bodyPr wrap="square" rtlCol="0">
              <a:spAutoFit/>
            </a:bodyPr>
            <a:lstStyle/>
            <a:p>
              <a:r>
                <a:rPr lang="pt-BR" dirty="0"/>
                <a:t>Opção 1</a:t>
              </a:r>
            </a:p>
          </p:txBody>
        </p:sp>
      </p:grpSp>
    </p:spTree>
    <p:extLst>
      <p:ext uri="{BB962C8B-B14F-4D97-AF65-F5344CB8AC3E}">
        <p14:creationId xmlns:p14="http://schemas.microsoft.com/office/powerpoint/2010/main" val="7174902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E5E43-D229-3C66-5955-FC56B8DBF2B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6494963-2A87-D26F-D799-8D54C280560D}"/>
              </a:ext>
            </a:extLst>
          </p:cNvPr>
          <p:cNvSpPr>
            <a:spLocks noGrp="1"/>
          </p:cNvSpPr>
          <p:nvPr>
            <p:ph type="title"/>
          </p:nvPr>
        </p:nvSpPr>
        <p:spPr/>
        <p:txBody>
          <a:bodyPr/>
          <a:lstStyle/>
          <a:p>
            <a:r>
              <a:rPr lang="pt-BR" dirty="0"/>
              <a:t>O perde-e-ganha da portabilidade</a:t>
            </a:r>
          </a:p>
        </p:txBody>
      </p:sp>
      <p:sp>
        <p:nvSpPr>
          <p:cNvPr id="3" name="Espaço Reservado para Conteúdo 2">
            <a:extLst>
              <a:ext uri="{FF2B5EF4-FFF2-40B4-BE49-F238E27FC236}">
                <a16:creationId xmlns:a16="http://schemas.microsoft.com/office/drawing/2014/main" id="{DC2EAF86-804C-D231-796E-6172FD22FEF6}"/>
              </a:ext>
            </a:extLst>
          </p:cNvPr>
          <p:cNvSpPr>
            <a:spLocks noGrp="1"/>
          </p:cNvSpPr>
          <p:nvPr>
            <p:ph idx="1"/>
          </p:nvPr>
        </p:nvSpPr>
        <p:spPr>
          <a:xfrm>
            <a:off x="838201" y="4695385"/>
            <a:ext cx="11353802" cy="2162614"/>
          </a:xfrm>
        </p:spPr>
        <p:txBody>
          <a:bodyPr>
            <a:normAutofit/>
          </a:bodyPr>
          <a:lstStyle/>
          <a:p>
            <a:r>
              <a:rPr lang="pt-BR" dirty="0"/>
              <a:t>Necessita-se de </a:t>
            </a:r>
            <a:r>
              <a:rPr lang="pt-BR" b="1" i="1" dirty="0"/>
              <a:t>um esforço de engenharia (i.e., de projeto) grande </a:t>
            </a:r>
            <a:r>
              <a:rPr lang="pt-BR" dirty="0"/>
              <a:t>para construí-los e que, consequentemente, </a:t>
            </a:r>
            <a:r>
              <a:rPr lang="pt-BR" b="1" i="1" dirty="0"/>
              <a:t>eleva</a:t>
            </a:r>
            <a:r>
              <a:rPr lang="pt-BR" dirty="0"/>
              <a:t> mais ainda </a:t>
            </a:r>
            <a:r>
              <a:rPr lang="pt-BR" b="1" i="1" dirty="0"/>
              <a:t>os custos</a:t>
            </a:r>
            <a:r>
              <a:rPr lang="pt-BR" dirty="0"/>
              <a:t>.</a:t>
            </a:r>
          </a:p>
          <a:p>
            <a:r>
              <a:rPr lang="pt-BR" dirty="0"/>
              <a:t>Portanto, se queremos portabilidade universal, temos que pagar estes preços.</a:t>
            </a:r>
          </a:p>
        </p:txBody>
      </p:sp>
      <p:grpSp>
        <p:nvGrpSpPr>
          <p:cNvPr id="4" name="Group 3">
            <a:extLst>
              <a:ext uri="{FF2B5EF4-FFF2-40B4-BE49-F238E27FC236}">
                <a16:creationId xmlns:a16="http://schemas.microsoft.com/office/drawing/2014/main" id="{0F6AAB73-64A2-438C-40F9-EDF5A5243711}"/>
              </a:ext>
            </a:extLst>
          </p:cNvPr>
          <p:cNvGrpSpPr/>
          <p:nvPr/>
        </p:nvGrpSpPr>
        <p:grpSpPr>
          <a:xfrm>
            <a:off x="3243588" y="1883268"/>
            <a:ext cx="5972130" cy="2549566"/>
            <a:chOff x="123870" y="2733126"/>
            <a:chExt cx="5972130" cy="2549566"/>
          </a:xfrm>
        </p:grpSpPr>
        <p:grpSp>
          <p:nvGrpSpPr>
            <p:cNvPr id="16" name="Agrupar 15">
              <a:extLst>
                <a:ext uri="{FF2B5EF4-FFF2-40B4-BE49-F238E27FC236}">
                  <a16:creationId xmlns:a16="http://schemas.microsoft.com/office/drawing/2014/main" id="{8C2A796C-2000-0E31-C48E-446DCAA6ECD8}"/>
                </a:ext>
              </a:extLst>
            </p:cNvPr>
            <p:cNvGrpSpPr/>
            <p:nvPr/>
          </p:nvGrpSpPr>
          <p:grpSpPr>
            <a:xfrm>
              <a:off x="165911" y="2733126"/>
              <a:ext cx="5930089" cy="1791851"/>
              <a:chOff x="294292" y="1797706"/>
              <a:chExt cx="5930089" cy="1791851"/>
            </a:xfrm>
          </p:grpSpPr>
          <p:sp>
            <p:nvSpPr>
              <p:cNvPr id="6" name="Retângulo 5">
                <a:extLst>
                  <a:ext uri="{FF2B5EF4-FFF2-40B4-BE49-F238E27FC236}">
                    <a16:creationId xmlns:a16="http://schemas.microsoft.com/office/drawing/2014/main" id="{C390C258-61F5-2C67-210E-0D0A1E812ABB}"/>
                  </a:ext>
                </a:extLst>
              </p:cNvPr>
              <p:cNvSpPr/>
              <p:nvPr/>
            </p:nvSpPr>
            <p:spPr>
              <a:xfrm>
                <a:off x="294292" y="1825625"/>
                <a:ext cx="5507421" cy="315311"/>
              </a:xfrm>
              <a:prstGeom prst="rect">
                <a:avLst/>
              </a:prstGeom>
              <a:solidFill>
                <a:srgbClr val="92D050"/>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r"/>
                <a:r>
                  <a:rPr lang="pt-BR" sz="1400" b="1" dirty="0"/>
                  <a:t>Portabilidade universal de código</a:t>
                </a:r>
              </a:p>
            </p:txBody>
          </p:sp>
          <p:sp>
            <p:nvSpPr>
              <p:cNvPr id="7" name="Retângulo 6">
                <a:extLst>
                  <a:ext uri="{FF2B5EF4-FFF2-40B4-BE49-F238E27FC236}">
                    <a16:creationId xmlns:a16="http://schemas.microsoft.com/office/drawing/2014/main" id="{A1A22604-D09C-28DC-4124-70807F1437E0}"/>
                  </a:ext>
                </a:extLst>
              </p:cNvPr>
              <p:cNvSpPr/>
              <p:nvPr/>
            </p:nvSpPr>
            <p:spPr>
              <a:xfrm>
                <a:off x="294293" y="2336908"/>
                <a:ext cx="4939862" cy="315311"/>
              </a:xfrm>
              <a:prstGeom prst="rect">
                <a:avLst/>
              </a:prstGeom>
              <a:solidFill>
                <a:srgbClr val="FF0000"/>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r"/>
                <a:r>
                  <a:rPr lang="pt-BR" sz="1400" b="1" dirty="0"/>
                  <a:t>Custo ($)</a:t>
                </a:r>
              </a:p>
            </p:txBody>
          </p:sp>
          <p:sp>
            <p:nvSpPr>
              <p:cNvPr id="8" name="Retângulo 7">
                <a:extLst>
                  <a:ext uri="{FF2B5EF4-FFF2-40B4-BE49-F238E27FC236}">
                    <a16:creationId xmlns:a16="http://schemas.microsoft.com/office/drawing/2014/main" id="{133F54C3-2C90-C67E-E6C9-B8C0714DA0BC}"/>
                  </a:ext>
                </a:extLst>
              </p:cNvPr>
              <p:cNvSpPr/>
              <p:nvPr/>
            </p:nvSpPr>
            <p:spPr>
              <a:xfrm>
                <a:off x="294292" y="2785405"/>
                <a:ext cx="5192111" cy="315311"/>
              </a:xfrm>
              <a:prstGeom prst="rect">
                <a:avLst/>
              </a:prstGeom>
              <a:solidFill>
                <a:srgbClr val="FF0000"/>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r"/>
                <a:r>
                  <a:rPr lang="pt-BR" sz="1400" b="1" dirty="0"/>
                  <a:t>Consumo de energia (W)</a:t>
                </a:r>
              </a:p>
            </p:txBody>
          </p:sp>
          <p:sp>
            <p:nvSpPr>
              <p:cNvPr id="9" name="Retângulo 8">
                <a:extLst>
                  <a:ext uri="{FF2B5EF4-FFF2-40B4-BE49-F238E27FC236}">
                    <a16:creationId xmlns:a16="http://schemas.microsoft.com/office/drawing/2014/main" id="{BAA72B17-025C-C420-EAE1-A51DFE801F35}"/>
                  </a:ext>
                </a:extLst>
              </p:cNvPr>
              <p:cNvSpPr/>
              <p:nvPr/>
            </p:nvSpPr>
            <p:spPr>
              <a:xfrm>
                <a:off x="294292" y="3274246"/>
                <a:ext cx="5192111" cy="315311"/>
              </a:xfrm>
              <a:prstGeom prst="rect">
                <a:avLst/>
              </a:prstGeom>
              <a:solidFill>
                <a:srgbClr val="FF0000"/>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r"/>
                <a:r>
                  <a:rPr lang="pt-BR" sz="1400" b="1" dirty="0"/>
                  <a:t>Esforço de engenharia</a:t>
                </a:r>
              </a:p>
            </p:txBody>
          </p:sp>
          <p:pic>
            <p:nvPicPr>
              <p:cNvPr id="11" name="Imagem 10">
                <a:extLst>
                  <a:ext uri="{FF2B5EF4-FFF2-40B4-BE49-F238E27FC236}">
                    <a16:creationId xmlns:a16="http://schemas.microsoft.com/office/drawing/2014/main" id="{4AB61C3A-32EE-D222-44BC-94746E79E03A}"/>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5936381" y="1797706"/>
                <a:ext cx="288000" cy="266880"/>
              </a:xfrm>
              <a:prstGeom prst="rect">
                <a:avLst/>
              </a:prstGeom>
            </p:spPr>
          </p:pic>
          <p:pic>
            <p:nvPicPr>
              <p:cNvPr id="13" name="Imagem 12">
                <a:extLst>
                  <a:ext uri="{FF2B5EF4-FFF2-40B4-BE49-F238E27FC236}">
                    <a16:creationId xmlns:a16="http://schemas.microsoft.com/office/drawing/2014/main" id="{9B01B9B9-AB94-D0D8-C7CC-A9CC61CC921C}"/>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5381920" y="2368565"/>
                <a:ext cx="252000" cy="252000"/>
              </a:xfrm>
              <a:prstGeom prst="rect">
                <a:avLst/>
              </a:prstGeom>
            </p:spPr>
          </p:pic>
          <p:pic>
            <p:nvPicPr>
              <p:cNvPr id="14" name="Imagem 13">
                <a:extLst>
                  <a:ext uri="{FF2B5EF4-FFF2-40B4-BE49-F238E27FC236}">
                    <a16:creationId xmlns:a16="http://schemas.microsoft.com/office/drawing/2014/main" id="{E7EDFE13-7271-DDDD-9705-DA3346604969}"/>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5639444" y="2818813"/>
                <a:ext cx="252000" cy="252000"/>
              </a:xfrm>
              <a:prstGeom prst="rect">
                <a:avLst/>
              </a:prstGeom>
            </p:spPr>
          </p:pic>
          <p:pic>
            <p:nvPicPr>
              <p:cNvPr id="15" name="Imagem 14">
                <a:extLst>
                  <a:ext uri="{FF2B5EF4-FFF2-40B4-BE49-F238E27FC236}">
                    <a16:creationId xmlns:a16="http://schemas.microsoft.com/office/drawing/2014/main" id="{78ACC678-C228-3AD6-9512-AAC0ACC38BC1}"/>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5633920" y="3303000"/>
                <a:ext cx="252000" cy="252000"/>
              </a:xfrm>
              <a:prstGeom prst="rect">
                <a:avLst/>
              </a:prstGeom>
            </p:spPr>
          </p:pic>
        </p:grpSp>
        <p:sp>
          <p:nvSpPr>
            <p:cNvPr id="17" name="Chave Esquerda 16">
              <a:extLst>
                <a:ext uri="{FF2B5EF4-FFF2-40B4-BE49-F238E27FC236}">
                  <a16:creationId xmlns:a16="http://schemas.microsoft.com/office/drawing/2014/main" id="{C7740CF5-084A-9BF4-A2D6-F5DB3A1FD52E}"/>
                </a:ext>
              </a:extLst>
            </p:cNvPr>
            <p:cNvSpPr/>
            <p:nvPr/>
          </p:nvSpPr>
          <p:spPr>
            <a:xfrm rot="16200000">
              <a:off x="2734709" y="1933136"/>
              <a:ext cx="420414" cy="5642092"/>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8" name="CaixaDeTexto 17">
              <a:extLst>
                <a:ext uri="{FF2B5EF4-FFF2-40B4-BE49-F238E27FC236}">
                  <a16:creationId xmlns:a16="http://schemas.microsoft.com/office/drawing/2014/main" id="{B8275F90-D2F4-4974-EF76-5F0A870E00C4}"/>
                </a:ext>
              </a:extLst>
            </p:cNvPr>
            <p:cNvSpPr txBox="1"/>
            <p:nvPr/>
          </p:nvSpPr>
          <p:spPr>
            <a:xfrm>
              <a:off x="2408888" y="4913360"/>
              <a:ext cx="1072055" cy="369332"/>
            </a:xfrm>
            <a:prstGeom prst="rect">
              <a:avLst/>
            </a:prstGeom>
            <a:noFill/>
          </p:spPr>
          <p:txBody>
            <a:bodyPr wrap="square" rtlCol="0">
              <a:spAutoFit/>
            </a:bodyPr>
            <a:lstStyle/>
            <a:p>
              <a:r>
                <a:rPr lang="pt-BR" dirty="0"/>
                <a:t>Opção 1</a:t>
              </a:r>
            </a:p>
          </p:txBody>
        </p:sp>
      </p:grpSp>
    </p:spTree>
    <p:extLst>
      <p:ext uri="{BB962C8B-B14F-4D97-AF65-F5344CB8AC3E}">
        <p14:creationId xmlns:p14="http://schemas.microsoft.com/office/powerpoint/2010/main" val="16662398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E7AD28-0223-0B8D-222B-BE16AB579BBE}"/>
              </a:ext>
            </a:extLst>
          </p:cNvPr>
          <p:cNvSpPr>
            <a:spLocks noGrp="1"/>
          </p:cNvSpPr>
          <p:nvPr>
            <p:ph type="title"/>
          </p:nvPr>
        </p:nvSpPr>
        <p:spPr/>
        <p:txBody>
          <a:bodyPr/>
          <a:lstStyle/>
          <a:p>
            <a:r>
              <a:rPr lang="pt-BR" dirty="0"/>
              <a:t>O perde-e-ganha da portabilidade</a:t>
            </a:r>
          </a:p>
        </p:txBody>
      </p:sp>
      <p:sp>
        <p:nvSpPr>
          <p:cNvPr id="3" name="Espaço Reservado para Conteúdo 2">
            <a:extLst>
              <a:ext uri="{FF2B5EF4-FFF2-40B4-BE49-F238E27FC236}">
                <a16:creationId xmlns:a16="http://schemas.microsoft.com/office/drawing/2014/main" id="{0ED73519-8228-3695-FCAF-689241C5580F}"/>
              </a:ext>
            </a:extLst>
          </p:cNvPr>
          <p:cNvSpPr>
            <a:spLocks noGrp="1"/>
          </p:cNvSpPr>
          <p:nvPr>
            <p:ph idx="1"/>
          </p:nvPr>
        </p:nvSpPr>
        <p:spPr>
          <a:xfrm>
            <a:off x="6096000" y="1825624"/>
            <a:ext cx="5930087" cy="5032376"/>
          </a:xfrm>
        </p:spPr>
        <p:txBody>
          <a:bodyPr>
            <a:normAutofit/>
          </a:bodyPr>
          <a:lstStyle/>
          <a:p>
            <a:r>
              <a:rPr lang="pt-BR" dirty="0"/>
              <a:t>Agora digamos que queremos trabalhar com </a:t>
            </a:r>
            <a:r>
              <a:rPr lang="pt-BR" b="1" i="1" dirty="0">
                <a:solidFill>
                  <a:srgbClr val="7030A0"/>
                </a:solidFill>
              </a:rPr>
              <a:t>sistemas embarcados</a:t>
            </a:r>
            <a:r>
              <a:rPr lang="pt-BR" dirty="0"/>
              <a:t>. </a:t>
            </a:r>
          </a:p>
          <a:p>
            <a:r>
              <a:rPr lang="pt-BR" dirty="0"/>
              <a:t>Eles são por natureza </a:t>
            </a:r>
          </a:p>
          <a:p>
            <a:pPr lvl="1">
              <a:buFont typeface="Wingdings" panose="05000000000000000000" pitchFamily="2" charset="2"/>
              <a:buChar char="§"/>
            </a:pPr>
            <a:r>
              <a:rPr lang="pt-BR" b="1" i="1" dirty="0"/>
              <a:t>baratos</a:t>
            </a:r>
            <a:r>
              <a:rPr lang="pt-BR" dirty="0"/>
              <a:t>, </a:t>
            </a:r>
          </a:p>
          <a:p>
            <a:pPr lvl="1">
              <a:buFont typeface="Wingdings" panose="05000000000000000000" pitchFamily="2" charset="2"/>
              <a:buChar char="§"/>
            </a:pPr>
            <a:r>
              <a:rPr lang="pt-BR" b="1" i="1" dirty="0"/>
              <a:t>pequenos</a:t>
            </a:r>
            <a:r>
              <a:rPr lang="pt-BR" dirty="0"/>
              <a:t>, </a:t>
            </a:r>
          </a:p>
          <a:p>
            <a:pPr lvl="1">
              <a:buFont typeface="Wingdings" panose="05000000000000000000" pitchFamily="2" charset="2"/>
              <a:buChar char="§"/>
            </a:pPr>
            <a:r>
              <a:rPr lang="pt-BR" b="1" i="1" dirty="0"/>
              <a:t>eficientes</a:t>
            </a:r>
            <a:r>
              <a:rPr lang="pt-BR" dirty="0"/>
              <a:t> </a:t>
            </a:r>
            <a:r>
              <a:rPr lang="pt-BR" b="1" i="1" dirty="0"/>
              <a:t>energeticamente</a:t>
            </a:r>
            <a:r>
              <a:rPr lang="pt-BR" dirty="0"/>
              <a:t>, </a:t>
            </a:r>
          </a:p>
          <a:p>
            <a:pPr lvl="1">
              <a:buFont typeface="Wingdings" panose="05000000000000000000" pitchFamily="2" charset="2"/>
              <a:buChar char="§"/>
            </a:pPr>
            <a:r>
              <a:rPr lang="pt-BR" b="1" i="1" dirty="0"/>
              <a:t>enxutos</a:t>
            </a:r>
            <a:r>
              <a:rPr lang="pt-BR" dirty="0"/>
              <a:t> em termos de memória e poder computacional e </a:t>
            </a:r>
          </a:p>
          <a:p>
            <a:pPr lvl="1">
              <a:buFont typeface="Wingdings" panose="05000000000000000000" pitchFamily="2" charset="2"/>
              <a:buChar char="§"/>
            </a:pPr>
            <a:r>
              <a:rPr lang="pt-BR" b="1" i="1" dirty="0"/>
              <a:t>fáceis de serem projetados</a:t>
            </a:r>
            <a:r>
              <a:rPr lang="pt-BR" dirty="0"/>
              <a:t>.</a:t>
            </a:r>
          </a:p>
          <a:p>
            <a:r>
              <a:rPr lang="pt-BR" dirty="0"/>
              <a:t>Essas características são ótimas para um sistema embarcado.</a:t>
            </a:r>
          </a:p>
        </p:txBody>
      </p:sp>
      <p:grpSp>
        <p:nvGrpSpPr>
          <p:cNvPr id="11" name="Agrupar 10">
            <a:extLst>
              <a:ext uri="{FF2B5EF4-FFF2-40B4-BE49-F238E27FC236}">
                <a16:creationId xmlns:a16="http://schemas.microsoft.com/office/drawing/2014/main" id="{BDDCAAF4-7CA8-3F16-133E-0B5E31C70CAA}"/>
              </a:ext>
            </a:extLst>
          </p:cNvPr>
          <p:cNvGrpSpPr/>
          <p:nvPr/>
        </p:nvGrpSpPr>
        <p:grpSpPr>
          <a:xfrm>
            <a:off x="1820247" y="2476141"/>
            <a:ext cx="3134096" cy="2548969"/>
            <a:chOff x="123873" y="2761045"/>
            <a:chExt cx="3107024" cy="2548969"/>
          </a:xfrm>
        </p:grpSpPr>
        <p:sp>
          <p:nvSpPr>
            <p:cNvPr id="5" name="Retângulo 4">
              <a:extLst>
                <a:ext uri="{FF2B5EF4-FFF2-40B4-BE49-F238E27FC236}">
                  <a16:creationId xmlns:a16="http://schemas.microsoft.com/office/drawing/2014/main" id="{BFDC8CE2-63D8-A3A7-63C9-F5540744C1AE}"/>
                </a:ext>
              </a:extLst>
            </p:cNvPr>
            <p:cNvSpPr/>
            <p:nvPr/>
          </p:nvSpPr>
          <p:spPr>
            <a:xfrm>
              <a:off x="165912" y="2761045"/>
              <a:ext cx="2734944" cy="315311"/>
            </a:xfrm>
            <a:prstGeom prst="rect">
              <a:avLst/>
            </a:prstGeom>
            <a:solidFill>
              <a:schemeClr val="accent4">
                <a:lumMod val="60000"/>
                <a:lumOff val="40000"/>
              </a:schemeClr>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r"/>
              <a:r>
                <a:rPr lang="pt-BR" sz="1400" b="1" dirty="0"/>
                <a:t>Menor portabilidade de código</a:t>
              </a:r>
            </a:p>
          </p:txBody>
        </p:sp>
        <p:sp>
          <p:nvSpPr>
            <p:cNvPr id="6" name="Retângulo 5">
              <a:extLst>
                <a:ext uri="{FF2B5EF4-FFF2-40B4-BE49-F238E27FC236}">
                  <a16:creationId xmlns:a16="http://schemas.microsoft.com/office/drawing/2014/main" id="{6CF2F9BF-0A7A-E5D4-D3C4-BBDE32C07701}"/>
                </a:ext>
              </a:extLst>
            </p:cNvPr>
            <p:cNvSpPr/>
            <p:nvPr/>
          </p:nvSpPr>
          <p:spPr>
            <a:xfrm>
              <a:off x="165912" y="3272328"/>
              <a:ext cx="1105840" cy="315311"/>
            </a:xfrm>
            <a:prstGeom prst="rect">
              <a:avLst/>
            </a:prstGeom>
            <a:solidFill>
              <a:srgbClr val="00B050"/>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r"/>
              <a:r>
                <a:rPr lang="pt-BR" sz="1400" b="1" dirty="0"/>
                <a:t>Custo ($)</a:t>
              </a:r>
            </a:p>
          </p:txBody>
        </p:sp>
        <p:sp>
          <p:nvSpPr>
            <p:cNvPr id="7" name="Retângulo 6">
              <a:extLst>
                <a:ext uri="{FF2B5EF4-FFF2-40B4-BE49-F238E27FC236}">
                  <a16:creationId xmlns:a16="http://schemas.microsoft.com/office/drawing/2014/main" id="{9D08D2DE-A26A-C3E1-B860-5EA9817AF1CE}"/>
                </a:ext>
              </a:extLst>
            </p:cNvPr>
            <p:cNvSpPr/>
            <p:nvPr/>
          </p:nvSpPr>
          <p:spPr>
            <a:xfrm>
              <a:off x="165912" y="3720825"/>
              <a:ext cx="1105840" cy="315311"/>
            </a:xfrm>
            <a:prstGeom prst="rect">
              <a:avLst/>
            </a:prstGeom>
            <a:solidFill>
              <a:srgbClr val="00B050"/>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r"/>
              <a:r>
                <a:rPr lang="pt-BR" sz="1400" b="1" dirty="0"/>
                <a:t>Energia (W)</a:t>
              </a:r>
              <a:endParaRPr lang="pt-BR" sz="1100" b="1" dirty="0"/>
            </a:p>
          </p:txBody>
        </p:sp>
        <p:sp>
          <p:nvSpPr>
            <p:cNvPr id="8" name="Retângulo 7">
              <a:extLst>
                <a:ext uri="{FF2B5EF4-FFF2-40B4-BE49-F238E27FC236}">
                  <a16:creationId xmlns:a16="http://schemas.microsoft.com/office/drawing/2014/main" id="{F7E46AB7-717B-9043-92DC-175E811FAABD}"/>
                </a:ext>
              </a:extLst>
            </p:cNvPr>
            <p:cNvSpPr/>
            <p:nvPr/>
          </p:nvSpPr>
          <p:spPr>
            <a:xfrm>
              <a:off x="165911" y="4209666"/>
              <a:ext cx="1358087" cy="315311"/>
            </a:xfrm>
            <a:prstGeom prst="rect">
              <a:avLst/>
            </a:prstGeom>
            <a:solidFill>
              <a:srgbClr val="00B050"/>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r"/>
              <a:r>
                <a:rPr lang="pt-BR" sz="1400" b="1" dirty="0"/>
                <a:t>Engenharia</a:t>
              </a:r>
            </a:p>
          </p:txBody>
        </p:sp>
        <p:pic>
          <p:nvPicPr>
            <p:cNvPr id="9" name="Imagem 8">
              <a:extLst>
                <a:ext uri="{FF2B5EF4-FFF2-40B4-BE49-F238E27FC236}">
                  <a16:creationId xmlns:a16="http://schemas.microsoft.com/office/drawing/2014/main" id="{401868AC-651D-6ED4-39EF-7E92FAFECBD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379998" y="3272328"/>
              <a:ext cx="288000" cy="266880"/>
            </a:xfrm>
            <a:prstGeom prst="rect">
              <a:avLst/>
            </a:prstGeom>
          </p:spPr>
        </p:pic>
        <p:sp>
          <p:nvSpPr>
            <p:cNvPr id="13" name="Chave Esquerda 12">
              <a:extLst>
                <a:ext uri="{FF2B5EF4-FFF2-40B4-BE49-F238E27FC236}">
                  <a16:creationId xmlns:a16="http://schemas.microsoft.com/office/drawing/2014/main" id="{3364AD0A-6D88-1FAB-1FFC-98215E0BA260}"/>
                </a:ext>
              </a:extLst>
            </p:cNvPr>
            <p:cNvSpPr/>
            <p:nvPr/>
          </p:nvSpPr>
          <p:spPr>
            <a:xfrm rot="16200000">
              <a:off x="1467178" y="3200671"/>
              <a:ext cx="420414" cy="3107024"/>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4" name="CaixaDeTexto 13">
              <a:extLst>
                <a:ext uri="{FF2B5EF4-FFF2-40B4-BE49-F238E27FC236}">
                  <a16:creationId xmlns:a16="http://schemas.microsoft.com/office/drawing/2014/main" id="{DB6E6715-188A-95DE-58D4-26754640F44D}"/>
                </a:ext>
              </a:extLst>
            </p:cNvPr>
            <p:cNvSpPr txBox="1"/>
            <p:nvPr/>
          </p:nvSpPr>
          <p:spPr>
            <a:xfrm>
              <a:off x="1131372" y="4940682"/>
              <a:ext cx="1072055" cy="369332"/>
            </a:xfrm>
            <a:prstGeom prst="rect">
              <a:avLst/>
            </a:prstGeom>
            <a:noFill/>
          </p:spPr>
          <p:txBody>
            <a:bodyPr wrap="square" rtlCol="0">
              <a:spAutoFit/>
            </a:bodyPr>
            <a:lstStyle/>
            <a:p>
              <a:r>
                <a:rPr lang="pt-BR" dirty="0"/>
                <a:t>Opção 2</a:t>
              </a:r>
            </a:p>
          </p:txBody>
        </p:sp>
        <p:pic>
          <p:nvPicPr>
            <p:cNvPr id="15" name="Imagem 14">
              <a:extLst>
                <a:ext uri="{FF2B5EF4-FFF2-40B4-BE49-F238E27FC236}">
                  <a16:creationId xmlns:a16="http://schemas.microsoft.com/office/drawing/2014/main" id="{5E6CECA8-8B91-FD0F-6A3E-E23091880421}"/>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389384" y="3676725"/>
              <a:ext cx="288000" cy="266880"/>
            </a:xfrm>
            <a:prstGeom prst="rect">
              <a:avLst/>
            </a:prstGeom>
          </p:spPr>
        </p:pic>
        <p:pic>
          <p:nvPicPr>
            <p:cNvPr id="16" name="Imagem 15">
              <a:extLst>
                <a:ext uri="{FF2B5EF4-FFF2-40B4-BE49-F238E27FC236}">
                  <a16:creationId xmlns:a16="http://schemas.microsoft.com/office/drawing/2014/main" id="{5998DFC5-50F6-D019-6244-AED5A28B5A2E}"/>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650111" y="4209666"/>
              <a:ext cx="288000" cy="266880"/>
            </a:xfrm>
            <a:prstGeom prst="rect">
              <a:avLst/>
            </a:prstGeom>
          </p:spPr>
        </p:pic>
        <p:pic>
          <p:nvPicPr>
            <p:cNvPr id="10" name="Imagem 9">
              <a:extLst>
                <a:ext uri="{FF2B5EF4-FFF2-40B4-BE49-F238E27FC236}">
                  <a16:creationId xmlns:a16="http://schemas.microsoft.com/office/drawing/2014/main" id="{0A5A547D-7693-81F4-64F7-85478B8FF0CE}"/>
                </a:ext>
              </a:extLst>
            </p:cNvPr>
            <p:cNvPicPr>
              <a:picLocks noChangeAspect="1"/>
            </p:cNvPicPr>
            <p:nvPr/>
          </p:nvPicPr>
          <p:blipFill>
            <a:blip r:embed="rId4"/>
            <a:stretch>
              <a:fillRect/>
            </a:stretch>
          </p:blipFill>
          <p:spPr>
            <a:xfrm>
              <a:off x="2983244" y="2775825"/>
              <a:ext cx="247650" cy="285750"/>
            </a:xfrm>
            <a:prstGeom prst="rect">
              <a:avLst/>
            </a:prstGeom>
          </p:spPr>
        </p:pic>
      </p:grpSp>
    </p:spTree>
    <p:extLst>
      <p:ext uri="{BB962C8B-B14F-4D97-AF65-F5344CB8AC3E}">
        <p14:creationId xmlns:p14="http://schemas.microsoft.com/office/powerpoint/2010/main" val="1130890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B3CD7-3E61-B115-3115-5717334AAA1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206C5DD-8A26-7D01-53EF-B5588B8FF9B3}"/>
              </a:ext>
            </a:extLst>
          </p:cNvPr>
          <p:cNvSpPr>
            <a:spLocks noGrp="1"/>
          </p:cNvSpPr>
          <p:nvPr>
            <p:ph type="title"/>
          </p:nvPr>
        </p:nvSpPr>
        <p:spPr/>
        <p:txBody>
          <a:bodyPr/>
          <a:lstStyle/>
          <a:p>
            <a:r>
              <a:rPr lang="pt-BR" dirty="0"/>
              <a:t>O perde-e-ganha da portabilidade</a:t>
            </a:r>
          </a:p>
        </p:txBody>
      </p:sp>
      <p:sp>
        <p:nvSpPr>
          <p:cNvPr id="3" name="Espaço Reservado para Conteúdo 2">
            <a:extLst>
              <a:ext uri="{FF2B5EF4-FFF2-40B4-BE49-F238E27FC236}">
                <a16:creationId xmlns:a16="http://schemas.microsoft.com/office/drawing/2014/main" id="{903CAF82-4003-7C1D-01DA-BABA77FC9FE3}"/>
              </a:ext>
            </a:extLst>
          </p:cNvPr>
          <p:cNvSpPr>
            <a:spLocks noGrp="1"/>
          </p:cNvSpPr>
          <p:nvPr>
            <p:ph idx="1"/>
          </p:nvPr>
        </p:nvSpPr>
        <p:spPr>
          <a:xfrm>
            <a:off x="5932898" y="2605981"/>
            <a:ext cx="5722106" cy="1853518"/>
          </a:xfrm>
        </p:spPr>
        <p:txBody>
          <a:bodyPr>
            <a:normAutofit/>
          </a:bodyPr>
          <a:lstStyle/>
          <a:p>
            <a:pPr marL="0" indent="0">
              <a:buNone/>
            </a:pPr>
            <a:r>
              <a:rPr lang="pt-BR" dirty="0"/>
              <a:t>Porém, uma implicação direta delas é que a </a:t>
            </a:r>
            <a:r>
              <a:rPr lang="pt-BR" b="1" i="1" dirty="0">
                <a:solidFill>
                  <a:srgbClr val="FF0000"/>
                </a:solidFill>
              </a:rPr>
              <a:t>preocupação com a portabilidade universal é mínima ou inexistente</a:t>
            </a:r>
            <a:r>
              <a:rPr lang="pt-BR" dirty="0"/>
              <a:t>.</a:t>
            </a:r>
          </a:p>
        </p:txBody>
      </p:sp>
      <p:grpSp>
        <p:nvGrpSpPr>
          <p:cNvPr id="11" name="Agrupar 10">
            <a:extLst>
              <a:ext uri="{FF2B5EF4-FFF2-40B4-BE49-F238E27FC236}">
                <a16:creationId xmlns:a16="http://schemas.microsoft.com/office/drawing/2014/main" id="{D19DD953-86CF-BED3-264E-708DDD3DF8C6}"/>
              </a:ext>
            </a:extLst>
          </p:cNvPr>
          <p:cNvGrpSpPr/>
          <p:nvPr/>
        </p:nvGrpSpPr>
        <p:grpSpPr>
          <a:xfrm>
            <a:off x="1831004" y="2572960"/>
            <a:ext cx="3134096" cy="2548969"/>
            <a:chOff x="123873" y="2761045"/>
            <a:chExt cx="3107024" cy="2548969"/>
          </a:xfrm>
        </p:grpSpPr>
        <p:sp>
          <p:nvSpPr>
            <p:cNvPr id="5" name="Retângulo 4">
              <a:extLst>
                <a:ext uri="{FF2B5EF4-FFF2-40B4-BE49-F238E27FC236}">
                  <a16:creationId xmlns:a16="http://schemas.microsoft.com/office/drawing/2014/main" id="{FFC7F446-A891-0632-3625-F85DACF1867B}"/>
                </a:ext>
              </a:extLst>
            </p:cNvPr>
            <p:cNvSpPr/>
            <p:nvPr/>
          </p:nvSpPr>
          <p:spPr>
            <a:xfrm>
              <a:off x="165912" y="2761045"/>
              <a:ext cx="2734944" cy="315311"/>
            </a:xfrm>
            <a:prstGeom prst="rect">
              <a:avLst/>
            </a:prstGeom>
            <a:solidFill>
              <a:schemeClr val="accent4">
                <a:lumMod val="60000"/>
                <a:lumOff val="40000"/>
              </a:schemeClr>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r"/>
              <a:r>
                <a:rPr lang="pt-BR" sz="1400" b="1" dirty="0"/>
                <a:t>Menor portabilidade de código</a:t>
              </a:r>
            </a:p>
          </p:txBody>
        </p:sp>
        <p:sp>
          <p:nvSpPr>
            <p:cNvPr id="6" name="Retângulo 5">
              <a:extLst>
                <a:ext uri="{FF2B5EF4-FFF2-40B4-BE49-F238E27FC236}">
                  <a16:creationId xmlns:a16="http://schemas.microsoft.com/office/drawing/2014/main" id="{80862EB4-545F-DFC6-795A-5FCEEBC52B22}"/>
                </a:ext>
              </a:extLst>
            </p:cNvPr>
            <p:cNvSpPr/>
            <p:nvPr/>
          </p:nvSpPr>
          <p:spPr>
            <a:xfrm>
              <a:off x="165912" y="3272328"/>
              <a:ext cx="1105840" cy="315311"/>
            </a:xfrm>
            <a:prstGeom prst="rect">
              <a:avLst/>
            </a:prstGeom>
            <a:solidFill>
              <a:srgbClr val="00B050"/>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r"/>
              <a:r>
                <a:rPr lang="pt-BR" sz="1400" b="1" dirty="0"/>
                <a:t>Custo ($)</a:t>
              </a:r>
            </a:p>
          </p:txBody>
        </p:sp>
        <p:sp>
          <p:nvSpPr>
            <p:cNvPr id="7" name="Retângulo 6">
              <a:extLst>
                <a:ext uri="{FF2B5EF4-FFF2-40B4-BE49-F238E27FC236}">
                  <a16:creationId xmlns:a16="http://schemas.microsoft.com/office/drawing/2014/main" id="{29350443-872C-FCA0-71A1-44AEF13619AD}"/>
                </a:ext>
              </a:extLst>
            </p:cNvPr>
            <p:cNvSpPr/>
            <p:nvPr/>
          </p:nvSpPr>
          <p:spPr>
            <a:xfrm>
              <a:off x="165912" y="3720825"/>
              <a:ext cx="1105840" cy="315311"/>
            </a:xfrm>
            <a:prstGeom prst="rect">
              <a:avLst/>
            </a:prstGeom>
            <a:solidFill>
              <a:srgbClr val="00B050"/>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r"/>
              <a:r>
                <a:rPr lang="pt-BR" sz="1400" b="1" dirty="0"/>
                <a:t>Energia (W)</a:t>
              </a:r>
              <a:endParaRPr lang="pt-BR" sz="1100" b="1" dirty="0"/>
            </a:p>
          </p:txBody>
        </p:sp>
        <p:sp>
          <p:nvSpPr>
            <p:cNvPr id="8" name="Retângulo 7">
              <a:extLst>
                <a:ext uri="{FF2B5EF4-FFF2-40B4-BE49-F238E27FC236}">
                  <a16:creationId xmlns:a16="http://schemas.microsoft.com/office/drawing/2014/main" id="{272C6146-6027-BDDA-73FF-3E05AE7AFBF3}"/>
                </a:ext>
              </a:extLst>
            </p:cNvPr>
            <p:cNvSpPr/>
            <p:nvPr/>
          </p:nvSpPr>
          <p:spPr>
            <a:xfrm>
              <a:off x="165911" y="4209666"/>
              <a:ext cx="1358087" cy="315311"/>
            </a:xfrm>
            <a:prstGeom prst="rect">
              <a:avLst/>
            </a:prstGeom>
            <a:solidFill>
              <a:srgbClr val="00B050"/>
            </a:solid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r"/>
              <a:r>
                <a:rPr lang="pt-BR" sz="1400" b="1" dirty="0"/>
                <a:t>Engenharia</a:t>
              </a:r>
            </a:p>
          </p:txBody>
        </p:sp>
        <p:pic>
          <p:nvPicPr>
            <p:cNvPr id="9" name="Imagem 8">
              <a:extLst>
                <a:ext uri="{FF2B5EF4-FFF2-40B4-BE49-F238E27FC236}">
                  <a16:creationId xmlns:a16="http://schemas.microsoft.com/office/drawing/2014/main" id="{71D2624D-9AC9-748C-6E77-1D59FF22DE24}"/>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379998" y="3272328"/>
              <a:ext cx="288000" cy="266880"/>
            </a:xfrm>
            <a:prstGeom prst="rect">
              <a:avLst/>
            </a:prstGeom>
          </p:spPr>
        </p:pic>
        <p:sp>
          <p:nvSpPr>
            <p:cNvPr id="13" name="Chave Esquerda 12">
              <a:extLst>
                <a:ext uri="{FF2B5EF4-FFF2-40B4-BE49-F238E27FC236}">
                  <a16:creationId xmlns:a16="http://schemas.microsoft.com/office/drawing/2014/main" id="{1EE4851D-8232-4BAA-DC19-12D53D926ADF}"/>
                </a:ext>
              </a:extLst>
            </p:cNvPr>
            <p:cNvSpPr/>
            <p:nvPr/>
          </p:nvSpPr>
          <p:spPr>
            <a:xfrm rot="16200000">
              <a:off x="1467178" y="3200671"/>
              <a:ext cx="420414" cy="3107024"/>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4" name="CaixaDeTexto 13">
              <a:extLst>
                <a:ext uri="{FF2B5EF4-FFF2-40B4-BE49-F238E27FC236}">
                  <a16:creationId xmlns:a16="http://schemas.microsoft.com/office/drawing/2014/main" id="{E883F78F-45F0-BD40-2C90-AA18E2F6F254}"/>
                </a:ext>
              </a:extLst>
            </p:cNvPr>
            <p:cNvSpPr txBox="1"/>
            <p:nvPr/>
          </p:nvSpPr>
          <p:spPr>
            <a:xfrm>
              <a:off x="1131372" y="4940682"/>
              <a:ext cx="1072055" cy="369332"/>
            </a:xfrm>
            <a:prstGeom prst="rect">
              <a:avLst/>
            </a:prstGeom>
            <a:noFill/>
          </p:spPr>
          <p:txBody>
            <a:bodyPr wrap="square" rtlCol="0">
              <a:spAutoFit/>
            </a:bodyPr>
            <a:lstStyle/>
            <a:p>
              <a:r>
                <a:rPr lang="pt-BR" dirty="0"/>
                <a:t>Opção 2</a:t>
              </a:r>
            </a:p>
          </p:txBody>
        </p:sp>
        <p:pic>
          <p:nvPicPr>
            <p:cNvPr id="15" name="Imagem 14">
              <a:extLst>
                <a:ext uri="{FF2B5EF4-FFF2-40B4-BE49-F238E27FC236}">
                  <a16:creationId xmlns:a16="http://schemas.microsoft.com/office/drawing/2014/main" id="{50768CBC-80F4-57E6-FF22-4A9F16C06AEF}"/>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389384" y="3676725"/>
              <a:ext cx="288000" cy="266880"/>
            </a:xfrm>
            <a:prstGeom prst="rect">
              <a:avLst/>
            </a:prstGeom>
          </p:spPr>
        </p:pic>
        <p:pic>
          <p:nvPicPr>
            <p:cNvPr id="16" name="Imagem 15">
              <a:extLst>
                <a:ext uri="{FF2B5EF4-FFF2-40B4-BE49-F238E27FC236}">
                  <a16:creationId xmlns:a16="http://schemas.microsoft.com/office/drawing/2014/main" id="{30010270-B438-84C4-343F-AFAD7B06CD58}"/>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650111" y="4209666"/>
              <a:ext cx="288000" cy="266880"/>
            </a:xfrm>
            <a:prstGeom prst="rect">
              <a:avLst/>
            </a:prstGeom>
          </p:spPr>
        </p:pic>
        <p:pic>
          <p:nvPicPr>
            <p:cNvPr id="10" name="Imagem 9">
              <a:extLst>
                <a:ext uri="{FF2B5EF4-FFF2-40B4-BE49-F238E27FC236}">
                  <a16:creationId xmlns:a16="http://schemas.microsoft.com/office/drawing/2014/main" id="{38D07272-7C0E-FCA2-D3D0-210FCA5C0864}"/>
                </a:ext>
              </a:extLst>
            </p:cNvPr>
            <p:cNvPicPr>
              <a:picLocks noChangeAspect="1"/>
            </p:cNvPicPr>
            <p:nvPr/>
          </p:nvPicPr>
          <p:blipFill>
            <a:blip r:embed="rId4"/>
            <a:stretch>
              <a:fillRect/>
            </a:stretch>
          </p:blipFill>
          <p:spPr>
            <a:xfrm>
              <a:off x="2983244" y="2775825"/>
              <a:ext cx="247650" cy="285750"/>
            </a:xfrm>
            <a:prstGeom prst="rect">
              <a:avLst/>
            </a:prstGeom>
          </p:spPr>
        </p:pic>
      </p:grpSp>
    </p:spTree>
    <p:extLst>
      <p:ext uri="{BB962C8B-B14F-4D97-AF65-F5344CB8AC3E}">
        <p14:creationId xmlns:p14="http://schemas.microsoft.com/office/powerpoint/2010/main" val="5402290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E7AD28-0223-0B8D-222B-BE16AB579BBE}"/>
              </a:ext>
            </a:extLst>
          </p:cNvPr>
          <p:cNvSpPr>
            <a:spLocks noGrp="1"/>
          </p:cNvSpPr>
          <p:nvPr>
            <p:ph type="title"/>
          </p:nvPr>
        </p:nvSpPr>
        <p:spPr/>
        <p:txBody>
          <a:bodyPr/>
          <a:lstStyle/>
          <a:p>
            <a:r>
              <a:rPr lang="pt-BR" dirty="0"/>
              <a:t>O perde-e-ganha da portabilidade</a:t>
            </a:r>
          </a:p>
        </p:txBody>
      </p:sp>
      <p:sp>
        <p:nvSpPr>
          <p:cNvPr id="3" name="Espaço Reservado para Conteúdo 2">
            <a:extLst>
              <a:ext uri="{FF2B5EF4-FFF2-40B4-BE49-F238E27FC236}">
                <a16:creationId xmlns:a16="http://schemas.microsoft.com/office/drawing/2014/main" id="{0ED73519-8228-3695-FCAF-689241C5580F}"/>
              </a:ext>
            </a:extLst>
          </p:cNvPr>
          <p:cNvSpPr>
            <a:spLocks noGrp="1"/>
          </p:cNvSpPr>
          <p:nvPr>
            <p:ph idx="1"/>
          </p:nvPr>
        </p:nvSpPr>
        <p:spPr>
          <a:xfrm>
            <a:off x="6096000" y="1825624"/>
            <a:ext cx="5930088" cy="5032376"/>
          </a:xfrm>
        </p:spPr>
        <p:txBody>
          <a:bodyPr>
            <a:normAutofit/>
          </a:bodyPr>
          <a:lstStyle/>
          <a:p>
            <a:r>
              <a:rPr lang="pt-BR" dirty="0"/>
              <a:t>Por exemplo, o que acontece se quisermos rodar um código em outro sistema e nele não tivermos os recursos que o primeiro sistema tinha e que utilizamos no nosso código, como, por exemplo, uma FPU?</a:t>
            </a:r>
          </a:p>
          <a:p>
            <a:r>
              <a:rPr lang="pt-BR" dirty="0"/>
              <a:t>Outros exemplos de recursos que podem ser exclusivos são:</a:t>
            </a:r>
          </a:p>
          <a:p>
            <a:pPr lvl="1">
              <a:buFont typeface="Wingdings" panose="05000000000000000000" pitchFamily="2" charset="2"/>
              <a:buChar char="§"/>
            </a:pPr>
            <a:r>
              <a:rPr lang="pt-BR" dirty="0"/>
              <a:t>Sensores, atuadores, conversores AD/DA, etc.</a:t>
            </a:r>
          </a:p>
          <a:p>
            <a:r>
              <a:rPr lang="pt-BR" b="1" i="1" dirty="0">
                <a:solidFill>
                  <a:srgbClr val="7030A0"/>
                </a:solidFill>
              </a:rPr>
              <a:t>O código não irá ser executado!</a:t>
            </a:r>
          </a:p>
        </p:txBody>
      </p:sp>
      <p:pic>
        <p:nvPicPr>
          <p:cNvPr id="12" name="Imagem 11">
            <a:extLst>
              <a:ext uri="{FF2B5EF4-FFF2-40B4-BE49-F238E27FC236}">
                <a16:creationId xmlns:a16="http://schemas.microsoft.com/office/drawing/2014/main" id="{D33B051F-3698-38FC-A7F0-84816AC7318C}"/>
              </a:ext>
            </a:extLst>
          </p:cNvPr>
          <p:cNvPicPr>
            <a:picLocks noChangeAspect="1"/>
          </p:cNvPicPr>
          <p:nvPr/>
        </p:nvPicPr>
        <p:blipFill rotWithShape="1">
          <a:blip r:embed="rId3"/>
          <a:srcRect b="46370"/>
          <a:stretch/>
        </p:blipFill>
        <p:spPr>
          <a:xfrm>
            <a:off x="506646" y="2721697"/>
            <a:ext cx="5295065" cy="1669503"/>
          </a:xfrm>
          <a:prstGeom prst="rect">
            <a:avLst/>
          </a:prstGeom>
        </p:spPr>
      </p:pic>
      <p:grpSp>
        <p:nvGrpSpPr>
          <p:cNvPr id="22" name="Agrupar 21">
            <a:extLst>
              <a:ext uri="{FF2B5EF4-FFF2-40B4-BE49-F238E27FC236}">
                <a16:creationId xmlns:a16="http://schemas.microsoft.com/office/drawing/2014/main" id="{0D6B61B0-4B2B-C96E-293F-49BF534B93F3}"/>
              </a:ext>
            </a:extLst>
          </p:cNvPr>
          <p:cNvGrpSpPr/>
          <p:nvPr/>
        </p:nvGrpSpPr>
        <p:grpSpPr>
          <a:xfrm>
            <a:off x="653790" y="4464772"/>
            <a:ext cx="4813259" cy="1057929"/>
            <a:chOff x="357831" y="5307721"/>
            <a:chExt cx="5279595" cy="1131502"/>
          </a:xfrm>
        </p:grpSpPr>
        <p:sp>
          <p:nvSpPr>
            <p:cNvPr id="17" name="Retângulo 16">
              <a:extLst>
                <a:ext uri="{FF2B5EF4-FFF2-40B4-BE49-F238E27FC236}">
                  <a16:creationId xmlns:a16="http://schemas.microsoft.com/office/drawing/2014/main" id="{63F97A05-4AA6-750F-BF48-EA088CBBFC48}"/>
                </a:ext>
              </a:extLst>
            </p:cNvPr>
            <p:cNvSpPr/>
            <p:nvPr/>
          </p:nvSpPr>
          <p:spPr>
            <a:xfrm>
              <a:off x="369174" y="5307721"/>
              <a:ext cx="2647532" cy="80929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Retângulo 17">
              <a:extLst>
                <a:ext uri="{FF2B5EF4-FFF2-40B4-BE49-F238E27FC236}">
                  <a16:creationId xmlns:a16="http://schemas.microsoft.com/office/drawing/2014/main" id="{6C7CCC08-9BCC-6FC0-D7ED-CB8028E5BF8C}"/>
                </a:ext>
              </a:extLst>
            </p:cNvPr>
            <p:cNvSpPr/>
            <p:nvPr/>
          </p:nvSpPr>
          <p:spPr>
            <a:xfrm>
              <a:off x="3016706" y="5307721"/>
              <a:ext cx="2620720" cy="80929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9" name="Imagem 18">
              <a:extLst>
                <a:ext uri="{FF2B5EF4-FFF2-40B4-BE49-F238E27FC236}">
                  <a16:creationId xmlns:a16="http://schemas.microsoft.com/office/drawing/2014/main" id="{D2EDFB25-DD99-0FAB-E9DB-D8D291A42905}"/>
                </a:ext>
              </a:extLst>
            </p:cNvPr>
            <p:cNvPicPr>
              <a:picLocks noChangeAspect="1"/>
            </p:cNvPicPr>
            <p:nvPr/>
          </p:nvPicPr>
          <p:blipFill>
            <a:blip r:embed="rId4"/>
            <a:stretch>
              <a:fillRect/>
            </a:stretch>
          </p:blipFill>
          <p:spPr>
            <a:xfrm>
              <a:off x="4111216" y="5508403"/>
              <a:ext cx="431699" cy="498114"/>
            </a:xfrm>
            <a:prstGeom prst="rect">
              <a:avLst/>
            </a:prstGeom>
          </p:spPr>
        </p:pic>
        <p:pic>
          <p:nvPicPr>
            <p:cNvPr id="20" name="Imagem 19">
              <a:extLst>
                <a:ext uri="{FF2B5EF4-FFF2-40B4-BE49-F238E27FC236}">
                  <a16:creationId xmlns:a16="http://schemas.microsoft.com/office/drawing/2014/main" id="{D7AFDA88-813B-5C63-325A-55B6B9D400F6}"/>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1510064" y="5521416"/>
              <a:ext cx="412131" cy="381908"/>
            </a:xfrm>
            <a:prstGeom prst="rect">
              <a:avLst/>
            </a:prstGeom>
          </p:spPr>
        </p:pic>
        <p:sp>
          <p:nvSpPr>
            <p:cNvPr id="21" name="Retângulo 20">
              <a:extLst>
                <a:ext uri="{FF2B5EF4-FFF2-40B4-BE49-F238E27FC236}">
                  <a16:creationId xmlns:a16="http://schemas.microsoft.com/office/drawing/2014/main" id="{030906FE-062A-B77C-E8BE-DB9DB8ACF970}"/>
                </a:ext>
              </a:extLst>
            </p:cNvPr>
            <p:cNvSpPr/>
            <p:nvPr/>
          </p:nvSpPr>
          <p:spPr>
            <a:xfrm>
              <a:off x="357831" y="6117018"/>
              <a:ext cx="5279595" cy="3222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t>Implementação de HW específica</a:t>
              </a:r>
            </a:p>
          </p:txBody>
        </p:sp>
      </p:grpSp>
      <p:sp>
        <p:nvSpPr>
          <p:cNvPr id="23" name="CaixaDeTexto 22">
            <a:extLst>
              <a:ext uri="{FF2B5EF4-FFF2-40B4-BE49-F238E27FC236}">
                <a16:creationId xmlns:a16="http://schemas.microsoft.com/office/drawing/2014/main" id="{3BB5F7B3-504E-2825-A7B9-BE82A22B8C71}"/>
              </a:ext>
            </a:extLst>
          </p:cNvPr>
          <p:cNvSpPr txBox="1"/>
          <p:nvPr/>
        </p:nvSpPr>
        <p:spPr>
          <a:xfrm>
            <a:off x="664130" y="2436434"/>
            <a:ext cx="2301457" cy="369332"/>
          </a:xfrm>
          <a:prstGeom prst="rect">
            <a:avLst/>
          </a:prstGeom>
          <a:noFill/>
        </p:spPr>
        <p:txBody>
          <a:bodyPr wrap="square" rtlCol="0">
            <a:spAutoFit/>
          </a:bodyPr>
          <a:lstStyle/>
          <a:p>
            <a:pPr algn="ctr"/>
            <a:r>
              <a:rPr lang="pt-BR" dirty="0"/>
              <a:t>Com FPU</a:t>
            </a:r>
          </a:p>
        </p:txBody>
      </p:sp>
      <p:sp>
        <p:nvSpPr>
          <p:cNvPr id="24" name="CaixaDeTexto 23">
            <a:extLst>
              <a:ext uri="{FF2B5EF4-FFF2-40B4-BE49-F238E27FC236}">
                <a16:creationId xmlns:a16="http://schemas.microsoft.com/office/drawing/2014/main" id="{6FDCD768-8122-181F-505F-1719BA809CC7}"/>
              </a:ext>
            </a:extLst>
          </p:cNvPr>
          <p:cNvSpPr txBox="1"/>
          <p:nvPr/>
        </p:nvSpPr>
        <p:spPr>
          <a:xfrm>
            <a:off x="3482263" y="2443215"/>
            <a:ext cx="1984786" cy="369332"/>
          </a:xfrm>
          <a:prstGeom prst="rect">
            <a:avLst/>
          </a:prstGeom>
          <a:noFill/>
        </p:spPr>
        <p:txBody>
          <a:bodyPr wrap="square" rtlCol="0">
            <a:spAutoFit/>
          </a:bodyPr>
          <a:lstStyle/>
          <a:p>
            <a:pPr algn="ctr"/>
            <a:r>
              <a:rPr lang="pt-BR" dirty="0"/>
              <a:t>Sem FPU</a:t>
            </a:r>
          </a:p>
        </p:txBody>
      </p:sp>
    </p:spTree>
    <p:extLst>
      <p:ext uri="{BB962C8B-B14F-4D97-AF65-F5344CB8AC3E}">
        <p14:creationId xmlns:p14="http://schemas.microsoft.com/office/powerpoint/2010/main" val="23382659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812AF7-AF89-F0C5-C5AE-677219669B69}"/>
              </a:ext>
            </a:extLst>
          </p:cNvPr>
          <p:cNvSpPr>
            <a:spLocks noGrp="1"/>
          </p:cNvSpPr>
          <p:nvPr>
            <p:ph type="title"/>
          </p:nvPr>
        </p:nvSpPr>
        <p:spPr/>
        <p:txBody>
          <a:bodyPr/>
          <a:lstStyle/>
          <a:p>
            <a:r>
              <a:rPr lang="pt-BR" dirty="0"/>
              <a:t>O sacrifício da portabilidade</a:t>
            </a:r>
          </a:p>
        </p:txBody>
      </p:sp>
      <p:sp>
        <p:nvSpPr>
          <p:cNvPr id="3" name="Espaço Reservado para Conteúdo 2">
            <a:extLst>
              <a:ext uri="{FF2B5EF4-FFF2-40B4-BE49-F238E27FC236}">
                <a16:creationId xmlns:a16="http://schemas.microsoft.com/office/drawing/2014/main" id="{4BF23BB8-FAC4-BDB4-1D80-D546EE9C2862}"/>
              </a:ext>
            </a:extLst>
          </p:cNvPr>
          <p:cNvSpPr>
            <a:spLocks noGrp="1"/>
          </p:cNvSpPr>
          <p:nvPr>
            <p:ph idx="1"/>
          </p:nvPr>
        </p:nvSpPr>
        <p:spPr>
          <a:xfrm>
            <a:off x="5536535" y="1825624"/>
            <a:ext cx="6524401" cy="5032376"/>
          </a:xfrm>
        </p:spPr>
        <p:txBody>
          <a:bodyPr>
            <a:normAutofit/>
          </a:bodyPr>
          <a:lstStyle/>
          <a:p>
            <a:r>
              <a:rPr lang="pt-BR" dirty="0"/>
              <a:t>O </a:t>
            </a:r>
            <a:r>
              <a:rPr lang="pt-BR" b="1" i="1" dirty="0">
                <a:solidFill>
                  <a:srgbClr val="7030A0"/>
                </a:solidFill>
              </a:rPr>
              <a:t>código especializado para um sistema</a:t>
            </a:r>
            <a:r>
              <a:rPr lang="pt-BR" dirty="0"/>
              <a:t> embarcado </a:t>
            </a:r>
            <a:r>
              <a:rPr lang="pt-BR" b="1" i="1" dirty="0">
                <a:solidFill>
                  <a:srgbClr val="7030A0"/>
                </a:solidFill>
              </a:rPr>
              <a:t>não é portável</a:t>
            </a:r>
            <a:r>
              <a:rPr lang="pt-BR" dirty="0"/>
              <a:t> para outro.</a:t>
            </a:r>
          </a:p>
          <a:p>
            <a:r>
              <a:rPr lang="pt-BR" dirty="0"/>
              <a:t>Devido à limitação de recursos, </a:t>
            </a:r>
            <a:r>
              <a:rPr lang="pt-BR" b="1" i="1" dirty="0">
                <a:solidFill>
                  <a:schemeClr val="accent2"/>
                </a:solidFill>
              </a:rPr>
              <a:t>s</a:t>
            </a:r>
            <a:r>
              <a:rPr lang="pt-BR" sz="2800" b="1" i="1" dirty="0">
                <a:solidFill>
                  <a:schemeClr val="accent2"/>
                </a:solidFill>
              </a:rPr>
              <a:t>acrifica-se a portabilidade</a:t>
            </a:r>
            <a:r>
              <a:rPr lang="pt-BR" sz="2800" b="1" i="1" dirty="0"/>
              <a:t> </a:t>
            </a:r>
            <a:r>
              <a:rPr lang="pt-BR" sz="2800" dirty="0"/>
              <a:t>entre sistemas </a:t>
            </a:r>
            <a:r>
              <a:rPr lang="pt-BR" sz="2800" b="1" i="1" dirty="0">
                <a:solidFill>
                  <a:srgbClr val="0070C0"/>
                </a:solidFill>
              </a:rPr>
              <a:t>para obter-se</a:t>
            </a:r>
            <a:r>
              <a:rPr lang="pt-BR" sz="2800" b="1" i="1" dirty="0"/>
              <a:t>:</a:t>
            </a:r>
            <a:endParaRPr lang="pt-BR" b="1" i="1" dirty="0"/>
          </a:p>
          <a:p>
            <a:pPr lvl="1">
              <a:buFont typeface="Wingdings" panose="05000000000000000000" pitchFamily="2" charset="2"/>
              <a:buChar char="§"/>
            </a:pPr>
            <a:r>
              <a:rPr lang="pt-BR" b="1" i="1" dirty="0"/>
              <a:t>Otimização do desempenho</a:t>
            </a:r>
            <a:r>
              <a:rPr lang="pt-BR" dirty="0"/>
              <a:t>: o </a:t>
            </a:r>
            <a:r>
              <a:rPr lang="pt-BR" b="1" i="1" dirty="0">
                <a:solidFill>
                  <a:srgbClr val="00B050"/>
                </a:solidFill>
              </a:rPr>
              <a:t>código é adaptado à </a:t>
            </a:r>
            <a:r>
              <a:rPr lang="pt-BR" b="1" i="1" dirty="0">
                <a:solidFill>
                  <a:srgbClr val="00B050"/>
                </a:solidFill>
                <a:effectLst/>
              </a:rPr>
              <a:t>arquitetura de HW </a:t>
            </a:r>
            <a:r>
              <a:rPr lang="pt-BR" b="0" i="0" dirty="0">
                <a:effectLst/>
              </a:rPr>
              <a:t>específica do sistema, resultando em </a:t>
            </a:r>
            <a:r>
              <a:rPr lang="pt-BR" b="1" i="1" dirty="0">
                <a:solidFill>
                  <a:srgbClr val="00B050"/>
                </a:solidFill>
                <a:effectLst/>
              </a:rPr>
              <a:t>código altamente eficiente e rápido</a:t>
            </a:r>
            <a:r>
              <a:rPr lang="pt-BR" b="0" i="0" dirty="0">
                <a:effectLst/>
              </a:rPr>
              <a:t>, </a:t>
            </a:r>
            <a:r>
              <a:rPr lang="pt-BR" b="1" i="1" dirty="0">
                <a:solidFill>
                  <a:srgbClr val="FF0000"/>
                </a:solidFill>
                <a:effectLst/>
              </a:rPr>
              <a:t>porém menos portável</a:t>
            </a:r>
            <a:r>
              <a:rPr lang="pt-BR" b="0" i="0" dirty="0">
                <a:effectLst/>
              </a:rPr>
              <a:t>.</a:t>
            </a:r>
          </a:p>
          <a:p>
            <a:pPr lvl="1">
              <a:buFont typeface="Wingdings" panose="05000000000000000000" pitchFamily="2" charset="2"/>
              <a:buChar char="§"/>
            </a:pPr>
            <a:r>
              <a:rPr lang="pt-BR" b="1" i="1" dirty="0"/>
              <a:t>Otimização de memória</a:t>
            </a:r>
            <a:r>
              <a:rPr lang="pt-BR" dirty="0"/>
              <a:t>:</a:t>
            </a:r>
            <a:r>
              <a:rPr lang="pt-BR" b="0" i="0" dirty="0">
                <a:effectLst/>
              </a:rPr>
              <a:t> otimizações para </a:t>
            </a:r>
            <a:r>
              <a:rPr lang="pt-BR" b="1" i="1" dirty="0">
                <a:solidFill>
                  <a:srgbClr val="00B050"/>
                </a:solidFill>
                <a:effectLst/>
              </a:rPr>
              <a:t>economia de memória </a:t>
            </a:r>
            <a:r>
              <a:rPr lang="pt-BR" b="0" i="0" dirty="0">
                <a:effectLst/>
              </a:rPr>
              <a:t>podem exigir </a:t>
            </a:r>
            <a:r>
              <a:rPr lang="pt-BR" b="1" i="1" dirty="0">
                <a:solidFill>
                  <a:srgbClr val="FF0000"/>
                </a:solidFill>
                <a:effectLst/>
              </a:rPr>
              <a:t>estruturas de dados específicas e técnicas de programação menos portáteis</a:t>
            </a:r>
            <a:r>
              <a:rPr lang="pt-BR" b="0" i="0" dirty="0">
                <a:effectLst/>
              </a:rPr>
              <a:t>.</a:t>
            </a:r>
            <a:endParaRPr lang="pt-BR" b="1" i="1" dirty="0"/>
          </a:p>
          <a:p>
            <a:pPr marL="0" indent="0">
              <a:buNone/>
            </a:pPr>
            <a:endParaRPr lang="pt-BR" b="1" i="1" dirty="0"/>
          </a:p>
          <a:p>
            <a:pPr marL="457200" lvl="1" indent="0">
              <a:buNone/>
            </a:pPr>
            <a:endParaRPr lang="pt-BR" b="1" i="1" dirty="0"/>
          </a:p>
        </p:txBody>
      </p:sp>
      <p:pic>
        <p:nvPicPr>
          <p:cNvPr id="4" name="Imagem 3">
            <a:extLst>
              <a:ext uri="{FF2B5EF4-FFF2-40B4-BE49-F238E27FC236}">
                <a16:creationId xmlns:a16="http://schemas.microsoft.com/office/drawing/2014/main" id="{69F3B61D-61C1-CBB8-BDEC-E276B6A7836B}"/>
              </a:ext>
            </a:extLst>
          </p:cNvPr>
          <p:cNvPicPr>
            <a:picLocks noChangeAspect="1"/>
          </p:cNvPicPr>
          <p:nvPr/>
        </p:nvPicPr>
        <p:blipFill rotWithShape="1">
          <a:blip r:embed="rId2"/>
          <a:srcRect b="46370"/>
          <a:stretch/>
        </p:blipFill>
        <p:spPr>
          <a:xfrm>
            <a:off x="241470" y="2685121"/>
            <a:ext cx="5295065" cy="1669503"/>
          </a:xfrm>
          <a:prstGeom prst="rect">
            <a:avLst/>
          </a:prstGeom>
        </p:spPr>
      </p:pic>
      <p:grpSp>
        <p:nvGrpSpPr>
          <p:cNvPr id="5" name="Agrupar 4">
            <a:extLst>
              <a:ext uri="{FF2B5EF4-FFF2-40B4-BE49-F238E27FC236}">
                <a16:creationId xmlns:a16="http://schemas.microsoft.com/office/drawing/2014/main" id="{EF6E57FC-4316-E826-5781-3D13DA3C1BE5}"/>
              </a:ext>
            </a:extLst>
          </p:cNvPr>
          <p:cNvGrpSpPr/>
          <p:nvPr/>
        </p:nvGrpSpPr>
        <p:grpSpPr>
          <a:xfrm>
            <a:off x="388614" y="4428196"/>
            <a:ext cx="4813259" cy="1057929"/>
            <a:chOff x="357831" y="5307721"/>
            <a:chExt cx="5279595" cy="1131502"/>
          </a:xfrm>
        </p:grpSpPr>
        <p:sp>
          <p:nvSpPr>
            <p:cNvPr id="6" name="Retângulo 5">
              <a:extLst>
                <a:ext uri="{FF2B5EF4-FFF2-40B4-BE49-F238E27FC236}">
                  <a16:creationId xmlns:a16="http://schemas.microsoft.com/office/drawing/2014/main" id="{F85782E7-49F8-715C-3048-CE32866B83FE}"/>
                </a:ext>
              </a:extLst>
            </p:cNvPr>
            <p:cNvSpPr/>
            <p:nvPr/>
          </p:nvSpPr>
          <p:spPr>
            <a:xfrm>
              <a:off x="369174" y="5307721"/>
              <a:ext cx="2647532" cy="80929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Retângulo 6">
              <a:extLst>
                <a:ext uri="{FF2B5EF4-FFF2-40B4-BE49-F238E27FC236}">
                  <a16:creationId xmlns:a16="http://schemas.microsoft.com/office/drawing/2014/main" id="{B572DFE2-E698-35B3-99AF-8D1170882B8F}"/>
                </a:ext>
              </a:extLst>
            </p:cNvPr>
            <p:cNvSpPr/>
            <p:nvPr/>
          </p:nvSpPr>
          <p:spPr>
            <a:xfrm>
              <a:off x="3016706" y="5307721"/>
              <a:ext cx="2620720" cy="80929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 name="Imagem 7">
              <a:extLst>
                <a:ext uri="{FF2B5EF4-FFF2-40B4-BE49-F238E27FC236}">
                  <a16:creationId xmlns:a16="http://schemas.microsoft.com/office/drawing/2014/main" id="{F4686C1A-DC40-DA7F-37B4-5D8DCEEEFBBB}"/>
                </a:ext>
              </a:extLst>
            </p:cNvPr>
            <p:cNvPicPr>
              <a:picLocks noChangeAspect="1"/>
            </p:cNvPicPr>
            <p:nvPr/>
          </p:nvPicPr>
          <p:blipFill>
            <a:blip r:embed="rId3"/>
            <a:stretch>
              <a:fillRect/>
            </a:stretch>
          </p:blipFill>
          <p:spPr>
            <a:xfrm>
              <a:off x="4111216" y="5508403"/>
              <a:ext cx="431699" cy="498114"/>
            </a:xfrm>
            <a:prstGeom prst="rect">
              <a:avLst/>
            </a:prstGeom>
          </p:spPr>
        </p:pic>
        <p:pic>
          <p:nvPicPr>
            <p:cNvPr id="9" name="Imagem 8">
              <a:extLst>
                <a:ext uri="{FF2B5EF4-FFF2-40B4-BE49-F238E27FC236}">
                  <a16:creationId xmlns:a16="http://schemas.microsoft.com/office/drawing/2014/main" id="{D3E00D18-79D0-77BC-642C-09D68D112E31}"/>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1510064" y="5521416"/>
              <a:ext cx="412131" cy="381908"/>
            </a:xfrm>
            <a:prstGeom prst="rect">
              <a:avLst/>
            </a:prstGeom>
          </p:spPr>
        </p:pic>
        <p:sp>
          <p:nvSpPr>
            <p:cNvPr id="10" name="Retângulo 9">
              <a:extLst>
                <a:ext uri="{FF2B5EF4-FFF2-40B4-BE49-F238E27FC236}">
                  <a16:creationId xmlns:a16="http://schemas.microsoft.com/office/drawing/2014/main" id="{FE7BB972-ADB6-BEE2-2FB9-553BBD490AA1}"/>
                </a:ext>
              </a:extLst>
            </p:cNvPr>
            <p:cNvSpPr/>
            <p:nvPr/>
          </p:nvSpPr>
          <p:spPr>
            <a:xfrm>
              <a:off x="357831" y="6117018"/>
              <a:ext cx="5279595" cy="3222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t>Implementação de HW específica</a:t>
              </a:r>
            </a:p>
          </p:txBody>
        </p:sp>
      </p:grpSp>
      <p:sp>
        <p:nvSpPr>
          <p:cNvPr id="11" name="CaixaDeTexto 10">
            <a:extLst>
              <a:ext uri="{FF2B5EF4-FFF2-40B4-BE49-F238E27FC236}">
                <a16:creationId xmlns:a16="http://schemas.microsoft.com/office/drawing/2014/main" id="{F802EE9A-0708-F3FA-C8F1-9921DD79AA1B}"/>
              </a:ext>
            </a:extLst>
          </p:cNvPr>
          <p:cNvSpPr txBox="1"/>
          <p:nvPr/>
        </p:nvSpPr>
        <p:spPr>
          <a:xfrm>
            <a:off x="398954" y="2399858"/>
            <a:ext cx="2301457" cy="369332"/>
          </a:xfrm>
          <a:prstGeom prst="rect">
            <a:avLst/>
          </a:prstGeom>
          <a:noFill/>
        </p:spPr>
        <p:txBody>
          <a:bodyPr wrap="square" rtlCol="0">
            <a:spAutoFit/>
          </a:bodyPr>
          <a:lstStyle/>
          <a:p>
            <a:pPr algn="ctr"/>
            <a:r>
              <a:rPr lang="pt-BR" dirty="0"/>
              <a:t>Com FPU</a:t>
            </a:r>
          </a:p>
        </p:txBody>
      </p:sp>
      <p:sp>
        <p:nvSpPr>
          <p:cNvPr id="12" name="CaixaDeTexto 11">
            <a:extLst>
              <a:ext uri="{FF2B5EF4-FFF2-40B4-BE49-F238E27FC236}">
                <a16:creationId xmlns:a16="http://schemas.microsoft.com/office/drawing/2014/main" id="{C1B4F521-2796-1FCA-8BBF-198C49EC80BA}"/>
              </a:ext>
            </a:extLst>
          </p:cNvPr>
          <p:cNvSpPr txBox="1"/>
          <p:nvPr/>
        </p:nvSpPr>
        <p:spPr>
          <a:xfrm>
            <a:off x="3217087" y="2406639"/>
            <a:ext cx="1984786" cy="369332"/>
          </a:xfrm>
          <a:prstGeom prst="rect">
            <a:avLst/>
          </a:prstGeom>
          <a:noFill/>
        </p:spPr>
        <p:txBody>
          <a:bodyPr wrap="square" rtlCol="0">
            <a:spAutoFit/>
          </a:bodyPr>
          <a:lstStyle/>
          <a:p>
            <a:pPr algn="ctr"/>
            <a:r>
              <a:rPr lang="pt-BR" dirty="0"/>
              <a:t>Sem FPU</a:t>
            </a:r>
          </a:p>
        </p:txBody>
      </p:sp>
    </p:spTree>
    <p:extLst>
      <p:ext uri="{BB962C8B-B14F-4D97-AF65-F5344CB8AC3E}">
        <p14:creationId xmlns:p14="http://schemas.microsoft.com/office/powerpoint/2010/main" val="21518684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E7AD28-0223-0B8D-222B-BE16AB579BBE}"/>
              </a:ext>
            </a:extLst>
          </p:cNvPr>
          <p:cNvSpPr>
            <a:spLocks noGrp="1"/>
          </p:cNvSpPr>
          <p:nvPr>
            <p:ph type="title"/>
          </p:nvPr>
        </p:nvSpPr>
        <p:spPr/>
        <p:txBody>
          <a:bodyPr/>
          <a:lstStyle/>
          <a:p>
            <a:r>
              <a:rPr lang="pt-BR" dirty="0"/>
              <a:t>O sacrifício da portabilidade</a:t>
            </a:r>
          </a:p>
        </p:txBody>
      </p:sp>
      <p:sp>
        <p:nvSpPr>
          <p:cNvPr id="3" name="Espaço Reservado para Conteúdo 2">
            <a:extLst>
              <a:ext uri="{FF2B5EF4-FFF2-40B4-BE49-F238E27FC236}">
                <a16:creationId xmlns:a16="http://schemas.microsoft.com/office/drawing/2014/main" id="{0ED73519-8228-3695-FCAF-689241C5580F}"/>
              </a:ext>
            </a:extLst>
          </p:cNvPr>
          <p:cNvSpPr>
            <a:spLocks noGrp="1"/>
          </p:cNvSpPr>
          <p:nvPr>
            <p:ph idx="1"/>
          </p:nvPr>
        </p:nvSpPr>
        <p:spPr>
          <a:xfrm>
            <a:off x="5831042" y="1825624"/>
            <a:ext cx="6195046" cy="5032376"/>
          </a:xfrm>
        </p:spPr>
        <p:txBody>
          <a:bodyPr>
            <a:normAutofit/>
          </a:bodyPr>
          <a:lstStyle/>
          <a:p>
            <a:pPr lvl="1">
              <a:buFont typeface="Wingdings" panose="05000000000000000000" pitchFamily="2" charset="2"/>
              <a:buChar char="§"/>
            </a:pPr>
            <a:r>
              <a:rPr lang="pt-BR" b="1" i="1" dirty="0">
                <a:effectLst/>
              </a:rPr>
              <a:t>Eficiência Energética</a:t>
            </a:r>
            <a:r>
              <a:rPr lang="pt-BR" b="1" i="0" dirty="0">
                <a:effectLst/>
              </a:rPr>
              <a:t>:</a:t>
            </a:r>
            <a:r>
              <a:rPr lang="pt-BR" b="0" i="0" dirty="0">
                <a:effectLst/>
              </a:rPr>
              <a:t> </a:t>
            </a:r>
            <a:r>
              <a:rPr lang="pt-BR" b="1" i="1" dirty="0">
                <a:solidFill>
                  <a:srgbClr val="00B050"/>
                </a:solidFill>
                <a:effectLst/>
              </a:rPr>
              <a:t>otimizar</a:t>
            </a:r>
            <a:r>
              <a:rPr lang="pt-BR" b="0" i="0" dirty="0">
                <a:effectLst/>
              </a:rPr>
              <a:t> o código para </a:t>
            </a:r>
            <a:r>
              <a:rPr lang="pt-BR" b="1" i="1" dirty="0">
                <a:solidFill>
                  <a:srgbClr val="00B050"/>
                </a:solidFill>
                <a:effectLst/>
              </a:rPr>
              <a:t>minimizar o consumo de energia </a:t>
            </a:r>
            <a:r>
              <a:rPr lang="pt-BR" b="0" i="0" dirty="0">
                <a:effectLst/>
              </a:rPr>
              <a:t>pode envolver </a:t>
            </a:r>
            <a:r>
              <a:rPr lang="pt-BR" b="1" i="1" dirty="0">
                <a:solidFill>
                  <a:srgbClr val="00B050"/>
                </a:solidFill>
                <a:effectLst/>
              </a:rPr>
              <a:t>estratégias que não são necessariamente portáveis</a:t>
            </a:r>
            <a:r>
              <a:rPr lang="pt-BR" b="0" i="0" dirty="0">
                <a:effectLst/>
              </a:rPr>
              <a:t>.</a:t>
            </a:r>
            <a:endParaRPr lang="pt-BR" dirty="0"/>
          </a:p>
          <a:p>
            <a:r>
              <a:rPr lang="pt-BR" dirty="0"/>
              <a:t>Portanto, esse sacrifício levanta uma questão fundamental:</a:t>
            </a:r>
          </a:p>
          <a:p>
            <a:pPr lvl="1">
              <a:buFont typeface="Wingdings" panose="05000000000000000000" pitchFamily="2" charset="2"/>
              <a:buChar char="§"/>
            </a:pPr>
            <a:r>
              <a:rPr lang="pt-BR" b="1" i="1" dirty="0">
                <a:solidFill>
                  <a:srgbClr val="00B050"/>
                </a:solidFill>
              </a:rPr>
              <a:t>Como habilitamos o </a:t>
            </a:r>
            <a:r>
              <a:rPr lang="pt-BR" b="1" i="1" dirty="0" err="1">
                <a:solidFill>
                  <a:srgbClr val="00B050"/>
                </a:solidFill>
              </a:rPr>
              <a:t>EdgeML</a:t>
            </a:r>
            <a:r>
              <a:rPr lang="pt-BR" b="1" i="1" dirty="0">
                <a:solidFill>
                  <a:srgbClr val="00B050"/>
                </a:solidFill>
              </a:rPr>
              <a:t> em sistemas embarcados tão diferentes se a portabilidade é baixa ou inexistente?</a:t>
            </a:r>
          </a:p>
          <a:p>
            <a:r>
              <a:rPr lang="pt-BR" dirty="0"/>
              <a:t>Esse é um desafio crítico e que veremos como abordá-lo ao longo do curso.</a:t>
            </a:r>
          </a:p>
        </p:txBody>
      </p:sp>
      <p:pic>
        <p:nvPicPr>
          <p:cNvPr id="12" name="Imagem 11">
            <a:extLst>
              <a:ext uri="{FF2B5EF4-FFF2-40B4-BE49-F238E27FC236}">
                <a16:creationId xmlns:a16="http://schemas.microsoft.com/office/drawing/2014/main" id="{D33B051F-3698-38FC-A7F0-84816AC7318C}"/>
              </a:ext>
            </a:extLst>
          </p:cNvPr>
          <p:cNvPicPr>
            <a:picLocks noChangeAspect="1"/>
          </p:cNvPicPr>
          <p:nvPr/>
        </p:nvPicPr>
        <p:blipFill rotWithShape="1">
          <a:blip r:embed="rId3"/>
          <a:srcRect b="46370"/>
          <a:stretch/>
        </p:blipFill>
        <p:spPr>
          <a:xfrm>
            <a:off x="366555" y="2679550"/>
            <a:ext cx="5295065" cy="1669503"/>
          </a:xfrm>
          <a:prstGeom prst="rect">
            <a:avLst/>
          </a:prstGeom>
        </p:spPr>
      </p:pic>
      <p:grpSp>
        <p:nvGrpSpPr>
          <p:cNvPr id="22" name="Agrupar 21">
            <a:extLst>
              <a:ext uri="{FF2B5EF4-FFF2-40B4-BE49-F238E27FC236}">
                <a16:creationId xmlns:a16="http://schemas.microsoft.com/office/drawing/2014/main" id="{0D6B61B0-4B2B-C96E-293F-49BF534B93F3}"/>
              </a:ext>
            </a:extLst>
          </p:cNvPr>
          <p:cNvGrpSpPr/>
          <p:nvPr/>
        </p:nvGrpSpPr>
        <p:grpSpPr>
          <a:xfrm>
            <a:off x="513699" y="4422625"/>
            <a:ext cx="4813259" cy="1057929"/>
            <a:chOff x="357831" y="5307721"/>
            <a:chExt cx="5279595" cy="1131502"/>
          </a:xfrm>
        </p:grpSpPr>
        <p:sp>
          <p:nvSpPr>
            <p:cNvPr id="17" name="Retângulo 16">
              <a:extLst>
                <a:ext uri="{FF2B5EF4-FFF2-40B4-BE49-F238E27FC236}">
                  <a16:creationId xmlns:a16="http://schemas.microsoft.com/office/drawing/2014/main" id="{63F97A05-4AA6-750F-BF48-EA088CBBFC48}"/>
                </a:ext>
              </a:extLst>
            </p:cNvPr>
            <p:cNvSpPr/>
            <p:nvPr/>
          </p:nvSpPr>
          <p:spPr>
            <a:xfrm>
              <a:off x="369174" y="5307721"/>
              <a:ext cx="2647532" cy="80929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Retângulo 17">
              <a:extLst>
                <a:ext uri="{FF2B5EF4-FFF2-40B4-BE49-F238E27FC236}">
                  <a16:creationId xmlns:a16="http://schemas.microsoft.com/office/drawing/2014/main" id="{6C7CCC08-9BCC-6FC0-D7ED-CB8028E5BF8C}"/>
                </a:ext>
              </a:extLst>
            </p:cNvPr>
            <p:cNvSpPr/>
            <p:nvPr/>
          </p:nvSpPr>
          <p:spPr>
            <a:xfrm>
              <a:off x="3016706" y="5307721"/>
              <a:ext cx="2620720" cy="80929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9" name="Imagem 18">
              <a:extLst>
                <a:ext uri="{FF2B5EF4-FFF2-40B4-BE49-F238E27FC236}">
                  <a16:creationId xmlns:a16="http://schemas.microsoft.com/office/drawing/2014/main" id="{D2EDFB25-DD99-0FAB-E9DB-D8D291A42905}"/>
                </a:ext>
              </a:extLst>
            </p:cNvPr>
            <p:cNvPicPr>
              <a:picLocks noChangeAspect="1"/>
            </p:cNvPicPr>
            <p:nvPr/>
          </p:nvPicPr>
          <p:blipFill>
            <a:blip r:embed="rId4"/>
            <a:stretch>
              <a:fillRect/>
            </a:stretch>
          </p:blipFill>
          <p:spPr>
            <a:xfrm>
              <a:off x="4111216" y="5508403"/>
              <a:ext cx="431699" cy="498114"/>
            </a:xfrm>
            <a:prstGeom prst="rect">
              <a:avLst/>
            </a:prstGeom>
          </p:spPr>
        </p:pic>
        <p:pic>
          <p:nvPicPr>
            <p:cNvPr id="20" name="Imagem 19">
              <a:extLst>
                <a:ext uri="{FF2B5EF4-FFF2-40B4-BE49-F238E27FC236}">
                  <a16:creationId xmlns:a16="http://schemas.microsoft.com/office/drawing/2014/main" id="{D7AFDA88-813B-5C63-325A-55B6B9D400F6}"/>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1510064" y="5521416"/>
              <a:ext cx="412131" cy="381908"/>
            </a:xfrm>
            <a:prstGeom prst="rect">
              <a:avLst/>
            </a:prstGeom>
          </p:spPr>
        </p:pic>
        <p:sp>
          <p:nvSpPr>
            <p:cNvPr id="21" name="Retângulo 20">
              <a:extLst>
                <a:ext uri="{FF2B5EF4-FFF2-40B4-BE49-F238E27FC236}">
                  <a16:creationId xmlns:a16="http://schemas.microsoft.com/office/drawing/2014/main" id="{030906FE-062A-B77C-E8BE-DB9DB8ACF970}"/>
                </a:ext>
              </a:extLst>
            </p:cNvPr>
            <p:cNvSpPr/>
            <p:nvPr/>
          </p:nvSpPr>
          <p:spPr>
            <a:xfrm>
              <a:off x="357831" y="6117018"/>
              <a:ext cx="5279595" cy="3222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t>Implementação de HW específica</a:t>
              </a:r>
            </a:p>
          </p:txBody>
        </p:sp>
      </p:grpSp>
      <p:sp>
        <p:nvSpPr>
          <p:cNvPr id="23" name="CaixaDeTexto 22">
            <a:extLst>
              <a:ext uri="{FF2B5EF4-FFF2-40B4-BE49-F238E27FC236}">
                <a16:creationId xmlns:a16="http://schemas.microsoft.com/office/drawing/2014/main" id="{3BB5F7B3-504E-2825-A7B9-BE82A22B8C71}"/>
              </a:ext>
            </a:extLst>
          </p:cNvPr>
          <p:cNvSpPr txBox="1"/>
          <p:nvPr/>
        </p:nvSpPr>
        <p:spPr>
          <a:xfrm>
            <a:off x="524039" y="2394287"/>
            <a:ext cx="2301457" cy="369332"/>
          </a:xfrm>
          <a:prstGeom prst="rect">
            <a:avLst/>
          </a:prstGeom>
          <a:noFill/>
        </p:spPr>
        <p:txBody>
          <a:bodyPr wrap="square" rtlCol="0">
            <a:spAutoFit/>
          </a:bodyPr>
          <a:lstStyle/>
          <a:p>
            <a:pPr algn="ctr"/>
            <a:r>
              <a:rPr lang="pt-BR" dirty="0"/>
              <a:t>Com FPU</a:t>
            </a:r>
          </a:p>
        </p:txBody>
      </p:sp>
      <p:sp>
        <p:nvSpPr>
          <p:cNvPr id="24" name="CaixaDeTexto 23">
            <a:extLst>
              <a:ext uri="{FF2B5EF4-FFF2-40B4-BE49-F238E27FC236}">
                <a16:creationId xmlns:a16="http://schemas.microsoft.com/office/drawing/2014/main" id="{6FDCD768-8122-181F-505F-1719BA809CC7}"/>
              </a:ext>
            </a:extLst>
          </p:cNvPr>
          <p:cNvSpPr txBox="1"/>
          <p:nvPr/>
        </p:nvSpPr>
        <p:spPr>
          <a:xfrm>
            <a:off x="3342172" y="2401068"/>
            <a:ext cx="1984786" cy="369332"/>
          </a:xfrm>
          <a:prstGeom prst="rect">
            <a:avLst/>
          </a:prstGeom>
          <a:noFill/>
        </p:spPr>
        <p:txBody>
          <a:bodyPr wrap="square" rtlCol="0">
            <a:spAutoFit/>
          </a:bodyPr>
          <a:lstStyle/>
          <a:p>
            <a:pPr algn="ctr"/>
            <a:r>
              <a:rPr lang="pt-BR" dirty="0"/>
              <a:t>Sem FPU</a:t>
            </a:r>
          </a:p>
        </p:txBody>
      </p:sp>
    </p:spTree>
    <p:extLst>
      <p:ext uri="{BB962C8B-B14F-4D97-AF65-F5344CB8AC3E}">
        <p14:creationId xmlns:p14="http://schemas.microsoft.com/office/powerpoint/2010/main" val="16932744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3C7934-D58D-AE26-0BF2-7839ACD06030}"/>
              </a:ext>
            </a:extLst>
          </p:cNvPr>
          <p:cNvSpPr>
            <a:spLocks noGrp="1"/>
          </p:cNvSpPr>
          <p:nvPr>
            <p:ph type="title"/>
          </p:nvPr>
        </p:nvSpPr>
        <p:spPr/>
        <p:txBody>
          <a:bodyPr/>
          <a:lstStyle/>
          <a:p>
            <a:r>
              <a:rPr lang="pt-BR" dirty="0"/>
              <a:t>Resumo do que vimos até agora</a:t>
            </a:r>
          </a:p>
        </p:txBody>
      </p:sp>
      <p:sp>
        <p:nvSpPr>
          <p:cNvPr id="3" name="Espaço Reservado para Conteúdo 2">
            <a:extLst>
              <a:ext uri="{FF2B5EF4-FFF2-40B4-BE49-F238E27FC236}">
                <a16:creationId xmlns:a16="http://schemas.microsoft.com/office/drawing/2014/main" id="{3756150B-9B65-3E50-53FB-866630820BC6}"/>
              </a:ext>
            </a:extLst>
          </p:cNvPr>
          <p:cNvSpPr>
            <a:spLocks noGrp="1"/>
          </p:cNvSpPr>
          <p:nvPr>
            <p:ph idx="1"/>
          </p:nvPr>
        </p:nvSpPr>
        <p:spPr>
          <a:xfrm>
            <a:off x="964324" y="2195075"/>
            <a:ext cx="5235308" cy="2063203"/>
          </a:xfrm>
        </p:spPr>
        <p:txBody>
          <a:bodyPr>
            <a:normAutofit/>
          </a:bodyPr>
          <a:lstStyle/>
          <a:p>
            <a:r>
              <a:rPr lang="pt-BR" b="1" i="1" dirty="0">
                <a:solidFill>
                  <a:schemeClr val="accent1"/>
                </a:solidFill>
              </a:rPr>
              <a:t>Hardware embarcado </a:t>
            </a:r>
            <a:r>
              <a:rPr lang="pt-BR" dirty="0"/>
              <a:t>é </a:t>
            </a:r>
            <a:r>
              <a:rPr lang="pt-BR" b="1" i="1" dirty="0">
                <a:solidFill>
                  <a:srgbClr val="FF0000"/>
                </a:solidFill>
              </a:rPr>
              <a:t>extremamente limitado </a:t>
            </a:r>
            <a:r>
              <a:rPr lang="pt-BR" dirty="0"/>
              <a:t>em termos de </a:t>
            </a:r>
            <a:r>
              <a:rPr lang="pt-BR" b="1" i="1" dirty="0"/>
              <a:t>poder computacional</a:t>
            </a:r>
            <a:r>
              <a:rPr lang="pt-BR" dirty="0"/>
              <a:t>, </a:t>
            </a:r>
            <a:r>
              <a:rPr lang="pt-BR" b="1" i="1" dirty="0"/>
              <a:t>consumo de energia </a:t>
            </a:r>
            <a:r>
              <a:rPr lang="pt-BR" dirty="0"/>
              <a:t>e </a:t>
            </a:r>
            <a:r>
              <a:rPr lang="pt-BR" b="1" i="1" dirty="0"/>
              <a:t>armazenamento</a:t>
            </a:r>
            <a:r>
              <a:rPr lang="pt-BR" dirty="0"/>
              <a:t>.</a:t>
            </a:r>
          </a:p>
        </p:txBody>
      </p:sp>
      <p:sp>
        <p:nvSpPr>
          <p:cNvPr id="4" name="Espaço Reservado para Conteúdo 2">
            <a:extLst>
              <a:ext uri="{FF2B5EF4-FFF2-40B4-BE49-F238E27FC236}">
                <a16:creationId xmlns:a16="http://schemas.microsoft.com/office/drawing/2014/main" id="{E513BA28-C1FF-ECD0-AEBA-DF5B8DDDC10D}"/>
              </a:ext>
            </a:extLst>
          </p:cNvPr>
          <p:cNvSpPr txBox="1">
            <a:spLocks/>
          </p:cNvSpPr>
          <p:nvPr/>
        </p:nvSpPr>
        <p:spPr>
          <a:xfrm>
            <a:off x="6863727" y="2195075"/>
            <a:ext cx="5005553" cy="20632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b="1" i="1" dirty="0">
                <a:solidFill>
                  <a:schemeClr val="accent1"/>
                </a:solidFill>
              </a:rPr>
              <a:t>Software embarcado</a:t>
            </a:r>
            <a:r>
              <a:rPr lang="pt-BR" dirty="0"/>
              <a:t> </a:t>
            </a:r>
            <a:r>
              <a:rPr lang="pt-BR" b="1" i="1" dirty="0">
                <a:solidFill>
                  <a:srgbClr val="FF0000"/>
                </a:solidFill>
              </a:rPr>
              <a:t>não é tão portável e flexível</a:t>
            </a:r>
            <a:r>
              <a:rPr lang="pt-BR" dirty="0"/>
              <a:t> quanto o software para sistemas de computação de uso geral.</a:t>
            </a:r>
          </a:p>
        </p:txBody>
      </p:sp>
      <p:sp>
        <p:nvSpPr>
          <p:cNvPr id="6" name="CaixaDeTexto 5">
            <a:extLst>
              <a:ext uri="{FF2B5EF4-FFF2-40B4-BE49-F238E27FC236}">
                <a16:creationId xmlns:a16="http://schemas.microsoft.com/office/drawing/2014/main" id="{6662CB29-BC90-2D59-76DE-F6ED30786685}"/>
              </a:ext>
            </a:extLst>
          </p:cNvPr>
          <p:cNvSpPr txBox="1"/>
          <p:nvPr/>
        </p:nvSpPr>
        <p:spPr>
          <a:xfrm>
            <a:off x="838200" y="4599634"/>
            <a:ext cx="4210390" cy="1200329"/>
          </a:xfrm>
          <a:prstGeom prst="rect">
            <a:avLst/>
          </a:prstGeom>
          <a:noFill/>
        </p:spPr>
        <p:txBody>
          <a:bodyPr wrap="square">
            <a:spAutoFit/>
          </a:bodyPr>
          <a:lstStyle/>
          <a:p>
            <a:pPr algn="ctr"/>
            <a:r>
              <a:rPr lang="pt-BR" b="0" i="0" dirty="0">
                <a:effectLst/>
              </a:rPr>
              <a:t>Essas </a:t>
            </a:r>
            <a:r>
              <a:rPr lang="pt-BR" b="1" i="1" dirty="0">
                <a:effectLst/>
              </a:rPr>
              <a:t>limitações</a:t>
            </a:r>
            <a:r>
              <a:rPr lang="pt-BR" b="0" i="0" dirty="0">
                <a:effectLst/>
              </a:rPr>
              <a:t> são </a:t>
            </a:r>
            <a:r>
              <a:rPr lang="pt-BR" b="1" i="1" dirty="0">
                <a:effectLst/>
              </a:rPr>
              <a:t>comuns</a:t>
            </a:r>
            <a:r>
              <a:rPr lang="pt-BR" b="0" i="0" dirty="0">
                <a:effectLst/>
              </a:rPr>
              <a:t> em </a:t>
            </a:r>
            <a:r>
              <a:rPr lang="pt-BR" b="1" i="1" dirty="0">
                <a:effectLst/>
              </a:rPr>
              <a:t>sistemas</a:t>
            </a:r>
            <a:r>
              <a:rPr lang="pt-BR" b="0" i="0" dirty="0">
                <a:effectLst/>
              </a:rPr>
              <a:t> </a:t>
            </a:r>
            <a:r>
              <a:rPr lang="pt-BR" b="1" i="1" dirty="0">
                <a:effectLst/>
              </a:rPr>
              <a:t>embarcados</a:t>
            </a:r>
            <a:r>
              <a:rPr lang="pt-BR" b="0" i="0" dirty="0">
                <a:effectLst/>
              </a:rPr>
              <a:t> devido ao </a:t>
            </a:r>
            <a:r>
              <a:rPr lang="pt-BR" b="1" i="1" dirty="0">
                <a:effectLst/>
              </a:rPr>
              <a:t>objetivo</a:t>
            </a:r>
            <a:r>
              <a:rPr lang="pt-BR" b="0" i="0" dirty="0">
                <a:effectLst/>
              </a:rPr>
              <a:t> de </a:t>
            </a:r>
            <a:r>
              <a:rPr lang="pt-BR" b="1" i="1" dirty="0">
                <a:solidFill>
                  <a:srgbClr val="7030A0"/>
                </a:solidFill>
                <a:effectLst/>
              </a:rPr>
              <a:t>otimização para tarefas específicas</a:t>
            </a:r>
            <a:r>
              <a:rPr lang="pt-BR" b="0" i="0" dirty="0">
                <a:solidFill>
                  <a:srgbClr val="7030A0"/>
                </a:solidFill>
                <a:effectLst/>
              </a:rPr>
              <a:t> </a:t>
            </a:r>
            <a:r>
              <a:rPr lang="pt-BR" b="0" i="0" dirty="0">
                <a:effectLst/>
              </a:rPr>
              <a:t>e </a:t>
            </a:r>
            <a:r>
              <a:rPr lang="pt-BR" b="1" i="1" dirty="0">
                <a:effectLst/>
              </a:rPr>
              <a:t>eficiência no uso dos recursos</a:t>
            </a:r>
            <a:r>
              <a:rPr lang="pt-BR" b="0" i="0" dirty="0">
                <a:effectLst/>
              </a:rPr>
              <a:t>.</a:t>
            </a:r>
            <a:endParaRPr lang="pt-BR" dirty="0"/>
          </a:p>
        </p:txBody>
      </p:sp>
      <p:sp>
        <p:nvSpPr>
          <p:cNvPr id="8" name="CaixaDeTexto 7">
            <a:extLst>
              <a:ext uri="{FF2B5EF4-FFF2-40B4-BE49-F238E27FC236}">
                <a16:creationId xmlns:a16="http://schemas.microsoft.com/office/drawing/2014/main" id="{65911F33-BE86-4D2D-D188-941187C55F3E}"/>
              </a:ext>
            </a:extLst>
          </p:cNvPr>
          <p:cNvSpPr txBox="1"/>
          <p:nvPr/>
        </p:nvSpPr>
        <p:spPr>
          <a:xfrm>
            <a:off x="6950513" y="4599634"/>
            <a:ext cx="5005553" cy="1477328"/>
          </a:xfrm>
          <a:prstGeom prst="rect">
            <a:avLst/>
          </a:prstGeom>
          <a:noFill/>
        </p:spPr>
        <p:txBody>
          <a:bodyPr wrap="square">
            <a:spAutoFit/>
          </a:bodyPr>
          <a:lstStyle>
            <a:defPPr>
              <a:defRPr lang="pt-BR"/>
            </a:defPPr>
            <a:lvl1pPr algn="ctr">
              <a:defRPr b="0" i="0">
                <a:effectLst/>
              </a:defRPr>
            </a:lvl1pPr>
          </a:lstStyle>
          <a:p>
            <a:r>
              <a:rPr lang="pt-BR" dirty="0"/>
              <a:t>Isso ocorre porque o </a:t>
            </a:r>
            <a:r>
              <a:rPr lang="pt-BR" b="1" i="1" dirty="0">
                <a:solidFill>
                  <a:srgbClr val="7030A0"/>
                </a:solidFill>
              </a:rPr>
              <a:t>SW embarcado </a:t>
            </a:r>
            <a:r>
              <a:rPr lang="pt-BR" dirty="0">
                <a:solidFill>
                  <a:srgbClr val="7030A0"/>
                </a:solidFill>
              </a:rPr>
              <a:t>é </a:t>
            </a:r>
            <a:r>
              <a:rPr lang="pt-BR" b="1" i="1" dirty="0">
                <a:solidFill>
                  <a:srgbClr val="7030A0"/>
                </a:solidFill>
              </a:rPr>
              <a:t>altamente adaptado ao HW</a:t>
            </a:r>
            <a:r>
              <a:rPr lang="pt-BR" dirty="0">
                <a:solidFill>
                  <a:srgbClr val="7030A0"/>
                </a:solidFill>
              </a:rPr>
              <a:t> </a:t>
            </a:r>
            <a:r>
              <a:rPr lang="pt-BR" dirty="0"/>
              <a:t>e aos </a:t>
            </a:r>
            <a:r>
              <a:rPr lang="pt-BR" b="1" i="1" dirty="0">
                <a:solidFill>
                  <a:srgbClr val="7030A0"/>
                </a:solidFill>
              </a:rPr>
              <a:t>requisitos específicos da aplicação</a:t>
            </a:r>
            <a:r>
              <a:rPr lang="pt-BR" dirty="0"/>
              <a:t>, resultando em uma </a:t>
            </a:r>
            <a:r>
              <a:rPr lang="pt-BR" b="1" i="1" dirty="0"/>
              <a:t>menor capacidade de reutilização</a:t>
            </a:r>
            <a:r>
              <a:rPr lang="pt-BR" dirty="0"/>
              <a:t> (portabilidade e adaptação) a diferentes plataformas e contextos.</a:t>
            </a:r>
          </a:p>
        </p:txBody>
      </p:sp>
    </p:spTree>
    <p:extLst>
      <p:ext uri="{BB962C8B-B14F-4D97-AF65-F5344CB8AC3E}">
        <p14:creationId xmlns:p14="http://schemas.microsoft.com/office/powerpoint/2010/main" val="21479797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55BD9F-A5F9-C006-2D60-3988AFB742AA}"/>
              </a:ext>
            </a:extLst>
          </p:cNvPr>
          <p:cNvSpPr>
            <a:spLocks noGrp="1"/>
          </p:cNvSpPr>
          <p:nvPr>
            <p:ph type="title"/>
          </p:nvPr>
        </p:nvSpPr>
        <p:spPr/>
        <p:txBody>
          <a:bodyPr/>
          <a:lstStyle/>
          <a:p>
            <a:r>
              <a:rPr lang="pt-BR" dirty="0"/>
              <a:t>Atividades</a:t>
            </a:r>
          </a:p>
        </p:txBody>
      </p:sp>
      <p:sp>
        <p:nvSpPr>
          <p:cNvPr id="3" name="Espaço Reservado para Conteúdo 2">
            <a:extLst>
              <a:ext uri="{FF2B5EF4-FFF2-40B4-BE49-F238E27FC236}">
                <a16:creationId xmlns:a16="http://schemas.microsoft.com/office/drawing/2014/main" id="{DE398648-3AD3-9986-3010-6210876DC9B1}"/>
              </a:ext>
            </a:extLst>
          </p:cNvPr>
          <p:cNvSpPr>
            <a:spLocks noGrp="1"/>
          </p:cNvSpPr>
          <p:nvPr>
            <p:ph idx="1"/>
          </p:nvPr>
        </p:nvSpPr>
        <p:spPr/>
        <p:txBody>
          <a:bodyPr/>
          <a:lstStyle/>
          <a:p>
            <a:r>
              <a:rPr lang="pt-BR" dirty="0"/>
              <a:t>Quiz: “</a:t>
            </a:r>
            <a:r>
              <a:rPr lang="pt-BR" b="1" i="1" dirty="0"/>
              <a:t>TP557 – Desafios do TinyML – Sistemas Embarcados</a:t>
            </a:r>
            <a:r>
              <a:rPr lang="pt-BR" dirty="0"/>
              <a:t>”</a:t>
            </a:r>
          </a:p>
        </p:txBody>
      </p:sp>
    </p:spTree>
    <p:extLst>
      <p:ext uri="{BB962C8B-B14F-4D97-AF65-F5344CB8AC3E}">
        <p14:creationId xmlns:p14="http://schemas.microsoft.com/office/powerpoint/2010/main" val="29185202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Perguntas?</a:t>
            </a:r>
            <a:endParaRPr lang="pt-BR" sz="6600" b="1" i="1" dirty="0"/>
          </a:p>
        </p:txBody>
      </p:sp>
    </p:spTree>
    <p:extLst>
      <p:ext uri="{BB962C8B-B14F-4D97-AF65-F5344CB8AC3E}">
        <p14:creationId xmlns:p14="http://schemas.microsoft.com/office/powerpoint/2010/main" val="19759815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Obrigado!</a:t>
            </a:r>
            <a:endParaRPr lang="pt-BR" sz="6600" b="1" i="1" dirty="0"/>
          </a:p>
        </p:txBody>
      </p:sp>
    </p:spTree>
    <p:extLst>
      <p:ext uri="{BB962C8B-B14F-4D97-AF65-F5344CB8AC3E}">
        <p14:creationId xmlns:p14="http://schemas.microsoft.com/office/powerpoint/2010/main" val="5991458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Agrupar 27">
            <a:extLst>
              <a:ext uri="{FF2B5EF4-FFF2-40B4-BE49-F238E27FC236}">
                <a16:creationId xmlns:a16="http://schemas.microsoft.com/office/drawing/2014/main" id="{29C9F480-45E3-4B94-C1BB-EE8A52794F03}"/>
              </a:ext>
            </a:extLst>
          </p:cNvPr>
          <p:cNvGrpSpPr/>
          <p:nvPr/>
        </p:nvGrpSpPr>
        <p:grpSpPr>
          <a:xfrm>
            <a:off x="2016976" y="1511784"/>
            <a:ext cx="5692054" cy="4414198"/>
            <a:chOff x="2016976" y="1511784"/>
            <a:chExt cx="5692054" cy="4414198"/>
          </a:xfrm>
        </p:grpSpPr>
        <p:pic>
          <p:nvPicPr>
            <p:cNvPr id="4100" name="Picture 4" descr="Buy NEW NUVOTON NPCE795GAODX NPCE795GA0DX QFP IC CHIPS Online in India at  Lowest Prices - Price in India - buysnip.com">
              <a:extLst>
                <a:ext uri="{FF2B5EF4-FFF2-40B4-BE49-F238E27FC236}">
                  <a16:creationId xmlns:a16="http://schemas.microsoft.com/office/drawing/2014/main" id="{D81877C1-85FA-57F8-9108-B6031CA59A0A}"/>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745" t="14078" r="6380" b="12483"/>
            <a:stretch/>
          </p:blipFill>
          <p:spPr bwMode="auto">
            <a:xfrm>
              <a:off x="2785768" y="1696450"/>
              <a:ext cx="2405643" cy="1965722"/>
            </a:xfrm>
            <a:prstGeom prst="rect">
              <a:avLst/>
            </a:prstGeom>
            <a:noFill/>
            <a:extLst>
              <a:ext uri="{909E8E84-426E-40DD-AFC4-6F175D3DCCD1}">
                <a14:hiddenFill xmlns:a14="http://schemas.microsoft.com/office/drawing/2010/main">
                  <a:solidFill>
                    <a:srgbClr val="FFFFFF"/>
                  </a:solidFill>
                </a14:hiddenFill>
              </a:ext>
            </a:extLst>
          </p:spPr>
        </p:pic>
        <p:pic>
          <p:nvPicPr>
            <p:cNvPr id="4116" name="Picture 20" descr="130+ Computer Chip Semiconductor Cpu White Background Illustrations,  Royalty-Free Vector Graphics &amp; Clip Art - iStock">
              <a:extLst>
                <a:ext uri="{FF2B5EF4-FFF2-40B4-BE49-F238E27FC236}">
                  <a16:creationId xmlns:a16="http://schemas.microsoft.com/office/drawing/2014/main" id="{029EAF6D-2AEA-CED3-B3D9-A4696B394D7E}"/>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3268" t="12420" r="3350" b="8496"/>
            <a:stretch/>
          </p:blipFill>
          <p:spPr bwMode="auto">
            <a:xfrm>
              <a:off x="3946639" y="4500524"/>
              <a:ext cx="2244213" cy="1425458"/>
            </a:xfrm>
            <a:prstGeom prst="rect">
              <a:avLst/>
            </a:prstGeom>
            <a:noFill/>
            <a:extLst>
              <a:ext uri="{909E8E84-426E-40DD-AFC4-6F175D3DCCD1}">
                <a14:hiddenFill xmlns:a14="http://schemas.microsoft.com/office/drawing/2010/main">
                  <a:solidFill>
                    <a:srgbClr val="FFFFFF"/>
                  </a:solidFill>
                </a14:hiddenFill>
              </a:ext>
            </a:extLst>
          </p:spPr>
        </p:pic>
        <p:pic>
          <p:nvPicPr>
            <p:cNvPr id="4122" name="Picture 26" descr="Free STL file Z80 CPU・3D printing design to download・Cults">
              <a:extLst>
                <a:ext uri="{FF2B5EF4-FFF2-40B4-BE49-F238E27FC236}">
                  <a16:creationId xmlns:a16="http://schemas.microsoft.com/office/drawing/2014/main" id="{4B25CE6D-84EF-35A9-9454-53DE60435558}"/>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2133" t="18541" r="15158" b="22127"/>
            <a:stretch/>
          </p:blipFill>
          <p:spPr bwMode="auto">
            <a:xfrm>
              <a:off x="5478257" y="2998192"/>
              <a:ext cx="2227847" cy="1137047"/>
            </a:xfrm>
            <a:prstGeom prst="rect">
              <a:avLst/>
            </a:prstGeom>
            <a:noFill/>
            <a:extLst>
              <a:ext uri="{909E8E84-426E-40DD-AFC4-6F175D3DCCD1}">
                <a14:hiddenFill xmlns:a14="http://schemas.microsoft.com/office/drawing/2010/main">
                  <a:solidFill>
                    <a:srgbClr val="FFFFFF"/>
                  </a:solidFill>
                </a14:hiddenFill>
              </a:ext>
            </a:extLst>
          </p:spPr>
        </p:pic>
        <p:grpSp>
          <p:nvGrpSpPr>
            <p:cNvPr id="12" name="Agrupar 11">
              <a:extLst>
                <a:ext uri="{FF2B5EF4-FFF2-40B4-BE49-F238E27FC236}">
                  <a16:creationId xmlns:a16="http://schemas.microsoft.com/office/drawing/2014/main" id="{3CAB4DF6-E1D9-A065-9F33-3CE0025A97B8}"/>
                </a:ext>
              </a:extLst>
            </p:cNvPr>
            <p:cNvGrpSpPr/>
            <p:nvPr/>
          </p:nvGrpSpPr>
          <p:grpSpPr>
            <a:xfrm>
              <a:off x="6121563" y="1554742"/>
              <a:ext cx="1160184" cy="1341316"/>
              <a:chOff x="6096000" y="1171575"/>
              <a:chExt cx="1354565" cy="1657350"/>
            </a:xfrm>
          </p:grpSpPr>
          <p:pic>
            <p:nvPicPr>
              <p:cNvPr id="8" name="Picture 10" descr="Computer Chip On A White Background Stock Photo - Download Image Now -  Circuit Board, Computer Chip, Cut Out - iStock">
                <a:extLst>
                  <a:ext uri="{FF2B5EF4-FFF2-40B4-BE49-F238E27FC236}">
                    <a16:creationId xmlns:a16="http://schemas.microsoft.com/office/drawing/2014/main" id="{21F4A9EC-B955-1668-6A97-FB28882C0141}"/>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0782" t="31577" r="8351" b="30188"/>
              <a:stretch/>
            </p:blipFill>
            <p:spPr bwMode="auto">
              <a:xfrm>
                <a:off x="6096000" y="1171575"/>
                <a:ext cx="1354565" cy="828675"/>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Computer Chip On A White Background Stock Photo - Download Image Now -  Circuit Board, Computer Chip, Cut Out - iStock">
                <a:extLst>
                  <a:ext uri="{FF2B5EF4-FFF2-40B4-BE49-F238E27FC236}">
                    <a16:creationId xmlns:a16="http://schemas.microsoft.com/office/drawing/2014/main" id="{7AF0804B-41AA-922F-E69D-C29F93BD5D12}"/>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0782" t="31577" r="8351" b="30188"/>
              <a:stretch/>
            </p:blipFill>
            <p:spPr bwMode="auto">
              <a:xfrm>
                <a:off x="6096000" y="2000250"/>
                <a:ext cx="1354565" cy="828675"/>
              </a:xfrm>
              <a:prstGeom prst="rect">
                <a:avLst/>
              </a:prstGeom>
              <a:noFill/>
              <a:extLst>
                <a:ext uri="{909E8E84-426E-40DD-AFC4-6F175D3DCCD1}">
                  <a14:hiddenFill xmlns:a14="http://schemas.microsoft.com/office/drawing/2010/main">
                    <a:solidFill>
                      <a:srgbClr val="FFFFFF"/>
                    </a:solidFill>
                  </a14:hiddenFill>
                </a:ext>
              </a:extLst>
            </p:spPr>
          </p:pic>
        </p:grpSp>
        <p:sp>
          <p:nvSpPr>
            <p:cNvPr id="16" name="CaixaDeTexto 15">
              <a:extLst>
                <a:ext uri="{FF2B5EF4-FFF2-40B4-BE49-F238E27FC236}">
                  <a16:creationId xmlns:a16="http://schemas.microsoft.com/office/drawing/2014/main" id="{1F2C85C1-EE40-786A-4AC7-9BB2BE065123}"/>
                </a:ext>
              </a:extLst>
            </p:cNvPr>
            <p:cNvSpPr txBox="1"/>
            <p:nvPr/>
          </p:nvSpPr>
          <p:spPr>
            <a:xfrm>
              <a:off x="5455955" y="3078940"/>
              <a:ext cx="782784" cy="307777"/>
            </a:xfrm>
            <a:prstGeom prst="rect">
              <a:avLst/>
            </a:prstGeom>
            <a:noFill/>
          </p:spPr>
          <p:txBody>
            <a:bodyPr wrap="square" rtlCol="0">
              <a:spAutoFit/>
            </a:bodyPr>
            <a:lstStyle/>
            <a:p>
              <a:r>
                <a:rPr lang="pt-BR" sz="1400" b="1" dirty="0"/>
                <a:t>CPU</a:t>
              </a:r>
            </a:p>
          </p:txBody>
        </p:sp>
        <p:sp>
          <p:nvSpPr>
            <p:cNvPr id="17" name="CaixaDeTexto 16">
              <a:extLst>
                <a:ext uri="{FF2B5EF4-FFF2-40B4-BE49-F238E27FC236}">
                  <a16:creationId xmlns:a16="http://schemas.microsoft.com/office/drawing/2014/main" id="{7B5D2344-A502-58BF-C99D-D919284D4BF2}"/>
                </a:ext>
              </a:extLst>
            </p:cNvPr>
            <p:cNvSpPr txBox="1"/>
            <p:nvPr/>
          </p:nvSpPr>
          <p:spPr>
            <a:xfrm>
              <a:off x="5730171" y="2225400"/>
              <a:ext cx="782784" cy="307777"/>
            </a:xfrm>
            <a:prstGeom prst="rect">
              <a:avLst/>
            </a:prstGeom>
            <a:noFill/>
          </p:spPr>
          <p:txBody>
            <a:bodyPr wrap="square" rtlCol="0">
              <a:spAutoFit/>
            </a:bodyPr>
            <a:lstStyle/>
            <a:p>
              <a:r>
                <a:rPr lang="pt-BR" sz="1400" b="1" dirty="0"/>
                <a:t>RAM</a:t>
              </a:r>
            </a:p>
          </p:txBody>
        </p:sp>
        <p:sp>
          <p:nvSpPr>
            <p:cNvPr id="18" name="CaixaDeTexto 17">
              <a:extLst>
                <a:ext uri="{FF2B5EF4-FFF2-40B4-BE49-F238E27FC236}">
                  <a16:creationId xmlns:a16="http://schemas.microsoft.com/office/drawing/2014/main" id="{5A22C3F8-09F4-CCD2-69C3-F158403A0337}"/>
                </a:ext>
              </a:extLst>
            </p:cNvPr>
            <p:cNvSpPr txBox="1"/>
            <p:nvPr/>
          </p:nvSpPr>
          <p:spPr>
            <a:xfrm>
              <a:off x="5809397" y="1511784"/>
              <a:ext cx="782784" cy="307777"/>
            </a:xfrm>
            <a:prstGeom prst="rect">
              <a:avLst/>
            </a:prstGeom>
            <a:noFill/>
          </p:spPr>
          <p:txBody>
            <a:bodyPr wrap="square" rtlCol="0">
              <a:spAutoFit/>
            </a:bodyPr>
            <a:lstStyle/>
            <a:p>
              <a:r>
                <a:rPr lang="pt-BR" sz="1400" b="1" dirty="0"/>
                <a:t>Flash</a:t>
              </a:r>
            </a:p>
          </p:txBody>
        </p:sp>
        <p:sp>
          <p:nvSpPr>
            <p:cNvPr id="19" name="CaixaDeTexto 18">
              <a:extLst>
                <a:ext uri="{FF2B5EF4-FFF2-40B4-BE49-F238E27FC236}">
                  <a16:creationId xmlns:a16="http://schemas.microsoft.com/office/drawing/2014/main" id="{188B7BDC-BD48-38C7-81EA-6242032AC50D}"/>
                </a:ext>
              </a:extLst>
            </p:cNvPr>
            <p:cNvSpPr txBox="1"/>
            <p:nvPr/>
          </p:nvSpPr>
          <p:spPr>
            <a:xfrm>
              <a:off x="2711386" y="3477506"/>
              <a:ext cx="782784" cy="307777"/>
            </a:xfrm>
            <a:prstGeom prst="rect">
              <a:avLst/>
            </a:prstGeom>
            <a:noFill/>
          </p:spPr>
          <p:txBody>
            <a:bodyPr wrap="square" rtlCol="0">
              <a:spAutoFit/>
            </a:bodyPr>
            <a:lstStyle/>
            <a:p>
              <a:r>
                <a:rPr lang="pt-BR" sz="1400" b="1" dirty="0"/>
                <a:t>ADC</a:t>
              </a:r>
            </a:p>
          </p:txBody>
        </p:sp>
        <p:sp>
          <p:nvSpPr>
            <p:cNvPr id="20" name="CaixaDeTexto 19">
              <a:extLst>
                <a:ext uri="{FF2B5EF4-FFF2-40B4-BE49-F238E27FC236}">
                  <a16:creationId xmlns:a16="http://schemas.microsoft.com/office/drawing/2014/main" id="{A18E9168-FC64-70ED-44DA-7E66B133868D}"/>
                </a:ext>
              </a:extLst>
            </p:cNvPr>
            <p:cNvSpPr txBox="1"/>
            <p:nvPr/>
          </p:nvSpPr>
          <p:spPr>
            <a:xfrm>
              <a:off x="4285963" y="3238667"/>
              <a:ext cx="782784" cy="307777"/>
            </a:xfrm>
            <a:prstGeom prst="rect">
              <a:avLst/>
            </a:prstGeom>
            <a:noFill/>
          </p:spPr>
          <p:txBody>
            <a:bodyPr wrap="square" rtlCol="0">
              <a:spAutoFit/>
            </a:bodyPr>
            <a:lstStyle/>
            <a:p>
              <a:r>
                <a:rPr lang="pt-BR" sz="1400" b="1" dirty="0"/>
                <a:t>DAC</a:t>
              </a:r>
            </a:p>
          </p:txBody>
        </p:sp>
        <p:sp>
          <p:nvSpPr>
            <p:cNvPr id="21" name="CaixaDeTexto 20">
              <a:extLst>
                <a:ext uri="{FF2B5EF4-FFF2-40B4-BE49-F238E27FC236}">
                  <a16:creationId xmlns:a16="http://schemas.microsoft.com/office/drawing/2014/main" id="{3158F7DE-DE75-5608-D56D-32A708BBFBFA}"/>
                </a:ext>
              </a:extLst>
            </p:cNvPr>
            <p:cNvSpPr txBox="1"/>
            <p:nvPr/>
          </p:nvSpPr>
          <p:spPr>
            <a:xfrm>
              <a:off x="4337047" y="1696450"/>
              <a:ext cx="782784" cy="307777"/>
            </a:xfrm>
            <a:prstGeom prst="rect">
              <a:avLst/>
            </a:prstGeom>
            <a:noFill/>
          </p:spPr>
          <p:txBody>
            <a:bodyPr wrap="square" rtlCol="0">
              <a:spAutoFit/>
            </a:bodyPr>
            <a:lstStyle/>
            <a:p>
              <a:r>
                <a:rPr lang="pt-BR" sz="1400" b="1" dirty="0"/>
                <a:t>Timer</a:t>
              </a:r>
            </a:p>
          </p:txBody>
        </p:sp>
        <p:sp>
          <p:nvSpPr>
            <p:cNvPr id="22" name="CaixaDeTexto 21">
              <a:extLst>
                <a:ext uri="{FF2B5EF4-FFF2-40B4-BE49-F238E27FC236}">
                  <a16:creationId xmlns:a16="http://schemas.microsoft.com/office/drawing/2014/main" id="{42F7AACA-31C9-F439-507B-FE1B62CEEBBB}"/>
                </a:ext>
              </a:extLst>
            </p:cNvPr>
            <p:cNvSpPr txBox="1"/>
            <p:nvPr/>
          </p:nvSpPr>
          <p:spPr>
            <a:xfrm>
              <a:off x="2016976" y="2030272"/>
              <a:ext cx="1339112" cy="523220"/>
            </a:xfrm>
            <a:prstGeom prst="rect">
              <a:avLst/>
            </a:prstGeom>
            <a:noFill/>
          </p:spPr>
          <p:txBody>
            <a:bodyPr wrap="square" rtlCol="0">
              <a:spAutoFit/>
            </a:bodyPr>
            <a:lstStyle/>
            <a:p>
              <a:pPr algn="ctr"/>
              <a:r>
                <a:rPr lang="pt-BR" sz="1400" b="1" dirty="0"/>
                <a:t>Controlador de I/O</a:t>
              </a:r>
            </a:p>
          </p:txBody>
        </p:sp>
        <p:sp>
          <p:nvSpPr>
            <p:cNvPr id="23" name="CaixaDeTexto 22">
              <a:extLst>
                <a:ext uri="{FF2B5EF4-FFF2-40B4-BE49-F238E27FC236}">
                  <a16:creationId xmlns:a16="http://schemas.microsoft.com/office/drawing/2014/main" id="{E249FF25-C54B-7370-F3D5-9559BA8F5034}"/>
                </a:ext>
              </a:extLst>
            </p:cNvPr>
            <p:cNvSpPr txBox="1"/>
            <p:nvPr/>
          </p:nvSpPr>
          <p:spPr>
            <a:xfrm>
              <a:off x="3597197" y="1541797"/>
              <a:ext cx="782784" cy="307777"/>
            </a:xfrm>
            <a:prstGeom prst="rect">
              <a:avLst/>
            </a:prstGeom>
            <a:noFill/>
          </p:spPr>
          <p:txBody>
            <a:bodyPr wrap="square" rtlCol="0">
              <a:spAutoFit/>
            </a:bodyPr>
            <a:lstStyle/>
            <a:p>
              <a:r>
                <a:rPr lang="pt-BR" sz="1400" b="1" dirty="0"/>
                <a:t>UART</a:t>
              </a:r>
            </a:p>
          </p:txBody>
        </p:sp>
        <p:sp>
          <p:nvSpPr>
            <p:cNvPr id="24" name="Chave Direita 23">
              <a:extLst>
                <a:ext uri="{FF2B5EF4-FFF2-40B4-BE49-F238E27FC236}">
                  <a16:creationId xmlns:a16="http://schemas.microsoft.com/office/drawing/2014/main" id="{A86E62BB-C03C-F12C-00C4-0E575BF1C24C}"/>
                </a:ext>
              </a:extLst>
            </p:cNvPr>
            <p:cNvSpPr/>
            <p:nvPr/>
          </p:nvSpPr>
          <p:spPr>
            <a:xfrm rot="5400000">
              <a:off x="4828995" y="1542054"/>
              <a:ext cx="479503" cy="5280566"/>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27" name="CaixaDeTexto 26">
              <a:extLst>
                <a:ext uri="{FF2B5EF4-FFF2-40B4-BE49-F238E27FC236}">
                  <a16:creationId xmlns:a16="http://schemas.microsoft.com/office/drawing/2014/main" id="{CAC20CFE-F425-591E-B548-09B78A119EF2}"/>
                </a:ext>
              </a:extLst>
            </p:cNvPr>
            <p:cNvSpPr txBox="1"/>
            <p:nvPr/>
          </p:nvSpPr>
          <p:spPr>
            <a:xfrm>
              <a:off x="3286732" y="4491649"/>
              <a:ext cx="1546181" cy="307777"/>
            </a:xfrm>
            <a:prstGeom prst="rect">
              <a:avLst/>
            </a:prstGeom>
            <a:noFill/>
          </p:spPr>
          <p:txBody>
            <a:bodyPr wrap="square" rtlCol="0">
              <a:spAutoFit/>
            </a:bodyPr>
            <a:lstStyle/>
            <a:p>
              <a:r>
                <a:rPr lang="pt-BR" sz="1400" b="1" dirty="0"/>
                <a:t>Microntrolador</a:t>
              </a:r>
            </a:p>
          </p:txBody>
        </p:sp>
      </p:grpSp>
    </p:spTree>
    <p:extLst>
      <p:ext uri="{BB962C8B-B14F-4D97-AF65-F5344CB8AC3E}">
        <p14:creationId xmlns:p14="http://schemas.microsoft.com/office/powerpoint/2010/main" val="42700818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Agrupar 34">
            <a:extLst>
              <a:ext uri="{FF2B5EF4-FFF2-40B4-BE49-F238E27FC236}">
                <a16:creationId xmlns:a16="http://schemas.microsoft.com/office/drawing/2014/main" id="{70B1F90C-FD19-E424-E2DE-70A9C67DFC65}"/>
              </a:ext>
            </a:extLst>
          </p:cNvPr>
          <p:cNvGrpSpPr/>
          <p:nvPr/>
        </p:nvGrpSpPr>
        <p:grpSpPr>
          <a:xfrm>
            <a:off x="256564" y="207166"/>
            <a:ext cx="9729281" cy="6290888"/>
            <a:chOff x="256564" y="207166"/>
            <a:chExt cx="9729281" cy="6290888"/>
          </a:xfrm>
        </p:grpSpPr>
        <p:grpSp>
          <p:nvGrpSpPr>
            <p:cNvPr id="3" name="Grupo 2"/>
            <p:cNvGrpSpPr/>
            <p:nvPr/>
          </p:nvGrpSpPr>
          <p:grpSpPr>
            <a:xfrm>
              <a:off x="256564" y="207166"/>
              <a:ext cx="9617272" cy="6290888"/>
              <a:chOff x="1305718" y="207166"/>
              <a:chExt cx="9617272" cy="6290888"/>
            </a:xfrm>
          </p:grpSpPr>
          <p:sp>
            <p:nvSpPr>
              <p:cNvPr id="33" name="Retângulo 32"/>
              <p:cNvSpPr/>
              <p:nvPr/>
            </p:nvSpPr>
            <p:spPr>
              <a:xfrm>
                <a:off x="1695100" y="2417042"/>
                <a:ext cx="8455230" cy="187200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4" name="Retângulo 33"/>
              <p:cNvSpPr/>
              <p:nvPr/>
            </p:nvSpPr>
            <p:spPr>
              <a:xfrm>
                <a:off x="1695100" y="4290776"/>
                <a:ext cx="8455230" cy="180716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Retângulo 3"/>
              <p:cNvSpPr/>
              <p:nvPr/>
            </p:nvSpPr>
            <p:spPr>
              <a:xfrm>
                <a:off x="1695100" y="544429"/>
                <a:ext cx="8455231" cy="1872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6" name="Conector de seta reta 5"/>
              <p:cNvCxnSpPr/>
              <p:nvPr/>
            </p:nvCxnSpPr>
            <p:spPr>
              <a:xfrm flipV="1">
                <a:off x="1654083" y="364027"/>
                <a:ext cx="0" cy="576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ector de seta reta 7"/>
              <p:cNvCxnSpPr/>
              <p:nvPr/>
            </p:nvCxnSpPr>
            <p:spPr>
              <a:xfrm>
                <a:off x="1654083" y="6124027"/>
                <a:ext cx="864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Retângulo 8"/>
              <p:cNvSpPr/>
              <p:nvPr/>
            </p:nvSpPr>
            <p:spPr>
              <a:xfrm>
                <a:off x="1855500" y="5272272"/>
                <a:ext cx="781397" cy="695095"/>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M0+</a:t>
                </a:r>
              </a:p>
            </p:txBody>
          </p:sp>
          <p:sp>
            <p:nvSpPr>
              <p:cNvPr id="10" name="Retângulo 9"/>
              <p:cNvSpPr/>
              <p:nvPr/>
            </p:nvSpPr>
            <p:spPr>
              <a:xfrm>
                <a:off x="3038833" y="5272271"/>
                <a:ext cx="781397" cy="695095"/>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M0</a:t>
                </a:r>
              </a:p>
            </p:txBody>
          </p:sp>
          <p:sp>
            <p:nvSpPr>
              <p:cNvPr id="11" name="Retângulo 10"/>
              <p:cNvSpPr/>
              <p:nvPr/>
            </p:nvSpPr>
            <p:spPr>
              <a:xfrm>
                <a:off x="3038832" y="4412505"/>
                <a:ext cx="781397" cy="695095"/>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M3</a:t>
                </a:r>
              </a:p>
            </p:txBody>
          </p:sp>
          <p:sp>
            <p:nvSpPr>
              <p:cNvPr id="12" name="Retângulo 11"/>
              <p:cNvSpPr/>
              <p:nvPr/>
            </p:nvSpPr>
            <p:spPr>
              <a:xfrm>
                <a:off x="4220848" y="4412505"/>
                <a:ext cx="781397" cy="695095"/>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M4</a:t>
                </a:r>
              </a:p>
              <a:p>
                <a:pPr algn="ctr"/>
                <a:endParaRPr lang="pt-BR" dirty="0"/>
              </a:p>
            </p:txBody>
          </p:sp>
          <p:sp>
            <p:nvSpPr>
              <p:cNvPr id="13" name="Retângulo 12"/>
              <p:cNvSpPr/>
              <p:nvPr/>
            </p:nvSpPr>
            <p:spPr>
              <a:xfrm>
                <a:off x="5420979" y="3115857"/>
                <a:ext cx="781397" cy="6950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R4</a:t>
                </a:r>
              </a:p>
              <a:p>
                <a:pPr algn="ctr"/>
                <a:endParaRPr lang="pt-BR" dirty="0"/>
              </a:p>
            </p:txBody>
          </p:sp>
          <p:grpSp>
            <p:nvGrpSpPr>
              <p:cNvPr id="28" name="Grupo 27"/>
              <p:cNvGrpSpPr/>
              <p:nvPr/>
            </p:nvGrpSpPr>
            <p:grpSpPr>
              <a:xfrm>
                <a:off x="6651426" y="2983472"/>
                <a:ext cx="897671" cy="827480"/>
                <a:chOff x="5361118" y="3234889"/>
                <a:chExt cx="897671" cy="827480"/>
              </a:xfrm>
            </p:grpSpPr>
            <p:sp>
              <p:nvSpPr>
                <p:cNvPr id="27" name="Retângulo 26"/>
                <p:cNvSpPr/>
                <p:nvPr/>
              </p:nvSpPr>
              <p:spPr>
                <a:xfrm>
                  <a:off x="5477392" y="3234889"/>
                  <a:ext cx="781397" cy="695095"/>
                </a:xfrm>
                <a:prstGeom prst="rect">
                  <a:avLst/>
                </a:prstGeom>
                <a:solidFill>
                  <a:schemeClr val="accent4">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Retângulo 13"/>
                <p:cNvSpPr/>
                <p:nvPr/>
              </p:nvSpPr>
              <p:spPr>
                <a:xfrm>
                  <a:off x="5361118" y="3367274"/>
                  <a:ext cx="781397" cy="6950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R5</a:t>
                  </a:r>
                </a:p>
                <a:p>
                  <a:pPr algn="ctr"/>
                  <a:endParaRPr lang="pt-BR" dirty="0"/>
                </a:p>
              </p:txBody>
            </p:sp>
          </p:grpSp>
          <p:grpSp>
            <p:nvGrpSpPr>
              <p:cNvPr id="21" name="Grupo 20"/>
              <p:cNvGrpSpPr/>
              <p:nvPr/>
            </p:nvGrpSpPr>
            <p:grpSpPr>
              <a:xfrm>
                <a:off x="6051967" y="968926"/>
                <a:ext cx="1196063" cy="1041730"/>
                <a:chOff x="4996638" y="1849165"/>
                <a:chExt cx="1196063" cy="1041730"/>
              </a:xfrm>
            </p:grpSpPr>
            <p:sp>
              <p:nvSpPr>
                <p:cNvPr id="20" name="Retângulo 19"/>
                <p:cNvSpPr/>
                <p:nvPr/>
              </p:nvSpPr>
              <p:spPr>
                <a:xfrm>
                  <a:off x="5411304" y="1849165"/>
                  <a:ext cx="781397" cy="695095"/>
                </a:xfrm>
                <a:prstGeom prst="rect">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9" name="Retângulo 18"/>
                <p:cNvSpPr/>
                <p:nvPr/>
              </p:nvSpPr>
              <p:spPr>
                <a:xfrm>
                  <a:off x="5275631" y="1962717"/>
                  <a:ext cx="781397" cy="695095"/>
                </a:xfrm>
                <a:prstGeom prst="rect">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8" name="Retângulo 17"/>
                <p:cNvSpPr/>
                <p:nvPr/>
              </p:nvSpPr>
              <p:spPr>
                <a:xfrm>
                  <a:off x="5114002" y="2072075"/>
                  <a:ext cx="781397" cy="695095"/>
                </a:xfrm>
                <a:prstGeom prst="rect">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6" name="Retângulo 15"/>
                <p:cNvSpPr/>
                <p:nvPr/>
              </p:nvSpPr>
              <p:spPr>
                <a:xfrm>
                  <a:off x="4996638" y="2195800"/>
                  <a:ext cx="781397" cy="69509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A5</a:t>
                  </a:r>
                </a:p>
                <a:p>
                  <a:pPr algn="ctr"/>
                  <a:endParaRPr lang="pt-BR" dirty="0"/>
                </a:p>
              </p:txBody>
            </p:sp>
          </p:grpSp>
          <p:grpSp>
            <p:nvGrpSpPr>
              <p:cNvPr id="22" name="Grupo 21"/>
              <p:cNvGrpSpPr/>
              <p:nvPr/>
            </p:nvGrpSpPr>
            <p:grpSpPr>
              <a:xfrm>
                <a:off x="8007011" y="968926"/>
                <a:ext cx="1196063" cy="1041730"/>
                <a:chOff x="4996638" y="1849165"/>
                <a:chExt cx="1196063" cy="1041730"/>
              </a:xfrm>
            </p:grpSpPr>
            <p:sp>
              <p:nvSpPr>
                <p:cNvPr id="23" name="Retângulo 22"/>
                <p:cNvSpPr/>
                <p:nvPr/>
              </p:nvSpPr>
              <p:spPr>
                <a:xfrm>
                  <a:off x="5411304" y="1849165"/>
                  <a:ext cx="781397" cy="695095"/>
                </a:xfrm>
                <a:prstGeom prst="rect">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4" name="Retângulo 23"/>
                <p:cNvSpPr/>
                <p:nvPr/>
              </p:nvSpPr>
              <p:spPr>
                <a:xfrm>
                  <a:off x="5275631" y="1962717"/>
                  <a:ext cx="781397" cy="695095"/>
                </a:xfrm>
                <a:prstGeom prst="rect">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5" name="Retângulo 24"/>
                <p:cNvSpPr/>
                <p:nvPr/>
              </p:nvSpPr>
              <p:spPr>
                <a:xfrm>
                  <a:off x="5114002" y="2072075"/>
                  <a:ext cx="781397" cy="695095"/>
                </a:xfrm>
                <a:prstGeom prst="rect">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6" name="Retângulo 25"/>
                <p:cNvSpPr/>
                <p:nvPr/>
              </p:nvSpPr>
              <p:spPr>
                <a:xfrm>
                  <a:off x="4996638" y="2195800"/>
                  <a:ext cx="781397" cy="69509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A9</a:t>
                  </a:r>
                </a:p>
                <a:p>
                  <a:pPr algn="ctr"/>
                  <a:endParaRPr lang="pt-BR" dirty="0"/>
                </a:p>
              </p:txBody>
            </p:sp>
          </p:grpSp>
          <p:grpSp>
            <p:nvGrpSpPr>
              <p:cNvPr id="29" name="Grupo 28"/>
              <p:cNvGrpSpPr/>
              <p:nvPr/>
            </p:nvGrpSpPr>
            <p:grpSpPr>
              <a:xfrm>
                <a:off x="8001124" y="2977554"/>
                <a:ext cx="897671" cy="827480"/>
                <a:chOff x="5361118" y="3234889"/>
                <a:chExt cx="897671" cy="827480"/>
              </a:xfrm>
            </p:grpSpPr>
            <p:sp>
              <p:nvSpPr>
                <p:cNvPr id="30" name="Retângulo 29"/>
                <p:cNvSpPr/>
                <p:nvPr/>
              </p:nvSpPr>
              <p:spPr>
                <a:xfrm>
                  <a:off x="5477392" y="3234889"/>
                  <a:ext cx="781397" cy="695095"/>
                </a:xfrm>
                <a:prstGeom prst="rect">
                  <a:avLst/>
                </a:prstGeom>
                <a:solidFill>
                  <a:schemeClr val="accent4">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1" name="Retângulo 30"/>
                <p:cNvSpPr/>
                <p:nvPr/>
              </p:nvSpPr>
              <p:spPr>
                <a:xfrm>
                  <a:off x="5361118" y="3367274"/>
                  <a:ext cx="781397" cy="6950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R7</a:t>
                  </a:r>
                </a:p>
                <a:p>
                  <a:pPr algn="ctr"/>
                  <a:endParaRPr lang="pt-BR" dirty="0"/>
                </a:p>
              </p:txBody>
            </p:sp>
          </p:grpSp>
          <p:sp>
            <p:nvSpPr>
              <p:cNvPr id="38" name="CaixaDeTexto 37"/>
              <p:cNvSpPr txBox="1"/>
              <p:nvPr/>
            </p:nvSpPr>
            <p:spPr>
              <a:xfrm rot="16200000">
                <a:off x="744715" y="768169"/>
                <a:ext cx="1522116" cy="400110"/>
              </a:xfrm>
              <a:prstGeom prst="rect">
                <a:avLst/>
              </a:prstGeom>
              <a:noFill/>
            </p:spPr>
            <p:txBody>
              <a:bodyPr wrap="square" rtlCol="0">
                <a:spAutoFit/>
              </a:bodyPr>
              <a:lstStyle/>
              <a:p>
                <a:pPr algn="ctr"/>
                <a:r>
                  <a:rPr lang="pt-BR" sz="2000" b="1" dirty="0"/>
                  <a:t>Consumo</a:t>
                </a:r>
              </a:p>
            </p:txBody>
          </p:sp>
          <p:sp>
            <p:nvSpPr>
              <p:cNvPr id="39" name="CaixaDeTexto 38"/>
              <p:cNvSpPr txBox="1"/>
              <p:nvPr/>
            </p:nvSpPr>
            <p:spPr>
              <a:xfrm>
                <a:off x="7261023" y="6097944"/>
                <a:ext cx="3661967" cy="400110"/>
              </a:xfrm>
              <a:prstGeom prst="rect">
                <a:avLst/>
              </a:prstGeom>
              <a:noFill/>
            </p:spPr>
            <p:txBody>
              <a:bodyPr wrap="square" rtlCol="0">
                <a:spAutoFit/>
              </a:bodyPr>
              <a:lstStyle/>
              <a:p>
                <a:pPr algn="ctr"/>
                <a:r>
                  <a:rPr lang="pt-BR" sz="2000" b="1" dirty="0"/>
                  <a:t>Poder computacional</a:t>
                </a:r>
              </a:p>
            </p:txBody>
          </p:sp>
          <p:cxnSp>
            <p:nvCxnSpPr>
              <p:cNvPr id="41" name="Conector de seta reta 40"/>
              <p:cNvCxnSpPr/>
              <p:nvPr/>
            </p:nvCxnSpPr>
            <p:spPr>
              <a:xfrm flipV="1">
                <a:off x="2823146" y="524577"/>
                <a:ext cx="0" cy="5580000"/>
              </a:xfrm>
              <a:prstGeom prst="straightConnector1">
                <a:avLst/>
              </a:prstGeom>
              <a:ln w="1905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CaixaDeTexto 4"/>
              <p:cNvSpPr txBox="1"/>
              <p:nvPr/>
            </p:nvSpPr>
            <p:spPr>
              <a:xfrm rot="5400000">
                <a:off x="8921941" y="1188042"/>
                <a:ext cx="1872001" cy="584775"/>
              </a:xfrm>
              <a:prstGeom prst="rect">
                <a:avLst/>
              </a:prstGeom>
              <a:noFill/>
            </p:spPr>
            <p:txBody>
              <a:bodyPr wrap="square" rtlCol="0">
                <a:spAutoFit/>
              </a:bodyPr>
              <a:lstStyle/>
              <a:p>
                <a:pPr algn="ctr"/>
                <a:r>
                  <a:rPr lang="pt-BR" sz="1600" dirty="0"/>
                  <a:t>Processadores de Aplicação</a:t>
                </a:r>
              </a:p>
            </p:txBody>
          </p:sp>
          <p:sp>
            <p:nvSpPr>
              <p:cNvPr id="42" name="CaixaDeTexto 41"/>
              <p:cNvSpPr txBox="1"/>
              <p:nvPr/>
            </p:nvSpPr>
            <p:spPr>
              <a:xfrm rot="5400000">
                <a:off x="8920110" y="3060654"/>
                <a:ext cx="1872001" cy="584775"/>
              </a:xfrm>
              <a:prstGeom prst="rect">
                <a:avLst/>
              </a:prstGeom>
              <a:noFill/>
            </p:spPr>
            <p:txBody>
              <a:bodyPr wrap="square" rtlCol="0">
                <a:spAutoFit/>
              </a:bodyPr>
              <a:lstStyle/>
              <a:p>
                <a:pPr algn="ctr"/>
                <a:r>
                  <a:rPr lang="pt-BR" sz="1600" dirty="0"/>
                  <a:t>Processadores de Tempo Real</a:t>
                </a:r>
              </a:p>
            </p:txBody>
          </p:sp>
          <p:sp>
            <p:nvSpPr>
              <p:cNvPr id="43" name="CaixaDeTexto 42"/>
              <p:cNvSpPr txBox="1"/>
              <p:nvPr/>
            </p:nvSpPr>
            <p:spPr>
              <a:xfrm rot="5400000">
                <a:off x="8831838" y="4904981"/>
                <a:ext cx="2049513" cy="584775"/>
              </a:xfrm>
              <a:prstGeom prst="rect">
                <a:avLst/>
              </a:prstGeom>
              <a:noFill/>
            </p:spPr>
            <p:txBody>
              <a:bodyPr wrap="square" rtlCol="0">
                <a:spAutoFit/>
              </a:bodyPr>
              <a:lstStyle/>
              <a:p>
                <a:pPr algn="ctr"/>
                <a:r>
                  <a:rPr lang="pt-BR" sz="1600" dirty="0"/>
                  <a:t>Sistemas embarcados e microcontroladores</a:t>
                </a:r>
              </a:p>
            </p:txBody>
          </p:sp>
          <p:cxnSp>
            <p:nvCxnSpPr>
              <p:cNvPr id="37" name="Conector de seta reta 36"/>
              <p:cNvCxnSpPr/>
              <p:nvPr/>
            </p:nvCxnSpPr>
            <p:spPr>
              <a:xfrm flipV="1">
                <a:off x="5221443" y="500515"/>
                <a:ext cx="0" cy="5580000"/>
              </a:xfrm>
              <a:prstGeom prst="straightConnector1">
                <a:avLst/>
              </a:prstGeom>
              <a:ln w="1905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Conector de seta reta 43"/>
              <p:cNvCxnSpPr/>
              <p:nvPr/>
            </p:nvCxnSpPr>
            <p:spPr>
              <a:xfrm flipV="1">
                <a:off x="7812243" y="516557"/>
                <a:ext cx="0" cy="5580000"/>
              </a:xfrm>
              <a:prstGeom prst="straightConnector1">
                <a:avLst/>
              </a:prstGeom>
              <a:ln w="1905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Retângulo 1"/>
              <p:cNvSpPr/>
              <p:nvPr/>
            </p:nvSpPr>
            <p:spPr>
              <a:xfrm>
                <a:off x="4150690" y="4723649"/>
                <a:ext cx="881873" cy="400110"/>
              </a:xfrm>
              <a:prstGeom prst="rect">
                <a:avLst/>
              </a:prstGeom>
            </p:spPr>
            <p:txBody>
              <a:bodyPr wrap="square">
                <a:spAutoFit/>
              </a:bodyPr>
              <a:lstStyle/>
              <a:p>
                <a:pPr algn="ctr"/>
                <a:r>
                  <a:rPr lang="pt-BR" sz="1000" b="1" dirty="0">
                    <a:solidFill>
                      <a:schemeClr val="bg1"/>
                    </a:solidFill>
                  </a:rPr>
                  <a:t>(FPU, SIMD, DSP)</a:t>
                </a:r>
              </a:p>
            </p:txBody>
          </p:sp>
          <p:sp>
            <p:nvSpPr>
              <p:cNvPr id="45" name="Retângulo 44"/>
              <p:cNvSpPr/>
              <p:nvPr/>
            </p:nvSpPr>
            <p:spPr>
              <a:xfrm>
                <a:off x="5370740" y="3415384"/>
                <a:ext cx="881873" cy="400110"/>
              </a:xfrm>
              <a:prstGeom prst="rect">
                <a:avLst/>
              </a:prstGeom>
            </p:spPr>
            <p:txBody>
              <a:bodyPr wrap="square">
                <a:spAutoFit/>
              </a:bodyPr>
              <a:lstStyle/>
              <a:p>
                <a:pPr algn="ctr"/>
                <a:r>
                  <a:rPr lang="pt-BR" sz="1000" b="1" dirty="0">
                    <a:solidFill>
                      <a:schemeClr val="bg1"/>
                    </a:solidFill>
                  </a:rPr>
                  <a:t>(FPU, SIMD, DSP)</a:t>
                </a:r>
              </a:p>
            </p:txBody>
          </p:sp>
          <p:sp>
            <p:nvSpPr>
              <p:cNvPr id="46" name="Retângulo 45"/>
              <p:cNvSpPr/>
              <p:nvPr/>
            </p:nvSpPr>
            <p:spPr>
              <a:xfrm>
                <a:off x="6601187" y="3415384"/>
                <a:ext cx="881873" cy="400110"/>
              </a:xfrm>
              <a:prstGeom prst="rect">
                <a:avLst/>
              </a:prstGeom>
            </p:spPr>
            <p:txBody>
              <a:bodyPr wrap="square">
                <a:spAutoFit/>
              </a:bodyPr>
              <a:lstStyle/>
              <a:p>
                <a:pPr algn="ctr"/>
                <a:r>
                  <a:rPr lang="pt-BR" sz="1000" b="1" dirty="0">
                    <a:solidFill>
                      <a:schemeClr val="bg1"/>
                    </a:solidFill>
                  </a:rPr>
                  <a:t>(FPU, SIMD, DSP)</a:t>
                </a:r>
              </a:p>
            </p:txBody>
          </p:sp>
          <p:sp>
            <p:nvSpPr>
              <p:cNvPr id="47" name="Retângulo 46"/>
              <p:cNvSpPr/>
              <p:nvPr/>
            </p:nvSpPr>
            <p:spPr>
              <a:xfrm>
                <a:off x="7950885" y="3415384"/>
                <a:ext cx="881873" cy="400110"/>
              </a:xfrm>
              <a:prstGeom prst="rect">
                <a:avLst/>
              </a:prstGeom>
            </p:spPr>
            <p:txBody>
              <a:bodyPr wrap="square">
                <a:spAutoFit/>
              </a:bodyPr>
              <a:lstStyle/>
              <a:p>
                <a:pPr algn="ctr"/>
                <a:r>
                  <a:rPr lang="pt-BR" sz="1000" b="1" dirty="0">
                    <a:solidFill>
                      <a:schemeClr val="bg1"/>
                    </a:solidFill>
                  </a:rPr>
                  <a:t>(FPU, SIMD, DSP)</a:t>
                </a:r>
              </a:p>
            </p:txBody>
          </p:sp>
          <p:sp>
            <p:nvSpPr>
              <p:cNvPr id="48" name="Retângulo 47"/>
              <p:cNvSpPr/>
              <p:nvPr/>
            </p:nvSpPr>
            <p:spPr>
              <a:xfrm>
                <a:off x="6005189" y="1603137"/>
                <a:ext cx="881873" cy="400110"/>
              </a:xfrm>
              <a:prstGeom prst="rect">
                <a:avLst/>
              </a:prstGeom>
            </p:spPr>
            <p:txBody>
              <a:bodyPr wrap="square">
                <a:spAutoFit/>
              </a:bodyPr>
              <a:lstStyle/>
              <a:p>
                <a:pPr algn="ctr"/>
                <a:r>
                  <a:rPr lang="pt-BR" sz="1000" b="1" dirty="0">
                    <a:solidFill>
                      <a:schemeClr val="bg1"/>
                    </a:solidFill>
                  </a:rPr>
                  <a:t>(FPU, SIMD, DSP)</a:t>
                </a:r>
              </a:p>
            </p:txBody>
          </p:sp>
          <p:sp>
            <p:nvSpPr>
              <p:cNvPr id="49" name="Retângulo 48"/>
              <p:cNvSpPr/>
              <p:nvPr/>
            </p:nvSpPr>
            <p:spPr>
              <a:xfrm>
                <a:off x="7976024" y="1603137"/>
                <a:ext cx="881873" cy="400110"/>
              </a:xfrm>
              <a:prstGeom prst="rect">
                <a:avLst/>
              </a:prstGeom>
            </p:spPr>
            <p:txBody>
              <a:bodyPr wrap="square">
                <a:spAutoFit/>
              </a:bodyPr>
              <a:lstStyle/>
              <a:p>
                <a:pPr algn="ctr"/>
                <a:r>
                  <a:rPr lang="pt-BR" sz="1000" b="1" dirty="0">
                    <a:solidFill>
                      <a:schemeClr val="bg1"/>
                    </a:solidFill>
                  </a:rPr>
                  <a:t>(FPU, SIMD, DSP)</a:t>
                </a:r>
              </a:p>
            </p:txBody>
          </p:sp>
        </p:grpSp>
        <p:pic>
          <p:nvPicPr>
            <p:cNvPr id="15" name="Picture 6" descr="PLACA RASPBERRY PI PICO W - ACEPIC Tecnologia">
              <a:extLst>
                <a:ext uri="{FF2B5EF4-FFF2-40B4-BE49-F238E27FC236}">
                  <a16:creationId xmlns:a16="http://schemas.microsoft.com/office/drawing/2014/main" id="{17BD3A42-9C14-15BE-0FE1-116646D31FF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30005" y="4330730"/>
              <a:ext cx="828977" cy="592974"/>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Reparo em Smartphones - iFixit">
              <a:extLst>
                <a:ext uri="{FF2B5EF4-FFF2-40B4-BE49-F238E27FC236}">
                  <a16:creationId xmlns:a16="http://schemas.microsoft.com/office/drawing/2014/main" id="{CAE52EDF-A5FE-EE69-5A0F-760562BED7F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7766" t="1755" r="20356" b="6338"/>
            <a:stretch/>
          </p:blipFill>
          <p:spPr bwMode="auto">
            <a:xfrm>
              <a:off x="9233016" y="602376"/>
              <a:ext cx="430988" cy="48010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TP-Link Roteador WiFi inteligente AC1750 (Archer A7) - Roteador de Internet  sem fio Gigabit de banda dupla para casa, funciona com Alexa, servidor VPN,  controle parental, QoS | Amazon.com.br">
              <a:extLst>
                <a:ext uri="{FF2B5EF4-FFF2-40B4-BE49-F238E27FC236}">
                  <a16:creationId xmlns:a16="http://schemas.microsoft.com/office/drawing/2014/main" id="{95A9FB67-3A00-EA6A-6C35-89FE7D20647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91812" y="1183006"/>
              <a:ext cx="624355" cy="480102"/>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Google Nest Learning Smart Thermostat - 3rd Generation - Stainless Steel  T3007ES Bundle with Google Nest Temperature Sensor 3 Pack T5001SF + elago  Wall Plate Upgraded Wall Mount Cover - Matte White - - Amazon.com">
              <a:extLst>
                <a:ext uri="{FF2B5EF4-FFF2-40B4-BE49-F238E27FC236}">
                  <a16:creationId xmlns:a16="http://schemas.microsoft.com/office/drawing/2014/main" id="{F6DFB679-0BE1-831A-04EC-2211507E92CF}"/>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517" r="37645" b="39117"/>
            <a:stretch/>
          </p:blipFill>
          <p:spPr bwMode="auto">
            <a:xfrm>
              <a:off x="9240701" y="1760996"/>
              <a:ext cx="529112" cy="529511"/>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Unidade de disco rígido – Wikipédia, a enciclopédia livre">
              <a:extLst>
                <a:ext uri="{FF2B5EF4-FFF2-40B4-BE49-F238E27FC236}">
                  <a16:creationId xmlns:a16="http://schemas.microsoft.com/office/drawing/2014/main" id="{A0B6CF3C-407D-412D-DF6F-B43F291657D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1228"/>
            <a:stretch/>
          </p:blipFill>
          <p:spPr bwMode="auto">
            <a:xfrm>
              <a:off x="9149193" y="2446296"/>
              <a:ext cx="702031" cy="529512"/>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Apple Watch | Hardware | TechTudo">
              <a:extLst>
                <a:ext uri="{FF2B5EF4-FFF2-40B4-BE49-F238E27FC236}">
                  <a16:creationId xmlns:a16="http://schemas.microsoft.com/office/drawing/2014/main" id="{AD4D1800-297F-5AEC-7871-9A8B4D56EB95}"/>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24387" t="3140" r="24299" b="4778"/>
            <a:stretch/>
          </p:blipFill>
          <p:spPr bwMode="auto">
            <a:xfrm>
              <a:off x="9458738" y="4839189"/>
              <a:ext cx="383269" cy="569139"/>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Sensors | Free Full-Text | Sensor Technologies for Intelligent  Transportation Systems">
              <a:extLst>
                <a:ext uri="{FF2B5EF4-FFF2-40B4-BE49-F238E27FC236}">
                  <a16:creationId xmlns:a16="http://schemas.microsoft.com/office/drawing/2014/main" id="{9252D6DB-CCD8-6F87-B185-DE86791513A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161386" y="3024042"/>
              <a:ext cx="824459" cy="531909"/>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WLkata 6-Axis Mini Robotic Arm Mirobot Education Kit - RobotShop">
              <a:extLst>
                <a:ext uri="{FF2B5EF4-FFF2-40B4-BE49-F238E27FC236}">
                  <a16:creationId xmlns:a16="http://schemas.microsoft.com/office/drawing/2014/main" id="{E6B74E29-EDDF-C249-E41D-12199DE747E3}"/>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2330" t="15783" r="9847" b="8484"/>
            <a:stretch/>
          </p:blipFill>
          <p:spPr bwMode="auto">
            <a:xfrm>
              <a:off x="9239817" y="3672649"/>
              <a:ext cx="609354" cy="592974"/>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descr="Nanoleaf Essentials A60 E27 - Apple (UK)">
              <a:extLst>
                <a:ext uri="{FF2B5EF4-FFF2-40B4-BE49-F238E27FC236}">
                  <a16:creationId xmlns:a16="http://schemas.microsoft.com/office/drawing/2014/main" id="{C3FEF6E1-EE7B-2641-5579-81A78E6CD139}"/>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7358" t="7045" r="6181" b="7298"/>
            <a:stretch/>
          </p:blipFill>
          <p:spPr bwMode="auto">
            <a:xfrm>
              <a:off x="9275601" y="5524742"/>
              <a:ext cx="560985" cy="555773"/>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6152077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F90C1E-A1E7-F4BF-56F7-6A7946CA1A79}"/>
              </a:ext>
            </a:extLst>
          </p:cNvPr>
          <p:cNvSpPr>
            <a:spLocks noGrp="1"/>
          </p:cNvSpPr>
          <p:nvPr>
            <p:ph type="title"/>
          </p:nvPr>
        </p:nvSpPr>
        <p:spPr/>
        <p:txBody>
          <a:bodyPr/>
          <a:lstStyle/>
          <a:p>
            <a:r>
              <a:rPr lang="pt-BR" i="1" dirty="0" err="1"/>
              <a:t>Endpoint</a:t>
            </a:r>
            <a:endParaRPr lang="pt-BR" i="1" dirty="0"/>
          </a:p>
        </p:txBody>
      </p:sp>
      <p:pic>
        <p:nvPicPr>
          <p:cNvPr id="2050" name="Picture 2" descr="What is Endpoint Security? - PurpleBox">
            <a:extLst>
              <a:ext uri="{FF2B5EF4-FFF2-40B4-BE49-F238E27FC236}">
                <a16:creationId xmlns:a16="http://schemas.microsoft.com/office/drawing/2014/main" id="{6ED6F804-E51B-55C9-713F-952CA177FA1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065" t="8607" r="23821" b="6403"/>
          <a:stretch/>
        </p:blipFill>
        <p:spPr bwMode="auto">
          <a:xfrm>
            <a:off x="838200" y="1817225"/>
            <a:ext cx="4878001" cy="4548851"/>
          </a:xfrm>
          <a:prstGeom prst="rect">
            <a:avLst/>
          </a:prstGeom>
          <a:noFill/>
          <a:extLst>
            <a:ext uri="{909E8E84-426E-40DD-AFC4-6F175D3DCCD1}">
              <a14:hiddenFill xmlns:a14="http://schemas.microsoft.com/office/drawing/2010/main">
                <a:solidFill>
                  <a:srgbClr val="FFFFFF"/>
                </a:solidFill>
              </a14:hiddenFill>
            </a:ext>
          </a:extLst>
        </p:spPr>
      </p:pic>
      <p:sp>
        <p:nvSpPr>
          <p:cNvPr id="6" name="Espaço Reservado para Conteúdo 2">
            <a:extLst>
              <a:ext uri="{FF2B5EF4-FFF2-40B4-BE49-F238E27FC236}">
                <a16:creationId xmlns:a16="http://schemas.microsoft.com/office/drawing/2014/main" id="{8C487D2E-B61F-D966-4B38-CC2D93502779}"/>
              </a:ext>
            </a:extLst>
          </p:cNvPr>
          <p:cNvSpPr txBox="1">
            <a:spLocks/>
          </p:cNvSpPr>
          <p:nvPr/>
        </p:nvSpPr>
        <p:spPr>
          <a:xfrm>
            <a:off x="6488823" y="1690688"/>
            <a:ext cx="5583572" cy="51673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dirty="0"/>
              <a:t>Um </a:t>
            </a:r>
            <a:r>
              <a:rPr lang="pt-BR" i="1" dirty="0" err="1"/>
              <a:t>endpoint</a:t>
            </a:r>
            <a:r>
              <a:rPr lang="pt-BR" dirty="0"/>
              <a:t> é um dispositivo de computação remota que se comunica com uma rede ou com a Internet. </a:t>
            </a:r>
          </a:p>
          <a:p>
            <a:r>
              <a:rPr lang="pt-BR" dirty="0"/>
              <a:t>Em outras palavras, se um dispositivo estiver conectado a uma rede, ele será considerado um </a:t>
            </a:r>
            <a:r>
              <a:rPr lang="pt-BR" i="1" dirty="0" err="1"/>
              <a:t>endpoint</a:t>
            </a:r>
            <a:r>
              <a:rPr lang="pt-BR" dirty="0"/>
              <a:t>.</a:t>
            </a:r>
          </a:p>
        </p:txBody>
      </p:sp>
    </p:spTree>
    <p:extLst>
      <p:ext uri="{BB962C8B-B14F-4D97-AF65-F5344CB8AC3E}">
        <p14:creationId xmlns:p14="http://schemas.microsoft.com/office/powerpoint/2010/main" val="3077513736"/>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10197</TotalTime>
  <Words>8563</Words>
  <Application>Microsoft Office PowerPoint</Application>
  <PresentationFormat>Widescreen</PresentationFormat>
  <Paragraphs>655</Paragraphs>
  <Slides>55</Slides>
  <Notes>30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55</vt:i4>
      </vt:variant>
    </vt:vector>
  </HeadingPairs>
  <TitlesOfParts>
    <vt:vector size="66" baseType="lpstr">
      <vt:lpstr>Arial</vt:lpstr>
      <vt:lpstr>Arial</vt:lpstr>
      <vt:lpstr>Calibri</vt:lpstr>
      <vt:lpstr>Calibri Light</vt:lpstr>
      <vt:lpstr>Cambria Math</vt:lpstr>
      <vt:lpstr>Courier New</vt:lpstr>
      <vt:lpstr>Google Sans</vt:lpstr>
      <vt:lpstr>Inter</vt:lpstr>
      <vt:lpstr>Söhne</vt:lpstr>
      <vt:lpstr>Wingdings</vt:lpstr>
      <vt:lpstr>Tema do Office</vt:lpstr>
      <vt:lpstr>TP557 - Tópicos avançados em IoT e Machine Learning: Desafios do TinyML: Sistemas Embarcados</vt:lpstr>
      <vt:lpstr>Recapitulando</vt:lpstr>
      <vt:lpstr>PowerPoint Presentation</vt:lpstr>
      <vt:lpstr>Sistema computacional de uso geral</vt:lpstr>
      <vt:lpstr>Hardware</vt:lpstr>
      <vt:lpstr>Hardware</vt:lpstr>
      <vt:lpstr>Hardware</vt:lpstr>
      <vt:lpstr>Hardware</vt:lpstr>
      <vt:lpstr>Hardware</vt:lpstr>
      <vt:lpstr>PowerPoint Presentation</vt:lpstr>
      <vt:lpstr>PowerPoint Presentation</vt:lpstr>
      <vt:lpstr>Microprocessador: apenas uma peça do quebra-cabeças</vt:lpstr>
      <vt:lpstr>Microprocessador: apenas uma peça do quebra-cabeças</vt:lpstr>
      <vt:lpstr>Microcontrolador, tudo junto e misturado</vt:lpstr>
      <vt:lpstr>Microcontrolador, tudo junto e misturado</vt:lpstr>
      <vt:lpstr>Microprocessador</vt:lpstr>
      <vt:lpstr>Diferenças de magnitude</vt:lpstr>
      <vt:lpstr>Diferenças de magnitude</vt:lpstr>
      <vt:lpstr>PowerPoint Presentation</vt:lpstr>
      <vt:lpstr>Quais são as implicações das limitações?</vt:lpstr>
      <vt:lpstr>Comparação de hardwares embarcados</vt:lpstr>
      <vt:lpstr>Dominância dos processadores ARM</vt:lpstr>
      <vt:lpstr>Dominância dos processadores ARM</vt:lpstr>
      <vt:lpstr>CPUs ARM Cortex para sistemas embarcados</vt:lpstr>
      <vt:lpstr>Conjunto de instruções da família ARM Cortex-M</vt:lpstr>
      <vt:lpstr>Conjunto de instruções da família ARM Cortex-M</vt:lpstr>
      <vt:lpstr>Conjunto de instruções da família ARM Cortex-M</vt:lpstr>
      <vt:lpstr>Conjunto de instruções da família ARM Cortex-M</vt:lpstr>
      <vt:lpstr>Conjunto de instruções da família ARM Cortex-M</vt:lpstr>
      <vt:lpstr>Desafios da execução de SW em sistemas embarcados</vt:lpstr>
      <vt:lpstr>Software</vt:lpstr>
      <vt:lpstr>Sistemas operacionais amplamente usados</vt:lpstr>
      <vt:lpstr>Sistemas operacionais amplamente usados</vt:lpstr>
      <vt:lpstr>Bibliotecas</vt:lpstr>
      <vt:lpstr>Bibliotecas</vt:lpstr>
      <vt:lpstr>Bibliotecas</vt:lpstr>
      <vt:lpstr>Bibliotecas</vt:lpstr>
      <vt:lpstr>Portabilidade</vt:lpstr>
      <vt:lpstr>Portabilidade</vt:lpstr>
      <vt:lpstr>Portabilidade</vt:lpstr>
      <vt:lpstr>Portabilidade</vt:lpstr>
      <vt:lpstr>O perde-e-ganha da portabilidade</vt:lpstr>
      <vt:lpstr>O perde-e-ganha da portabilidade</vt:lpstr>
      <vt:lpstr>O perde-e-ganha da portabilidade</vt:lpstr>
      <vt:lpstr>O perde-e-ganha da portabilidade</vt:lpstr>
      <vt:lpstr>O perde-e-ganha da portabilidade</vt:lpstr>
      <vt:lpstr>O sacrifício da portabilidade</vt:lpstr>
      <vt:lpstr>O sacrifício da portabilidade</vt:lpstr>
      <vt:lpstr>Resumo do que vimos até agora</vt:lpstr>
      <vt:lpstr>Atividades</vt:lpstr>
      <vt:lpstr>PowerPoint Presentation</vt:lpstr>
      <vt:lpstr>PowerPoint Presentation</vt:lpstr>
      <vt:lpstr>PowerPoint Presentation</vt:lpstr>
      <vt:lpstr>PowerPoint Presentation</vt:lpstr>
      <vt:lpstr>Endpoint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TP555 - Inteligência Artificial e Machine Learning</dc:title>
  <dc:creator>Felipe Augusto Pereira de Figueiredo</dc:creator>
  <cp:lastModifiedBy>Felipe Augusto Pereira de Figueiredo</cp:lastModifiedBy>
  <cp:revision>1932</cp:revision>
  <dcterms:created xsi:type="dcterms:W3CDTF">2020-01-20T13:50:05Z</dcterms:created>
  <dcterms:modified xsi:type="dcterms:W3CDTF">2025-03-17T19:43:34Z</dcterms:modified>
</cp:coreProperties>
</file>