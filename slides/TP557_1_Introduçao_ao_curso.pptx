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441" r:id="rId3"/>
    <p:sldId id="432" r:id="rId4"/>
    <p:sldId id="437" r:id="rId5"/>
    <p:sldId id="433" r:id="rId6"/>
    <p:sldId id="438" r:id="rId7"/>
    <p:sldId id="436" r:id="rId8"/>
    <p:sldId id="434" r:id="rId9"/>
    <p:sldId id="439" r:id="rId10"/>
    <p:sldId id="440" r:id="rId11"/>
    <p:sldId id="400" r:id="rId12"/>
    <p:sldId id="406" r:id="rId13"/>
    <p:sldId id="408" r:id="rId14"/>
    <p:sldId id="419" r:id="rId15"/>
    <p:sldId id="442" r:id="rId16"/>
    <p:sldId id="417" r:id="rId17"/>
    <p:sldId id="409" r:id="rId18"/>
    <p:sldId id="418" r:id="rId19"/>
    <p:sldId id="443" r:id="rId20"/>
    <p:sldId id="407" r:id="rId21"/>
    <p:sldId id="402" r:id="rId22"/>
    <p:sldId id="403" r:id="rId23"/>
    <p:sldId id="404" r:id="rId24"/>
    <p:sldId id="395" r:id="rId25"/>
    <p:sldId id="397" r:id="rId26"/>
    <p:sldId id="420" r:id="rId27"/>
    <p:sldId id="444" r:id="rId28"/>
    <p:sldId id="396" r:id="rId29"/>
    <p:sldId id="393" r:id="rId30"/>
    <p:sldId id="445" r:id="rId31"/>
    <p:sldId id="398" r:id="rId32"/>
    <p:sldId id="412" r:id="rId33"/>
    <p:sldId id="411" r:id="rId34"/>
    <p:sldId id="421" r:id="rId35"/>
    <p:sldId id="414" r:id="rId36"/>
    <p:sldId id="415" r:id="rId37"/>
    <p:sldId id="416" r:id="rId38"/>
    <p:sldId id="263" r:id="rId39"/>
    <p:sldId id="298" r:id="rId40"/>
    <p:sldId id="422" r:id="rId41"/>
    <p:sldId id="423" r:id="rId42"/>
    <p:sldId id="428" r:id="rId43"/>
    <p:sldId id="405" r:id="rId44"/>
    <p:sldId id="293" r:id="rId45"/>
    <p:sldId id="306" r:id="rId46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8" autoAdjust="0"/>
    <p:restoredTop sz="79540" autoAdjust="0"/>
  </p:normalViewPr>
  <p:slideViewPr>
    <p:cSldViewPr snapToGrid="0">
      <p:cViewPr varScale="1">
        <p:scale>
          <a:sx n="88" d="100"/>
          <a:sy n="88" d="100"/>
        </p:scale>
        <p:origin x="1698" y="84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10/03/2025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Eco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t.wikipedia.org/wiki/Geofone#cite_note-1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ml.seas.harvard.edu/SciTinyML-22/latam/#:~:text=12:15%C2%A0%20(SP)%20Introduction%20to%20Deep%20Learning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tinyml.seas.harvard.edu/SciTinyML-22/latam/" TargetMode="External"/><Relationship Id="rId4" Type="http://schemas.openxmlformats.org/officeDocument/2006/relationships/hyperlink" Target="https://brianplancher.com/courses/cs249r_tinyml/" TargetMode="Externa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times.com/ai-and-vision-at-the-edge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tinyml.seas.harvard.edu/SciTinyML-22/latam/" TargetMode="External"/><Relationship Id="rId5" Type="http://schemas.openxmlformats.org/officeDocument/2006/relationships/hyperlink" Target="https://brianplancher.com/courses/cs249r_tinyml/" TargetMode="External"/><Relationship Id="rId4" Type="http://schemas.openxmlformats.org/officeDocument/2006/relationships/hyperlink" Target="https://tinyml.seas.harvard.edu/SciTinyML-22/latam/#:~:text=12:15%C2%A0%20(SP)%20Introduction%20to%20Deep%20Learning" TargetMode="Externa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times.com/ai-and-vision-at-the-edge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tinyml.seas.harvard.edu/SciTinyML-22/latam/" TargetMode="External"/><Relationship Id="rId5" Type="http://schemas.openxmlformats.org/officeDocument/2006/relationships/hyperlink" Target="https://brianplancher.com/courses/cs249r_tinyml/" TargetMode="External"/><Relationship Id="rId4" Type="http://schemas.openxmlformats.org/officeDocument/2006/relationships/hyperlink" Target="https://tinyml.seas.harvard.edu/SciTinyML-22/latam/#:~:text=12:15%C2%A0%20(SP)%20Introduction%20to%20Deep%20Learning" TargetMode="Externa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natel-my.sharepoint.com/:f:/g/personal/felipe_figueiredo_inatel_br/EnaqVB3NwAZLtlMiM06Nj4EBOIWqI_1CoeTn1IcAPHbtWg?e=mCIkBc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dispositivo com recursos computacionais limitados é caracterizado por: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Baixa capacidade de processamento:</a:t>
            </a:r>
            <a:r>
              <a:rPr lang="pt-BR" dirty="0"/>
              <a:t> Geralmente, utiliza microcontroladores ou processadores com poder de computação reduzido, o que impede a execução de tarefas computacionais intensivas.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Memória restrita:</a:t>
            </a:r>
            <a:r>
              <a:rPr lang="pt-BR" dirty="0"/>
              <a:t> Possui pouca memória RAM e armazenamento não volátil, limitando a quantidade de dados que pode ser processada ou armazenada localmente.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Baixo consumo de energia:</a:t>
            </a:r>
            <a:r>
              <a:rPr lang="pt-BR" dirty="0"/>
              <a:t> São projetados para operar com eficiência energética, muitas vezes alimentados por baterias, o que exige hardware otimizado para baixo consumo.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Recursos de hardware simples:</a:t>
            </a:r>
            <a:r>
              <a:rPr lang="pt-BR" dirty="0"/>
              <a:t> Em geral, dispõem de periféricos básicos e conectividade limitada, adequados para aplicações específicas e de menor escala.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841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2A719-AA80-FCC7-530B-828983A5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865B5-E754-D5C0-D366-D1FCAA04C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926EF-7977-FC0A-F995-64C972D87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dispositivo com recursos computacionais limitados é caracterizado por: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Baixa capacidade de processamento:</a:t>
            </a:r>
            <a:r>
              <a:rPr lang="pt-BR" dirty="0"/>
              <a:t> Geralmente, utiliza microcontroladores ou processadores com poder de computação reduzido, o que impede a execução de tarefas computacionais intensivas.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Memória restrita:</a:t>
            </a:r>
            <a:r>
              <a:rPr lang="pt-BR" dirty="0"/>
              <a:t> Possui pouca memória RAM e armazenamento não volátil, limitando a quantidade de dados que pode ser processada ou armazenada localmente.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Baixo consumo de energia:</a:t>
            </a:r>
            <a:r>
              <a:rPr lang="pt-BR" dirty="0"/>
              <a:t> São projetados para operar com eficiência energética, muitas vezes alimentados por baterias, o que exige hardware otimizado para baixo consumo.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Recursos de hardware simples:</a:t>
            </a:r>
            <a:r>
              <a:rPr lang="pt-BR" dirty="0"/>
              <a:t> Em geral, dispõem de periféricos básicos e conectividade limitada, adequados para aplicações específicas e de menor escala.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69176-2729-EE3A-8FA2-903237A85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0342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9C2D2-9881-4F5C-3518-C8841111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927A2-C648-A196-9F72-AA5171C45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2B8AE-4E61-C22E-2E9B-BFAA99CC6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dispositivo com recursos computacionais limitados é caracterizado por: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Baixa capacidade de processamento:</a:t>
            </a:r>
            <a:r>
              <a:rPr lang="pt-BR" dirty="0"/>
              <a:t> Geralmente, utiliza microcontroladores ou processadores com poder de computação reduzido, o que impede a execução de tarefas computacionais intensivas.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Memória restrita:</a:t>
            </a:r>
            <a:r>
              <a:rPr lang="pt-BR" dirty="0"/>
              <a:t> Possui pouca memória RAM e armazenamento não volátil, limitando a quantidade de dados que pode ser processada ou armazenada localmente.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Baixo consumo de energia:</a:t>
            </a:r>
            <a:r>
              <a:rPr lang="pt-BR" dirty="0"/>
              <a:t> São projetados para operar com eficiência energética, muitas vezes alimentados por baterias, o que exige hardware otimizado para baixo consumo.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Recursos de hardware simples:</a:t>
            </a:r>
            <a:r>
              <a:rPr lang="pt-BR" dirty="0"/>
              <a:t> Em geral, dispõem de periféricos básicos e conectividade limitada, adequados para aplicações específicas e de menor escala.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B17D7-DA5F-26D1-7016-7B0CCEA80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559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Microcontroladores são sistemas completos em um único chip, integrando CPU, memória e periféricos, otimizados para aplicações embarcadas de baixo consumo de energia. Já os microprocessadores são componentes independentes, oferecendo maior poder de processamento e flexibilidade, mas requerem componentes externos para funcionar como sistemas completos.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540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comparados com servidores, equipados com dezenas de CPUs e </a:t>
            </a:r>
            <a:r>
              <a:rPr lang="pt-BR" dirty="0" err="1"/>
              <a:t>GPUs</a:t>
            </a:r>
            <a:r>
              <a:rPr lang="pt-BR" dirty="0"/>
              <a:t>, eles processadores e microcontroladores nestes dispositivos são muito menores e consomem muito menos energia, podendo executar soluções o tempo todo.</a:t>
            </a:r>
          </a:p>
          <a:p>
            <a:endParaRPr lang="pt-BR" dirty="0"/>
          </a:p>
          <a:p>
            <a:r>
              <a:rPr lang="pt-BR" dirty="0"/>
              <a:t>APU: </a:t>
            </a:r>
            <a:r>
              <a:rPr lang="pt-BR" dirty="0" err="1"/>
              <a:t>Application</a:t>
            </a:r>
            <a:r>
              <a:rPr lang="pt-BR" dirty="0"/>
              <a:t> processor (CPU+GPU)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5426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Aplicação constantemente ativa, pronta para receber e processar dados continuamente, sem interrupção. Ela opera em tempo real, coletando informações do ambiente e tomando ações imediatas. Essas aplicações são projetadas para monitoramento constante e resposta rápida a eventos.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Uma aplicação "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always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on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" no contexto de dispositivos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IoT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(Internet das Coisas) refere-se a uma aplicação que está sempre ativa e pronta para receber e processar dados continuamente, sem interrupção. Essas aplicações estão constantemente conectadas e monitorando o ambiente ao seu redor, coletando informações e respondendo em tempo real.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Uma aplicação "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always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on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" é projetada para operar continuamente, sem períodos de inatividade significativos. Isso é especialmente relevante em dispositivos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IoT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que exigem monitoramento constante, como sistemas de segurança, monitoramento de saúde, sistemas de automação industrial ou dispositivos de assistência virtual.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Essas aplicações são capazes de processar os dados coletados em tempo real e tomar ações imediatas com base nas informações recebidas. Isso requer que o dispositivo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IoT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esteja sempre conectado à rede e disponível para receber dados de sensores, dispositivos de entrada ou outros dispositivos conectados.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Ao ser "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always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on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", uma aplicação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IoT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pode oferecer benefícios como resposta rápida a eventos, detecção precoce de problemas, automação eficiente e monitoramento contínuo. Essas aplicações são projetadas para fornecer informações em tempo real e permitir a interação constante com o ambiente ou com os usuários.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É importante notar que a aplicação "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always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on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" também pode consumir mais energia e recursos de processamento, já que está em funcionamento contínuo. Portanto, o gerenciamento eficiente de energia e a otimização de recursos são considerações importantes ao desenvolver e implantar tais aplicações em dispositivos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IoT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943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E8EAED"/>
                </a:solidFill>
                <a:effectLst/>
                <a:latin typeface="Google Sans"/>
              </a:rPr>
              <a:t>O </a:t>
            </a:r>
            <a:r>
              <a:rPr lang="pt-BR" b="0" i="0" dirty="0" err="1">
                <a:solidFill>
                  <a:srgbClr val="E8EAED"/>
                </a:solidFill>
                <a:effectLst/>
                <a:latin typeface="Google Sans"/>
              </a:rPr>
              <a:t>Encoder</a:t>
            </a:r>
            <a:r>
              <a:rPr lang="pt-BR" b="0" i="0" dirty="0">
                <a:solidFill>
                  <a:srgbClr val="E8EAED"/>
                </a:solidFill>
                <a:effectLst/>
                <a:latin typeface="Google Sans"/>
              </a:rPr>
              <a:t> Rotativo </a:t>
            </a:r>
            <a:r>
              <a:rPr lang="pt-BR" b="0" i="0" dirty="0">
                <a:solidFill>
                  <a:srgbClr val="E2EEFF"/>
                </a:solidFill>
                <a:effectLst/>
                <a:latin typeface="Google Sans"/>
              </a:rPr>
              <a:t>é um tipo de sensor de posição que é usado para determinar a posição angular de um eixo rotativo</a:t>
            </a:r>
            <a:r>
              <a:rPr lang="pt-BR" b="0" i="0" dirty="0">
                <a:solidFill>
                  <a:srgbClr val="E8EAED"/>
                </a:solidFill>
                <a:effectLst/>
                <a:latin typeface="Google Sans"/>
              </a:rPr>
              <a:t>. Ele gera um sinal elétrico, analógico ou digital, de acordo com o movimento de rotação.</a:t>
            </a:r>
          </a:p>
          <a:p>
            <a:endParaRPr lang="pt-BR" b="0" i="0" dirty="0">
              <a:solidFill>
                <a:srgbClr val="E8EAED"/>
              </a:solidFill>
              <a:effectLst/>
              <a:latin typeface="Google Sans"/>
            </a:endParaRPr>
          </a:p>
          <a:p>
            <a:pPr algn="l">
              <a:buNone/>
            </a:pPr>
            <a:r>
              <a:rPr lang="pt-BR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Geofone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é um instrumento que serve para escutar ruídos na terra, utilizando-se da prospecção através do </a:t>
            </a:r>
            <a:r>
              <a:rPr lang="pt-BR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3" tooltip="Eco"/>
              </a:rPr>
              <a:t>eco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pt-BR" b="0" i="0" u="none" strike="noStrike" baseline="3000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4"/>
              </a:rPr>
              <a:t>[1]</a:t>
            </a:r>
            <a:endParaRPr lang="pt-B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Existem geofones que servem para registrar ondas sísmicas (I) e também existem geofones que são destinados à localização de vazamentos em dutos subterrâneos (II).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40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Computação na borda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edge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computing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é um paradigma de computação distribuída que envolve o processamento e armazenamento de dados próximos à fonte geradora, ou seja, próximo aos dispositivos que coletam os dados.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712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Edge devices são dispositivos que estão mais próximos das fontes de dados e dos usuários finais.</a:t>
            </a:r>
          </a:p>
          <a:p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Um dispositivo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IoT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(Internet das Coisas) é um dispositivo físico que está conectado à internet e tem a capacidade de coletar, enviar e receber dados por meio de uma rede de comunicação. Esses dispositivos são projetados para interagir com o ambiente ao seu redor e podem conter desde sensores e atuadores simples até dispositivos mais complexos, como câmeras, eletrodomésticos inteligentes,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wearables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sistemas industriais, veículos conectados e muito mais.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216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Falei de IA e ML, mas não expliquei o que são.</a:t>
            </a:r>
          </a:p>
          <a:p>
            <a:endParaRPr lang="pt-BR" dirty="0"/>
          </a:p>
          <a:p>
            <a:r>
              <a:rPr lang="pt-BR" sz="1200" b="1" dirty="0"/>
              <a:t>IA</a:t>
            </a:r>
            <a:r>
              <a:rPr lang="pt-BR" sz="1200" dirty="0"/>
              <a:t>: técnicas que façam as máquinas sentirem, verem, raciocinar, agir, aprender e se adaptar como humanos.</a:t>
            </a:r>
          </a:p>
          <a:p>
            <a:endParaRPr lang="pt-BR" sz="1200" dirty="0"/>
          </a:p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Redes neurais artificiais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RNAs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são modelos matemáticos e computacionais inspirados no funcionamento dos neurônios biológicos do cérebro humano. Elas são uma forma de aprendizado de máquina (Machine Learning) que busca simular o processo de aprendizado e tomada de decisões do cérebro humano.</a:t>
            </a:r>
            <a:endParaRPr lang="pt-BR" dirty="0"/>
          </a:p>
          <a:p>
            <a:endParaRPr lang="pt-BR" dirty="0"/>
          </a:p>
          <a:p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Deep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learning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envolve o treinamento de redes neurais profundas com múltiplas camadas para aprender representações complexas de dados. Essas redes podem ter dezenas, centenas ou até mesmo milhares de camadas, permitindo a extração de recursos e padrões em diferentes níveis de abstração. 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deep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learning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é uma aplicação especializada de redes neurais em tarefas de aprendizado de máquina com grandes quantidades de dados.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085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A695-E5A6-CB13-B7CF-C7CA46AD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152F729-9FCB-A041-CE52-17A39DA87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E4773EE-B105-A58C-6371-B318313C0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Falei de IA e ML, mas não expliquei o que são.</a:t>
            </a:r>
          </a:p>
          <a:p>
            <a:endParaRPr lang="pt-BR" dirty="0"/>
          </a:p>
          <a:p>
            <a:r>
              <a:rPr lang="pt-BR" sz="1200" b="1" dirty="0"/>
              <a:t>IA</a:t>
            </a:r>
            <a:r>
              <a:rPr lang="pt-BR" sz="1200" dirty="0"/>
              <a:t>: técnicas que façam as máquinas sentirem, verem, raciocinar, agir, aprender e se adaptar como humanos.</a:t>
            </a:r>
          </a:p>
          <a:p>
            <a:endParaRPr lang="pt-BR" sz="1200" dirty="0"/>
          </a:p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Redes neurais artificiais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RNAs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são modelos matemáticos e computacionais inspirados no funcionamento dos neurônios biológicos do cérebro humano. Elas são uma forma de aprendizado de máquina (Machine Learning) que busca simular o processo de aprendizado e tomada de decisões do cérebro humano.</a:t>
            </a:r>
            <a:endParaRPr lang="pt-BR" dirty="0"/>
          </a:p>
          <a:p>
            <a:endParaRPr lang="pt-BR" dirty="0"/>
          </a:p>
          <a:p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Deep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learning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envolve o treinamento de redes neurais profundas com múltiplas camadas para aprender representações complexas de dados. Essas redes podem ter dezenas, centenas ou até mesmo milhares de camadas, permitindo a extração de recursos e padrões em diferentes níveis de abstração. 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deep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learning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é uma aplicação especializada de redes neurais em tarefas de aprendizado de máquina com grandes quantidades de dados.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D654A6-0E6F-6877-CBD0-3CB38AABE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783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O objetivo da manutenção preventiva é evitar ou reduzir a ocorrência de falhas inesperadas, interrupções no funcionamento e custos associados a reparos emergenciais, aumentando a vida útil dos equipamentos.</a:t>
            </a:r>
            <a:endParaRPr lang="pt-BR" dirty="0"/>
          </a:p>
          <a:p>
            <a:endParaRPr lang="pt-BR" dirty="0"/>
          </a:p>
          <a:p>
            <a:r>
              <a:rPr lang="pt-BR" dirty="0"/>
              <a:t>Dispositivos </a:t>
            </a:r>
            <a:r>
              <a:rPr lang="pt-BR" dirty="0" err="1"/>
              <a:t>IoT</a:t>
            </a:r>
            <a:r>
              <a:rPr lang="pt-BR" dirty="0"/>
              <a:t> podem ser usados para monitorar continuamente as máquinas em busca de mau funcionamento e prever problemas antes que eles aconteçam</a:t>
            </a:r>
          </a:p>
          <a:p>
            <a:endParaRPr lang="pt-BR" dirty="0"/>
          </a:p>
          <a:p>
            <a:r>
              <a:rPr lang="pt-BR" dirty="0"/>
              <a:t>Referência</a:t>
            </a:r>
          </a:p>
          <a:p>
            <a:endParaRPr lang="pt-BR" dirty="0"/>
          </a:p>
          <a:p>
            <a:r>
              <a:rPr lang="pt-BR" dirty="0"/>
              <a:t>[1] https://www.datacamp.com/blog/what-is-tinyml-tiny-machine-learning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4076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3426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crescimento explosivo do aprendizado de máquina e a facilidade de uso de plataformas como o </a:t>
            </a:r>
            <a:r>
              <a:rPr lang="pt-BR" dirty="0" err="1"/>
              <a:t>TensorFlow</a:t>
            </a:r>
            <a:r>
              <a:rPr lang="pt-BR" dirty="0"/>
              <a:t> (TF) o tornam um tópico de estudo indispensável para o estudante moderno de ciência da computação. Ao mesmo tempo, a difusão de dispositivos incorporados de ultrabaixo consumo de energia, juntamente com a introdução de estruturas de aprendizado de máquina incorporadas, como o </a:t>
            </a:r>
            <a:r>
              <a:rPr lang="pt-BR" dirty="0" err="1"/>
              <a:t>TensorFlow</a:t>
            </a:r>
            <a:r>
              <a:rPr lang="pt-BR" dirty="0"/>
              <a:t> Lite para microcontroladores, permitirá a proliferação em massa de dispositivos IoT alimentados por IA. Como tal, criamos um curso introdutório na interseção de Aprendizado de Máquina e Dispositivos IoT Incorporados. Fornecemos informações básicas sobre ambos os tópicos e, em seguida, mergulhamos nos desafios únicos enfrentados nesse ponto de interseção com tarefas práticas.</a:t>
            </a:r>
          </a:p>
          <a:p>
            <a:endParaRPr lang="pt-BR" dirty="0"/>
          </a:p>
          <a:p>
            <a:r>
              <a:rPr lang="pt-BR" dirty="0"/>
              <a:t>O sensor na palmilha de chuteiras pode identificar: chutes, chutes a gol, passar a bola, dribles, etc. e em tênis, pode ser usado para calcular distância percorrida, corrida</a:t>
            </a:r>
            <a:r>
              <a:rPr lang="pt-BR"/>
              <a:t>, etc.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9993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pt-BR" sz="12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</a:t>
            </a:r>
            <a:r>
              <a:rPr lang="pt-BR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https://tinyml.seas.harvard.edu/SciTinyML-22/latam/#:~:text=12:15%C2%A0%20(SP)%20Introduction%20to%20Deep%20Learning</a:t>
            </a:r>
            <a:endParaRPr lang="pt-BR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[2] </a:t>
            </a:r>
            <a:r>
              <a:rPr lang="pt-BR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https://brianplancher.com/courses/cs249r_tinyml/</a:t>
            </a:r>
            <a:endParaRPr lang="pt-BR" b="0" dirty="0">
              <a:effectLst/>
            </a:endParaRPr>
          </a:p>
          <a:p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[3] </a:t>
            </a:r>
            <a:r>
              <a:rPr lang="pt-BR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https://tinyml.seas.harvard.edu/SciTinyML-22/latam/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066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is embedded ML?</a:t>
            </a:r>
          </a:p>
          <a:p>
            <a:r>
              <a:rPr lang="en-US" dirty="0"/>
              <a:t>Recent advances in microprocessor architecture and algorithm design have made it possible to run sophisticated machine learning workloads on even the smallest of microcontrollers. Embedded machine learning, also known as </a:t>
            </a:r>
            <a:r>
              <a:rPr lang="en-US" dirty="0" err="1"/>
              <a:t>TinyML</a:t>
            </a:r>
            <a:r>
              <a:rPr lang="en-US" dirty="0"/>
              <a:t>, is the field of machine learning when applied to embedded systems such as these.</a:t>
            </a:r>
          </a:p>
          <a:p>
            <a:r>
              <a:rPr lang="en-US" dirty="0"/>
              <a:t>There are some major advantages to deploying ML on embedded devices. The key advantages are neatly expressed in the unfortunate acronym BLERP, </a:t>
            </a:r>
            <a:r>
              <a:rPr lang="en-US" dirty="0">
                <a:effectLst/>
                <a:hlinkClick r:id="rId3"/>
              </a:rPr>
              <a:t>coined by Jeff Bier</a:t>
            </a:r>
            <a:r>
              <a:rPr lang="en-US" dirty="0"/>
              <a:t>. They are:</a:t>
            </a:r>
          </a:p>
          <a:p>
            <a:r>
              <a:rPr lang="en-US" b="1" dirty="0"/>
              <a:t>Bandwidth</a:t>
            </a:r>
            <a:r>
              <a:rPr lang="en-US" dirty="0"/>
              <a:t>—ML algorithms on edge devices can extract meaningful information from data that would otherwise be inaccessible due to bandwidth constraints.</a:t>
            </a:r>
          </a:p>
          <a:p>
            <a:r>
              <a:rPr lang="en-US" b="1" dirty="0"/>
              <a:t>Latency</a:t>
            </a:r>
            <a:r>
              <a:rPr lang="en-US" dirty="0"/>
              <a:t>—On-device ML models can respond in real-time to inputs, enabling applications such as autonomous vehicles, which would not be viable if dependent on network latency.</a:t>
            </a:r>
          </a:p>
          <a:p>
            <a:r>
              <a:rPr lang="en-US" b="1" dirty="0"/>
              <a:t>Economics</a:t>
            </a:r>
            <a:r>
              <a:rPr lang="en-US" dirty="0"/>
              <a:t>—By processing data on-device, embedded ML systems avoid the costs of transmitting data over a network and processing it in the cloud.</a:t>
            </a:r>
          </a:p>
          <a:p>
            <a:r>
              <a:rPr lang="en-US" b="1" dirty="0"/>
              <a:t>Reliability</a:t>
            </a:r>
            <a:r>
              <a:rPr lang="en-US" dirty="0"/>
              <a:t>—Systems controlled by on-device models are inherently more reliable than those which depend on a connection to the cloud.</a:t>
            </a:r>
          </a:p>
          <a:p>
            <a:r>
              <a:rPr lang="en-US" b="1"/>
              <a:t>Privacy</a:t>
            </a:r>
            <a:r>
              <a:rPr lang="en-US"/>
              <a:t>—When data is processed on an embedded system and is never transmitted to the cloud, user privacy is protected and there is less chance of abuse.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pt-BR" sz="12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</a:t>
            </a:r>
            <a:r>
              <a:rPr lang="pt-BR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https://tinyml.seas.harvard.edu/SciTinyML-22/latam/#:~:text=12:15%C2%A0%20(SP)%20Introduction%20to%20Deep%20Learning</a:t>
            </a:r>
            <a:endParaRPr lang="pt-BR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[2] </a:t>
            </a:r>
            <a:r>
              <a:rPr lang="pt-BR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https://brianplancher.com/courses/cs249r_tinyml/</a:t>
            </a:r>
            <a:endParaRPr lang="pt-BR" b="0" dirty="0">
              <a:effectLst/>
            </a:endParaRPr>
          </a:p>
          <a:p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[3] </a:t>
            </a:r>
            <a:r>
              <a:rPr lang="pt-BR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https://tinyml.seas.harvard.edu/SciTinyML-22/latam/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682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3D61-97C4-404F-DE77-CB12792E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D47CB5-207A-DA18-16DC-192D2F34A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66BA6E-316F-815B-D7B7-0025BD75C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is embedded ML?</a:t>
            </a:r>
          </a:p>
          <a:p>
            <a:r>
              <a:rPr lang="en-US" dirty="0"/>
              <a:t>Recent advances in microprocessor architecture and algorithm design have made it possible to run sophisticated machine learning workloads on even the smallest of microcontrollers. Embedded machine learning, also known as </a:t>
            </a:r>
            <a:r>
              <a:rPr lang="en-US" dirty="0" err="1"/>
              <a:t>TinyML</a:t>
            </a:r>
            <a:r>
              <a:rPr lang="en-US" dirty="0"/>
              <a:t>, is the field of machine learning when applied to embedded systems such as these.</a:t>
            </a:r>
          </a:p>
          <a:p>
            <a:r>
              <a:rPr lang="en-US" dirty="0"/>
              <a:t>There are some major advantages to deploying ML on embedded devices. The key advantages are neatly expressed in the unfortunate acronym BLERP, </a:t>
            </a:r>
            <a:r>
              <a:rPr lang="en-US" dirty="0">
                <a:effectLst/>
                <a:hlinkClick r:id="rId3"/>
              </a:rPr>
              <a:t>coined by Jeff Bier</a:t>
            </a:r>
            <a:r>
              <a:rPr lang="en-US" dirty="0"/>
              <a:t>. They are:</a:t>
            </a:r>
          </a:p>
          <a:p>
            <a:r>
              <a:rPr lang="en-US" b="1" dirty="0"/>
              <a:t>Bandwidth</a:t>
            </a:r>
            <a:r>
              <a:rPr lang="en-US" dirty="0"/>
              <a:t>—ML algorithms on edge devices can extract meaningful information from data that would otherwise be inaccessible due to bandwidth constraints.</a:t>
            </a:r>
          </a:p>
          <a:p>
            <a:r>
              <a:rPr lang="en-US" b="1" dirty="0"/>
              <a:t>Latency</a:t>
            </a:r>
            <a:r>
              <a:rPr lang="en-US" dirty="0"/>
              <a:t>—On-device ML models can respond in real-time to inputs, enabling applications such as autonomous vehicles, which would not be viable if dependent on network latency.</a:t>
            </a:r>
          </a:p>
          <a:p>
            <a:r>
              <a:rPr lang="en-US" b="1" dirty="0"/>
              <a:t>Economics</a:t>
            </a:r>
            <a:r>
              <a:rPr lang="en-US" dirty="0"/>
              <a:t>—By processing data on-device, embedded ML systems avoid the costs of transmitting data over a network and processing it in the cloud.</a:t>
            </a:r>
          </a:p>
          <a:p>
            <a:r>
              <a:rPr lang="en-US" b="1" dirty="0"/>
              <a:t>Reliability</a:t>
            </a:r>
            <a:r>
              <a:rPr lang="en-US" dirty="0"/>
              <a:t>—Systems controlled by on-device models are inherently more reliable than those which depend on a connection to the cloud.</a:t>
            </a:r>
          </a:p>
          <a:p>
            <a:r>
              <a:rPr lang="en-US" b="1" dirty="0"/>
              <a:t>Privacy</a:t>
            </a:r>
            <a:r>
              <a:rPr lang="en-US" dirty="0"/>
              <a:t>—When data is processed on an embedded system and is never transmitted to the cloud, user privacy is protected and there is less chance of abuse.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pt-BR" sz="12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</a:t>
            </a:r>
            <a:r>
              <a:rPr lang="pt-BR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https://tinyml.seas.harvard.edu/SciTinyML-22/latam/#:~:text=12:15%C2%A0%20(SP)%20Introduction%20to%20Deep%20Learning</a:t>
            </a:r>
            <a:endParaRPr lang="pt-BR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[2] </a:t>
            </a:r>
            <a:r>
              <a:rPr lang="pt-BR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https://brianplancher.com/courses/cs249r_tinyml/</a:t>
            </a:r>
            <a:endParaRPr lang="pt-BR" b="0" dirty="0">
              <a:effectLst/>
            </a:endParaRPr>
          </a:p>
          <a:p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[3] </a:t>
            </a:r>
            <a:r>
              <a:rPr lang="pt-BR" sz="12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https://tinyml.seas.harvard.edu/SciTinyML-22/latam/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B45916-164F-09A4-7A09-8D33433E5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3296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8547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Edge Impulse é uma plataforma que permite o desenvolvimento e implantação de soluções de aprendizado de máquina em dispositivos de borda. Ela oferece ferramentas para coleta, pré-processamento, treinamento e implantação de modelos de aprendizado de máquina em microcontroladores e sistemas embarcados. A plataforma também fornece recursos de otimização de modelos e integração com diferentes plataformas de hardware.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TFLite</a:t>
            </a:r>
            <a:r>
              <a:rPr lang="pt-BR" dirty="0"/>
              <a:t> e </a:t>
            </a:r>
            <a:r>
              <a:rPr lang="pt-BR" dirty="0" err="1"/>
              <a:t>TFLite</a:t>
            </a:r>
            <a:r>
              <a:rPr lang="pt-BR" dirty="0"/>
              <a:t> Micro são frameworks (conjuntos de ferramentas) de ML para dispositivos de borda (i.e., dispositivos móveis, </a:t>
            </a:r>
            <a:r>
              <a:rPr lang="pt-BR" dirty="0" err="1"/>
              <a:t>IoT</a:t>
            </a:r>
            <a:r>
              <a:rPr lang="pt-BR" dirty="0"/>
              <a:t>, embarcados, ou seja, pequenos dispositivos)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TFLite</a:t>
            </a:r>
            <a:r>
              <a:rPr lang="pt-BR" dirty="0"/>
              <a:t> é framework de ML projetado para dispositivos com recursos computacionais limitados, como smartphones, dispositivos </a:t>
            </a:r>
            <a:r>
              <a:rPr lang="pt-BR" dirty="0" err="1"/>
              <a:t>IoT</a:t>
            </a:r>
            <a:r>
              <a:rPr lang="pt-BR" dirty="0"/>
              <a:t> e sistemas embarcados.</a:t>
            </a:r>
          </a:p>
          <a:p>
            <a:endParaRPr lang="pt-BR" dirty="0"/>
          </a:p>
          <a:p>
            <a:r>
              <a:rPr lang="pt-BR" dirty="0" err="1"/>
              <a:t>TFLite</a:t>
            </a:r>
            <a:r>
              <a:rPr lang="pt-BR" dirty="0"/>
              <a:t>-Micro é outro framework de ML especificamente otimizado para microcontroladores, que são ainda mais limitados em termos de recursos computacionais, memória e consumo de energia.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TFLite</a:t>
            </a:r>
            <a:r>
              <a:rPr lang="pt-BR" dirty="0"/>
              <a:t>-Micro foi projetado para ter um código extremamente pequeno e espaço de memória para caber nas restrições dos microcontroladores. Ele utiliza técnicas como quantização e compressão de modelo para reduzir o tamanho dos modelos. O </a:t>
            </a:r>
            <a:r>
              <a:rPr lang="pt-BR" dirty="0" err="1"/>
              <a:t>TFLite</a:t>
            </a:r>
            <a:r>
              <a:rPr lang="pt-BR" dirty="0"/>
              <a:t>, embora também otimizado para eficiência de recursos, pode oferecer modelos um pouco maiores e tem mais flexibilidade devido aos dispositivos de destino terem relativamente mais recursos computacionais disponíveis.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endParaRPr lang="pt-BR" dirty="0"/>
          </a:p>
          <a:p>
            <a:r>
              <a:rPr lang="pt-BR" dirty="0"/>
              <a:t>[1] https://sites.google.com/g.harvard.edu/tinyml/home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5671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EAC2E-C40D-DAE0-32F4-D7AAADFC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C5BE1E9-F73C-9AF1-B389-2F1193262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144E062-549C-E268-D3D9-34AD86B94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Edge Impulse é uma plataforma que permite o desenvolvimento e implantação de soluções de aprendizado de máquina em dispositivos de borda. Ela oferece ferramentas para coleta, pré-processamento, treinamento e implantação de modelos de aprendizado de máquina em microcontroladores e sistemas embarcados. A plataforma também fornece recursos de otimização de modelos e integração com diferentes plataformas de hardware.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TFLite</a:t>
            </a:r>
            <a:r>
              <a:rPr lang="pt-BR" dirty="0"/>
              <a:t> e </a:t>
            </a:r>
            <a:r>
              <a:rPr lang="pt-BR" dirty="0" err="1"/>
              <a:t>TFLite</a:t>
            </a:r>
            <a:r>
              <a:rPr lang="pt-BR" dirty="0"/>
              <a:t> Micro são frameworks (conjuntos de ferramentas) de ML para dispositivos de borda (i.e., dispositivos móveis, </a:t>
            </a:r>
            <a:r>
              <a:rPr lang="pt-BR" dirty="0" err="1"/>
              <a:t>IoT</a:t>
            </a:r>
            <a:r>
              <a:rPr lang="pt-BR" dirty="0"/>
              <a:t>, embarcados, ou seja, pequenos dispositivos)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TFLite</a:t>
            </a:r>
            <a:r>
              <a:rPr lang="pt-BR" dirty="0"/>
              <a:t> é framework de ML projetado para dispositivos com recursos computacionais limitados, como smartphones, dispositivos </a:t>
            </a:r>
            <a:r>
              <a:rPr lang="pt-BR" dirty="0" err="1"/>
              <a:t>IoT</a:t>
            </a:r>
            <a:r>
              <a:rPr lang="pt-BR" dirty="0"/>
              <a:t> e sistemas embarcados.</a:t>
            </a:r>
          </a:p>
          <a:p>
            <a:endParaRPr lang="pt-BR" dirty="0"/>
          </a:p>
          <a:p>
            <a:r>
              <a:rPr lang="pt-BR" dirty="0" err="1"/>
              <a:t>TFLite</a:t>
            </a:r>
            <a:r>
              <a:rPr lang="pt-BR" dirty="0"/>
              <a:t>-Micro é outro framework de ML especificamente otimizado para microcontroladores, que são ainda mais limitados em termos de recursos computacionais, memória e consumo de energia.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TFLite</a:t>
            </a:r>
            <a:r>
              <a:rPr lang="pt-BR" dirty="0"/>
              <a:t>-Micro foi projetado para ter um código extremamente pequeno e espaço de memória para caber nas restrições dos microcontroladores. Ele utiliza técnicas como quantização e compressão de modelo para reduzir o tamanho dos modelos. O </a:t>
            </a:r>
            <a:r>
              <a:rPr lang="pt-BR" dirty="0" err="1"/>
              <a:t>TFLite</a:t>
            </a:r>
            <a:r>
              <a:rPr lang="pt-BR" dirty="0"/>
              <a:t>, embora também otimizado para eficiência de recursos, pode oferecer modelos um pouco maiores e tem mais flexibilidade devido aos dispositivos de destino terem relativamente mais recursos computacionais disponíveis.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endParaRPr lang="pt-BR" dirty="0"/>
          </a:p>
          <a:p>
            <a:r>
              <a:rPr lang="pt-BR" dirty="0"/>
              <a:t>[1] https://sites.google.com/g.harvard.edu/tinyml/home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746540-7507-3BA8-729F-9D81FFD81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69601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 objetivo principal desta disciplina é apresentar os principais paradigmas de aprendizado de máquina aplicados a dispositivos </a:t>
            </a:r>
            <a:r>
              <a:rPr lang="pt-BR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IoT</a:t>
            </a: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embarcados. O curso será orientado a projetos, com aulas introdutórias sobre os tópicos abordados e, na sequência, laboratórios e estudos dirigidos para fixação dos conceitos introduzidos, além de um projeto final. Ao final do curso, os alunos devem ser capazes de entender e aplicar os principais algoritmos e técnicas de aprendizado de máquina em aplicações práticas utilizando dispositivos </a:t>
            </a:r>
            <a:r>
              <a:rPr lang="pt-BR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IoT</a:t>
            </a:r>
            <a:r>
              <a:rPr lang="pt-BR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embarcados.</a:t>
            </a:r>
          </a:p>
          <a:p>
            <a:pPr marL="0" indent="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pt-BR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1200" b="0" i="0" u="none" strike="noStrike" dirty="0">
                <a:solidFill>
                  <a:srgbClr val="000000"/>
                </a:solidFill>
                <a:effectLst/>
              </a:rPr>
              <a:t>Capacitá-los a aplicar os principais algoritmos e técnicas de aprendizado de máquina em aplicações práticas utilizando dispositivos </a:t>
            </a:r>
            <a:r>
              <a:rPr lang="pt-BR" sz="1200" b="0" i="0" u="none" strike="noStrike" dirty="0" err="1">
                <a:solidFill>
                  <a:srgbClr val="000000"/>
                </a:solidFill>
                <a:effectLst/>
              </a:rPr>
              <a:t>IoT</a:t>
            </a:r>
            <a:r>
              <a:rPr lang="pt-BR" sz="1200" b="0" i="0" u="none" strike="noStrike" dirty="0">
                <a:solidFill>
                  <a:srgbClr val="000000"/>
                </a:solidFill>
                <a:effectLst/>
              </a:rPr>
              <a:t> embarcados.</a:t>
            </a:r>
            <a:endParaRPr lang="pt-BR" sz="1200" dirty="0"/>
          </a:p>
          <a:p>
            <a:pPr marL="0" indent="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pt-BR" b="0" dirty="0">
              <a:effectLst/>
            </a:endParaRPr>
          </a:p>
          <a:p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9334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ML é um mundo de coisas, mas nós vamos focar apenas nos tópicos que interessam para a construção de aplicações tinyML.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Temos que considerar problemas de latência (e.g., tempo para classificação de objetos em uma imagem) e restrições de bateria (e.g., um algoritmo pode exigir tanta computação/realizar tanto cálculo matemático que a bateria não irá durar), processamento e memória (e.g., um modelo para uma aplicação pode ser maior do que a memória do dispositivo).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Menor latência</a:t>
            </a:r>
            <a:r>
              <a:rPr lang="pt-BR" dirty="0"/>
              <a:t>: não é necessário o envio dos dados para um servidor na nuvem, possibilitando aplicações que operem em tempo real;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Maior privacidade</a:t>
            </a:r>
            <a:r>
              <a:rPr lang="pt-BR" dirty="0"/>
              <a:t>: dados sensíveis não são transferidos para servidores;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Menor dependência de conexões</a:t>
            </a:r>
            <a:r>
              <a:rPr lang="pt-BR" dirty="0"/>
              <a:t>: reduz ou elimina a necessidade de transferência de dados para servidores.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Maior autonomia energética</a:t>
            </a:r>
            <a:r>
              <a:rPr lang="pt-BR" dirty="0"/>
              <a:t>: o uso de microcontroladores com baixo consumo de energia reduz o consumo de energia, uso de recursos e custos.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Reduzido consumo de memória</a:t>
            </a:r>
            <a:r>
              <a:rPr lang="pt-BR" dirty="0"/>
              <a:t>: modelo e binário (i.e., executável) menores.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2018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ML é um mundo de coisas, mas nós vamos focar apenas nos tópicos que interessam para a construção de aplicações tinyML.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Temos que considerar problemas de latência (e.g., tempo para classificação de objetos em uma imagem) e restrições de bateria (e.g., um algoritmo pode exigir tanta computação/realizar tanto cálculo matemático que a bateria não irá durar), processamento e memória (e.g., um modelo para uma aplicação pode ser maior do que a memória do dispositivo).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97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Edge Impulse Studio</a:t>
            </a:r>
            <a:r>
              <a:rPr lang="pt-BR" dirty="0"/>
              <a:t>: Framework que simplifica o workflow de ML Ele simplifica os processos de coleta de dados, pré-processamento, treinamento, </a:t>
            </a:r>
            <a:r>
              <a:rPr lang="pt-BR" dirty="0" err="1"/>
              <a:t>deployment</a:t>
            </a:r>
            <a:r>
              <a:rPr lang="pt-BR" dirty="0"/>
              <a:t> de modelos de ML em dispositivos embarcados.</a:t>
            </a:r>
          </a:p>
          <a:p>
            <a:endParaRPr lang="pt-BR" dirty="0"/>
          </a:p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O Edge Impulse é uma plataforma de desenvolvimento e implantação de soluções de aprendizado de máquina para dispositivos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IoT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(Internet das Coisas) e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edge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devices (dispositivos de borda). A plataforma foi projetada para simplificar o processo de criar, treinar e implantar modelos de aprendizado de máquina diretamente em dispositivos com recursos limitados, como microcontroladores e microprocessadores.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4596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GT-Eesti-Thin"/>
              </a:rPr>
              <a:t>32-bit ARM® Cortex™-M4 CPU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GT-Eesti-Thin"/>
            </a:endParaRPr>
          </a:p>
          <a:p>
            <a:r>
              <a:rPr lang="pt-BR" dirty="0"/>
              <a:t>Câmera OV7675 </a:t>
            </a:r>
            <a:r>
              <a:rPr lang="en-US" b="0" i="0" dirty="0">
                <a:solidFill>
                  <a:srgbClr val="000000"/>
                </a:solidFill>
                <a:effectLst/>
                <a:latin typeface="GT-Eesti-Thin"/>
              </a:rPr>
              <a:t>: </a:t>
            </a:r>
          </a:p>
          <a:p>
            <a:r>
              <a:rPr lang="en-US" b="0" i="0" dirty="0" err="1">
                <a:solidFill>
                  <a:srgbClr val="000000"/>
                </a:solidFill>
                <a:effectLst/>
                <a:latin typeface="GT-Eesti-Thin"/>
              </a:rPr>
              <a:t>Resolução</a:t>
            </a:r>
            <a:r>
              <a:rPr lang="en-US" b="0" i="0" dirty="0">
                <a:solidFill>
                  <a:srgbClr val="000000"/>
                </a:solidFill>
                <a:effectLst/>
                <a:latin typeface="GT-Eesti-Thin"/>
              </a:rPr>
              <a:t>: 0.3 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Active </a:t>
            </a:r>
            <a:r>
              <a:rPr lang="pt-BR" b="0" i="0" dirty="0" err="1">
                <a:solidFill>
                  <a:srgbClr val="666666"/>
                </a:solidFill>
                <a:effectLst/>
                <a:latin typeface="Rubik"/>
              </a:rPr>
              <a:t>array</a:t>
            </a: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 </a:t>
            </a:r>
            <a:r>
              <a:rPr lang="pt-BR" b="0" i="0" dirty="0" err="1">
                <a:solidFill>
                  <a:srgbClr val="666666"/>
                </a:solidFill>
                <a:effectLst/>
                <a:latin typeface="Rubik"/>
              </a:rPr>
              <a:t>size</a:t>
            </a: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: 640×480 (VGA)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Resoluções (pixels): 640x480 (VGA), 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320x240 (QVGA) e 160x120 (QQVGA)</a:t>
            </a:r>
            <a:endParaRPr lang="pt-BR" b="0" i="0" dirty="0">
              <a:solidFill>
                <a:srgbClr val="666666"/>
              </a:solidFill>
              <a:effectLst/>
              <a:latin typeface="Rubik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Taxas de frame: 30fps (VGA), 60 </a:t>
            </a:r>
            <a:r>
              <a:rPr lang="pt-BR" b="0" i="0" dirty="0" err="1">
                <a:solidFill>
                  <a:srgbClr val="666666"/>
                </a:solidFill>
                <a:effectLst/>
                <a:latin typeface="Rubik"/>
              </a:rPr>
              <a:t>fps</a:t>
            </a: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 (QVGA) e 240 </a:t>
            </a:r>
            <a:r>
              <a:rPr lang="pt-BR" b="0" i="0" dirty="0" err="1">
                <a:solidFill>
                  <a:srgbClr val="666666"/>
                </a:solidFill>
                <a:effectLst/>
                <a:latin typeface="Rubik"/>
              </a:rPr>
              <a:t>fps</a:t>
            </a: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 (QQVGA)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 err="1">
                <a:solidFill>
                  <a:srgbClr val="666666"/>
                </a:solidFill>
                <a:effectLst/>
                <a:latin typeface="Rubik"/>
              </a:rPr>
              <a:t>Maximum</a:t>
            </a: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 </a:t>
            </a:r>
            <a:r>
              <a:rPr lang="pt-BR" b="0" i="0" dirty="0" err="1">
                <a:solidFill>
                  <a:srgbClr val="666666"/>
                </a:solidFill>
                <a:effectLst/>
                <a:latin typeface="Rubik"/>
              </a:rPr>
              <a:t>image</a:t>
            </a: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 </a:t>
            </a:r>
            <a:r>
              <a:rPr lang="pt-BR" b="0" i="0" dirty="0" err="1">
                <a:solidFill>
                  <a:srgbClr val="666666"/>
                </a:solidFill>
                <a:effectLst/>
                <a:latin typeface="Rubik"/>
              </a:rPr>
              <a:t>transfer</a:t>
            </a: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 rate: VGA 30fps, QVGA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Quarter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VGA)</a:t>
            </a: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 60fps, QQVGA 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Quarter-Quarter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VGA) </a:t>
            </a:r>
            <a:r>
              <a:rPr lang="pt-BR" b="0" i="0" dirty="0">
                <a:solidFill>
                  <a:srgbClr val="666666"/>
                </a:solidFill>
                <a:effectLst/>
                <a:latin typeface="Rubik"/>
              </a:rPr>
              <a:t> 240pfs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0" i="0" dirty="0">
              <a:solidFill>
                <a:srgbClr val="666666"/>
              </a:solidFill>
              <a:effectLst/>
              <a:latin typeface="Rubik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5042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Use Case #1: Keyword spotting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The first use case that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tinyML</a:t>
            </a:r>
            <a:r>
              <a:rPr lang="en-US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 is becoming popular for is keyword spotting. Keyword spotting is the ability of a device to recognize a keyword like “Hey Siri,” “Alexa,” “Hello,” and so forth. Keyword spotting has many uses for edge devices. For example, one might want to use a low-power processor to watch for a keyword that will wake up a more powerful one. Another use case might be to control an embedded system or a robot. I’ve seen examples where a microcontroller was used to decode keywords like “forward,” “backward,” “stop,” “right,” and “left” to control a robot’s movement.</a:t>
            </a:r>
          </a:p>
          <a:p>
            <a:endParaRPr lang="pt-BR" dirty="0"/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Visual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wake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words, também conhecidos como "palavras de despertar visual", referem-se a objetos, gestos ou ações específicas que atuam como gatilhos para iniciar a detecção ou ativação de um sistema de visão computacional ou uma aplicação relacionada à imagem. Assim como os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wake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words de áudio ativam assistentes de voz, como "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Hey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Siri" ou "OK Google", os visual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wake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words são utilizados para acionar a ativação de funções com base em imagens ou vídeos.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Por exemplo, uma câmera de segurança pode ter um visual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wake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word configurado para iniciar a gravação quando detectar um objeto específico, como uma pessoa ou um veículo. Assim que esse objeto é identificado pela câmera, o sistema é ativado para começar a gravar.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9007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books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89345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https://colab.research.google.com/github/zz4fap/tp557-iot-ml/blob/master/exercises/Exerc%C3%ADcios_sobre_Programa%C3%A7%C3%A3o_em_Python.ipynb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4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zz4fap/tp557-iot-ml/blob/main/exercises/Exerc%C3%ADcios_sobre_Programa%C3%A7%C3%A3o_em_Python.ipyn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Relationship Id="rId9" Type="http://schemas.openxmlformats.org/officeDocument/2006/relationships/hyperlink" Target="https://youtube.com/shorts/O8cmpRZ9dOo?feature=share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10" Type="http://schemas.openxmlformats.org/officeDocument/2006/relationships/image" Target="../media/image33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harvard.edu/vijay-janapa-reddi/classes/cs249r-tiny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png"/><Relationship Id="rId4" Type="http://schemas.openxmlformats.org/officeDocument/2006/relationships/hyperlink" Target="https://github.com/Mjrovai/UNIFEI-IESTI01-TinyML-2022.1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e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e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jpeg"/><Relationship Id="rId5" Type="http://schemas.openxmlformats.org/officeDocument/2006/relationships/image" Target="../media/image62.png"/><Relationship Id="rId4" Type="http://schemas.openxmlformats.org/officeDocument/2006/relationships/image" Target="../media/image6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4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jpeg"/><Relationship Id="rId5" Type="http://schemas.openxmlformats.org/officeDocument/2006/relationships/image" Target="../media/image65.png"/><Relationship Id="rId4" Type="http://schemas.openxmlformats.org/officeDocument/2006/relationships/image" Target="../media/image64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2.jpeg"/><Relationship Id="rId4" Type="http://schemas.openxmlformats.org/officeDocument/2006/relationships/image" Target="../media/image50.png"/><Relationship Id="rId9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jpeg"/><Relationship Id="rId4" Type="http://schemas.openxmlformats.org/officeDocument/2006/relationships/image" Target="../media/image7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5.png"/><Relationship Id="rId3" Type="http://schemas.openxmlformats.org/officeDocument/2006/relationships/image" Target="../media/image76.jpeg"/><Relationship Id="rId7" Type="http://schemas.openxmlformats.org/officeDocument/2006/relationships/image" Target="../media/image80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5" Type="http://schemas.openxmlformats.org/officeDocument/2006/relationships/image" Target="../media/image87.jpeg"/><Relationship Id="rId10" Type="http://schemas.openxmlformats.org/officeDocument/2006/relationships/image" Target="../media/image50.png"/><Relationship Id="rId4" Type="http://schemas.openxmlformats.org/officeDocument/2006/relationships/image" Target="../media/image77.png"/><Relationship Id="rId9" Type="http://schemas.openxmlformats.org/officeDocument/2006/relationships/image" Target="../media/image82.jpeg"/><Relationship Id="rId14" Type="http://schemas.openxmlformats.org/officeDocument/2006/relationships/image" Target="../media/image8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natel-my.sharepoint.com/:f:/g/personal/felipe_figueiredo_inatel_br/EnaqVB3NwAZLtlMiM06Nj4EBOIWqI_1CoeTn1IcAPHbtWg?e=mCIkBc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q4NNIYar9o&amp;list=PLRc6ZYt68prVXAhwY1JD6DFc3BJGmJriq&amp;pp=gAQBiAQB" TargetMode="External"/><Relationship Id="rId2" Type="http://schemas.openxmlformats.org/officeDocument/2006/relationships/hyperlink" Target="https://github.com/zz4fap/tp557-iot-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yjprpOoH5c8&amp;ab_channel=TensorFlow" TargetMode="External"/><Relationship Id="rId4" Type="http://schemas.openxmlformats.org/officeDocument/2006/relationships/hyperlink" Target="https://www.youtube.com/watch?v=inN8seMm7UI" TargetMode="Externa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P9h7r_xhWc8&amp;ab_channel=MarceloRovai" TargetMode="External"/><Relationship Id="rId3" Type="http://schemas.openxmlformats.org/officeDocument/2006/relationships/hyperlink" Target="https://news.epfl.ch/news/deepbreath-using-deep-learning-to-identify-respi-2/?utm_campaign=One%20More%20Epoch&amp;utm_medium=email&amp;_hsmi=266037517&amp;_hsenc=p2ANqtz-_DlKy1VsoQOOaAeaMEfotzL9Z41h-uFZ8nCCLEopn6clslsbGBS7lLnX9ZnJ8TJH8rck9FAvc-K67ziuy7A3EVC-IXPA&amp;utm_content=266037517&amp;utm_source=hs_email" TargetMode="External"/><Relationship Id="rId7" Type="http://schemas.openxmlformats.org/officeDocument/2006/relationships/hyperlink" Target="https://www.edgeimpulse.com/blog/elevating-quality-standards-with-ai?utm_campaign=One%20More%20Epoch&amp;utm_medium=email&amp;_hsmi=266037517&amp;_hsenc=p2ANqtz-8EIZt4ukFLp-GUfMo6kk_OnSFZ1bcH5bidCwcxohPYw1mL12Ewj-6ncXJ0s51OwlQQUSBCQ7-h8EGtgbo4WEjau7KXLQ&amp;utm_content=266037517&amp;utm_source=hs_email" TargetMode="External"/><Relationship Id="rId2" Type="http://schemas.openxmlformats.org/officeDocument/2006/relationships/hyperlink" Target="https://github.com/Mjrovai/UNIFEI-IESTI01-TinyML-2021.2/blob/main/00_Curse_Folder/Group%20Project/final_reports/3-Sistema%20de%20identificac%CC%A7a%CC%83o%20de%20falhas%20em%20rolamentos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dgeimpulse.com/blog/straightening-out-posture-in-the-workplace?utm_campaign=One%20More%20Epoch&amp;utm_medium=email&amp;_hsmi=266037517&amp;_hsenc=p2ANqtz-9EkND72tAZgtA9IuIlYcLOGaW9ZCimPhaVnaw5l-3IR_QUQjbuMo4kPizqHCgxsWonUQ8RX_fpHYNn8t7Q8xKZPndfEQ&amp;utm_content=266037517&amp;utm_source=hs_email" TargetMode="External"/><Relationship Id="rId11" Type="http://schemas.openxmlformats.org/officeDocument/2006/relationships/hyperlink" Target="https://www.youtube.com/watch?v=DbujrQEzVy8&amp;ab_channel=MarceloRovai" TargetMode="External"/><Relationship Id="rId5" Type="http://schemas.openxmlformats.org/officeDocument/2006/relationships/hyperlink" Target="https://www.freethink.com/robots-ai/spotted-lanternfly-robot?amp=1&amp;utm_campaign=One%20More%20Epoch&amp;utm_medium=email&amp;_hsmi=266037517&amp;_hsenc=p2ANqtz-8X5S5CW0CZPyxBl_gZMcp6YK5DEN0SvfamekDleNgLcsJqFLngNffrXROkWO701Cgwq6NSPC84Oj1doCYTZS38TS4ZaQ&amp;utm_content=266037517&amp;utm_source=hs_email" TargetMode="External"/><Relationship Id="rId10" Type="http://schemas.openxmlformats.org/officeDocument/2006/relationships/hyperlink" Target="https://www.youtube.com/watch?v=rV6lmdJqsvc&amp;ab_channel=MarceloRovai" TargetMode="External"/><Relationship Id="rId4" Type="http://schemas.openxmlformats.org/officeDocument/2006/relationships/hyperlink" Target="https://www.eenewseurope.com/en/ai-diagnoses-a-vehicle-by-its-sound/?utm_campaign=One%20More%20Epoch&amp;utm_medium=email&amp;_hsmi=266037517&amp;_hsenc=p2ANqtz--mvGlZwwyTH8oH2jaKV1LWftKXVDMuwbk9Kj-n9FyIJ7hOt4RGO-wHMuUCOxG28hE4fXezsLIVXcZSaffyQudJdCOgPQ&amp;utm_content=266037517&amp;utm_source=hs_email" TargetMode="External"/><Relationship Id="rId9" Type="http://schemas.openxmlformats.org/officeDocument/2006/relationships/hyperlink" Target="https://www.youtube.com/watch?v=gjVJFaGKl6E&amp;ab_channel=MarceloRovai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9r2VVM4nfk8&amp;ab_channel=TensorFlow" TargetMode="External"/><Relationship Id="rId3" Type="http://schemas.openxmlformats.org/officeDocument/2006/relationships/hyperlink" Target="https://www.youtube.com/watch?v=vswoWrOpC1s&amp;ab_channel=MarceloRovai" TargetMode="External"/><Relationship Id="rId7" Type="http://schemas.openxmlformats.org/officeDocument/2006/relationships/hyperlink" Target="https://www.youtube.com/watch?v=RxlHRyaRfBc&amp;ab_channel=MarceloRovai" TargetMode="External"/><Relationship Id="rId2" Type="http://schemas.openxmlformats.org/officeDocument/2006/relationships/hyperlink" Target="https://www.youtube.com/watch?v=QCH9iYNjDJc&amp;ab_channel=MarceloRova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jeRetSaqm1w&amp;ab_channel=MarceloRovai" TargetMode="External"/><Relationship Id="rId11" Type="http://schemas.openxmlformats.org/officeDocument/2006/relationships/hyperlink" Target="https://experiments.withgoogle.com/collection/tfliteformicrocontrollers" TargetMode="External"/><Relationship Id="rId5" Type="http://schemas.openxmlformats.org/officeDocument/2006/relationships/hyperlink" Target="https://www.youtube.com/watch?v=7Lca8lfdKAI&amp;ab_channel=MarceloRovai" TargetMode="External"/><Relationship Id="rId10" Type="http://schemas.openxmlformats.org/officeDocument/2006/relationships/hyperlink" Target="https://www.tensorflow.org/lite/examples?hl=pt-br" TargetMode="External"/><Relationship Id="rId4" Type="http://schemas.openxmlformats.org/officeDocument/2006/relationships/hyperlink" Target="https://www.youtube.com/watch?v=70ySBIPzvJk&amp;ab_channel=MarceloRovai" TargetMode="External"/><Relationship Id="rId9" Type="http://schemas.openxmlformats.org/officeDocument/2006/relationships/hyperlink" Target="https://www.youtube.com/watch?v=oOeZ7IgEN4o&amp;ab_channel=GoogleforDevelopers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://tinyurl.com/tinymlprojects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ercises/Exerc%C3%ADcios_sobre_Programa%C3%A7%C3%A3o_em_Python.ipynb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TP557 - Tópicos avançados em IoT e Machine Learning:</a:t>
            </a:r>
            <a:br>
              <a:rPr lang="pt-BR" dirty="0"/>
            </a:br>
            <a:r>
              <a:rPr lang="pt-BR" b="1" i="1" dirty="0"/>
              <a:t>Introdução ao curso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87186" y="2380796"/>
            <a:ext cx="10515600" cy="191361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7200" dirty="0"/>
              <a:t>Quais as motivações por trás deste curso?</a:t>
            </a:r>
          </a:p>
        </p:txBody>
      </p:sp>
    </p:spTree>
    <p:extLst>
      <p:ext uri="{BB962C8B-B14F-4D97-AF65-F5344CB8AC3E}">
        <p14:creationId xmlns:p14="http://schemas.microsoft.com/office/powerpoint/2010/main" val="162389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epSeek: o que é, como funciona e quais funções essa inteligência  artificial possui">
            <a:extLst>
              <a:ext uri="{FF2B5EF4-FFF2-40B4-BE49-F238E27FC236}">
                <a16:creationId xmlns:a16="http://schemas.microsoft.com/office/drawing/2014/main" id="{8B62C147-AAE4-4142-2BA5-3D9AEBCEB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694" y="2845347"/>
            <a:ext cx="3811428" cy="214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D2C5BB-D333-2079-0524-E94150E07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Motivação: Modelos mais eficientes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6E90ED-BB2D-FC1F-DCED-6568C3F98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723" y="1825624"/>
            <a:ext cx="6289563" cy="5032375"/>
          </a:xfrm>
        </p:spPr>
        <p:txBody>
          <a:bodyPr/>
          <a:lstStyle/>
          <a:p>
            <a:r>
              <a:rPr lang="pt-BR" dirty="0"/>
              <a:t>Os </a:t>
            </a:r>
            <a:r>
              <a:rPr lang="pt-BR" b="1" i="1" dirty="0">
                <a:solidFill>
                  <a:srgbClr val="00B050"/>
                </a:solidFill>
              </a:rPr>
              <a:t>avanços em IA </a:t>
            </a:r>
            <a:r>
              <a:rPr lang="pt-BR" dirty="0"/>
              <a:t>têm levado à criação de </a:t>
            </a:r>
            <a:r>
              <a:rPr lang="pt-BR" b="1" i="1" dirty="0">
                <a:solidFill>
                  <a:srgbClr val="00B050"/>
                </a:solidFill>
              </a:rPr>
              <a:t>grandes modelos </a:t>
            </a:r>
            <a:r>
              <a:rPr lang="pt-BR" dirty="0"/>
              <a:t>(como </a:t>
            </a:r>
            <a:r>
              <a:rPr lang="pt-BR" dirty="0" err="1"/>
              <a:t>GPTs</a:t>
            </a:r>
            <a:r>
              <a:rPr lang="pt-BR" dirty="0"/>
              <a:t>, DALL-E, </a:t>
            </a:r>
            <a:r>
              <a:rPr lang="pt-BR" dirty="0" err="1"/>
              <a:t>Deep</a:t>
            </a:r>
            <a:r>
              <a:rPr lang="pt-BR" dirty="0"/>
              <a:t> </a:t>
            </a:r>
            <a:r>
              <a:rPr lang="pt-BR" dirty="0" err="1"/>
              <a:t>Seek</a:t>
            </a:r>
            <a:r>
              <a:rPr lang="pt-BR" dirty="0"/>
              <a:t>, </a:t>
            </a:r>
            <a:r>
              <a:rPr lang="pt-BR" dirty="0" err="1"/>
              <a:t>GroudingDINO</a:t>
            </a:r>
            <a:r>
              <a:rPr lang="pt-BR" dirty="0"/>
              <a:t>, </a:t>
            </a:r>
            <a:r>
              <a:rPr lang="pt-BR" dirty="0" err="1"/>
              <a:t>YOLOs</a:t>
            </a:r>
            <a:r>
              <a:rPr lang="pt-BR" dirty="0"/>
              <a:t> entre outros), também chamados de </a:t>
            </a:r>
            <a:r>
              <a:rPr lang="pt-BR" i="1" dirty="0" err="1"/>
              <a:t>foundational</a:t>
            </a:r>
            <a:r>
              <a:rPr lang="pt-BR" i="1" dirty="0"/>
              <a:t> models</a:t>
            </a:r>
            <a:r>
              <a:rPr lang="pt-BR" dirty="0"/>
              <a:t>.</a:t>
            </a:r>
          </a:p>
          <a:p>
            <a:r>
              <a:rPr lang="pt-BR" dirty="0"/>
              <a:t>Esses modelos são usados para tradução de texto, assistência pessoal, detecção de objetos, geração de imagens, sons e vídeos sintéticos, etc.</a:t>
            </a:r>
          </a:p>
        </p:txBody>
      </p:sp>
      <p:pic>
        <p:nvPicPr>
          <p:cNvPr id="8" name="Picture 4" descr="Uso do Chat GPT na política pode ser um risco à informação? Entenda -  RIC.com.br">
            <a:extLst>
              <a:ext uri="{FF2B5EF4-FFF2-40B4-BE49-F238E27FC236}">
                <a16:creationId xmlns:a16="http://schemas.microsoft.com/office/drawing/2014/main" id="{6FC350E4-D405-5B58-A9A9-7202BC4D7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8" y="1690688"/>
            <a:ext cx="1934255" cy="1934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DALL-E: The AI That Can Create Images from Text - Cloudbooklet">
            <a:extLst>
              <a:ext uri="{FF2B5EF4-FFF2-40B4-BE49-F238E27FC236}">
                <a16:creationId xmlns:a16="http://schemas.microsoft.com/office/drawing/2014/main" id="{4657ADA9-1A6E-569B-D81B-3B366B1B7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73" y="1712004"/>
            <a:ext cx="2607470" cy="146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45D42B56-B56F-F618-0E4B-096F4634C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11" y="4341811"/>
            <a:ext cx="2749928" cy="146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oundingDINO/README.md · noni27/Shift_and_Inpaint at  e4ff7c4c4165c8c9c97a48cbfe811a9313ca9af4">
            <a:extLst>
              <a:ext uri="{FF2B5EF4-FFF2-40B4-BE49-F238E27FC236}">
                <a16:creationId xmlns:a16="http://schemas.microsoft.com/office/drawing/2014/main" id="{087FCFB0-CABA-FA63-3CB8-67439D2B1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339" y="4603298"/>
            <a:ext cx="2294845" cy="229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579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CC67-ED6E-8909-44FE-888FA6D1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epSeek: o que é, como funciona e quais funções essa inteligência  artificial possui">
            <a:extLst>
              <a:ext uri="{FF2B5EF4-FFF2-40B4-BE49-F238E27FC236}">
                <a16:creationId xmlns:a16="http://schemas.microsoft.com/office/drawing/2014/main" id="{64C34052-C442-5B96-37C7-4FD8A9A7E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264" y="3004458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61E769-DF7A-6A63-999B-32D4319F7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Motivação: Modelos mais eficientes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3C3251-65D3-BCB8-CBC0-6FB01D156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723" y="1825624"/>
            <a:ext cx="6289563" cy="5032375"/>
          </a:xfrm>
        </p:spPr>
        <p:txBody>
          <a:bodyPr/>
          <a:lstStyle/>
          <a:p>
            <a:r>
              <a:rPr lang="pt-BR" dirty="0"/>
              <a:t>Para que tenham um </a:t>
            </a:r>
            <a:r>
              <a:rPr lang="pt-BR" b="1" i="1" dirty="0">
                <a:solidFill>
                  <a:srgbClr val="00B050"/>
                </a:solidFill>
              </a:rPr>
              <a:t>altíssimo desempenho</a:t>
            </a:r>
            <a:r>
              <a:rPr lang="pt-BR" dirty="0"/>
              <a:t>, esses modelos são </a:t>
            </a:r>
            <a:r>
              <a:rPr lang="pt-BR" b="1" i="1" dirty="0">
                <a:solidFill>
                  <a:srgbClr val="7030A0"/>
                </a:solidFill>
              </a:rPr>
              <a:t>treinados em bases de dados massivas</a:t>
            </a:r>
            <a:r>
              <a:rPr lang="pt-BR" dirty="0"/>
              <a:t>.</a:t>
            </a:r>
          </a:p>
          <a:p>
            <a:r>
              <a:rPr lang="pt-BR" dirty="0"/>
              <a:t>Além disso, devido à sua </a:t>
            </a:r>
            <a:r>
              <a:rPr lang="pt-BR" b="1" i="1" dirty="0">
                <a:solidFill>
                  <a:schemeClr val="accent5"/>
                </a:solidFill>
              </a:rPr>
              <a:t>complexidade e ao volume de parâmetros</a:t>
            </a:r>
            <a:r>
              <a:rPr lang="pt-BR" dirty="0"/>
              <a:t>, eles demandam </a:t>
            </a:r>
            <a:r>
              <a:rPr lang="pt-BR" b="1" i="1" dirty="0">
                <a:solidFill>
                  <a:schemeClr val="accent2"/>
                </a:solidFill>
              </a:rPr>
              <a:t>enormes recursos computacionais</a:t>
            </a:r>
            <a:r>
              <a:rPr lang="pt-BR" dirty="0"/>
              <a:t> – CPU, memória, armazenamento e energia – para treinamento e execução (também chamada de inferência).</a:t>
            </a:r>
            <a:endParaRPr lang="en-US" dirty="0"/>
          </a:p>
        </p:txBody>
      </p:sp>
      <p:pic>
        <p:nvPicPr>
          <p:cNvPr id="8" name="Picture 4" descr="Uso do Chat GPT na política pode ser um risco à informação? Entenda -  RIC.com.br">
            <a:extLst>
              <a:ext uri="{FF2B5EF4-FFF2-40B4-BE49-F238E27FC236}">
                <a16:creationId xmlns:a16="http://schemas.microsoft.com/office/drawing/2014/main" id="{B94EE661-07AB-1BC9-2D8A-9D1856E8A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8" y="1690688"/>
            <a:ext cx="1934255" cy="1934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DALL-E: The AI That Can Create Images from Text - Cloudbooklet">
            <a:extLst>
              <a:ext uri="{FF2B5EF4-FFF2-40B4-BE49-F238E27FC236}">
                <a16:creationId xmlns:a16="http://schemas.microsoft.com/office/drawing/2014/main" id="{872C3938-EF08-F8BF-F9AB-CF931FD44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73" y="1712004"/>
            <a:ext cx="2607470" cy="146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431E3B40-2300-2AF2-19F5-9690AC630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11" y="3984173"/>
            <a:ext cx="2749928" cy="146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oundingDINO/README.md · noni27/Shift_and_Inpaint at  e4ff7c4c4165c8c9c97a48cbfe811a9313ca9af4">
            <a:extLst>
              <a:ext uri="{FF2B5EF4-FFF2-40B4-BE49-F238E27FC236}">
                <a16:creationId xmlns:a16="http://schemas.microsoft.com/office/drawing/2014/main" id="{78116EBD-6503-2B15-C706-75F7A828E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828" y="4341811"/>
            <a:ext cx="2294845" cy="229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26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4D615-6665-2FF6-BFEE-811BD4EB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Motivação: Modelos mais eficientes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7C3A2-0404-0963-DA9A-888331E20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28" y="1690688"/>
            <a:ext cx="6329520" cy="5167312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Por exigirem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recursos computacionais colossais</a:t>
            </a:r>
            <a:r>
              <a:rPr lang="pt-BR" b="0" i="0" dirty="0">
                <a:effectLst/>
              </a:rPr>
              <a:t>, isso os torna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proibitivamente caros</a:t>
            </a:r>
            <a:r>
              <a:rPr lang="pt-BR" b="0" i="0" dirty="0">
                <a:effectLst/>
              </a:rPr>
              <a:t>. </a:t>
            </a:r>
          </a:p>
          <a:p>
            <a:r>
              <a:rPr lang="pt-BR" b="0" i="0" dirty="0">
                <a:effectLst/>
              </a:rPr>
              <a:t>Como resultado, a maioria dos usuários os acessa como </a:t>
            </a:r>
            <a:r>
              <a:rPr lang="pt-BR" b="1" i="1" dirty="0">
                <a:solidFill>
                  <a:schemeClr val="accent2"/>
                </a:solidFill>
                <a:effectLst/>
              </a:rPr>
              <a:t>serviços baseados em nuvem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dirty="0"/>
              <a:t>Entretanto, o uso na </a:t>
            </a:r>
            <a:r>
              <a:rPr lang="pt-BR" b="1" i="1" dirty="0">
                <a:solidFill>
                  <a:srgbClr val="00B0F0"/>
                </a:solidFill>
              </a:rPr>
              <a:t>nuvem</a:t>
            </a:r>
            <a:r>
              <a:rPr lang="pt-BR" dirty="0">
                <a:solidFill>
                  <a:srgbClr val="00B0F0"/>
                </a:solidFill>
              </a:rPr>
              <a:t> </a:t>
            </a:r>
            <a:r>
              <a:rPr lang="pt-BR" dirty="0"/>
              <a:t>resulta em </a:t>
            </a:r>
            <a:r>
              <a:rPr lang="pt-BR" b="1" i="1" dirty="0">
                <a:solidFill>
                  <a:srgbClr val="FF0000"/>
                </a:solidFill>
              </a:rPr>
              <a:t>maior latência, alto consumo de energia, custos operacionais elevados e menor segurança </a:t>
            </a:r>
            <a:r>
              <a:rPr lang="pt-BR" dirty="0"/>
              <a:t>com relação aos dados dos usuários.</a:t>
            </a:r>
          </a:p>
        </p:txBody>
      </p:sp>
      <p:pic>
        <p:nvPicPr>
          <p:cNvPr id="2050" name="Picture 2" descr="Smartphone Samsung Galaxy A15 4G 128GB 4GB RAM Tela Super Amoled FHD de  6.5&quot; Verde Claro">
            <a:extLst>
              <a:ext uri="{FF2B5EF4-FFF2-40B4-BE49-F238E27FC236}">
                <a16:creationId xmlns:a16="http://schemas.microsoft.com/office/drawing/2014/main" id="{AB8FC239-EA42-228F-3A85-BD038D1F35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0" t="7301" r="30953" b="6825"/>
          <a:stretch/>
        </p:blipFill>
        <p:spPr bwMode="auto">
          <a:xfrm>
            <a:off x="489857" y="1644422"/>
            <a:ext cx="1043982" cy="237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earables: o que é e como melhoram a saúde na empresa? - Clinimed - Saúde e  Segurança do Trabalho">
            <a:extLst>
              <a:ext uri="{FF2B5EF4-FFF2-40B4-BE49-F238E27FC236}">
                <a16:creationId xmlns:a16="http://schemas.microsoft.com/office/drawing/2014/main" id="{C76D8F62-4680-6E35-5E9E-C671AE195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032" y="1786699"/>
            <a:ext cx="2710543" cy="1805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est Examples of IoT (Internet of Things) |MicroAI™">
            <a:extLst>
              <a:ext uri="{FF2B5EF4-FFF2-40B4-BE49-F238E27FC236}">
                <a16:creationId xmlns:a16="http://schemas.microsoft.com/office/drawing/2014/main" id="{C543B4BF-2B49-A579-8D47-2B6D15D6D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005" y="4017508"/>
            <a:ext cx="3951514" cy="257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673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E76B1-A78A-AF3F-52B4-E3007A6C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2F70-3FD1-07AC-ED6C-EF533F18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Motivação: Modelos mais eficientes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BD96-DD3F-2464-ACA6-465F9B7F4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28" y="1690688"/>
            <a:ext cx="6329520" cy="5167312"/>
          </a:xfrm>
        </p:spPr>
        <p:txBody>
          <a:bodyPr>
            <a:normAutofit/>
          </a:bodyPr>
          <a:lstStyle/>
          <a:p>
            <a:r>
              <a:rPr lang="pt-BR" dirty="0"/>
              <a:t>Essa realidade torna inviável o uso desses e outros modelos em dispositivos com recursos limitados, como smartphones, </a:t>
            </a:r>
            <a:r>
              <a:rPr lang="pt-BR" i="1" dirty="0" err="1"/>
              <a:t>wearables</a:t>
            </a:r>
            <a:r>
              <a:rPr lang="pt-BR" dirty="0"/>
              <a:t> ou dispositivos IoT.</a:t>
            </a:r>
          </a:p>
        </p:txBody>
      </p:sp>
      <p:pic>
        <p:nvPicPr>
          <p:cNvPr id="2050" name="Picture 2" descr="Smartphone Samsung Galaxy A15 4G 128GB 4GB RAM Tela Super Amoled FHD de  6.5&quot; Verde Claro">
            <a:extLst>
              <a:ext uri="{FF2B5EF4-FFF2-40B4-BE49-F238E27FC236}">
                <a16:creationId xmlns:a16="http://schemas.microsoft.com/office/drawing/2014/main" id="{463B10DD-8EEC-206C-E46B-5F4BB2DE43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0" t="7301" r="30953" b="6825"/>
          <a:stretch/>
        </p:blipFill>
        <p:spPr bwMode="auto">
          <a:xfrm>
            <a:off x="489857" y="1644422"/>
            <a:ext cx="1043982" cy="237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earables: o que é e como melhoram a saúde na empresa? - Clinimed - Saúde e  Segurança do Trabalho">
            <a:extLst>
              <a:ext uri="{FF2B5EF4-FFF2-40B4-BE49-F238E27FC236}">
                <a16:creationId xmlns:a16="http://schemas.microsoft.com/office/drawing/2014/main" id="{24AA3617-F32F-44ED-9CFC-F21798417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032" y="1786699"/>
            <a:ext cx="2710543" cy="1805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est Examples of IoT (Internet of Things) |MicroAI™">
            <a:extLst>
              <a:ext uri="{FF2B5EF4-FFF2-40B4-BE49-F238E27FC236}">
                <a16:creationId xmlns:a16="http://schemas.microsoft.com/office/drawing/2014/main" id="{56E4C64C-6561-FD3C-32D8-3F0951C5B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005" y="4017508"/>
            <a:ext cx="3951514" cy="257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463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1A6A-E881-5560-EC0D-B24CF53C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8B8E-D404-6B71-204B-63DE4DB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Motivação: Modelos mais eficientes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96B09-0C23-86B0-4D9A-BA68F35ED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971" y="1825624"/>
            <a:ext cx="6901543" cy="5032375"/>
          </a:xfrm>
        </p:spPr>
        <p:txBody>
          <a:bodyPr>
            <a:normAutofit/>
          </a:bodyPr>
          <a:lstStyle/>
          <a:p>
            <a:r>
              <a:rPr lang="pt-BR" dirty="0"/>
              <a:t>Esses dispositivos são caracterizados por: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Baixa capacidade de processamento: </a:t>
            </a:r>
            <a:r>
              <a:rPr lang="pt-BR" dirty="0"/>
              <a:t>microcontroladores ou processadores com poder de computação reduzido.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Memória restrita:</a:t>
            </a:r>
            <a:r>
              <a:rPr lang="pt-BR" dirty="0"/>
              <a:t> pouca memória RAM e não volátil.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Baixo consumo de energia:</a:t>
            </a:r>
            <a:r>
              <a:rPr lang="pt-BR" dirty="0"/>
              <a:t> devem ser energeticamente eficientes, sendo muitas vezes alimentados por baterias.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Recursos de hardware simples:</a:t>
            </a:r>
            <a:r>
              <a:rPr lang="pt-BR" dirty="0"/>
              <a:t> dispõem de periféricos básicos e conectividade limitada.</a:t>
            </a:r>
          </a:p>
        </p:txBody>
      </p:sp>
      <p:pic>
        <p:nvPicPr>
          <p:cNvPr id="2050" name="Picture 2" descr="Smartphone Samsung Galaxy A15 4G 128GB 4GB RAM Tela Super Amoled FHD de  6.5&quot; Verde Claro">
            <a:extLst>
              <a:ext uri="{FF2B5EF4-FFF2-40B4-BE49-F238E27FC236}">
                <a16:creationId xmlns:a16="http://schemas.microsoft.com/office/drawing/2014/main" id="{FE8D6CBA-692D-69E0-53FB-CB2DFE2FE4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0" t="7301" r="30953" b="6825"/>
          <a:stretch/>
        </p:blipFill>
        <p:spPr bwMode="auto">
          <a:xfrm>
            <a:off x="489857" y="1644422"/>
            <a:ext cx="1043982" cy="237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earables: o que é e como melhoram a saúde na empresa? - Clinimed - Saúde e  Segurança do Trabalho">
            <a:extLst>
              <a:ext uri="{FF2B5EF4-FFF2-40B4-BE49-F238E27FC236}">
                <a16:creationId xmlns:a16="http://schemas.microsoft.com/office/drawing/2014/main" id="{942026DA-196A-0824-0731-6136B470E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632" y="1928015"/>
            <a:ext cx="2710543" cy="1805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est Examples of IoT (Internet of Things) |MicroAI™">
            <a:extLst>
              <a:ext uri="{FF2B5EF4-FFF2-40B4-BE49-F238E27FC236}">
                <a16:creationId xmlns:a16="http://schemas.microsoft.com/office/drawing/2014/main" id="{71AE2423-8224-1960-6428-9E7C009F0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91" y="4168351"/>
            <a:ext cx="3951514" cy="257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394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6D4E-037C-BCBE-2A62-A3A8F0C39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Motivação: Modelos mais eficientes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634BB-0CE1-AAF8-D947-BB82825D1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1486" y="1825624"/>
            <a:ext cx="7217228" cy="5032375"/>
          </a:xfrm>
        </p:spPr>
        <p:txBody>
          <a:bodyPr>
            <a:normAutofit/>
          </a:bodyPr>
          <a:lstStyle/>
          <a:p>
            <a:r>
              <a:rPr lang="pt-BR" dirty="0"/>
              <a:t>Nesse contexto, surgem os paradigmas </a:t>
            </a:r>
            <a:r>
              <a:rPr lang="pt-BR" dirty="0" err="1"/>
              <a:t>edge</a:t>
            </a:r>
            <a:r>
              <a:rPr lang="pt-BR" dirty="0"/>
              <a:t> e tinyML.</a:t>
            </a:r>
          </a:p>
          <a:p>
            <a:r>
              <a:rPr lang="pt-BR" dirty="0"/>
              <a:t>Eles buscam </a:t>
            </a:r>
            <a:r>
              <a:rPr lang="pt-BR" b="1" i="1" dirty="0">
                <a:solidFill>
                  <a:schemeClr val="accent5"/>
                </a:solidFill>
              </a:rPr>
              <a:t>adaptar técnicas de ML para ambientes restritos</a:t>
            </a:r>
            <a:r>
              <a:rPr lang="pt-BR" dirty="0"/>
              <a:t>, permitindo a implementação de </a:t>
            </a:r>
            <a:r>
              <a:rPr lang="pt-BR" b="1" i="1" dirty="0">
                <a:solidFill>
                  <a:srgbClr val="00B050"/>
                </a:solidFill>
              </a:rPr>
              <a:t>modelos otimizados e eficientes</a:t>
            </a:r>
            <a:r>
              <a:rPr lang="pt-BR" dirty="0"/>
              <a:t> que podem ser executados localmente com baixo consumo de energia e memória.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tinyML também é conhecido como </a:t>
            </a:r>
            <a:r>
              <a:rPr lang="pt-BR" dirty="0" err="1"/>
              <a:t>embeddedML</a:t>
            </a:r>
            <a:r>
              <a:rPr lang="pt-BR" dirty="0"/>
              <a:t>.</a:t>
            </a: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6E3023F3-C9EA-2DEE-75B8-501543590464}"/>
              </a:ext>
            </a:extLst>
          </p:cNvPr>
          <p:cNvGrpSpPr/>
          <p:nvPr/>
        </p:nvGrpSpPr>
        <p:grpSpPr>
          <a:xfrm>
            <a:off x="424563" y="1521227"/>
            <a:ext cx="4103894" cy="4449134"/>
            <a:chOff x="9115425" y="2991824"/>
            <a:chExt cx="2743200" cy="3131657"/>
          </a:xfrm>
        </p:grpSpPr>
        <p:pic>
          <p:nvPicPr>
            <p:cNvPr id="7" name="Picture 3" descr="How can TinyML support sustainability on the edge?">
              <a:extLst>
                <a:ext uri="{FF2B5EF4-FFF2-40B4-BE49-F238E27FC236}">
                  <a16:creationId xmlns:a16="http://schemas.microsoft.com/office/drawing/2014/main" id="{D2031E8C-573C-E22D-DA9F-CBCE7E3C1B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597"/>
            <a:stretch/>
          </p:blipFill>
          <p:spPr>
            <a:xfrm>
              <a:off x="9115425" y="3182325"/>
              <a:ext cx="2743200" cy="2941156"/>
            </a:xfrm>
            <a:prstGeom prst="rect">
              <a:avLst/>
            </a:prstGeom>
          </p:spPr>
        </p:pic>
        <p:pic>
          <p:nvPicPr>
            <p:cNvPr id="8" name="Picture 4" descr="How can TinyML support sustainability on the edge?">
              <a:extLst>
                <a:ext uri="{FF2B5EF4-FFF2-40B4-BE49-F238E27FC236}">
                  <a16:creationId xmlns:a16="http://schemas.microsoft.com/office/drawing/2014/main" id="{A34A5DA2-016B-F56C-2194-2789693343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1111" b="81150"/>
            <a:stretch/>
          </p:blipFill>
          <p:spPr>
            <a:xfrm>
              <a:off x="10039350" y="2991824"/>
              <a:ext cx="1066809" cy="563402"/>
            </a:xfrm>
            <a:prstGeom prst="rect">
              <a:avLst/>
            </a:prstGeom>
          </p:spPr>
        </p:pic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3881ECE5-B29F-71DE-5464-A29D9F5CAE50}"/>
                </a:ext>
              </a:extLst>
            </p:cNvPr>
            <p:cNvSpPr txBox="1"/>
            <p:nvPr/>
          </p:nvSpPr>
          <p:spPr>
            <a:xfrm>
              <a:off x="9620250" y="3371849"/>
              <a:ext cx="1790700" cy="26538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 dirty="0">
                  <a:ea typeface="Calibri"/>
                  <a:cs typeface="Calibri"/>
                </a:rPr>
                <a:t>Edge/TinyML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16686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2273-8113-CFB3-60C2-467E228B8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do curso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45AA7-CBAA-3AD2-FAF8-FC8D08FAC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57857" cy="5032375"/>
          </a:xfrm>
        </p:spPr>
        <p:txBody>
          <a:bodyPr/>
          <a:lstStyle/>
          <a:p>
            <a:r>
              <a:rPr lang="pt-BR" dirty="0"/>
              <a:t>Apresentar os </a:t>
            </a:r>
            <a:r>
              <a:rPr lang="pt-BR" b="1" i="1" dirty="0">
                <a:solidFill>
                  <a:srgbClr val="00B050"/>
                </a:solidFill>
              </a:rPr>
              <a:t>principais algoritmos e técnicas de aprendizado de máquina</a:t>
            </a:r>
            <a:r>
              <a:rPr lang="pt-BR" dirty="0"/>
              <a:t> (em inglês, Machine Learning, ML) aplicados a </a:t>
            </a:r>
            <a:r>
              <a:rPr lang="pt-BR" b="1" i="1" dirty="0">
                <a:solidFill>
                  <a:srgbClr val="7030A0"/>
                </a:solidFill>
              </a:rPr>
              <a:t>dispositivos com recursos computacionais limitados</a:t>
            </a:r>
            <a:r>
              <a:rPr lang="pt-BR" dirty="0"/>
              <a:t>. </a:t>
            </a:r>
          </a:p>
          <a:p>
            <a:r>
              <a:rPr lang="pt-BR" dirty="0"/>
              <a:t>O curso terá duas partes, uma introdutória e outra prática.</a:t>
            </a:r>
          </a:p>
          <a:p>
            <a:r>
              <a:rPr lang="pt-BR" dirty="0"/>
              <a:t>A primeira parte conterá aulas introdutórias sobre dispositivos embarcados, IoT e ML.</a:t>
            </a:r>
          </a:p>
          <a:p>
            <a:r>
              <a:rPr lang="pt-BR" dirty="0"/>
              <a:t>A segunda parte conterá laboratórios e estudos dirigidos para fixação dos conceitos introduzidos, além de um projeto final. </a:t>
            </a:r>
          </a:p>
          <a:p>
            <a:r>
              <a:rPr lang="pt-BR" dirty="0"/>
              <a:t>Ao final do curso, vocês deverão ser capazes de entender e aplicar os principais algoritmos e técnicas de ML em aplicações práticas utilizando dispositivos com restrições computacionais.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235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CA0D4-C580-C39C-45B6-2E80C5506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 de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80EE0-7874-8A7A-E43C-1E4F0AABE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68743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Grande parte do curso necessitará de conhecimentos sobre a linguagem de programação Python, os quais eu assumo que vocês já têm. </a:t>
            </a:r>
          </a:p>
          <a:p>
            <a:r>
              <a:rPr lang="pt-BR" dirty="0"/>
              <a:t>Assim, como primeira atividade, peço que vocês resolvam alguns exercícios sobre programação Python como forma de avaliar </a:t>
            </a:r>
            <a:r>
              <a:rPr lang="pt-BR"/>
              <a:t>seus conhecimentos.</a:t>
            </a:r>
            <a:endParaRPr lang="pt-BR" dirty="0"/>
          </a:p>
          <a:p>
            <a:r>
              <a:rPr lang="pt-BR" dirty="0"/>
              <a:t>Caso vocês sintam dificuldades em resolvê-los, me procurem, pois posso sugerir cursos e livros. </a:t>
            </a:r>
          </a:p>
          <a:p>
            <a:r>
              <a:rPr lang="pt-BR" b="1" dirty="0">
                <a:solidFill>
                  <a:srgbClr val="00B050"/>
                </a:solidFill>
              </a:rPr>
              <a:t>Estes exercícios valem nota. </a:t>
            </a:r>
          </a:p>
          <a:p>
            <a:r>
              <a:rPr lang="pt-BR" dirty="0"/>
              <a:t>O link para resolução dos exercícios via Google </a:t>
            </a:r>
            <a:r>
              <a:rPr lang="pt-BR" dirty="0" err="1"/>
              <a:t>Colab</a:t>
            </a:r>
            <a:r>
              <a:rPr lang="pt-BR" dirty="0"/>
              <a:t> segue abaixo: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2"/>
              </a:rPr>
              <a:t>https://colab.research.google.com/github/zz4fap/tp557-iot-ml/blob/main/exercises/Exerc%C3%ADcios_sobre_Programa%C3%A7%C3%A3o_em_Python.ipynb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3172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27B04-EDC8-506A-E372-8E3D29694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Motivação: Quantidade</a:t>
            </a:r>
          </a:p>
        </p:txBody>
      </p:sp>
      <p:pic>
        <p:nvPicPr>
          <p:cNvPr id="1030" name="Picture 6" descr="IoT: Number of devices worldwide from 2015 to 2025 [5]. | Download  Scientific Diagram">
            <a:extLst>
              <a:ext uri="{FF2B5EF4-FFF2-40B4-BE49-F238E27FC236}">
                <a16:creationId xmlns:a16="http://schemas.microsoft.com/office/drawing/2014/main" id="{F3F884FF-BCA3-0579-98F6-EACC2208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18" y="1659184"/>
            <a:ext cx="5041694" cy="344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5F6DE8E-6C67-AF3C-84C2-40EB7C820E17}"/>
              </a:ext>
            </a:extLst>
          </p:cNvPr>
          <p:cNvSpPr txBox="1"/>
          <p:nvPr/>
        </p:nvSpPr>
        <p:spPr>
          <a:xfrm>
            <a:off x="915318" y="5253406"/>
            <a:ext cx="110154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Estima-se que teremos </a:t>
            </a:r>
            <a:r>
              <a:rPr lang="pt-BR" sz="2400" b="1" i="1" dirty="0"/>
              <a:t>mais de 75 bilhões de dispositivos </a:t>
            </a:r>
            <a:r>
              <a:rPr lang="pt-BR" sz="2400" dirty="0" err="1"/>
              <a:t>IoT</a:t>
            </a:r>
            <a:r>
              <a:rPr lang="pt-BR" sz="2400" dirty="0"/>
              <a:t> até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 grande maioria desses dispositivos estão </a:t>
            </a:r>
            <a:r>
              <a:rPr lang="pt-BR" sz="2400" b="1" i="1" dirty="0">
                <a:solidFill>
                  <a:srgbClr val="7030A0"/>
                </a:solidFill>
              </a:rPr>
              <a:t>equipados com microprocessadores ou microcontroladores, (vários) sensores e atuadores</a:t>
            </a:r>
            <a:r>
              <a:rPr lang="pt-BR" sz="2400" dirty="0"/>
              <a:t>.</a:t>
            </a:r>
          </a:p>
        </p:txBody>
      </p:sp>
      <p:pic>
        <p:nvPicPr>
          <p:cNvPr id="1032" name="Picture 8" descr="Iot Devices Vector Art, Icons, and Graphics for Free Download">
            <a:extLst>
              <a:ext uri="{FF2B5EF4-FFF2-40B4-BE49-F238E27FC236}">
                <a16:creationId xmlns:a16="http://schemas.microsoft.com/office/drawing/2014/main" id="{23011677-7BE3-E698-3B45-D57CAE72BE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5" t="7998" r="4807" b="9554"/>
          <a:stretch/>
        </p:blipFill>
        <p:spPr bwMode="auto">
          <a:xfrm>
            <a:off x="6507159" y="2163311"/>
            <a:ext cx="5123822" cy="2531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933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4841C-4299-2191-5C73-93786EC8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Motivação: Economia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A59D579-05D4-754A-483A-8159851A296C}"/>
              </a:ext>
            </a:extLst>
          </p:cNvPr>
          <p:cNvSpPr/>
          <p:nvPr/>
        </p:nvSpPr>
        <p:spPr>
          <a:xfrm>
            <a:off x="1257645" y="1917962"/>
            <a:ext cx="1938968" cy="1916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BIG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24AC299-C65E-8012-7173-DBCB5EC027DC}"/>
              </a:ext>
            </a:extLst>
          </p:cNvPr>
          <p:cNvSpPr/>
          <p:nvPr/>
        </p:nvSpPr>
        <p:spPr>
          <a:xfrm>
            <a:off x="4512954" y="2348715"/>
            <a:ext cx="1000698" cy="95846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SMALL</a:t>
            </a:r>
            <a:endParaRPr lang="pt-BR" b="1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E5BD67E-AAA3-EBBF-2808-E96858602BF6}"/>
              </a:ext>
            </a:extLst>
          </p:cNvPr>
          <p:cNvSpPr>
            <a:spLocks noChangeAspect="1"/>
          </p:cNvSpPr>
          <p:nvPr/>
        </p:nvSpPr>
        <p:spPr>
          <a:xfrm>
            <a:off x="9984451" y="2790045"/>
            <a:ext cx="216015" cy="2160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0622FF-E792-CC24-CE67-2491AD048C3E}"/>
              </a:ext>
            </a:extLst>
          </p:cNvPr>
          <p:cNvSpPr txBox="1"/>
          <p:nvPr/>
        </p:nvSpPr>
        <p:spPr>
          <a:xfrm>
            <a:off x="838200" y="5538072"/>
            <a:ext cx="11081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2400"/>
            </a:lvl1pPr>
          </a:lstStyle>
          <a:p>
            <a:r>
              <a:rPr lang="pt-BR" dirty="0"/>
              <a:t>Se comparados com servidores, equipados com dezenas de CPUs e </a:t>
            </a:r>
            <a:r>
              <a:rPr lang="pt-BR" dirty="0" err="1"/>
              <a:t>GPUs</a:t>
            </a:r>
            <a:r>
              <a:rPr lang="pt-BR" dirty="0"/>
              <a:t>, os </a:t>
            </a:r>
            <a:r>
              <a:rPr lang="pt-BR" b="1" i="1" dirty="0">
                <a:solidFill>
                  <a:srgbClr val="7030A0"/>
                </a:solidFill>
              </a:rPr>
              <a:t>processadores e microcontroladores</a:t>
            </a:r>
            <a:r>
              <a:rPr lang="pt-BR" dirty="0"/>
              <a:t> desses dispositivos </a:t>
            </a:r>
            <a:r>
              <a:rPr lang="pt-BR" b="1" i="1" dirty="0">
                <a:solidFill>
                  <a:srgbClr val="00B050"/>
                </a:solidFill>
              </a:rPr>
              <a:t>são muito menores e consomem muito menos energia e são mais baratos</a:t>
            </a:r>
            <a:r>
              <a:rPr lang="pt-BR" dirty="0"/>
              <a:t>, devido a alta demanda.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26E21B3-272D-C86A-74CC-113F56E5F61E}"/>
              </a:ext>
            </a:extLst>
          </p:cNvPr>
          <p:cNvSpPr txBox="1"/>
          <p:nvPr/>
        </p:nvSpPr>
        <p:spPr>
          <a:xfrm>
            <a:off x="1092392" y="4066659"/>
            <a:ext cx="21042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NVIDIA Ampere A100</a:t>
            </a:r>
          </a:p>
          <a:p>
            <a:pPr algn="ctr"/>
            <a:r>
              <a:rPr lang="pt-BR" sz="1600" dirty="0" err="1"/>
              <a:t>Graphics</a:t>
            </a:r>
            <a:r>
              <a:rPr lang="pt-BR" sz="1600" dirty="0"/>
              <a:t> </a:t>
            </a:r>
            <a:r>
              <a:rPr lang="pt-BR" sz="1600" dirty="0" err="1"/>
              <a:t>Processing</a:t>
            </a:r>
            <a:r>
              <a:rPr lang="pt-BR" sz="1600" dirty="0"/>
              <a:t> Unit (GPU)</a:t>
            </a:r>
          </a:p>
          <a:p>
            <a:pPr algn="ctr"/>
            <a:r>
              <a:rPr lang="pt-BR" sz="1600" dirty="0"/>
              <a:t>400 Watts</a:t>
            </a:r>
          </a:p>
          <a:p>
            <a:pPr algn="ctr"/>
            <a:r>
              <a:rPr lang="pt-BR" sz="1600" dirty="0"/>
              <a:t>826 mm</a:t>
            </a:r>
            <a:r>
              <a:rPr lang="pt-BR" sz="1600" baseline="30000" dirty="0"/>
              <a:t>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40C744-9DD5-5037-A010-F972A265AB02}"/>
              </a:ext>
            </a:extLst>
          </p:cNvPr>
          <p:cNvSpPr txBox="1"/>
          <p:nvPr/>
        </p:nvSpPr>
        <p:spPr>
          <a:xfrm>
            <a:off x="3831001" y="3438593"/>
            <a:ext cx="23815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Apple A12 (iPhone)</a:t>
            </a:r>
          </a:p>
          <a:p>
            <a:pPr algn="ctr"/>
            <a:r>
              <a:rPr lang="pt-BR" sz="1600" dirty="0"/>
              <a:t>System </a:t>
            </a:r>
            <a:r>
              <a:rPr lang="pt-BR" sz="1600" dirty="0" err="1"/>
              <a:t>on</a:t>
            </a:r>
            <a:r>
              <a:rPr lang="pt-BR" sz="1600" dirty="0"/>
              <a:t> a chip (</a:t>
            </a:r>
            <a:r>
              <a:rPr lang="pt-BR" sz="1600" dirty="0" err="1"/>
              <a:t>SoC</a:t>
            </a:r>
            <a:r>
              <a:rPr lang="pt-BR" sz="1600" dirty="0"/>
              <a:t>): CPUs, GPU e </a:t>
            </a:r>
            <a:r>
              <a:rPr lang="pt-BR" sz="1600" dirty="0" err="1"/>
              <a:t>Video</a:t>
            </a:r>
            <a:r>
              <a:rPr lang="pt-BR" sz="1600" dirty="0"/>
              <a:t> Codec</a:t>
            </a:r>
          </a:p>
          <a:p>
            <a:pPr algn="ctr"/>
            <a:r>
              <a:rPr lang="pt-BR" sz="1600" dirty="0"/>
              <a:t>3.64 Watts</a:t>
            </a:r>
          </a:p>
          <a:p>
            <a:pPr algn="ctr"/>
            <a:r>
              <a:rPr lang="pt-BR" sz="1600" dirty="0"/>
              <a:t>83 mm</a:t>
            </a:r>
            <a:r>
              <a:rPr lang="pt-BR" sz="1600" baseline="30000" dirty="0"/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AB48836-F0B5-8D90-BE19-F533355B6DF7}"/>
              </a:ext>
            </a:extLst>
          </p:cNvPr>
          <p:cNvSpPr>
            <a:spLocks/>
          </p:cNvSpPr>
          <p:nvPr/>
        </p:nvSpPr>
        <p:spPr>
          <a:xfrm>
            <a:off x="7341683" y="2541507"/>
            <a:ext cx="572400" cy="57288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b="1" dirty="0"/>
              <a:t>SMALLER</a:t>
            </a:r>
            <a:endParaRPr lang="pt-BR" sz="600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93657CC-D24E-7FCF-9E61-DA5AFDBCF734}"/>
              </a:ext>
            </a:extLst>
          </p:cNvPr>
          <p:cNvSpPr txBox="1"/>
          <p:nvPr/>
        </p:nvSpPr>
        <p:spPr>
          <a:xfrm>
            <a:off x="6519391" y="3234732"/>
            <a:ext cx="22169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Apple APL0778 (iWatch)</a:t>
            </a:r>
          </a:p>
          <a:p>
            <a:pPr algn="ctr"/>
            <a:r>
              <a:rPr lang="pt-BR" sz="1600" dirty="0" err="1"/>
              <a:t>Application</a:t>
            </a:r>
            <a:r>
              <a:rPr lang="pt-BR" sz="1600" dirty="0"/>
              <a:t> Processor Unit (APU): CPU+GPU</a:t>
            </a:r>
          </a:p>
          <a:p>
            <a:pPr algn="ctr"/>
            <a:r>
              <a:rPr lang="pt-BR" sz="1600" dirty="0"/>
              <a:t>&lt; 0.78 Watts</a:t>
            </a:r>
          </a:p>
          <a:p>
            <a:pPr algn="ctr"/>
            <a:r>
              <a:rPr lang="pt-BR" sz="1600" dirty="0"/>
              <a:t>32 mm</a:t>
            </a:r>
            <a:r>
              <a:rPr lang="pt-BR" sz="1600" baseline="30000" dirty="0"/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EBFF026-C988-8298-D60E-73137C7C9172}"/>
              </a:ext>
            </a:extLst>
          </p:cNvPr>
          <p:cNvSpPr txBox="1"/>
          <p:nvPr/>
        </p:nvSpPr>
        <p:spPr>
          <a:xfrm>
            <a:off x="9767460" y="2378381"/>
            <a:ext cx="649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Tiny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86F4CBF0-1590-725E-12CE-046A2A371537}"/>
                  </a:ext>
                </a:extLst>
              </p:cNvPr>
              <p:cNvSpPr txBox="1"/>
              <p:nvPr/>
            </p:nvSpPr>
            <p:spPr>
              <a:xfrm>
                <a:off x="9043217" y="3187096"/>
                <a:ext cx="209848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dirty="0" err="1"/>
                  <a:t>Syntiant</a:t>
                </a:r>
                <a:r>
                  <a:rPr lang="pt-BR" sz="1600" dirty="0"/>
                  <a:t> NDP100</a:t>
                </a:r>
              </a:p>
              <a:p>
                <a:pPr algn="ctr"/>
                <a:r>
                  <a:rPr lang="pt-BR" sz="1600" dirty="0"/>
                  <a:t>Neural </a:t>
                </a:r>
                <a:r>
                  <a:rPr lang="pt-BR" sz="1600" dirty="0" err="1"/>
                  <a:t>Decision</a:t>
                </a:r>
                <a:r>
                  <a:rPr lang="pt-BR" sz="1600" dirty="0"/>
                  <a:t> Processor (NDP)</a:t>
                </a:r>
              </a:p>
              <a:p>
                <a:pPr algn="ctr"/>
                <a:r>
                  <a:rPr lang="pt-BR" sz="1600" dirty="0"/>
                  <a:t>140 </a:t>
                </a:r>
                <a14:m>
                  <m:oMath xmlns:m="http://schemas.openxmlformats.org/officeDocument/2006/math">
                    <m:r>
                      <a:rPr lang="pt-B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1600" dirty="0"/>
                  <a:t>Watts</a:t>
                </a:r>
              </a:p>
              <a:p>
                <a:pPr algn="ctr"/>
                <a:r>
                  <a:rPr lang="pt-BR" sz="1600" dirty="0"/>
                  <a:t>2.52 mm</a:t>
                </a:r>
                <a:r>
                  <a:rPr lang="pt-BR" sz="1600" baseline="30000" dirty="0"/>
                  <a:t>2</a:t>
                </a: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86F4CBF0-1590-725E-12CE-046A2A371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217" y="3187096"/>
                <a:ext cx="2098484" cy="1323439"/>
              </a:xfrm>
              <a:prstGeom prst="rect">
                <a:avLst/>
              </a:prstGeom>
              <a:blipFill>
                <a:blip r:embed="rId3"/>
                <a:stretch>
                  <a:fillRect t="-1382" b="-50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3807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46696-12F2-61EF-7A75-4297F046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Motivação: Baixo consumo de energia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1D82CF-BED8-F616-3136-FEF0AD9F9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5519" y="1563734"/>
            <a:ext cx="6073593" cy="5294266"/>
          </a:xfrm>
        </p:spPr>
        <p:txBody>
          <a:bodyPr>
            <a:normAutofit/>
          </a:bodyPr>
          <a:lstStyle/>
          <a:p>
            <a:r>
              <a:rPr lang="pt-BR" dirty="0"/>
              <a:t>O baixíssimo consumo de energia possibilita que os dispositivos: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Funcionem por longos períodos </a:t>
            </a:r>
            <a:r>
              <a:rPr lang="pt-BR" dirty="0"/>
              <a:t>de tempo sem trocar a bateria (e.g., anos);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 executem aplicações “</a:t>
            </a:r>
            <a:r>
              <a:rPr lang="pt-BR" b="1" i="1" dirty="0"/>
              <a:t>Always </a:t>
            </a:r>
            <a:r>
              <a:rPr lang="pt-BR" b="1" i="1" dirty="0" err="1"/>
              <a:t>On</a:t>
            </a:r>
            <a:r>
              <a:rPr lang="pt-BR" dirty="0"/>
              <a:t>”: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pt-BR" b="1" i="1" dirty="0">
                <a:solidFill>
                  <a:schemeClr val="accent1"/>
                </a:solidFill>
                <a:effectLst/>
                <a:latin typeface="Söhne"/>
              </a:rPr>
              <a:t>Aplicação constantemente ativa e monitorando o ambiente ao seu redor</a:t>
            </a:r>
            <a:r>
              <a:rPr lang="pt-BR" b="0" i="0" dirty="0">
                <a:effectLst/>
                <a:latin typeface="Söhne"/>
              </a:rPr>
              <a:t>, coletando informações, as processando e respondendo em tempo real, sem interrupção.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pt-BR" b="0" i="0" dirty="0">
                <a:effectLst/>
                <a:latin typeface="Söhne"/>
              </a:rPr>
              <a:t>Característica muito importante em aplicações que exigem monitoramento constante, como sistemas de </a:t>
            </a:r>
            <a:r>
              <a:rPr lang="pt-BR" b="1" i="1" dirty="0">
                <a:solidFill>
                  <a:srgbClr val="00B050"/>
                </a:solidFill>
                <a:effectLst/>
                <a:latin typeface="Söhne"/>
              </a:rPr>
              <a:t>segurança</a:t>
            </a:r>
            <a:r>
              <a:rPr lang="pt-BR" b="0" i="0" dirty="0">
                <a:effectLst/>
                <a:latin typeface="Söhne"/>
              </a:rPr>
              <a:t>, </a:t>
            </a:r>
            <a:r>
              <a:rPr lang="pt-BR" b="1" i="1" dirty="0">
                <a:solidFill>
                  <a:srgbClr val="00B050"/>
                </a:solidFill>
                <a:effectLst/>
                <a:latin typeface="Söhne"/>
              </a:rPr>
              <a:t>monitoramento de saúde</a:t>
            </a:r>
            <a:r>
              <a:rPr lang="pt-BR" b="0" i="0" dirty="0">
                <a:effectLst/>
                <a:latin typeface="Söhne"/>
              </a:rPr>
              <a:t>, sistemas de </a:t>
            </a:r>
            <a:r>
              <a:rPr lang="pt-BR" b="1" i="1" dirty="0">
                <a:solidFill>
                  <a:srgbClr val="00B050"/>
                </a:solidFill>
                <a:effectLst/>
                <a:latin typeface="Söhne"/>
              </a:rPr>
              <a:t>automação industrial</a:t>
            </a:r>
            <a:r>
              <a:rPr lang="pt-BR" b="1" i="1" dirty="0">
                <a:effectLst/>
                <a:latin typeface="Söhne"/>
              </a:rPr>
              <a:t> </a:t>
            </a:r>
            <a:r>
              <a:rPr lang="pt-BR" b="0" i="0" dirty="0">
                <a:effectLst/>
                <a:latin typeface="Söhne"/>
              </a:rPr>
              <a:t>ou dispositivos de </a:t>
            </a:r>
            <a:r>
              <a:rPr lang="pt-BR" b="1" i="1" dirty="0">
                <a:solidFill>
                  <a:srgbClr val="00B050"/>
                </a:solidFill>
                <a:effectLst/>
                <a:latin typeface="Söhne"/>
              </a:rPr>
              <a:t>assistência virtual</a:t>
            </a:r>
            <a:r>
              <a:rPr lang="pt-BR" b="0" i="0" dirty="0">
                <a:effectLst/>
                <a:latin typeface="Söhne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1F79515-D316-FF09-11A5-BF032941B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762" y="4704966"/>
            <a:ext cx="2638626" cy="1566067"/>
          </a:xfrm>
          <a:prstGeom prst="rect">
            <a:avLst/>
          </a:prstGeom>
        </p:spPr>
      </p:pic>
      <p:pic>
        <p:nvPicPr>
          <p:cNvPr id="2050" name="Picture 2" descr="Em dez anos, hidrelétricas perderão espaço na geração de energia para solar  e eólica - Jornal O Globo">
            <a:extLst>
              <a:ext uri="{FF2B5EF4-FFF2-40B4-BE49-F238E27FC236}">
                <a16:creationId xmlns:a16="http://schemas.microsoft.com/office/drawing/2014/main" id="{D57912AE-0F96-03AE-FE6F-2E1F64637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096" y="1781381"/>
            <a:ext cx="2610111" cy="156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6F2E5C56-E896-A113-1566-E4D63BED93FF}"/>
              </a:ext>
            </a:extLst>
          </p:cNvPr>
          <p:cNvSpPr/>
          <p:nvPr/>
        </p:nvSpPr>
        <p:spPr>
          <a:xfrm>
            <a:off x="2504569" y="3678907"/>
            <a:ext cx="970282" cy="784566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BE5FBC5-5D08-8B79-1ED4-280193F56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34" y="1810980"/>
            <a:ext cx="2293821" cy="153646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B41C41E-44E1-AAE4-BBBA-8C9E99EC8A5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414" t="7138"/>
          <a:stretch/>
        </p:blipFill>
        <p:spPr>
          <a:xfrm>
            <a:off x="90903" y="3005393"/>
            <a:ext cx="604061" cy="505160"/>
          </a:xfrm>
          <a:prstGeom prst="rect">
            <a:avLst/>
          </a:prstGeom>
        </p:spPr>
      </p:pic>
      <p:sp>
        <p:nvSpPr>
          <p:cNvPr id="14" name="Sinal de Adição 13">
            <a:extLst>
              <a:ext uri="{FF2B5EF4-FFF2-40B4-BE49-F238E27FC236}">
                <a16:creationId xmlns:a16="http://schemas.microsoft.com/office/drawing/2014/main" id="{E9D4FB93-64A8-35E9-B9C0-3F4EF7B2B1D7}"/>
              </a:ext>
            </a:extLst>
          </p:cNvPr>
          <p:cNvSpPr>
            <a:spLocks noChangeAspect="1"/>
          </p:cNvSpPr>
          <p:nvPr/>
        </p:nvSpPr>
        <p:spPr>
          <a:xfrm>
            <a:off x="2807937" y="2382899"/>
            <a:ext cx="327852" cy="324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052" name="Picture 4" descr="Freescale makes the world's smallest ARM controller chip even tinier |  Engadget">
            <a:extLst>
              <a:ext uri="{FF2B5EF4-FFF2-40B4-BE49-F238E27FC236}">
                <a16:creationId xmlns:a16="http://schemas.microsoft.com/office/drawing/2014/main" id="{6D25CEC9-7945-E928-01F1-0623AB857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3" y="5235418"/>
            <a:ext cx="925148" cy="50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ano 33 BLE - Arduino | Mouser">
            <a:extLst>
              <a:ext uri="{FF2B5EF4-FFF2-40B4-BE49-F238E27FC236}">
                <a16:creationId xmlns:a16="http://schemas.microsoft.com/office/drawing/2014/main" id="{5389FEB4-2D8F-529D-FB73-67499C698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0" t="5936" r="5152" b="7894"/>
          <a:stretch/>
        </p:blipFill>
        <p:spPr bwMode="auto">
          <a:xfrm>
            <a:off x="553477" y="4778105"/>
            <a:ext cx="2023845" cy="141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inal de Adição 15">
            <a:extLst>
              <a:ext uri="{FF2B5EF4-FFF2-40B4-BE49-F238E27FC236}">
                <a16:creationId xmlns:a16="http://schemas.microsoft.com/office/drawing/2014/main" id="{E07A2B83-D560-9217-CC86-8764D9F0DBF9}"/>
              </a:ext>
            </a:extLst>
          </p:cNvPr>
          <p:cNvSpPr>
            <a:spLocks noChangeAspect="1"/>
          </p:cNvSpPr>
          <p:nvPr/>
        </p:nvSpPr>
        <p:spPr>
          <a:xfrm>
            <a:off x="2705112" y="5325998"/>
            <a:ext cx="327852" cy="324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44D402-28E9-5182-59A7-E1EAEBECB902}"/>
              </a:ext>
            </a:extLst>
          </p:cNvPr>
          <p:cNvSpPr txBox="1"/>
          <p:nvPr/>
        </p:nvSpPr>
        <p:spPr>
          <a:xfrm>
            <a:off x="8647287" y="6596390"/>
            <a:ext cx="3784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hlinkClick r:id="rId9"/>
              </a:rPr>
              <a:t>https://youtube.com/shorts/O8cmpRZ9dOo?feature=share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551455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44FFB-D93C-597D-9494-B2775A53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Motivação: Sensores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0E6030-7E83-E3BE-D0C1-7D6F17DE5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6258"/>
            <a:ext cx="10831286" cy="893761"/>
          </a:xfrm>
        </p:spPr>
        <p:txBody>
          <a:bodyPr>
            <a:normAutofit/>
          </a:bodyPr>
          <a:lstStyle/>
          <a:p>
            <a:r>
              <a:rPr lang="pt-BR" dirty="0"/>
              <a:t>Dispositivos </a:t>
            </a:r>
            <a:r>
              <a:rPr lang="pt-BR" dirty="0" err="1"/>
              <a:t>IoT</a:t>
            </a:r>
            <a:r>
              <a:rPr lang="pt-BR" dirty="0"/>
              <a:t>, também chamados de </a:t>
            </a:r>
            <a:r>
              <a:rPr lang="pt-BR" b="1" i="1" dirty="0" err="1"/>
              <a:t>endpoints</a:t>
            </a:r>
            <a:r>
              <a:rPr lang="pt-BR" dirty="0"/>
              <a:t>, possuem muitas vezes uma grande variedade de sensores! 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0A6EB51-2786-CBB9-9209-CD1D96CC85CB}"/>
              </a:ext>
            </a:extLst>
          </p:cNvPr>
          <p:cNvSpPr/>
          <p:nvPr/>
        </p:nvSpPr>
        <p:spPr>
          <a:xfrm>
            <a:off x="1317173" y="2552019"/>
            <a:ext cx="2884714" cy="11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Sensores de movimento</a:t>
            </a:r>
          </a:p>
          <a:p>
            <a:pPr algn="ctr"/>
            <a:r>
              <a:rPr lang="pt-BR" sz="1600" dirty="0"/>
              <a:t>Giroscópios, radares (e.g., </a:t>
            </a:r>
            <a:r>
              <a:rPr lang="pt-BR" sz="1600" dirty="0" err="1"/>
              <a:t>LiDAR</a:t>
            </a:r>
            <a:r>
              <a:rPr lang="pt-BR" sz="1600" dirty="0"/>
              <a:t>), magnetômetros, acelerômetros.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E80B00-DC45-9863-F348-BBC79418B748}"/>
              </a:ext>
            </a:extLst>
          </p:cNvPr>
          <p:cNvSpPr/>
          <p:nvPr/>
        </p:nvSpPr>
        <p:spPr>
          <a:xfrm>
            <a:off x="4561116" y="2552019"/>
            <a:ext cx="2884714" cy="11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Sensores de acústicos</a:t>
            </a:r>
          </a:p>
          <a:p>
            <a:pPr algn="ctr"/>
            <a:r>
              <a:rPr lang="pt-BR" sz="1600" dirty="0"/>
              <a:t>Microfones, ultrassônicos, vibrômetros, </a:t>
            </a:r>
            <a:r>
              <a:rPr lang="pt-BR" sz="1600" dirty="0" err="1"/>
              <a:t>geofones</a:t>
            </a:r>
            <a:r>
              <a:rPr lang="pt-BR" sz="1600" dirty="0"/>
              <a:t>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EB67006-C578-226D-F9A5-A05843B0EBEA}"/>
              </a:ext>
            </a:extLst>
          </p:cNvPr>
          <p:cNvSpPr/>
          <p:nvPr/>
        </p:nvSpPr>
        <p:spPr>
          <a:xfrm>
            <a:off x="7805059" y="2584450"/>
            <a:ext cx="2884714" cy="11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Sensores ambientais</a:t>
            </a:r>
          </a:p>
          <a:p>
            <a:pPr algn="ctr"/>
            <a:r>
              <a:rPr lang="pt-BR" sz="1600" dirty="0"/>
              <a:t>Temperatura, humidade, pressão, </a:t>
            </a:r>
            <a:r>
              <a:rPr lang="pt-BR" sz="1600" dirty="0" err="1"/>
              <a:t>infra-vermelho</a:t>
            </a:r>
            <a:r>
              <a:rPr lang="pt-BR" sz="1600" dirty="0"/>
              <a:t>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AC33564-A76F-93DB-6F5B-8EE1EABAFB3C}"/>
              </a:ext>
            </a:extLst>
          </p:cNvPr>
          <p:cNvSpPr/>
          <p:nvPr/>
        </p:nvSpPr>
        <p:spPr>
          <a:xfrm>
            <a:off x="1317173" y="4014560"/>
            <a:ext cx="2884714" cy="11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Sensores de toque</a:t>
            </a:r>
          </a:p>
          <a:p>
            <a:pPr algn="ctr"/>
            <a:r>
              <a:rPr lang="pt-BR" sz="1600" dirty="0"/>
              <a:t>Capacitivos e Resistivos.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66E16F8-FFA3-C7BB-4739-D165896433B9}"/>
              </a:ext>
            </a:extLst>
          </p:cNvPr>
          <p:cNvSpPr/>
          <p:nvPr/>
        </p:nvSpPr>
        <p:spPr>
          <a:xfrm>
            <a:off x="4545468" y="4010705"/>
            <a:ext cx="2884714" cy="11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Sensores de imagem</a:t>
            </a:r>
          </a:p>
          <a:p>
            <a:pPr algn="ctr"/>
            <a:r>
              <a:rPr lang="pt-BR" sz="1600" dirty="0"/>
              <a:t>RGB, Térmicos, </a:t>
            </a:r>
            <a:r>
              <a:rPr lang="pt-BR" sz="1600" dirty="0" err="1"/>
              <a:t>LiDAR</a:t>
            </a:r>
            <a:r>
              <a:rPr lang="pt-BR" sz="1600" dirty="0"/>
              <a:t>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E0F2DC8-F713-4113-1207-883B58C6A85F}"/>
              </a:ext>
            </a:extLst>
          </p:cNvPr>
          <p:cNvSpPr/>
          <p:nvPr/>
        </p:nvSpPr>
        <p:spPr>
          <a:xfrm>
            <a:off x="7805059" y="4006851"/>
            <a:ext cx="2884714" cy="11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Sensores biométricos</a:t>
            </a:r>
          </a:p>
          <a:p>
            <a:pPr algn="ctr"/>
            <a:r>
              <a:rPr lang="pt-BR" sz="1600" dirty="0"/>
              <a:t>impressão digital, batimento cardíaco, glicose.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4633CC9-7BD1-1050-083B-B17AAA9502D9}"/>
              </a:ext>
            </a:extLst>
          </p:cNvPr>
          <p:cNvSpPr/>
          <p:nvPr/>
        </p:nvSpPr>
        <p:spPr>
          <a:xfrm>
            <a:off x="2933701" y="5331505"/>
            <a:ext cx="2884714" cy="11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Sensores de força</a:t>
            </a:r>
          </a:p>
          <a:p>
            <a:pPr algn="ctr"/>
            <a:r>
              <a:rPr lang="pt-BR" sz="1600" dirty="0"/>
              <a:t>Pressão, deformação/tensão.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63C1DBF-E801-9D6B-22E2-AD53B7061D61}"/>
              </a:ext>
            </a:extLst>
          </p:cNvPr>
          <p:cNvSpPr/>
          <p:nvPr/>
        </p:nvSpPr>
        <p:spPr>
          <a:xfrm>
            <a:off x="6362702" y="5360760"/>
            <a:ext cx="2884714" cy="11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Sensores de rotação</a:t>
            </a:r>
          </a:p>
          <a:p>
            <a:pPr algn="ctr"/>
            <a:r>
              <a:rPr lang="pt-BR" sz="1600" dirty="0" err="1"/>
              <a:t>Encoders</a:t>
            </a:r>
            <a:r>
              <a:rPr lang="pt-BR" sz="1600" dirty="0"/>
              <a:t> rotativos, potenciômetros</a:t>
            </a:r>
            <a:r>
              <a:rPr lang="pt-BR" sz="1600" b="0" i="0" dirty="0">
                <a:solidFill>
                  <a:srgbClr val="E8EAED"/>
                </a:solidFill>
                <a:effectLst/>
                <a:latin typeface="Google Sans"/>
              </a:rPr>
              <a:t>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27702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A8C35-EEBA-24BC-A00E-7859CB4A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Cloud versus Edge </a:t>
            </a:r>
            <a:r>
              <a:rPr lang="pt-BR" dirty="0" err="1"/>
              <a:t>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B2595-77E7-AB72-8299-2BDDD048A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6113" y="1941059"/>
            <a:ext cx="5562601" cy="4551816"/>
          </a:xfrm>
        </p:spPr>
        <p:txBody>
          <a:bodyPr>
            <a:normAutofit/>
          </a:bodyPr>
          <a:lstStyle/>
          <a:p>
            <a:r>
              <a:rPr lang="pt-BR" sz="2800" b="1" dirty="0">
                <a:effectLst/>
              </a:rPr>
              <a:t>Cloud </a:t>
            </a:r>
            <a:r>
              <a:rPr lang="pt-BR" sz="2800" b="1" dirty="0" err="1">
                <a:effectLst/>
              </a:rPr>
              <a:t>Computing</a:t>
            </a:r>
            <a:r>
              <a:rPr lang="pt-BR" sz="2800" dirty="0">
                <a:effectLst/>
              </a:rPr>
              <a:t>: os dados são coletados na borda e o processamento é feito em data centers, muitas vezes distribuídos ao longo de várias localizações.</a:t>
            </a:r>
            <a:endParaRPr lang="pt-BR" sz="2800" b="1" dirty="0">
              <a:effectLst/>
            </a:endParaRPr>
          </a:p>
          <a:p>
            <a:r>
              <a:rPr lang="pt-BR" sz="2800" b="1" dirty="0">
                <a:effectLst/>
              </a:rPr>
              <a:t>Edge </a:t>
            </a:r>
            <a:r>
              <a:rPr lang="pt-BR" b="1" dirty="0" err="1"/>
              <a:t>C</a:t>
            </a:r>
            <a:r>
              <a:rPr lang="pt-BR" sz="2800" b="1" dirty="0" err="1">
                <a:effectLst/>
              </a:rPr>
              <a:t>omputing</a:t>
            </a:r>
            <a:r>
              <a:rPr lang="pt-BR" sz="2800" dirty="0"/>
              <a:t>: </a:t>
            </a:r>
            <a:r>
              <a:rPr lang="pt-BR" sz="2800" b="0" i="0" dirty="0">
                <a:effectLst/>
              </a:rPr>
              <a:t>processamento e armazenamento de dados é feito </a:t>
            </a:r>
            <a:r>
              <a:rPr lang="pt-BR" sz="2800" b="1" i="1" dirty="0">
                <a:effectLst/>
              </a:rPr>
              <a:t>próximo ou nos dispositivos que coletam os dados</a:t>
            </a:r>
            <a:r>
              <a:rPr lang="pt-BR" sz="2800" b="0" i="0" dirty="0">
                <a:effectLst/>
              </a:rPr>
              <a:t> (ou seja, na borda da rede).</a:t>
            </a:r>
            <a:endParaRPr lang="en-US" dirty="0"/>
          </a:p>
        </p:txBody>
      </p:sp>
      <p:pic>
        <p:nvPicPr>
          <p:cNvPr id="1026" name="Picture 2" descr="Edge Computing">
            <a:extLst>
              <a:ext uri="{FF2B5EF4-FFF2-40B4-BE49-F238E27FC236}">
                <a16:creationId xmlns:a16="http://schemas.microsoft.com/office/drawing/2014/main" id="{0FE729AB-9705-656A-6E10-5F6C6DBFD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1060"/>
            <a:ext cx="5486400" cy="411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507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89D8A-0F92-B86B-1EC5-F885CCF1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00657" cy="1325563"/>
          </a:xfrm>
        </p:spPr>
        <p:txBody>
          <a:bodyPr/>
          <a:lstStyle/>
          <a:p>
            <a:r>
              <a:rPr lang="pt-BR" dirty="0" err="1"/>
              <a:t>EdgeML</a:t>
            </a:r>
            <a:r>
              <a:rPr lang="pt-BR" dirty="0"/>
              <a:t> versus TinyML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CF1CFC-4DE3-6037-47A0-2614377CC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5286" y="2024743"/>
            <a:ext cx="7263039" cy="4833257"/>
          </a:xfrm>
        </p:spPr>
        <p:txBody>
          <a:bodyPr>
            <a:normAutofit/>
          </a:bodyPr>
          <a:lstStyle/>
          <a:p>
            <a:r>
              <a:rPr lang="pt-BR" b="1" dirty="0" err="1"/>
              <a:t>EdgeML</a:t>
            </a:r>
            <a:r>
              <a:rPr lang="pt-BR" dirty="0"/>
              <a:t>: processamento de algoritmos de ML em </a:t>
            </a:r>
            <a:r>
              <a:rPr lang="pt-BR" b="1" i="1" dirty="0">
                <a:solidFill>
                  <a:srgbClr val="00B050"/>
                </a:solidFill>
              </a:rPr>
              <a:t>dispositivos de borda</a:t>
            </a:r>
            <a:r>
              <a:rPr lang="pt-BR" dirty="0"/>
              <a:t> (onde os dados são coletados ou gerados) </a:t>
            </a:r>
            <a:r>
              <a:rPr lang="pt-BR" b="1" i="1" dirty="0">
                <a:solidFill>
                  <a:srgbClr val="00B050"/>
                </a:solidFill>
              </a:rPr>
              <a:t>com recursos computacionais moderados</a:t>
            </a:r>
            <a:r>
              <a:rPr lang="pt-BR" dirty="0"/>
              <a:t>.</a:t>
            </a:r>
          </a:p>
          <a:p>
            <a:r>
              <a:rPr lang="pt-BR" b="1" dirty="0"/>
              <a:t>TinyML</a:t>
            </a:r>
            <a:r>
              <a:rPr lang="pt-BR" dirty="0"/>
              <a:t>: subconjunto do </a:t>
            </a:r>
            <a:r>
              <a:rPr lang="pt-BR" b="1" i="1" dirty="0" err="1"/>
              <a:t>EdgeML</a:t>
            </a:r>
            <a:r>
              <a:rPr lang="pt-BR" dirty="0"/>
              <a:t> onde os </a:t>
            </a:r>
            <a:r>
              <a:rPr lang="pt-BR" b="1" i="1" dirty="0">
                <a:solidFill>
                  <a:srgbClr val="7030A0"/>
                </a:solidFill>
              </a:rPr>
              <a:t>dispositivos de borda possuem recursos computacionais bastante restritos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Dispositivos com </a:t>
            </a:r>
            <a:r>
              <a:rPr lang="pt-BR" b="1" i="1" dirty="0"/>
              <a:t>consumo de energia ultrabaixo </a:t>
            </a:r>
            <a:r>
              <a:rPr lang="pt-BR" dirty="0"/>
              <a:t>(alimentados por baterias).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Possibilitam </a:t>
            </a:r>
            <a:r>
              <a:rPr lang="pt-BR" b="1" i="1" dirty="0"/>
              <a:t>a execução contínua de modelos de ML</a:t>
            </a:r>
            <a:r>
              <a:rPr lang="pt-BR" dirty="0"/>
              <a:t> (i.e., dispositivos “</a:t>
            </a:r>
            <a:r>
              <a:rPr lang="pt-BR" b="1" i="1" dirty="0" err="1"/>
              <a:t>always</a:t>
            </a:r>
            <a:r>
              <a:rPr lang="pt-BR" b="1" i="1" dirty="0"/>
              <a:t> </a:t>
            </a:r>
            <a:r>
              <a:rPr lang="pt-BR" b="1" i="1" dirty="0" err="1"/>
              <a:t>on</a:t>
            </a:r>
            <a:r>
              <a:rPr lang="pt-BR" dirty="0"/>
              <a:t>”).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8421037D-CF93-7901-4EFF-BEB73CA9FBF4}"/>
              </a:ext>
            </a:extLst>
          </p:cNvPr>
          <p:cNvGrpSpPr/>
          <p:nvPr/>
        </p:nvGrpSpPr>
        <p:grpSpPr>
          <a:xfrm>
            <a:off x="535215" y="2634343"/>
            <a:ext cx="3781424" cy="2603500"/>
            <a:chOff x="1155700" y="2286000"/>
            <a:chExt cx="3781424" cy="2603500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15CC0B0C-D349-9DAF-09DE-4B4F4E166FE7}"/>
                </a:ext>
              </a:extLst>
            </p:cNvPr>
            <p:cNvSpPr/>
            <p:nvPr/>
          </p:nvSpPr>
          <p:spPr>
            <a:xfrm>
              <a:off x="1155700" y="2286000"/>
              <a:ext cx="3781424" cy="2603500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65318C8E-870E-A4C3-D3A2-54E56869AE99}"/>
                </a:ext>
              </a:extLst>
            </p:cNvPr>
            <p:cNvSpPr/>
            <p:nvPr/>
          </p:nvSpPr>
          <p:spPr>
            <a:xfrm>
              <a:off x="1968500" y="3124200"/>
              <a:ext cx="2155824" cy="153511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F47B06A-8DE6-F285-9821-444B22BCE552}"/>
                </a:ext>
              </a:extLst>
            </p:cNvPr>
            <p:cNvSpPr txBox="1"/>
            <p:nvPr/>
          </p:nvSpPr>
          <p:spPr>
            <a:xfrm>
              <a:off x="2120900" y="3244334"/>
              <a:ext cx="1022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TinyML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DFA0DC5D-C09A-B725-42F7-59A94BE821F3}"/>
                </a:ext>
              </a:extLst>
            </p:cNvPr>
            <p:cNvSpPr txBox="1"/>
            <p:nvPr/>
          </p:nvSpPr>
          <p:spPr>
            <a:xfrm>
              <a:off x="1349376" y="2392680"/>
              <a:ext cx="1022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b="1" dirty="0" err="1">
                  <a:solidFill>
                    <a:schemeClr val="bg1"/>
                  </a:solidFill>
                </a:rPr>
                <a:t>EdgeML</a:t>
              </a:r>
              <a:endParaRPr lang="pt-BR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D5CBED-09E5-449C-13B0-3BFA0C5556B0}"/>
              </a:ext>
            </a:extLst>
          </p:cNvPr>
          <p:cNvSpPr txBox="1"/>
          <p:nvPr/>
        </p:nvSpPr>
        <p:spPr>
          <a:xfrm>
            <a:off x="1070656" y="5600031"/>
            <a:ext cx="2710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1" dirty="0">
                <a:solidFill>
                  <a:srgbClr val="00B050"/>
                </a:solidFill>
              </a:rPr>
              <a:t>Nosso curso focará no uso de ambos os tipos de dispositivos.</a:t>
            </a:r>
          </a:p>
        </p:txBody>
      </p:sp>
    </p:spTree>
    <p:extLst>
      <p:ext uri="{BB962C8B-B14F-4D97-AF65-F5344CB8AC3E}">
        <p14:creationId xmlns:p14="http://schemas.microsoft.com/office/powerpoint/2010/main" val="2895935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284922C-3EBB-09B6-F2D0-C8A9B0FA5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934" y="1251908"/>
            <a:ext cx="9822064" cy="55270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5E29A6E-E6A5-755D-A445-196E7AF7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EdgeML</a:t>
            </a:r>
            <a:r>
              <a:rPr lang="pt-BR" dirty="0"/>
              <a:t> versus TinyML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C157E3A-78BD-A7C5-CBD8-971955E4B409}"/>
              </a:ext>
            </a:extLst>
          </p:cNvPr>
          <p:cNvSpPr txBox="1"/>
          <p:nvPr/>
        </p:nvSpPr>
        <p:spPr>
          <a:xfrm>
            <a:off x="0" y="3034503"/>
            <a:ext cx="22126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Diferenciação de hardware e terminologia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C33900F-9A3C-BA2A-CC98-F89D81E66617}"/>
              </a:ext>
            </a:extLst>
          </p:cNvPr>
          <p:cNvSpPr txBox="1"/>
          <p:nvPr/>
        </p:nvSpPr>
        <p:spPr>
          <a:xfrm>
            <a:off x="8743242" y="634320"/>
            <a:ext cx="34487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err="1"/>
              <a:t>EdgeML</a:t>
            </a:r>
            <a:endParaRPr lang="pt-B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CPU mais poderosa (64 bits e 2+ cores)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GPU e/ou NPU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+ Memória (RAM/Flash)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Bateria com maior capacidade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Sem foco na longa duração da bateria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0D31EC-8B29-23B4-62F9-0ED22A4E88E0}"/>
              </a:ext>
            </a:extLst>
          </p:cNvPr>
          <p:cNvSpPr txBox="1"/>
          <p:nvPr/>
        </p:nvSpPr>
        <p:spPr>
          <a:xfrm>
            <a:off x="3499551" y="2347943"/>
            <a:ext cx="37027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TinyML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CPU de baixo consumo (32 bits single core)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Pouca memória (RAM/Flash)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Bateria com baixa capacidade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Foco na longa duração da bateria</a:t>
            </a:r>
          </a:p>
        </p:txBody>
      </p:sp>
    </p:spTree>
    <p:extLst>
      <p:ext uri="{BB962C8B-B14F-4D97-AF65-F5344CB8AC3E}">
        <p14:creationId xmlns:p14="http://schemas.microsoft.com/office/powerpoint/2010/main" val="2469163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>
            <a:extLst>
              <a:ext uri="{FF2B5EF4-FFF2-40B4-BE49-F238E27FC236}">
                <a16:creationId xmlns:a16="http://schemas.microsoft.com/office/drawing/2014/main" id="{46651183-8DD7-61DD-7226-ECF450F9257B}"/>
              </a:ext>
            </a:extLst>
          </p:cNvPr>
          <p:cNvGrpSpPr>
            <a:grpSpLocks noChangeAspect="1"/>
          </p:cNvGrpSpPr>
          <p:nvPr/>
        </p:nvGrpSpPr>
        <p:grpSpPr>
          <a:xfrm>
            <a:off x="1314555" y="2223211"/>
            <a:ext cx="3446442" cy="2610046"/>
            <a:chOff x="9278726" y="984249"/>
            <a:chExt cx="3036570" cy="2249488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F57EBBFB-2489-FD24-8E18-56E3F7847DC7}"/>
                </a:ext>
              </a:extLst>
            </p:cNvPr>
            <p:cNvGrpSpPr/>
            <p:nvPr/>
          </p:nvGrpSpPr>
          <p:grpSpPr>
            <a:xfrm>
              <a:off x="9400740" y="984249"/>
              <a:ext cx="2621635" cy="2249488"/>
              <a:chOff x="9273707" y="365125"/>
              <a:chExt cx="2918293" cy="2351181"/>
            </a:xfrm>
          </p:grpSpPr>
          <p:pic>
            <p:nvPicPr>
              <p:cNvPr id="21" name="Picture 2" descr="Image result for umbrella">
                <a:extLst>
                  <a:ext uri="{FF2B5EF4-FFF2-40B4-BE49-F238E27FC236}">
                    <a16:creationId xmlns:a16="http://schemas.microsoft.com/office/drawing/2014/main" id="{E7EB6E28-EC11-CBF3-754C-6B337A0A17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511" b="6921"/>
              <a:stretch/>
            </p:blipFill>
            <p:spPr bwMode="auto">
              <a:xfrm>
                <a:off x="9273707" y="365125"/>
                <a:ext cx="2918293" cy="23511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CaixaDeTexto 3">
                <a:extLst>
                  <a:ext uri="{FF2B5EF4-FFF2-40B4-BE49-F238E27FC236}">
                    <a16:creationId xmlns:a16="http://schemas.microsoft.com/office/drawing/2014/main" id="{C769D2F5-1437-EB01-A74A-C962246BABAC}"/>
                  </a:ext>
                </a:extLst>
              </p:cNvPr>
              <p:cNvSpPr txBox="1"/>
              <p:nvPr/>
            </p:nvSpPr>
            <p:spPr>
              <a:xfrm>
                <a:off x="10342887" y="710931"/>
                <a:ext cx="779930" cy="482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>
                    <a:solidFill>
                      <a:schemeClr val="bg1"/>
                    </a:solidFill>
                  </a:rPr>
                  <a:t>IA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E9FE132-EA8A-BCAD-80C9-37482F36BCCE}"/>
                </a:ext>
              </a:extLst>
            </p:cNvPr>
            <p:cNvSpPr txBox="1"/>
            <p:nvPr/>
          </p:nvSpPr>
          <p:spPr>
            <a:xfrm>
              <a:off x="11230128" y="2055309"/>
              <a:ext cx="668574" cy="384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ML</a:t>
              </a:r>
            </a:p>
          </p:txBody>
        </p:sp>
        <p:sp>
          <p:nvSpPr>
            <p:cNvPr id="16" name="TextBox 13">
              <a:extLst>
                <a:ext uri="{FF2B5EF4-FFF2-40B4-BE49-F238E27FC236}">
                  <a16:creationId xmlns:a16="http://schemas.microsoft.com/office/drawing/2014/main" id="{D8978A4F-380E-AA21-602B-0EC0EADE1A68}"/>
                </a:ext>
              </a:extLst>
            </p:cNvPr>
            <p:cNvSpPr txBox="1"/>
            <p:nvPr/>
          </p:nvSpPr>
          <p:spPr>
            <a:xfrm>
              <a:off x="9436672" y="1995046"/>
              <a:ext cx="740011" cy="384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NLP</a:t>
              </a:r>
            </a:p>
          </p:txBody>
        </p:sp>
        <p:sp>
          <p:nvSpPr>
            <p:cNvPr id="17" name="TextBox 14">
              <a:extLst>
                <a:ext uri="{FF2B5EF4-FFF2-40B4-BE49-F238E27FC236}">
                  <a16:creationId xmlns:a16="http://schemas.microsoft.com/office/drawing/2014/main" id="{DFBB181B-C65C-3869-316C-98C6FFC43EC6}"/>
                </a:ext>
              </a:extLst>
            </p:cNvPr>
            <p:cNvSpPr txBox="1"/>
            <p:nvPr/>
          </p:nvSpPr>
          <p:spPr>
            <a:xfrm>
              <a:off x="9278726" y="2459661"/>
              <a:ext cx="1303556" cy="384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Robótica</a:t>
              </a:r>
            </a:p>
          </p:txBody>
        </p:sp>
        <p:sp>
          <p:nvSpPr>
            <p:cNvPr id="19" name="TextBox 15">
              <a:extLst>
                <a:ext uri="{FF2B5EF4-FFF2-40B4-BE49-F238E27FC236}">
                  <a16:creationId xmlns:a16="http://schemas.microsoft.com/office/drawing/2014/main" id="{188B48CD-6B12-9169-4304-9E3A8BBF5ED2}"/>
                </a:ext>
              </a:extLst>
            </p:cNvPr>
            <p:cNvSpPr txBox="1"/>
            <p:nvPr/>
          </p:nvSpPr>
          <p:spPr>
            <a:xfrm>
              <a:off x="10804705" y="2006626"/>
              <a:ext cx="514350" cy="384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CV</a:t>
              </a:r>
            </a:p>
          </p:txBody>
        </p:sp>
        <p:sp>
          <p:nvSpPr>
            <p:cNvPr id="20" name="TextBox 16">
              <a:extLst>
                <a:ext uri="{FF2B5EF4-FFF2-40B4-BE49-F238E27FC236}">
                  <a16:creationId xmlns:a16="http://schemas.microsoft.com/office/drawing/2014/main" id="{3B39C21C-8DAE-F58E-ADE0-7966738DE2D2}"/>
                </a:ext>
              </a:extLst>
            </p:cNvPr>
            <p:cNvSpPr txBox="1"/>
            <p:nvPr/>
          </p:nvSpPr>
          <p:spPr>
            <a:xfrm>
              <a:off x="10662720" y="2564126"/>
              <a:ext cx="1652576" cy="653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Raciocino e Planejamento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5864DCE-2DAD-BCFF-352D-E3D995E0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Mas o que são IA e ML?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229E76-4454-67CA-38F9-CBD73500B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4713" y="1690687"/>
            <a:ext cx="6675774" cy="5167313"/>
          </a:xfrm>
        </p:spPr>
        <p:txBody>
          <a:bodyPr>
            <a:normAutofit/>
          </a:bodyPr>
          <a:lstStyle/>
          <a:p>
            <a:r>
              <a:rPr lang="pt-BR" sz="2800" b="1" dirty="0"/>
              <a:t>IA</a:t>
            </a:r>
            <a:r>
              <a:rPr lang="pt-BR" sz="2800" dirty="0"/>
              <a:t>: técnicas que façam as </a:t>
            </a:r>
            <a:r>
              <a:rPr lang="pt-BR" sz="2800" b="1" i="1" dirty="0"/>
              <a:t>máquinas </a:t>
            </a:r>
            <a:r>
              <a:rPr lang="pt-BR" b="1" i="1" dirty="0">
                <a:solidFill>
                  <a:srgbClr val="00B050"/>
                </a:solidFill>
              </a:rPr>
              <a:t>emularem as capacidades</a:t>
            </a:r>
            <a:r>
              <a:rPr lang="pt-BR" sz="2800" b="1" i="1" dirty="0">
                <a:solidFill>
                  <a:srgbClr val="00B050"/>
                </a:solidFill>
              </a:rPr>
              <a:t> humanas</a:t>
            </a:r>
            <a:r>
              <a:rPr lang="pt-BR" sz="28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Visão,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Fala,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Aprendizado,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Movimentação,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etc.,</a:t>
            </a:r>
          </a:p>
          <a:p>
            <a:r>
              <a:rPr lang="pt-BR" sz="2800" b="1" dirty="0"/>
              <a:t>ML</a:t>
            </a:r>
            <a:r>
              <a:rPr lang="pt-BR" sz="2800" dirty="0"/>
              <a:t>: algoritmos que </a:t>
            </a:r>
            <a:r>
              <a:rPr lang="pt-BR" sz="2800" b="1" i="1" dirty="0"/>
              <a:t>aprendem uma tarefa </a:t>
            </a:r>
            <a:r>
              <a:rPr lang="pt-BR" sz="2800" b="1" i="1" dirty="0">
                <a:solidFill>
                  <a:srgbClr val="7030A0"/>
                </a:solidFill>
              </a:rPr>
              <a:t>sem serem explicitamente programados</a:t>
            </a:r>
            <a:r>
              <a:rPr lang="pt-BR" sz="2800" b="1" i="1" dirty="0"/>
              <a:t> para tal</a:t>
            </a:r>
            <a:r>
              <a:rPr lang="pt-BR" sz="2800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436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392F6-4B2A-2BCA-D366-425A3029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de neural artificial – Wikipédia, a enciclopédia livre">
            <a:extLst>
              <a:ext uri="{FF2B5EF4-FFF2-40B4-BE49-F238E27FC236}">
                <a16:creationId xmlns:a16="http://schemas.microsoft.com/office/drawing/2014/main" id="{F3C9C055-5516-4C37-3FC5-6F01120D2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467" y="5037890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39FFA39-5440-D546-ACB0-CD43433F5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Mas o que são IA e ML?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196FC4-0593-D4B3-7459-0C0CAECB9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690687"/>
            <a:ext cx="7061287" cy="5167313"/>
          </a:xfrm>
        </p:spPr>
        <p:txBody>
          <a:bodyPr>
            <a:normAutofit/>
          </a:bodyPr>
          <a:lstStyle/>
          <a:p>
            <a:r>
              <a:rPr lang="pt-BR" b="1" dirty="0" err="1"/>
              <a:t>RNAs</a:t>
            </a:r>
            <a:r>
              <a:rPr lang="pt-BR" dirty="0"/>
              <a:t>: modelos </a:t>
            </a:r>
            <a:r>
              <a:rPr lang="pt-BR" b="1" i="1" dirty="0">
                <a:effectLst/>
              </a:rPr>
              <a:t>inspirados no funcionamento do cérebro humano</a:t>
            </a:r>
            <a:r>
              <a:rPr lang="pt-BR" b="0" i="0" dirty="0">
                <a:effectLst/>
              </a:rPr>
              <a:t>. </a:t>
            </a:r>
          </a:p>
          <a:p>
            <a:r>
              <a:rPr lang="pt-BR" dirty="0"/>
              <a:t>C</a:t>
            </a:r>
            <a:r>
              <a:rPr lang="pt-BR" b="0" i="0" dirty="0">
                <a:effectLst/>
              </a:rPr>
              <a:t>onsistem em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neurônios artificiais interconectados</a:t>
            </a:r>
            <a:r>
              <a:rPr lang="pt-BR" b="0" i="0" dirty="0">
                <a:effectLst/>
              </a:rPr>
              <a:t>, que são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organizados em camadas</a:t>
            </a:r>
            <a:r>
              <a:rPr lang="pt-BR" b="0" i="0" dirty="0">
                <a:effectLst/>
              </a:rPr>
              <a:t> e capazes de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aprender a partir de experiências prévias</a:t>
            </a:r>
            <a:r>
              <a:rPr lang="pt-BR" b="0" i="0" dirty="0">
                <a:effectLst/>
              </a:rPr>
              <a:t>.</a:t>
            </a:r>
            <a:endParaRPr lang="pt-BR" dirty="0"/>
          </a:p>
          <a:p>
            <a:r>
              <a:rPr lang="pt-BR" b="1" dirty="0"/>
              <a:t>DL</a:t>
            </a:r>
            <a:r>
              <a:rPr lang="pt-BR" dirty="0"/>
              <a:t>: modelos que aprendem padrões complexos usando redes neurais com várias camadas (i.e., profundas).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terem </a:t>
            </a:r>
            <a:r>
              <a:rPr lang="pt-BR" b="1" i="1" dirty="0">
                <a:solidFill>
                  <a:schemeClr val="accent2"/>
                </a:solidFill>
              </a:rPr>
              <a:t>maior capacidade</a:t>
            </a:r>
            <a:r>
              <a:rPr lang="pt-BR" dirty="0">
                <a:solidFill>
                  <a:schemeClr val="accent2"/>
                </a:solidFill>
              </a:rPr>
              <a:t>, </a:t>
            </a:r>
            <a:r>
              <a:rPr lang="pt-BR" b="1" i="1" dirty="0">
                <a:solidFill>
                  <a:schemeClr val="accent2"/>
                </a:solidFill>
              </a:rPr>
              <a:t>necessitam de grandes quantidades de dados</a:t>
            </a:r>
            <a:r>
              <a:rPr lang="pt-BR" dirty="0"/>
              <a:t> e </a:t>
            </a:r>
            <a:r>
              <a:rPr lang="pt-BR" b="1" i="1" dirty="0">
                <a:solidFill>
                  <a:srgbClr val="FF0000"/>
                </a:solidFill>
              </a:rPr>
              <a:t>muitos recursos computacionais</a:t>
            </a:r>
            <a:r>
              <a:rPr lang="pt-BR" dirty="0"/>
              <a:t> para aprender.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5037CE2-DCDC-C687-8D7C-0C14F8DFD807}"/>
              </a:ext>
            </a:extLst>
          </p:cNvPr>
          <p:cNvGrpSpPr>
            <a:grpSpLocks noChangeAspect="1"/>
          </p:cNvGrpSpPr>
          <p:nvPr/>
        </p:nvGrpSpPr>
        <p:grpSpPr>
          <a:xfrm>
            <a:off x="281577" y="1820110"/>
            <a:ext cx="3772320" cy="3600000"/>
            <a:chOff x="379606" y="1690688"/>
            <a:chExt cx="4686092" cy="4456336"/>
          </a:xfrm>
        </p:grpSpPr>
        <p:grpSp>
          <p:nvGrpSpPr>
            <p:cNvPr id="6" name="Agrupar 9">
              <a:extLst>
                <a:ext uri="{FF2B5EF4-FFF2-40B4-BE49-F238E27FC236}">
                  <a16:creationId xmlns:a16="http://schemas.microsoft.com/office/drawing/2014/main" id="{6DD508BB-C388-87CE-D175-5D8CAF380ECA}"/>
                </a:ext>
              </a:extLst>
            </p:cNvPr>
            <p:cNvGrpSpPr/>
            <p:nvPr/>
          </p:nvGrpSpPr>
          <p:grpSpPr>
            <a:xfrm>
              <a:off x="379606" y="1690688"/>
              <a:ext cx="4686092" cy="4456336"/>
              <a:chOff x="7006340" y="1423936"/>
              <a:chExt cx="5099455" cy="5103212"/>
            </a:xfrm>
          </p:grpSpPr>
          <p:sp>
            <p:nvSpPr>
              <p:cNvPr id="7" name="Elipse 3">
                <a:extLst>
                  <a:ext uri="{FF2B5EF4-FFF2-40B4-BE49-F238E27FC236}">
                    <a16:creationId xmlns:a16="http://schemas.microsoft.com/office/drawing/2014/main" id="{5E6538DA-AE3E-50DA-53DA-B49C068981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06340" y="1423936"/>
                <a:ext cx="5099455" cy="5099455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Elipse 4">
                <a:extLst>
                  <a:ext uri="{FF2B5EF4-FFF2-40B4-BE49-F238E27FC236}">
                    <a16:creationId xmlns:a16="http://schemas.microsoft.com/office/drawing/2014/main" id="{91DF63AF-C610-E01A-52C8-121C7951BB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61717" y="2479686"/>
                <a:ext cx="4307188" cy="404746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Elipse 5">
                <a:extLst>
                  <a:ext uri="{FF2B5EF4-FFF2-40B4-BE49-F238E27FC236}">
                    <a16:creationId xmlns:a16="http://schemas.microsoft.com/office/drawing/2014/main" id="{FA49B2AE-6F80-4616-A6D3-5AF5BB8724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89878" y="3987278"/>
                <a:ext cx="2732377" cy="2537991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CaixaDeTexto 10">
                <a:extLst>
                  <a:ext uri="{FF2B5EF4-FFF2-40B4-BE49-F238E27FC236}">
                    <a16:creationId xmlns:a16="http://schemas.microsoft.com/office/drawing/2014/main" id="{64F5A4FE-DFDD-F3B2-86F1-8FA5B721681A}"/>
                  </a:ext>
                </a:extLst>
              </p:cNvPr>
              <p:cNvSpPr txBox="1"/>
              <p:nvPr/>
            </p:nvSpPr>
            <p:spPr>
              <a:xfrm>
                <a:off x="7720068" y="1589713"/>
                <a:ext cx="3672000" cy="461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bg1"/>
                    </a:solidFill>
                  </a:rPr>
                  <a:t>Inteligência Artificial</a:t>
                </a:r>
              </a:p>
            </p:txBody>
          </p:sp>
          <p:sp>
            <p:nvSpPr>
              <p:cNvPr id="11" name="CaixaDeTexto 11">
                <a:extLst>
                  <a:ext uri="{FF2B5EF4-FFF2-40B4-BE49-F238E27FC236}">
                    <a16:creationId xmlns:a16="http://schemas.microsoft.com/office/drawing/2014/main" id="{F320372F-EFA4-8993-EC13-DDD41F5E74EC}"/>
                  </a:ext>
                </a:extLst>
              </p:cNvPr>
              <p:cNvSpPr txBox="1"/>
              <p:nvPr/>
            </p:nvSpPr>
            <p:spPr>
              <a:xfrm>
                <a:off x="7901892" y="2847636"/>
                <a:ext cx="3286066" cy="461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bg1"/>
                    </a:solidFill>
                  </a:rPr>
                  <a:t>Aprendizado de Máquina</a:t>
                </a:r>
              </a:p>
            </p:txBody>
          </p:sp>
          <p:sp>
            <p:nvSpPr>
              <p:cNvPr id="12" name="CaixaDeTexto 12">
                <a:extLst>
                  <a:ext uri="{FF2B5EF4-FFF2-40B4-BE49-F238E27FC236}">
                    <a16:creationId xmlns:a16="http://schemas.microsoft.com/office/drawing/2014/main" id="{DB7137D2-0DBE-5026-4421-C8B39DFF87D3}"/>
                  </a:ext>
                </a:extLst>
              </p:cNvPr>
              <p:cNvSpPr txBox="1"/>
              <p:nvPr/>
            </p:nvSpPr>
            <p:spPr>
              <a:xfrm>
                <a:off x="8319236" y="4182525"/>
                <a:ext cx="2511974" cy="1047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bg1"/>
                    </a:solidFill>
                  </a:rPr>
                  <a:t>Redes Neurais Artificiais</a:t>
                </a:r>
              </a:p>
              <a:p>
                <a:pPr algn="ctr"/>
                <a:r>
                  <a:rPr lang="pt-BR" sz="1400" b="1" dirty="0">
                    <a:solidFill>
                      <a:schemeClr val="bg1"/>
                    </a:solidFill>
                  </a:rPr>
                  <a:t>(</a:t>
                </a:r>
                <a:r>
                  <a:rPr lang="pt-BR" sz="1400" b="1" dirty="0" err="1">
                    <a:solidFill>
                      <a:schemeClr val="bg1"/>
                    </a:solidFill>
                  </a:rPr>
                  <a:t>RNAs</a:t>
                </a:r>
                <a:r>
                  <a:rPr lang="pt-BR" sz="1400" b="1" dirty="0">
                    <a:solidFill>
                      <a:schemeClr val="bg1"/>
                    </a:solidFill>
                  </a:rPr>
                  <a:t>)</a:t>
                </a:r>
              </a:p>
            </p:txBody>
          </p:sp>
        </p:grpSp>
        <p:sp>
          <p:nvSpPr>
            <p:cNvPr id="15" name="Elipse 5">
              <a:extLst>
                <a:ext uri="{FF2B5EF4-FFF2-40B4-BE49-F238E27FC236}">
                  <a16:creationId xmlns:a16="http://schemas.microsoft.com/office/drawing/2014/main" id="{B550347A-72CA-275B-ADB7-409F9FCCFF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76448" y="5002979"/>
              <a:ext cx="1292406" cy="1140764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02FDF3EE-4336-9D9F-7320-EF1A85602835}"/>
                </a:ext>
              </a:extLst>
            </p:cNvPr>
            <p:cNvSpPr txBox="1"/>
            <p:nvPr/>
          </p:nvSpPr>
          <p:spPr>
            <a:xfrm>
              <a:off x="2091968" y="5113912"/>
              <a:ext cx="1276887" cy="9143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400" b="1" dirty="0" err="1">
                  <a:solidFill>
                    <a:schemeClr val="bg1"/>
                  </a:solidFill>
                </a:rPr>
                <a:t>Deep</a:t>
              </a:r>
              <a:r>
                <a:rPr lang="pt-BR" sz="1400" b="1" dirty="0">
                  <a:solidFill>
                    <a:schemeClr val="bg1"/>
                  </a:solidFill>
                </a:rPr>
                <a:t> Learning</a:t>
              </a:r>
            </a:p>
            <a:p>
              <a:pPr algn="ctr"/>
              <a:r>
                <a:rPr lang="pt-BR" sz="1400" b="1" dirty="0">
                  <a:solidFill>
                    <a:schemeClr val="bg1"/>
                  </a:solidFill>
                </a:rPr>
                <a:t>(DL)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3054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2C1E9AD-56FA-ED6A-AF81-145570B6F4FF}"/>
              </a:ext>
            </a:extLst>
          </p:cNvPr>
          <p:cNvSpPr txBox="1"/>
          <p:nvPr/>
        </p:nvSpPr>
        <p:spPr>
          <a:xfrm>
            <a:off x="277320" y="572980"/>
            <a:ext cx="115701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i="1" dirty="0"/>
              <a:t>E se nós pudéssemos executar aplicações baseadas em ML nesses dispositivos com restrições computacionais?</a:t>
            </a:r>
          </a:p>
          <a:p>
            <a:pPr algn="ctr"/>
            <a:endParaRPr lang="pt-BR" sz="3600" b="1" i="1" dirty="0"/>
          </a:p>
          <a:p>
            <a:pPr algn="ctr"/>
            <a:r>
              <a:rPr lang="pt-BR" sz="3600" b="1" i="1" dirty="0">
                <a:solidFill>
                  <a:srgbClr val="00B050"/>
                </a:solidFill>
              </a:rPr>
              <a:t>O que poderíamos fazer?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E25350A-6FC5-B9E9-C7F3-8CD1E50D18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83909" y="5078202"/>
            <a:ext cx="723724" cy="1508896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D3035DC0-5446-C8B9-B62D-11E2316A4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515" y="3322358"/>
            <a:ext cx="730226" cy="130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Top 6 innovative IoT products you must try in 2019">
            <a:extLst>
              <a:ext uri="{FF2B5EF4-FFF2-40B4-BE49-F238E27FC236}">
                <a16:creationId xmlns:a16="http://schemas.microsoft.com/office/drawing/2014/main" id="{D6BB0421-B150-FA4D-4677-27F623917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6913" y="2950823"/>
            <a:ext cx="1265691" cy="1905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rivacy Policy for IoT devices - TermsFeed">
            <a:extLst>
              <a:ext uri="{FF2B5EF4-FFF2-40B4-BE49-F238E27FC236}">
                <a16:creationId xmlns:a16="http://schemas.microsoft.com/office/drawing/2014/main" id="{711494BB-A0D2-A59B-9D36-A77D3C4473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39" t="15714" r="2890" b="17004"/>
          <a:stretch/>
        </p:blipFill>
        <p:spPr bwMode="auto">
          <a:xfrm>
            <a:off x="4027715" y="5228593"/>
            <a:ext cx="1411003" cy="140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Robot Roomba i6+ Robot Vacuum Cleaner Review - Reviewed">
            <a:extLst>
              <a:ext uri="{FF2B5EF4-FFF2-40B4-BE49-F238E27FC236}">
                <a16:creationId xmlns:a16="http://schemas.microsoft.com/office/drawing/2014/main" id="{B14045B7-45B5-57FF-E2B6-F643B23D3F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2" t="25889" r="30333" b="25457"/>
          <a:stretch/>
        </p:blipFill>
        <p:spPr bwMode="auto">
          <a:xfrm>
            <a:off x="4984383" y="3513634"/>
            <a:ext cx="1557084" cy="100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Internet of Things (IoT)? – Phitomas">
            <a:extLst>
              <a:ext uri="{FF2B5EF4-FFF2-40B4-BE49-F238E27FC236}">
                <a16:creationId xmlns:a16="http://schemas.microsoft.com/office/drawing/2014/main" id="{C7F7F966-9E16-DD41-FEB3-BEDAB6AB2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3359" y="5276193"/>
            <a:ext cx="1811931" cy="1310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NETA IoT Smart WiFi LED Bulb Plus - E27P - BNETA">
            <a:extLst>
              <a:ext uri="{FF2B5EF4-FFF2-40B4-BE49-F238E27FC236}">
                <a16:creationId xmlns:a16="http://schemas.microsoft.com/office/drawing/2014/main" id="{7D246E08-CE09-E3F0-716D-C409DD65F2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0" r="17018"/>
          <a:stretch/>
        </p:blipFill>
        <p:spPr bwMode="auto">
          <a:xfrm>
            <a:off x="6867362" y="4853229"/>
            <a:ext cx="915766" cy="1310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ambridge firm designs smallest wireless IoT module">
            <a:extLst>
              <a:ext uri="{FF2B5EF4-FFF2-40B4-BE49-F238E27FC236}">
                <a16:creationId xmlns:a16="http://schemas.microsoft.com/office/drawing/2014/main" id="{F9A3FAEE-7668-830B-E5FF-CE95B110FF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" t="3934"/>
          <a:stretch/>
        </p:blipFill>
        <p:spPr bwMode="auto">
          <a:xfrm>
            <a:off x="7423388" y="3544551"/>
            <a:ext cx="1558828" cy="87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aspberry Pi – Wikipédia, a enciclopédia livre">
            <a:extLst>
              <a:ext uri="{FF2B5EF4-FFF2-40B4-BE49-F238E27FC236}">
                <a16:creationId xmlns:a16="http://schemas.microsoft.com/office/drawing/2014/main" id="{98B1FE50-EDDE-0494-B0E0-F85C0C3D8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28" y="3426833"/>
            <a:ext cx="1683860" cy="990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083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CE8D5-1036-D291-05B2-FD877D4D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E9339D-504F-4D03-F5CA-74F9402A8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35486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b="1" dirty="0"/>
              <a:t>Manutenção preventiva</a:t>
            </a:r>
          </a:p>
          <a:p>
            <a:pPr marL="0" indent="0">
              <a:buNone/>
            </a:pPr>
            <a:endParaRPr lang="pt-BR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dirty="0"/>
              <a:t>Aplicação</a:t>
            </a:r>
            <a:r>
              <a:rPr lang="pt-BR" dirty="0"/>
              <a:t>: </a:t>
            </a:r>
            <a:r>
              <a:rPr lang="pt-BR" b="1" i="1" dirty="0"/>
              <a:t>monitoramento contínuo </a:t>
            </a:r>
            <a:r>
              <a:rPr lang="pt-BR" dirty="0"/>
              <a:t>de equipamentos com o objetivo de </a:t>
            </a:r>
            <a:r>
              <a:rPr lang="pt-BR" b="1" i="1" dirty="0"/>
              <a:t>prever falhas</a:t>
            </a:r>
            <a:r>
              <a:rPr lang="pt-BR" dirty="0"/>
              <a:t>.</a:t>
            </a:r>
            <a:endParaRPr lang="pt-BR" dirty="0">
              <a:solidFill>
                <a:srgbClr val="050E17"/>
              </a:solidFill>
              <a:latin typeface="-apple-system"/>
            </a:endParaRPr>
          </a:p>
          <a:p>
            <a:r>
              <a:rPr lang="pt-BR" b="1" dirty="0"/>
              <a:t>Sensores que podem ser utilizados</a:t>
            </a:r>
            <a:r>
              <a:rPr lang="pt-BR" dirty="0"/>
              <a:t>: movimento, corrente, áudio e câmera.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C7DD93C-E948-BDB1-4FE7-480C17E93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939" y="2518179"/>
            <a:ext cx="2797539" cy="1871687"/>
          </a:xfrm>
          <a:prstGeom prst="rect">
            <a:avLst/>
          </a:prstGeom>
        </p:spPr>
      </p:pic>
      <p:pic>
        <p:nvPicPr>
          <p:cNvPr id="4098" name="Picture 2" descr="Teaching 'Selfish' Wind Turbines to Share Can Boost Productivity | WIRED">
            <a:extLst>
              <a:ext uri="{FF2B5EF4-FFF2-40B4-BE49-F238E27FC236}">
                <a16:creationId xmlns:a16="http://schemas.microsoft.com/office/drawing/2014/main" id="{52FD7CAB-6521-BFD3-5687-FC9E4004A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894" y="4721598"/>
            <a:ext cx="2797539" cy="186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0B6957B-7E9C-D34F-CA16-CF423BD06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894" y="272636"/>
            <a:ext cx="2797539" cy="186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844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CE8D5-1036-D291-05B2-FD877D4D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E9339D-504F-4D03-F5CA-74F9402A8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443950" cy="50323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4200" b="1" dirty="0"/>
              <a:t>Monitoramento e rastreio de bens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Aplicações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Monitoramento da saúde de animais e lavouras.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Detecção de doenças em plantações.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Detecção de incêndios.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Sensores que podem ser utilizados</a:t>
            </a:r>
            <a:r>
              <a:rPr lang="pt-BR" dirty="0"/>
              <a:t>: movimento, temperatura, humidade, posição, acústico e câmera.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E678A4C-F6F3-8115-816A-B62C2AD30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148" y="1892244"/>
            <a:ext cx="1791115" cy="229746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9908F3-DFE8-25EC-4A27-A366FC679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055" y="4842319"/>
            <a:ext cx="3048417" cy="178392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9EB69F4-D031-CE2E-0C0D-74BE8C575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629" y="2611605"/>
            <a:ext cx="2603841" cy="1962407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EA134BA6-763C-0D6B-F1B4-19DD00D83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9629" y="535335"/>
            <a:ext cx="2418151" cy="18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215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CE8D5-1036-D291-05B2-FD877D4D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E9339D-504F-4D03-F5CA-74F9402A8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99882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4200" b="1" dirty="0"/>
              <a:t>E-</a:t>
            </a:r>
            <a:r>
              <a:rPr lang="pt-BR" sz="4200" b="1" dirty="0" err="1"/>
              <a:t>health</a:t>
            </a:r>
            <a:endParaRPr lang="pt-BR" sz="4200" b="1" dirty="0"/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Aplicações</a:t>
            </a:r>
            <a:r>
              <a:rPr lang="pt-BR" dirty="0"/>
              <a:t>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Detecção de fibrilação arterial em sinais eletrocardiograma.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Detecção de doenças pulmonares (e.g., COVID, pneumonia).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Detecção de apneia do sono.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Detecção de posturas incorretas.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Previsão de hospitalização por insuficiência cardíaca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Sensores que podem ser utilizados</a:t>
            </a:r>
            <a:r>
              <a:rPr lang="pt-BR" dirty="0"/>
              <a:t>: movimento, acústico, câmera e ECG.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99DA22-F456-4FA6-7ADC-D1C10E3E7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710" y="328613"/>
            <a:ext cx="2943495" cy="2215367"/>
          </a:xfrm>
          <a:prstGeom prst="rect">
            <a:avLst/>
          </a:prstGeom>
        </p:spPr>
      </p:pic>
      <p:pic>
        <p:nvPicPr>
          <p:cNvPr id="6146" name="Picture 2" descr="Applications of TinyML in healthcare for a safer future">
            <a:extLst>
              <a:ext uri="{FF2B5EF4-FFF2-40B4-BE49-F238E27FC236}">
                <a16:creationId xmlns:a16="http://schemas.microsoft.com/office/drawing/2014/main" id="{7AF2BF75-ED70-8E4C-0029-B76774807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452" y="2732183"/>
            <a:ext cx="3444580" cy="1722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36E191A-CA53-A6BD-E0E1-F39853E285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2" t="17670" r="8483" b="17752"/>
          <a:stretch/>
        </p:blipFill>
        <p:spPr bwMode="auto">
          <a:xfrm>
            <a:off x="6995710" y="4743666"/>
            <a:ext cx="3800819" cy="197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444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7398B-A900-61B5-8621-DCCF26C6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54F27A-CDF9-6E72-139C-41301C4C4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200037" cy="5032375"/>
          </a:xfrm>
        </p:spPr>
        <p:txBody>
          <a:bodyPr/>
          <a:lstStyle/>
          <a:p>
            <a:r>
              <a:rPr lang="pt-BR" dirty="0"/>
              <a:t>A difusão de </a:t>
            </a:r>
            <a:r>
              <a:rPr lang="pt-BR" b="1" i="1" dirty="0">
                <a:solidFill>
                  <a:srgbClr val="7030A0"/>
                </a:solidFill>
              </a:rPr>
              <a:t>dispositivos de moderado a baixo poder computacional</a:t>
            </a:r>
            <a:r>
              <a:rPr lang="pt-BR" dirty="0"/>
              <a:t>,  com </a:t>
            </a:r>
            <a:r>
              <a:rPr lang="pt-BR" b="1" i="1" dirty="0">
                <a:solidFill>
                  <a:srgbClr val="00B050"/>
                </a:solidFill>
              </a:rPr>
              <a:t>(ultra)baixo consumo de energia</a:t>
            </a:r>
            <a:r>
              <a:rPr lang="pt-BR" dirty="0"/>
              <a:t>, </a:t>
            </a:r>
            <a:r>
              <a:rPr lang="pt-BR" b="1" i="1" dirty="0">
                <a:solidFill>
                  <a:schemeClr val="accent2"/>
                </a:solidFill>
              </a:rPr>
              <a:t>equipados com sensores</a:t>
            </a:r>
            <a:r>
              <a:rPr lang="pt-BR" dirty="0"/>
              <a:t>, juntamente com a introdução de </a:t>
            </a:r>
            <a:r>
              <a:rPr lang="pt-BR" b="1" i="1" dirty="0">
                <a:solidFill>
                  <a:srgbClr val="0070C0"/>
                </a:solidFill>
              </a:rPr>
              <a:t>bibliotecas de ML para microcontroladores</a:t>
            </a:r>
            <a:r>
              <a:rPr lang="pt-BR" dirty="0"/>
              <a:t>, têm permitido a criação de dispositivos </a:t>
            </a:r>
            <a:r>
              <a:rPr lang="pt-BR" b="1" i="1" dirty="0">
                <a:solidFill>
                  <a:srgbClr val="00B0F0"/>
                </a:solidFill>
              </a:rPr>
              <a:t>IoT Inteligentes</a:t>
            </a:r>
            <a:r>
              <a:rPr lang="pt-BR" dirty="0"/>
              <a:t>, ou seja, que executam algoritmos de ML.</a:t>
            </a:r>
          </a:p>
          <a:p>
            <a:r>
              <a:rPr lang="pt-BR" dirty="0"/>
              <a:t>Esse novo paradigma é chamado de </a:t>
            </a:r>
            <a:r>
              <a:rPr lang="pt-BR" b="1" i="1" dirty="0"/>
              <a:t>TinyML ou </a:t>
            </a:r>
            <a:r>
              <a:rPr lang="pt-BR" b="1" i="1" dirty="0" err="1"/>
              <a:t>EdgeML</a:t>
            </a:r>
            <a:r>
              <a:rPr lang="pt-BR" dirty="0"/>
              <a:t>:</a:t>
            </a:r>
            <a:r>
              <a:rPr lang="pt-BR" b="1" i="1" dirty="0">
                <a:solidFill>
                  <a:srgbClr val="00B050"/>
                </a:solidFill>
              </a:rPr>
              <a:t> IoT + Sensores + ML</a:t>
            </a:r>
            <a:r>
              <a:rPr lang="pt-BR" i="1" dirty="0"/>
              <a:t>.</a:t>
            </a:r>
          </a:p>
        </p:txBody>
      </p:sp>
      <p:pic>
        <p:nvPicPr>
          <p:cNvPr id="1026" name="Picture 2" descr="Coin Cell Battery - 20mm (CR2032) - PRT-00338 - SparkFun Electronics">
            <a:extLst>
              <a:ext uri="{FF2B5EF4-FFF2-40B4-BE49-F238E27FC236}">
                <a16:creationId xmlns:a16="http://schemas.microsoft.com/office/drawing/2014/main" id="{21ECA515-C91E-1F7B-F654-62E9566EF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031" y="5391896"/>
            <a:ext cx="491279" cy="491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nsorFlow Lite | ML para dispositivos móveis e do Edge">
            <a:extLst>
              <a:ext uri="{FF2B5EF4-FFF2-40B4-BE49-F238E27FC236}">
                <a16:creationId xmlns:a16="http://schemas.microsoft.com/office/drawing/2014/main" id="{73D8A905-E321-F84A-B6D8-0CD3A6413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605" y="4911045"/>
            <a:ext cx="2136510" cy="120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ano 33 BLE - Arduino | Mouser">
            <a:extLst>
              <a:ext uri="{FF2B5EF4-FFF2-40B4-BE49-F238E27FC236}">
                <a16:creationId xmlns:a16="http://schemas.microsoft.com/office/drawing/2014/main" id="{3978795D-24AB-43DA-F540-B1C96D55D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846" y="4983197"/>
            <a:ext cx="1800934" cy="130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inal de Adição 5">
            <a:extLst>
              <a:ext uri="{FF2B5EF4-FFF2-40B4-BE49-F238E27FC236}">
                <a16:creationId xmlns:a16="http://schemas.microsoft.com/office/drawing/2014/main" id="{435CE124-F316-B2A4-2316-3E50D2ACE05B}"/>
              </a:ext>
            </a:extLst>
          </p:cNvPr>
          <p:cNvSpPr>
            <a:spLocks noChangeAspect="1"/>
          </p:cNvSpPr>
          <p:nvPr/>
        </p:nvSpPr>
        <p:spPr>
          <a:xfrm>
            <a:off x="4335994" y="5475535"/>
            <a:ext cx="327852" cy="324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Sinal de Adição 6">
            <a:extLst>
              <a:ext uri="{FF2B5EF4-FFF2-40B4-BE49-F238E27FC236}">
                <a16:creationId xmlns:a16="http://schemas.microsoft.com/office/drawing/2014/main" id="{C274C756-0991-A234-A02C-F6FBAED8EA2E}"/>
              </a:ext>
            </a:extLst>
          </p:cNvPr>
          <p:cNvSpPr>
            <a:spLocks noChangeAspect="1"/>
          </p:cNvSpPr>
          <p:nvPr/>
        </p:nvSpPr>
        <p:spPr>
          <a:xfrm>
            <a:off x="6410753" y="5475535"/>
            <a:ext cx="327852" cy="324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2121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59C28-A982-3140-41BC-467E15F2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41425-6E3F-EFC3-FD14-283557C2A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1457" y="1825624"/>
            <a:ext cx="6373059" cy="5032375"/>
          </a:xfrm>
        </p:spPr>
        <p:txBody>
          <a:bodyPr>
            <a:normAutofit/>
          </a:bodyPr>
          <a:lstStyle/>
          <a:p>
            <a:r>
              <a:rPr lang="pt-BR" b="1" i="1" dirty="0">
                <a:solidFill>
                  <a:srgbClr val="00B050"/>
                </a:solidFill>
              </a:rPr>
              <a:t>O paradigma envolve a implementação de modelos de ML e ferramentas de otimização para a execução desses modelos em dispositivos com restrições computacionais.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Como sensores IoT, </a:t>
            </a:r>
            <a:r>
              <a:rPr lang="pt-BR" i="1" dirty="0" err="1"/>
              <a:t>wearables</a:t>
            </a:r>
            <a:r>
              <a:rPr lang="pt-BR" dirty="0"/>
              <a:t> e dispositivos portáteis.</a:t>
            </a:r>
          </a:p>
          <a:p>
            <a:r>
              <a:rPr lang="pt-BR" dirty="0"/>
              <a:t>Envolve o </a:t>
            </a:r>
            <a:r>
              <a:rPr lang="pt-BR" b="1" i="1" dirty="0"/>
              <a:t>uso de algoritmos de ML leves</a:t>
            </a:r>
            <a:r>
              <a:rPr lang="pt-BR" dirty="0"/>
              <a:t> e a </a:t>
            </a:r>
            <a:r>
              <a:rPr lang="pt-BR" b="1" i="1" dirty="0"/>
              <a:t>redução do tamanho dos modelos</a:t>
            </a:r>
            <a:r>
              <a:rPr lang="pt-BR" dirty="0"/>
              <a:t> com o intuito de </a:t>
            </a:r>
            <a:r>
              <a:rPr lang="pt-BR" b="1" i="1" dirty="0"/>
              <a:t>otimizar do uso dos recursos computacionais</a:t>
            </a:r>
            <a:r>
              <a:rPr lang="pt-BR" dirty="0"/>
              <a:t> dos dispositivos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pt-BR" dirty="0"/>
          </a:p>
        </p:txBody>
      </p:sp>
      <p:pic>
        <p:nvPicPr>
          <p:cNvPr id="2050" name="Picture 2" descr="Primeiros passos em AIoT utilizando TinyML em microcontroladores - MakerHero">
            <a:extLst>
              <a:ext uri="{FF2B5EF4-FFF2-40B4-BE49-F238E27FC236}">
                <a16:creationId xmlns:a16="http://schemas.microsoft.com/office/drawing/2014/main" id="{413E7CCB-73A1-770E-DC85-AD1890131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63" y="2797627"/>
            <a:ext cx="4885176" cy="198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795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59C28-A982-3140-41BC-467E15F2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41425-6E3F-EFC3-FD14-283557C2A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829" y="1825624"/>
            <a:ext cx="6503687" cy="5032375"/>
          </a:xfrm>
        </p:spPr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b="1" i="1" dirty="0"/>
              <a:t>processamento local </a:t>
            </a:r>
            <a:r>
              <a:rPr lang="pt-BR" dirty="0"/>
              <a:t>dos dados em </a:t>
            </a:r>
            <a:r>
              <a:rPr lang="pt-BR" b="1" i="1" dirty="0"/>
              <a:t>dispositivos de borda</a:t>
            </a:r>
            <a:r>
              <a:rPr lang="pt-BR" dirty="0"/>
              <a:t> traz alguns benefícios: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Menor latência</a:t>
            </a:r>
            <a:r>
              <a:rPr lang="pt-BR" dirty="0"/>
              <a:t>: não é necessário o envio dos dados para um servidor na nuvem, possibilitando aplicações que operem em </a:t>
            </a:r>
            <a:r>
              <a:rPr lang="pt-BR" b="1" i="1" dirty="0">
                <a:solidFill>
                  <a:srgbClr val="00B050"/>
                </a:solidFill>
              </a:rPr>
              <a:t>tempo real</a:t>
            </a:r>
            <a:r>
              <a:rPr lang="pt-BR" dirty="0"/>
              <a:t>;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Maior privacidade</a:t>
            </a:r>
            <a:r>
              <a:rPr lang="pt-BR" dirty="0"/>
              <a:t>: dados sensíveis não são transferidos para servidores;</a:t>
            </a:r>
          </a:p>
        </p:txBody>
      </p:sp>
      <p:pic>
        <p:nvPicPr>
          <p:cNvPr id="2050" name="Picture 2" descr="Primeiros passos em AIoT utilizando TinyML em microcontroladores - MakerHero">
            <a:extLst>
              <a:ext uri="{FF2B5EF4-FFF2-40B4-BE49-F238E27FC236}">
                <a16:creationId xmlns:a16="http://schemas.microsoft.com/office/drawing/2014/main" id="{413E7CCB-73A1-770E-DC85-AD1890131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12" y="2971800"/>
            <a:ext cx="4590421" cy="186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0840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8DE5F-ACED-9EFD-308B-7A5464F73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7FA9F-573D-0BA3-9D1E-C761DFC0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8FF390-0070-3BBA-E9A4-341DBB618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3629" y="1825624"/>
            <a:ext cx="6960887" cy="5032375"/>
          </a:xfrm>
        </p:spPr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b="1" i="1" dirty="0"/>
              <a:t>processamento local </a:t>
            </a:r>
            <a:r>
              <a:rPr lang="pt-BR" dirty="0"/>
              <a:t>dos dados em </a:t>
            </a:r>
            <a:r>
              <a:rPr lang="pt-BR" b="1" i="1" dirty="0"/>
              <a:t>dispositivos de borda</a:t>
            </a:r>
            <a:r>
              <a:rPr lang="pt-BR" dirty="0"/>
              <a:t> traz alguns benefícios:</a:t>
            </a:r>
            <a:endParaRPr lang="pt-BR" b="1" i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Menor dependência de conexões</a:t>
            </a:r>
            <a:r>
              <a:rPr lang="pt-BR" dirty="0"/>
              <a:t>: reduz ou elimina a necessidade de transferência de dados para servidores.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Maior autonomia energética</a:t>
            </a:r>
            <a:r>
              <a:rPr lang="pt-BR" dirty="0"/>
              <a:t>: o uso de microcontroladores com baixo consumo de energia reduz o consumo de energia, uso de recursos e custos.</a:t>
            </a:r>
          </a:p>
        </p:txBody>
      </p:sp>
      <p:pic>
        <p:nvPicPr>
          <p:cNvPr id="2050" name="Picture 2" descr="Primeiros passos em AIoT utilizando TinyML em microcontroladores - MakerHero">
            <a:extLst>
              <a:ext uri="{FF2B5EF4-FFF2-40B4-BE49-F238E27FC236}">
                <a16:creationId xmlns:a16="http://schemas.microsoft.com/office/drawing/2014/main" id="{3E6E2348-4287-0F27-1793-01B4A55DC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84" y="2993571"/>
            <a:ext cx="4590421" cy="186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172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892EC-DA5B-162F-8356-0591B877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A9B6A5-A5BC-AF07-D23E-CF2A6A1D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49001" cy="5032375"/>
          </a:xfrm>
        </p:spPr>
        <p:txBody>
          <a:bodyPr/>
          <a:lstStyle/>
          <a:p>
            <a:r>
              <a:rPr lang="pt-BR" dirty="0"/>
              <a:t>Portanto, o curso mistura ML</a:t>
            </a:r>
            <a:r>
              <a:rPr lang="pt-BR" i="1" dirty="0"/>
              <a:t> </a:t>
            </a:r>
            <a:r>
              <a:rPr lang="pt-BR" dirty="0"/>
              <a:t>com dispositivos IoT, cujas principais características são: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Baixo poder computacional</a:t>
            </a:r>
            <a:r>
              <a:rPr lang="pt-BR" dirty="0"/>
              <a:t>: geralmente equipados com CPUs single core de 32 bits, poucos quilobytes de memória RAM e alguns megabytes de memória de longo prazo (</a:t>
            </a:r>
            <a:r>
              <a:rPr lang="pt-BR" i="1" dirty="0"/>
              <a:t>flash</a:t>
            </a:r>
            <a:r>
              <a:rPr lang="pt-BR" dirty="0"/>
              <a:t>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Baixíssimo consumo de energia: </a:t>
            </a:r>
            <a:r>
              <a:rPr lang="pt-BR" dirty="0"/>
              <a:t>são geralmente alimentados à bateria, as quais devem durar um longo período de tempo.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Sensores</a:t>
            </a:r>
            <a:r>
              <a:rPr lang="pt-BR" dirty="0"/>
              <a:t>: temperatura, pressão, humidade, ópticos (e.g., câmeras RGB, térmicas), movimento (e.g., giroscópio e acelerômetro), biométricos (e.g., impressão digital, batimento cardíaco), etc.</a:t>
            </a:r>
          </a:p>
          <a:p>
            <a:r>
              <a:rPr lang="pt-BR" dirty="0"/>
              <a:t>Nosso curso é baseado nos cursos de </a:t>
            </a:r>
            <a:r>
              <a:rPr lang="pt-BR" b="1" i="1" dirty="0"/>
              <a:t>TinyML</a:t>
            </a:r>
            <a:r>
              <a:rPr lang="pt-BR" dirty="0"/>
              <a:t> de Harvard e da UNIFEI.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3"/>
              </a:rPr>
              <a:t>https://scholar.harvard.edu/vijay-janapa-reddi/classes/cs249r-tinyml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4"/>
              </a:rPr>
              <a:t>https://github.com/Mjrovai/UNIFEI-IESTI01-TinyML-2022.1</a:t>
            </a:r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A7A61629-3792-6784-D6F8-F7288E26E9DF}"/>
              </a:ext>
            </a:extLst>
          </p:cNvPr>
          <p:cNvGrpSpPr/>
          <p:nvPr/>
        </p:nvGrpSpPr>
        <p:grpSpPr>
          <a:xfrm>
            <a:off x="6579485" y="161463"/>
            <a:ext cx="4698115" cy="1664161"/>
            <a:chOff x="6579485" y="161463"/>
            <a:chExt cx="4698115" cy="1664161"/>
          </a:xfrm>
        </p:grpSpPr>
        <p:pic>
          <p:nvPicPr>
            <p:cNvPr id="3074" name="Picture 2" descr="A Comprehensive Introduction of TinyML (Part 1) - Circuit Cellar">
              <a:extLst>
                <a:ext uri="{FF2B5EF4-FFF2-40B4-BE49-F238E27FC236}">
                  <a16:creationId xmlns:a16="http://schemas.microsoft.com/office/drawing/2014/main" id="{D537CE25-40E1-2AA3-9F62-EBCDD07681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138" t="63391" r="8682"/>
            <a:stretch/>
          </p:blipFill>
          <p:spPr bwMode="auto">
            <a:xfrm>
              <a:off x="8954742" y="161463"/>
              <a:ext cx="2322858" cy="16641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Deep Learning">
              <a:extLst>
                <a:ext uri="{FF2B5EF4-FFF2-40B4-BE49-F238E27FC236}">
                  <a16:creationId xmlns:a16="http://schemas.microsoft.com/office/drawing/2014/main" id="{34A72756-7ADD-BDE4-37BA-1D410E6760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9485" y="365125"/>
              <a:ext cx="1804987" cy="1091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4F2A2B30-0356-1D98-6D89-D87D825A1B3E}"/>
                </a:ext>
              </a:extLst>
            </p:cNvPr>
            <p:cNvSpPr/>
            <p:nvPr/>
          </p:nvSpPr>
          <p:spPr>
            <a:xfrm>
              <a:off x="8544232" y="737419"/>
              <a:ext cx="501445" cy="35396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741066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48842-F85D-6AC9-4FC6-81BE65DEC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BFB80-47ED-5FC1-47DF-9540CEC18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47323" cy="5032375"/>
          </a:xfrm>
        </p:spPr>
        <p:txBody>
          <a:bodyPr>
            <a:normAutofit/>
          </a:bodyPr>
          <a:lstStyle/>
          <a:p>
            <a:r>
              <a:rPr lang="pt-BR" dirty="0"/>
              <a:t>O curso será dividido em duas partes: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Fundamentos</a:t>
            </a:r>
            <a:r>
              <a:rPr lang="pt-BR" dirty="0"/>
              <a:t>: Introdução e desafios do TinyML, paradigma do ML, introdução ao </a:t>
            </a:r>
            <a:r>
              <a:rPr lang="pt-BR" i="1" dirty="0" err="1"/>
              <a:t>Deep</a:t>
            </a:r>
            <a:r>
              <a:rPr lang="pt-BR" i="1" dirty="0"/>
              <a:t> Learning</a:t>
            </a:r>
            <a:r>
              <a:rPr lang="pt-BR" dirty="0"/>
              <a:t>, modelos de DL para regressão e classificação, redes </a:t>
            </a:r>
            <a:r>
              <a:rPr lang="pt-BR" dirty="0" err="1"/>
              <a:t>convolucionais</a:t>
            </a:r>
            <a:r>
              <a:rPr lang="pt-BR" dirty="0"/>
              <a:t>, como evitar problemas de sobreajuste e introdução ao </a:t>
            </a:r>
            <a:r>
              <a:rPr lang="pt-BR" b="1" i="1" dirty="0"/>
              <a:t>Edge Impulse</a:t>
            </a:r>
            <a:r>
              <a:rPr lang="pt-BR" dirty="0"/>
              <a:t>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Aplicação prática dos fundamentos</a:t>
            </a:r>
            <a:r>
              <a:rPr lang="pt-BR" dirty="0"/>
              <a:t>: ciclo de vida e de trabalho de aplicações de ML, introdução às bibliotecas do TensorFlow, visão geral do kit de desenvolvimento, laboratórios práticos (usando o kit ou dispositivos pessoais) e apresentação de trabalhos práticos.</a:t>
            </a:r>
          </a:p>
        </p:txBody>
      </p:sp>
      <p:pic>
        <p:nvPicPr>
          <p:cNvPr id="4098" name="Picture 2" descr="Edge Impulse - Edge AI and Vision Alliance">
            <a:extLst>
              <a:ext uri="{FF2B5EF4-FFF2-40B4-BE49-F238E27FC236}">
                <a16:creationId xmlns:a16="http://schemas.microsoft.com/office/drawing/2014/main" id="{DDD20C62-1678-5717-E0EA-BC68E2595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072" y="4835449"/>
            <a:ext cx="2651128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ensorFlow Lite para microcontroladores">
            <a:extLst>
              <a:ext uri="{FF2B5EF4-FFF2-40B4-BE49-F238E27FC236}">
                <a16:creationId xmlns:a16="http://schemas.microsoft.com/office/drawing/2014/main" id="{9BF1AFAF-FD5F-F170-91B6-AB2F68FC76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8" t="18569" r="8419" b="17740"/>
          <a:stretch/>
        </p:blipFill>
        <p:spPr bwMode="auto">
          <a:xfrm>
            <a:off x="4974380" y="5713055"/>
            <a:ext cx="2347929" cy="100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RDUINO NANO 33 BLE SENSE REV2 + HEADERS ARDUINO - Arduino Pro | 64MHz;  3.3VDC; Flash: 1MB; SRAM: 256kB; I2C,SPI,USART; ABX00070 | TME - Electronic  components">
            <a:extLst>
              <a:ext uri="{FF2B5EF4-FFF2-40B4-BE49-F238E27FC236}">
                <a16:creationId xmlns:a16="http://schemas.microsoft.com/office/drawing/2014/main" id="{D23A5580-C4E7-9A69-10C8-1E8A9F8C90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9" t="2312" r="5026" b="1990"/>
          <a:stretch/>
        </p:blipFill>
        <p:spPr bwMode="auto">
          <a:xfrm>
            <a:off x="7531861" y="4987709"/>
            <a:ext cx="1917290" cy="150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135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5CC7A-F8F8-3D40-3E5A-B523E7751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80045-1EF9-F313-2AA1-9FAA3804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D32CA4-6108-0DA9-EB02-CBD700807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47323" cy="5032375"/>
          </a:xfrm>
        </p:spPr>
        <p:txBody>
          <a:bodyPr>
            <a:normAutofit/>
          </a:bodyPr>
          <a:lstStyle/>
          <a:p>
            <a:r>
              <a:rPr lang="pt-BR" b="1" dirty="0"/>
              <a:t>Pré-requisitos</a:t>
            </a:r>
            <a:r>
              <a:rPr lang="pt-BR" dirty="0"/>
              <a:t> (</a:t>
            </a:r>
            <a:r>
              <a:rPr lang="pt-BR" i="1" dirty="0"/>
              <a:t>não mandatórios</a:t>
            </a:r>
            <a:r>
              <a:rPr lang="pt-BR" dirty="0"/>
              <a:t>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Conceitos básicos de </a:t>
            </a:r>
            <a:r>
              <a:rPr lang="pt-BR" b="1" i="1" dirty="0"/>
              <a:t>álgebra linear </a:t>
            </a:r>
            <a:r>
              <a:rPr lang="pt-BR" dirty="0"/>
              <a:t>(e.g., matrizes e vetores), </a:t>
            </a:r>
            <a:r>
              <a:rPr lang="pt-BR" b="1" i="1" dirty="0"/>
              <a:t>cálculo</a:t>
            </a:r>
            <a:r>
              <a:rPr lang="pt-BR" dirty="0"/>
              <a:t> (e.g., algoritmos de otimização, como o gradiente descendente), </a:t>
            </a:r>
            <a:r>
              <a:rPr lang="pt-BR" b="1" i="1" dirty="0"/>
              <a:t>probabilidade e estatística</a:t>
            </a:r>
            <a:r>
              <a:rPr lang="pt-BR" dirty="0"/>
              <a:t> (e.g., distribuições de probabilidade, média, variância, desvio padrão) e </a:t>
            </a:r>
            <a:r>
              <a:rPr lang="pt-BR" b="1" i="1" dirty="0"/>
              <a:t>processamento de sinais</a:t>
            </a:r>
            <a:r>
              <a:rPr lang="pt-BR" dirty="0"/>
              <a:t> (e.g., FFT, filtragem);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Conhecimentos de programação em C/C++ e Python.</a:t>
            </a:r>
          </a:p>
        </p:txBody>
      </p:sp>
      <p:pic>
        <p:nvPicPr>
          <p:cNvPr id="4" name="Picture 2" descr="Edge Impulse - Edge AI and Vision Alliance">
            <a:extLst>
              <a:ext uri="{FF2B5EF4-FFF2-40B4-BE49-F238E27FC236}">
                <a16:creationId xmlns:a16="http://schemas.microsoft.com/office/drawing/2014/main" id="{39C37208-7077-A701-60D2-C09DD5300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072" y="4835449"/>
            <a:ext cx="2651128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ensorFlow Lite para microcontroladores">
            <a:extLst>
              <a:ext uri="{FF2B5EF4-FFF2-40B4-BE49-F238E27FC236}">
                <a16:creationId xmlns:a16="http://schemas.microsoft.com/office/drawing/2014/main" id="{D64409DC-FB9E-E9FF-0E42-3E12266C13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8" t="18569" r="8419" b="17740"/>
          <a:stretch/>
        </p:blipFill>
        <p:spPr bwMode="auto">
          <a:xfrm>
            <a:off x="4974380" y="5713055"/>
            <a:ext cx="2347929" cy="100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ARDUINO NANO 33 BLE SENSE REV2 + HEADERS ARDUINO - Arduino Pro | 64MHz;  3.3VDC; Flash: 1MB; SRAM: 256kB; I2C,SPI,USART; ABX00070 | TME - Electronic  components">
            <a:extLst>
              <a:ext uri="{FF2B5EF4-FFF2-40B4-BE49-F238E27FC236}">
                <a16:creationId xmlns:a16="http://schemas.microsoft.com/office/drawing/2014/main" id="{7D33BF44-C29D-F455-D94B-B3DFDEB91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9" t="2312" r="5026" b="1990"/>
          <a:stretch/>
        </p:blipFill>
        <p:spPr bwMode="auto">
          <a:xfrm>
            <a:off x="7531861" y="4987709"/>
            <a:ext cx="1917290" cy="150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264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200E8-E489-1374-DAE1-A01E9DFC9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84DA0A-C3B3-CCCB-BBDF-CF88E7D56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672484" cy="5032376"/>
          </a:xfrm>
        </p:spPr>
        <p:txBody>
          <a:bodyPr/>
          <a:lstStyle/>
          <a:p>
            <a:pPr marL="0" indent="0" rtl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Avaliações</a:t>
            </a:r>
          </a:p>
          <a:p>
            <a:pPr lvl="1" fontAlgn="base">
              <a:spcBef>
                <a:spcPts val="0"/>
              </a:spcBef>
            </a:pPr>
            <a:r>
              <a:rPr lang="pt-BR" dirty="0"/>
              <a:t>Atividades (A): 25%</a:t>
            </a:r>
          </a:p>
          <a:p>
            <a:pPr lvl="2" fontAlgn="base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pt-BR" dirty="0"/>
              <a:t>Exercícios de programação</a:t>
            </a:r>
          </a:p>
          <a:p>
            <a:pPr lvl="2" fontAlgn="base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pt-BR" dirty="0" err="1"/>
              <a:t>Quizzes</a:t>
            </a:r>
            <a:endParaRPr lang="pt-BR" dirty="0"/>
          </a:p>
          <a:p>
            <a:pPr lvl="2" fontAlgn="base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pt-BR" dirty="0"/>
              <a:t>Proposta de projeto prático final (ao final do segundo mês)</a:t>
            </a:r>
          </a:p>
          <a:p>
            <a:pPr lvl="1" fontAlgn="base">
              <a:spcBef>
                <a:spcPts val="0"/>
              </a:spcBef>
            </a:pPr>
            <a:r>
              <a:rPr lang="pt-BR" dirty="0"/>
              <a:t>Relatórios dos Laboratórios (R): 25%</a:t>
            </a:r>
          </a:p>
          <a:p>
            <a:pPr lvl="2" fontAlgn="base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pt-BR" dirty="0"/>
              <a:t>Laboratórios com experimentos práticos.</a:t>
            </a:r>
          </a:p>
          <a:p>
            <a:pPr lvl="1" fontAlgn="base">
              <a:spcBef>
                <a:spcPts val="0"/>
              </a:spcBef>
            </a:pPr>
            <a:r>
              <a:rPr lang="pt-BR" dirty="0"/>
              <a:t>Projeto final (P): 50%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b="1" i="1" dirty="0">
                <a:solidFill>
                  <a:srgbClr val="7030A0"/>
                </a:solidFill>
              </a:rPr>
              <a:t>Projeto prático unindo </a:t>
            </a:r>
            <a:r>
              <a:rPr lang="pt-BR" b="1" i="1" dirty="0" err="1">
                <a:solidFill>
                  <a:srgbClr val="7030A0"/>
                </a:solidFill>
              </a:rPr>
              <a:t>IoT</a:t>
            </a:r>
            <a:r>
              <a:rPr lang="pt-BR" b="1" i="1" dirty="0">
                <a:solidFill>
                  <a:srgbClr val="7030A0"/>
                </a:solidFill>
              </a:rPr>
              <a:t> e ML.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dirty="0"/>
              <a:t>Até dois (2) alunos por projeto.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dirty="0"/>
              <a:t>Tema deve ser escolhido por vocês.</a:t>
            </a:r>
          </a:p>
          <a:p>
            <a:pPr marL="914400" lvl="2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/>
              <a:t>NF = A*25% + R*25% + P*50%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A98931-D4DA-A8C6-E70B-622323563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746" y="118268"/>
            <a:ext cx="2514600" cy="1819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171FC1-ABD1-9A30-24B9-3B431D21D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8474" y="2507340"/>
            <a:ext cx="2533650" cy="1809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00239B-9DE4-3C62-31EF-097283BCD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1046" y="4998806"/>
            <a:ext cx="2868291" cy="160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49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EAD94-EB44-27A2-AD12-48FFDF92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56AA32-04C2-0C41-F535-9A35932A8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8164287" cy="5032375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Apresentar os </a:t>
            </a:r>
            <a:r>
              <a:rPr lang="pt-BR" b="1" i="1" dirty="0">
                <a:effectLst/>
              </a:rPr>
              <a:t>fundamentos de </a:t>
            </a:r>
            <a:r>
              <a:rPr lang="pt-BR" b="1" i="1" dirty="0" err="1">
                <a:effectLst/>
              </a:rPr>
              <a:t>IoT</a:t>
            </a:r>
            <a:r>
              <a:rPr lang="pt-BR" b="1" i="1" dirty="0">
                <a:effectLst/>
              </a:rPr>
              <a:t> e ML</a:t>
            </a:r>
            <a:r>
              <a:rPr lang="pt-BR" b="0" i="0" dirty="0">
                <a:effectLst/>
              </a:rPr>
              <a:t>, bem como explorar a </a:t>
            </a:r>
            <a:r>
              <a:rPr lang="pt-BR" b="1" i="1" dirty="0">
                <a:effectLst/>
              </a:rPr>
              <a:t>interseção</a:t>
            </a:r>
            <a:r>
              <a:rPr lang="pt-BR" b="0" i="0" dirty="0">
                <a:effectLst/>
              </a:rPr>
              <a:t> entre essas áreas.</a:t>
            </a:r>
            <a:endParaRPr lang="pt-BR" dirty="0"/>
          </a:p>
          <a:p>
            <a:r>
              <a:rPr lang="pt-BR" b="1" i="1" dirty="0">
                <a:effectLst/>
              </a:rPr>
              <a:t>Familiarizar</a:t>
            </a:r>
            <a:r>
              <a:rPr lang="pt-BR" b="0" i="0" dirty="0">
                <a:effectLst/>
              </a:rPr>
              <a:t> os alunos com a </a:t>
            </a:r>
            <a:r>
              <a:rPr lang="pt-BR" b="1" i="1" dirty="0">
                <a:effectLst/>
              </a:rPr>
              <a:t>literatura e os conceitos-chave da área de Edge/TinyML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Capacitar os alunos a </a:t>
            </a:r>
            <a:r>
              <a:rPr lang="pt-BR" b="1" i="1" dirty="0">
                <a:effectLst/>
              </a:rPr>
              <a:t>conceber</a:t>
            </a:r>
            <a:r>
              <a:rPr lang="pt-BR" b="0" i="0" dirty="0">
                <a:effectLst/>
              </a:rPr>
              <a:t>, </a:t>
            </a:r>
            <a:r>
              <a:rPr lang="pt-BR" b="1" i="1" dirty="0">
                <a:effectLst/>
              </a:rPr>
              <a:t>treinar e implantar aplicações Edge/TinyML em sistemas embarcados</a:t>
            </a:r>
            <a:r>
              <a:rPr lang="pt-BR" dirty="0">
                <a:effectLst/>
              </a:rPr>
              <a:t> (e.g., smartphones e dispositivos IoT)</a:t>
            </a:r>
            <a:r>
              <a:rPr lang="pt-BR" dirty="0"/>
              <a:t>.</a:t>
            </a:r>
          </a:p>
          <a:p>
            <a:r>
              <a:rPr lang="pt-BR" b="0" i="0" dirty="0">
                <a:effectLst/>
              </a:rPr>
              <a:t>Proporcionar </a:t>
            </a:r>
            <a:r>
              <a:rPr lang="pt-BR" b="1" i="1" dirty="0">
                <a:effectLst/>
              </a:rPr>
              <a:t>experiência prática por meio de laboratórios e projetos</a:t>
            </a:r>
            <a:r>
              <a:rPr lang="pt-BR" b="0" i="0" dirty="0">
                <a:effectLst/>
              </a:rPr>
              <a:t>, permitindo que os alunos apliquem os conhecimentos adquiridos em cenários do mundo real.</a:t>
            </a:r>
            <a:endParaRPr lang="pt-BR" dirty="0"/>
          </a:p>
        </p:txBody>
      </p:sp>
      <p:pic>
        <p:nvPicPr>
          <p:cNvPr id="4" name="Picture 2" descr="Image result for machine learning">
            <a:extLst>
              <a:ext uri="{FF2B5EF4-FFF2-40B4-BE49-F238E27FC236}">
                <a16:creationId xmlns:a16="http://schemas.microsoft.com/office/drawing/2014/main" id="{5C06A13C-9D44-3527-DD1E-E02BB897D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6568" y="161243"/>
            <a:ext cx="2289169" cy="160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IOT: a internet das coisas. O que é? - HMB Tecnologia">
            <a:extLst>
              <a:ext uri="{FF2B5EF4-FFF2-40B4-BE49-F238E27FC236}">
                <a16:creationId xmlns:a16="http://schemas.microsoft.com/office/drawing/2014/main" id="{EFA771E3-151D-8061-599C-F57CFB216E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21"/>
          <a:stretch/>
        </p:blipFill>
        <p:spPr bwMode="auto">
          <a:xfrm>
            <a:off x="8904330" y="3711401"/>
            <a:ext cx="2331903" cy="146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TinyML: What is It and Why Does It Matter | MacroFab">
            <a:extLst>
              <a:ext uri="{FF2B5EF4-FFF2-40B4-BE49-F238E27FC236}">
                <a16:creationId xmlns:a16="http://schemas.microsoft.com/office/drawing/2014/main" id="{1EC642B7-7250-B83F-220A-F4F6F9BAF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429" y="2173185"/>
            <a:ext cx="2146594" cy="112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TinyML: Future is Tiny and Bright | TechGig">
            <a:extLst>
              <a:ext uri="{FF2B5EF4-FFF2-40B4-BE49-F238E27FC236}">
                <a16:creationId xmlns:a16="http://schemas.microsoft.com/office/drawing/2014/main" id="{AF76318A-723E-D23D-B013-8060C6435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776" y="5419765"/>
            <a:ext cx="2291900" cy="1283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49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F9143-8A80-C6D4-0597-00385E9E2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vamos aprender?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AA8C63-72B2-8E91-13A2-E06CA3C1D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30" y="1825624"/>
            <a:ext cx="5606142" cy="5032376"/>
          </a:xfrm>
        </p:spPr>
        <p:txBody>
          <a:bodyPr>
            <a:normAutofit/>
          </a:bodyPr>
          <a:lstStyle/>
          <a:p>
            <a:r>
              <a:rPr lang="pt-BR" dirty="0"/>
              <a:t>Focaremos no aprendizado de conceitos para a construção de </a:t>
            </a:r>
            <a:r>
              <a:rPr lang="pt-BR" b="1" i="1" dirty="0"/>
              <a:t>aplicações</a:t>
            </a:r>
            <a:r>
              <a:rPr lang="pt-BR" dirty="0"/>
              <a:t> que apresentem: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Baixa latência;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Maior autonomia energética;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Eficiência computacional;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Baixo consumo de memória.</a:t>
            </a:r>
          </a:p>
        </p:txBody>
      </p:sp>
      <p:pic>
        <p:nvPicPr>
          <p:cNvPr id="8194" name="Picture 2" descr="Gauge half Icon - Free PNG &amp; SVG 2440994 - Noun Project">
            <a:extLst>
              <a:ext uri="{FF2B5EF4-FFF2-40B4-BE49-F238E27FC236}">
                <a16:creationId xmlns:a16="http://schemas.microsoft.com/office/drawing/2014/main" id="{86F837F8-06DC-1EDB-094D-5A8CAE7FBF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5" t="20519" r="7149" b="21072"/>
          <a:stretch/>
        </p:blipFill>
        <p:spPr bwMode="auto">
          <a:xfrm>
            <a:off x="7225675" y="5880895"/>
            <a:ext cx="1064755" cy="71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Phone Battery Icon Vector Art, Icons, and Graphics for Free Download">
            <a:extLst>
              <a:ext uri="{FF2B5EF4-FFF2-40B4-BE49-F238E27FC236}">
                <a16:creationId xmlns:a16="http://schemas.microsoft.com/office/drawing/2014/main" id="{548C8DF2-9054-72B0-6773-8FF45E3F3A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55" t="23155" r="30371" b="23493"/>
          <a:stretch/>
        </p:blipFill>
        <p:spPr bwMode="auto">
          <a:xfrm>
            <a:off x="8526566" y="5880895"/>
            <a:ext cx="425361" cy="71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Cpu - ícones de eletrônicos grátis">
            <a:extLst>
              <a:ext uri="{FF2B5EF4-FFF2-40B4-BE49-F238E27FC236}">
                <a16:creationId xmlns:a16="http://schemas.microsoft.com/office/drawing/2014/main" id="{34FE92FF-6697-3121-CA86-F9EF3D1AB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8064" y="5880895"/>
            <a:ext cx="719353" cy="71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Memory Icon Gráfico por arus · Creative Fabrica">
            <a:extLst>
              <a:ext uri="{FF2B5EF4-FFF2-40B4-BE49-F238E27FC236}">
                <a16:creationId xmlns:a16="http://schemas.microsoft.com/office/drawing/2014/main" id="{AD6F2C69-B785-1091-672B-268363438C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01" t="26018" r="29901" b="26314"/>
          <a:stretch/>
        </p:blipFill>
        <p:spPr bwMode="auto">
          <a:xfrm>
            <a:off x="10143554" y="5986659"/>
            <a:ext cx="643453" cy="507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9484CA5-A8AF-0F89-BAE4-E64E7B56A9A1}"/>
              </a:ext>
            </a:extLst>
          </p:cNvPr>
          <p:cNvGrpSpPr/>
          <p:nvPr/>
        </p:nvGrpSpPr>
        <p:grpSpPr>
          <a:xfrm>
            <a:off x="838200" y="1825624"/>
            <a:ext cx="2121822" cy="2124000"/>
            <a:chOff x="107515" y="4167201"/>
            <a:chExt cx="2121822" cy="2124000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6A39609-5AF4-8637-7DF1-5B804FB4E2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515" y="4167201"/>
              <a:ext cx="2121822" cy="212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5B90241-EE6F-B333-04EA-D1C64D653022}"/>
                </a:ext>
              </a:extLst>
            </p:cNvPr>
            <p:cNvSpPr txBox="1"/>
            <p:nvPr/>
          </p:nvSpPr>
          <p:spPr>
            <a:xfrm>
              <a:off x="479453" y="4965418"/>
              <a:ext cx="137794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1"/>
                  </a:solidFill>
                </a:rPr>
                <a:t>Machine Learning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B24F1C8-205A-0C70-FF60-C8F57359DA69}"/>
              </a:ext>
            </a:extLst>
          </p:cNvPr>
          <p:cNvGrpSpPr/>
          <p:nvPr/>
        </p:nvGrpSpPr>
        <p:grpSpPr>
          <a:xfrm>
            <a:off x="2056676" y="3756895"/>
            <a:ext cx="2121822" cy="2124000"/>
            <a:chOff x="12656988" y="365125"/>
            <a:chExt cx="2121822" cy="2124000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CD182BD6-C6AA-E71B-7DEE-F4CE7836A6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56988" y="365125"/>
              <a:ext cx="2121822" cy="212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4401CCF-81FF-2AAD-292C-15D2E970ECB3}"/>
                </a:ext>
              </a:extLst>
            </p:cNvPr>
            <p:cNvSpPr txBox="1"/>
            <p:nvPr/>
          </p:nvSpPr>
          <p:spPr>
            <a:xfrm>
              <a:off x="13175260" y="1275901"/>
              <a:ext cx="10852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1"/>
                  </a:solidFill>
                </a:rPr>
                <a:t>Aplicações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9C57232-1B11-D419-56E2-EDF1801F70C2}"/>
              </a:ext>
            </a:extLst>
          </p:cNvPr>
          <p:cNvGrpSpPr/>
          <p:nvPr/>
        </p:nvGrpSpPr>
        <p:grpSpPr>
          <a:xfrm>
            <a:off x="3261385" y="1830565"/>
            <a:ext cx="2121822" cy="2119059"/>
            <a:chOff x="2498328" y="2254442"/>
            <a:chExt cx="2121822" cy="2119059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E33FA00-5111-FF80-AFF0-DEFF7C5BFC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8328" y="2254442"/>
              <a:ext cx="2121822" cy="211905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7014DE71-4205-9188-3826-C1A41FC3123A}"/>
                </a:ext>
              </a:extLst>
            </p:cNvPr>
            <p:cNvSpPr txBox="1"/>
            <p:nvPr/>
          </p:nvSpPr>
          <p:spPr>
            <a:xfrm>
              <a:off x="2973063" y="3035989"/>
              <a:ext cx="117235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1"/>
                  </a:solidFill>
                </a:rPr>
                <a:t>Sistemas Embarcados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8373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F9143-8A80-C6D4-0597-00385E9E2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vamos aprender?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AA8C63-72B2-8E91-13A2-E06CA3C1D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654" y="1825624"/>
            <a:ext cx="6873346" cy="5032376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Trabalharemos na </a:t>
            </a:r>
            <a:r>
              <a:rPr lang="pt-BR" b="1" i="1" dirty="0">
                <a:effectLst/>
              </a:rPr>
              <a:t>interseção das três áreas ao lado</a:t>
            </a:r>
            <a:r>
              <a:rPr lang="pt-BR" b="0" i="0" dirty="0">
                <a:effectLst/>
              </a:rPr>
              <a:t>, </a:t>
            </a:r>
            <a:r>
              <a:rPr lang="pt-BR" dirty="0"/>
              <a:t>dando </a:t>
            </a:r>
            <a:r>
              <a:rPr lang="pt-BR" b="0" i="0" dirty="0">
                <a:effectLst/>
              </a:rPr>
              <a:t>origem ao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Edge/TinyML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Para isso, devemos levar em consideração algumas questões importantes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0" i="0" dirty="0">
                <a:effectLst/>
              </a:rPr>
              <a:t>Quais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novos casos de uso são habilitados com o uso de Edge/TinyML</a:t>
            </a:r>
            <a:r>
              <a:rPr lang="pt-BR" b="0" i="0" dirty="0">
                <a:effectLst/>
              </a:rPr>
              <a:t>, que não eram possíveis antes?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0" i="0" dirty="0">
                <a:effectLst/>
              </a:rPr>
              <a:t>Quais são os </a:t>
            </a:r>
            <a:r>
              <a:rPr lang="pt-BR" b="1" i="1" dirty="0">
                <a:solidFill>
                  <a:schemeClr val="accent2"/>
                </a:solidFill>
                <a:effectLst/>
              </a:rPr>
              <a:t>desafios de implementar ML em dispositivos com recursos limitados</a:t>
            </a:r>
            <a:r>
              <a:rPr lang="pt-BR" b="0" i="0" dirty="0">
                <a:effectLst/>
              </a:rPr>
              <a:t>? </a:t>
            </a:r>
            <a:endParaRPr lang="pt-BR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pt-BR" dirty="0"/>
              <a:t>Temos que considerar restrições como </a:t>
            </a:r>
            <a:r>
              <a:rPr lang="pt-BR" b="1" i="1" dirty="0">
                <a:solidFill>
                  <a:srgbClr val="7030A0"/>
                </a:solidFill>
              </a:rPr>
              <a:t>consumo de energia e memória</a:t>
            </a:r>
            <a:r>
              <a:rPr lang="pt-BR" b="1" i="1" dirty="0"/>
              <a:t> </a:t>
            </a:r>
            <a:r>
              <a:rPr lang="pt-BR" dirty="0"/>
              <a:t>e </a:t>
            </a:r>
            <a:r>
              <a:rPr lang="pt-BR" b="1" i="1" dirty="0">
                <a:solidFill>
                  <a:srgbClr val="7030A0"/>
                </a:solidFill>
              </a:rPr>
              <a:t>tempo de processamento</a:t>
            </a:r>
            <a:r>
              <a:rPr lang="pt-BR" dirty="0"/>
              <a:t>.</a:t>
            </a:r>
          </a:p>
        </p:txBody>
      </p:sp>
      <p:pic>
        <p:nvPicPr>
          <p:cNvPr id="8194" name="Picture 2" descr="Gauge half Icon - Free PNG &amp; SVG 2440994 - Noun Project">
            <a:extLst>
              <a:ext uri="{FF2B5EF4-FFF2-40B4-BE49-F238E27FC236}">
                <a16:creationId xmlns:a16="http://schemas.microsoft.com/office/drawing/2014/main" id="{86F837F8-06DC-1EDB-094D-5A8CAE7FBF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5" t="20519" r="7149" b="21072"/>
          <a:stretch/>
        </p:blipFill>
        <p:spPr bwMode="auto">
          <a:xfrm>
            <a:off x="997270" y="6379825"/>
            <a:ext cx="602080" cy="40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Phone Battery Icon Vector Art, Icons, and Graphics for Free Download">
            <a:extLst>
              <a:ext uri="{FF2B5EF4-FFF2-40B4-BE49-F238E27FC236}">
                <a16:creationId xmlns:a16="http://schemas.microsoft.com/office/drawing/2014/main" id="{548C8DF2-9054-72B0-6773-8FF45E3F3A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55" t="23155" r="30371" b="23493"/>
          <a:stretch/>
        </p:blipFill>
        <p:spPr bwMode="auto">
          <a:xfrm>
            <a:off x="2020321" y="6379825"/>
            <a:ext cx="240526" cy="40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Cpu - ícones de eletrônicos grátis">
            <a:extLst>
              <a:ext uri="{FF2B5EF4-FFF2-40B4-BE49-F238E27FC236}">
                <a16:creationId xmlns:a16="http://schemas.microsoft.com/office/drawing/2014/main" id="{34FE92FF-6697-3121-CA86-F9EF3D1AB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569" y="6379825"/>
            <a:ext cx="406768" cy="40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Memory Icon Gráfico por arus · Creative Fabrica">
            <a:extLst>
              <a:ext uri="{FF2B5EF4-FFF2-40B4-BE49-F238E27FC236}">
                <a16:creationId xmlns:a16="http://schemas.microsoft.com/office/drawing/2014/main" id="{AD6F2C69-B785-1091-672B-268363438C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01" t="26018" r="29901" b="26314"/>
          <a:stretch/>
        </p:blipFill>
        <p:spPr bwMode="auto">
          <a:xfrm>
            <a:off x="3666833" y="6439631"/>
            <a:ext cx="363850" cy="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Agrupar 39">
            <a:extLst>
              <a:ext uri="{FF2B5EF4-FFF2-40B4-BE49-F238E27FC236}">
                <a16:creationId xmlns:a16="http://schemas.microsoft.com/office/drawing/2014/main" id="{ABD83E79-A0B1-C5A5-AF63-4F31D57E4080}"/>
              </a:ext>
            </a:extLst>
          </p:cNvPr>
          <p:cNvGrpSpPr/>
          <p:nvPr/>
        </p:nvGrpSpPr>
        <p:grpSpPr>
          <a:xfrm>
            <a:off x="838200" y="1655684"/>
            <a:ext cx="3762992" cy="4512902"/>
            <a:chOff x="8151760" y="531964"/>
            <a:chExt cx="3762992" cy="4512902"/>
          </a:xfrm>
        </p:grpSpPr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281CBBFD-8127-84BA-2E87-563A7EBB7091}"/>
                </a:ext>
              </a:extLst>
            </p:cNvPr>
            <p:cNvGrpSpPr/>
            <p:nvPr/>
          </p:nvGrpSpPr>
          <p:grpSpPr>
            <a:xfrm>
              <a:off x="8151760" y="566968"/>
              <a:ext cx="3609576" cy="4477898"/>
              <a:chOff x="6643163" y="1283253"/>
              <a:chExt cx="3609576" cy="4477898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86A39609-5AF4-8637-7DF1-5B804FB4E2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43163" y="2313541"/>
                <a:ext cx="2121822" cy="2124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AE33FA00-5111-FF80-AFF0-DEFF7C5BFC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30917" y="2318482"/>
                <a:ext cx="2121822" cy="211905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CD182BD6-C6AA-E71B-7DEE-F4CE7836A6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87040" y="3637151"/>
                <a:ext cx="2121822" cy="2124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65B90241-EE6F-B333-04EA-D1C64D653022}"/>
                  </a:ext>
                </a:extLst>
              </p:cNvPr>
              <p:cNvSpPr txBox="1"/>
              <p:nvPr/>
            </p:nvSpPr>
            <p:spPr>
              <a:xfrm>
                <a:off x="7207420" y="3009357"/>
                <a:ext cx="858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1"/>
                    </a:solidFill>
                  </a:rPr>
                  <a:t>Machine Learning</a:t>
                </a: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4401CCF-81FF-2AAD-292C-15D2E970ECB3}"/>
                  </a:ext>
                </a:extLst>
              </p:cNvPr>
              <p:cNvSpPr txBox="1"/>
              <p:nvPr/>
            </p:nvSpPr>
            <p:spPr>
              <a:xfrm>
                <a:off x="7905312" y="4624127"/>
                <a:ext cx="108527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1"/>
                    </a:solidFill>
                  </a:rPr>
                  <a:t>Aplicações</a:t>
                </a:r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014DE71-4205-9188-3826-C1A41FC3123A}"/>
                  </a:ext>
                </a:extLst>
              </p:cNvPr>
              <p:cNvSpPr txBox="1"/>
              <p:nvPr/>
            </p:nvSpPr>
            <p:spPr>
              <a:xfrm>
                <a:off x="8670092" y="3041594"/>
                <a:ext cx="11569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1"/>
                    </a:solidFill>
                  </a:rPr>
                  <a:t>Sistemas Embarcados</a:t>
                </a:r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74BB9C82-E359-9C7F-9FB2-08D07AFCC38F}"/>
                  </a:ext>
                </a:extLst>
              </p:cNvPr>
              <p:cNvSpPr/>
              <p:nvPr/>
            </p:nvSpPr>
            <p:spPr>
              <a:xfrm>
                <a:off x="8175625" y="3638550"/>
                <a:ext cx="549275" cy="498475"/>
              </a:xfrm>
              <a:custGeom>
                <a:avLst/>
                <a:gdLst>
                  <a:gd name="connsiteX0" fmla="*/ 0 w 549275"/>
                  <a:gd name="connsiteY0" fmla="*/ 31750 h 498475"/>
                  <a:gd name="connsiteX1" fmla="*/ 25400 w 549275"/>
                  <a:gd name="connsiteY1" fmla="*/ 117475 h 498475"/>
                  <a:gd name="connsiteX2" fmla="*/ 57150 w 549275"/>
                  <a:gd name="connsiteY2" fmla="*/ 193675 h 498475"/>
                  <a:gd name="connsiteX3" fmla="*/ 95250 w 549275"/>
                  <a:gd name="connsiteY3" fmla="*/ 263525 h 498475"/>
                  <a:gd name="connsiteX4" fmla="*/ 127000 w 549275"/>
                  <a:gd name="connsiteY4" fmla="*/ 314325 h 498475"/>
                  <a:gd name="connsiteX5" fmla="*/ 161925 w 549275"/>
                  <a:gd name="connsiteY5" fmla="*/ 374650 h 498475"/>
                  <a:gd name="connsiteX6" fmla="*/ 222250 w 549275"/>
                  <a:gd name="connsiteY6" fmla="*/ 438150 h 498475"/>
                  <a:gd name="connsiteX7" fmla="*/ 247650 w 549275"/>
                  <a:gd name="connsiteY7" fmla="*/ 466725 h 498475"/>
                  <a:gd name="connsiteX8" fmla="*/ 276225 w 549275"/>
                  <a:gd name="connsiteY8" fmla="*/ 498475 h 498475"/>
                  <a:gd name="connsiteX9" fmla="*/ 314325 w 549275"/>
                  <a:gd name="connsiteY9" fmla="*/ 460375 h 498475"/>
                  <a:gd name="connsiteX10" fmla="*/ 358775 w 549275"/>
                  <a:gd name="connsiteY10" fmla="*/ 409575 h 498475"/>
                  <a:gd name="connsiteX11" fmla="*/ 393700 w 549275"/>
                  <a:gd name="connsiteY11" fmla="*/ 349250 h 498475"/>
                  <a:gd name="connsiteX12" fmla="*/ 425450 w 549275"/>
                  <a:gd name="connsiteY12" fmla="*/ 301625 h 498475"/>
                  <a:gd name="connsiteX13" fmla="*/ 466725 w 549275"/>
                  <a:gd name="connsiteY13" fmla="*/ 234950 h 498475"/>
                  <a:gd name="connsiteX14" fmla="*/ 501650 w 549275"/>
                  <a:gd name="connsiteY14" fmla="*/ 165100 h 498475"/>
                  <a:gd name="connsiteX15" fmla="*/ 523875 w 549275"/>
                  <a:gd name="connsiteY15" fmla="*/ 104775 h 498475"/>
                  <a:gd name="connsiteX16" fmla="*/ 542925 w 549275"/>
                  <a:gd name="connsiteY16" fmla="*/ 50800 h 498475"/>
                  <a:gd name="connsiteX17" fmla="*/ 549275 w 549275"/>
                  <a:gd name="connsiteY17" fmla="*/ 31750 h 498475"/>
                  <a:gd name="connsiteX18" fmla="*/ 508000 w 549275"/>
                  <a:gd name="connsiteY18" fmla="*/ 22225 h 498475"/>
                  <a:gd name="connsiteX19" fmla="*/ 438150 w 549275"/>
                  <a:gd name="connsiteY19" fmla="*/ 12700 h 498475"/>
                  <a:gd name="connsiteX20" fmla="*/ 387350 w 549275"/>
                  <a:gd name="connsiteY20" fmla="*/ 6350 h 498475"/>
                  <a:gd name="connsiteX21" fmla="*/ 330200 w 549275"/>
                  <a:gd name="connsiteY21" fmla="*/ 3175 h 498475"/>
                  <a:gd name="connsiteX22" fmla="*/ 292100 w 549275"/>
                  <a:gd name="connsiteY22" fmla="*/ 0 h 498475"/>
                  <a:gd name="connsiteX23" fmla="*/ 219075 w 549275"/>
                  <a:gd name="connsiteY23" fmla="*/ 0 h 498475"/>
                  <a:gd name="connsiteX24" fmla="*/ 142875 w 549275"/>
                  <a:gd name="connsiteY24" fmla="*/ 9525 h 498475"/>
                  <a:gd name="connsiteX25" fmla="*/ 95250 w 549275"/>
                  <a:gd name="connsiteY25" fmla="*/ 12700 h 498475"/>
                  <a:gd name="connsiteX26" fmla="*/ 0 w 549275"/>
                  <a:gd name="connsiteY26" fmla="*/ 31750 h 49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49275" h="498475">
                    <a:moveTo>
                      <a:pt x="0" y="31750"/>
                    </a:moveTo>
                    <a:lnTo>
                      <a:pt x="25400" y="117475"/>
                    </a:lnTo>
                    <a:lnTo>
                      <a:pt x="57150" y="193675"/>
                    </a:lnTo>
                    <a:lnTo>
                      <a:pt x="95250" y="263525"/>
                    </a:lnTo>
                    <a:lnTo>
                      <a:pt x="127000" y="314325"/>
                    </a:lnTo>
                    <a:lnTo>
                      <a:pt x="161925" y="374650"/>
                    </a:lnTo>
                    <a:lnTo>
                      <a:pt x="222250" y="438150"/>
                    </a:lnTo>
                    <a:lnTo>
                      <a:pt x="247650" y="466725"/>
                    </a:lnTo>
                    <a:lnTo>
                      <a:pt x="276225" y="498475"/>
                    </a:lnTo>
                    <a:lnTo>
                      <a:pt x="314325" y="460375"/>
                    </a:lnTo>
                    <a:lnTo>
                      <a:pt x="358775" y="409575"/>
                    </a:lnTo>
                    <a:lnTo>
                      <a:pt x="393700" y="349250"/>
                    </a:lnTo>
                    <a:lnTo>
                      <a:pt x="425450" y="301625"/>
                    </a:lnTo>
                    <a:lnTo>
                      <a:pt x="466725" y="234950"/>
                    </a:lnTo>
                    <a:lnTo>
                      <a:pt x="501650" y="165100"/>
                    </a:lnTo>
                    <a:lnTo>
                      <a:pt x="523875" y="104775"/>
                    </a:lnTo>
                    <a:lnTo>
                      <a:pt x="542925" y="50800"/>
                    </a:lnTo>
                    <a:lnTo>
                      <a:pt x="549275" y="31750"/>
                    </a:lnTo>
                    <a:lnTo>
                      <a:pt x="508000" y="22225"/>
                    </a:lnTo>
                    <a:lnTo>
                      <a:pt x="438150" y="12700"/>
                    </a:lnTo>
                    <a:lnTo>
                      <a:pt x="387350" y="6350"/>
                    </a:lnTo>
                    <a:lnTo>
                      <a:pt x="330200" y="3175"/>
                    </a:lnTo>
                    <a:lnTo>
                      <a:pt x="292100" y="0"/>
                    </a:lnTo>
                    <a:lnTo>
                      <a:pt x="219075" y="0"/>
                    </a:lnTo>
                    <a:lnTo>
                      <a:pt x="142875" y="9525"/>
                    </a:lnTo>
                    <a:lnTo>
                      <a:pt x="95250" y="12700"/>
                    </a:lnTo>
                    <a:lnTo>
                      <a:pt x="0" y="3175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32" name="Picture 2" descr="Primeiros passos em AIoT utilizando TinyML em microcontroladores - MakerHero">
                <a:extLst>
                  <a:ext uri="{FF2B5EF4-FFF2-40B4-BE49-F238E27FC236}">
                    <a16:creationId xmlns:a16="http://schemas.microsoft.com/office/drawing/2014/main" id="{2259B5FA-3BCF-FDE7-7135-4DFEA1BC29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087" t="20397" r="41919" b="32488"/>
              <a:stretch/>
            </p:blipFill>
            <p:spPr bwMode="auto">
              <a:xfrm>
                <a:off x="8175625" y="1283253"/>
                <a:ext cx="678770" cy="928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4" name="Conector de Seta Reta 33">
                <a:extLst>
                  <a:ext uri="{FF2B5EF4-FFF2-40B4-BE49-F238E27FC236}">
                    <a16:creationId xmlns:a16="http://schemas.microsoft.com/office/drawing/2014/main" id="{45718E38-8B50-903D-CEE1-A08D6A80BA93}"/>
                  </a:ext>
                </a:extLst>
              </p:cNvPr>
              <p:cNvCxnSpPr>
                <a:cxnSpLocks/>
                <a:endCxn id="6" idx="0"/>
              </p:cNvCxnSpPr>
              <p:nvPr/>
            </p:nvCxnSpPr>
            <p:spPr>
              <a:xfrm>
                <a:off x="8437748" y="2211699"/>
                <a:ext cx="10203" cy="14254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26EF1C49-41C8-DDD5-EF1B-F4599FF2B0F6}"/>
                </a:ext>
              </a:extLst>
            </p:cNvPr>
            <p:cNvSpPr txBox="1"/>
            <p:nvPr/>
          </p:nvSpPr>
          <p:spPr>
            <a:xfrm>
              <a:off x="10347000" y="531964"/>
              <a:ext cx="156775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Edge/TinyML formam a interação destas três áreas.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6426265-75BE-C60D-2841-104C1B2C0760}"/>
              </a:ext>
            </a:extLst>
          </p:cNvPr>
          <p:cNvSpPr txBox="1"/>
          <p:nvPr/>
        </p:nvSpPr>
        <p:spPr>
          <a:xfrm>
            <a:off x="2120731" y="2360789"/>
            <a:ext cx="121055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400" b="1" dirty="0"/>
              <a:t>Edge/TinyML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168046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0D1E4-6A31-D6CC-6257-13E94DEA9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vamos usar?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35C6BA-24C9-8E94-403D-DCEE102AB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976256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Hardware</a:t>
            </a:r>
          </a:p>
          <a:p>
            <a:pPr lvl="1"/>
            <a:r>
              <a:rPr lang="pt-BR" dirty="0"/>
              <a:t>Smartphones</a:t>
            </a:r>
          </a:p>
          <a:p>
            <a:pPr lvl="1"/>
            <a:r>
              <a:rPr lang="pt-BR" dirty="0"/>
              <a:t>Arduino Nano 33 BLE Sense</a:t>
            </a:r>
          </a:p>
          <a:p>
            <a:pPr lvl="1"/>
            <a:r>
              <a:rPr lang="pt-BR" dirty="0"/>
              <a:t>Kits de desenvolvimento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dirty="0" err="1"/>
              <a:t>Raspberry</a:t>
            </a:r>
            <a:r>
              <a:rPr lang="pt-BR" dirty="0"/>
              <a:t> Pi, Orange Pi, etc.</a:t>
            </a:r>
          </a:p>
          <a:p>
            <a:pPr lvl="1"/>
            <a:r>
              <a:rPr lang="pt-BR" dirty="0"/>
              <a:t>Sensores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Software</a:t>
            </a:r>
          </a:p>
          <a:p>
            <a:pPr lvl="1"/>
            <a:r>
              <a:rPr lang="pt-BR" b="1" dirty="0"/>
              <a:t>Bibliotecas de ML</a:t>
            </a:r>
            <a:r>
              <a:rPr lang="pt-BR" dirty="0"/>
              <a:t>: </a:t>
            </a:r>
            <a:r>
              <a:rPr lang="pt-BR" dirty="0" err="1"/>
              <a:t>Tensorflow</a:t>
            </a:r>
            <a:r>
              <a:rPr lang="pt-BR" dirty="0"/>
              <a:t>, </a:t>
            </a:r>
            <a:r>
              <a:rPr lang="pt-BR" dirty="0" err="1"/>
              <a:t>TFLite</a:t>
            </a:r>
            <a:r>
              <a:rPr lang="pt-BR" dirty="0"/>
              <a:t> e </a:t>
            </a:r>
            <a:r>
              <a:rPr lang="pt-BR" dirty="0" err="1"/>
              <a:t>TFLite</a:t>
            </a:r>
            <a:r>
              <a:rPr lang="pt-BR" dirty="0"/>
              <a:t> Micro.</a:t>
            </a:r>
          </a:p>
          <a:p>
            <a:pPr lvl="1"/>
            <a:r>
              <a:rPr lang="pt-BR" b="1" dirty="0"/>
              <a:t>Ambientes de programação</a:t>
            </a:r>
            <a:r>
              <a:rPr lang="pt-BR" dirty="0"/>
              <a:t>: Google </a:t>
            </a:r>
            <a:r>
              <a:rPr lang="pt-BR" dirty="0" err="1"/>
              <a:t>Colab</a:t>
            </a:r>
            <a:r>
              <a:rPr lang="pt-BR" dirty="0"/>
              <a:t> (com </a:t>
            </a:r>
            <a:r>
              <a:rPr lang="pt-BR" dirty="0" err="1"/>
              <a:t>Jupyter</a:t>
            </a:r>
            <a:r>
              <a:rPr lang="pt-BR" dirty="0"/>
              <a:t> notebooks) e Arduino IDE.</a:t>
            </a:r>
          </a:p>
          <a:p>
            <a:pPr lvl="1"/>
            <a:r>
              <a:rPr lang="pt-BR" b="1" i="0" dirty="0">
                <a:effectLst/>
              </a:rPr>
              <a:t>Ambiente de desenvolvimento de ML</a:t>
            </a:r>
            <a:r>
              <a:rPr lang="pt-BR" b="0" i="0" dirty="0">
                <a:effectLst/>
              </a:rPr>
              <a:t>: </a:t>
            </a:r>
            <a:r>
              <a:rPr lang="pt-BR" dirty="0"/>
              <a:t>Edge Impulse Studio.</a:t>
            </a:r>
          </a:p>
        </p:txBody>
      </p:sp>
      <p:pic>
        <p:nvPicPr>
          <p:cNvPr id="9218" name="Picture 2" descr="Software | Arduino">
            <a:extLst>
              <a:ext uri="{FF2B5EF4-FFF2-40B4-BE49-F238E27FC236}">
                <a16:creationId xmlns:a16="http://schemas.microsoft.com/office/drawing/2014/main" id="{FB528A69-874E-4322-FDAA-3E78F686D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029" y="5551139"/>
            <a:ext cx="1994956" cy="104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Edge Impulse - Edge AI and Vision Alliance">
            <a:extLst>
              <a:ext uri="{FF2B5EF4-FFF2-40B4-BE49-F238E27FC236}">
                <a16:creationId xmlns:a16="http://schemas.microsoft.com/office/drawing/2014/main" id="{8454BD14-D70D-5DE1-FDDF-F09AF67A0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8282" y="5551139"/>
            <a:ext cx="2357346" cy="117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TensorFlow - Wikipedia">
            <a:extLst>
              <a:ext uri="{FF2B5EF4-FFF2-40B4-BE49-F238E27FC236}">
                <a16:creationId xmlns:a16="http://schemas.microsoft.com/office/drawing/2014/main" id="{D183021D-45D1-98C1-E0F7-BABB81CB7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9" t="16814" r="11235" b="13839"/>
          <a:stretch/>
        </p:blipFill>
        <p:spPr bwMode="auto">
          <a:xfrm>
            <a:off x="6873487" y="4113140"/>
            <a:ext cx="1763772" cy="100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DD60BD5F-98D8-20AD-7A86-2ECBB00848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2" t="18147" r="18585" b="19379"/>
          <a:stretch/>
        </p:blipFill>
        <p:spPr bwMode="auto">
          <a:xfrm>
            <a:off x="9032695" y="4237527"/>
            <a:ext cx="1438861" cy="88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Projeto Jupyter – Wikipédia, a enciclopédia livre">
            <a:extLst>
              <a:ext uri="{FF2B5EF4-FFF2-40B4-BE49-F238E27FC236}">
                <a16:creationId xmlns:a16="http://schemas.microsoft.com/office/drawing/2014/main" id="{2F173D25-FCBF-A4CE-E517-2B01BBEEF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513" y="4069446"/>
            <a:ext cx="1093172" cy="1267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Vendas de smartphones crescem, Samsung lidera, Apple recupera e Huawei cai  mais | Mundo Conectado">
            <a:extLst>
              <a:ext uri="{FF2B5EF4-FFF2-40B4-BE49-F238E27FC236}">
                <a16:creationId xmlns:a16="http://schemas.microsoft.com/office/drawing/2014/main" id="{52BCDE8E-6A10-35DA-109B-9816735A1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457" y="1979219"/>
            <a:ext cx="2882060" cy="130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Nano 33 BLE - Arduino | Mouser">
            <a:extLst>
              <a:ext uri="{FF2B5EF4-FFF2-40B4-BE49-F238E27FC236}">
                <a16:creationId xmlns:a16="http://schemas.microsoft.com/office/drawing/2014/main" id="{47E447D6-D985-62CF-083E-1C6E699EB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2" t="5736" r="4789" b="4574"/>
          <a:stretch/>
        </p:blipFill>
        <p:spPr bwMode="auto">
          <a:xfrm>
            <a:off x="8540320" y="1964562"/>
            <a:ext cx="2046903" cy="146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2" name="Picture 16" descr="ArduCam OV7675 0,3MPx 640x480px 60fps - camera Botland - Robotic Shop">
            <a:extLst>
              <a:ext uri="{FF2B5EF4-FFF2-40B4-BE49-F238E27FC236}">
                <a16:creationId xmlns:a16="http://schemas.microsoft.com/office/drawing/2014/main" id="{69D1DE58-D266-4A1F-C442-0928381AF7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1" t="11269" r="7778" b="10953"/>
          <a:stretch/>
        </p:blipFill>
        <p:spPr bwMode="auto">
          <a:xfrm>
            <a:off x="10659045" y="2132720"/>
            <a:ext cx="1284513" cy="117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231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4E259-4B2C-711E-6617-1B9E5493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kit TinyML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CC6572-DF99-3F5F-F056-0ED4EDE51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520745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 kit contém:</a:t>
            </a:r>
          </a:p>
          <a:p>
            <a:pPr lvl="1"/>
            <a:r>
              <a:rPr lang="pt-BR" dirty="0"/>
              <a:t>1 x Arduino Nano 33 BLE Sense </a:t>
            </a:r>
            <a:r>
              <a:rPr lang="pt-BR" b="1" i="1" dirty="0"/>
              <a:t>Lite*</a:t>
            </a:r>
          </a:p>
          <a:p>
            <a:pPr lvl="1"/>
            <a:r>
              <a:rPr lang="pt-BR" dirty="0"/>
              <a:t>1 x Shield</a:t>
            </a:r>
          </a:p>
          <a:p>
            <a:pPr lvl="1"/>
            <a:r>
              <a:rPr lang="pt-BR" dirty="0"/>
              <a:t>1 x Câmera OV7675 </a:t>
            </a:r>
          </a:p>
          <a:p>
            <a:pPr lvl="1"/>
            <a:r>
              <a:rPr lang="pt-BR" dirty="0"/>
              <a:t>1 x Cabo USB A</a:t>
            </a:r>
          </a:p>
          <a:p>
            <a:pPr marL="457200" lvl="1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0242" name="Picture 2" descr="Tiny Machine Learning Kit - Arduino | Mouser">
            <a:extLst>
              <a:ext uri="{FF2B5EF4-FFF2-40B4-BE49-F238E27FC236}">
                <a16:creationId xmlns:a16="http://schemas.microsoft.com/office/drawing/2014/main" id="{CBCEFC76-4579-9E14-046B-C692922550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" t="6488" r="2095" b="7798"/>
          <a:stretch/>
        </p:blipFill>
        <p:spPr bwMode="auto">
          <a:xfrm>
            <a:off x="7163085" y="180229"/>
            <a:ext cx="4839216" cy="314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47" name="Agrupar 10246">
            <a:extLst>
              <a:ext uri="{FF2B5EF4-FFF2-40B4-BE49-F238E27FC236}">
                <a16:creationId xmlns:a16="http://schemas.microsoft.com/office/drawing/2014/main" id="{8B55CF4E-4E75-9EEA-A692-D631197C586F}"/>
              </a:ext>
            </a:extLst>
          </p:cNvPr>
          <p:cNvGrpSpPr/>
          <p:nvPr/>
        </p:nvGrpSpPr>
        <p:grpSpPr>
          <a:xfrm>
            <a:off x="3909325" y="3429000"/>
            <a:ext cx="8389593" cy="3320540"/>
            <a:chOff x="4201425" y="2973888"/>
            <a:chExt cx="8389593" cy="332054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F243F13-EF73-8E58-449C-EA5FA487C5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8827" t="5064" r="31962" b="24372"/>
            <a:stretch/>
          </p:blipFill>
          <p:spPr>
            <a:xfrm rot="16200000">
              <a:off x="6456565" y="2609159"/>
              <a:ext cx="1792438" cy="4284000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078C3464-B84D-76A8-E2FD-B18BECBBDB2D}"/>
                </a:ext>
              </a:extLst>
            </p:cNvPr>
            <p:cNvSpPr txBox="1"/>
            <p:nvPr/>
          </p:nvSpPr>
          <p:spPr>
            <a:xfrm>
              <a:off x="9630103" y="4101812"/>
              <a:ext cx="296091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err="1">
                  <a:solidFill>
                    <a:srgbClr val="FF0000"/>
                  </a:solidFill>
                </a:rPr>
                <a:t>Nordic</a:t>
              </a:r>
              <a:r>
                <a:rPr lang="pt-BR" sz="1200" b="1" dirty="0">
                  <a:solidFill>
                    <a:srgbClr val="FF0000"/>
                  </a:solidFill>
                </a:rPr>
                <a:t> </a:t>
              </a:r>
              <a:r>
                <a:rPr lang="pt-BR" sz="1200" b="1" dirty="0" err="1">
                  <a:solidFill>
                    <a:srgbClr val="FF0000"/>
                  </a:solidFill>
                </a:rPr>
                <a:t>nRF</a:t>
              </a:r>
              <a:r>
                <a:rPr lang="pt-BR" sz="1200" b="1" dirty="0">
                  <a:solidFill>
                    <a:srgbClr val="FF0000"/>
                  </a:solidFill>
                </a:rPr>
                <a:t> 52840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b="1" dirty="0">
                  <a:solidFill>
                    <a:srgbClr val="FF0000"/>
                  </a:solidFill>
                </a:rPr>
                <a:t>CPU: ARM </a:t>
              </a:r>
              <a:r>
                <a:rPr lang="pt-BR" sz="1200" b="1" dirty="0" err="1">
                  <a:solidFill>
                    <a:srgbClr val="FF0000"/>
                  </a:solidFill>
                </a:rPr>
                <a:t>Cortex</a:t>
              </a:r>
              <a:r>
                <a:rPr lang="pt-BR" sz="1200" b="1" dirty="0">
                  <a:solidFill>
                    <a:srgbClr val="FF0000"/>
                  </a:solidFill>
                </a:rPr>
                <a:t> M4 de 32 bits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b="1" dirty="0">
                  <a:solidFill>
                    <a:srgbClr val="FF0000"/>
                  </a:solidFill>
                </a:rPr>
                <a:t>Freq.: 64 MHz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b="1" dirty="0">
                  <a:solidFill>
                    <a:srgbClr val="FF0000"/>
                  </a:solidFill>
                </a:rPr>
                <a:t>Memória: </a:t>
              </a:r>
              <a:r>
                <a:rPr lang="en-US" sz="1200" b="1" i="0" dirty="0">
                  <a:solidFill>
                    <a:srgbClr val="FF0000"/>
                  </a:solidFill>
                  <a:effectLst/>
                </a:rPr>
                <a:t>1 MB de Flash e 256 KB RAM</a:t>
              </a:r>
              <a:endParaRPr lang="pt-BR" sz="1200" b="1" dirty="0">
                <a:solidFill>
                  <a:srgbClr val="FF0000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200" b="1" dirty="0">
                  <a:solidFill>
                    <a:srgbClr val="FF0000"/>
                  </a:solidFill>
                </a:rPr>
                <a:t>Protocolos: BLE, NFC e </a:t>
              </a:r>
              <a:r>
                <a:rPr lang="pt-BR" sz="1200" b="1" dirty="0" err="1">
                  <a:solidFill>
                    <a:srgbClr val="FF0000"/>
                  </a:solidFill>
                </a:rPr>
                <a:t>Zigbee</a:t>
              </a:r>
              <a:endParaRPr lang="pt-B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4B4DF38F-0B3D-DA3D-F0BC-E22071E93967}"/>
                </a:ext>
              </a:extLst>
            </p:cNvPr>
            <p:cNvSpPr/>
            <p:nvPr/>
          </p:nvSpPr>
          <p:spPr>
            <a:xfrm>
              <a:off x="8029904" y="4354573"/>
              <a:ext cx="1012372" cy="89732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8C3280FC-541B-B6FB-7EB1-AA62BF0436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147" y="4300145"/>
              <a:ext cx="524956" cy="282265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744F7DA8-6242-E4D5-7F6B-FF17A700CAD4}"/>
                </a:ext>
              </a:extLst>
            </p:cNvPr>
            <p:cNvSpPr txBox="1"/>
            <p:nvPr/>
          </p:nvSpPr>
          <p:spPr>
            <a:xfrm>
              <a:off x="9557655" y="3566748"/>
              <a:ext cx="10722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rgbClr val="00B0F0"/>
                  </a:solidFill>
                </a:rPr>
                <a:t>LED RGB programável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79F01C16-153C-19D3-9244-F9B603423004}"/>
                </a:ext>
              </a:extLst>
            </p:cNvPr>
            <p:cNvSpPr/>
            <p:nvPr/>
          </p:nvSpPr>
          <p:spPr>
            <a:xfrm>
              <a:off x="7723290" y="4295288"/>
              <a:ext cx="231043" cy="222571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8D1EDDBE-8AAA-CC76-25EA-3470E7D11602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 flipV="1">
              <a:off x="7992558" y="3797581"/>
              <a:ext cx="1565097" cy="497707"/>
            </a:xfrm>
            <a:prstGeom prst="straightConnector1">
              <a:avLst/>
            </a:prstGeom>
            <a:noFill/>
            <a:ln w="28575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2465A079-C8DA-FC0E-6A10-8E07995579BE}"/>
                </a:ext>
              </a:extLst>
            </p:cNvPr>
            <p:cNvSpPr txBox="1"/>
            <p:nvPr/>
          </p:nvSpPr>
          <p:spPr>
            <a:xfrm>
              <a:off x="9499842" y="5601931"/>
              <a:ext cx="8579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rgbClr val="7030A0"/>
                  </a:solidFill>
                </a:rPr>
                <a:t>Microfone digital</a:t>
              </a: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115ABC6A-6277-5B3B-8A4C-11704F944117}"/>
                </a:ext>
              </a:extLst>
            </p:cNvPr>
            <p:cNvSpPr/>
            <p:nvPr/>
          </p:nvSpPr>
          <p:spPr>
            <a:xfrm>
              <a:off x="7377789" y="5117475"/>
              <a:ext cx="257451" cy="222571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C372141C-E74A-6E84-E940-EFD81866863F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7798848" y="4882756"/>
              <a:ext cx="1731036" cy="938714"/>
            </a:xfrm>
            <a:prstGeom prst="straightConnector1">
              <a:avLst/>
            </a:prstGeom>
            <a:noFill/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43BCF99-EF57-20E1-7F82-15BA35110F89}"/>
                </a:ext>
              </a:extLst>
            </p:cNvPr>
            <p:cNvSpPr txBox="1"/>
            <p:nvPr/>
          </p:nvSpPr>
          <p:spPr>
            <a:xfrm>
              <a:off x="8161998" y="5832763"/>
              <a:ext cx="8579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rgbClr val="00B050"/>
                  </a:solidFill>
                </a:rPr>
                <a:t>Sensor de pressão</a:t>
              </a: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66D798D9-78C3-0462-1B82-71D3768ADA0A}"/>
                </a:ext>
              </a:extLst>
            </p:cNvPr>
            <p:cNvSpPr/>
            <p:nvPr/>
          </p:nvSpPr>
          <p:spPr>
            <a:xfrm>
              <a:off x="7617901" y="4676696"/>
              <a:ext cx="361893" cy="206060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20E4C5F6-85D6-24B0-CF63-0D5138856244}"/>
                </a:ext>
              </a:extLst>
            </p:cNvPr>
            <p:cNvCxnSpPr>
              <a:cxnSpLocks/>
            </p:cNvCxnSpPr>
            <p:nvPr/>
          </p:nvCxnSpPr>
          <p:spPr>
            <a:xfrm>
              <a:off x="7506514" y="5375736"/>
              <a:ext cx="723086" cy="548532"/>
            </a:xfrm>
            <a:prstGeom prst="straightConnector1">
              <a:avLst/>
            </a:prstGeom>
            <a:noFill/>
            <a:ln w="28575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6B7AFE2D-BAA4-C814-DE0B-69C811686A31}"/>
                </a:ext>
              </a:extLst>
            </p:cNvPr>
            <p:cNvSpPr txBox="1"/>
            <p:nvPr/>
          </p:nvSpPr>
          <p:spPr>
            <a:xfrm>
              <a:off x="7326865" y="2973888"/>
              <a:ext cx="23985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accent1"/>
                  </a:solidFill>
                </a:rPr>
                <a:t>Sensores de movimento, vibração e orientação (acelerômetro, giroscópio e magnetômetro) </a:t>
              </a:r>
            </a:p>
          </p:txBody>
        </p: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7DF784A4-D92C-4436-C98A-C2937CBF57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7655" y="3325354"/>
              <a:ext cx="156704" cy="969934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05913BC1-063E-FB22-F391-B78D7E4A1D61}"/>
                </a:ext>
              </a:extLst>
            </p:cNvPr>
            <p:cNvSpPr/>
            <p:nvPr/>
          </p:nvSpPr>
          <p:spPr>
            <a:xfrm>
              <a:off x="7155260" y="4307988"/>
              <a:ext cx="384790" cy="30025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96829EC0-C1FA-0391-9477-DA22C7512186}"/>
                </a:ext>
              </a:extLst>
            </p:cNvPr>
            <p:cNvSpPr txBox="1"/>
            <p:nvPr/>
          </p:nvSpPr>
          <p:spPr>
            <a:xfrm>
              <a:off x="5165867" y="3118421"/>
              <a:ext cx="18602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accent2"/>
                  </a:solidFill>
                </a:rPr>
                <a:t>Sensores de proximidade, luminosidade, cor e gesto.</a:t>
              </a:r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98912813-1A19-27F8-C9E3-2B696CC0051B}"/>
                </a:ext>
              </a:extLst>
            </p:cNvPr>
            <p:cNvSpPr/>
            <p:nvPr/>
          </p:nvSpPr>
          <p:spPr>
            <a:xfrm>
              <a:off x="7326460" y="4665599"/>
              <a:ext cx="257451" cy="233667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42" name="Conector de Seta Reta 41">
              <a:extLst>
                <a:ext uri="{FF2B5EF4-FFF2-40B4-BE49-F238E27FC236}">
                  <a16:creationId xmlns:a16="http://schemas.microsoft.com/office/drawing/2014/main" id="{598749E6-23E4-D33D-FFCC-1571ED254831}"/>
                </a:ext>
              </a:extLst>
            </p:cNvPr>
            <p:cNvCxnSpPr>
              <a:cxnSpLocks/>
              <a:stCxn id="40" idx="2"/>
              <a:endCxn id="41" idx="1"/>
            </p:cNvCxnSpPr>
            <p:nvPr/>
          </p:nvCxnSpPr>
          <p:spPr>
            <a:xfrm>
              <a:off x="6096000" y="3580086"/>
              <a:ext cx="1230460" cy="1202347"/>
            </a:xfrm>
            <a:prstGeom prst="straightConnector1">
              <a:avLst/>
            </a:prstGeom>
            <a:noFill/>
            <a:ln w="28575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FB53EC6E-AC10-D00A-ED0F-F992745943FF}"/>
                </a:ext>
              </a:extLst>
            </p:cNvPr>
            <p:cNvSpPr txBox="1"/>
            <p:nvPr/>
          </p:nvSpPr>
          <p:spPr>
            <a:xfrm>
              <a:off x="5857340" y="5798039"/>
              <a:ext cx="10846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accent4">
                      <a:lumMod val="75000"/>
                    </a:schemeClr>
                  </a:solidFill>
                </a:rPr>
                <a:t>LED laranja programável</a:t>
              </a: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262C2446-7D08-DDC9-E207-FB0F707A0F41}"/>
                </a:ext>
              </a:extLst>
            </p:cNvPr>
            <p:cNvSpPr/>
            <p:nvPr/>
          </p:nvSpPr>
          <p:spPr>
            <a:xfrm>
              <a:off x="5352834" y="5209621"/>
              <a:ext cx="200820" cy="166115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51" name="Conector de Seta Reta 50">
              <a:extLst>
                <a:ext uri="{FF2B5EF4-FFF2-40B4-BE49-F238E27FC236}">
                  <a16:creationId xmlns:a16="http://schemas.microsoft.com/office/drawing/2014/main" id="{29F7C94F-9498-BD35-74AA-F1EA4AD0D9C9}"/>
                </a:ext>
              </a:extLst>
            </p:cNvPr>
            <p:cNvCxnSpPr>
              <a:cxnSpLocks/>
              <a:stCxn id="50" idx="2"/>
            </p:cNvCxnSpPr>
            <p:nvPr/>
          </p:nvCxnSpPr>
          <p:spPr>
            <a:xfrm>
              <a:off x="5453244" y="5375736"/>
              <a:ext cx="530954" cy="546495"/>
            </a:xfrm>
            <a:prstGeom prst="straightConnector1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952389E0-7017-85C3-0A7B-78EE7817DE73}"/>
                </a:ext>
              </a:extLst>
            </p:cNvPr>
            <p:cNvSpPr txBox="1"/>
            <p:nvPr/>
          </p:nvSpPr>
          <p:spPr>
            <a:xfrm>
              <a:off x="4344925" y="5602832"/>
              <a:ext cx="8579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rgbClr val="92D050"/>
                  </a:solidFill>
                </a:rPr>
                <a:t>Porta </a:t>
              </a:r>
              <a:r>
                <a:rPr lang="pt-BR" sz="1200" b="1" dirty="0" err="1">
                  <a:solidFill>
                    <a:srgbClr val="92D050"/>
                  </a:solidFill>
                </a:rPr>
                <a:t>micro-USB</a:t>
              </a:r>
              <a:endParaRPr lang="pt-BR" sz="1200" b="1" dirty="0">
                <a:solidFill>
                  <a:srgbClr val="92D050"/>
                </a:solidFill>
              </a:endParaRPr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1346F759-CF5E-191E-D223-5AD4FE92EBDD}"/>
                </a:ext>
              </a:extLst>
            </p:cNvPr>
            <p:cNvSpPr/>
            <p:nvPr/>
          </p:nvSpPr>
          <p:spPr>
            <a:xfrm>
              <a:off x="5147913" y="4426548"/>
              <a:ext cx="638096" cy="700331"/>
            </a:xfrm>
            <a:prstGeom prst="rect">
              <a:avLst/>
            </a:prstGeom>
            <a:noFill/>
            <a:ln w="28575">
              <a:solidFill>
                <a:srgbClr val="92D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59" name="Conector de Seta Reta 58">
              <a:extLst>
                <a:ext uri="{FF2B5EF4-FFF2-40B4-BE49-F238E27FC236}">
                  <a16:creationId xmlns:a16="http://schemas.microsoft.com/office/drawing/2014/main" id="{B9D93D9E-C8DC-7779-6A02-45F288D10C6A}"/>
                </a:ext>
              </a:extLst>
            </p:cNvPr>
            <p:cNvCxnSpPr>
              <a:cxnSpLocks/>
              <a:endCxn id="57" idx="0"/>
            </p:cNvCxnSpPr>
            <p:nvPr/>
          </p:nvCxnSpPr>
          <p:spPr>
            <a:xfrm flipH="1">
              <a:off x="4773882" y="4608241"/>
              <a:ext cx="374031" cy="994591"/>
            </a:xfrm>
            <a:prstGeom prst="straightConnector1">
              <a:avLst/>
            </a:prstGeom>
            <a:noFill/>
            <a:ln w="28575">
              <a:solidFill>
                <a:srgbClr val="92D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240" name="CaixaDeTexto 10239">
              <a:extLst>
                <a:ext uri="{FF2B5EF4-FFF2-40B4-BE49-F238E27FC236}">
                  <a16:creationId xmlns:a16="http://schemas.microsoft.com/office/drawing/2014/main" id="{ACEA0CA7-6084-9663-E30A-A26E85D127F1}"/>
                </a:ext>
              </a:extLst>
            </p:cNvPr>
            <p:cNvSpPr txBox="1"/>
            <p:nvPr/>
          </p:nvSpPr>
          <p:spPr>
            <a:xfrm>
              <a:off x="4201425" y="4175740"/>
              <a:ext cx="9301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rgbClr val="DF1F56"/>
                  </a:solidFill>
                </a:rPr>
                <a:t>Power LED</a:t>
              </a:r>
            </a:p>
            <a:p>
              <a:pPr algn="ctr"/>
              <a:r>
                <a:rPr lang="pt-BR" sz="1200" b="1" dirty="0">
                  <a:solidFill>
                    <a:srgbClr val="DF1F56"/>
                  </a:solidFill>
                </a:rPr>
                <a:t>(verde)</a:t>
              </a:r>
            </a:p>
          </p:txBody>
        </p:sp>
        <p:sp>
          <p:nvSpPr>
            <p:cNvPr id="10241" name="Retângulo 10240">
              <a:extLst>
                <a:ext uri="{FF2B5EF4-FFF2-40B4-BE49-F238E27FC236}">
                  <a16:creationId xmlns:a16="http://schemas.microsoft.com/office/drawing/2014/main" id="{B79850C3-2C6A-39E1-8866-4764A9FA7DD1}"/>
                </a:ext>
              </a:extLst>
            </p:cNvPr>
            <p:cNvSpPr/>
            <p:nvPr/>
          </p:nvSpPr>
          <p:spPr>
            <a:xfrm>
              <a:off x="5329973" y="4116572"/>
              <a:ext cx="242105" cy="129319"/>
            </a:xfrm>
            <a:prstGeom prst="rect">
              <a:avLst/>
            </a:prstGeom>
            <a:noFill/>
            <a:ln w="28575">
              <a:solidFill>
                <a:srgbClr val="DF1F56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0243" name="Conector de Seta Reta 10242">
              <a:extLst>
                <a:ext uri="{FF2B5EF4-FFF2-40B4-BE49-F238E27FC236}">
                  <a16:creationId xmlns:a16="http://schemas.microsoft.com/office/drawing/2014/main" id="{307FACED-D395-31EB-9CE0-3FFAEFAA0FFD}"/>
                </a:ext>
              </a:extLst>
            </p:cNvPr>
            <p:cNvCxnSpPr>
              <a:cxnSpLocks/>
              <a:stCxn id="10241" idx="1"/>
            </p:cNvCxnSpPr>
            <p:nvPr/>
          </p:nvCxnSpPr>
          <p:spPr>
            <a:xfrm flipH="1">
              <a:off x="4967781" y="4181232"/>
              <a:ext cx="362192" cy="225340"/>
            </a:xfrm>
            <a:prstGeom prst="straightConnector1">
              <a:avLst/>
            </a:prstGeom>
            <a:noFill/>
            <a:ln w="28575">
              <a:solidFill>
                <a:srgbClr val="DF1F56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48" name="AutoShape 6">
            <a:extLst>
              <a:ext uri="{FF2B5EF4-FFF2-40B4-BE49-F238E27FC236}">
                <a16:creationId xmlns:a16="http://schemas.microsoft.com/office/drawing/2014/main" id="{A32630F5-5EA5-4872-BFC4-197B23B5BC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251" name="Picture 8">
            <a:extLst>
              <a:ext uri="{FF2B5EF4-FFF2-40B4-BE49-F238E27FC236}">
                <a16:creationId xmlns:a16="http://schemas.microsoft.com/office/drawing/2014/main" id="{1AB89BD5-FD3F-013F-5BFB-862DE11A0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9" t="21925" r="14082" b="21925"/>
          <a:stretch/>
        </p:blipFill>
        <p:spPr bwMode="auto">
          <a:xfrm>
            <a:off x="822495" y="4265320"/>
            <a:ext cx="1914901" cy="149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3" name="CaixaDeTexto 10252">
            <a:extLst>
              <a:ext uri="{FF2B5EF4-FFF2-40B4-BE49-F238E27FC236}">
                <a16:creationId xmlns:a16="http://schemas.microsoft.com/office/drawing/2014/main" id="{DD86C9DC-7535-71FA-102C-57F3E4D7319A}"/>
              </a:ext>
            </a:extLst>
          </p:cNvPr>
          <p:cNvSpPr txBox="1"/>
          <p:nvPr/>
        </p:nvSpPr>
        <p:spPr>
          <a:xfrm>
            <a:off x="17740" y="5641544"/>
            <a:ext cx="39955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0" i="0" dirty="0">
                <a:effectLst/>
              </a:rPr>
              <a:t>Câmera de 0.3 Mega Pixels</a:t>
            </a:r>
            <a:endParaRPr lang="pt-BR" sz="1200" b="1" i="0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i="0" dirty="0">
                <a:effectLst/>
              </a:rPr>
              <a:t>Resoluções (pixels)</a:t>
            </a:r>
            <a:r>
              <a:rPr lang="pt-BR" sz="1200" b="0" i="0" dirty="0">
                <a:effectLst/>
              </a:rPr>
              <a:t>: 640x480 (VGA), 320x240 (QVGA) e 160x120 (QQVGA)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i="0" dirty="0">
                <a:effectLst/>
              </a:rPr>
              <a:t>Frames por segundo</a:t>
            </a:r>
            <a:r>
              <a:rPr lang="pt-BR" sz="1200" b="0" i="0" dirty="0">
                <a:effectLst/>
              </a:rPr>
              <a:t>: 30 (VGA), 60 (QVGA) e 240 (QQVGA)</a:t>
            </a:r>
            <a:endParaRPr lang="pt-BR" sz="1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0EB696-E0ED-86E0-4C6B-21E58F68982E}"/>
              </a:ext>
            </a:extLst>
          </p:cNvPr>
          <p:cNvSpPr txBox="1"/>
          <p:nvPr/>
        </p:nvSpPr>
        <p:spPr>
          <a:xfrm>
            <a:off x="10440451" y="6413786"/>
            <a:ext cx="1790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i="1" dirty="0"/>
              <a:t>*</a:t>
            </a:r>
            <a:r>
              <a:rPr lang="pt-BR" sz="1200" dirty="0"/>
              <a:t> Sem sensor de temperatura e humidade.</a:t>
            </a:r>
          </a:p>
        </p:txBody>
      </p:sp>
    </p:spTree>
    <p:extLst>
      <p:ext uri="{BB962C8B-B14F-4D97-AF65-F5344CB8AC3E}">
        <p14:creationId xmlns:p14="http://schemas.microsoft.com/office/powerpoint/2010/main" val="41100953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8125E-9E8E-A17C-0760-17C0488B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 práticas</a:t>
            </a:r>
          </a:p>
        </p:txBody>
      </p:sp>
      <p:pic>
        <p:nvPicPr>
          <p:cNvPr id="12294" name="Picture 6" descr="The Future is Touchless: Radical Gesture Control Powered by Radar and tinyML  | Imagimob">
            <a:extLst>
              <a:ext uri="{FF2B5EF4-FFF2-40B4-BE49-F238E27FC236}">
                <a16:creationId xmlns:a16="http://schemas.microsoft.com/office/drawing/2014/main" id="{0769FBAF-7605-C8DB-E3CD-7C3A04307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510" y="3696664"/>
            <a:ext cx="2153960" cy="120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3CF1C0EA-6FA0-4CCC-9010-FCAEF6E417D9}"/>
              </a:ext>
            </a:extLst>
          </p:cNvPr>
          <p:cNvGrpSpPr/>
          <p:nvPr/>
        </p:nvGrpSpPr>
        <p:grpSpPr>
          <a:xfrm>
            <a:off x="954312" y="1604760"/>
            <a:ext cx="1369788" cy="1325563"/>
            <a:chOff x="4265613" y="1578925"/>
            <a:chExt cx="1830387" cy="1790490"/>
          </a:xfrm>
        </p:grpSpPr>
        <p:pic>
          <p:nvPicPr>
            <p:cNvPr id="12296" name="Picture 8" descr="Activity Recognition in Android — Still, Walking, Running, Driving and much  more">
              <a:extLst>
                <a:ext uri="{FF2B5EF4-FFF2-40B4-BE49-F238E27FC236}">
                  <a16:creationId xmlns:a16="http://schemas.microsoft.com/office/drawing/2014/main" id="{97B2DD54-DE0C-14EC-2929-D945E2CD02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4" t="48704" r="53112" b="14096"/>
            <a:stretch/>
          </p:blipFill>
          <p:spPr bwMode="auto">
            <a:xfrm>
              <a:off x="4406900" y="1578925"/>
              <a:ext cx="1558925" cy="895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8" descr="Activity Recognition in Android — Still, Walking, Running, Driving and much  more">
              <a:extLst>
                <a:ext uri="{FF2B5EF4-FFF2-40B4-BE49-F238E27FC236}">
                  <a16:creationId xmlns:a16="http://schemas.microsoft.com/office/drawing/2014/main" id="{BC2A5D8E-695D-9830-3B50-138AE648B9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80" t="48704" r="2715" b="14096"/>
            <a:stretch/>
          </p:blipFill>
          <p:spPr bwMode="auto">
            <a:xfrm>
              <a:off x="4265613" y="2474170"/>
              <a:ext cx="1830387" cy="895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C340BBE2-0680-2746-EA34-3776A15F4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057" y="1717051"/>
            <a:ext cx="1173678" cy="1506221"/>
          </a:xfrm>
          <a:prstGeom prst="rect">
            <a:avLst/>
          </a:prstGeom>
        </p:spPr>
      </p:pic>
      <p:pic>
        <p:nvPicPr>
          <p:cNvPr id="12298" name="Picture 10" descr="10 Papers You Should Read to Understand Image Classification in the Deep  Learning Era | by Imaginaire AI | Towards Data Science">
            <a:extLst>
              <a:ext uri="{FF2B5EF4-FFF2-40B4-BE49-F238E27FC236}">
                <a16:creationId xmlns:a16="http://schemas.microsoft.com/office/drawing/2014/main" id="{935BD11B-1ACD-C57D-7C88-68077AE3F1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4" t="14521" r="1338" b="10562"/>
          <a:stretch/>
        </p:blipFill>
        <p:spPr bwMode="auto">
          <a:xfrm>
            <a:off x="3259974" y="3844217"/>
            <a:ext cx="2684040" cy="119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03AECC94-D589-3893-7BAF-B5BB686D48D2}"/>
              </a:ext>
            </a:extLst>
          </p:cNvPr>
          <p:cNvSpPr txBox="1"/>
          <p:nvPr/>
        </p:nvSpPr>
        <p:spPr>
          <a:xfrm>
            <a:off x="8796100" y="2784551"/>
            <a:ext cx="25713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dirty="0">
                <a:solidFill>
                  <a:srgbClr val="374151"/>
                </a:solidFill>
                <a:effectLst/>
              </a:rPr>
              <a:t>Visual </a:t>
            </a:r>
            <a:r>
              <a:rPr lang="pt-BR" sz="1400" b="1" i="0" dirty="0" err="1">
                <a:solidFill>
                  <a:srgbClr val="374151"/>
                </a:solidFill>
                <a:effectLst/>
              </a:rPr>
              <a:t>wake</a:t>
            </a:r>
            <a:r>
              <a:rPr lang="pt-BR" sz="1400" b="1" i="0" dirty="0">
                <a:solidFill>
                  <a:srgbClr val="374151"/>
                </a:solidFill>
                <a:effectLst/>
              </a:rPr>
              <a:t> imagens</a:t>
            </a:r>
            <a:endParaRPr lang="pt-BR" sz="1400" b="1" dirty="0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02FB3B86-1180-5B08-6DF3-BADE30E37841}"/>
              </a:ext>
            </a:extLst>
          </p:cNvPr>
          <p:cNvGrpSpPr/>
          <p:nvPr/>
        </p:nvGrpSpPr>
        <p:grpSpPr>
          <a:xfrm>
            <a:off x="8833983" y="1523740"/>
            <a:ext cx="2519817" cy="1228815"/>
            <a:chOff x="5190462" y="3739769"/>
            <a:chExt cx="4713500" cy="1975610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D433526E-5069-26E5-41E9-BBD4F43A91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6879" r="2831" b="59095"/>
            <a:stretch/>
          </p:blipFill>
          <p:spPr>
            <a:xfrm>
              <a:off x="5190462" y="3739769"/>
              <a:ext cx="2356750" cy="1975610"/>
            </a:xfrm>
            <a:prstGeom prst="rect">
              <a:avLst/>
            </a:prstGeom>
          </p:spPr>
        </p:pic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2800CFE8-9CB9-30B1-D518-4639B44B94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6879" t="59142" r="2831" b="565"/>
            <a:stretch/>
          </p:blipFill>
          <p:spPr>
            <a:xfrm>
              <a:off x="7547212" y="3740642"/>
              <a:ext cx="2356750" cy="1946067"/>
            </a:xfrm>
            <a:prstGeom prst="rect">
              <a:avLst/>
            </a:prstGeom>
          </p:spPr>
        </p:pic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2496909-ABA7-36AD-9982-99B229E9EA39}"/>
              </a:ext>
            </a:extLst>
          </p:cNvPr>
          <p:cNvSpPr txBox="1"/>
          <p:nvPr/>
        </p:nvSpPr>
        <p:spPr>
          <a:xfrm>
            <a:off x="796613" y="2938439"/>
            <a:ext cx="15841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dirty="0">
                <a:solidFill>
                  <a:srgbClr val="374151"/>
                </a:solidFill>
                <a:effectLst/>
              </a:rPr>
              <a:t>Classificação de movimento ou atividade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B8ECAF8-8B02-2348-05C9-5F00DC355164}"/>
              </a:ext>
            </a:extLst>
          </p:cNvPr>
          <p:cNvGrpSpPr/>
          <p:nvPr/>
        </p:nvGrpSpPr>
        <p:grpSpPr>
          <a:xfrm>
            <a:off x="3259974" y="1665287"/>
            <a:ext cx="2491260" cy="1699532"/>
            <a:chOff x="2768144" y="1604364"/>
            <a:chExt cx="2983090" cy="1950956"/>
          </a:xfrm>
        </p:grpSpPr>
        <p:pic>
          <p:nvPicPr>
            <p:cNvPr id="12292" name="Picture 4" descr="GitHub - DHI/tsod: Anomaly Detection for time series data">
              <a:extLst>
                <a:ext uri="{FF2B5EF4-FFF2-40B4-BE49-F238E27FC236}">
                  <a16:creationId xmlns:a16="http://schemas.microsoft.com/office/drawing/2014/main" id="{18AD592E-A3D7-D548-85C5-BDE9C25AED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676" r="8541"/>
            <a:stretch/>
          </p:blipFill>
          <p:spPr bwMode="auto">
            <a:xfrm>
              <a:off x="2768144" y="2133659"/>
              <a:ext cx="2183469" cy="14216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02" name="Picture 14" descr="A sustainable and cost efficient approach to contactless machine failure  detection - BALTIC INDUSTRY">
              <a:extLst>
                <a:ext uri="{FF2B5EF4-FFF2-40B4-BE49-F238E27FC236}">
                  <a16:creationId xmlns:a16="http://schemas.microsoft.com/office/drawing/2014/main" id="{AB481657-7347-4F2A-7D09-2558509A4D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0987" y="1604364"/>
              <a:ext cx="1580247" cy="8790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AE499D1-93C3-FEDF-3575-7B56E83A2F1B}"/>
              </a:ext>
            </a:extLst>
          </p:cNvPr>
          <p:cNvSpPr txBox="1"/>
          <p:nvPr/>
        </p:nvSpPr>
        <p:spPr>
          <a:xfrm>
            <a:off x="3067194" y="3349026"/>
            <a:ext cx="2684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dirty="0">
                <a:solidFill>
                  <a:srgbClr val="374151"/>
                </a:solidFill>
                <a:effectLst/>
              </a:rPr>
              <a:t>Detecção/previsão de anomalias</a:t>
            </a:r>
            <a:endParaRPr lang="pt-BR" sz="1400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A1FD510-59AA-AF6E-99DD-7D22F509CD85}"/>
              </a:ext>
            </a:extLst>
          </p:cNvPr>
          <p:cNvSpPr txBox="1"/>
          <p:nvPr/>
        </p:nvSpPr>
        <p:spPr>
          <a:xfrm>
            <a:off x="6396085" y="3156697"/>
            <a:ext cx="1688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dirty="0" err="1">
                <a:solidFill>
                  <a:srgbClr val="374151"/>
                </a:solidFill>
                <a:effectLst/>
              </a:rPr>
              <a:t>Keyword</a:t>
            </a:r>
            <a:r>
              <a:rPr lang="pt-BR" sz="1400" b="1" i="0" dirty="0">
                <a:solidFill>
                  <a:srgbClr val="374151"/>
                </a:solidFill>
                <a:effectLst/>
              </a:rPr>
              <a:t> </a:t>
            </a:r>
            <a:r>
              <a:rPr lang="pt-BR" sz="1400" b="1" i="0" dirty="0" err="1">
                <a:solidFill>
                  <a:srgbClr val="374151"/>
                </a:solidFill>
                <a:effectLst/>
              </a:rPr>
              <a:t>spotting</a:t>
            </a:r>
            <a:endParaRPr lang="pt-BR" sz="1400" b="1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5BF10BB-BC0C-6758-04B9-98D50C2DAD04}"/>
              </a:ext>
            </a:extLst>
          </p:cNvPr>
          <p:cNvSpPr txBox="1"/>
          <p:nvPr/>
        </p:nvSpPr>
        <p:spPr>
          <a:xfrm>
            <a:off x="3157880" y="5037290"/>
            <a:ext cx="30851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dirty="0">
                <a:solidFill>
                  <a:srgbClr val="374151"/>
                </a:solidFill>
                <a:effectLst/>
              </a:rPr>
              <a:t>Classificação de imagens</a:t>
            </a:r>
            <a:endParaRPr lang="pt-BR" sz="1400"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8C89151-94F6-D9E9-4803-1BFAB4F2A464}"/>
              </a:ext>
            </a:extLst>
          </p:cNvPr>
          <p:cNvSpPr txBox="1"/>
          <p:nvPr/>
        </p:nvSpPr>
        <p:spPr>
          <a:xfrm>
            <a:off x="6542102" y="4976845"/>
            <a:ext cx="30851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i="0" dirty="0">
                <a:solidFill>
                  <a:srgbClr val="374151"/>
                </a:solidFill>
                <a:effectLst/>
              </a:rPr>
              <a:t>Classificação de gestos</a:t>
            </a:r>
            <a:endParaRPr lang="pt-BR" sz="1400" b="1" dirty="0"/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5E871C71-FFC2-8FC4-202C-D7593431B347}"/>
              </a:ext>
            </a:extLst>
          </p:cNvPr>
          <p:cNvGrpSpPr/>
          <p:nvPr/>
        </p:nvGrpSpPr>
        <p:grpSpPr>
          <a:xfrm>
            <a:off x="1572054" y="5596117"/>
            <a:ext cx="8917158" cy="1199770"/>
            <a:chOff x="796613" y="5654707"/>
            <a:chExt cx="8917158" cy="1199770"/>
          </a:xfrm>
        </p:grpSpPr>
        <p:pic>
          <p:nvPicPr>
            <p:cNvPr id="29" name="Picture 4" descr="Edge Impulse - Edge AI and Vision Alliance">
              <a:extLst>
                <a:ext uri="{FF2B5EF4-FFF2-40B4-BE49-F238E27FC236}">
                  <a16:creationId xmlns:a16="http://schemas.microsoft.com/office/drawing/2014/main" id="{BFA7B68A-DCD8-4AC5-7D90-181A27694D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108"/>
            <a:stretch/>
          </p:blipFill>
          <p:spPr bwMode="auto">
            <a:xfrm>
              <a:off x="4607931" y="5654707"/>
              <a:ext cx="916818" cy="11786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8">
              <a:extLst>
                <a:ext uri="{FF2B5EF4-FFF2-40B4-BE49-F238E27FC236}">
                  <a16:creationId xmlns:a16="http://schemas.microsoft.com/office/drawing/2014/main" id="{206C4AFC-2DB5-E119-A82A-ADF7CE2DE1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62" t="18147" r="18585" b="19379"/>
            <a:stretch/>
          </p:blipFill>
          <p:spPr bwMode="auto">
            <a:xfrm>
              <a:off x="1986796" y="5858930"/>
              <a:ext cx="1203168" cy="7395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0" descr="Projeto Jupyter – Wikipédia, a enciclopédia livre">
              <a:extLst>
                <a:ext uri="{FF2B5EF4-FFF2-40B4-BE49-F238E27FC236}">
                  <a16:creationId xmlns:a16="http://schemas.microsoft.com/office/drawing/2014/main" id="{AABF2B7D-D129-0961-67C1-DA7917B2B5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613" y="5810648"/>
              <a:ext cx="745055" cy="86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6" descr="TensorFlow - Wikipedia">
              <a:extLst>
                <a:ext uri="{FF2B5EF4-FFF2-40B4-BE49-F238E27FC236}">
                  <a16:creationId xmlns:a16="http://schemas.microsoft.com/office/drawing/2014/main" id="{E7D47A3E-5A8E-8C8F-BC74-5092842CA3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39" t="16816" r="36413" b="48512"/>
            <a:stretch/>
          </p:blipFill>
          <p:spPr bwMode="auto">
            <a:xfrm>
              <a:off x="3555703" y="5911976"/>
              <a:ext cx="686489" cy="633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14" descr="Nano 33 BLE - Arduino | Mouser">
              <a:extLst>
                <a:ext uri="{FF2B5EF4-FFF2-40B4-BE49-F238E27FC236}">
                  <a16:creationId xmlns:a16="http://schemas.microsoft.com/office/drawing/2014/main" id="{993D6270-E034-16F0-1BA3-100CF93D28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2" t="5736" r="4789" b="4574"/>
            <a:stretch/>
          </p:blipFill>
          <p:spPr bwMode="auto">
            <a:xfrm>
              <a:off x="6585015" y="5654707"/>
              <a:ext cx="1671107" cy="1199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6" descr="ArduCam OV7675 0,3MPx 640x480px 60fps - camera Botland - Robotic Shop">
              <a:extLst>
                <a:ext uri="{FF2B5EF4-FFF2-40B4-BE49-F238E27FC236}">
                  <a16:creationId xmlns:a16="http://schemas.microsoft.com/office/drawing/2014/main" id="{4E73A754-AC81-35C3-E101-98AF43B7FF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61" t="11269" r="7778" b="10953"/>
            <a:stretch/>
          </p:blipFill>
          <p:spPr bwMode="auto">
            <a:xfrm>
              <a:off x="8777771" y="5847706"/>
              <a:ext cx="936000" cy="858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Sinal de Adição 35">
              <a:extLst>
                <a:ext uri="{FF2B5EF4-FFF2-40B4-BE49-F238E27FC236}">
                  <a16:creationId xmlns:a16="http://schemas.microsoft.com/office/drawing/2014/main" id="{63766C61-6A62-00D4-BDFE-8B88518983F3}"/>
                </a:ext>
              </a:extLst>
            </p:cNvPr>
            <p:cNvSpPr/>
            <p:nvPr/>
          </p:nvSpPr>
          <p:spPr>
            <a:xfrm>
              <a:off x="1605417" y="6192780"/>
              <a:ext cx="288000" cy="28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Sinal de Adição 36">
              <a:extLst>
                <a:ext uri="{FF2B5EF4-FFF2-40B4-BE49-F238E27FC236}">
                  <a16:creationId xmlns:a16="http://schemas.microsoft.com/office/drawing/2014/main" id="{EF3489D7-1DA5-EDB6-052B-1C370D5C1EC2}"/>
                </a:ext>
              </a:extLst>
            </p:cNvPr>
            <p:cNvSpPr/>
            <p:nvPr/>
          </p:nvSpPr>
          <p:spPr>
            <a:xfrm>
              <a:off x="3193618" y="6139361"/>
              <a:ext cx="288000" cy="28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Sinal de Adição 37">
              <a:extLst>
                <a:ext uri="{FF2B5EF4-FFF2-40B4-BE49-F238E27FC236}">
                  <a16:creationId xmlns:a16="http://schemas.microsoft.com/office/drawing/2014/main" id="{775DE564-1D9E-462C-6417-627092B0C7EE}"/>
                </a:ext>
              </a:extLst>
            </p:cNvPr>
            <p:cNvSpPr/>
            <p:nvPr/>
          </p:nvSpPr>
          <p:spPr>
            <a:xfrm>
              <a:off x="4171711" y="6179885"/>
              <a:ext cx="288000" cy="28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Seta: para a Direita 38">
              <a:extLst>
                <a:ext uri="{FF2B5EF4-FFF2-40B4-BE49-F238E27FC236}">
                  <a16:creationId xmlns:a16="http://schemas.microsoft.com/office/drawing/2014/main" id="{50BAF6F1-D392-DD69-791B-D1403752DE95}"/>
                </a:ext>
              </a:extLst>
            </p:cNvPr>
            <p:cNvSpPr/>
            <p:nvPr/>
          </p:nvSpPr>
          <p:spPr>
            <a:xfrm>
              <a:off x="5732455" y="6008754"/>
              <a:ext cx="644853" cy="45913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Sinal de Adição 39">
              <a:extLst>
                <a:ext uri="{FF2B5EF4-FFF2-40B4-BE49-F238E27FC236}">
                  <a16:creationId xmlns:a16="http://schemas.microsoft.com/office/drawing/2014/main" id="{1089E2F4-F1CB-40A2-F1E2-A745A4DEAB71}"/>
                </a:ext>
              </a:extLst>
            </p:cNvPr>
            <p:cNvSpPr/>
            <p:nvPr/>
          </p:nvSpPr>
          <p:spPr>
            <a:xfrm>
              <a:off x="8303012" y="6139361"/>
              <a:ext cx="288000" cy="28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3" name="Chave Esquerda 42">
            <a:extLst>
              <a:ext uri="{FF2B5EF4-FFF2-40B4-BE49-F238E27FC236}">
                <a16:creationId xmlns:a16="http://schemas.microsoft.com/office/drawing/2014/main" id="{EA597913-1037-7B8D-120B-6D36F526980F}"/>
              </a:ext>
            </a:extLst>
          </p:cNvPr>
          <p:cNvSpPr/>
          <p:nvPr/>
        </p:nvSpPr>
        <p:spPr>
          <a:xfrm rot="16200000">
            <a:off x="6045543" y="38514"/>
            <a:ext cx="415405" cy="10830090"/>
          </a:xfrm>
          <a:prstGeom prst="leftBrac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4CD3EBA-F028-A36E-9FB3-1C4C0F10BC07}"/>
              </a:ext>
            </a:extLst>
          </p:cNvPr>
          <p:cNvSpPr txBox="1"/>
          <p:nvPr/>
        </p:nvSpPr>
        <p:spPr>
          <a:xfrm>
            <a:off x="622934" y="3688366"/>
            <a:ext cx="193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</a:rPr>
              <a:t>Sensores: acelerômetro, giroscópio, magnetômetro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3FFF6A-9567-A702-5C19-CE656918DF52}"/>
              </a:ext>
            </a:extLst>
          </p:cNvPr>
          <p:cNvSpPr txBox="1"/>
          <p:nvPr/>
        </p:nvSpPr>
        <p:spPr>
          <a:xfrm>
            <a:off x="5791888" y="4679908"/>
            <a:ext cx="716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</a:rPr>
              <a:t>Sensor: câmera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BFC3FB6-08A0-4000-4393-42BB50AAB37C}"/>
              </a:ext>
            </a:extLst>
          </p:cNvPr>
          <p:cNvSpPr txBox="1"/>
          <p:nvPr/>
        </p:nvSpPr>
        <p:spPr>
          <a:xfrm>
            <a:off x="9205531" y="4638291"/>
            <a:ext cx="1266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</a:rPr>
              <a:t>Sensores: câmera e/ou acelerômetro.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53C3F8C-3D4D-4D82-813C-CBCF4646473A}"/>
              </a:ext>
            </a:extLst>
          </p:cNvPr>
          <p:cNvSpPr txBox="1"/>
          <p:nvPr/>
        </p:nvSpPr>
        <p:spPr>
          <a:xfrm>
            <a:off x="5132751" y="2570938"/>
            <a:ext cx="1266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</a:rPr>
              <a:t>Sensores: câmera e/ou acelerômetro.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8F7287D-28B5-8E8C-DB9A-A7A65C8EF856}"/>
              </a:ext>
            </a:extLst>
          </p:cNvPr>
          <p:cNvSpPr txBox="1"/>
          <p:nvPr/>
        </p:nvSpPr>
        <p:spPr>
          <a:xfrm>
            <a:off x="7732780" y="3136821"/>
            <a:ext cx="1266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</a:rPr>
              <a:t>Sensor: microfone.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328723-444C-C17A-EEF2-90460529B6A0}"/>
              </a:ext>
            </a:extLst>
          </p:cNvPr>
          <p:cNvSpPr txBox="1"/>
          <p:nvPr/>
        </p:nvSpPr>
        <p:spPr>
          <a:xfrm>
            <a:off x="10734022" y="2965088"/>
            <a:ext cx="1266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</a:rPr>
              <a:t>Sensor: câmera.</a:t>
            </a:r>
          </a:p>
        </p:txBody>
      </p:sp>
    </p:spTree>
    <p:extLst>
      <p:ext uri="{BB962C8B-B14F-4D97-AF65-F5344CB8AC3E}">
        <p14:creationId xmlns:p14="http://schemas.microsoft.com/office/powerpoint/2010/main" val="37764821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4684C-1159-4F88-A2B1-6BABEDE38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432B31-D382-41FF-BB6B-2ABDD3224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48915"/>
            <a:ext cx="11157155" cy="5209085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[1] Daniel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Situnayake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 Pete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Warden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“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TinyML: Machine Learning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TensorFlow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Lite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on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Arduino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Ultra-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Low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-Power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Microcontrollers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”, 1st ed., O'Reilly Media, 2019.</a:t>
            </a:r>
            <a:endParaRPr lang="pt-BR" sz="2400" b="0" dirty="0">
              <a:effectLst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[2]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Aurélien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Géron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“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Hands-On Machine Learning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Scikit-Learn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TensorFlow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Concepts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, Tools,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Techniques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Build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Intelligent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Systems</a:t>
            </a:r>
            <a:r>
              <a:rPr lang="pt-BR" sz="2400" dirty="0">
                <a:solidFill>
                  <a:srgbClr val="000000"/>
                </a:solidFill>
              </a:rPr>
              <a:t>”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1st ed., O'Reilly Media, 2017.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[3] Agus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Kurniawan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“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IoT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Projects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Arduino Nano 33 BLE Sense: Step-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By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-Step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Projects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for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Beginners</a:t>
            </a:r>
            <a:r>
              <a:rPr lang="pt-BR" sz="2400" dirty="0">
                <a:solidFill>
                  <a:srgbClr val="000000"/>
                </a:solidFill>
              </a:rPr>
              <a:t>”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Apress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2020.</a:t>
            </a:r>
            <a:endParaRPr lang="pt-BR" sz="2400" b="0" dirty="0">
              <a:effectLst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[4] Stuart Russell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 Peter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Norvig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“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Artificial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Intelligence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: A 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Modern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Approach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”, Prentice Hall Series in Artificial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Intelligence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3rd ed., 2015.</a:t>
            </a:r>
            <a:endParaRPr lang="pt-BR" sz="2400" b="0" dirty="0">
              <a:effectLst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[5] Ian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Goodfellow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Yoshua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Bengio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 Aaron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Courville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. “</a:t>
            </a:r>
            <a:r>
              <a:rPr lang="pt-BR" sz="2400" b="0" i="1" u="none" strike="noStrike" dirty="0" err="1">
                <a:solidFill>
                  <a:srgbClr val="000000"/>
                </a:solidFill>
                <a:effectLst/>
              </a:rPr>
              <a:t>Deep</a:t>
            </a:r>
            <a:r>
              <a:rPr lang="pt-BR" sz="2400" b="0" i="1" u="none" strike="noStrike" dirty="0">
                <a:solidFill>
                  <a:srgbClr val="000000"/>
                </a:solidFill>
                <a:effectLst/>
              </a:rPr>
              <a:t> Learning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”, MIT Press, 2016.</a:t>
            </a:r>
            <a:endParaRPr lang="pt-BR" sz="2400" b="0" dirty="0">
              <a:effectLst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[6]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Hakima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Chaouchi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“The Internet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of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Things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Connecting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Objects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”,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Wiley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2010. </a:t>
            </a:r>
            <a:endParaRPr lang="pt-BR" sz="2400" b="0" dirty="0">
              <a:effectLst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[7]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Jun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 Zheng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and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 Abbas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Jamalipour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“Wireless Sensor Networks: A Networking Perspective”, </a:t>
            </a:r>
            <a:r>
              <a:rPr lang="pt-BR" sz="2400" b="0" i="0" u="none" strike="noStrike" dirty="0" err="1">
                <a:solidFill>
                  <a:srgbClr val="000000"/>
                </a:solidFill>
                <a:effectLst/>
              </a:rPr>
              <a:t>Wiley</a:t>
            </a:r>
            <a:r>
              <a:rPr lang="pt-BR" sz="2400" b="0" i="0" u="none" strike="noStrike" dirty="0">
                <a:solidFill>
                  <a:srgbClr val="000000"/>
                </a:solidFill>
                <a:effectLst/>
              </a:rPr>
              <a:t>, 2009.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2400" dirty="0">
                <a:solidFill>
                  <a:srgbClr val="000000"/>
                </a:solidFill>
              </a:rPr>
              <a:t>[8] </a:t>
            </a:r>
            <a:r>
              <a:rPr lang="pt-BR" sz="24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Coleção de livros</a:t>
            </a:r>
            <a:endParaRPr lang="pt-B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946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Avisos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04419" cy="503237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Todo material do curso está disponível no GitHub: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2"/>
              </a:rPr>
              <a:t>https://github.com/zz4fap/tp557-iot-ml</a:t>
            </a:r>
            <a:endParaRPr lang="pt-BR" dirty="0"/>
          </a:p>
          <a:p>
            <a:r>
              <a:rPr lang="pt-BR" dirty="0"/>
              <a:t>Google </a:t>
            </a:r>
            <a:r>
              <a:rPr lang="pt-BR" dirty="0" err="1"/>
              <a:t>Colab</a:t>
            </a:r>
            <a:r>
              <a:rPr lang="pt-BR" dirty="0"/>
              <a:t> + Python Crash </a:t>
            </a:r>
            <a:r>
              <a:rPr lang="pt-BR" dirty="0" err="1"/>
              <a:t>Course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3"/>
              </a:rPr>
              <a:t>https://www.youtube.com/watch?v=inN8seMm7UI&amp;ab_channel=TensorFlow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4"/>
              </a:rPr>
              <a:t>https://www.youtube.com/watch?v=inN8seMm7UI</a:t>
            </a:r>
            <a:endParaRPr lang="pt-BR" dirty="0">
              <a:hlinkClick r:id="rId3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3"/>
              </a:rPr>
              <a:t>https://www.youtube.com/watch?v=pq4NNIYar9o&amp;list=PLRc6ZYt68prVXAhwY1JD6DFc3BJGmJriq&amp;pp=gAQBiAQB</a:t>
            </a:r>
            <a:endParaRPr lang="pt-BR" dirty="0"/>
          </a:p>
          <a:p>
            <a:r>
              <a:rPr lang="pt-BR" dirty="0"/>
              <a:t>Introdução ao </a:t>
            </a:r>
            <a:r>
              <a:rPr lang="pt-BR" dirty="0" err="1"/>
              <a:t>TensorFlow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5"/>
              </a:rPr>
              <a:t>https://www.youtube.com/watch?v=yjprpOoH5c8&amp;ab_channel=TensorFlow</a:t>
            </a:r>
            <a:endParaRPr lang="pt-BR" dirty="0"/>
          </a:p>
          <a:p>
            <a:r>
              <a:rPr lang="pt-BR" dirty="0"/>
              <a:t>Horário de Atendimento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Todas as quartas-feiras das 17:30 às 18:30.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Presencialmente ou remotamente.</a:t>
            </a:r>
          </a:p>
        </p:txBody>
      </p:sp>
    </p:spTree>
    <p:extLst>
      <p:ext uri="{BB962C8B-B14F-4D97-AF65-F5344CB8AC3E}">
        <p14:creationId xmlns:p14="http://schemas.microsoft.com/office/powerpoint/2010/main" val="1412900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431B0-332C-5682-1508-2B608FEB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Ideias para projetos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5BB17B-3616-61EB-2DBC-DB3ED1308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46971" cy="503237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>
                <a:hlinkClick r:id="rId2"/>
              </a:rPr>
              <a:t>Identificação de falhas em rolamentos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hlinkClick r:id="rId3"/>
              </a:rPr>
              <a:t>Identificação de doenças respiratórias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hlinkClick r:id="rId4"/>
              </a:rPr>
              <a:t>Detectando falhas em automóveis através de seu som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hlinkClick r:id="rId5"/>
              </a:rPr>
              <a:t>Identificação de pragas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hlinkClick r:id="rId6"/>
              </a:rPr>
              <a:t>Identificação de posturas incorretas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hlinkClick r:id="rId7"/>
              </a:rPr>
              <a:t>Inspeção automática de qualidade</a:t>
            </a:r>
            <a:endParaRPr lang="pt-BR" dirty="0"/>
          </a:p>
          <a:p>
            <a:pPr marL="514350" indent="-514350"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-apple-system"/>
                <a:hlinkClick r:id="rId8"/>
              </a:rPr>
              <a:t>Classificador de Vogais em Libras</a:t>
            </a:r>
            <a:endParaRPr lang="pt-B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-apple-system"/>
                <a:hlinkClick r:id="rId9"/>
              </a:rPr>
              <a:t>Detecção de doença pulmonar</a:t>
            </a:r>
            <a:endParaRPr lang="pt-B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-apple-system"/>
                <a:hlinkClick r:id="rId10"/>
              </a:rPr>
              <a:t>Detecção de algarismos em hidrômetros</a:t>
            </a:r>
            <a:endParaRPr lang="pt-B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-apple-system"/>
                <a:hlinkClick r:id="rId11"/>
              </a:rPr>
              <a:t>Detecção de Roncos</a:t>
            </a:r>
            <a:endParaRPr lang="pt-BR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351176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3AEE3-0DA4-604F-C6F6-48793D9F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Ideias para projetos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757C4F-29B8-DAB7-AA14-7BDDD86DD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03429" cy="5032375"/>
          </a:xfrm>
        </p:spPr>
        <p:txBody>
          <a:bodyPr>
            <a:normAutofit lnSpcReduction="10000"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-apple-system"/>
                <a:hlinkClick r:id="rId2"/>
              </a:rPr>
              <a:t>Detecção de tumores cancerígenos</a:t>
            </a:r>
            <a:endParaRPr lang="pt-B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dirty="0">
                <a:solidFill>
                  <a:srgbClr val="1F2328"/>
                </a:solidFill>
                <a:latin typeface="-apple-system"/>
                <a:hlinkClick r:id="rId3"/>
              </a:rPr>
              <a:t>Detecção e prevenção de abalos sísmicos</a:t>
            </a:r>
            <a:endParaRPr lang="pt-B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dirty="0">
                <a:solidFill>
                  <a:srgbClr val="1F2328"/>
                </a:solidFill>
                <a:latin typeface="-apple-system"/>
                <a:hlinkClick r:id="rId4"/>
              </a:rPr>
              <a:t>Detecção de incêndios</a:t>
            </a:r>
            <a:endParaRPr lang="pt-B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-apple-system"/>
                <a:hlinkClick r:id="rId5"/>
              </a:rPr>
              <a:t>Detecção de COVID através da tosse</a:t>
            </a:r>
            <a:endParaRPr lang="pt-B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-apple-system"/>
                <a:hlinkClick r:id="rId6"/>
              </a:rPr>
              <a:t>Detecção do uso de máscaras</a:t>
            </a:r>
            <a:endParaRPr lang="pt-B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b="0" i="0" dirty="0" err="1">
                <a:solidFill>
                  <a:srgbClr val="1F2328"/>
                </a:solidFill>
                <a:effectLst/>
                <a:latin typeface="-apple-system"/>
                <a:hlinkClick r:id="rId7"/>
              </a:rPr>
              <a:t>Personal</a:t>
            </a:r>
            <a:r>
              <a:rPr lang="pt-BR" b="0" i="0" dirty="0">
                <a:solidFill>
                  <a:srgbClr val="1F2328"/>
                </a:solidFill>
                <a:effectLst/>
                <a:latin typeface="-apple-system"/>
                <a:hlinkClick r:id="rId7"/>
              </a:rPr>
              <a:t> </a:t>
            </a:r>
            <a:r>
              <a:rPr lang="pt-BR" b="0" i="0" dirty="0" err="1">
                <a:solidFill>
                  <a:srgbClr val="1F2328"/>
                </a:solidFill>
                <a:effectLst/>
                <a:latin typeface="-apple-system"/>
                <a:hlinkClick r:id="rId7"/>
              </a:rPr>
              <a:t>Trainer</a:t>
            </a:r>
            <a:endParaRPr lang="pt-B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-apple-system"/>
                <a:hlinkClick r:id="rId8"/>
              </a:rPr>
              <a:t>Predição da qualidade do ar</a:t>
            </a:r>
            <a:endParaRPr lang="pt-B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 err="1">
                <a:solidFill>
                  <a:srgbClr val="1F2328"/>
                </a:solidFill>
                <a:latin typeface="-apple-system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Diabetic</a:t>
            </a:r>
            <a:r>
              <a:rPr lang="pt-BR" dirty="0">
                <a:solidFill>
                  <a:srgbClr val="1F2328"/>
                </a:solidFill>
                <a:latin typeface="-apple-system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dirty="0" err="1">
                <a:solidFill>
                  <a:srgbClr val="1F2328"/>
                </a:solidFill>
                <a:latin typeface="-apple-system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retinopathy</a:t>
            </a:r>
            <a:r>
              <a:rPr lang="pt-BR" dirty="0">
                <a:solidFill>
                  <a:srgbClr val="1F2328"/>
                </a:solidFill>
                <a:latin typeface="-apple-system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detector</a:t>
            </a:r>
            <a:endParaRPr lang="pt-BR" dirty="0">
              <a:solidFill>
                <a:srgbClr val="1F2328"/>
              </a:solidFill>
              <a:latin typeface="-apple-system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dirty="0">
                <a:hlinkClick r:id="rId10"/>
              </a:rPr>
              <a:t>https://www.tensorflow.org/lite/examples?hl=pt-br</a:t>
            </a:r>
            <a:endParaRPr lang="pt-BR" dirty="0">
              <a:solidFill>
                <a:srgbClr val="1F2328"/>
              </a:solidFill>
              <a:latin typeface="-apple-system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dirty="0">
                <a:hlinkClick r:id="rId11"/>
              </a:rPr>
              <a:t>https://experiments.withgoogle.com/collection/tfliteformicrocontrollers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14046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3AEE3-0DA4-604F-C6F6-48793D9F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Ideias para projetos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757C4F-29B8-DAB7-AA14-7BDDD86DD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90515" cy="5032375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pt-BR" dirty="0"/>
              <a:t>“</a:t>
            </a:r>
            <a:r>
              <a:rPr lang="en-US" b="0" i="0" dirty="0">
                <a:effectLst/>
              </a:rPr>
              <a:t>Explore real-world edge ML projects”, </a:t>
            </a:r>
            <a:r>
              <a:rPr lang="pt-BR" dirty="0">
                <a:hlinkClick r:id="rId2"/>
              </a:rPr>
              <a:t>http://tinyurl.com</a:t>
            </a:r>
            <a:r>
              <a:rPr lang="pt-BR">
                <a:hlinkClick r:id="rId2"/>
              </a:rPr>
              <a:t>/tinymlprojects</a:t>
            </a:r>
            <a:endParaRPr lang="pt-BR"/>
          </a:p>
          <a:p>
            <a:pPr marL="514350" indent="-514350" algn="l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90716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5BD9F-A5F9-C006-2D60-3988AFB7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398648-3AD3-9986-3010-6210876DC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Quiz: “</a:t>
            </a:r>
            <a:r>
              <a:rPr lang="pt-BR" b="1" i="1" dirty="0"/>
              <a:t>TP557 – Introdução</a:t>
            </a:r>
            <a:r>
              <a:rPr lang="pt-BR" dirty="0"/>
              <a:t>”</a:t>
            </a:r>
          </a:p>
          <a:p>
            <a:r>
              <a:rPr lang="pt-BR" dirty="0"/>
              <a:t>Exercícios: </a:t>
            </a:r>
            <a:r>
              <a:rPr lang="pt-BR" dirty="0">
                <a:hlinkClick r:id="rId3"/>
              </a:rPr>
              <a:t>Programação em Python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85202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8079</TotalTime>
  <Words>6576</Words>
  <Application>Microsoft Office PowerPoint</Application>
  <PresentationFormat>Widescreen</PresentationFormat>
  <Paragraphs>519</Paragraphs>
  <Slides>45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8" baseType="lpstr">
      <vt:lpstr>-apple-system</vt:lpstr>
      <vt:lpstr>Arial</vt:lpstr>
      <vt:lpstr>Calibri</vt:lpstr>
      <vt:lpstr>Calibri Light</vt:lpstr>
      <vt:lpstr>Cambria Math</vt:lpstr>
      <vt:lpstr>Google Sans</vt:lpstr>
      <vt:lpstr>GT-Eesti-Thin</vt:lpstr>
      <vt:lpstr>Roboto</vt:lpstr>
      <vt:lpstr>Rubik</vt:lpstr>
      <vt:lpstr>Söhne</vt:lpstr>
      <vt:lpstr>Times New Roman</vt:lpstr>
      <vt:lpstr>Wingdings</vt:lpstr>
      <vt:lpstr>Tema do Office</vt:lpstr>
      <vt:lpstr>TP557 - Tópicos avançados em IoT e Machine Learning: Introdução ao curso</vt:lpstr>
      <vt:lpstr>PowerPoint Presentation</vt:lpstr>
      <vt:lpstr>Motivação: Modelos mais eficientes</vt:lpstr>
      <vt:lpstr>Motivação: Modelos mais eficientes</vt:lpstr>
      <vt:lpstr>Motivação: Modelos mais eficientes</vt:lpstr>
      <vt:lpstr>Motivação: Modelos mais eficientes</vt:lpstr>
      <vt:lpstr>Motivação: Modelos mais eficientes</vt:lpstr>
      <vt:lpstr>Motivação: Modelos mais eficientes</vt:lpstr>
      <vt:lpstr>Objetivos do curso</vt:lpstr>
      <vt:lpstr>Teste de Python</vt:lpstr>
      <vt:lpstr>Motivação: Quantidade</vt:lpstr>
      <vt:lpstr>Motivação: Economia</vt:lpstr>
      <vt:lpstr>Motivação: Baixo consumo de energia</vt:lpstr>
      <vt:lpstr>Motivação: Sensores</vt:lpstr>
      <vt:lpstr>Cloud versus Edge Computing</vt:lpstr>
      <vt:lpstr>EdgeML versus TinyML</vt:lpstr>
      <vt:lpstr>EdgeML versus TinyML</vt:lpstr>
      <vt:lpstr>Mas o que são IA e ML?</vt:lpstr>
      <vt:lpstr>Mas o que são IA e ML?</vt:lpstr>
      <vt:lpstr>PowerPoint Presentation</vt:lpstr>
      <vt:lpstr>Aplicações</vt:lpstr>
      <vt:lpstr>Aplicações</vt:lpstr>
      <vt:lpstr>Aplicações</vt:lpstr>
      <vt:lpstr>Sobre o curso</vt:lpstr>
      <vt:lpstr>Sobre o curso</vt:lpstr>
      <vt:lpstr>Sobre o curso</vt:lpstr>
      <vt:lpstr>Sobre o curso</vt:lpstr>
      <vt:lpstr>Sobre o curso</vt:lpstr>
      <vt:lpstr>Sobre o curso</vt:lpstr>
      <vt:lpstr>Sobre o curso</vt:lpstr>
      <vt:lpstr>Sobre o curso</vt:lpstr>
      <vt:lpstr>Objetivos do curso</vt:lpstr>
      <vt:lpstr>O que vamos aprender?</vt:lpstr>
      <vt:lpstr>O que vamos aprender?</vt:lpstr>
      <vt:lpstr>O que vamos usar?</vt:lpstr>
      <vt:lpstr>O kit TinyML</vt:lpstr>
      <vt:lpstr>Atividades práticas</vt:lpstr>
      <vt:lpstr>Referências</vt:lpstr>
      <vt:lpstr>Avisos</vt:lpstr>
      <vt:lpstr>Ideias para projetos finais</vt:lpstr>
      <vt:lpstr>Ideias para projetos finais</vt:lpstr>
      <vt:lpstr>Ideias para projetos finais</vt:lpstr>
      <vt:lpstr>Atividades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1737</cp:revision>
  <dcterms:created xsi:type="dcterms:W3CDTF">2020-01-20T13:50:05Z</dcterms:created>
  <dcterms:modified xsi:type="dcterms:W3CDTF">2025-03-11T00:16:42Z</dcterms:modified>
</cp:coreProperties>
</file>