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handoutMasterIdLst>
    <p:handoutMasterId r:id="rId35"/>
  </p:handoutMasterIdLst>
  <p:sldIdLst>
    <p:sldId id="256" r:id="rId2"/>
    <p:sldId id="406" r:id="rId3"/>
    <p:sldId id="409" r:id="rId4"/>
    <p:sldId id="433" r:id="rId5"/>
    <p:sldId id="410" r:id="rId6"/>
    <p:sldId id="422" r:id="rId7"/>
    <p:sldId id="423" r:id="rId8"/>
    <p:sldId id="413" r:id="rId9"/>
    <p:sldId id="431" r:id="rId10"/>
    <p:sldId id="414" r:id="rId11"/>
    <p:sldId id="412" r:id="rId12"/>
    <p:sldId id="434" r:id="rId13"/>
    <p:sldId id="424" r:id="rId14"/>
    <p:sldId id="415" r:id="rId15"/>
    <p:sldId id="435" r:id="rId16"/>
    <p:sldId id="436" r:id="rId17"/>
    <p:sldId id="416" r:id="rId18"/>
    <p:sldId id="426" r:id="rId19"/>
    <p:sldId id="425" r:id="rId20"/>
    <p:sldId id="417" r:id="rId21"/>
    <p:sldId id="437" r:id="rId22"/>
    <p:sldId id="427" r:id="rId23"/>
    <p:sldId id="428" r:id="rId24"/>
    <p:sldId id="418" r:id="rId25"/>
    <p:sldId id="420" r:id="rId26"/>
    <p:sldId id="421" r:id="rId27"/>
    <p:sldId id="430" r:id="rId28"/>
    <p:sldId id="432" r:id="rId29"/>
    <p:sldId id="405" r:id="rId30"/>
    <p:sldId id="293" r:id="rId31"/>
    <p:sldId id="306" r:id="rId32"/>
    <p:sldId id="419" r:id="rId33"/>
  </p:sldIdLst>
  <p:sldSz cx="12192000" cy="6858000"/>
  <p:notesSz cx="7315200" cy="96012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F1F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FCA41B-7398-400B-83DC-FDE8722EB923}" v="79" dt="2020-02-09T01:28:39.6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078" autoAdjust="0"/>
    <p:restoredTop sz="94431" autoAdjust="0"/>
  </p:normalViewPr>
  <p:slideViewPr>
    <p:cSldViewPr snapToGrid="0">
      <p:cViewPr varScale="1">
        <p:scale>
          <a:sx n="104" d="100"/>
          <a:sy n="104" d="100"/>
        </p:scale>
        <p:origin x="1098" y="114"/>
      </p:cViewPr>
      <p:guideLst/>
    </p:cSldViewPr>
  </p:slideViewPr>
  <p:outlineViewPr>
    <p:cViewPr>
      <p:scale>
        <a:sx n="33" d="100"/>
        <a:sy n="33" d="100"/>
      </p:scale>
      <p:origin x="0" y="-886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lipe Augusto Pereira de Figueiredo" userId="e1771b70d906f94b" providerId="Windows Live" clId="Web-{B3FCA41B-7398-400B-83DC-FDE8722EB923}"/>
    <pc:docChg chg="modSld">
      <pc:chgData name="Felipe Augusto Pereira de Figueiredo" userId="e1771b70d906f94b" providerId="Windows Live" clId="Web-{B3FCA41B-7398-400B-83DC-FDE8722EB923}" dt="2020-02-09T01:40:38.055" v="257"/>
      <pc:docMkLst>
        <pc:docMk/>
      </pc:docMkLst>
      <pc:sldChg chg="modSp modNotes">
        <pc:chgData name="Felipe Augusto Pereira de Figueiredo" userId="e1771b70d906f94b" providerId="Windows Live" clId="Web-{B3FCA41B-7398-400B-83DC-FDE8722EB923}" dt="2020-02-09T01:26:20.191" v="45"/>
        <pc:sldMkLst>
          <pc:docMk/>
          <pc:sldMk cId="636059476" sldId="259"/>
        </pc:sldMkLst>
        <pc:spChg chg="mod">
          <ac:chgData name="Felipe Augusto Pereira de Figueiredo" userId="e1771b70d906f94b" providerId="Windows Live" clId="Web-{B3FCA41B-7398-400B-83DC-FDE8722EB923}" dt="2020-02-09T01:22:23.081" v="18" actId="1076"/>
          <ac:spMkLst>
            <pc:docMk/>
            <pc:sldMk cId="636059476" sldId="259"/>
            <ac:spMk id="3" creationId="{979D29AC-E01B-406F-AC75-55866B75A7CC}"/>
          </ac:spMkLst>
        </pc:spChg>
      </pc:sldChg>
      <pc:sldChg chg="modNotes">
        <pc:chgData name="Felipe Augusto Pereira de Figueiredo" userId="e1771b70d906f94b" providerId="Windows Live" clId="Web-{B3FCA41B-7398-400B-83DC-FDE8722EB923}" dt="2020-02-09T01:21:46.721" v="16"/>
        <pc:sldMkLst>
          <pc:docMk/>
          <pc:sldMk cId="248504461" sldId="267"/>
        </pc:sldMkLst>
      </pc:sldChg>
      <pc:sldChg chg="modSp modNotes">
        <pc:chgData name="Felipe Augusto Pereira de Figueiredo" userId="e1771b70d906f94b" providerId="Windows Live" clId="Web-{B3FCA41B-7398-400B-83DC-FDE8722EB923}" dt="2020-02-09T01:40:38.055" v="257"/>
        <pc:sldMkLst>
          <pc:docMk/>
          <pc:sldMk cId="2076219387" sldId="277"/>
        </pc:sldMkLst>
        <pc:spChg chg="mod">
          <ac:chgData name="Felipe Augusto Pereira de Figueiredo" userId="e1771b70d906f94b" providerId="Windows Live" clId="Web-{B3FCA41B-7398-400B-83DC-FDE8722EB923}" dt="2020-02-09T01:28:39.664" v="120" actId="14100"/>
          <ac:spMkLst>
            <pc:docMk/>
            <pc:sldMk cId="2076219387" sldId="277"/>
            <ac:spMk id="3" creationId="{5E0262E2-3A0F-4805-BCCB-6745237D1574}"/>
          </ac:spMkLst>
        </pc:spChg>
      </pc:sldChg>
    </pc:docChg>
  </pc:docChgLst>
  <pc:docChgLst>
    <pc:chgData name="Felipe Augusto Pereira de Figueiredo" userId="e1771b70d906f94b" providerId="Windows Live" clId="Web-{1FA475AF-6444-47C2-89B1-9776BABC0E66}"/>
    <pc:docChg chg="modSld">
      <pc:chgData name="Felipe Augusto Pereira de Figueiredo" userId="e1771b70d906f94b" providerId="Windows Live" clId="Web-{1FA475AF-6444-47C2-89B1-9776BABC0E66}" dt="2020-02-09T18:53:52.767" v="85"/>
      <pc:docMkLst>
        <pc:docMk/>
      </pc:docMkLst>
      <pc:sldChg chg="modNotes">
        <pc:chgData name="Felipe Augusto Pereira de Figueiredo" userId="e1771b70d906f94b" providerId="Windows Live" clId="Web-{1FA475AF-6444-47C2-89B1-9776BABC0E66}" dt="2020-02-09T18:53:52.767" v="85"/>
        <pc:sldMkLst>
          <pc:docMk/>
          <pc:sldMk cId="248504461" sldId="26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169922" cy="480722"/>
          </a:xfrm>
          <a:prstGeom prst="rect">
            <a:avLst/>
          </a:prstGeom>
        </p:spPr>
        <p:txBody>
          <a:bodyPr vert="horz" lIns="168634" tIns="84317" rIns="168634" bIns="84317" rtlCol="0"/>
          <a:lstStyle>
            <a:lvl1pPr algn="l">
              <a:defRPr sz="2200"/>
            </a:lvl1pPr>
          </a:lstStyle>
          <a:p>
            <a:endParaRPr lang="nl-BE"/>
          </a:p>
        </p:txBody>
      </p:sp>
      <p:sp>
        <p:nvSpPr>
          <p:cNvPr id="3" name="Date Placeholder 2"/>
          <p:cNvSpPr>
            <a:spLocks noGrp="1"/>
          </p:cNvSpPr>
          <p:nvPr>
            <p:ph type="dt" sz="quarter" idx="1"/>
          </p:nvPr>
        </p:nvSpPr>
        <p:spPr>
          <a:xfrm>
            <a:off x="4143589" y="0"/>
            <a:ext cx="3169922" cy="480722"/>
          </a:xfrm>
          <a:prstGeom prst="rect">
            <a:avLst/>
          </a:prstGeom>
        </p:spPr>
        <p:txBody>
          <a:bodyPr vert="horz" lIns="168634" tIns="84317" rIns="168634" bIns="84317" rtlCol="0"/>
          <a:lstStyle>
            <a:lvl1pPr algn="r">
              <a:defRPr sz="2200"/>
            </a:lvl1pPr>
          </a:lstStyle>
          <a:p>
            <a:fld id="{144F1436-6906-4D93-B7A2-786C327BFA14}" type="datetimeFigureOut">
              <a:rPr lang="nl-BE" smtClean="0"/>
              <a:t>26/03/2025</a:t>
            </a:fld>
            <a:endParaRPr lang="nl-BE"/>
          </a:p>
        </p:txBody>
      </p:sp>
      <p:sp>
        <p:nvSpPr>
          <p:cNvPr id="4" name="Footer Placeholder 3"/>
          <p:cNvSpPr>
            <a:spLocks noGrp="1"/>
          </p:cNvSpPr>
          <p:nvPr>
            <p:ph type="ftr" sz="quarter" idx="2"/>
          </p:nvPr>
        </p:nvSpPr>
        <p:spPr>
          <a:xfrm>
            <a:off x="1" y="9120488"/>
            <a:ext cx="3169922" cy="480718"/>
          </a:xfrm>
          <a:prstGeom prst="rect">
            <a:avLst/>
          </a:prstGeom>
        </p:spPr>
        <p:txBody>
          <a:bodyPr vert="horz" lIns="168634" tIns="84317" rIns="168634" bIns="84317" rtlCol="0" anchor="b"/>
          <a:lstStyle>
            <a:lvl1pPr algn="l">
              <a:defRPr sz="2200"/>
            </a:lvl1pPr>
          </a:lstStyle>
          <a:p>
            <a:endParaRPr lang="nl-BE"/>
          </a:p>
        </p:txBody>
      </p:sp>
      <p:sp>
        <p:nvSpPr>
          <p:cNvPr id="5" name="Slide Number Placeholder 4"/>
          <p:cNvSpPr>
            <a:spLocks noGrp="1"/>
          </p:cNvSpPr>
          <p:nvPr>
            <p:ph type="sldNum" sz="quarter" idx="3"/>
          </p:nvPr>
        </p:nvSpPr>
        <p:spPr>
          <a:xfrm>
            <a:off x="4143589" y="9120488"/>
            <a:ext cx="3169922" cy="480718"/>
          </a:xfrm>
          <a:prstGeom prst="rect">
            <a:avLst/>
          </a:prstGeom>
        </p:spPr>
        <p:txBody>
          <a:bodyPr vert="horz" lIns="168634" tIns="84317" rIns="168634" bIns="84317" rtlCol="0" anchor="b"/>
          <a:lstStyle>
            <a:lvl1pPr algn="r">
              <a:defRPr sz="2200"/>
            </a:lvl1pPr>
          </a:lstStyle>
          <a:p>
            <a:fld id="{F7E56D9B-79AD-444A-AFED-DEC23408F8B4}" type="slidenum">
              <a:rPr lang="nl-BE" smtClean="0"/>
              <a:t>‹#›</a:t>
            </a:fld>
            <a:endParaRPr lang="nl-BE"/>
          </a:p>
        </p:txBody>
      </p:sp>
    </p:spTree>
    <p:extLst>
      <p:ext uri="{BB962C8B-B14F-4D97-AF65-F5344CB8AC3E}">
        <p14:creationId xmlns:p14="http://schemas.microsoft.com/office/powerpoint/2010/main" val="31635331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5" y="1"/>
            <a:ext cx="3169922" cy="1903121"/>
          </a:xfrm>
          <a:prstGeom prst="rect">
            <a:avLst/>
          </a:prstGeom>
        </p:spPr>
        <p:txBody>
          <a:bodyPr vert="horz" lIns="168634" tIns="84317" rIns="168634" bIns="84317" rtlCol="0"/>
          <a:lstStyle>
            <a:lvl1pPr algn="l">
              <a:defRPr sz="2200"/>
            </a:lvl1pPr>
          </a:lstStyle>
          <a:p>
            <a:endParaRPr lang="pt-BR"/>
          </a:p>
        </p:txBody>
      </p:sp>
      <p:sp>
        <p:nvSpPr>
          <p:cNvPr id="3" name="Espaço Reservado para Data 2"/>
          <p:cNvSpPr>
            <a:spLocks noGrp="1"/>
          </p:cNvSpPr>
          <p:nvPr>
            <p:ph type="dt" idx="1"/>
          </p:nvPr>
        </p:nvSpPr>
        <p:spPr>
          <a:xfrm>
            <a:off x="4143592" y="1"/>
            <a:ext cx="3169922" cy="1903121"/>
          </a:xfrm>
          <a:prstGeom prst="rect">
            <a:avLst/>
          </a:prstGeom>
        </p:spPr>
        <p:txBody>
          <a:bodyPr vert="horz" lIns="168634" tIns="84317" rIns="168634" bIns="84317" rtlCol="0"/>
          <a:lstStyle>
            <a:lvl1pPr algn="r">
              <a:defRPr sz="2200"/>
            </a:lvl1pPr>
          </a:lstStyle>
          <a:p>
            <a:fld id="{AA8CD09E-2914-4F47-B6C1-51B2C31814C9}" type="datetimeFigureOut">
              <a:rPr lang="pt-BR" smtClean="0"/>
              <a:t>26/03/2025</a:t>
            </a:fld>
            <a:endParaRPr lang="pt-BR"/>
          </a:p>
        </p:txBody>
      </p:sp>
      <p:sp>
        <p:nvSpPr>
          <p:cNvPr id="4" name="Espaço Reservado para Imagem de Slide 3"/>
          <p:cNvSpPr>
            <a:spLocks noGrp="1" noRot="1" noChangeAspect="1"/>
          </p:cNvSpPr>
          <p:nvPr>
            <p:ph type="sldImg" idx="2"/>
          </p:nvPr>
        </p:nvSpPr>
        <p:spPr>
          <a:xfrm>
            <a:off x="-7721600" y="4740275"/>
            <a:ext cx="22758400" cy="12801600"/>
          </a:xfrm>
          <a:prstGeom prst="rect">
            <a:avLst/>
          </a:prstGeom>
          <a:noFill/>
          <a:ln w="12700">
            <a:solidFill>
              <a:prstClr val="black"/>
            </a:solidFill>
          </a:ln>
        </p:spPr>
        <p:txBody>
          <a:bodyPr vert="horz" lIns="168634" tIns="84317" rIns="168634" bIns="84317" rtlCol="0" anchor="ctr"/>
          <a:lstStyle/>
          <a:p>
            <a:endParaRPr lang="pt-BR"/>
          </a:p>
        </p:txBody>
      </p:sp>
      <p:sp>
        <p:nvSpPr>
          <p:cNvPr id="5" name="Espaço Reservado para Anotações 4"/>
          <p:cNvSpPr>
            <a:spLocks noGrp="1"/>
          </p:cNvSpPr>
          <p:nvPr>
            <p:ph type="body" sz="quarter" idx="3"/>
          </p:nvPr>
        </p:nvSpPr>
        <p:spPr>
          <a:xfrm>
            <a:off x="731522" y="18254135"/>
            <a:ext cx="5852160" cy="14935200"/>
          </a:xfrm>
          <a:prstGeom prst="rect">
            <a:avLst/>
          </a:prstGeom>
        </p:spPr>
        <p:txBody>
          <a:bodyPr vert="horz" lIns="168634" tIns="84317" rIns="168634" bIns="84317" rtlCol="0"/>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5" y="36027558"/>
            <a:ext cx="3169922" cy="1903117"/>
          </a:xfrm>
          <a:prstGeom prst="rect">
            <a:avLst/>
          </a:prstGeom>
        </p:spPr>
        <p:txBody>
          <a:bodyPr vert="horz" lIns="168634" tIns="84317" rIns="168634" bIns="84317" rtlCol="0" anchor="b"/>
          <a:lstStyle>
            <a:lvl1pPr algn="l">
              <a:defRPr sz="2200"/>
            </a:lvl1pPr>
          </a:lstStyle>
          <a:p>
            <a:endParaRPr lang="pt-BR"/>
          </a:p>
        </p:txBody>
      </p:sp>
      <p:sp>
        <p:nvSpPr>
          <p:cNvPr id="7" name="Espaço Reservado para Número de Slide 6"/>
          <p:cNvSpPr>
            <a:spLocks noGrp="1"/>
          </p:cNvSpPr>
          <p:nvPr>
            <p:ph type="sldNum" sz="quarter" idx="5"/>
          </p:nvPr>
        </p:nvSpPr>
        <p:spPr>
          <a:xfrm>
            <a:off x="4143592" y="36027558"/>
            <a:ext cx="3169922" cy="1903117"/>
          </a:xfrm>
          <a:prstGeom prst="rect">
            <a:avLst/>
          </a:prstGeom>
        </p:spPr>
        <p:txBody>
          <a:bodyPr vert="horz" lIns="168634" tIns="84317" rIns="168634" bIns="84317" rtlCol="0" anchor="b"/>
          <a:lstStyle>
            <a:lvl1pPr algn="r">
              <a:defRPr sz="2200"/>
            </a:lvl1pPr>
          </a:lstStyle>
          <a:p>
            <a:fld id="{6FC8D850-966F-45A6-8DE7-15B891E7D40D}" type="slidenum">
              <a:rPr lang="pt-BR" smtClean="0"/>
              <a:t>‹#›</a:t>
            </a:fld>
            <a:endParaRPr lang="pt-BR"/>
          </a:p>
        </p:txBody>
      </p:sp>
    </p:spTree>
    <p:extLst>
      <p:ext uri="{BB962C8B-B14F-4D97-AF65-F5344CB8AC3E}">
        <p14:creationId xmlns:p14="http://schemas.microsoft.com/office/powerpoint/2010/main" val="3541814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a:t>
            </a:fld>
            <a:endParaRPr lang="pt-BR"/>
          </a:p>
        </p:txBody>
      </p:sp>
    </p:spTree>
    <p:extLst>
      <p:ext uri="{BB962C8B-B14F-4D97-AF65-F5344CB8AC3E}">
        <p14:creationId xmlns:p14="http://schemas.microsoft.com/office/powerpoint/2010/main" val="16607474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sz="1200" dirty="0"/>
              <a:t>ML: técnicas e </a:t>
            </a:r>
            <a:r>
              <a:rPr lang="pt-BR" sz="1200" dirty="0" err="1"/>
              <a:t>algortimos</a:t>
            </a:r>
            <a:r>
              <a:rPr lang="pt-BR" sz="1200" dirty="0"/>
              <a:t> orientadas a dados: aprendem automaticamente a partir de grandes volumes de dados.</a:t>
            </a:r>
          </a:p>
          <a:p>
            <a:endParaRPr lang="en-US" sz="1200" b="1" dirty="0"/>
          </a:p>
          <a:p>
            <a:r>
              <a:rPr lang="pt-BR" sz="1200" b="0" dirty="0"/>
              <a:t>O aprendizado de máquina pode ser definido como o processo de </a:t>
            </a:r>
            <a:r>
              <a:rPr lang="pt-BR" sz="1200" b="1" dirty="0"/>
              <a:t>induzir</a:t>
            </a:r>
            <a:r>
              <a:rPr lang="pt-BR" sz="1200" b="0" dirty="0"/>
              <a:t> inteligência em uma</a:t>
            </a:r>
            <a:r>
              <a:rPr lang="pt-BR" sz="1200" b="0" baseline="0" dirty="0"/>
              <a:t> </a:t>
            </a:r>
            <a:r>
              <a:rPr lang="pt-BR" sz="1200" b="0" dirty="0"/>
              <a:t>máquina </a:t>
            </a:r>
            <a:r>
              <a:rPr lang="pt-BR" sz="1200" b="1" dirty="0"/>
              <a:t>sem que ela</a:t>
            </a:r>
            <a:r>
              <a:rPr lang="pt-BR" sz="1200" b="1" baseline="0" dirty="0"/>
              <a:t> seja explicitamente</a:t>
            </a:r>
            <a:r>
              <a:rPr lang="pt-BR" sz="1200" b="1" dirty="0"/>
              <a:t> programada</a:t>
            </a:r>
            <a:r>
              <a:rPr lang="pt-BR" sz="1200" b="0" dirty="0"/>
              <a:t>.</a:t>
            </a:r>
            <a:endParaRPr lang="en-US" sz="1200" b="0" dirty="0"/>
          </a:p>
          <a:p>
            <a:endParaRPr lang="en-US" sz="1200" b="1" dirty="0"/>
          </a:p>
          <a:p>
            <a:r>
              <a:rPr lang="pt-BR" sz="1200" b="0" dirty="0"/>
              <a:t>Por exemplo, o filtro de spam do </a:t>
            </a:r>
            <a:r>
              <a:rPr lang="pt-BR" sz="1200" b="0" dirty="0" err="1"/>
              <a:t>gmail</a:t>
            </a:r>
            <a:r>
              <a:rPr lang="pt-BR" sz="1200" b="0" dirty="0"/>
              <a:t> utiliza aprendizado de máquina para aprender se</a:t>
            </a:r>
            <a:r>
              <a:rPr lang="pt-BR" sz="1200" b="0" baseline="0" dirty="0"/>
              <a:t> um email é </a:t>
            </a:r>
            <a:r>
              <a:rPr lang="pt-BR" sz="1200" b="0" dirty="0"/>
              <a:t>spam</a:t>
            </a:r>
            <a:r>
              <a:rPr lang="pt-BR" sz="1200" b="0" baseline="0" dirty="0"/>
              <a:t> </a:t>
            </a:r>
            <a:r>
              <a:rPr lang="pt-BR" sz="1200" b="0" dirty="0"/>
              <a:t>(por exemplo, sinalizados por usuários) e exemplos de </a:t>
            </a:r>
            <a:r>
              <a:rPr lang="pt-BR" sz="1200" b="0" dirty="0" err="1"/>
              <a:t>emails</a:t>
            </a:r>
            <a:r>
              <a:rPr lang="pt-BR" sz="1200" b="0" dirty="0"/>
              <a:t> regulares (não spam, também chamados de “</a:t>
            </a:r>
            <a:r>
              <a:rPr lang="pt-BR" sz="1200" b="0" dirty="0" err="1"/>
              <a:t>ham</a:t>
            </a:r>
            <a:r>
              <a:rPr lang="pt-BR" sz="1200" b="0" dirty="0"/>
              <a:t>"). </a:t>
            </a:r>
          </a:p>
          <a:p>
            <a:endParaRPr lang="pt-BR" sz="1200" b="0" dirty="0"/>
          </a:p>
          <a:p>
            <a:r>
              <a:rPr lang="pt-BR" sz="1200" b="0" dirty="0"/>
              <a:t>Os exemplos que o modelo usa para aprender são chamados de </a:t>
            </a:r>
            <a:r>
              <a:rPr lang="pt-BR" sz="1200" b="1" dirty="0"/>
              <a:t>conjunto de treinamento</a:t>
            </a:r>
            <a:r>
              <a:rPr lang="pt-BR" sz="1200" b="0" dirty="0"/>
              <a:t>. Cada </a:t>
            </a:r>
            <a:r>
              <a:rPr lang="pt-BR" sz="1200" b="1" dirty="0"/>
              <a:t>exemplo de treinamento </a:t>
            </a:r>
            <a:r>
              <a:rPr lang="pt-BR" sz="1200" b="0" dirty="0"/>
              <a:t>é chamado de </a:t>
            </a:r>
            <a:r>
              <a:rPr lang="pt-BR" sz="1200" b="1" dirty="0"/>
              <a:t>instância de treinamento </a:t>
            </a:r>
            <a:r>
              <a:rPr lang="pt-BR" sz="1200" b="0" dirty="0"/>
              <a:t>(ou amostra).</a:t>
            </a:r>
          </a:p>
          <a:p>
            <a:endParaRPr lang="pt-BR" sz="1200" b="0" dirty="0"/>
          </a:p>
          <a:p>
            <a:r>
              <a:rPr lang="pt-BR" sz="1200" b="0" dirty="0"/>
              <a:t>Induzir conhecimento através da apresentação de experiências prévias.</a:t>
            </a:r>
          </a:p>
          <a:p>
            <a:endParaRPr lang="pt-BR" sz="12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1" dirty="0"/>
              <a:t>Induzir</a:t>
            </a:r>
            <a:r>
              <a:rPr lang="pt-BR" dirty="0"/>
              <a:t> conhecimento através de experiências prévias.</a:t>
            </a:r>
          </a:p>
          <a:p>
            <a:endParaRPr lang="en-US" sz="1200" b="0" dirty="0"/>
          </a:p>
          <a:p>
            <a:endParaRPr lang="pt-BR" dirty="0"/>
          </a:p>
          <a:p>
            <a:r>
              <a:rPr lang="pt-BR" dirty="0"/>
              <a:t>Através de experiências prévias, induz-se</a:t>
            </a:r>
            <a:r>
              <a:rPr lang="pt-BR" baseline="0" dirty="0"/>
              <a:t> conhecimento nas máquinas</a:t>
            </a:r>
            <a:endParaRPr lang="en-US" dirty="0"/>
          </a:p>
        </p:txBody>
      </p:sp>
      <p:sp>
        <p:nvSpPr>
          <p:cNvPr id="4" name="Espaço Reservado para Número de Slide 3"/>
          <p:cNvSpPr>
            <a:spLocks noGrp="1"/>
          </p:cNvSpPr>
          <p:nvPr>
            <p:ph type="sldNum" sz="quarter" idx="10"/>
          </p:nvPr>
        </p:nvSpPr>
        <p:spPr/>
        <p:txBody>
          <a:bodyPr/>
          <a:lstStyle/>
          <a:p>
            <a:fld id="{6FC8D850-966F-45A6-8DE7-15B891E7D40D}" type="slidenum">
              <a:rPr lang="pt-BR" smtClean="0"/>
              <a:t>3</a:t>
            </a:fld>
            <a:endParaRPr lang="pt-BR"/>
          </a:p>
        </p:txBody>
      </p:sp>
    </p:spTree>
    <p:extLst>
      <p:ext uri="{BB962C8B-B14F-4D97-AF65-F5344CB8AC3E}">
        <p14:creationId xmlns:p14="http://schemas.microsoft.com/office/powerpoint/2010/main" val="33535946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FA2C8-0783-734A-4D33-3AE4F3B577BE}"/>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DF07686-2AD7-D98E-58F9-6BE3257D0631}"/>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C1C9337-0AAF-8C91-BE14-21A764038412}"/>
              </a:ext>
            </a:extLst>
          </p:cNvPr>
          <p:cNvSpPr>
            <a:spLocks noGrp="1"/>
          </p:cNvSpPr>
          <p:nvPr>
            <p:ph type="body" idx="1"/>
          </p:nvPr>
        </p:nvSpPr>
        <p:spPr/>
        <p:txBody>
          <a:bodyPr/>
          <a:lstStyle/>
          <a:p>
            <a:r>
              <a:rPr lang="pt-BR" sz="1200" dirty="0"/>
              <a:t>ML: técnicas e </a:t>
            </a:r>
            <a:r>
              <a:rPr lang="pt-BR" sz="1200" dirty="0" err="1"/>
              <a:t>algortimos</a:t>
            </a:r>
            <a:r>
              <a:rPr lang="pt-BR" sz="1200" dirty="0"/>
              <a:t> orientadas a dados: aprendem automaticamente a partir de grandes volumes de dados.</a:t>
            </a:r>
          </a:p>
          <a:p>
            <a:endParaRPr lang="en-US" sz="1200" b="1" dirty="0"/>
          </a:p>
          <a:p>
            <a:r>
              <a:rPr lang="pt-BR" sz="1200" b="0" dirty="0"/>
              <a:t>O aprendizado de máquina pode ser definido como o processo de </a:t>
            </a:r>
            <a:r>
              <a:rPr lang="pt-BR" sz="1200" b="1" dirty="0"/>
              <a:t>induzir</a:t>
            </a:r>
            <a:r>
              <a:rPr lang="pt-BR" sz="1200" b="0" dirty="0"/>
              <a:t> inteligência em uma</a:t>
            </a:r>
            <a:r>
              <a:rPr lang="pt-BR" sz="1200" b="0" baseline="0" dirty="0"/>
              <a:t> </a:t>
            </a:r>
            <a:r>
              <a:rPr lang="pt-BR" sz="1200" b="0" dirty="0"/>
              <a:t>máquina </a:t>
            </a:r>
            <a:r>
              <a:rPr lang="pt-BR" sz="1200" b="1" dirty="0"/>
              <a:t>sem que ela</a:t>
            </a:r>
            <a:r>
              <a:rPr lang="pt-BR" sz="1200" b="1" baseline="0" dirty="0"/>
              <a:t> seja explicitamente</a:t>
            </a:r>
            <a:r>
              <a:rPr lang="pt-BR" sz="1200" b="1" dirty="0"/>
              <a:t> programada</a:t>
            </a:r>
            <a:r>
              <a:rPr lang="pt-BR" sz="1200" b="0" dirty="0"/>
              <a:t>.</a:t>
            </a:r>
            <a:endParaRPr lang="en-US" sz="1200" b="0" dirty="0"/>
          </a:p>
          <a:p>
            <a:endParaRPr lang="en-US" sz="1200" b="1" dirty="0"/>
          </a:p>
          <a:p>
            <a:r>
              <a:rPr lang="pt-BR" sz="1200" b="0" dirty="0"/>
              <a:t>Por exemplo, o filtro de spam do </a:t>
            </a:r>
            <a:r>
              <a:rPr lang="pt-BR" sz="1200" b="0" dirty="0" err="1"/>
              <a:t>gmail</a:t>
            </a:r>
            <a:r>
              <a:rPr lang="pt-BR" sz="1200" b="0" dirty="0"/>
              <a:t> utiliza aprendizado de máquina para aprender se</a:t>
            </a:r>
            <a:r>
              <a:rPr lang="pt-BR" sz="1200" b="0" baseline="0" dirty="0"/>
              <a:t> um email é </a:t>
            </a:r>
            <a:r>
              <a:rPr lang="pt-BR" sz="1200" b="0" dirty="0"/>
              <a:t>spam</a:t>
            </a:r>
            <a:r>
              <a:rPr lang="pt-BR" sz="1200" b="0" baseline="0" dirty="0"/>
              <a:t> </a:t>
            </a:r>
            <a:r>
              <a:rPr lang="pt-BR" sz="1200" b="0" dirty="0"/>
              <a:t>(por exemplo, sinalizados por usuários) e exemplos de </a:t>
            </a:r>
            <a:r>
              <a:rPr lang="pt-BR" sz="1200" b="0" dirty="0" err="1"/>
              <a:t>emails</a:t>
            </a:r>
            <a:r>
              <a:rPr lang="pt-BR" sz="1200" b="0" dirty="0"/>
              <a:t> regulares (não spam, também chamados de “</a:t>
            </a:r>
            <a:r>
              <a:rPr lang="pt-BR" sz="1200" b="0" dirty="0" err="1"/>
              <a:t>ham</a:t>
            </a:r>
            <a:r>
              <a:rPr lang="pt-BR" sz="1200" b="0" dirty="0"/>
              <a:t>"). </a:t>
            </a:r>
          </a:p>
          <a:p>
            <a:endParaRPr lang="pt-BR" sz="1200" b="0" dirty="0"/>
          </a:p>
          <a:p>
            <a:r>
              <a:rPr lang="pt-BR" sz="1200" b="0" dirty="0"/>
              <a:t>Os exemplos que o modelo usa para aprender são chamados de </a:t>
            </a:r>
            <a:r>
              <a:rPr lang="pt-BR" sz="1200" b="1" dirty="0"/>
              <a:t>conjunto de treinamento</a:t>
            </a:r>
            <a:r>
              <a:rPr lang="pt-BR" sz="1200" b="0" dirty="0"/>
              <a:t>. Cada </a:t>
            </a:r>
            <a:r>
              <a:rPr lang="pt-BR" sz="1200" b="1" dirty="0"/>
              <a:t>exemplo de treinamento </a:t>
            </a:r>
            <a:r>
              <a:rPr lang="pt-BR" sz="1200" b="0" dirty="0"/>
              <a:t>é chamado de </a:t>
            </a:r>
            <a:r>
              <a:rPr lang="pt-BR" sz="1200" b="1" dirty="0"/>
              <a:t>instância de treinamento </a:t>
            </a:r>
            <a:r>
              <a:rPr lang="pt-BR" sz="1200" b="0" dirty="0"/>
              <a:t>(ou amostra).</a:t>
            </a:r>
          </a:p>
          <a:p>
            <a:endParaRPr lang="pt-BR" sz="1200" b="0" dirty="0"/>
          </a:p>
          <a:p>
            <a:r>
              <a:rPr lang="pt-BR" sz="1200" b="0" dirty="0"/>
              <a:t>Induzir conhecimento através da apresentação de experiências prévias.</a:t>
            </a:r>
          </a:p>
          <a:p>
            <a:endParaRPr lang="pt-BR" sz="12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b="1" dirty="0"/>
              <a:t>Induzir</a:t>
            </a:r>
            <a:r>
              <a:rPr lang="pt-BR" dirty="0"/>
              <a:t> conhecimento através de experiências prévias.</a:t>
            </a:r>
          </a:p>
          <a:p>
            <a:endParaRPr lang="en-US" sz="1200" b="0" dirty="0"/>
          </a:p>
          <a:p>
            <a:endParaRPr lang="pt-BR" dirty="0"/>
          </a:p>
          <a:p>
            <a:r>
              <a:rPr lang="pt-BR" dirty="0"/>
              <a:t>Através de experiências prévias, induz-se</a:t>
            </a:r>
            <a:r>
              <a:rPr lang="pt-BR" baseline="0" dirty="0"/>
              <a:t> conhecimento nas máquinas</a:t>
            </a:r>
            <a:endParaRPr lang="en-US" dirty="0"/>
          </a:p>
        </p:txBody>
      </p:sp>
      <p:sp>
        <p:nvSpPr>
          <p:cNvPr id="4" name="Espaço Reservado para Número de Slide 3">
            <a:extLst>
              <a:ext uri="{FF2B5EF4-FFF2-40B4-BE49-F238E27FC236}">
                <a16:creationId xmlns:a16="http://schemas.microsoft.com/office/drawing/2014/main" id="{4E91EABD-8099-711D-DC9A-7311F9F5748F}"/>
              </a:ext>
            </a:extLst>
          </p:cNvPr>
          <p:cNvSpPr>
            <a:spLocks noGrp="1"/>
          </p:cNvSpPr>
          <p:nvPr>
            <p:ph type="sldNum" sz="quarter" idx="10"/>
          </p:nvPr>
        </p:nvSpPr>
        <p:spPr/>
        <p:txBody>
          <a:bodyPr/>
          <a:lstStyle/>
          <a:p>
            <a:fld id="{6FC8D850-966F-45A6-8DE7-15B891E7D40D}" type="slidenum">
              <a:rPr lang="pt-BR" smtClean="0"/>
              <a:t>4</a:t>
            </a:fld>
            <a:endParaRPr lang="pt-BR"/>
          </a:p>
        </p:txBody>
      </p:sp>
    </p:spTree>
    <p:extLst>
      <p:ext uri="{BB962C8B-B14F-4D97-AF65-F5344CB8AC3E}">
        <p14:creationId xmlns:p14="http://schemas.microsoft.com/office/powerpoint/2010/main" val="11777670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Através de treinamento com o conjunto de</a:t>
            </a:r>
            <a:r>
              <a:rPr lang="pt-BR" baseline="0" dirty="0"/>
              <a:t> dados</a:t>
            </a:r>
            <a:r>
              <a:rPr lang="pt-BR" dirty="0"/>
              <a:t>, o algoritmo de ML aprende um modelo que reproduz os resultados esperados e generaliza para entradas não vistas durante o treinamento.</a:t>
            </a:r>
            <a:endParaRPr lang="en-US" dirty="0"/>
          </a:p>
        </p:txBody>
      </p:sp>
      <p:sp>
        <p:nvSpPr>
          <p:cNvPr id="4" name="Espaço Reservado para Número de Slide 3"/>
          <p:cNvSpPr>
            <a:spLocks noGrp="1"/>
          </p:cNvSpPr>
          <p:nvPr>
            <p:ph type="sldNum" sz="quarter" idx="10"/>
          </p:nvPr>
        </p:nvSpPr>
        <p:spPr/>
        <p:txBody>
          <a:bodyPr/>
          <a:lstStyle/>
          <a:p>
            <a:fld id="{6FC8D850-966F-45A6-8DE7-15B891E7D40D}" type="slidenum">
              <a:rPr lang="pt-BR" smtClean="0"/>
              <a:t>5</a:t>
            </a:fld>
            <a:endParaRPr lang="pt-BR"/>
          </a:p>
        </p:txBody>
      </p:sp>
    </p:spTree>
    <p:extLst>
      <p:ext uri="{BB962C8B-B14F-4D97-AF65-F5344CB8AC3E}">
        <p14:creationId xmlns:p14="http://schemas.microsoft.com/office/powerpoint/2010/main" val="32099072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Através de treinamento com o conjunto de</a:t>
            </a:r>
            <a:r>
              <a:rPr lang="pt-BR" baseline="0" dirty="0"/>
              <a:t> dados</a:t>
            </a:r>
            <a:r>
              <a:rPr lang="pt-BR" dirty="0"/>
              <a:t>, o algoritmo de ML aprende um modelo que reproduz os resultados esperados e generaliza para entradas não vistas durante o treinamento.</a:t>
            </a:r>
            <a:endParaRPr lang="en-US" dirty="0"/>
          </a:p>
        </p:txBody>
      </p:sp>
      <p:sp>
        <p:nvSpPr>
          <p:cNvPr id="4" name="Espaço Reservado para Número de Slide 3"/>
          <p:cNvSpPr>
            <a:spLocks noGrp="1"/>
          </p:cNvSpPr>
          <p:nvPr>
            <p:ph type="sldNum" sz="quarter" idx="10"/>
          </p:nvPr>
        </p:nvSpPr>
        <p:spPr/>
        <p:txBody>
          <a:bodyPr/>
          <a:lstStyle/>
          <a:p>
            <a:fld id="{6FC8D850-966F-45A6-8DE7-15B891E7D40D}" type="slidenum">
              <a:rPr lang="pt-BR" smtClean="0"/>
              <a:t>6</a:t>
            </a:fld>
            <a:endParaRPr lang="pt-BR"/>
          </a:p>
        </p:txBody>
      </p:sp>
    </p:spTree>
    <p:extLst>
      <p:ext uri="{BB962C8B-B14F-4D97-AF65-F5344CB8AC3E}">
        <p14:creationId xmlns:p14="http://schemas.microsoft.com/office/powerpoint/2010/main" val="24534816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Através de treinamento com o conjunto de</a:t>
            </a:r>
            <a:r>
              <a:rPr lang="pt-BR" baseline="0" dirty="0"/>
              <a:t> dados</a:t>
            </a:r>
            <a:r>
              <a:rPr lang="pt-BR" dirty="0"/>
              <a:t>, o algoritmo de ML aprende um modelo que reproduz os resultados esperados e generaliza para entradas não vistas durante o treinamento.</a:t>
            </a:r>
            <a:endParaRPr lang="en-US" dirty="0"/>
          </a:p>
        </p:txBody>
      </p:sp>
      <p:sp>
        <p:nvSpPr>
          <p:cNvPr id="4" name="Espaço Reservado para Número de Slide 3"/>
          <p:cNvSpPr>
            <a:spLocks noGrp="1"/>
          </p:cNvSpPr>
          <p:nvPr>
            <p:ph type="sldNum" sz="quarter" idx="10"/>
          </p:nvPr>
        </p:nvSpPr>
        <p:spPr/>
        <p:txBody>
          <a:bodyPr/>
          <a:lstStyle/>
          <a:p>
            <a:fld id="{6FC8D850-966F-45A6-8DE7-15B891E7D40D}" type="slidenum">
              <a:rPr lang="pt-BR" smtClean="0"/>
              <a:t>7</a:t>
            </a:fld>
            <a:endParaRPr lang="pt-BR"/>
          </a:p>
        </p:txBody>
      </p:sp>
    </p:spTree>
    <p:extLst>
      <p:ext uri="{BB962C8B-B14F-4D97-AF65-F5344CB8AC3E}">
        <p14:creationId xmlns:p14="http://schemas.microsoft.com/office/powerpoint/2010/main" val="23482054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Através de treinamento com o conjunto de</a:t>
            </a:r>
            <a:r>
              <a:rPr lang="pt-BR" baseline="0" dirty="0"/>
              <a:t> dados</a:t>
            </a:r>
            <a:r>
              <a:rPr lang="pt-BR" dirty="0"/>
              <a:t>, o algoritmo de ML aprende um modelo que reproduz os resultados esperados e generaliza para entradas não vistas durante o treinamento.</a:t>
            </a:r>
          </a:p>
          <a:p>
            <a:endParaRPr lang="pt-BR" dirty="0"/>
          </a:p>
          <a:p>
            <a:r>
              <a:rPr lang="pt-BR" dirty="0"/>
              <a:t>Então, em vez de você tentar descobrir as regras que agem sobre os dados para lhe dar uma resposta, e se você fizer o contrário e fornecer as respostas com os dados e tiver um computador que pode descobrir as regras que irão combiná-los juntos?</a:t>
            </a:r>
            <a:endParaRPr lang="en-US" dirty="0"/>
          </a:p>
        </p:txBody>
      </p:sp>
      <p:sp>
        <p:nvSpPr>
          <p:cNvPr id="4" name="Espaço Reservado para Número de Slide 3"/>
          <p:cNvSpPr>
            <a:spLocks noGrp="1"/>
          </p:cNvSpPr>
          <p:nvPr>
            <p:ph type="sldNum" sz="quarter" idx="10"/>
          </p:nvPr>
        </p:nvSpPr>
        <p:spPr/>
        <p:txBody>
          <a:bodyPr/>
          <a:lstStyle/>
          <a:p>
            <a:fld id="{6FC8D850-966F-45A6-8DE7-15B891E7D40D}" type="slidenum">
              <a:rPr lang="pt-BR" smtClean="0"/>
              <a:t>11</a:t>
            </a:fld>
            <a:endParaRPr lang="pt-BR"/>
          </a:p>
        </p:txBody>
      </p:sp>
    </p:spTree>
    <p:extLst>
      <p:ext uri="{BB962C8B-B14F-4D97-AF65-F5344CB8AC3E}">
        <p14:creationId xmlns:p14="http://schemas.microsoft.com/office/powerpoint/2010/main" val="3033828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6B81A-60D6-61D4-C223-2450C5FB6264}"/>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89F69B26-62CD-6429-4E32-A2EB409FAF21}"/>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543EB985-F134-D82D-46D4-D8C9451663AF}"/>
              </a:ext>
            </a:extLst>
          </p:cNvPr>
          <p:cNvSpPr>
            <a:spLocks noGrp="1"/>
          </p:cNvSpPr>
          <p:nvPr>
            <p:ph type="body" idx="1"/>
          </p:nvPr>
        </p:nvSpPr>
        <p:spPr/>
        <p:txBody>
          <a:bodyPr/>
          <a:lstStyle/>
          <a:p>
            <a:r>
              <a:rPr lang="pt-BR" dirty="0"/>
              <a:t>Através de treinamento com o conjunto de</a:t>
            </a:r>
            <a:r>
              <a:rPr lang="pt-BR" baseline="0" dirty="0"/>
              <a:t> dados</a:t>
            </a:r>
            <a:r>
              <a:rPr lang="pt-BR" dirty="0"/>
              <a:t>, o algoritmo de ML aprende um modelo que reproduz os resultados esperados e generaliza para entradas não vistas durante o treinamento.</a:t>
            </a:r>
          </a:p>
          <a:p>
            <a:endParaRPr lang="pt-BR" dirty="0"/>
          </a:p>
          <a:p>
            <a:r>
              <a:rPr lang="pt-BR" dirty="0"/>
              <a:t>Então, em vez de você tentar descobrir as regras que agem sobre os dados para lhe dar uma resposta, e se você fizer o contrário e fornecer as respostas com os dados e tiver um computador que pode descobrir as regras que irão combiná-los juntos?</a:t>
            </a:r>
            <a:endParaRPr lang="en-US" dirty="0"/>
          </a:p>
        </p:txBody>
      </p:sp>
      <p:sp>
        <p:nvSpPr>
          <p:cNvPr id="4" name="Espaço Reservado para Número de Slide 3">
            <a:extLst>
              <a:ext uri="{FF2B5EF4-FFF2-40B4-BE49-F238E27FC236}">
                <a16:creationId xmlns:a16="http://schemas.microsoft.com/office/drawing/2014/main" id="{87A5387E-B915-232C-1589-DC2FB1791FB5}"/>
              </a:ext>
            </a:extLst>
          </p:cNvPr>
          <p:cNvSpPr>
            <a:spLocks noGrp="1"/>
          </p:cNvSpPr>
          <p:nvPr>
            <p:ph type="sldNum" sz="quarter" idx="10"/>
          </p:nvPr>
        </p:nvSpPr>
        <p:spPr/>
        <p:txBody>
          <a:bodyPr/>
          <a:lstStyle/>
          <a:p>
            <a:fld id="{6FC8D850-966F-45A6-8DE7-15B891E7D40D}" type="slidenum">
              <a:rPr lang="pt-BR" smtClean="0"/>
              <a:t>12</a:t>
            </a:fld>
            <a:endParaRPr lang="pt-BR"/>
          </a:p>
        </p:txBody>
      </p:sp>
    </p:spTree>
    <p:extLst>
      <p:ext uri="{BB962C8B-B14F-4D97-AF65-F5344CB8AC3E}">
        <p14:creationId xmlns:p14="http://schemas.microsoft.com/office/powerpoint/2010/main" val="9162183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Através de treinamento com o conjunto de</a:t>
            </a:r>
            <a:r>
              <a:rPr lang="pt-BR" baseline="0" dirty="0"/>
              <a:t> dados</a:t>
            </a:r>
            <a:r>
              <a:rPr lang="pt-BR" dirty="0"/>
              <a:t>, o algoritmo de ML aprende um modelo que reproduz os resultados esperados e generaliza para entradas não vistas durante o treinamento.</a:t>
            </a:r>
          </a:p>
          <a:p>
            <a:endParaRPr lang="pt-BR" dirty="0"/>
          </a:p>
          <a:p>
            <a:r>
              <a:rPr lang="pt-BR" dirty="0"/>
              <a:t>Então, em vez de você tentar descobrir as regras que agem sobre os dados para lhe dar uma resposta, e se você fizer o contrário e fornecer as respostas com os dados e tiver um computador que pode descobrir as regras que irão combiná-los juntos?</a:t>
            </a:r>
            <a:endParaRPr lang="en-US" dirty="0"/>
          </a:p>
        </p:txBody>
      </p:sp>
      <p:sp>
        <p:nvSpPr>
          <p:cNvPr id="4" name="Espaço Reservado para Número de Slide 3"/>
          <p:cNvSpPr>
            <a:spLocks noGrp="1"/>
          </p:cNvSpPr>
          <p:nvPr>
            <p:ph type="sldNum" sz="quarter" idx="10"/>
          </p:nvPr>
        </p:nvSpPr>
        <p:spPr/>
        <p:txBody>
          <a:bodyPr/>
          <a:lstStyle/>
          <a:p>
            <a:fld id="{6FC8D850-966F-45A6-8DE7-15B891E7D40D}" type="slidenum">
              <a:rPr lang="pt-BR" smtClean="0"/>
              <a:t>13</a:t>
            </a:fld>
            <a:endParaRPr lang="pt-BR"/>
          </a:p>
        </p:txBody>
      </p:sp>
    </p:spTree>
    <p:extLst>
      <p:ext uri="{BB962C8B-B14F-4D97-AF65-F5344CB8AC3E}">
        <p14:creationId xmlns:p14="http://schemas.microsoft.com/office/powerpoint/2010/main" val="8052594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Mas além dos detalhes, é simplesmente adivinhar o relacionamento. Em seguida, ele mede o quão bom ou ruim é esse palpite. A terminologia frequentemente usada aqui é perda.</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17</a:t>
            </a:fld>
            <a:endParaRPr lang="pt-BR"/>
          </a:p>
        </p:txBody>
      </p:sp>
    </p:spTree>
    <p:extLst>
      <p:ext uri="{BB962C8B-B14F-4D97-AF65-F5344CB8AC3E}">
        <p14:creationId xmlns:p14="http://schemas.microsoft.com/office/powerpoint/2010/main" val="15200284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Mas além dos detalhes, é simplesmente adivinhar o relacionamento. Em seguida, ele mede o quão bom ou ruim é esse palpite. A terminologia frequentemente usada aqui é perda.</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18</a:t>
            </a:fld>
            <a:endParaRPr lang="pt-BR"/>
          </a:p>
        </p:txBody>
      </p:sp>
    </p:spTree>
    <p:extLst>
      <p:ext uri="{BB962C8B-B14F-4D97-AF65-F5344CB8AC3E}">
        <p14:creationId xmlns:p14="http://schemas.microsoft.com/office/powerpoint/2010/main" val="14772002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Mas além dos detalhes, é simplesmente adivinhar o relacionamento. Em seguida, ele mede o quão bom ou ruim é esse palpite. A terminologia frequentemente usada aqui é perda.</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19</a:t>
            </a:fld>
            <a:endParaRPr lang="pt-BR"/>
          </a:p>
        </p:txBody>
      </p:sp>
    </p:spTree>
    <p:extLst>
      <p:ext uri="{BB962C8B-B14F-4D97-AF65-F5344CB8AC3E}">
        <p14:creationId xmlns:p14="http://schemas.microsoft.com/office/powerpoint/2010/main" val="40699788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algn="l"/>
            <a:r>
              <a:rPr lang="pt-BR" b="0" i="0" dirty="0">
                <a:solidFill>
                  <a:srgbClr val="374151"/>
                </a:solidFill>
                <a:effectLst/>
                <a:latin typeface="Söhne"/>
              </a:rPr>
              <a:t>Quando se resolve um problema desconhecido com base em experiências prévias, isso é chamado de "raciocínio indutivo". O raciocínio indutivo é um processo mental pelo qual chegamos a conclusões gerais a partir de observações específicas ou experiências passadas.</a:t>
            </a:r>
          </a:p>
          <a:p>
            <a:pPr algn="l"/>
            <a:r>
              <a:rPr lang="pt-BR" b="0" i="0" dirty="0">
                <a:solidFill>
                  <a:srgbClr val="374151"/>
                </a:solidFill>
                <a:effectLst/>
                <a:latin typeface="Söhne"/>
              </a:rPr>
              <a:t>Em outras palavras, quando encontramos uma série de eventos ou situações semelhantes no passado e, com base nessas observações, inferimos que um padrão ou generalização é válido para situações futuras semelhantes, estamos usando o raciocínio indutivo. Essa forma de raciocínio é fundamental em nossa vida cotidiana e também desempenha um papel importante no método científico.</a:t>
            </a:r>
          </a:p>
          <a:p>
            <a:pPr algn="l"/>
            <a:r>
              <a:rPr lang="pt-BR" b="0" i="0" dirty="0">
                <a:solidFill>
                  <a:srgbClr val="374151"/>
                </a:solidFill>
                <a:effectLst/>
                <a:latin typeface="Söhne"/>
              </a:rPr>
              <a:t>No entanto, é importante notar que o raciocínio indutivo não fornece garantias absolutas de que uma conclusão será sempre verdadeira. As generalizações feitas com base em raciocínio indutivo estão sujeitas a exceções, e é possível que as conclusões estejam incorretas em algumas situações. Apesar disso, o raciocínio indutivo é uma ferramenta valiosa para lidar com situações desconhecidas, permitindo-nos tomar decisões informadas com base em nossa experiência passada.</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20</a:t>
            </a:fld>
            <a:endParaRPr lang="pt-BR"/>
          </a:p>
        </p:txBody>
      </p:sp>
    </p:spTree>
    <p:extLst>
      <p:ext uri="{BB962C8B-B14F-4D97-AF65-F5344CB8AC3E}">
        <p14:creationId xmlns:p14="http://schemas.microsoft.com/office/powerpoint/2010/main" val="30436545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7641C-C170-E5B3-BB64-52D45D996E2C}"/>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B154C67F-67D7-0AB9-34FB-8F7C1F7F27C2}"/>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6E72D3C3-65E9-6ACC-6C7C-FD3CB612BCDC}"/>
              </a:ext>
            </a:extLst>
          </p:cNvPr>
          <p:cNvSpPr>
            <a:spLocks noGrp="1"/>
          </p:cNvSpPr>
          <p:nvPr>
            <p:ph type="body" idx="1"/>
          </p:nvPr>
        </p:nvSpPr>
        <p:spPr/>
        <p:txBody>
          <a:bodyPr/>
          <a:lstStyle/>
          <a:p>
            <a:pPr algn="l"/>
            <a:r>
              <a:rPr lang="pt-BR" b="0" i="0" dirty="0">
                <a:solidFill>
                  <a:srgbClr val="374151"/>
                </a:solidFill>
                <a:effectLst/>
                <a:latin typeface="Söhne"/>
              </a:rPr>
              <a:t>Quando se resolve um problema desconhecido com base em experiências prévias, isso é chamado de "raciocínio indutivo". O raciocínio indutivo é um processo mental pelo qual chegamos a conclusões gerais a partir de observações específicas ou experiências passadas.</a:t>
            </a:r>
          </a:p>
          <a:p>
            <a:pPr algn="l"/>
            <a:r>
              <a:rPr lang="pt-BR" b="0" i="0" dirty="0">
                <a:solidFill>
                  <a:srgbClr val="374151"/>
                </a:solidFill>
                <a:effectLst/>
                <a:latin typeface="Söhne"/>
              </a:rPr>
              <a:t>Em outras palavras, quando encontramos uma série de eventos ou situações semelhantes no passado e, com base nessas observações, inferimos que um padrão ou generalização é válido para situações futuras semelhantes, estamos usando o raciocínio indutivo. Essa forma de raciocínio é fundamental em nossa vida cotidiana e também desempenha um papel importante no método científico.</a:t>
            </a:r>
          </a:p>
          <a:p>
            <a:pPr algn="l"/>
            <a:r>
              <a:rPr lang="pt-BR" b="0" i="0" dirty="0">
                <a:solidFill>
                  <a:srgbClr val="374151"/>
                </a:solidFill>
                <a:effectLst/>
                <a:latin typeface="Söhne"/>
              </a:rPr>
              <a:t>No entanto, é importante notar que o raciocínio indutivo não fornece garantias absolutas de que uma conclusão será sempre verdadeira. As generalizações feitas com base em raciocínio indutivo estão sujeitas a exceções, e é possível que as conclusões estejam incorretas em algumas situações. Apesar disso, o raciocínio indutivo é uma ferramenta valiosa para lidar com situações desconhecidas, permitindo-nos tomar decisões informadas com base em nossa experiência passada.</a:t>
            </a:r>
          </a:p>
        </p:txBody>
      </p:sp>
      <p:sp>
        <p:nvSpPr>
          <p:cNvPr id="4" name="Espaço Reservado para Número de Slide 3">
            <a:extLst>
              <a:ext uri="{FF2B5EF4-FFF2-40B4-BE49-F238E27FC236}">
                <a16:creationId xmlns:a16="http://schemas.microsoft.com/office/drawing/2014/main" id="{D3E622FD-FB56-BB64-BF81-ABF00E33C62D}"/>
              </a:ext>
            </a:extLst>
          </p:cNvPr>
          <p:cNvSpPr>
            <a:spLocks noGrp="1"/>
          </p:cNvSpPr>
          <p:nvPr>
            <p:ph type="sldNum" sz="quarter" idx="5"/>
          </p:nvPr>
        </p:nvSpPr>
        <p:spPr/>
        <p:txBody>
          <a:bodyPr/>
          <a:lstStyle/>
          <a:p>
            <a:fld id="{6FC8D850-966F-45A6-8DE7-15B891E7D40D}" type="slidenum">
              <a:rPr lang="pt-BR" smtClean="0"/>
              <a:t>21</a:t>
            </a:fld>
            <a:endParaRPr lang="pt-BR"/>
          </a:p>
        </p:txBody>
      </p:sp>
    </p:spTree>
    <p:extLst>
      <p:ext uri="{BB962C8B-B14F-4D97-AF65-F5344CB8AC3E}">
        <p14:creationId xmlns:p14="http://schemas.microsoft.com/office/powerpoint/2010/main" val="2494400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algn="l"/>
            <a:r>
              <a:rPr lang="pt-BR" b="0" i="0" dirty="0">
                <a:solidFill>
                  <a:srgbClr val="374151"/>
                </a:solidFill>
                <a:effectLst/>
                <a:latin typeface="Söhne"/>
              </a:rPr>
              <a:t>Quando se resolve um problema desconhecido com base em experiências prévias, isso é chamado de "raciocínio indutivo". O raciocínio indutivo é um processo mental pelo qual chegamos a conclusões gerais a partir de observações específicas ou experiências passadas.</a:t>
            </a:r>
          </a:p>
          <a:p>
            <a:pPr algn="l"/>
            <a:r>
              <a:rPr lang="pt-BR" b="0" i="0" dirty="0">
                <a:solidFill>
                  <a:srgbClr val="374151"/>
                </a:solidFill>
                <a:effectLst/>
                <a:latin typeface="Söhne"/>
              </a:rPr>
              <a:t>Em outras palavras, quando encontramos uma série de eventos ou situações semelhantes no passado e, com base nessas observações, inferimos que um padrão ou generalização é válido para situações futuras semelhantes, estamos usando o raciocínio indutivo. Essa forma de raciocínio é fundamental em nossa vida cotidiana e também desempenha um papel importante no método científico.</a:t>
            </a:r>
          </a:p>
          <a:p>
            <a:pPr algn="l"/>
            <a:r>
              <a:rPr lang="pt-BR" b="0" i="0" dirty="0">
                <a:solidFill>
                  <a:srgbClr val="374151"/>
                </a:solidFill>
                <a:effectLst/>
                <a:latin typeface="Söhne"/>
              </a:rPr>
              <a:t>No entanto, é importante notar que o raciocínio indutivo não fornece garantias absolutas de que uma conclusão será sempre verdadeira. As generalizações feitas com base em raciocínio indutivo estão sujeitas a exceções, e é possível que as conclusões estejam incorretas em algumas situações. Apesar disso, o raciocínio indutivo é uma ferramenta valiosa para lidar com situações desconhecidas, permitindo-nos tomar decisões informadas com base em nossa experiência passada.</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22</a:t>
            </a:fld>
            <a:endParaRPr lang="pt-BR"/>
          </a:p>
        </p:txBody>
      </p:sp>
    </p:spTree>
    <p:extLst>
      <p:ext uri="{BB962C8B-B14F-4D97-AF65-F5344CB8AC3E}">
        <p14:creationId xmlns:p14="http://schemas.microsoft.com/office/powerpoint/2010/main" val="42157008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algn="l"/>
            <a:r>
              <a:rPr lang="pt-BR" b="0" i="0" dirty="0">
                <a:solidFill>
                  <a:srgbClr val="374151"/>
                </a:solidFill>
                <a:effectLst/>
                <a:latin typeface="Söhne"/>
              </a:rPr>
              <a:t>Quando se resolve um problema desconhecido com base em experiências prévias, isso é chamado de "raciocínio indutivo". O raciocínio indutivo é um processo mental pelo qual chegamos a conclusões gerais a partir de observações específicas ou experiências passadas.</a:t>
            </a:r>
          </a:p>
          <a:p>
            <a:pPr algn="l"/>
            <a:endParaRPr lang="pt-BR" b="0" i="0" dirty="0">
              <a:solidFill>
                <a:srgbClr val="374151"/>
              </a:solidFill>
              <a:effectLst/>
              <a:latin typeface="Söhne"/>
            </a:endParaRPr>
          </a:p>
          <a:p>
            <a:pPr algn="l"/>
            <a:r>
              <a:rPr lang="pt-BR" b="0" i="0" dirty="0">
                <a:solidFill>
                  <a:srgbClr val="374151"/>
                </a:solidFill>
                <a:effectLst/>
                <a:latin typeface="Söhne"/>
              </a:rPr>
              <a:t>Em outras palavras, quando encontramos uma série de eventos ou situações semelhantes no passado e, com base nessas observações, inferimos que um padrão ou generalização é válido para situações futuras semelhantes, estamos usando o raciocínio indutivo. Essa forma de raciocínio é fundamental em nossa vida cotidiana e também desempenha um papel importante no método científico.</a:t>
            </a:r>
          </a:p>
          <a:p>
            <a:pPr algn="l"/>
            <a:endParaRPr lang="pt-BR" b="0" i="0" dirty="0">
              <a:solidFill>
                <a:srgbClr val="374151"/>
              </a:solidFill>
              <a:effectLst/>
              <a:latin typeface="Söhne"/>
            </a:endParaRPr>
          </a:p>
          <a:p>
            <a:pPr algn="l"/>
            <a:r>
              <a:rPr lang="pt-BR" b="0" i="0" dirty="0">
                <a:solidFill>
                  <a:srgbClr val="374151"/>
                </a:solidFill>
                <a:effectLst/>
                <a:latin typeface="Söhne"/>
              </a:rPr>
              <a:t>No entanto, é importante notar que o raciocínio indutivo não fornece garantias absolutas de que uma conclusão será sempre verdadeira. As generalizações feitas com base em raciocínio indutivo estão sujeitas a exceções, e é possível que as conclusões estejam incorretas em algumas situações. Apesar disso, o raciocínio indutivo é uma ferramenta valiosa para lidar com situações desconhecidas, permitindo-nos tomar decisões informadas com base em nossa experiência passada.</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23</a:t>
            </a:fld>
            <a:endParaRPr lang="pt-BR"/>
          </a:p>
        </p:txBody>
      </p:sp>
    </p:spTree>
    <p:extLst>
      <p:ext uri="{BB962C8B-B14F-4D97-AF65-F5344CB8AC3E}">
        <p14:creationId xmlns:p14="http://schemas.microsoft.com/office/powerpoint/2010/main" val="1961275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algn="l"/>
            <a:r>
              <a:rPr lang="pt-BR" b="0" i="0" dirty="0">
                <a:solidFill>
                  <a:srgbClr val="374151"/>
                </a:solidFill>
                <a:effectLst/>
                <a:latin typeface="Söhne"/>
              </a:rPr>
              <a:t>Quando se resolve um problema desconhecido com base em experiências prévias, isso é chamado de "raciocínio indutivo". O raciocínio indutivo é um processo mental pelo qual chegamos a conclusões gerais a partir de observações específicas ou experiências passadas.</a:t>
            </a:r>
          </a:p>
          <a:p>
            <a:pPr algn="l"/>
            <a:endParaRPr lang="pt-BR" b="0" i="0" dirty="0">
              <a:solidFill>
                <a:srgbClr val="374151"/>
              </a:solidFill>
              <a:effectLst/>
              <a:latin typeface="Söhne"/>
            </a:endParaRPr>
          </a:p>
          <a:p>
            <a:pPr algn="l"/>
            <a:r>
              <a:rPr lang="pt-BR" b="0" i="0" dirty="0">
                <a:solidFill>
                  <a:srgbClr val="374151"/>
                </a:solidFill>
                <a:effectLst/>
                <a:latin typeface="Söhne"/>
              </a:rPr>
              <a:t>Em outras palavras, quando encontramos uma série de eventos ou situações semelhantes no passado e, com base nessas observações, inferimos que um padrão ou generalização é válido para situações futuras semelhantes, estamos usando o raciocínio indutivo. Essa forma de raciocínio é fundamental em nossa vida cotidiana e também desempenha um papel importante no método científico.</a:t>
            </a:r>
          </a:p>
          <a:p>
            <a:pPr algn="l"/>
            <a:endParaRPr lang="pt-BR" b="0" i="0" dirty="0">
              <a:solidFill>
                <a:srgbClr val="374151"/>
              </a:solidFill>
              <a:effectLst/>
              <a:latin typeface="Söhne"/>
            </a:endParaRPr>
          </a:p>
          <a:p>
            <a:pPr algn="l"/>
            <a:r>
              <a:rPr lang="pt-BR" b="0" i="0" dirty="0">
                <a:solidFill>
                  <a:srgbClr val="374151"/>
                </a:solidFill>
                <a:effectLst/>
                <a:latin typeface="Söhne"/>
              </a:rPr>
              <a:t>No entanto, é importante notar que o raciocínio indutivo não fornece garantias absolutas de que uma conclusão será sempre verdadeira. As generalizações feitas com base em raciocínio indutivo estão sujeitas a exceções, e é possível que as conclusões estejam incorretas em algumas situações. Apesar disso, o raciocínio indutivo é uma ferramenta valiosa para lidar com situações desconhecidas, permitindo-nos tomar decisões informadas com base em nossa experiência passada.</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24</a:t>
            </a:fld>
            <a:endParaRPr lang="pt-BR"/>
          </a:p>
        </p:txBody>
      </p:sp>
    </p:spTree>
    <p:extLst>
      <p:ext uri="{BB962C8B-B14F-4D97-AF65-F5344CB8AC3E}">
        <p14:creationId xmlns:p14="http://schemas.microsoft.com/office/powerpoint/2010/main" val="29321140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algn="l"/>
            <a:r>
              <a:rPr lang="pt-BR" b="0" i="0" dirty="0">
                <a:solidFill>
                  <a:srgbClr val="374151"/>
                </a:solidFill>
                <a:effectLst/>
                <a:latin typeface="Söhne"/>
              </a:rPr>
              <a:t>No contexto de aprendizado de máquina, a generalização refere-se à capacidade de um modelo treinado em um conjunto de dados específico de realizar predições precisas e acuradas em dados que nunca foram vistos durante o processo de treinamento.</a:t>
            </a:r>
          </a:p>
          <a:p>
            <a:pPr algn="l"/>
            <a:endParaRPr lang="pt-BR" b="0" i="0" dirty="0">
              <a:solidFill>
                <a:srgbClr val="374151"/>
              </a:solidFill>
              <a:effectLst/>
              <a:latin typeface="Söhne"/>
            </a:endParaRPr>
          </a:p>
          <a:p>
            <a:pPr algn="l"/>
            <a:r>
              <a:rPr lang="pt-BR" b="0" i="0" dirty="0">
                <a:solidFill>
                  <a:srgbClr val="374151"/>
                </a:solidFill>
                <a:effectLst/>
                <a:latin typeface="Söhne"/>
              </a:rPr>
              <a:t>Quando um modelo é treinado em um conjunto de dados, ele busca aprender padrões e regras que governam os relacionamentos entre as entradas e as saídas desse conjunto. A generalização ocorre quando o modelo consegue aplicar esse conhecimento aprendido para fazer predições em novos dados que não foram usados durante o treinamento. Em outras palavras, um modelo generalizado é capaz de "generalizar" o conhecimento adquirido com o conjunto de treinamento para realizar previsões precisas em situações desconhecidas.</a:t>
            </a:r>
          </a:p>
          <a:p>
            <a:pPr algn="l"/>
            <a:endParaRPr lang="pt-BR" b="0" i="0" dirty="0">
              <a:solidFill>
                <a:srgbClr val="374151"/>
              </a:solidFill>
              <a:effectLst/>
              <a:latin typeface="Söhne"/>
            </a:endParaRPr>
          </a:p>
          <a:p>
            <a:pPr algn="l"/>
            <a:r>
              <a:rPr lang="pt-BR" b="0" i="0" dirty="0">
                <a:solidFill>
                  <a:srgbClr val="374151"/>
                </a:solidFill>
                <a:effectLst/>
                <a:latin typeface="Söhne"/>
              </a:rPr>
              <a:t>A generalização é um aspecto crítico do aprendizado de máquina, pois o objetivo é que o modelo seja capaz de lidar efetivamente com dados do mundo real, que podem ser diferentes ou conter variações em relação ao conjunto de treinamento. Um modelo que generaliza bem evita problemas de </a:t>
            </a:r>
            <a:r>
              <a:rPr lang="pt-BR" b="0" i="0" dirty="0" err="1">
                <a:solidFill>
                  <a:srgbClr val="374151"/>
                </a:solidFill>
                <a:effectLst/>
                <a:latin typeface="Söhne"/>
              </a:rPr>
              <a:t>superajuste</a:t>
            </a:r>
            <a:r>
              <a:rPr lang="pt-BR" b="0" i="0" dirty="0">
                <a:solidFill>
                  <a:srgbClr val="374151"/>
                </a:solidFill>
                <a:effectLst/>
                <a:latin typeface="Söhne"/>
              </a:rPr>
              <a:t> (</a:t>
            </a:r>
            <a:r>
              <a:rPr lang="pt-BR" b="0" i="0" dirty="0" err="1">
                <a:solidFill>
                  <a:srgbClr val="374151"/>
                </a:solidFill>
                <a:effectLst/>
                <a:latin typeface="Söhne"/>
              </a:rPr>
              <a:t>overfitting</a:t>
            </a:r>
            <a:r>
              <a:rPr lang="pt-BR" b="0" i="0" dirty="0">
                <a:solidFill>
                  <a:srgbClr val="374151"/>
                </a:solidFill>
                <a:effectLst/>
                <a:latin typeface="Söhne"/>
              </a:rPr>
              <a:t>), onde ele se torna muito específico para o conjunto de treinamento e tem um desempenho inferior em novos dados, ou problemas de </a:t>
            </a:r>
            <a:r>
              <a:rPr lang="pt-BR" b="0" i="0" dirty="0" err="1">
                <a:solidFill>
                  <a:srgbClr val="374151"/>
                </a:solidFill>
                <a:effectLst/>
                <a:latin typeface="Söhne"/>
              </a:rPr>
              <a:t>subajuste</a:t>
            </a:r>
            <a:r>
              <a:rPr lang="pt-BR" b="0" i="0" dirty="0">
                <a:solidFill>
                  <a:srgbClr val="374151"/>
                </a:solidFill>
                <a:effectLst/>
                <a:latin typeface="Söhne"/>
              </a:rPr>
              <a:t> (</a:t>
            </a:r>
            <a:r>
              <a:rPr lang="pt-BR" b="0" i="0" dirty="0" err="1">
                <a:solidFill>
                  <a:srgbClr val="374151"/>
                </a:solidFill>
                <a:effectLst/>
                <a:latin typeface="Söhne"/>
              </a:rPr>
              <a:t>underfitting</a:t>
            </a:r>
            <a:r>
              <a:rPr lang="pt-BR" b="0" i="0" dirty="0">
                <a:solidFill>
                  <a:srgbClr val="374151"/>
                </a:solidFill>
                <a:effectLst/>
                <a:latin typeface="Söhne"/>
              </a:rPr>
              <a:t>), onde ele não captura adequadamente os padrões do conjunto de treinamento e também não tem um desempenho satisfatório em novos dados.</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26</a:t>
            </a:fld>
            <a:endParaRPr lang="pt-BR"/>
          </a:p>
        </p:txBody>
      </p:sp>
    </p:spTree>
    <p:extLst>
      <p:ext uri="{BB962C8B-B14F-4D97-AF65-F5344CB8AC3E}">
        <p14:creationId xmlns:p14="http://schemas.microsoft.com/office/powerpoint/2010/main" val="18296323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algn="l"/>
            <a:r>
              <a:rPr lang="pt-BR" b="0" i="0" dirty="0">
                <a:solidFill>
                  <a:srgbClr val="374151"/>
                </a:solidFill>
                <a:effectLst/>
                <a:latin typeface="Söhne"/>
              </a:rPr>
              <a:t>No contexto de aprendizado de máquina, a generalização refere-se à capacidade de um modelo treinado em um conjunto de dados específico de realizar predições precisas e acuradas em dados que nunca foram vistos durante o processo de treinamento.</a:t>
            </a:r>
          </a:p>
          <a:p>
            <a:pPr algn="l"/>
            <a:endParaRPr lang="pt-BR" b="0" i="0" dirty="0">
              <a:solidFill>
                <a:srgbClr val="374151"/>
              </a:solidFill>
              <a:effectLst/>
              <a:latin typeface="Söhne"/>
            </a:endParaRPr>
          </a:p>
          <a:p>
            <a:pPr algn="l"/>
            <a:r>
              <a:rPr lang="pt-BR" b="0" i="0" dirty="0">
                <a:solidFill>
                  <a:srgbClr val="374151"/>
                </a:solidFill>
                <a:effectLst/>
                <a:latin typeface="Söhne"/>
              </a:rPr>
              <a:t>Quando um modelo é treinado em um conjunto de dados, ele busca aprender padrões e regras que governam os relacionamentos entre as entradas e as saídas desse conjunto. A generalização ocorre quando o modelo consegue aplicar esse conhecimento aprendido para fazer predições em novos dados que não foram usados durante o treinamento. Em outras palavras, um modelo generalizado é capaz de "generalizar" o conhecimento adquirido com o conjunto de treinamento para realizar previsões precisas em situações desconhecidas.</a:t>
            </a:r>
          </a:p>
          <a:p>
            <a:pPr algn="l"/>
            <a:endParaRPr lang="pt-BR" b="0" i="0" dirty="0">
              <a:solidFill>
                <a:srgbClr val="374151"/>
              </a:solidFill>
              <a:effectLst/>
              <a:latin typeface="Söhne"/>
            </a:endParaRPr>
          </a:p>
          <a:p>
            <a:pPr algn="l"/>
            <a:r>
              <a:rPr lang="pt-BR" b="0" i="0" dirty="0">
                <a:solidFill>
                  <a:srgbClr val="374151"/>
                </a:solidFill>
                <a:effectLst/>
                <a:latin typeface="Söhne"/>
              </a:rPr>
              <a:t>A generalização é um aspecto crítico do aprendizado de máquina, pois o objetivo é que o modelo seja capaz de lidar efetivamente com dados do mundo real, que podem ser diferentes ou conter variações em relação ao conjunto de treinamento. Um modelo que generaliza bem evita problemas de </a:t>
            </a:r>
            <a:r>
              <a:rPr lang="pt-BR" b="0" i="0" dirty="0" err="1">
                <a:solidFill>
                  <a:srgbClr val="374151"/>
                </a:solidFill>
                <a:effectLst/>
                <a:latin typeface="Söhne"/>
              </a:rPr>
              <a:t>superajuste</a:t>
            </a:r>
            <a:r>
              <a:rPr lang="pt-BR" b="0" i="0" dirty="0">
                <a:solidFill>
                  <a:srgbClr val="374151"/>
                </a:solidFill>
                <a:effectLst/>
                <a:latin typeface="Söhne"/>
              </a:rPr>
              <a:t> (</a:t>
            </a:r>
            <a:r>
              <a:rPr lang="pt-BR" b="0" i="0" dirty="0" err="1">
                <a:solidFill>
                  <a:srgbClr val="374151"/>
                </a:solidFill>
                <a:effectLst/>
                <a:latin typeface="Söhne"/>
              </a:rPr>
              <a:t>overfitting</a:t>
            </a:r>
            <a:r>
              <a:rPr lang="pt-BR" b="0" i="0" dirty="0">
                <a:solidFill>
                  <a:srgbClr val="374151"/>
                </a:solidFill>
                <a:effectLst/>
                <a:latin typeface="Söhne"/>
              </a:rPr>
              <a:t>), onde ele se torna muito específico para o conjunto de treinamento e tem um desempenho inferior em novos dados, ou problemas de </a:t>
            </a:r>
            <a:r>
              <a:rPr lang="pt-BR" b="0" i="0" dirty="0" err="1">
                <a:solidFill>
                  <a:srgbClr val="374151"/>
                </a:solidFill>
                <a:effectLst/>
                <a:latin typeface="Söhne"/>
              </a:rPr>
              <a:t>subajuste</a:t>
            </a:r>
            <a:r>
              <a:rPr lang="pt-BR" b="0" i="0" dirty="0">
                <a:solidFill>
                  <a:srgbClr val="374151"/>
                </a:solidFill>
                <a:effectLst/>
                <a:latin typeface="Söhne"/>
              </a:rPr>
              <a:t> (</a:t>
            </a:r>
            <a:r>
              <a:rPr lang="pt-BR" b="0" i="0" dirty="0" err="1">
                <a:solidFill>
                  <a:srgbClr val="374151"/>
                </a:solidFill>
                <a:effectLst/>
                <a:latin typeface="Söhne"/>
              </a:rPr>
              <a:t>underfitting</a:t>
            </a:r>
            <a:r>
              <a:rPr lang="pt-BR" b="0" i="0" dirty="0">
                <a:solidFill>
                  <a:srgbClr val="374151"/>
                </a:solidFill>
                <a:effectLst/>
                <a:latin typeface="Söhne"/>
              </a:rPr>
              <a:t>), onde ele não captura adequadamente os padrões do conjunto de treinamento e também não tem um desempenho satisfatório em novos dados.</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27</a:t>
            </a:fld>
            <a:endParaRPr lang="pt-BR"/>
          </a:p>
        </p:txBody>
      </p:sp>
    </p:spTree>
    <p:extLst>
      <p:ext uri="{BB962C8B-B14F-4D97-AF65-F5344CB8AC3E}">
        <p14:creationId xmlns:p14="http://schemas.microsoft.com/office/powerpoint/2010/main" val="17289930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algn="l"/>
            <a:r>
              <a:rPr lang="pt-BR" b="0" i="0" dirty="0">
                <a:solidFill>
                  <a:srgbClr val="374151"/>
                </a:solidFill>
                <a:effectLst/>
                <a:latin typeface="Söhne"/>
              </a:rPr>
              <a:t>No contexto de aprendizado de máquina, a generalização refere-se à capacidade de um modelo treinado em um conjunto de dados específico de realizar predições precisas e acuradas em dados que nunca foram vistos durante o processo de treinamento.</a:t>
            </a:r>
          </a:p>
          <a:p>
            <a:pPr algn="l"/>
            <a:endParaRPr lang="pt-BR" b="0" i="0" dirty="0">
              <a:solidFill>
                <a:srgbClr val="374151"/>
              </a:solidFill>
              <a:effectLst/>
              <a:latin typeface="Söhne"/>
            </a:endParaRPr>
          </a:p>
          <a:p>
            <a:pPr algn="l"/>
            <a:r>
              <a:rPr lang="pt-BR" b="0" i="0" dirty="0">
                <a:solidFill>
                  <a:srgbClr val="374151"/>
                </a:solidFill>
                <a:effectLst/>
                <a:latin typeface="Söhne"/>
              </a:rPr>
              <a:t>Quando um modelo é treinado em um conjunto de dados, ele busca aprender padrões e regras que governam os relacionamentos entre as entradas e as saídas desse conjunto. A generalização ocorre quando o modelo consegue aplicar esse conhecimento aprendido para fazer predições em novos dados que não foram usados durante o treinamento. Em outras palavras, um modelo generalizado é capaz de "generalizar" o conhecimento adquirido com o conjunto de treinamento para realizar previsões precisas em situações desconhecidas.</a:t>
            </a:r>
          </a:p>
          <a:p>
            <a:pPr algn="l"/>
            <a:endParaRPr lang="pt-BR" b="0" i="0" dirty="0">
              <a:solidFill>
                <a:srgbClr val="374151"/>
              </a:solidFill>
              <a:effectLst/>
              <a:latin typeface="Söhne"/>
            </a:endParaRPr>
          </a:p>
          <a:p>
            <a:pPr algn="l"/>
            <a:r>
              <a:rPr lang="pt-BR" b="0" i="0" dirty="0">
                <a:solidFill>
                  <a:srgbClr val="374151"/>
                </a:solidFill>
                <a:effectLst/>
                <a:latin typeface="Söhne"/>
              </a:rPr>
              <a:t>A generalização é um aspecto crítico do aprendizado de máquina, pois o objetivo é que o modelo seja capaz de lidar efetivamente com dados do mundo real, que podem ser diferentes ou conter variações em relação ao conjunto de treinamento. Um modelo que generaliza bem evita problemas de </a:t>
            </a:r>
            <a:r>
              <a:rPr lang="pt-BR" b="0" i="0" dirty="0" err="1">
                <a:solidFill>
                  <a:srgbClr val="374151"/>
                </a:solidFill>
                <a:effectLst/>
                <a:latin typeface="Söhne"/>
              </a:rPr>
              <a:t>superajuste</a:t>
            </a:r>
            <a:r>
              <a:rPr lang="pt-BR" b="0" i="0" dirty="0">
                <a:solidFill>
                  <a:srgbClr val="374151"/>
                </a:solidFill>
                <a:effectLst/>
                <a:latin typeface="Söhne"/>
              </a:rPr>
              <a:t> (</a:t>
            </a:r>
            <a:r>
              <a:rPr lang="pt-BR" b="0" i="0" dirty="0" err="1">
                <a:solidFill>
                  <a:srgbClr val="374151"/>
                </a:solidFill>
                <a:effectLst/>
                <a:latin typeface="Söhne"/>
              </a:rPr>
              <a:t>overfitting</a:t>
            </a:r>
            <a:r>
              <a:rPr lang="pt-BR" b="0" i="0" dirty="0">
                <a:solidFill>
                  <a:srgbClr val="374151"/>
                </a:solidFill>
                <a:effectLst/>
                <a:latin typeface="Söhne"/>
              </a:rPr>
              <a:t>), onde ele se torna muito específico para o conjunto de treinamento e tem um desempenho inferior em novos dados, ou problemas de </a:t>
            </a:r>
            <a:r>
              <a:rPr lang="pt-BR" b="0" i="0" dirty="0" err="1">
                <a:solidFill>
                  <a:srgbClr val="374151"/>
                </a:solidFill>
                <a:effectLst/>
                <a:latin typeface="Söhne"/>
              </a:rPr>
              <a:t>subajuste</a:t>
            </a:r>
            <a:r>
              <a:rPr lang="pt-BR" b="0" i="0" dirty="0">
                <a:solidFill>
                  <a:srgbClr val="374151"/>
                </a:solidFill>
                <a:effectLst/>
                <a:latin typeface="Söhne"/>
              </a:rPr>
              <a:t> (</a:t>
            </a:r>
            <a:r>
              <a:rPr lang="pt-BR" b="0" i="0" dirty="0" err="1">
                <a:solidFill>
                  <a:srgbClr val="374151"/>
                </a:solidFill>
                <a:effectLst/>
                <a:latin typeface="Söhne"/>
              </a:rPr>
              <a:t>underfitting</a:t>
            </a:r>
            <a:r>
              <a:rPr lang="pt-BR" b="0" i="0" dirty="0">
                <a:solidFill>
                  <a:srgbClr val="374151"/>
                </a:solidFill>
                <a:effectLst/>
                <a:latin typeface="Söhne"/>
              </a:rPr>
              <a:t>), onde ele não captura adequadamente os padrões do conjunto de treinamento e também não tem um desempenho satisfatório em novos dados.</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28</a:t>
            </a:fld>
            <a:endParaRPr lang="pt-BR"/>
          </a:p>
        </p:txBody>
      </p:sp>
    </p:spTree>
    <p:extLst>
      <p:ext uri="{BB962C8B-B14F-4D97-AF65-F5344CB8AC3E}">
        <p14:creationId xmlns:p14="http://schemas.microsoft.com/office/powerpoint/2010/main" val="26436799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B9B4FF-B06E-403C-A326-BDC64D8FF94E}"/>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247BDFCE-746E-45BF-A319-4733D58D16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9EDE2778-5372-4104-B96D-968184DA8288}"/>
              </a:ext>
            </a:extLst>
          </p:cNvPr>
          <p:cNvSpPr>
            <a:spLocks noGrp="1"/>
          </p:cNvSpPr>
          <p:nvPr>
            <p:ph type="dt" sz="half" idx="10"/>
          </p:nvPr>
        </p:nvSpPr>
        <p:spPr/>
        <p:txBody>
          <a:bodyPr/>
          <a:lstStyle/>
          <a:p>
            <a:fld id="{63289F7E-B80B-496E-81B4-D396C37C9454}" type="datetimeFigureOut">
              <a:rPr lang="pt-BR" smtClean="0"/>
              <a:t>26/03/2025</a:t>
            </a:fld>
            <a:endParaRPr lang="pt-BR"/>
          </a:p>
        </p:txBody>
      </p:sp>
      <p:sp>
        <p:nvSpPr>
          <p:cNvPr id="5" name="Espaço Reservado para Rodapé 4">
            <a:extLst>
              <a:ext uri="{FF2B5EF4-FFF2-40B4-BE49-F238E27FC236}">
                <a16:creationId xmlns:a16="http://schemas.microsoft.com/office/drawing/2014/main" id="{C1DD0F41-C861-4051-988D-3024A37A4B93}"/>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07E5967E-D980-431A-A5DB-3F0C5030A81E}"/>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3649754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BD44A5-8F21-4626-A01D-48A1C874B1D5}"/>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B79E8085-65A9-48AA-951D-71D978BFF4ED}"/>
              </a:ext>
            </a:extLst>
          </p:cNvPr>
          <p:cNvSpPr>
            <a:spLocks noGrp="1"/>
          </p:cNvSpPr>
          <p:nvPr>
            <p:ph idx="1"/>
          </p:nvPr>
        </p:nvSpPr>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F05BE1AF-51EA-425D-B188-DE7BD675009F}"/>
              </a:ext>
            </a:extLst>
          </p:cNvPr>
          <p:cNvSpPr>
            <a:spLocks noGrp="1"/>
          </p:cNvSpPr>
          <p:nvPr>
            <p:ph type="dt" sz="half" idx="10"/>
          </p:nvPr>
        </p:nvSpPr>
        <p:spPr/>
        <p:txBody>
          <a:bodyPr/>
          <a:lstStyle/>
          <a:p>
            <a:fld id="{63289F7E-B80B-496E-81B4-D396C37C9454}" type="datetimeFigureOut">
              <a:rPr lang="pt-BR" smtClean="0"/>
              <a:t>26/03/2025</a:t>
            </a:fld>
            <a:endParaRPr lang="pt-BR"/>
          </a:p>
        </p:txBody>
      </p:sp>
      <p:sp>
        <p:nvSpPr>
          <p:cNvPr id="5" name="Espaço Reservado para Rodapé 4">
            <a:extLst>
              <a:ext uri="{FF2B5EF4-FFF2-40B4-BE49-F238E27FC236}">
                <a16:creationId xmlns:a16="http://schemas.microsoft.com/office/drawing/2014/main" id="{121BE632-29CF-4CB9-B365-C9EF38F89BE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0CF3DD1-9AEC-4A57-B461-4E4DD86FAC18}"/>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36879079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AB2FF0-A4D7-4E28-991D-FF26140D5988}"/>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E2AC45B0-4145-40DB-8E61-1054611706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Editar estilos de texto Mestre</a:t>
            </a:r>
          </a:p>
        </p:txBody>
      </p:sp>
      <p:sp>
        <p:nvSpPr>
          <p:cNvPr id="4" name="Espaço Reservado para Data 3">
            <a:extLst>
              <a:ext uri="{FF2B5EF4-FFF2-40B4-BE49-F238E27FC236}">
                <a16:creationId xmlns:a16="http://schemas.microsoft.com/office/drawing/2014/main" id="{50F1D3FB-740A-4EBA-A309-2CE71D12ECFB}"/>
              </a:ext>
            </a:extLst>
          </p:cNvPr>
          <p:cNvSpPr>
            <a:spLocks noGrp="1"/>
          </p:cNvSpPr>
          <p:nvPr>
            <p:ph type="dt" sz="half" idx="10"/>
          </p:nvPr>
        </p:nvSpPr>
        <p:spPr/>
        <p:txBody>
          <a:bodyPr/>
          <a:lstStyle/>
          <a:p>
            <a:fld id="{63289F7E-B80B-496E-81B4-D396C37C9454}" type="datetimeFigureOut">
              <a:rPr lang="pt-BR" smtClean="0"/>
              <a:t>26/03/2025</a:t>
            </a:fld>
            <a:endParaRPr lang="pt-BR"/>
          </a:p>
        </p:txBody>
      </p:sp>
      <p:sp>
        <p:nvSpPr>
          <p:cNvPr id="5" name="Espaço Reservado para Rodapé 4">
            <a:extLst>
              <a:ext uri="{FF2B5EF4-FFF2-40B4-BE49-F238E27FC236}">
                <a16:creationId xmlns:a16="http://schemas.microsoft.com/office/drawing/2014/main" id="{BDCAB18F-8715-4465-A940-F9C193A2ACE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353466C6-8248-429F-8056-FF040BF509EB}"/>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2465227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BB9F0-F14B-4A91-B2B7-35BC47FE4DE7}"/>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EC1FC1C4-73DA-47A6-8496-B0B457F7D39A}"/>
              </a:ext>
            </a:extLst>
          </p:cNvPr>
          <p:cNvSpPr>
            <a:spLocks noGrp="1"/>
          </p:cNvSpPr>
          <p:nvPr>
            <p:ph sz="half" idx="1"/>
          </p:nvPr>
        </p:nvSpPr>
        <p:spPr>
          <a:xfrm>
            <a:off x="838200" y="1825625"/>
            <a:ext cx="51816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E92F06A8-A449-4D92-9912-76873E529B38}"/>
              </a:ext>
            </a:extLst>
          </p:cNvPr>
          <p:cNvSpPr>
            <a:spLocks noGrp="1"/>
          </p:cNvSpPr>
          <p:nvPr>
            <p:ph sz="half" idx="2"/>
          </p:nvPr>
        </p:nvSpPr>
        <p:spPr>
          <a:xfrm>
            <a:off x="6172200" y="1825625"/>
            <a:ext cx="51816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938070A4-BC2F-4D55-BD8D-DEAF11BB9EE9}"/>
              </a:ext>
            </a:extLst>
          </p:cNvPr>
          <p:cNvSpPr>
            <a:spLocks noGrp="1"/>
          </p:cNvSpPr>
          <p:nvPr>
            <p:ph type="dt" sz="half" idx="10"/>
          </p:nvPr>
        </p:nvSpPr>
        <p:spPr/>
        <p:txBody>
          <a:bodyPr/>
          <a:lstStyle/>
          <a:p>
            <a:fld id="{63289F7E-B80B-496E-81B4-D396C37C9454}" type="datetimeFigureOut">
              <a:rPr lang="pt-BR" smtClean="0"/>
              <a:t>26/03/2025</a:t>
            </a:fld>
            <a:endParaRPr lang="pt-BR"/>
          </a:p>
        </p:txBody>
      </p:sp>
      <p:sp>
        <p:nvSpPr>
          <p:cNvPr id="6" name="Espaço Reservado para Rodapé 5">
            <a:extLst>
              <a:ext uri="{FF2B5EF4-FFF2-40B4-BE49-F238E27FC236}">
                <a16:creationId xmlns:a16="http://schemas.microsoft.com/office/drawing/2014/main" id="{45CC2DB8-844A-465F-BA9A-7734C80C7F43}"/>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4CC606A8-097B-4040-94E0-CD8C88280D8F}"/>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3898544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D66686-0143-4CB6-8C09-BA326F1E7ACA}"/>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0227AB85-F59E-4BCE-B846-4FA0992C2F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4" name="Espaço Reservado para Conteúdo 3">
            <a:extLst>
              <a:ext uri="{FF2B5EF4-FFF2-40B4-BE49-F238E27FC236}">
                <a16:creationId xmlns:a16="http://schemas.microsoft.com/office/drawing/2014/main" id="{3373456C-7319-4D0A-827D-D29F6B083F5D}"/>
              </a:ext>
            </a:extLst>
          </p:cNvPr>
          <p:cNvSpPr>
            <a:spLocks noGrp="1"/>
          </p:cNvSpPr>
          <p:nvPr>
            <p:ph sz="half" idx="2"/>
          </p:nvPr>
        </p:nvSpPr>
        <p:spPr>
          <a:xfrm>
            <a:off x="839788" y="2505075"/>
            <a:ext cx="5157787"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4CD109D0-2E83-4262-8029-A871CEC474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6" name="Espaço Reservado para Conteúdo 5">
            <a:extLst>
              <a:ext uri="{FF2B5EF4-FFF2-40B4-BE49-F238E27FC236}">
                <a16:creationId xmlns:a16="http://schemas.microsoft.com/office/drawing/2014/main" id="{AD706E3A-CFBB-4A6C-A65F-D0360A9E74FE}"/>
              </a:ext>
            </a:extLst>
          </p:cNvPr>
          <p:cNvSpPr>
            <a:spLocks noGrp="1"/>
          </p:cNvSpPr>
          <p:nvPr>
            <p:ph sz="quarter" idx="4"/>
          </p:nvPr>
        </p:nvSpPr>
        <p:spPr>
          <a:xfrm>
            <a:off x="6172200" y="2505075"/>
            <a:ext cx="5183188"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4172C0E5-5AF0-4805-BB51-443733CD2BD5}"/>
              </a:ext>
            </a:extLst>
          </p:cNvPr>
          <p:cNvSpPr>
            <a:spLocks noGrp="1"/>
          </p:cNvSpPr>
          <p:nvPr>
            <p:ph type="dt" sz="half" idx="10"/>
          </p:nvPr>
        </p:nvSpPr>
        <p:spPr/>
        <p:txBody>
          <a:bodyPr/>
          <a:lstStyle/>
          <a:p>
            <a:fld id="{63289F7E-B80B-496E-81B4-D396C37C9454}" type="datetimeFigureOut">
              <a:rPr lang="pt-BR" smtClean="0"/>
              <a:t>26/03/2025</a:t>
            </a:fld>
            <a:endParaRPr lang="pt-BR"/>
          </a:p>
        </p:txBody>
      </p:sp>
      <p:sp>
        <p:nvSpPr>
          <p:cNvPr id="8" name="Espaço Reservado para Rodapé 7">
            <a:extLst>
              <a:ext uri="{FF2B5EF4-FFF2-40B4-BE49-F238E27FC236}">
                <a16:creationId xmlns:a16="http://schemas.microsoft.com/office/drawing/2014/main" id="{0E801648-156F-497E-99CF-797DF48051E1}"/>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EEE23D32-80E7-4796-A137-66BF842E4B53}"/>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372245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CE2379-C78F-47E1-8CFC-B846E7AF148D}"/>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342600A9-7F92-4E22-9D94-E4717252A817}"/>
              </a:ext>
            </a:extLst>
          </p:cNvPr>
          <p:cNvSpPr>
            <a:spLocks noGrp="1"/>
          </p:cNvSpPr>
          <p:nvPr>
            <p:ph type="dt" sz="half" idx="10"/>
          </p:nvPr>
        </p:nvSpPr>
        <p:spPr/>
        <p:txBody>
          <a:bodyPr/>
          <a:lstStyle/>
          <a:p>
            <a:fld id="{63289F7E-B80B-496E-81B4-D396C37C9454}" type="datetimeFigureOut">
              <a:rPr lang="pt-BR" smtClean="0"/>
              <a:t>26/03/2025</a:t>
            </a:fld>
            <a:endParaRPr lang="pt-BR"/>
          </a:p>
        </p:txBody>
      </p:sp>
      <p:sp>
        <p:nvSpPr>
          <p:cNvPr id="4" name="Espaço Reservado para Rodapé 3">
            <a:extLst>
              <a:ext uri="{FF2B5EF4-FFF2-40B4-BE49-F238E27FC236}">
                <a16:creationId xmlns:a16="http://schemas.microsoft.com/office/drawing/2014/main" id="{192E6BED-F546-40CC-A2DF-99CBA853654E}"/>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6091CC40-A8C4-4063-80EB-CC5099621678}"/>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22441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DD19515C-212C-4EAE-84A3-8FF4BC844F1B}"/>
              </a:ext>
            </a:extLst>
          </p:cNvPr>
          <p:cNvSpPr>
            <a:spLocks noGrp="1"/>
          </p:cNvSpPr>
          <p:nvPr>
            <p:ph type="dt" sz="half" idx="10"/>
          </p:nvPr>
        </p:nvSpPr>
        <p:spPr/>
        <p:txBody>
          <a:bodyPr/>
          <a:lstStyle/>
          <a:p>
            <a:fld id="{63289F7E-B80B-496E-81B4-D396C37C9454}" type="datetimeFigureOut">
              <a:rPr lang="pt-BR" smtClean="0"/>
              <a:t>26/03/2025</a:t>
            </a:fld>
            <a:endParaRPr lang="pt-BR"/>
          </a:p>
        </p:txBody>
      </p:sp>
      <p:sp>
        <p:nvSpPr>
          <p:cNvPr id="3" name="Espaço Reservado para Rodapé 2">
            <a:extLst>
              <a:ext uri="{FF2B5EF4-FFF2-40B4-BE49-F238E27FC236}">
                <a16:creationId xmlns:a16="http://schemas.microsoft.com/office/drawing/2014/main" id="{94D3D120-B3E8-4C96-861D-7A4F12F49B3A}"/>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42E49B68-FA1B-468B-9F17-D5C09243D454}"/>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3181232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17BCBE-A897-4319-85EC-D87909C24980}"/>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4226F885-0204-4913-868B-4B8B82576F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00F9F784-A858-441B-8AB5-6970981417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a:extLst>
              <a:ext uri="{FF2B5EF4-FFF2-40B4-BE49-F238E27FC236}">
                <a16:creationId xmlns:a16="http://schemas.microsoft.com/office/drawing/2014/main" id="{A4DC363A-5000-472E-8B17-02E7DCB8840A}"/>
              </a:ext>
            </a:extLst>
          </p:cNvPr>
          <p:cNvSpPr>
            <a:spLocks noGrp="1"/>
          </p:cNvSpPr>
          <p:nvPr>
            <p:ph type="dt" sz="half" idx="10"/>
          </p:nvPr>
        </p:nvSpPr>
        <p:spPr/>
        <p:txBody>
          <a:bodyPr/>
          <a:lstStyle/>
          <a:p>
            <a:fld id="{63289F7E-B80B-496E-81B4-D396C37C9454}" type="datetimeFigureOut">
              <a:rPr lang="pt-BR" smtClean="0"/>
              <a:t>26/03/2025</a:t>
            </a:fld>
            <a:endParaRPr lang="pt-BR"/>
          </a:p>
        </p:txBody>
      </p:sp>
      <p:sp>
        <p:nvSpPr>
          <p:cNvPr id="6" name="Espaço Reservado para Rodapé 5">
            <a:extLst>
              <a:ext uri="{FF2B5EF4-FFF2-40B4-BE49-F238E27FC236}">
                <a16:creationId xmlns:a16="http://schemas.microsoft.com/office/drawing/2014/main" id="{5548425D-2C21-4C56-BAD4-662978775C28}"/>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C63E9726-E64C-42B2-AE8A-8C235A956B48}"/>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2588610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086A78-3E74-450C-96A6-CA8AC37AF772}"/>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5F5B7312-975A-4DBC-9B2F-3652ADA006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AAF805F5-1DFF-41C6-944C-7D79FE0D09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a:extLst>
              <a:ext uri="{FF2B5EF4-FFF2-40B4-BE49-F238E27FC236}">
                <a16:creationId xmlns:a16="http://schemas.microsoft.com/office/drawing/2014/main" id="{02113D81-8665-4516-BD81-C6A1F254EECD}"/>
              </a:ext>
            </a:extLst>
          </p:cNvPr>
          <p:cNvSpPr>
            <a:spLocks noGrp="1"/>
          </p:cNvSpPr>
          <p:nvPr>
            <p:ph type="dt" sz="half" idx="10"/>
          </p:nvPr>
        </p:nvSpPr>
        <p:spPr/>
        <p:txBody>
          <a:bodyPr/>
          <a:lstStyle/>
          <a:p>
            <a:fld id="{63289F7E-B80B-496E-81B4-D396C37C9454}" type="datetimeFigureOut">
              <a:rPr lang="pt-BR" smtClean="0"/>
              <a:t>26/03/2025</a:t>
            </a:fld>
            <a:endParaRPr lang="pt-BR"/>
          </a:p>
        </p:txBody>
      </p:sp>
      <p:sp>
        <p:nvSpPr>
          <p:cNvPr id="6" name="Espaço Reservado para Rodapé 5">
            <a:extLst>
              <a:ext uri="{FF2B5EF4-FFF2-40B4-BE49-F238E27FC236}">
                <a16:creationId xmlns:a16="http://schemas.microsoft.com/office/drawing/2014/main" id="{2B00C88B-FF32-40AA-A187-727D96FD7862}"/>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A04D1A2D-69F7-4B8F-A730-BC26DC340BA6}"/>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2034646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36C49F-3E68-4175-81BA-3C3FEE44308A}"/>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426FA736-3DD3-4D4E-B57B-BBE1D8F7D424}"/>
              </a:ext>
            </a:extLst>
          </p:cNvPr>
          <p:cNvSpPr>
            <a:spLocks noGrp="1"/>
          </p:cNvSpPr>
          <p:nvPr>
            <p:ph type="body" orient="vert" idx="1"/>
          </p:nvPr>
        </p:nvSpPr>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9E8855C-D8FD-48F6-B14E-861E0DE4D915}"/>
              </a:ext>
            </a:extLst>
          </p:cNvPr>
          <p:cNvSpPr>
            <a:spLocks noGrp="1"/>
          </p:cNvSpPr>
          <p:nvPr>
            <p:ph type="dt" sz="half" idx="10"/>
          </p:nvPr>
        </p:nvSpPr>
        <p:spPr/>
        <p:txBody>
          <a:bodyPr/>
          <a:lstStyle/>
          <a:p>
            <a:fld id="{63289F7E-B80B-496E-81B4-D396C37C9454}" type="datetimeFigureOut">
              <a:rPr lang="pt-BR" smtClean="0"/>
              <a:t>26/03/2025</a:t>
            </a:fld>
            <a:endParaRPr lang="pt-BR"/>
          </a:p>
        </p:txBody>
      </p:sp>
      <p:sp>
        <p:nvSpPr>
          <p:cNvPr id="5" name="Espaço Reservado para Rodapé 4">
            <a:extLst>
              <a:ext uri="{FF2B5EF4-FFF2-40B4-BE49-F238E27FC236}">
                <a16:creationId xmlns:a16="http://schemas.microsoft.com/office/drawing/2014/main" id="{97C0BB88-2F21-42A5-ACFF-83DA47F2D340}"/>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CB462B3-1F22-4C05-B4B8-7A279FB7D5E9}"/>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553481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AEAB728-701C-4207-A9D5-23FF45C60502}"/>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BA8C8CCF-7823-480A-9A19-0F664DD17E3B}"/>
              </a:ext>
            </a:extLst>
          </p:cNvPr>
          <p:cNvSpPr>
            <a:spLocks noGrp="1"/>
          </p:cNvSpPr>
          <p:nvPr>
            <p:ph type="body" orient="vert" idx="1"/>
          </p:nvPr>
        </p:nvSpPr>
        <p:spPr>
          <a:xfrm>
            <a:off x="838200" y="365125"/>
            <a:ext cx="7734300" cy="5811838"/>
          </a:xfrm>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721D5734-7B1F-425D-942F-6EB73344027C}"/>
              </a:ext>
            </a:extLst>
          </p:cNvPr>
          <p:cNvSpPr>
            <a:spLocks noGrp="1"/>
          </p:cNvSpPr>
          <p:nvPr>
            <p:ph type="dt" sz="half" idx="10"/>
          </p:nvPr>
        </p:nvSpPr>
        <p:spPr/>
        <p:txBody>
          <a:bodyPr/>
          <a:lstStyle/>
          <a:p>
            <a:fld id="{63289F7E-B80B-496E-81B4-D396C37C9454}" type="datetimeFigureOut">
              <a:rPr lang="pt-BR" smtClean="0"/>
              <a:t>26/03/2025</a:t>
            </a:fld>
            <a:endParaRPr lang="pt-BR"/>
          </a:p>
        </p:txBody>
      </p:sp>
      <p:sp>
        <p:nvSpPr>
          <p:cNvPr id="5" name="Espaço Reservado para Rodapé 4">
            <a:extLst>
              <a:ext uri="{FF2B5EF4-FFF2-40B4-BE49-F238E27FC236}">
                <a16:creationId xmlns:a16="http://schemas.microsoft.com/office/drawing/2014/main" id="{1E1AAEAC-F08D-45FE-89EC-B1B349A868C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BAA44493-9911-47B2-87A6-C2141A972BC8}"/>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218245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E69A0273-1966-4A1B-9370-4C1CE50363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3B9CF87A-0448-49A7-AB25-EBC1D56A40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2EF7B1F2-BB5A-44D0-816D-16AD2C7143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289F7E-B80B-496E-81B4-D396C37C9454}" type="datetimeFigureOut">
              <a:rPr lang="pt-BR" smtClean="0"/>
              <a:t>26/03/2025</a:t>
            </a:fld>
            <a:endParaRPr lang="pt-BR"/>
          </a:p>
        </p:txBody>
      </p:sp>
      <p:sp>
        <p:nvSpPr>
          <p:cNvPr id="5" name="Espaço Reservado para Rodapé 4">
            <a:extLst>
              <a:ext uri="{FF2B5EF4-FFF2-40B4-BE49-F238E27FC236}">
                <a16:creationId xmlns:a16="http://schemas.microsoft.com/office/drawing/2014/main" id="{C703F94C-2CC8-4DAA-BC35-14FC3E841D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64051336-7048-457A-8B61-D94291D716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7E88B7-70CE-4035-AE73-13FA6FB985D4}" type="slidenum">
              <a:rPr lang="pt-BR" smtClean="0"/>
              <a:t>‹#›</a:t>
            </a:fld>
            <a:endParaRPr lang="pt-BR"/>
          </a:p>
        </p:txBody>
      </p:sp>
    </p:spTree>
    <p:extLst>
      <p:ext uri="{BB962C8B-B14F-4D97-AF65-F5344CB8AC3E}">
        <p14:creationId xmlns:p14="http://schemas.microsoft.com/office/powerpoint/2010/main" val="28362929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80.png"/><Relationship Id="rId4" Type="http://schemas.openxmlformats.org/officeDocument/2006/relationships/image" Target="../media/image170.png"/></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00.png"/><Relationship Id="rId5" Type="http://schemas.openxmlformats.org/officeDocument/2006/relationships/image" Target="../media/image190.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00.png"/><Relationship Id="rId5" Type="http://schemas.openxmlformats.org/officeDocument/2006/relationships/image" Target="../media/image190.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00.png"/><Relationship Id="rId5" Type="http://schemas.openxmlformats.org/officeDocument/2006/relationships/image" Target="../media/image190.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00.png"/><Relationship Id="rId5" Type="http://schemas.openxmlformats.org/officeDocument/2006/relationships/image" Target="../media/image190.png"/></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00.png"/><Relationship Id="rId5" Type="http://schemas.openxmlformats.org/officeDocument/2006/relationships/image" Target="../media/image190.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00.png"/><Relationship Id="rId5" Type="http://schemas.openxmlformats.org/officeDocument/2006/relationships/image" Target="../media/image190.png"/></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00.png"/><Relationship Id="rId5" Type="http://schemas.openxmlformats.org/officeDocument/2006/relationships/image" Target="../media/image190.png"/><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www.codeproject.com/Articles/1275031/Why-real-neurons-learn-faster-ai" TargetMode="External"/><Relationship Id="rId2" Type="http://schemas.openxmlformats.org/officeDocument/2006/relationships/image" Target="../media/image26.jpeg"/><Relationship Id="rId1" Type="http://schemas.openxmlformats.org/officeDocument/2006/relationships/slideLayout" Target="../slideLayouts/slideLayout2.xml"/><Relationship Id="rId6" Type="http://schemas.openxmlformats.org/officeDocument/2006/relationships/image" Target="../media/image270.png"/><Relationship Id="rId5" Type="http://schemas.openxmlformats.org/officeDocument/2006/relationships/image" Target="../media/image26.pn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666AC8-2E17-4DB4-B0F5-60C640CCFD2E}"/>
              </a:ext>
            </a:extLst>
          </p:cNvPr>
          <p:cNvSpPr>
            <a:spLocks noGrp="1"/>
          </p:cNvSpPr>
          <p:nvPr>
            <p:ph type="ctrTitle"/>
          </p:nvPr>
        </p:nvSpPr>
        <p:spPr>
          <a:xfrm>
            <a:off x="1524000" y="819807"/>
            <a:ext cx="9144000" cy="2690156"/>
          </a:xfrm>
        </p:spPr>
        <p:txBody>
          <a:bodyPr>
            <a:normAutofit fontScale="90000"/>
          </a:bodyPr>
          <a:lstStyle/>
          <a:p>
            <a:r>
              <a:rPr lang="pt-BR" sz="5400" dirty="0"/>
              <a:t>TP557 - Tópicos avançados em IoT e </a:t>
            </a:r>
            <a:r>
              <a:rPr lang="pt-BR" sz="5400" dirty="0" err="1"/>
              <a:t>Machine</a:t>
            </a:r>
            <a:r>
              <a:rPr lang="pt-BR" sz="5400" dirty="0"/>
              <a:t> Learning:</a:t>
            </a:r>
            <a:br>
              <a:rPr lang="pt-BR" dirty="0"/>
            </a:br>
            <a:r>
              <a:rPr lang="pt-BR" b="1" i="1" dirty="0"/>
              <a:t>O Paradigma do Aprendizado de Máquina</a:t>
            </a:r>
          </a:p>
        </p:txBody>
      </p:sp>
      <p:sp>
        <p:nvSpPr>
          <p:cNvPr id="4" name="CaixaDeTexto 3">
            <a:extLst>
              <a:ext uri="{FF2B5EF4-FFF2-40B4-BE49-F238E27FC236}">
                <a16:creationId xmlns:a16="http://schemas.microsoft.com/office/drawing/2014/main" id="{430EB894-B7D4-434C-9D1A-A14094D9BEEC}"/>
              </a:ext>
            </a:extLst>
          </p:cNvPr>
          <p:cNvSpPr txBox="1"/>
          <p:nvPr/>
        </p:nvSpPr>
        <p:spPr>
          <a:xfrm>
            <a:off x="7915801" y="5780602"/>
            <a:ext cx="4004345" cy="677108"/>
          </a:xfrm>
          <a:prstGeom prst="rect">
            <a:avLst/>
          </a:prstGeom>
          <a:noFill/>
        </p:spPr>
        <p:txBody>
          <a:bodyPr wrap="square" rtlCol="0">
            <a:spAutoFit/>
          </a:bodyPr>
          <a:lstStyle/>
          <a:p>
            <a:r>
              <a:rPr lang="pt-BR" sz="2000" dirty="0"/>
              <a:t>Felipe Augusto Pereira de Figueiredo</a:t>
            </a:r>
          </a:p>
          <a:p>
            <a:r>
              <a:rPr lang="pt-BR" dirty="0"/>
              <a:t>felipe.figueiredo@inatel.br</a:t>
            </a:r>
          </a:p>
        </p:txBody>
      </p:sp>
      <p:pic>
        <p:nvPicPr>
          <p:cNvPr id="1026" name="Picture 2" descr="Logo">
            <a:extLst>
              <a:ext uri="{FF2B5EF4-FFF2-40B4-BE49-F238E27FC236}">
                <a16:creationId xmlns:a16="http://schemas.microsoft.com/office/drawing/2014/main" id="{3F2642E0-4F6A-4196-8F58-E77D36E9A33F}"/>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28759" b="28872"/>
          <a:stretch/>
        </p:blipFill>
        <p:spPr bwMode="auto">
          <a:xfrm>
            <a:off x="393306" y="5780602"/>
            <a:ext cx="2261388" cy="677109"/>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Image result for machine learning">
            <a:extLst>
              <a:ext uri="{FF2B5EF4-FFF2-40B4-BE49-F238E27FC236}">
                <a16:creationId xmlns:a16="http://schemas.microsoft.com/office/drawing/2014/main" id="{810CE0A2-4102-44A6-A370-175E7896CDCB}"/>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0193" t="8107" r="14530" b="5794"/>
          <a:stretch/>
        </p:blipFill>
        <p:spPr bwMode="auto">
          <a:xfrm>
            <a:off x="6785107" y="3429000"/>
            <a:ext cx="2261389" cy="2237061"/>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IoT Group">
            <a:extLst>
              <a:ext uri="{FF2B5EF4-FFF2-40B4-BE49-F238E27FC236}">
                <a16:creationId xmlns:a16="http://schemas.microsoft.com/office/drawing/2014/main" id="{AC034F57-E830-B6E7-6790-12FDBBDB297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 r="63551" b="22561"/>
          <a:stretch/>
        </p:blipFill>
        <p:spPr bwMode="auto">
          <a:xfrm>
            <a:off x="2899985" y="3509963"/>
            <a:ext cx="2509138" cy="20099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6526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CB3FED-5D1A-7084-5333-A3B2FA75F608}"/>
              </a:ext>
            </a:extLst>
          </p:cNvPr>
          <p:cNvSpPr>
            <a:spLocks noGrp="1"/>
          </p:cNvSpPr>
          <p:nvPr>
            <p:ph type="title"/>
          </p:nvPr>
        </p:nvSpPr>
        <p:spPr/>
        <p:txBody>
          <a:bodyPr/>
          <a:lstStyle/>
          <a:p>
            <a:r>
              <a:rPr lang="pt-BR" dirty="0"/>
              <a:t>O que vamos ver?</a:t>
            </a:r>
          </a:p>
        </p:txBody>
      </p:sp>
      <p:sp>
        <p:nvSpPr>
          <p:cNvPr id="3" name="Espaço Reservado para Conteúdo 2">
            <a:extLst>
              <a:ext uri="{FF2B5EF4-FFF2-40B4-BE49-F238E27FC236}">
                <a16:creationId xmlns:a16="http://schemas.microsoft.com/office/drawing/2014/main" id="{25FE7774-7186-A846-D8DE-518B2CBF4EBD}"/>
              </a:ext>
            </a:extLst>
          </p:cNvPr>
          <p:cNvSpPr>
            <a:spLocks noGrp="1"/>
          </p:cNvSpPr>
          <p:nvPr>
            <p:ph idx="1"/>
          </p:nvPr>
        </p:nvSpPr>
        <p:spPr>
          <a:xfrm>
            <a:off x="838199" y="1825624"/>
            <a:ext cx="10929257" cy="5032376"/>
          </a:xfrm>
        </p:spPr>
        <p:txBody>
          <a:bodyPr>
            <a:normAutofit/>
          </a:bodyPr>
          <a:lstStyle/>
          <a:p>
            <a:r>
              <a:rPr lang="pt-BR" dirty="0"/>
              <a:t>Neste tópico vamos explorar o que o </a:t>
            </a:r>
            <a:r>
              <a:rPr lang="pt-BR" b="1" i="1" dirty="0">
                <a:solidFill>
                  <a:srgbClr val="00B050"/>
                </a:solidFill>
              </a:rPr>
              <a:t>aprendizado de máquina </a:t>
            </a:r>
            <a:r>
              <a:rPr lang="pt-BR" dirty="0"/>
              <a:t>realmente é em um nível mais fundamental.</a:t>
            </a:r>
          </a:p>
          <a:p>
            <a:r>
              <a:rPr lang="pt-BR" dirty="0"/>
              <a:t>Basicamente, o que vamos discutir é um </a:t>
            </a:r>
            <a:r>
              <a:rPr lang="pt-BR" b="1" i="1" dirty="0">
                <a:solidFill>
                  <a:srgbClr val="00B050"/>
                </a:solidFill>
              </a:rPr>
              <a:t>novo paradigma</a:t>
            </a:r>
            <a:r>
              <a:rPr lang="pt-BR" dirty="0"/>
              <a:t>, onde </a:t>
            </a:r>
            <a:r>
              <a:rPr lang="pt-BR" b="1" i="1" dirty="0">
                <a:solidFill>
                  <a:srgbClr val="7030A0"/>
                </a:solidFill>
              </a:rPr>
              <a:t>ao invés de programar uma solução</a:t>
            </a:r>
            <a:r>
              <a:rPr lang="pt-BR" b="1" i="1" dirty="0"/>
              <a:t> </a:t>
            </a:r>
            <a:r>
              <a:rPr lang="pt-BR" dirty="0"/>
              <a:t>para um determinado problema, vamos </a:t>
            </a:r>
            <a:r>
              <a:rPr lang="pt-BR" b="1" i="1" dirty="0">
                <a:solidFill>
                  <a:schemeClr val="accent1"/>
                </a:solidFill>
              </a:rPr>
              <a:t>ensinar um computador a aprender a solução </a:t>
            </a:r>
            <a:r>
              <a:rPr lang="pt-BR" dirty="0"/>
              <a:t>através de experiências prévias.</a:t>
            </a:r>
          </a:p>
          <a:p>
            <a:r>
              <a:rPr lang="pt-BR" dirty="0"/>
              <a:t>Esse novo paradigma tem o potencial para </a:t>
            </a:r>
            <a:r>
              <a:rPr lang="pt-BR" b="1" i="1" dirty="0"/>
              <a:t>resolver problemas </a:t>
            </a:r>
            <a:r>
              <a:rPr lang="pt-BR" dirty="0"/>
              <a:t>que</a:t>
            </a:r>
            <a:r>
              <a:rPr lang="pt-BR" b="1" i="1" dirty="0"/>
              <a:t> </a:t>
            </a:r>
          </a:p>
          <a:p>
            <a:pPr lvl="1">
              <a:buFont typeface="Wingdings" panose="05000000000000000000" pitchFamily="2" charset="2"/>
              <a:buChar char="§"/>
            </a:pPr>
            <a:r>
              <a:rPr lang="pt-BR" b="1" i="1" dirty="0">
                <a:solidFill>
                  <a:srgbClr val="00B050"/>
                </a:solidFill>
              </a:rPr>
              <a:t>não podem ou </a:t>
            </a:r>
          </a:p>
          <a:p>
            <a:pPr lvl="1">
              <a:buFont typeface="Wingdings" panose="05000000000000000000" pitchFamily="2" charset="2"/>
              <a:buChar char="§"/>
            </a:pPr>
            <a:r>
              <a:rPr lang="pt-BR" b="1" i="1" dirty="0">
                <a:solidFill>
                  <a:srgbClr val="00B050"/>
                </a:solidFill>
              </a:rPr>
              <a:t>são muito difíceis de serem resolvidos programaticamente</a:t>
            </a:r>
            <a:r>
              <a:rPr lang="pt-BR" dirty="0"/>
              <a:t>.</a:t>
            </a:r>
          </a:p>
        </p:txBody>
      </p:sp>
    </p:spTree>
    <p:extLst>
      <p:ext uri="{BB962C8B-B14F-4D97-AF65-F5344CB8AC3E}">
        <p14:creationId xmlns:p14="http://schemas.microsoft.com/office/powerpoint/2010/main" val="5297399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O que é o aprendizado de máquina?</a:t>
            </a:r>
            <a:endParaRPr lang="en-US" dirty="0"/>
          </a:p>
        </p:txBody>
      </p:sp>
      <p:sp>
        <p:nvSpPr>
          <p:cNvPr id="3" name="Espaço Reservado para Conteúdo 2"/>
          <p:cNvSpPr>
            <a:spLocks noGrp="1"/>
          </p:cNvSpPr>
          <p:nvPr>
            <p:ph idx="1"/>
          </p:nvPr>
        </p:nvSpPr>
        <p:spPr>
          <a:xfrm>
            <a:off x="5135418" y="1825624"/>
            <a:ext cx="6899564" cy="5032376"/>
          </a:xfrm>
        </p:spPr>
        <p:txBody>
          <a:bodyPr>
            <a:normAutofit/>
          </a:bodyPr>
          <a:lstStyle/>
          <a:p>
            <a:r>
              <a:rPr lang="pt-BR" dirty="0"/>
              <a:t>É uma das subáreas da inteligência artificial.</a:t>
            </a:r>
          </a:p>
          <a:p>
            <a:r>
              <a:rPr lang="pt-BR" dirty="0"/>
              <a:t>O termo foi cunhado em 1959, pelo cientista da computação Arthur Samuel, que o definiu como o </a:t>
            </a:r>
          </a:p>
          <a:p>
            <a:pPr marL="0" indent="0" algn="ctr">
              <a:buNone/>
            </a:pPr>
            <a:r>
              <a:rPr lang="pt-BR" dirty="0"/>
              <a:t>“</a:t>
            </a:r>
            <a:r>
              <a:rPr lang="pt-BR" i="1" dirty="0"/>
              <a:t>Campo de estudo que dá aos computadores a habilidade de </a:t>
            </a:r>
            <a:r>
              <a:rPr lang="pt-BR" b="1" i="1" dirty="0">
                <a:solidFill>
                  <a:srgbClr val="00B0F0"/>
                </a:solidFill>
              </a:rPr>
              <a:t>aprender sem serem explicitamente programados</a:t>
            </a:r>
            <a:r>
              <a:rPr lang="pt-BR" b="1" i="1" dirty="0"/>
              <a:t>.</a:t>
            </a:r>
            <a:r>
              <a:rPr lang="pt-BR" dirty="0"/>
              <a:t>”</a:t>
            </a:r>
          </a:p>
        </p:txBody>
      </p:sp>
      <p:grpSp>
        <p:nvGrpSpPr>
          <p:cNvPr id="7" name="Group 10">
            <a:extLst>
              <a:ext uri="{FF2B5EF4-FFF2-40B4-BE49-F238E27FC236}">
                <a16:creationId xmlns:a16="http://schemas.microsoft.com/office/drawing/2014/main" id="{77108F97-1760-2B74-0476-658F3DF7B667}"/>
              </a:ext>
            </a:extLst>
          </p:cNvPr>
          <p:cNvGrpSpPr>
            <a:grpSpLocks noChangeAspect="1"/>
          </p:cNvGrpSpPr>
          <p:nvPr/>
        </p:nvGrpSpPr>
        <p:grpSpPr>
          <a:xfrm>
            <a:off x="838200" y="2278206"/>
            <a:ext cx="3446442" cy="2610046"/>
            <a:chOff x="9278726" y="984249"/>
            <a:chExt cx="3036570" cy="2249488"/>
          </a:xfrm>
        </p:grpSpPr>
        <p:grpSp>
          <p:nvGrpSpPr>
            <p:cNvPr id="8" name="Agrupar 4">
              <a:extLst>
                <a:ext uri="{FF2B5EF4-FFF2-40B4-BE49-F238E27FC236}">
                  <a16:creationId xmlns:a16="http://schemas.microsoft.com/office/drawing/2014/main" id="{B305AC8F-D01B-A38A-7648-CDFB28BF0B9A}"/>
                </a:ext>
              </a:extLst>
            </p:cNvPr>
            <p:cNvGrpSpPr/>
            <p:nvPr/>
          </p:nvGrpSpPr>
          <p:grpSpPr>
            <a:xfrm>
              <a:off x="9400740" y="984249"/>
              <a:ext cx="2621635" cy="2249488"/>
              <a:chOff x="9273707" y="365125"/>
              <a:chExt cx="2918293" cy="2351181"/>
            </a:xfrm>
          </p:grpSpPr>
          <p:pic>
            <p:nvPicPr>
              <p:cNvPr id="14" name="Picture 2" descr="Image result for umbrella">
                <a:extLst>
                  <a:ext uri="{FF2B5EF4-FFF2-40B4-BE49-F238E27FC236}">
                    <a16:creationId xmlns:a16="http://schemas.microsoft.com/office/drawing/2014/main" id="{1C4F0E56-04EE-C84D-6203-EA46E6F7A27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2511" b="6921"/>
              <a:stretch/>
            </p:blipFill>
            <p:spPr bwMode="auto">
              <a:xfrm>
                <a:off x="9273707" y="365125"/>
                <a:ext cx="2918293" cy="2351181"/>
              </a:xfrm>
              <a:prstGeom prst="rect">
                <a:avLst/>
              </a:prstGeom>
              <a:noFill/>
              <a:extLst>
                <a:ext uri="{909E8E84-426E-40DD-AFC4-6F175D3DCCD1}">
                  <a14:hiddenFill xmlns:a14="http://schemas.microsoft.com/office/drawing/2010/main">
                    <a:solidFill>
                      <a:srgbClr val="FFFFFF"/>
                    </a:solidFill>
                  </a14:hiddenFill>
                </a:ext>
              </a:extLst>
            </p:spPr>
          </p:pic>
          <p:sp>
            <p:nvSpPr>
              <p:cNvPr id="15" name="CaixaDeTexto 3">
                <a:extLst>
                  <a:ext uri="{FF2B5EF4-FFF2-40B4-BE49-F238E27FC236}">
                    <a16:creationId xmlns:a16="http://schemas.microsoft.com/office/drawing/2014/main" id="{0441D544-9861-CEB3-3639-E49BCB7DD69D}"/>
                  </a:ext>
                </a:extLst>
              </p:cNvPr>
              <p:cNvSpPr txBox="1"/>
              <p:nvPr/>
            </p:nvSpPr>
            <p:spPr>
              <a:xfrm>
                <a:off x="10342887" y="710931"/>
                <a:ext cx="779930" cy="482426"/>
              </a:xfrm>
              <a:prstGeom prst="rect">
                <a:avLst/>
              </a:prstGeom>
              <a:noFill/>
            </p:spPr>
            <p:txBody>
              <a:bodyPr wrap="square" rtlCol="0">
                <a:spAutoFit/>
              </a:bodyPr>
              <a:lstStyle/>
              <a:p>
                <a:pPr algn="ctr"/>
                <a:r>
                  <a:rPr lang="pt-BR" b="1" dirty="0">
                    <a:solidFill>
                      <a:schemeClr val="bg1"/>
                    </a:solidFill>
                  </a:rPr>
                  <a:t>IA</a:t>
                </a:r>
              </a:p>
            </p:txBody>
          </p:sp>
        </p:grpSp>
        <p:sp>
          <p:nvSpPr>
            <p:cNvPr id="9" name="TextBox 8">
              <a:extLst>
                <a:ext uri="{FF2B5EF4-FFF2-40B4-BE49-F238E27FC236}">
                  <a16:creationId xmlns:a16="http://schemas.microsoft.com/office/drawing/2014/main" id="{45E610A7-177F-E309-72FC-31FF7165FD03}"/>
                </a:ext>
              </a:extLst>
            </p:cNvPr>
            <p:cNvSpPr txBox="1"/>
            <p:nvPr/>
          </p:nvSpPr>
          <p:spPr>
            <a:xfrm>
              <a:off x="11230128" y="2055309"/>
              <a:ext cx="668574" cy="384634"/>
            </a:xfrm>
            <a:prstGeom prst="rect">
              <a:avLst/>
            </a:prstGeom>
            <a:noFill/>
          </p:spPr>
          <p:txBody>
            <a:bodyPr wrap="square" rtlCol="0">
              <a:spAutoFit/>
            </a:bodyPr>
            <a:lstStyle/>
            <a:p>
              <a:pPr algn="ctr"/>
              <a:r>
                <a:rPr lang="pt-BR" sz="1400" dirty="0"/>
                <a:t>ML</a:t>
              </a:r>
            </a:p>
          </p:txBody>
        </p:sp>
        <p:sp>
          <p:nvSpPr>
            <p:cNvPr id="10" name="TextBox 13">
              <a:extLst>
                <a:ext uri="{FF2B5EF4-FFF2-40B4-BE49-F238E27FC236}">
                  <a16:creationId xmlns:a16="http://schemas.microsoft.com/office/drawing/2014/main" id="{2BB7CEB8-37B2-4B53-B3DE-8197F8F01D24}"/>
                </a:ext>
              </a:extLst>
            </p:cNvPr>
            <p:cNvSpPr txBox="1"/>
            <p:nvPr/>
          </p:nvSpPr>
          <p:spPr>
            <a:xfrm>
              <a:off x="9436672" y="1995046"/>
              <a:ext cx="740011" cy="384634"/>
            </a:xfrm>
            <a:prstGeom prst="rect">
              <a:avLst/>
            </a:prstGeom>
            <a:noFill/>
          </p:spPr>
          <p:txBody>
            <a:bodyPr wrap="square" rtlCol="0">
              <a:spAutoFit/>
            </a:bodyPr>
            <a:lstStyle/>
            <a:p>
              <a:pPr algn="ctr"/>
              <a:r>
                <a:rPr lang="pt-BR" sz="1400" dirty="0"/>
                <a:t>NLP</a:t>
              </a:r>
            </a:p>
          </p:txBody>
        </p:sp>
        <p:sp>
          <p:nvSpPr>
            <p:cNvPr id="11" name="TextBox 14">
              <a:extLst>
                <a:ext uri="{FF2B5EF4-FFF2-40B4-BE49-F238E27FC236}">
                  <a16:creationId xmlns:a16="http://schemas.microsoft.com/office/drawing/2014/main" id="{7DD59A88-5397-B8A2-6CB4-DEE6DE47910C}"/>
                </a:ext>
              </a:extLst>
            </p:cNvPr>
            <p:cNvSpPr txBox="1"/>
            <p:nvPr/>
          </p:nvSpPr>
          <p:spPr>
            <a:xfrm>
              <a:off x="9278726" y="2459661"/>
              <a:ext cx="1303556" cy="384634"/>
            </a:xfrm>
            <a:prstGeom prst="rect">
              <a:avLst/>
            </a:prstGeom>
            <a:noFill/>
          </p:spPr>
          <p:txBody>
            <a:bodyPr wrap="square" rtlCol="0">
              <a:spAutoFit/>
            </a:bodyPr>
            <a:lstStyle/>
            <a:p>
              <a:pPr algn="ctr"/>
              <a:r>
                <a:rPr lang="pt-BR" sz="1400" dirty="0"/>
                <a:t>Robótica</a:t>
              </a:r>
            </a:p>
          </p:txBody>
        </p:sp>
        <p:sp>
          <p:nvSpPr>
            <p:cNvPr id="12" name="TextBox 15">
              <a:extLst>
                <a:ext uri="{FF2B5EF4-FFF2-40B4-BE49-F238E27FC236}">
                  <a16:creationId xmlns:a16="http://schemas.microsoft.com/office/drawing/2014/main" id="{3D747F60-3DCF-C18F-3605-518E24E523C9}"/>
                </a:ext>
              </a:extLst>
            </p:cNvPr>
            <p:cNvSpPr txBox="1"/>
            <p:nvPr/>
          </p:nvSpPr>
          <p:spPr>
            <a:xfrm>
              <a:off x="10804705" y="2006626"/>
              <a:ext cx="514350" cy="384634"/>
            </a:xfrm>
            <a:prstGeom prst="rect">
              <a:avLst/>
            </a:prstGeom>
            <a:noFill/>
          </p:spPr>
          <p:txBody>
            <a:bodyPr wrap="square" rtlCol="0">
              <a:spAutoFit/>
            </a:bodyPr>
            <a:lstStyle/>
            <a:p>
              <a:pPr algn="ctr"/>
              <a:r>
                <a:rPr lang="pt-BR" sz="1400" dirty="0"/>
                <a:t>CV</a:t>
              </a:r>
            </a:p>
          </p:txBody>
        </p:sp>
        <p:sp>
          <p:nvSpPr>
            <p:cNvPr id="13" name="TextBox 16">
              <a:extLst>
                <a:ext uri="{FF2B5EF4-FFF2-40B4-BE49-F238E27FC236}">
                  <a16:creationId xmlns:a16="http://schemas.microsoft.com/office/drawing/2014/main" id="{EB9D862A-6D65-3E7C-F7D6-258667FEDB63}"/>
                </a:ext>
              </a:extLst>
            </p:cNvPr>
            <p:cNvSpPr txBox="1"/>
            <p:nvPr/>
          </p:nvSpPr>
          <p:spPr>
            <a:xfrm>
              <a:off x="10662720" y="2564126"/>
              <a:ext cx="1652576" cy="653876"/>
            </a:xfrm>
            <a:prstGeom prst="rect">
              <a:avLst/>
            </a:prstGeom>
            <a:noFill/>
          </p:spPr>
          <p:txBody>
            <a:bodyPr wrap="square" rtlCol="0">
              <a:spAutoFit/>
            </a:bodyPr>
            <a:lstStyle/>
            <a:p>
              <a:pPr algn="ctr"/>
              <a:r>
                <a:rPr lang="pt-BR" sz="1400" dirty="0"/>
                <a:t>Raciocino e Planejamento</a:t>
              </a:r>
            </a:p>
          </p:txBody>
        </p:sp>
      </p:grpSp>
    </p:spTree>
    <p:extLst>
      <p:ext uri="{BB962C8B-B14F-4D97-AF65-F5344CB8AC3E}">
        <p14:creationId xmlns:p14="http://schemas.microsoft.com/office/powerpoint/2010/main" val="26566875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16F85-0F7F-5753-B956-73E7B07ECFB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9EBACC2-E15E-F38F-B754-914CE542957F}"/>
              </a:ext>
            </a:extLst>
          </p:cNvPr>
          <p:cNvSpPr>
            <a:spLocks noGrp="1"/>
          </p:cNvSpPr>
          <p:nvPr>
            <p:ph type="title"/>
          </p:nvPr>
        </p:nvSpPr>
        <p:spPr/>
        <p:txBody>
          <a:bodyPr/>
          <a:lstStyle/>
          <a:p>
            <a:r>
              <a:rPr lang="pt-BR" dirty="0"/>
              <a:t>O que é o aprendizado de máquina?</a:t>
            </a:r>
            <a:endParaRPr lang="en-US" dirty="0"/>
          </a:p>
        </p:txBody>
      </p:sp>
      <p:sp>
        <p:nvSpPr>
          <p:cNvPr id="3" name="Espaço Reservado para Conteúdo 2">
            <a:extLst>
              <a:ext uri="{FF2B5EF4-FFF2-40B4-BE49-F238E27FC236}">
                <a16:creationId xmlns:a16="http://schemas.microsoft.com/office/drawing/2014/main" id="{5DF84E31-195A-D5BB-1FFD-C642029E34C4}"/>
              </a:ext>
            </a:extLst>
          </p:cNvPr>
          <p:cNvSpPr>
            <a:spLocks noGrp="1"/>
          </p:cNvSpPr>
          <p:nvPr>
            <p:ph idx="1"/>
          </p:nvPr>
        </p:nvSpPr>
        <p:spPr>
          <a:xfrm>
            <a:off x="4599708" y="1825624"/>
            <a:ext cx="7435273" cy="5032376"/>
          </a:xfrm>
        </p:spPr>
        <p:txBody>
          <a:bodyPr>
            <a:normAutofit/>
          </a:bodyPr>
          <a:lstStyle/>
          <a:p>
            <a:r>
              <a:rPr lang="pt-BR" dirty="0"/>
              <a:t>Mas como eles aprendem? </a:t>
            </a:r>
          </a:p>
          <a:p>
            <a:pPr lvl="1">
              <a:buFont typeface="Wingdings" panose="05000000000000000000" pitchFamily="2" charset="2"/>
              <a:buChar char="§"/>
            </a:pPr>
            <a:r>
              <a:rPr lang="pt-BR" dirty="0"/>
              <a:t>Através de </a:t>
            </a:r>
            <a:r>
              <a:rPr lang="pt-BR" b="1" i="1" dirty="0"/>
              <a:t>experiências prévias</a:t>
            </a:r>
            <a:r>
              <a:rPr lang="pt-BR" dirty="0"/>
              <a:t>, </a:t>
            </a:r>
            <a:r>
              <a:rPr lang="pt-BR" b="1" i="1" dirty="0"/>
              <a:t>induz-se</a:t>
            </a:r>
            <a:r>
              <a:rPr lang="pt-BR" dirty="0"/>
              <a:t> conhecimento nas máquinas.</a:t>
            </a:r>
            <a:endParaRPr lang="en-US" dirty="0"/>
          </a:p>
          <a:p>
            <a:r>
              <a:rPr lang="pt-BR" dirty="0"/>
              <a:t>Algoritmos de ML são </a:t>
            </a:r>
            <a:r>
              <a:rPr lang="pt-BR" b="1" i="1" dirty="0"/>
              <a:t>orientados a dados</a:t>
            </a:r>
            <a:r>
              <a:rPr lang="pt-BR" dirty="0"/>
              <a:t>, i.e., eles </a:t>
            </a:r>
            <a:r>
              <a:rPr lang="pt-BR" b="1" i="1" dirty="0"/>
              <a:t>aprendem automaticamente </a:t>
            </a:r>
            <a:r>
              <a:rPr lang="pt-BR" dirty="0"/>
              <a:t>(através de treinamento) uma </a:t>
            </a:r>
            <a:r>
              <a:rPr lang="pt-BR" b="1" i="1" dirty="0"/>
              <a:t>solução geral </a:t>
            </a:r>
            <a:r>
              <a:rPr lang="pt-BR" dirty="0"/>
              <a:t>a partir de </a:t>
            </a:r>
            <a:r>
              <a:rPr lang="pt-BR" b="1" i="1" dirty="0"/>
              <a:t>conjuntos de dados </a:t>
            </a:r>
            <a:r>
              <a:rPr lang="pt-BR" dirty="0"/>
              <a:t>fornecidos a eles.</a:t>
            </a:r>
          </a:p>
        </p:txBody>
      </p:sp>
      <p:pic>
        <p:nvPicPr>
          <p:cNvPr id="7" name="Picture 2" descr="https://www.oulu.fi/sites/default/files/11/machines%20_decide.jpg">
            <a:extLst>
              <a:ext uri="{FF2B5EF4-FFF2-40B4-BE49-F238E27FC236}">
                <a16:creationId xmlns:a16="http://schemas.microsoft.com/office/drawing/2014/main" id="{6B8DD7A2-43EE-406C-8FF3-BC9A04CF3BD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7018" y="1825624"/>
            <a:ext cx="1915886" cy="127800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Inteligência Artificial: 3 fatos que você precisa saber! - Coopersystem"/>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6421" r="19983"/>
          <a:stretch/>
        </p:blipFill>
        <p:spPr bwMode="auto">
          <a:xfrm>
            <a:off x="663276" y="3678316"/>
            <a:ext cx="2819255" cy="120596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Image result for applications of artificial intelligence">
            <a:extLst>
              <a:ext uri="{FF2B5EF4-FFF2-40B4-BE49-F238E27FC236}">
                <a16:creationId xmlns:a16="http://schemas.microsoft.com/office/drawing/2014/main" id="{030E6182-967A-44D7-8BED-F8E414DAE67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072904" y="1934765"/>
            <a:ext cx="2421229" cy="136194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24 Top Machine Learning Applications &amp; Examples for 2023 | Built In">
            <a:extLst>
              <a:ext uri="{FF2B5EF4-FFF2-40B4-BE49-F238E27FC236}">
                <a16:creationId xmlns:a16="http://schemas.microsoft.com/office/drawing/2014/main" id="{0EF40590-4520-4C15-5BBF-7561C78251C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68892" y="5265890"/>
            <a:ext cx="2354436" cy="13619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51459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Programação tradicional</a:t>
            </a:r>
          </a:p>
        </p:txBody>
      </p:sp>
      <p:sp>
        <p:nvSpPr>
          <p:cNvPr id="3" name="Content Placeholder 2"/>
          <p:cNvSpPr>
            <a:spLocks noGrp="1"/>
          </p:cNvSpPr>
          <p:nvPr>
            <p:ph idx="1"/>
          </p:nvPr>
        </p:nvSpPr>
        <p:spPr>
          <a:xfrm>
            <a:off x="838199" y="4518343"/>
            <a:ext cx="10853057" cy="2339656"/>
          </a:xfrm>
        </p:spPr>
        <p:txBody>
          <a:bodyPr>
            <a:normAutofit/>
          </a:bodyPr>
          <a:lstStyle/>
          <a:p>
            <a:r>
              <a:rPr lang="pt-BR" dirty="0"/>
              <a:t>Na programação tradicional, o </a:t>
            </a:r>
            <a:r>
              <a:rPr lang="pt-BR" b="1" i="1" dirty="0"/>
              <a:t>programador</a:t>
            </a:r>
            <a:r>
              <a:rPr lang="pt-BR" dirty="0"/>
              <a:t> </a:t>
            </a:r>
            <a:r>
              <a:rPr lang="pt-BR" b="1" i="1" dirty="0">
                <a:solidFill>
                  <a:srgbClr val="00B050"/>
                </a:solidFill>
              </a:rPr>
              <a:t>analisa um problema e cria um programa</a:t>
            </a:r>
            <a:r>
              <a:rPr lang="pt-BR" dirty="0"/>
              <a:t> para resolvê-lo.</a:t>
            </a:r>
          </a:p>
          <a:p>
            <a:pPr lvl="1">
              <a:buFont typeface="Wingdings" panose="05000000000000000000" pitchFamily="2" charset="2"/>
              <a:buChar char="§"/>
            </a:pPr>
            <a:r>
              <a:rPr lang="pt-BR" dirty="0"/>
              <a:t>Programa: sequência de regras que definem o comportamento do programa. </a:t>
            </a:r>
          </a:p>
          <a:p>
            <a:r>
              <a:rPr lang="pt-BR" dirty="0"/>
              <a:t>Na sequência, o </a:t>
            </a:r>
            <a:r>
              <a:rPr lang="pt-BR" b="1" i="1" dirty="0">
                <a:solidFill>
                  <a:srgbClr val="00B050"/>
                </a:solidFill>
              </a:rPr>
              <a:t>computador recebe o </a:t>
            </a:r>
            <a:r>
              <a:rPr lang="pt-BR" b="1" i="1" dirty="0">
                <a:solidFill>
                  <a:srgbClr val="7030A0"/>
                </a:solidFill>
              </a:rPr>
              <a:t>código e os dados</a:t>
            </a:r>
            <a:r>
              <a:rPr lang="pt-BR" b="1" i="1" dirty="0">
                <a:solidFill>
                  <a:srgbClr val="00B050"/>
                </a:solidFill>
              </a:rPr>
              <a:t> </a:t>
            </a:r>
            <a:r>
              <a:rPr lang="pt-BR" dirty="0"/>
              <a:t>(i.e., entradas), </a:t>
            </a:r>
            <a:r>
              <a:rPr lang="pt-BR" b="1" i="1" dirty="0">
                <a:solidFill>
                  <a:srgbClr val="00B050"/>
                </a:solidFill>
              </a:rPr>
              <a:t>o aplica aos dados e </a:t>
            </a:r>
            <a:r>
              <a:rPr lang="pt-BR" b="1" i="1" dirty="0">
                <a:solidFill>
                  <a:schemeClr val="accent1"/>
                </a:solidFill>
              </a:rPr>
              <a:t>retorna os valores de saída</a:t>
            </a:r>
            <a:r>
              <a:rPr lang="pt-BR" dirty="0"/>
              <a:t>.</a:t>
            </a:r>
          </a:p>
        </p:txBody>
      </p:sp>
      <p:sp>
        <p:nvSpPr>
          <p:cNvPr id="4" name="Rectangle 3"/>
          <p:cNvSpPr/>
          <p:nvPr/>
        </p:nvSpPr>
        <p:spPr>
          <a:xfrm>
            <a:off x="5351247" y="2837135"/>
            <a:ext cx="1910443" cy="8490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Computador</a:t>
            </a:r>
          </a:p>
        </p:txBody>
      </p:sp>
      <p:sp>
        <p:nvSpPr>
          <p:cNvPr id="5" name="TextBox 4"/>
          <p:cNvSpPr txBox="1"/>
          <p:nvPr/>
        </p:nvSpPr>
        <p:spPr>
          <a:xfrm>
            <a:off x="4523246" y="2305549"/>
            <a:ext cx="3566443" cy="461665"/>
          </a:xfrm>
          <a:prstGeom prst="rect">
            <a:avLst/>
          </a:prstGeom>
          <a:noFill/>
        </p:spPr>
        <p:txBody>
          <a:bodyPr wrap="square" rtlCol="0">
            <a:spAutoFit/>
          </a:bodyPr>
          <a:lstStyle/>
          <a:p>
            <a:pPr algn="ctr"/>
            <a:r>
              <a:rPr lang="pt-BR" sz="2400" b="1" dirty="0"/>
              <a:t>Programação Tradicional</a:t>
            </a:r>
          </a:p>
        </p:txBody>
      </p:sp>
      <p:cxnSp>
        <p:nvCxnSpPr>
          <p:cNvPr id="7" name="Straight Arrow Connector 6"/>
          <p:cNvCxnSpPr/>
          <p:nvPr/>
        </p:nvCxnSpPr>
        <p:spPr>
          <a:xfrm>
            <a:off x="4523247" y="3016750"/>
            <a:ext cx="82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4523247" y="3512050"/>
            <a:ext cx="82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p:cNvSpPr txBox="1"/>
              <p:nvPr/>
            </p:nvSpPr>
            <p:spPr>
              <a:xfrm>
                <a:off x="3365573" y="3290724"/>
                <a:ext cx="1039586" cy="584775"/>
              </a:xfrm>
              <a:prstGeom prst="rect">
                <a:avLst/>
              </a:prstGeom>
              <a:noFill/>
            </p:spPr>
            <p:txBody>
              <a:bodyPr wrap="square" rtlCol="0">
                <a:spAutoFit/>
              </a:bodyPr>
              <a:lstStyle/>
              <a:p>
                <a:pPr algn="ctr"/>
                <a:r>
                  <a:rPr lang="pt-BR" dirty="0"/>
                  <a:t>Entradas</a:t>
                </a:r>
              </a:p>
              <a:p>
                <a:pPr algn="ctr"/>
                <a:r>
                  <a:rPr lang="pt-BR" sz="1400" dirty="0"/>
                  <a:t>e.g., </a:t>
                </a:r>
                <a14:m>
                  <m:oMath xmlns:m="http://schemas.openxmlformats.org/officeDocument/2006/math">
                    <m:r>
                      <a:rPr lang="pt-BR" sz="1400" i="1">
                        <a:latin typeface="Cambria Math" panose="02040503050406030204" pitchFamily="18" charset="0"/>
                      </a:rPr>
                      <m:t>𝑥</m:t>
                    </m:r>
                  </m:oMath>
                </a14:m>
                <a:endParaRPr lang="pt-BR" dirty="0"/>
              </a:p>
            </p:txBody>
          </p:sp>
        </mc:Choice>
        <mc:Fallback xmlns="">
          <p:sp>
            <p:nvSpPr>
              <p:cNvPr id="9" name="TextBox 8"/>
              <p:cNvSpPr txBox="1">
                <a:spLocks noRot="1" noChangeAspect="1" noMove="1" noResize="1" noEditPoints="1" noAdjustHandles="1" noChangeArrowheads="1" noChangeShapeType="1" noTextEdit="1"/>
              </p:cNvSpPr>
              <p:nvPr/>
            </p:nvSpPr>
            <p:spPr>
              <a:xfrm>
                <a:off x="3365573" y="3290724"/>
                <a:ext cx="1039586" cy="584775"/>
              </a:xfrm>
              <a:prstGeom prst="rect">
                <a:avLst/>
              </a:prstGeom>
              <a:blipFill>
                <a:blip r:embed="rId3"/>
                <a:stretch>
                  <a:fillRect l="-3509" t="-6250" r="-2924" b="-9375"/>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2990473" y="2513739"/>
                <a:ext cx="1688987" cy="800219"/>
              </a:xfrm>
              <a:prstGeom prst="rect">
                <a:avLst/>
              </a:prstGeom>
              <a:noFill/>
            </p:spPr>
            <p:txBody>
              <a:bodyPr wrap="square" rtlCol="0">
                <a:spAutoFit/>
              </a:bodyPr>
              <a:lstStyle/>
              <a:p>
                <a:pPr algn="ctr"/>
                <a:r>
                  <a:rPr lang="pt-BR" dirty="0"/>
                  <a:t>Programa</a:t>
                </a:r>
              </a:p>
              <a:p>
                <a:pPr algn="ctr"/>
                <a:r>
                  <a:rPr lang="pt-BR" sz="1400" dirty="0"/>
                  <a:t>e.g., uma função: </a:t>
                </a:r>
                <a14:m>
                  <m:oMath xmlns:m="http://schemas.openxmlformats.org/officeDocument/2006/math">
                    <m:r>
                      <a:rPr lang="pt-BR" sz="1400" b="0" i="1" smtClean="0">
                        <a:latin typeface="Cambria Math" panose="02040503050406030204" pitchFamily="18" charset="0"/>
                      </a:rPr>
                      <m:t>𝑦</m:t>
                    </m:r>
                    <m:r>
                      <a:rPr lang="pt-BR" sz="1400" b="0" i="1" smtClean="0">
                        <a:latin typeface="Cambria Math" panose="02040503050406030204" pitchFamily="18" charset="0"/>
                      </a:rPr>
                      <m:t>=</m:t>
                    </m:r>
                    <m:r>
                      <a:rPr lang="pt-BR" sz="1400" b="0" i="1" smtClean="0">
                        <a:latin typeface="Cambria Math" panose="02040503050406030204" pitchFamily="18" charset="0"/>
                      </a:rPr>
                      <m:t>𝑓</m:t>
                    </m:r>
                    <m:d>
                      <m:dPr>
                        <m:ctrlPr>
                          <a:rPr lang="pt-BR" sz="1400" b="0" i="1" smtClean="0">
                            <a:latin typeface="Cambria Math" panose="02040503050406030204" pitchFamily="18" charset="0"/>
                          </a:rPr>
                        </m:ctrlPr>
                      </m:dPr>
                      <m:e>
                        <m:r>
                          <a:rPr lang="pt-BR" sz="1400" b="0" i="1" smtClean="0">
                            <a:latin typeface="Cambria Math" panose="02040503050406030204" pitchFamily="18" charset="0"/>
                          </a:rPr>
                          <m:t>𝑥</m:t>
                        </m:r>
                      </m:e>
                    </m:d>
                    <m:r>
                      <a:rPr lang="pt-BR" sz="1400" b="0" i="1" smtClean="0">
                        <a:latin typeface="Cambria Math" panose="02040503050406030204" pitchFamily="18" charset="0"/>
                      </a:rPr>
                      <m:t>=</m:t>
                    </m:r>
                    <m:r>
                      <a:rPr lang="pt-BR" sz="1400" b="0" i="1" smtClean="0">
                        <a:latin typeface="Cambria Math" panose="02040503050406030204" pitchFamily="18" charset="0"/>
                      </a:rPr>
                      <m:t>𝑎</m:t>
                    </m:r>
                    <m:r>
                      <a:rPr lang="pt-BR" sz="1400" b="0" i="1" smtClean="0">
                        <a:latin typeface="Cambria Math" panose="02040503050406030204" pitchFamily="18" charset="0"/>
                      </a:rPr>
                      <m:t>+</m:t>
                    </m:r>
                    <m:r>
                      <a:rPr lang="pt-BR" sz="1400" b="0" i="1" smtClean="0">
                        <a:latin typeface="Cambria Math" panose="02040503050406030204" pitchFamily="18" charset="0"/>
                      </a:rPr>
                      <m:t>𝑏𝑥</m:t>
                    </m:r>
                  </m:oMath>
                </a14:m>
                <a:endParaRPr lang="pt-BR" sz="1400" dirty="0"/>
              </a:p>
            </p:txBody>
          </p:sp>
        </mc:Choice>
        <mc:Fallback xmlns="">
          <p:sp>
            <p:nvSpPr>
              <p:cNvPr id="10" name="TextBox 9"/>
              <p:cNvSpPr txBox="1">
                <a:spLocks noRot="1" noChangeAspect="1" noMove="1" noResize="1" noEditPoints="1" noAdjustHandles="1" noChangeArrowheads="1" noChangeShapeType="1" noTextEdit="1"/>
              </p:cNvSpPr>
              <p:nvPr/>
            </p:nvSpPr>
            <p:spPr>
              <a:xfrm>
                <a:off x="2990473" y="2513739"/>
                <a:ext cx="1688987" cy="800219"/>
              </a:xfrm>
              <a:prstGeom prst="rect">
                <a:avLst/>
              </a:prstGeom>
              <a:blipFill>
                <a:blip r:embed="rId4"/>
                <a:stretch>
                  <a:fillRect t="-3788" b="-1515"/>
                </a:stretch>
              </a:blipFill>
            </p:spPr>
            <p:txBody>
              <a:bodyPr/>
              <a:lstStyle/>
              <a:p>
                <a:r>
                  <a:rPr lang="pt-BR">
                    <a:noFill/>
                  </a:rPr>
                  <a:t> </a:t>
                </a:r>
              </a:p>
            </p:txBody>
          </p:sp>
        </mc:Fallback>
      </mc:AlternateContent>
      <p:cxnSp>
        <p:nvCxnSpPr>
          <p:cNvPr id="11" name="Straight Arrow Connector 10"/>
          <p:cNvCxnSpPr/>
          <p:nvPr/>
        </p:nvCxnSpPr>
        <p:spPr>
          <a:xfrm>
            <a:off x="7261690" y="3261678"/>
            <a:ext cx="82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p:cNvSpPr txBox="1"/>
              <p:nvPr/>
            </p:nvSpPr>
            <p:spPr>
              <a:xfrm>
                <a:off x="8004130" y="2947352"/>
                <a:ext cx="2336006" cy="584775"/>
              </a:xfrm>
              <a:prstGeom prst="rect">
                <a:avLst/>
              </a:prstGeom>
              <a:noFill/>
            </p:spPr>
            <p:txBody>
              <a:bodyPr wrap="square" rtlCol="0">
                <a:spAutoFit/>
              </a:bodyPr>
              <a:lstStyle/>
              <a:p>
                <a:pPr algn="ctr"/>
                <a:r>
                  <a:rPr lang="pt-BR" dirty="0"/>
                  <a:t>Resultados/Respostas</a:t>
                </a:r>
              </a:p>
              <a:p>
                <a:pPr algn="ctr"/>
                <a:r>
                  <a:rPr lang="pt-BR" sz="1400" dirty="0"/>
                  <a:t>e.g., </a:t>
                </a:r>
                <a14:m>
                  <m:oMath xmlns:m="http://schemas.openxmlformats.org/officeDocument/2006/math">
                    <m:r>
                      <a:rPr lang="pt-BR" sz="1400" i="1">
                        <a:latin typeface="Cambria Math" panose="02040503050406030204" pitchFamily="18" charset="0"/>
                      </a:rPr>
                      <m:t>𝑦</m:t>
                    </m:r>
                    <m:r>
                      <a:rPr lang="pt-BR" sz="1400" i="1">
                        <a:latin typeface="Cambria Math" panose="02040503050406030204" pitchFamily="18" charset="0"/>
                      </a:rPr>
                      <m:t>=</m:t>
                    </m:r>
                    <m:r>
                      <a:rPr lang="pt-BR" sz="1400" i="1">
                        <a:latin typeface="Cambria Math" panose="02040503050406030204" pitchFamily="18" charset="0"/>
                      </a:rPr>
                      <m:t>𝑓</m:t>
                    </m:r>
                    <m:d>
                      <m:dPr>
                        <m:ctrlPr>
                          <a:rPr lang="pt-BR" sz="1400" i="1">
                            <a:latin typeface="Cambria Math" panose="02040503050406030204" pitchFamily="18" charset="0"/>
                          </a:rPr>
                        </m:ctrlPr>
                      </m:dPr>
                      <m:e>
                        <m:r>
                          <a:rPr lang="pt-BR" sz="1400" i="1">
                            <a:latin typeface="Cambria Math" panose="02040503050406030204" pitchFamily="18" charset="0"/>
                          </a:rPr>
                          <m:t>𝑥</m:t>
                        </m:r>
                      </m:e>
                    </m:d>
                  </m:oMath>
                </a14:m>
                <a:endParaRPr lang="pt-BR" dirty="0"/>
              </a:p>
            </p:txBody>
          </p:sp>
        </mc:Choice>
        <mc:Fallback xmlns="">
          <p:sp>
            <p:nvSpPr>
              <p:cNvPr id="12" name="TextBox 11"/>
              <p:cNvSpPr txBox="1">
                <a:spLocks noRot="1" noChangeAspect="1" noMove="1" noResize="1" noEditPoints="1" noAdjustHandles="1" noChangeArrowheads="1" noChangeShapeType="1" noTextEdit="1"/>
              </p:cNvSpPr>
              <p:nvPr/>
            </p:nvSpPr>
            <p:spPr>
              <a:xfrm>
                <a:off x="8004130" y="2947352"/>
                <a:ext cx="2336006" cy="584775"/>
              </a:xfrm>
              <a:prstGeom prst="rect">
                <a:avLst/>
              </a:prstGeom>
              <a:blipFill>
                <a:blip r:embed="rId5"/>
                <a:stretch>
                  <a:fillRect t="-5208" b="-10417"/>
                </a:stretch>
              </a:blipFill>
            </p:spPr>
            <p:txBody>
              <a:bodyPr/>
              <a:lstStyle/>
              <a:p>
                <a:r>
                  <a:rPr lang="pt-BR">
                    <a:noFill/>
                  </a:rPr>
                  <a:t> </a:t>
                </a:r>
              </a:p>
            </p:txBody>
          </p:sp>
        </mc:Fallback>
      </mc:AlternateContent>
      <p:sp>
        <p:nvSpPr>
          <p:cNvPr id="26" name="CaixaDeTexto 25">
            <a:extLst>
              <a:ext uri="{FF2B5EF4-FFF2-40B4-BE49-F238E27FC236}">
                <a16:creationId xmlns:a16="http://schemas.microsoft.com/office/drawing/2014/main" id="{407A6463-2CA5-7635-841A-FB3F9BE2B432}"/>
              </a:ext>
            </a:extLst>
          </p:cNvPr>
          <p:cNvSpPr txBox="1"/>
          <p:nvPr/>
        </p:nvSpPr>
        <p:spPr>
          <a:xfrm>
            <a:off x="1433053" y="2413560"/>
            <a:ext cx="1202439" cy="1169551"/>
          </a:xfrm>
          <a:prstGeom prst="rect">
            <a:avLst/>
          </a:prstGeom>
          <a:noFill/>
        </p:spPr>
        <p:txBody>
          <a:bodyPr wrap="square">
            <a:spAutoFit/>
          </a:bodyPr>
          <a:lstStyle/>
          <a:p>
            <a:r>
              <a:rPr lang="pt-BR" sz="1400" b="1" dirty="0" err="1">
                <a:solidFill>
                  <a:srgbClr val="0000FF"/>
                </a:solidFill>
                <a:highlight>
                  <a:srgbClr val="FFFFFF"/>
                </a:highlight>
              </a:rPr>
              <a:t>def</a:t>
            </a:r>
            <a:r>
              <a:rPr lang="pt-BR" sz="1400" b="0" dirty="0">
                <a:solidFill>
                  <a:srgbClr val="000000"/>
                </a:solidFill>
                <a:highlight>
                  <a:srgbClr val="FFFFFF"/>
                </a:highlight>
              </a:rPr>
              <a:t> </a:t>
            </a:r>
            <a:r>
              <a:rPr lang="pt-BR" sz="1400" b="0" dirty="0">
                <a:solidFill>
                  <a:srgbClr val="FF00FF"/>
                </a:solidFill>
                <a:highlight>
                  <a:srgbClr val="FFFFFF"/>
                </a:highlight>
              </a:rPr>
              <a:t>f</a:t>
            </a:r>
            <a:r>
              <a:rPr lang="pt-BR" sz="1400" b="1" dirty="0">
                <a:solidFill>
                  <a:srgbClr val="000080"/>
                </a:solidFill>
                <a:highlight>
                  <a:srgbClr val="FFFFFF"/>
                </a:highlight>
              </a:rPr>
              <a:t>(</a:t>
            </a:r>
            <a:r>
              <a:rPr lang="pt-BR" sz="1400" b="0" dirty="0">
                <a:solidFill>
                  <a:srgbClr val="000000"/>
                </a:solidFill>
                <a:highlight>
                  <a:srgbClr val="FFFFFF"/>
                </a:highlight>
              </a:rPr>
              <a:t>x</a:t>
            </a:r>
            <a:r>
              <a:rPr lang="pt-BR" sz="1400" b="1" dirty="0">
                <a:solidFill>
                  <a:srgbClr val="000080"/>
                </a:solidFill>
                <a:highlight>
                  <a:srgbClr val="FFFFFF"/>
                </a:highlight>
              </a:rPr>
              <a:t>):</a:t>
            </a:r>
            <a:endParaRPr lang="pt-BR" sz="1400" b="0" dirty="0">
              <a:solidFill>
                <a:srgbClr val="000000"/>
              </a:solidFill>
              <a:highlight>
                <a:srgbClr val="FFFFFF"/>
              </a:highlight>
            </a:endParaRPr>
          </a:p>
          <a:p>
            <a:r>
              <a:rPr lang="pt-BR" sz="1400" b="0" dirty="0">
                <a:solidFill>
                  <a:srgbClr val="000000"/>
                </a:solidFill>
                <a:highlight>
                  <a:srgbClr val="FFFFFF"/>
                </a:highlight>
              </a:rPr>
              <a:t>    a </a:t>
            </a:r>
            <a:r>
              <a:rPr lang="pt-BR" sz="1400" b="1" dirty="0">
                <a:solidFill>
                  <a:srgbClr val="000080"/>
                </a:solidFill>
                <a:highlight>
                  <a:srgbClr val="FFFFFF"/>
                </a:highlight>
              </a:rPr>
              <a:t>=</a:t>
            </a:r>
            <a:r>
              <a:rPr lang="pt-BR" sz="1400" b="0" dirty="0">
                <a:solidFill>
                  <a:srgbClr val="000000"/>
                </a:solidFill>
                <a:highlight>
                  <a:srgbClr val="FFFFFF"/>
                </a:highlight>
              </a:rPr>
              <a:t> </a:t>
            </a:r>
            <a:r>
              <a:rPr lang="pt-BR" sz="1400" b="0" dirty="0">
                <a:solidFill>
                  <a:srgbClr val="FF0000"/>
                </a:solidFill>
                <a:highlight>
                  <a:srgbClr val="FFFFFF"/>
                </a:highlight>
              </a:rPr>
              <a:t>1.0</a:t>
            </a:r>
            <a:endParaRPr lang="pt-BR" sz="1400" b="0" dirty="0">
              <a:solidFill>
                <a:srgbClr val="000000"/>
              </a:solidFill>
              <a:highlight>
                <a:srgbClr val="FFFFFF"/>
              </a:highlight>
            </a:endParaRPr>
          </a:p>
          <a:p>
            <a:r>
              <a:rPr lang="pt-BR" sz="1400" b="0" dirty="0">
                <a:solidFill>
                  <a:srgbClr val="000000"/>
                </a:solidFill>
                <a:highlight>
                  <a:srgbClr val="FFFFFF"/>
                </a:highlight>
              </a:rPr>
              <a:t>    b </a:t>
            </a:r>
            <a:r>
              <a:rPr lang="pt-BR" sz="1400" b="1" dirty="0">
                <a:solidFill>
                  <a:srgbClr val="000080"/>
                </a:solidFill>
                <a:highlight>
                  <a:srgbClr val="FFFFFF"/>
                </a:highlight>
              </a:rPr>
              <a:t>=</a:t>
            </a:r>
            <a:r>
              <a:rPr lang="pt-BR" sz="1400" b="0" dirty="0">
                <a:solidFill>
                  <a:srgbClr val="000000"/>
                </a:solidFill>
                <a:highlight>
                  <a:srgbClr val="FFFFFF"/>
                </a:highlight>
              </a:rPr>
              <a:t> </a:t>
            </a:r>
            <a:r>
              <a:rPr lang="pt-BR" sz="1400" b="0" dirty="0">
                <a:solidFill>
                  <a:srgbClr val="FF0000"/>
                </a:solidFill>
                <a:highlight>
                  <a:srgbClr val="FFFFFF"/>
                </a:highlight>
              </a:rPr>
              <a:t>2.0</a:t>
            </a:r>
            <a:endParaRPr lang="pt-BR" sz="1400" b="0" dirty="0">
              <a:solidFill>
                <a:srgbClr val="000000"/>
              </a:solidFill>
              <a:highlight>
                <a:srgbClr val="FFFFFF"/>
              </a:highlight>
            </a:endParaRPr>
          </a:p>
          <a:p>
            <a:r>
              <a:rPr lang="pt-BR" sz="1400" b="0" dirty="0">
                <a:solidFill>
                  <a:srgbClr val="000000"/>
                </a:solidFill>
                <a:highlight>
                  <a:srgbClr val="FFFFFF"/>
                </a:highlight>
              </a:rPr>
              <a:t>    y </a:t>
            </a:r>
            <a:r>
              <a:rPr lang="pt-BR" sz="1400" b="1" dirty="0">
                <a:solidFill>
                  <a:srgbClr val="000080"/>
                </a:solidFill>
                <a:highlight>
                  <a:srgbClr val="FFFFFF"/>
                </a:highlight>
              </a:rPr>
              <a:t>=</a:t>
            </a:r>
            <a:r>
              <a:rPr lang="pt-BR" sz="1400" b="0" dirty="0">
                <a:solidFill>
                  <a:srgbClr val="000000"/>
                </a:solidFill>
                <a:highlight>
                  <a:srgbClr val="FFFFFF"/>
                </a:highlight>
              </a:rPr>
              <a:t> a </a:t>
            </a:r>
            <a:r>
              <a:rPr lang="pt-BR" sz="1400" b="1" dirty="0">
                <a:solidFill>
                  <a:srgbClr val="000080"/>
                </a:solidFill>
                <a:highlight>
                  <a:srgbClr val="FFFFFF"/>
                </a:highlight>
              </a:rPr>
              <a:t>+</a:t>
            </a:r>
            <a:r>
              <a:rPr lang="pt-BR" sz="1400" b="0" dirty="0">
                <a:solidFill>
                  <a:srgbClr val="000000"/>
                </a:solidFill>
                <a:highlight>
                  <a:srgbClr val="FFFFFF"/>
                </a:highlight>
              </a:rPr>
              <a:t> b </a:t>
            </a:r>
            <a:r>
              <a:rPr lang="pt-BR" sz="1400" b="1" dirty="0">
                <a:solidFill>
                  <a:srgbClr val="000080"/>
                </a:solidFill>
                <a:highlight>
                  <a:srgbClr val="FFFFFF"/>
                </a:highlight>
              </a:rPr>
              <a:t>*</a:t>
            </a:r>
            <a:r>
              <a:rPr lang="pt-BR" sz="1400" b="0" dirty="0">
                <a:solidFill>
                  <a:srgbClr val="000000"/>
                </a:solidFill>
                <a:highlight>
                  <a:srgbClr val="FFFFFF"/>
                </a:highlight>
              </a:rPr>
              <a:t> x</a:t>
            </a:r>
          </a:p>
          <a:p>
            <a:r>
              <a:rPr lang="pt-BR" sz="1400" b="0" dirty="0">
                <a:solidFill>
                  <a:srgbClr val="000000"/>
                </a:solidFill>
                <a:highlight>
                  <a:srgbClr val="FFFFFF"/>
                </a:highlight>
              </a:rPr>
              <a:t>    </a:t>
            </a:r>
            <a:r>
              <a:rPr lang="pt-BR" sz="1400" b="1" dirty="0" err="1">
                <a:solidFill>
                  <a:srgbClr val="0000FF"/>
                </a:solidFill>
                <a:highlight>
                  <a:srgbClr val="FFFFFF"/>
                </a:highlight>
              </a:rPr>
              <a:t>return</a:t>
            </a:r>
            <a:r>
              <a:rPr lang="pt-BR" sz="1400" b="0" dirty="0">
                <a:solidFill>
                  <a:srgbClr val="000000"/>
                </a:solidFill>
                <a:highlight>
                  <a:srgbClr val="FFFFFF"/>
                </a:highlight>
              </a:rPr>
              <a:t> y</a:t>
            </a:r>
            <a:endParaRPr lang="pt-BR" sz="1400" dirty="0"/>
          </a:p>
        </p:txBody>
      </p:sp>
      <p:sp>
        <p:nvSpPr>
          <p:cNvPr id="27" name="Chave Direita 26">
            <a:extLst>
              <a:ext uri="{FF2B5EF4-FFF2-40B4-BE49-F238E27FC236}">
                <a16:creationId xmlns:a16="http://schemas.microsoft.com/office/drawing/2014/main" id="{3DCDF716-B1C6-2712-D004-AB2B2B29EECE}"/>
              </a:ext>
            </a:extLst>
          </p:cNvPr>
          <p:cNvSpPr/>
          <p:nvPr/>
        </p:nvSpPr>
        <p:spPr>
          <a:xfrm>
            <a:off x="2635492" y="2413560"/>
            <a:ext cx="236893" cy="116955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Tree>
    <p:extLst>
      <p:ext uri="{BB962C8B-B14F-4D97-AF65-F5344CB8AC3E}">
        <p14:creationId xmlns:p14="http://schemas.microsoft.com/office/powerpoint/2010/main" val="8187710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Programação tradicional</a:t>
            </a:r>
          </a:p>
        </p:txBody>
      </p:sp>
      <p:sp>
        <p:nvSpPr>
          <p:cNvPr id="3" name="Content Placeholder 2"/>
          <p:cNvSpPr>
            <a:spLocks noGrp="1"/>
          </p:cNvSpPr>
          <p:nvPr>
            <p:ph idx="1"/>
          </p:nvPr>
        </p:nvSpPr>
        <p:spPr>
          <a:xfrm>
            <a:off x="838199" y="4839775"/>
            <a:ext cx="10853057" cy="2018224"/>
          </a:xfrm>
        </p:spPr>
        <p:txBody>
          <a:bodyPr>
            <a:normAutofit/>
          </a:bodyPr>
          <a:lstStyle/>
          <a:p>
            <a:r>
              <a:rPr lang="pt-BR" dirty="0"/>
              <a:t>Em outras palavras, na programação tradicional, o </a:t>
            </a:r>
            <a:r>
              <a:rPr lang="pt-BR" b="1" i="1" dirty="0">
                <a:solidFill>
                  <a:srgbClr val="00B050"/>
                </a:solidFill>
              </a:rPr>
              <a:t>programador cria as regras</a:t>
            </a:r>
            <a:r>
              <a:rPr lang="pt-BR" dirty="0"/>
              <a:t> (i.e., programa) que </a:t>
            </a:r>
            <a:r>
              <a:rPr lang="pt-BR" b="1" i="1" dirty="0">
                <a:solidFill>
                  <a:schemeClr val="accent1"/>
                </a:solidFill>
              </a:rPr>
              <a:t>mapeiam</a:t>
            </a:r>
            <a:r>
              <a:rPr lang="pt-BR" b="1" i="1" dirty="0">
                <a:solidFill>
                  <a:srgbClr val="00B050"/>
                </a:solidFill>
              </a:rPr>
              <a:t> as entradas nas saídas</a:t>
            </a:r>
            <a:r>
              <a:rPr lang="pt-BR" dirty="0"/>
              <a:t>.</a:t>
            </a:r>
          </a:p>
        </p:txBody>
      </p:sp>
      <p:sp>
        <p:nvSpPr>
          <p:cNvPr id="4" name="Rectangle 3"/>
          <p:cNvSpPr/>
          <p:nvPr/>
        </p:nvSpPr>
        <p:spPr>
          <a:xfrm>
            <a:off x="5351247" y="2837135"/>
            <a:ext cx="1910443" cy="8490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Computador</a:t>
            </a:r>
          </a:p>
        </p:txBody>
      </p:sp>
      <p:sp>
        <p:nvSpPr>
          <p:cNvPr id="5" name="TextBox 4"/>
          <p:cNvSpPr txBox="1"/>
          <p:nvPr/>
        </p:nvSpPr>
        <p:spPr>
          <a:xfrm>
            <a:off x="4523246" y="2305549"/>
            <a:ext cx="3566443" cy="461665"/>
          </a:xfrm>
          <a:prstGeom prst="rect">
            <a:avLst/>
          </a:prstGeom>
          <a:noFill/>
        </p:spPr>
        <p:txBody>
          <a:bodyPr wrap="square" rtlCol="0">
            <a:spAutoFit/>
          </a:bodyPr>
          <a:lstStyle/>
          <a:p>
            <a:pPr algn="ctr"/>
            <a:r>
              <a:rPr lang="pt-BR" sz="2400" b="1" dirty="0"/>
              <a:t>Programação Tradicional</a:t>
            </a:r>
          </a:p>
        </p:txBody>
      </p:sp>
      <p:cxnSp>
        <p:nvCxnSpPr>
          <p:cNvPr id="7" name="Straight Arrow Connector 6"/>
          <p:cNvCxnSpPr/>
          <p:nvPr/>
        </p:nvCxnSpPr>
        <p:spPr>
          <a:xfrm>
            <a:off x="4523247" y="3016750"/>
            <a:ext cx="82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4523247" y="3512050"/>
            <a:ext cx="82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p:cNvSpPr txBox="1"/>
              <p:nvPr/>
            </p:nvSpPr>
            <p:spPr>
              <a:xfrm>
                <a:off x="3365573" y="3290724"/>
                <a:ext cx="1039586" cy="584775"/>
              </a:xfrm>
              <a:prstGeom prst="rect">
                <a:avLst/>
              </a:prstGeom>
              <a:noFill/>
            </p:spPr>
            <p:txBody>
              <a:bodyPr wrap="square" rtlCol="0">
                <a:spAutoFit/>
              </a:bodyPr>
              <a:lstStyle/>
              <a:p>
                <a:pPr algn="ctr"/>
                <a:r>
                  <a:rPr lang="pt-BR" dirty="0"/>
                  <a:t>Entradas</a:t>
                </a:r>
              </a:p>
              <a:p>
                <a:pPr algn="ctr"/>
                <a:r>
                  <a:rPr lang="pt-BR" sz="1400" dirty="0"/>
                  <a:t>e.g., </a:t>
                </a:r>
                <a14:m>
                  <m:oMath xmlns:m="http://schemas.openxmlformats.org/officeDocument/2006/math">
                    <m:r>
                      <a:rPr lang="pt-BR" sz="1400" i="1">
                        <a:latin typeface="Cambria Math" panose="02040503050406030204" pitchFamily="18" charset="0"/>
                      </a:rPr>
                      <m:t>𝑥</m:t>
                    </m:r>
                  </m:oMath>
                </a14:m>
                <a:endParaRPr lang="pt-BR" dirty="0"/>
              </a:p>
            </p:txBody>
          </p:sp>
        </mc:Choice>
        <mc:Fallback xmlns="">
          <p:sp>
            <p:nvSpPr>
              <p:cNvPr id="9" name="TextBox 8"/>
              <p:cNvSpPr txBox="1">
                <a:spLocks noRot="1" noChangeAspect="1" noMove="1" noResize="1" noEditPoints="1" noAdjustHandles="1" noChangeArrowheads="1" noChangeShapeType="1" noTextEdit="1"/>
              </p:cNvSpPr>
              <p:nvPr/>
            </p:nvSpPr>
            <p:spPr>
              <a:xfrm>
                <a:off x="3365573" y="3290724"/>
                <a:ext cx="1039586" cy="584775"/>
              </a:xfrm>
              <a:prstGeom prst="rect">
                <a:avLst/>
              </a:prstGeom>
              <a:blipFill>
                <a:blip r:embed="rId3"/>
                <a:stretch>
                  <a:fillRect l="-3509" t="-6250" r="-2924" b="-9375"/>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2990473" y="2513739"/>
                <a:ext cx="1688987" cy="800219"/>
              </a:xfrm>
              <a:prstGeom prst="rect">
                <a:avLst/>
              </a:prstGeom>
              <a:noFill/>
            </p:spPr>
            <p:txBody>
              <a:bodyPr wrap="square" rtlCol="0">
                <a:spAutoFit/>
              </a:bodyPr>
              <a:lstStyle/>
              <a:p>
                <a:pPr algn="ctr"/>
                <a:r>
                  <a:rPr lang="pt-BR" dirty="0"/>
                  <a:t>Programa</a:t>
                </a:r>
              </a:p>
              <a:p>
                <a:pPr algn="ctr"/>
                <a:r>
                  <a:rPr lang="pt-BR" sz="1400" dirty="0"/>
                  <a:t>e.g., uma função: </a:t>
                </a:r>
                <a14:m>
                  <m:oMath xmlns:m="http://schemas.openxmlformats.org/officeDocument/2006/math">
                    <m:r>
                      <a:rPr lang="pt-BR" sz="1400" b="0" i="1" smtClean="0">
                        <a:latin typeface="Cambria Math" panose="02040503050406030204" pitchFamily="18" charset="0"/>
                      </a:rPr>
                      <m:t>𝑦</m:t>
                    </m:r>
                    <m:r>
                      <a:rPr lang="pt-BR" sz="1400" b="0" i="1" smtClean="0">
                        <a:latin typeface="Cambria Math" panose="02040503050406030204" pitchFamily="18" charset="0"/>
                      </a:rPr>
                      <m:t>=</m:t>
                    </m:r>
                    <m:r>
                      <a:rPr lang="pt-BR" sz="1400" b="0" i="1" smtClean="0">
                        <a:latin typeface="Cambria Math" panose="02040503050406030204" pitchFamily="18" charset="0"/>
                      </a:rPr>
                      <m:t>𝑓</m:t>
                    </m:r>
                    <m:d>
                      <m:dPr>
                        <m:ctrlPr>
                          <a:rPr lang="pt-BR" sz="1400" b="0" i="1" smtClean="0">
                            <a:latin typeface="Cambria Math" panose="02040503050406030204" pitchFamily="18" charset="0"/>
                          </a:rPr>
                        </m:ctrlPr>
                      </m:dPr>
                      <m:e>
                        <m:r>
                          <a:rPr lang="pt-BR" sz="1400" b="0" i="1" smtClean="0">
                            <a:latin typeface="Cambria Math" panose="02040503050406030204" pitchFamily="18" charset="0"/>
                          </a:rPr>
                          <m:t>𝑥</m:t>
                        </m:r>
                      </m:e>
                    </m:d>
                    <m:r>
                      <a:rPr lang="pt-BR" sz="1400" b="0" i="1" smtClean="0">
                        <a:latin typeface="Cambria Math" panose="02040503050406030204" pitchFamily="18" charset="0"/>
                      </a:rPr>
                      <m:t>=</m:t>
                    </m:r>
                    <m:r>
                      <a:rPr lang="pt-BR" sz="1400" b="0" i="1" smtClean="0">
                        <a:latin typeface="Cambria Math" panose="02040503050406030204" pitchFamily="18" charset="0"/>
                      </a:rPr>
                      <m:t>𝑎</m:t>
                    </m:r>
                    <m:r>
                      <a:rPr lang="pt-BR" sz="1400" b="0" i="1" smtClean="0">
                        <a:latin typeface="Cambria Math" panose="02040503050406030204" pitchFamily="18" charset="0"/>
                      </a:rPr>
                      <m:t>+</m:t>
                    </m:r>
                    <m:r>
                      <a:rPr lang="pt-BR" sz="1400" b="0" i="1" smtClean="0">
                        <a:latin typeface="Cambria Math" panose="02040503050406030204" pitchFamily="18" charset="0"/>
                      </a:rPr>
                      <m:t>𝑏𝑥</m:t>
                    </m:r>
                  </m:oMath>
                </a14:m>
                <a:endParaRPr lang="pt-BR" sz="1400" dirty="0"/>
              </a:p>
            </p:txBody>
          </p:sp>
        </mc:Choice>
        <mc:Fallback xmlns="">
          <p:sp>
            <p:nvSpPr>
              <p:cNvPr id="10" name="TextBox 9"/>
              <p:cNvSpPr txBox="1">
                <a:spLocks noRot="1" noChangeAspect="1" noMove="1" noResize="1" noEditPoints="1" noAdjustHandles="1" noChangeArrowheads="1" noChangeShapeType="1" noTextEdit="1"/>
              </p:cNvSpPr>
              <p:nvPr/>
            </p:nvSpPr>
            <p:spPr>
              <a:xfrm>
                <a:off x="2990473" y="2513739"/>
                <a:ext cx="1688987" cy="800219"/>
              </a:xfrm>
              <a:prstGeom prst="rect">
                <a:avLst/>
              </a:prstGeom>
              <a:blipFill>
                <a:blip r:embed="rId4"/>
                <a:stretch>
                  <a:fillRect t="-3788" b="-1515"/>
                </a:stretch>
              </a:blipFill>
            </p:spPr>
            <p:txBody>
              <a:bodyPr/>
              <a:lstStyle/>
              <a:p>
                <a:r>
                  <a:rPr lang="pt-BR">
                    <a:noFill/>
                  </a:rPr>
                  <a:t> </a:t>
                </a:r>
              </a:p>
            </p:txBody>
          </p:sp>
        </mc:Fallback>
      </mc:AlternateContent>
      <p:cxnSp>
        <p:nvCxnSpPr>
          <p:cNvPr id="11" name="Straight Arrow Connector 10"/>
          <p:cNvCxnSpPr/>
          <p:nvPr/>
        </p:nvCxnSpPr>
        <p:spPr>
          <a:xfrm>
            <a:off x="7261690" y="3261678"/>
            <a:ext cx="82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p:cNvSpPr txBox="1"/>
              <p:nvPr/>
            </p:nvSpPr>
            <p:spPr>
              <a:xfrm>
                <a:off x="8004130" y="2947352"/>
                <a:ext cx="2336006" cy="584775"/>
              </a:xfrm>
              <a:prstGeom prst="rect">
                <a:avLst/>
              </a:prstGeom>
              <a:noFill/>
            </p:spPr>
            <p:txBody>
              <a:bodyPr wrap="square" rtlCol="0">
                <a:spAutoFit/>
              </a:bodyPr>
              <a:lstStyle/>
              <a:p>
                <a:pPr algn="ctr"/>
                <a:r>
                  <a:rPr lang="pt-BR" dirty="0"/>
                  <a:t>Resultados/Respostas</a:t>
                </a:r>
              </a:p>
              <a:p>
                <a:pPr algn="ctr"/>
                <a:r>
                  <a:rPr lang="pt-BR" sz="1400" dirty="0"/>
                  <a:t>e.g., </a:t>
                </a:r>
                <a14:m>
                  <m:oMath xmlns:m="http://schemas.openxmlformats.org/officeDocument/2006/math">
                    <m:r>
                      <a:rPr lang="pt-BR" sz="1400" i="1">
                        <a:latin typeface="Cambria Math" panose="02040503050406030204" pitchFamily="18" charset="0"/>
                      </a:rPr>
                      <m:t>𝑦</m:t>
                    </m:r>
                    <m:r>
                      <a:rPr lang="pt-BR" sz="1400" i="1">
                        <a:latin typeface="Cambria Math" panose="02040503050406030204" pitchFamily="18" charset="0"/>
                      </a:rPr>
                      <m:t>=</m:t>
                    </m:r>
                    <m:r>
                      <a:rPr lang="pt-BR" sz="1400" i="1">
                        <a:latin typeface="Cambria Math" panose="02040503050406030204" pitchFamily="18" charset="0"/>
                      </a:rPr>
                      <m:t>𝑓</m:t>
                    </m:r>
                    <m:d>
                      <m:dPr>
                        <m:ctrlPr>
                          <a:rPr lang="pt-BR" sz="1400" i="1">
                            <a:latin typeface="Cambria Math" panose="02040503050406030204" pitchFamily="18" charset="0"/>
                          </a:rPr>
                        </m:ctrlPr>
                      </m:dPr>
                      <m:e>
                        <m:r>
                          <a:rPr lang="pt-BR" sz="1400" i="1">
                            <a:latin typeface="Cambria Math" panose="02040503050406030204" pitchFamily="18" charset="0"/>
                          </a:rPr>
                          <m:t>𝑥</m:t>
                        </m:r>
                      </m:e>
                    </m:d>
                  </m:oMath>
                </a14:m>
                <a:endParaRPr lang="pt-BR" dirty="0"/>
              </a:p>
            </p:txBody>
          </p:sp>
        </mc:Choice>
        <mc:Fallback xmlns="">
          <p:sp>
            <p:nvSpPr>
              <p:cNvPr id="12" name="TextBox 11"/>
              <p:cNvSpPr txBox="1">
                <a:spLocks noRot="1" noChangeAspect="1" noMove="1" noResize="1" noEditPoints="1" noAdjustHandles="1" noChangeArrowheads="1" noChangeShapeType="1" noTextEdit="1"/>
              </p:cNvSpPr>
              <p:nvPr/>
            </p:nvSpPr>
            <p:spPr>
              <a:xfrm>
                <a:off x="8004130" y="2947352"/>
                <a:ext cx="2336006" cy="584775"/>
              </a:xfrm>
              <a:prstGeom prst="rect">
                <a:avLst/>
              </a:prstGeom>
              <a:blipFill>
                <a:blip r:embed="rId5"/>
                <a:stretch>
                  <a:fillRect t="-5208" b="-10417"/>
                </a:stretch>
              </a:blipFill>
            </p:spPr>
            <p:txBody>
              <a:bodyPr/>
              <a:lstStyle/>
              <a:p>
                <a:r>
                  <a:rPr lang="pt-BR">
                    <a:noFill/>
                  </a:rPr>
                  <a:t> </a:t>
                </a:r>
              </a:p>
            </p:txBody>
          </p:sp>
        </mc:Fallback>
      </mc:AlternateContent>
      <p:sp>
        <p:nvSpPr>
          <p:cNvPr id="26" name="CaixaDeTexto 25">
            <a:extLst>
              <a:ext uri="{FF2B5EF4-FFF2-40B4-BE49-F238E27FC236}">
                <a16:creationId xmlns:a16="http://schemas.microsoft.com/office/drawing/2014/main" id="{407A6463-2CA5-7635-841A-FB3F9BE2B432}"/>
              </a:ext>
            </a:extLst>
          </p:cNvPr>
          <p:cNvSpPr txBox="1"/>
          <p:nvPr/>
        </p:nvSpPr>
        <p:spPr>
          <a:xfrm>
            <a:off x="1433053" y="2413560"/>
            <a:ext cx="1202439" cy="1169551"/>
          </a:xfrm>
          <a:prstGeom prst="rect">
            <a:avLst/>
          </a:prstGeom>
          <a:noFill/>
        </p:spPr>
        <p:txBody>
          <a:bodyPr wrap="square">
            <a:spAutoFit/>
          </a:bodyPr>
          <a:lstStyle/>
          <a:p>
            <a:r>
              <a:rPr lang="pt-BR" sz="1400" b="1" dirty="0" err="1">
                <a:solidFill>
                  <a:srgbClr val="0000FF"/>
                </a:solidFill>
                <a:highlight>
                  <a:srgbClr val="FFFFFF"/>
                </a:highlight>
              </a:rPr>
              <a:t>def</a:t>
            </a:r>
            <a:r>
              <a:rPr lang="pt-BR" sz="1400" b="0" dirty="0">
                <a:solidFill>
                  <a:srgbClr val="000000"/>
                </a:solidFill>
                <a:highlight>
                  <a:srgbClr val="FFFFFF"/>
                </a:highlight>
              </a:rPr>
              <a:t> </a:t>
            </a:r>
            <a:r>
              <a:rPr lang="pt-BR" sz="1400" b="0" dirty="0">
                <a:solidFill>
                  <a:srgbClr val="FF00FF"/>
                </a:solidFill>
                <a:highlight>
                  <a:srgbClr val="FFFFFF"/>
                </a:highlight>
              </a:rPr>
              <a:t>f</a:t>
            </a:r>
            <a:r>
              <a:rPr lang="pt-BR" sz="1400" b="1" dirty="0">
                <a:solidFill>
                  <a:srgbClr val="000080"/>
                </a:solidFill>
                <a:highlight>
                  <a:srgbClr val="FFFFFF"/>
                </a:highlight>
              </a:rPr>
              <a:t>(</a:t>
            </a:r>
            <a:r>
              <a:rPr lang="pt-BR" sz="1400" b="0" dirty="0">
                <a:solidFill>
                  <a:srgbClr val="000000"/>
                </a:solidFill>
                <a:highlight>
                  <a:srgbClr val="FFFFFF"/>
                </a:highlight>
              </a:rPr>
              <a:t>x</a:t>
            </a:r>
            <a:r>
              <a:rPr lang="pt-BR" sz="1400" b="1" dirty="0">
                <a:solidFill>
                  <a:srgbClr val="000080"/>
                </a:solidFill>
                <a:highlight>
                  <a:srgbClr val="FFFFFF"/>
                </a:highlight>
              </a:rPr>
              <a:t>):</a:t>
            </a:r>
            <a:endParaRPr lang="pt-BR" sz="1400" b="0" dirty="0">
              <a:solidFill>
                <a:srgbClr val="000000"/>
              </a:solidFill>
              <a:highlight>
                <a:srgbClr val="FFFFFF"/>
              </a:highlight>
            </a:endParaRPr>
          </a:p>
          <a:p>
            <a:r>
              <a:rPr lang="pt-BR" sz="1400" b="0" dirty="0">
                <a:solidFill>
                  <a:srgbClr val="000000"/>
                </a:solidFill>
                <a:highlight>
                  <a:srgbClr val="FFFFFF"/>
                </a:highlight>
              </a:rPr>
              <a:t>    a </a:t>
            </a:r>
            <a:r>
              <a:rPr lang="pt-BR" sz="1400" b="1" dirty="0">
                <a:solidFill>
                  <a:srgbClr val="000080"/>
                </a:solidFill>
                <a:highlight>
                  <a:srgbClr val="FFFFFF"/>
                </a:highlight>
              </a:rPr>
              <a:t>=</a:t>
            </a:r>
            <a:r>
              <a:rPr lang="pt-BR" sz="1400" b="0" dirty="0">
                <a:solidFill>
                  <a:srgbClr val="000000"/>
                </a:solidFill>
                <a:highlight>
                  <a:srgbClr val="FFFFFF"/>
                </a:highlight>
              </a:rPr>
              <a:t> </a:t>
            </a:r>
            <a:r>
              <a:rPr lang="pt-BR" sz="1400" b="0" dirty="0">
                <a:solidFill>
                  <a:srgbClr val="FF0000"/>
                </a:solidFill>
                <a:highlight>
                  <a:srgbClr val="FFFFFF"/>
                </a:highlight>
              </a:rPr>
              <a:t>1.0</a:t>
            </a:r>
            <a:endParaRPr lang="pt-BR" sz="1400" b="0" dirty="0">
              <a:solidFill>
                <a:srgbClr val="000000"/>
              </a:solidFill>
              <a:highlight>
                <a:srgbClr val="FFFFFF"/>
              </a:highlight>
            </a:endParaRPr>
          </a:p>
          <a:p>
            <a:r>
              <a:rPr lang="pt-BR" sz="1400" b="0" dirty="0">
                <a:solidFill>
                  <a:srgbClr val="000000"/>
                </a:solidFill>
                <a:highlight>
                  <a:srgbClr val="FFFFFF"/>
                </a:highlight>
              </a:rPr>
              <a:t>    b </a:t>
            </a:r>
            <a:r>
              <a:rPr lang="pt-BR" sz="1400" b="1" dirty="0">
                <a:solidFill>
                  <a:srgbClr val="000080"/>
                </a:solidFill>
                <a:highlight>
                  <a:srgbClr val="FFFFFF"/>
                </a:highlight>
              </a:rPr>
              <a:t>=</a:t>
            </a:r>
            <a:r>
              <a:rPr lang="pt-BR" sz="1400" b="0" dirty="0">
                <a:solidFill>
                  <a:srgbClr val="000000"/>
                </a:solidFill>
                <a:highlight>
                  <a:srgbClr val="FFFFFF"/>
                </a:highlight>
              </a:rPr>
              <a:t> </a:t>
            </a:r>
            <a:r>
              <a:rPr lang="pt-BR" sz="1400" b="0" dirty="0">
                <a:solidFill>
                  <a:srgbClr val="FF0000"/>
                </a:solidFill>
                <a:highlight>
                  <a:srgbClr val="FFFFFF"/>
                </a:highlight>
              </a:rPr>
              <a:t>2.0</a:t>
            </a:r>
            <a:endParaRPr lang="pt-BR" sz="1400" b="0" dirty="0">
              <a:solidFill>
                <a:srgbClr val="000000"/>
              </a:solidFill>
              <a:highlight>
                <a:srgbClr val="FFFFFF"/>
              </a:highlight>
            </a:endParaRPr>
          </a:p>
          <a:p>
            <a:r>
              <a:rPr lang="pt-BR" sz="1400" b="0" dirty="0">
                <a:solidFill>
                  <a:srgbClr val="000000"/>
                </a:solidFill>
                <a:highlight>
                  <a:srgbClr val="FFFFFF"/>
                </a:highlight>
              </a:rPr>
              <a:t>    y </a:t>
            </a:r>
            <a:r>
              <a:rPr lang="pt-BR" sz="1400" b="1" dirty="0">
                <a:solidFill>
                  <a:srgbClr val="000080"/>
                </a:solidFill>
                <a:highlight>
                  <a:srgbClr val="FFFFFF"/>
                </a:highlight>
              </a:rPr>
              <a:t>=</a:t>
            </a:r>
            <a:r>
              <a:rPr lang="pt-BR" sz="1400" b="0" dirty="0">
                <a:solidFill>
                  <a:srgbClr val="000000"/>
                </a:solidFill>
                <a:highlight>
                  <a:srgbClr val="FFFFFF"/>
                </a:highlight>
              </a:rPr>
              <a:t> a </a:t>
            </a:r>
            <a:r>
              <a:rPr lang="pt-BR" sz="1400" b="1" dirty="0">
                <a:solidFill>
                  <a:srgbClr val="000080"/>
                </a:solidFill>
                <a:highlight>
                  <a:srgbClr val="FFFFFF"/>
                </a:highlight>
              </a:rPr>
              <a:t>+</a:t>
            </a:r>
            <a:r>
              <a:rPr lang="pt-BR" sz="1400" b="0" dirty="0">
                <a:solidFill>
                  <a:srgbClr val="000000"/>
                </a:solidFill>
                <a:highlight>
                  <a:srgbClr val="FFFFFF"/>
                </a:highlight>
              </a:rPr>
              <a:t> b </a:t>
            </a:r>
            <a:r>
              <a:rPr lang="pt-BR" sz="1400" b="1" dirty="0">
                <a:solidFill>
                  <a:srgbClr val="000080"/>
                </a:solidFill>
                <a:highlight>
                  <a:srgbClr val="FFFFFF"/>
                </a:highlight>
              </a:rPr>
              <a:t>*</a:t>
            </a:r>
            <a:r>
              <a:rPr lang="pt-BR" sz="1400" b="0" dirty="0">
                <a:solidFill>
                  <a:srgbClr val="000000"/>
                </a:solidFill>
                <a:highlight>
                  <a:srgbClr val="FFFFFF"/>
                </a:highlight>
              </a:rPr>
              <a:t> x</a:t>
            </a:r>
          </a:p>
          <a:p>
            <a:r>
              <a:rPr lang="pt-BR" sz="1400" b="0" dirty="0">
                <a:solidFill>
                  <a:srgbClr val="000000"/>
                </a:solidFill>
                <a:highlight>
                  <a:srgbClr val="FFFFFF"/>
                </a:highlight>
              </a:rPr>
              <a:t>    </a:t>
            </a:r>
            <a:r>
              <a:rPr lang="pt-BR" sz="1400" b="1" dirty="0" err="1">
                <a:solidFill>
                  <a:srgbClr val="0000FF"/>
                </a:solidFill>
                <a:highlight>
                  <a:srgbClr val="FFFFFF"/>
                </a:highlight>
              </a:rPr>
              <a:t>return</a:t>
            </a:r>
            <a:r>
              <a:rPr lang="pt-BR" sz="1400" b="0" dirty="0">
                <a:solidFill>
                  <a:srgbClr val="000000"/>
                </a:solidFill>
                <a:highlight>
                  <a:srgbClr val="FFFFFF"/>
                </a:highlight>
              </a:rPr>
              <a:t> y</a:t>
            </a:r>
            <a:endParaRPr lang="pt-BR" sz="1400" dirty="0"/>
          </a:p>
        </p:txBody>
      </p:sp>
      <p:sp>
        <p:nvSpPr>
          <p:cNvPr id="27" name="Chave Direita 26">
            <a:extLst>
              <a:ext uri="{FF2B5EF4-FFF2-40B4-BE49-F238E27FC236}">
                <a16:creationId xmlns:a16="http://schemas.microsoft.com/office/drawing/2014/main" id="{3DCDF716-B1C6-2712-D004-AB2B2B29EECE}"/>
              </a:ext>
            </a:extLst>
          </p:cNvPr>
          <p:cNvSpPr/>
          <p:nvPr/>
        </p:nvSpPr>
        <p:spPr>
          <a:xfrm>
            <a:off x="2635492" y="2413560"/>
            <a:ext cx="236893" cy="116955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Tree>
    <p:extLst>
      <p:ext uri="{BB962C8B-B14F-4D97-AF65-F5344CB8AC3E}">
        <p14:creationId xmlns:p14="http://schemas.microsoft.com/office/powerpoint/2010/main" val="9767253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Programação tradicional</a:t>
            </a:r>
          </a:p>
        </p:txBody>
      </p:sp>
      <p:sp>
        <p:nvSpPr>
          <p:cNvPr id="3" name="Content Placeholder 2"/>
          <p:cNvSpPr>
            <a:spLocks noGrp="1"/>
          </p:cNvSpPr>
          <p:nvPr>
            <p:ph idx="1"/>
          </p:nvPr>
        </p:nvSpPr>
        <p:spPr>
          <a:xfrm>
            <a:off x="838199" y="4839775"/>
            <a:ext cx="10853057" cy="2018224"/>
          </a:xfrm>
        </p:spPr>
        <p:txBody>
          <a:bodyPr>
            <a:normAutofit/>
          </a:bodyPr>
          <a:lstStyle/>
          <a:p>
            <a:r>
              <a:rPr lang="pt-BR" dirty="0"/>
              <a:t>Porém, em alguns casos é muito difícil criar um código para solucionar um problema de forma geral (e.g., detecção de objetos, tradução, etc.).</a:t>
            </a:r>
          </a:p>
          <a:p>
            <a:r>
              <a:rPr lang="pt-BR" dirty="0"/>
              <a:t>Vamos ver uma situação onde esse paradigma não funciona bem.</a:t>
            </a:r>
          </a:p>
        </p:txBody>
      </p:sp>
      <p:sp>
        <p:nvSpPr>
          <p:cNvPr id="4" name="Rectangle 3"/>
          <p:cNvSpPr/>
          <p:nvPr/>
        </p:nvSpPr>
        <p:spPr>
          <a:xfrm>
            <a:off x="5351247" y="2837135"/>
            <a:ext cx="1910443" cy="8490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Computador</a:t>
            </a:r>
          </a:p>
        </p:txBody>
      </p:sp>
      <p:sp>
        <p:nvSpPr>
          <p:cNvPr id="5" name="TextBox 4"/>
          <p:cNvSpPr txBox="1"/>
          <p:nvPr/>
        </p:nvSpPr>
        <p:spPr>
          <a:xfrm>
            <a:off x="4523246" y="2305549"/>
            <a:ext cx="3566443" cy="461665"/>
          </a:xfrm>
          <a:prstGeom prst="rect">
            <a:avLst/>
          </a:prstGeom>
          <a:noFill/>
        </p:spPr>
        <p:txBody>
          <a:bodyPr wrap="square" rtlCol="0">
            <a:spAutoFit/>
          </a:bodyPr>
          <a:lstStyle/>
          <a:p>
            <a:pPr algn="ctr"/>
            <a:r>
              <a:rPr lang="pt-BR" sz="2400" b="1" dirty="0"/>
              <a:t>Programação Tradicional</a:t>
            </a:r>
          </a:p>
        </p:txBody>
      </p:sp>
      <p:cxnSp>
        <p:nvCxnSpPr>
          <p:cNvPr id="7" name="Straight Arrow Connector 6"/>
          <p:cNvCxnSpPr/>
          <p:nvPr/>
        </p:nvCxnSpPr>
        <p:spPr>
          <a:xfrm>
            <a:off x="4523247" y="3016750"/>
            <a:ext cx="82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4523247" y="3512050"/>
            <a:ext cx="82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p:cNvSpPr txBox="1"/>
              <p:nvPr/>
            </p:nvSpPr>
            <p:spPr>
              <a:xfrm>
                <a:off x="3365573" y="3290724"/>
                <a:ext cx="1039586" cy="584775"/>
              </a:xfrm>
              <a:prstGeom prst="rect">
                <a:avLst/>
              </a:prstGeom>
              <a:noFill/>
            </p:spPr>
            <p:txBody>
              <a:bodyPr wrap="square" rtlCol="0">
                <a:spAutoFit/>
              </a:bodyPr>
              <a:lstStyle/>
              <a:p>
                <a:pPr algn="ctr"/>
                <a:r>
                  <a:rPr lang="pt-BR" dirty="0"/>
                  <a:t>Entradas</a:t>
                </a:r>
              </a:p>
              <a:p>
                <a:pPr algn="ctr"/>
                <a:r>
                  <a:rPr lang="pt-BR" sz="1400" dirty="0"/>
                  <a:t>e.g., </a:t>
                </a:r>
                <a14:m>
                  <m:oMath xmlns:m="http://schemas.openxmlformats.org/officeDocument/2006/math">
                    <m:r>
                      <a:rPr lang="pt-BR" sz="1400" i="1">
                        <a:latin typeface="Cambria Math" panose="02040503050406030204" pitchFamily="18" charset="0"/>
                      </a:rPr>
                      <m:t>𝑥</m:t>
                    </m:r>
                  </m:oMath>
                </a14:m>
                <a:endParaRPr lang="pt-BR" dirty="0"/>
              </a:p>
            </p:txBody>
          </p:sp>
        </mc:Choice>
        <mc:Fallback xmlns="">
          <p:sp>
            <p:nvSpPr>
              <p:cNvPr id="9" name="TextBox 8"/>
              <p:cNvSpPr txBox="1">
                <a:spLocks noRot="1" noChangeAspect="1" noMove="1" noResize="1" noEditPoints="1" noAdjustHandles="1" noChangeArrowheads="1" noChangeShapeType="1" noTextEdit="1"/>
              </p:cNvSpPr>
              <p:nvPr/>
            </p:nvSpPr>
            <p:spPr>
              <a:xfrm>
                <a:off x="3365573" y="3290724"/>
                <a:ext cx="1039586" cy="584775"/>
              </a:xfrm>
              <a:prstGeom prst="rect">
                <a:avLst/>
              </a:prstGeom>
              <a:blipFill>
                <a:blip r:embed="rId3"/>
                <a:stretch>
                  <a:fillRect l="-3509" t="-6250" r="-2924" b="-9375"/>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2990473" y="2513739"/>
                <a:ext cx="1688987" cy="800219"/>
              </a:xfrm>
              <a:prstGeom prst="rect">
                <a:avLst/>
              </a:prstGeom>
              <a:noFill/>
            </p:spPr>
            <p:txBody>
              <a:bodyPr wrap="square" rtlCol="0">
                <a:spAutoFit/>
              </a:bodyPr>
              <a:lstStyle/>
              <a:p>
                <a:pPr algn="ctr"/>
                <a:r>
                  <a:rPr lang="pt-BR" dirty="0"/>
                  <a:t>Programa</a:t>
                </a:r>
              </a:p>
              <a:p>
                <a:pPr algn="ctr"/>
                <a:r>
                  <a:rPr lang="pt-BR" sz="1400" dirty="0"/>
                  <a:t>e.g., uma função: </a:t>
                </a:r>
                <a14:m>
                  <m:oMath xmlns:m="http://schemas.openxmlformats.org/officeDocument/2006/math">
                    <m:r>
                      <a:rPr lang="pt-BR" sz="1400" b="0" i="1" smtClean="0">
                        <a:latin typeface="Cambria Math" panose="02040503050406030204" pitchFamily="18" charset="0"/>
                      </a:rPr>
                      <m:t>𝑦</m:t>
                    </m:r>
                    <m:r>
                      <a:rPr lang="pt-BR" sz="1400" b="0" i="1" smtClean="0">
                        <a:latin typeface="Cambria Math" panose="02040503050406030204" pitchFamily="18" charset="0"/>
                      </a:rPr>
                      <m:t>=</m:t>
                    </m:r>
                    <m:r>
                      <a:rPr lang="pt-BR" sz="1400" b="0" i="1" smtClean="0">
                        <a:latin typeface="Cambria Math" panose="02040503050406030204" pitchFamily="18" charset="0"/>
                      </a:rPr>
                      <m:t>𝑓</m:t>
                    </m:r>
                    <m:d>
                      <m:dPr>
                        <m:ctrlPr>
                          <a:rPr lang="pt-BR" sz="1400" b="0" i="1" smtClean="0">
                            <a:latin typeface="Cambria Math" panose="02040503050406030204" pitchFamily="18" charset="0"/>
                          </a:rPr>
                        </m:ctrlPr>
                      </m:dPr>
                      <m:e>
                        <m:r>
                          <a:rPr lang="pt-BR" sz="1400" b="0" i="1" smtClean="0">
                            <a:latin typeface="Cambria Math" panose="02040503050406030204" pitchFamily="18" charset="0"/>
                          </a:rPr>
                          <m:t>𝑥</m:t>
                        </m:r>
                      </m:e>
                    </m:d>
                    <m:r>
                      <a:rPr lang="pt-BR" sz="1400" b="0" i="1" smtClean="0">
                        <a:latin typeface="Cambria Math" panose="02040503050406030204" pitchFamily="18" charset="0"/>
                      </a:rPr>
                      <m:t>=</m:t>
                    </m:r>
                    <m:r>
                      <a:rPr lang="pt-BR" sz="1400" b="0" i="1" smtClean="0">
                        <a:latin typeface="Cambria Math" panose="02040503050406030204" pitchFamily="18" charset="0"/>
                      </a:rPr>
                      <m:t>𝑎</m:t>
                    </m:r>
                    <m:r>
                      <a:rPr lang="pt-BR" sz="1400" b="0" i="1" smtClean="0">
                        <a:latin typeface="Cambria Math" panose="02040503050406030204" pitchFamily="18" charset="0"/>
                      </a:rPr>
                      <m:t>+</m:t>
                    </m:r>
                    <m:r>
                      <a:rPr lang="pt-BR" sz="1400" b="0" i="1" smtClean="0">
                        <a:latin typeface="Cambria Math" panose="02040503050406030204" pitchFamily="18" charset="0"/>
                      </a:rPr>
                      <m:t>𝑏𝑥</m:t>
                    </m:r>
                  </m:oMath>
                </a14:m>
                <a:endParaRPr lang="pt-BR" sz="1400" dirty="0"/>
              </a:p>
            </p:txBody>
          </p:sp>
        </mc:Choice>
        <mc:Fallback xmlns="">
          <p:sp>
            <p:nvSpPr>
              <p:cNvPr id="10" name="TextBox 9"/>
              <p:cNvSpPr txBox="1">
                <a:spLocks noRot="1" noChangeAspect="1" noMove="1" noResize="1" noEditPoints="1" noAdjustHandles="1" noChangeArrowheads="1" noChangeShapeType="1" noTextEdit="1"/>
              </p:cNvSpPr>
              <p:nvPr/>
            </p:nvSpPr>
            <p:spPr>
              <a:xfrm>
                <a:off x="2990473" y="2513739"/>
                <a:ext cx="1688987" cy="800219"/>
              </a:xfrm>
              <a:prstGeom prst="rect">
                <a:avLst/>
              </a:prstGeom>
              <a:blipFill>
                <a:blip r:embed="rId4"/>
                <a:stretch>
                  <a:fillRect t="-3788" b="-1515"/>
                </a:stretch>
              </a:blipFill>
            </p:spPr>
            <p:txBody>
              <a:bodyPr/>
              <a:lstStyle/>
              <a:p>
                <a:r>
                  <a:rPr lang="pt-BR">
                    <a:noFill/>
                  </a:rPr>
                  <a:t> </a:t>
                </a:r>
              </a:p>
            </p:txBody>
          </p:sp>
        </mc:Fallback>
      </mc:AlternateContent>
      <p:cxnSp>
        <p:nvCxnSpPr>
          <p:cNvPr id="11" name="Straight Arrow Connector 10"/>
          <p:cNvCxnSpPr/>
          <p:nvPr/>
        </p:nvCxnSpPr>
        <p:spPr>
          <a:xfrm>
            <a:off x="7261690" y="3261678"/>
            <a:ext cx="82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p:cNvSpPr txBox="1"/>
              <p:nvPr/>
            </p:nvSpPr>
            <p:spPr>
              <a:xfrm>
                <a:off x="8004130" y="2947352"/>
                <a:ext cx="2336006" cy="584775"/>
              </a:xfrm>
              <a:prstGeom prst="rect">
                <a:avLst/>
              </a:prstGeom>
              <a:noFill/>
            </p:spPr>
            <p:txBody>
              <a:bodyPr wrap="square" rtlCol="0">
                <a:spAutoFit/>
              </a:bodyPr>
              <a:lstStyle/>
              <a:p>
                <a:pPr algn="ctr"/>
                <a:r>
                  <a:rPr lang="pt-BR" dirty="0"/>
                  <a:t>Resultados/Respostas</a:t>
                </a:r>
              </a:p>
              <a:p>
                <a:pPr algn="ctr"/>
                <a:r>
                  <a:rPr lang="pt-BR" sz="1400" dirty="0"/>
                  <a:t>e.g., </a:t>
                </a:r>
                <a14:m>
                  <m:oMath xmlns:m="http://schemas.openxmlformats.org/officeDocument/2006/math">
                    <m:r>
                      <a:rPr lang="pt-BR" sz="1400" i="1">
                        <a:latin typeface="Cambria Math" panose="02040503050406030204" pitchFamily="18" charset="0"/>
                      </a:rPr>
                      <m:t>𝑦</m:t>
                    </m:r>
                    <m:r>
                      <a:rPr lang="pt-BR" sz="1400" i="1">
                        <a:latin typeface="Cambria Math" panose="02040503050406030204" pitchFamily="18" charset="0"/>
                      </a:rPr>
                      <m:t>=</m:t>
                    </m:r>
                    <m:r>
                      <a:rPr lang="pt-BR" sz="1400" i="1">
                        <a:latin typeface="Cambria Math" panose="02040503050406030204" pitchFamily="18" charset="0"/>
                      </a:rPr>
                      <m:t>𝑓</m:t>
                    </m:r>
                    <m:d>
                      <m:dPr>
                        <m:ctrlPr>
                          <a:rPr lang="pt-BR" sz="1400" i="1">
                            <a:latin typeface="Cambria Math" panose="02040503050406030204" pitchFamily="18" charset="0"/>
                          </a:rPr>
                        </m:ctrlPr>
                      </m:dPr>
                      <m:e>
                        <m:r>
                          <a:rPr lang="pt-BR" sz="1400" i="1">
                            <a:latin typeface="Cambria Math" panose="02040503050406030204" pitchFamily="18" charset="0"/>
                          </a:rPr>
                          <m:t>𝑥</m:t>
                        </m:r>
                      </m:e>
                    </m:d>
                  </m:oMath>
                </a14:m>
                <a:endParaRPr lang="pt-BR" dirty="0"/>
              </a:p>
            </p:txBody>
          </p:sp>
        </mc:Choice>
        <mc:Fallback xmlns="">
          <p:sp>
            <p:nvSpPr>
              <p:cNvPr id="12" name="TextBox 11"/>
              <p:cNvSpPr txBox="1">
                <a:spLocks noRot="1" noChangeAspect="1" noMove="1" noResize="1" noEditPoints="1" noAdjustHandles="1" noChangeArrowheads="1" noChangeShapeType="1" noTextEdit="1"/>
              </p:cNvSpPr>
              <p:nvPr/>
            </p:nvSpPr>
            <p:spPr>
              <a:xfrm>
                <a:off x="8004130" y="2947352"/>
                <a:ext cx="2336006" cy="584775"/>
              </a:xfrm>
              <a:prstGeom prst="rect">
                <a:avLst/>
              </a:prstGeom>
              <a:blipFill>
                <a:blip r:embed="rId5"/>
                <a:stretch>
                  <a:fillRect t="-5208" b="-10417"/>
                </a:stretch>
              </a:blipFill>
            </p:spPr>
            <p:txBody>
              <a:bodyPr/>
              <a:lstStyle/>
              <a:p>
                <a:r>
                  <a:rPr lang="pt-BR">
                    <a:noFill/>
                  </a:rPr>
                  <a:t> </a:t>
                </a:r>
              </a:p>
            </p:txBody>
          </p:sp>
        </mc:Fallback>
      </mc:AlternateContent>
      <p:sp>
        <p:nvSpPr>
          <p:cNvPr id="26" name="CaixaDeTexto 25">
            <a:extLst>
              <a:ext uri="{FF2B5EF4-FFF2-40B4-BE49-F238E27FC236}">
                <a16:creationId xmlns:a16="http://schemas.microsoft.com/office/drawing/2014/main" id="{407A6463-2CA5-7635-841A-FB3F9BE2B432}"/>
              </a:ext>
            </a:extLst>
          </p:cNvPr>
          <p:cNvSpPr txBox="1"/>
          <p:nvPr/>
        </p:nvSpPr>
        <p:spPr>
          <a:xfrm>
            <a:off x="1433053" y="2413560"/>
            <a:ext cx="1202439" cy="1169551"/>
          </a:xfrm>
          <a:prstGeom prst="rect">
            <a:avLst/>
          </a:prstGeom>
          <a:noFill/>
        </p:spPr>
        <p:txBody>
          <a:bodyPr wrap="square">
            <a:spAutoFit/>
          </a:bodyPr>
          <a:lstStyle/>
          <a:p>
            <a:r>
              <a:rPr lang="pt-BR" sz="1400" b="1" dirty="0" err="1">
                <a:solidFill>
                  <a:srgbClr val="0000FF"/>
                </a:solidFill>
                <a:highlight>
                  <a:srgbClr val="FFFFFF"/>
                </a:highlight>
              </a:rPr>
              <a:t>def</a:t>
            </a:r>
            <a:r>
              <a:rPr lang="pt-BR" sz="1400" b="0" dirty="0">
                <a:solidFill>
                  <a:srgbClr val="000000"/>
                </a:solidFill>
                <a:highlight>
                  <a:srgbClr val="FFFFFF"/>
                </a:highlight>
              </a:rPr>
              <a:t> </a:t>
            </a:r>
            <a:r>
              <a:rPr lang="pt-BR" sz="1400" b="0" dirty="0">
                <a:solidFill>
                  <a:srgbClr val="FF00FF"/>
                </a:solidFill>
                <a:highlight>
                  <a:srgbClr val="FFFFFF"/>
                </a:highlight>
              </a:rPr>
              <a:t>f</a:t>
            </a:r>
            <a:r>
              <a:rPr lang="pt-BR" sz="1400" b="1" dirty="0">
                <a:solidFill>
                  <a:srgbClr val="000080"/>
                </a:solidFill>
                <a:highlight>
                  <a:srgbClr val="FFFFFF"/>
                </a:highlight>
              </a:rPr>
              <a:t>(</a:t>
            </a:r>
            <a:r>
              <a:rPr lang="pt-BR" sz="1400" b="0" dirty="0">
                <a:solidFill>
                  <a:srgbClr val="000000"/>
                </a:solidFill>
                <a:highlight>
                  <a:srgbClr val="FFFFFF"/>
                </a:highlight>
              </a:rPr>
              <a:t>x</a:t>
            </a:r>
            <a:r>
              <a:rPr lang="pt-BR" sz="1400" b="1" dirty="0">
                <a:solidFill>
                  <a:srgbClr val="000080"/>
                </a:solidFill>
                <a:highlight>
                  <a:srgbClr val="FFFFFF"/>
                </a:highlight>
              </a:rPr>
              <a:t>):</a:t>
            </a:r>
            <a:endParaRPr lang="pt-BR" sz="1400" b="0" dirty="0">
              <a:solidFill>
                <a:srgbClr val="000000"/>
              </a:solidFill>
              <a:highlight>
                <a:srgbClr val="FFFFFF"/>
              </a:highlight>
            </a:endParaRPr>
          </a:p>
          <a:p>
            <a:r>
              <a:rPr lang="pt-BR" sz="1400" b="0" dirty="0">
                <a:solidFill>
                  <a:srgbClr val="000000"/>
                </a:solidFill>
                <a:highlight>
                  <a:srgbClr val="FFFFFF"/>
                </a:highlight>
              </a:rPr>
              <a:t>    a </a:t>
            </a:r>
            <a:r>
              <a:rPr lang="pt-BR" sz="1400" b="1" dirty="0">
                <a:solidFill>
                  <a:srgbClr val="000080"/>
                </a:solidFill>
                <a:highlight>
                  <a:srgbClr val="FFFFFF"/>
                </a:highlight>
              </a:rPr>
              <a:t>=</a:t>
            </a:r>
            <a:r>
              <a:rPr lang="pt-BR" sz="1400" b="0" dirty="0">
                <a:solidFill>
                  <a:srgbClr val="000000"/>
                </a:solidFill>
                <a:highlight>
                  <a:srgbClr val="FFFFFF"/>
                </a:highlight>
              </a:rPr>
              <a:t> </a:t>
            </a:r>
            <a:r>
              <a:rPr lang="pt-BR" sz="1400" b="0" dirty="0">
                <a:solidFill>
                  <a:srgbClr val="FF0000"/>
                </a:solidFill>
                <a:highlight>
                  <a:srgbClr val="FFFFFF"/>
                </a:highlight>
              </a:rPr>
              <a:t>1.0</a:t>
            </a:r>
            <a:endParaRPr lang="pt-BR" sz="1400" b="0" dirty="0">
              <a:solidFill>
                <a:srgbClr val="000000"/>
              </a:solidFill>
              <a:highlight>
                <a:srgbClr val="FFFFFF"/>
              </a:highlight>
            </a:endParaRPr>
          </a:p>
          <a:p>
            <a:r>
              <a:rPr lang="pt-BR" sz="1400" b="0" dirty="0">
                <a:solidFill>
                  <a:srgbClr val="000000"/>
                </a:solidFill>
                <a:highlight>
                  <a:srgbClr val="FFFFFF"/>
                </a:highlight>
              </a:rPr>
              <a:t>    b </a:t>
            </a:r>
            <a:r>
              <a:rPr lang="pt-BR" sz="1400" b="1" dirty="0">
                <a:solidFill>
                  <a:srgbClr val="000080"/>
                </a:solidFill>
                <a:highlight>
                  <a:srgbClr val="FFFFFF"/>
                </a:highlight>
              </a:rPr>
              <a:t>=</a:t>
            </a:r>
            <a:r>
              <a:rPr lang="pt-BR" sz="1400" b="0" dirty="0">
                <a:solidFill>
                  <a:srgbClr val="000000"/>
                </a:solidFill>
                <a:highlight>
                  <a:srgbClr val="FFFFFF"/>
                </a:highlight>
              </a:rPr>
              <a:t> </a:t>
            </a:r>
            <a:r>
              <a:rPr lang="pt-BR" sz="1400" b="0" dirty="0">
                <a:solidFill>
                  <a:srgbClr val="FF0000"/>
                </a:solidFill>
                <a:highlight>
                  <a:srgbClr val="FFFFFF"/>
                </a:highlight>
              </a:rPr>
              <a:t>2.0</a:t>
            </a:r>
            <a:endParaRPr lang="pt-BR" sz="1400" b="0" dirty="0">
              <a:solidFill>
                <a:srgbClr val="000000"/>
              </a:solidFill>
              <a:highlight>
                <a:srgbClr val="FFFFFF"/>
              </a:highlight>
            </a:endParaRPr>
          </a:p>
          <a:p>
            <a:r>
              <a:rPr lang="pt-BR" sz="1400" b="0" dirty="0">
                <a:solidFill>
                  <a:srgbClr val="000000"/>
                </a:solidFill>
                <a:highlight>
                  <a:srgbClr val="FFFFFF"/>
                </a:highlight>
              </a:rPr>
              <a:t>    y </a:t>
            </a:r>
            <a:r>
              <a:rPr lang="pt-BR" sz="1400" b="1" dirty="0">
                <a:solidFill>
                  <a:srgbClr val="000080"/>
                </a:solidFill>
                <a:highlight>
                  <a:srgbClr val="FFFFFF"/>
                </a:highlight>
              </a:rPr>
              <a:t>=</a:t>
            </a:r>
            <a:r>
              <a:rPr lang="pt-BR" sz="1400" b="0" dirty="0">
                <a:solidFill>
                  <a:srgbClr val="000000"/>
                </a:solidFill>
                <a:highlight>
                  <a:srgbClr val="FFFFFF"/>
                </a:highlight>
              </a:rPr>
              <a:t> a </a:t>
            </a:r>
            <a:r>
              <a:rPr lang="pt-BR" sz="1400" b="1" dirty="0">
                <a:solidFill>
                  <a:srgbClr val="000080"/>
                </a:solidFill>
                <a:highlight>
                  <a:srgbClr val="FFFFFF"/>
                </a:highlight>
              </a:rPr>
              <a:t>+</a:t>
            </a:r>
            <a:r>
              <a:rPr lang="pt-BR" sz="1400" b="0" dirty="0">
                <a:solidFill>
                  <a:srgbClr val="000000"/>
                </a:solidFill>
                <a:highlight>
                  <a:srgbClr val="FFFFFF"/>
                </a:highlight>
              </a:rPr>
              <a:t> b </a:t>
            </a:r>
            <a:r>
              <a:rPr lang="pt-BR" sz="1400" b="1" dirty="0">
                <a:solidFill>
                  <a:srgbClr val="000080"/>
                </a:solidFill>
                <a:highlight>
                  <a:srgbClr val="FFFFFF"/>
                </a:highlight>
              </a:rPr>
              <a:t>*</a:t>
            </a:r>
            <a:r>
              <a:rPr lang="pt-BR" sz="1400" b="0" dirty="0">
                <a:solidFill>
                  <a:srgbClr val="000000"/>
                </a:solidFill>
                <a:highlight>
                  <a:srgbClr val="FFFFFF"/>
                </a:highlight>
              </a:rPr>
              <a:t> x</a:t>
            </a:r>
          </a:p>
          <a:p>
            <a:r>
              <a:rPr lang="pt-BR" sz="1400" b="0" dirty="0">
                <a:solidFill>
                  <a:srgbClr val="000000"/>
                </a:solidFill>
                <a:highlight>
                  <a:srgbClr val="FFFFFF"/>
                </a:highlight>
              </a:rPr>
              <a:t>    </a:t>
            </a:r>
            <a:r>
              <a:rPr lang="pt-BR" sz="1400" b="1" dirty="0" err="1">
                <a:solidFill>
                  <a:srgbClr val="0000FF"/>
                </a:solidFill>
                <a:highlight>
                  <a:srgbClr val="FFFFFF"/>
                </a:highlight>
              </a:rPr>
              <a:t>return</a:t>
            </a:r>
            <a:r>
              <a:rPr lang="pt-BR" sz="1400" b="0" dirty="0">
                <a:solidFill>
                  <a:srgbClr val="000000"/>
                </a:solidFill>
                <a:highlight>
                  <a:srgbClr val="FFFFFF"/>
                </a:highlight>
              </a:rPr>
              <a:t> y</a:t>
            </a:r>
            <a:endParaRPr lang="pt-BR" sz="1400" dirty="0"/>
          </a:p>
        </p:txBody>
      </p:sp>
      <p:sp>
        <p:nvSpPr>
          <p:cNvPr id="27" name="Chave Direita 26">
            <a:extLst>
              <a:ext uri="{FF2B5EF4-FFF2-40B4-BE49-F238E27FC236}">
                <a16:creationId xmlns:a16="http://schemas.microsoft.com/office/drawing/2014/main" id="{3DCDF716-B1C6-2712-D004-AB2B2B29EECE}"/>
              </a:ext>
            </a:extLst>
          </p:cNvPr>
          <p:cNvSpPr/>
          <p:nvPr/>
        </p:nvSpPr>
        <p:spPr>
          <a:xfrm>
            <a:off x="2635492" y="2413560"/>
            <a:ext cx="236893" cy="116955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Tree>
    <p:extLst>
      <p:ext uri="{BB962C8B-B14F-4D97-AF65-F5344CB8AC3E}">
        <p14:creationId xmlns:p14="http://schemas.microsoft.com/office/powerpoint/2010/main" val="24406777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859D24-083B-4F12-23CB-CA788AD2D8EC}"/>
              </a:ext>
            </a:extLst>
          </p:cNvPr>
          <p:cNvSpPr>
            <a:spLocks noGrp="1"/>
          </p:cNvSpPr>
          <p:nvPr>
            <p:ph type="title"/>
          </p:nvPr>
        </p:nvSpPr>
        <p:spPr/>
        <p:txBody>
          <a:bodyPr/>
          <a:lstStyle/>
          <a:p>
            <a:r>
              <a:rPr lang="pt-BR" dirty="0"/>
              <a:t>Programação tradicional</a:t>
            </a:r>
          </a:p>
        </p:txBody>
      </p:sp>
      <p:sp>
        <p:nvSpPr>
          <p:cNvPr id="3" name="Espaço Reservado para Conteúdo 2">
            <a:extLst>
              <a:ext uri="{FF2B5EF4-FFF2-40B4-BE49-F238E27FC236}">
                <a16:creationId xmlns:a16="http://schemas.microsoft.com/office/drawing/2014/main" id="{B712A549-DCD5-9C7D-3A1F-F4CB938CF177}"/>
              </a:ext>
            </a:extLst>
          </p:cNvPr>
          <p:cNvSpPr>
            <a:spLocks noGrp="1"/>
          </p:cNvSpPr>
          <p:nvPr>
            <p:ph idx="1"/>
          </p:nvPr>
        </p:nvSpPr>
        <p:spPr>
          <a:xfrm>
            <a:off x="6709026" y="1690688"/>
            <a:ext cx="5413718" cy="5167312"/>
          </a:xfrm>
        </p:spPr>
        <p:txBody>
          <a:bodyPr>
            <a:normAutofit/>
          </a:bodyPr>
          <a:lstStyle/>
          <a:p>
            <a:r>
              <a:rPr lang="pt-BR" dirty="0"/>
              <a:t>Vamos supor que queremos criar uma aplicação para celular/</a:t>
            </a:r>
            <a:r>
              <a:rPr lang="pt-BR" i="1" dirty="0" err="1"/>
              <a:t>smart</a:t>
            </a:r>
            <a:r>
              <a:rPr lang="pt-BR" i="1" dirty="0"/>
              <a:t> </a:t>
            </a:r>
            <a:r>
              <a:rPr lang="pt-BR" i="1" dirty="0" err="1"/>
              <a:t>watch</a:t>
            </a:r>
            <a:r>
              <a:rPr lang="pt-BR" dirty="0"/>
              <a:t> que </a:t>
            </a:r>
            <a:r>
              <a:rPr lang="pt-BR" b="1" i="1" dirty="0"/>
              <a:t>detecte atividades </a:t>
            </a:r>
            <a:r>
              <a:rPr lang="pt-BR" dirty="0"/>
              <a:t>como</a:t>
            </a:r>
            <a:r>
              <a:rPr lang="pt-BR" b="1" i="1" dirty="0"/>
              <a:t> </a:t>
            </a:r>
            <a:r>
              <a:rPr lang="pt-BR" b="1" i="1" dirty="0">
                <a:solidFill>
                  <a:srgbClr val="00B050"/>
                </a:solidFill>
              </a:rPr>
              <a:t>andar</a:t>
            </a:r>
            <a:r>
              <a:rPr lang="pt-BR" dirty="0"/>
              <a:t>,</a:t>
            </a:r>
            <a:r>
              <a:rPr lang="pt-BR" b="1" i="1" dirty="0"/>
              <a:t> </a:t>
            </a:r>
            <a:r>
              <a:rPr lang="pt-BR" b="1" i="1" dirty="0">
                <a:solidFill>
                  <a:srgbClr val="00B050"/>
                </a:solidFill>
              </a:rPr>
              <a:t>correr</a:t>
            </a:r>
            <a:r>
              <a:rPr lang="pt-BR" b="1" i="1" dirty="0"/>
              <a:t> </a:t>
            </a:r>
            <a:r>
              <a:rPr lang="pt-BR" dirty="0"/>
              <a:t>e</a:t>
            </a:r>
            <a:r>
              <a:rPr lang="pt-BR" b="1" i="1" dirty="0"/>
              <a:t> </a:t>
            </a:r>
            <a:r>
              <a:rPr lang="pt-BR" b="1" i="1" dirty="0">
                <a:solidFill>
                  <a:srgbClr val="00B050"/>
                </a:solidFill>
              </a:rPr>
              <a:t>pedalar</a:t>
            </a:r>
            <a:r>
              <a:rPr lang="pt-BR" dirty="0"/>
              <a:t>.</a:t>
            </a:r>
          </a:p>
          <a:p>
            <a:r>
              <a:rPr lang="pt-BR" dirty="0"/>
              <a:t>Nesse caso, o programador analisaria o problema e diria que podemos usar a </a:t>
            </a:r>
            <a:r>
              <a:rPr lang="pt-BR" b="1" i="1" dirty="0">
                <a:solidFill>
                  <a:srgbClr val="00B050"/>
                </a:solidFill>
              </a:rPr>
              <a:t>velocidade</a:t>
            </a:r>
            <a:r>
              <a:rPr lang="pt-BR" dirty="0"/>
              <a:t> e criar algumas </a:t>
            </a:r>
            <a:r>
              <a:rPr lang="pt-BR" b="1" i="1" dirty="0"/>
              <a:t>regras</a:t>
            </a:r>
            <a:r>
              <a:rPr lang="pt-BR" dirty="0"/>
              <a:t> para </a:t>
            </a:r>
            <a:r>
              <a:rPr lang="pt-BR" b="1" i="1" dirty="0"/>
              <a:t>diferenciar as atividades</a:t>
            </a:r>
            <a:r>
              <a:rPr lang="pt-BR" dirty="0"/>
              <a:t>.</a:t>
            </a:r>
          </a:p>
        </p:txBody>
      </p:sp>
      <p:grpSp>
        <p:nvGrpSpPr>
          <p:cNvPr id="10" name="Agrupar 9">
            <a:extLst>
              <a:ext uri="{FF2B5EF4-FFF2-40B4-BE49-F238E27FC236}">
                <a16:creationId xmlns:a16="http://schemas.microsoft.com/office/drawing/2014/main" id="{E6BE4743-3C61-AD20-5644-76B635B7F260}"/>
              </a:ext>
            </a:extLst>
          </p:cNvPr>
          <p:cNvGrpSpPr>
            <a:grpSpLocks noChangeAspect="1"/>
          </p:cNvGrpSpPr>
          <p:nvPr/>
        </p:nvGrpSpPr>
        <p:grpSpPr>
          <a:xfrm>
            <a:off x="202820" y="2169974"/>
            <a:ext cx="6258891" cy="3022512"/>
            <a:chOff x="0" y="1672582"/>
            <a:chExt cx="6749149" cy="3259256"/>
          </a:xfrm>
        </p:grpSpPr>
        <p:pic>
          <p:nvPicPr>
            <p:cNvPr id="5" name="Imagem 4">
              <a:extLst>
                <a:ext uri="{FF2B5EF4-FFF2-40B4-BE49-F238E27FC236}">
                  <a16:creationId xmlns:a16="http://schemas.microsoft.com/office/drawing/2014/main" id="{3DDF97E4-A0BE-B8B6-AC86-B7FD47E96CCE}"/>
                </a:ext>
              </a:extLst>
            </p:cNvPr>
            <p:cNvPicPr>
              <a:picLocks noChangeAspect="1"/>
            </p:cNvPicPr>
            <p:nvPr/>
          </p:nvPicPr>
          <p:blipFill rotWithShape="1">
            <a:blip r:embed="rId2"/>
            <a:srcRect r="81786"/>
            <a:stretch/>
          </p:blipFill>
          <p:spPr>
            <a:xfrm>
              <a:off x="0" y="1672582"/>
              <a:ext cx="2220686" cy="3241150"/>
            </a:xfrm>
            <a:prstGeom prst="rect">
              <a:avLst/>
            </a:prstGeom>
          </p:spPr>
        </p:pic>
        <p:pic>
          <p:nvPicPr>
            <p:cNvPr id="7" name="Imagem 6">
              <a:extLst>
                <a:ext uri="{FF2B5EF4-FFF2-40B4-BE49-F238E27FC236}">
                  <a16:creationId xmlns:a16="http://schemas.microsoft.com/office/drawing/2014/main" id="{3578A7AB-C96B-1A18-011E-428B8A543367}"/>
                </a:ext>
              </a:extLst>
            </p:cNvPr>
            <p:cNvPicPr>
              <a:picLocks noChangeAspect="1"/>
            </p:cNvPicPr>
            <p:nvPr/>
          </p:nvPicPr>
          <p:blipFill rotWithShape="1">
            <a:blip r:embed="rId2"/>
            <a:srcRect l="31697" r="52857"/>
            <a:stretch/>
          </p:blipFill>
          <p:spPr>
            <a:xfrm>
              <a:off x="2607132" y="1690688"/>
              <a:ext cx="1883228" cy="3241150"/>
            </a:xfrm>
            <a:prstGeom prst="rect">
              <a:avLst/>
            </a:prstGeom>
          </p:spPr>
        </p:pic>
        <p:pic>
          <p:nvPicPr>
            <p:cNvPr id="8" name="Imagem 7">
              <a:extLst>
                <a:ext uri="{FF2B5EF4-FFF2-40B4-BE49-F238E27FC236}">
                  <a16:creationId xmlns:a16="http://schemas.microsoft.com/office/drawing/2014/main" id="{D2F08DCC-A613-B284-5DDE-3A2147E22AF5}"/>
                </a:ext>
              </a:extLst>
            </p:cNvPr>
            <p:cNvPicPr>
              <a:picLocks noChangeAspect="1"/>
            </p:cNvPicPr>
            <p:nvPr/>
          </p:nvPicPr>
          <p:blipFill rotWithShape="1">
            <a:blip r:embed="rId2"/>
            <a:srcRect l="60714" r="23929"/>
            <a:stretch/>
          </p:blipFill>
          <p:spPr>
            <a:xfrm>
              <a:off x="4876806" y="1672582"/>
              <a:ext cx="1872343" cy="3241150"/>
            </a:xfrm>
            <a:prstGeom prst="rect">
              <a:avLst/>
            </a:prstGeom>
          </p:spPr>
        </p:pic>
      </p:grpSp>
      <p:sp>
        <p:nvSpPr>
          <p:cNvPr id="4" name="Seta: para Baixo 3">
            <a:extLst>
              <a:ext uri="{FF2B5EF4-FFF2-40B4-BE49-F238E27FC236}">
                <a16:creationId xmlns:a16="http://schemas.microsoft.com/office/drawing/2014/main" id="{B4DA719F-6F45-C612-A552-97B47CA60E54}"/>
              </a:ext>
            </a:extLst>
          </p:cNvPr>
          <p:cNvSpPr/>
          <p:nvPr/>
        </p:nvSpPr>
        <p:spPr>
          <a:xfrm rot="16200000">
            <a:off x="2136952" y="3371393"/>
            <a:ext cx="236305" cy="297950"/>
          </a:xfrm>
          <a:prstGeom prst="downArrow">
            <a:avLst/>
          </a:prstGeom>
          <a:solidFill>
            <a:srgbClr val="FF0000"/>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dirty="0"/>
          </a:p>
        </p:txBody>
      </p:sp>
      <p:sp>
        <p:nvSpPr>
          <p:cNvPr id="6" name="Seta: para Baixo 5">
            <a:extLst>
              <a:ext uri="{FF2B5EF4-FFF2-40B4-BE49-F238E27FC236}">
                <a16:creationId xmlns:a16="http://schemas.microsoft.com/office/drawing/2014/main" id="{982B6F84-8C0A-F6E4-D597-872BB3C6DF22}"/>
              </a:ext>
            </a:extLst>
          </p:cNvPr>
          <p:cNvSpPr/>
          <p:nvPr/>
        </p:nvSpPr>
        <p:spPr>
          <a:xfrm rot="16200000">
            <a:off x="4427962" y="3371393"/>
            <a:ext cx="236305" cy="297950"/>
          </a:xfrm>
          <a:prstGeom prst="downArrow">
            <a:avLst/>
          </a:prstGeom>
          <a:solidFill>
            <a:srgbClr val="FF0000"/>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1903972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859D24-083B-4F12-23CB-CA788AD2D8EC}"/>
              </a:ext>
            </a:extLst>
          </p:cNvPr>
          <p:cNvSpPr>
            <a:spLocks noGrp="1"/>
          </p:cNvSpPr>
          <p:nvPr>
            <p:ph type="title"/>
          </p:nvPr>
        </p:nvSpPr>
        <p:spPr/>
        <p:txBody>
          <a:bodyPr/>
          <a:lstStyle/>
          <a:p>
            <a:r>
              <a:rPr lang="pt-BR" dirty="0"/>
              <a:t>Programação tradicional</a:t>
            </a:r>
          </a:p>
        </p:txBody>
      </p:sp>
      <p:sp>
        <p:nvSpPr>
          <p:cNvPr id="3" name="Espaço Reservado para Conteúdo 2">
            <a:extLst>
              <a:ext uri="{FF2B5EF4-FFF2-40B4-BE49-F238E27FC236}">
                <a16:creationId xmlns:a16="http://schemas.microsoft.com/office/drawing/2014/main" id="{B712A549-DCD5-9C7D-3A1F-F4CB938CF177}"/>
              </a:ext>
            </a:extLst>
          </p:cNvPr>
          <p:cNvSpPr>
            <a:spLocks noGrp="1"/>
          </p:cNvSpPr>
          <p:nvPr>
            <p:ph idx="1"/>
          </p:nvPr>
        </p:nvSpPr>
        <p:spPr>
          <a:xfrm>
            <a:off x="7099442" y="1690688"/>
            <a:ext cx="5023301" cy="5167312"/>
          </a:xfrm>
        </p:spPr>
        <p:txBody>
          <a:bodyPr>
            <a:normAutofit/>
          </a:bodyPr>
          <a:lstStyle/>
          <a:p>
            <a:r>
              <a:rPr lang="pt-BR" dirty="0"/>
              <a:t>Mas e se quisermos estender a aplicação para identificar que o usuário está </a:t>
            </a:r>
            <a:r>
              <a:rPr lang="pt-BR" b="1" i="1" dirty="0">
                <a:solidFill>
                  <a:srgbClr val="00B050"/>
                </a:solidFill>
              </a:rPr>
              <a:t>jogando golfe</a:t>
            </a:r>
            <a:r>
              <a:rPr lang="pt-BR" dirty="0"/>
              <a:t>, como poderíamos identificar essa atividade?</a:t>
            </a:r>
          </a:p>
        </p:txBody>
      </p:sp>
      <p:grpSp>
        <p:nvGrpSpPr>
          <p:cNvPr id="10" name="Agrupar 9">
            <a:extLst>
              <a:ext uri="{FF2B5EF4-FFF2-40B4-BE49-F238E27FC236}">
                <a16:creationId xmlns:a16="http://schemas.microsoft.com/office/drawing/2014/main" id="{E6BE4743-3C61-AD20-5644-76B635B7F260}"/>
              </a:ext>
            </a:extLst>
          </p:cNvPr>
          <p:cNvGrpSpPr>
            <a:grpSpLocks noChangeAspect="1"/>
          </p:cNvGrpSpPr>
          <p:nvPr/>
        </p:nvGrpSpPr>
        <p:grpSpPr>
          <a:xfrm>
            <a:off x="98030" y="2420042"/>
            <a:ext cx="6912748" cy="2686214"/>
            <a:chOff x="0" y="1672582"/>
            <a:chExt cx="8387452" cy="3259256"/>
          </a:xfrm>
        </p:grpSpPr>
        <p:pic>
          <p:nvPicPr>
            <p:cNvPr id="5" name="Imagem 4">
              <a:extLst>
                <a:ext uri="{FF2B5EF4-FFF2-40B4-BE49-F238E27FC236}">
                  <a16:creationId xmlns:a16="http://schemas.microsoft.com/office/drawing/2014/main" id="{3DDF97E4-A0BE-B8B6-AC86-B7FD47E96CCE}"/>
                </a:ext>
              </a:extLst>
            </p:cNvPr>
            <p:cNvPicPr>
              <a:picLocks noChangeAspect="1"/>
            </p:cNvPicPr>
            <p:nvPr/>
          </p:nvPicPr>
          <p:blipFill rotWithShape="1">
            <a:blip r:embed="rId2"/>
            <a:srcRect r="81786"/>
            <a:stretch/>
          </p:blipFill>
          <p:spPr>
            <a:xfrm>
              <a:off x="0" y="1672582"/>
              <a:ext cx="2220686" cy="3241150"/>
            </a:xfrm>
            <a:prstGeom prst="rect">
              <a:avLst/>
            </a:prstGeom>
          </p:spPr>
        </p:pic>
        <p:pic>
          <p:nvPicPr>
            <p:cNvPr id="6" name="Imagem 5">
              <a:extLst>
                <a:ext uri="{FF2B5EF4-FFF2-40B4-BE49-F238E27FC236}">
                  <a16:creationId xmlns:a16="http://schemas.microsoft.com/office/drawing/2014/main" id="{7A6EC6EF-821D-9118-6748-01EAB046CC0F}"/>
                </a:ext>
              </a:extLst>
            </p:cNvPr>
            <p:cNvPicPr>
              <a:picLocks noChangeAspect="1"/>
            </p:cNvPicPr>
            <p:nvPr/>
          </p:nvPicPr>
          <p:blipFill rotWithShape="1">
            <a:blip r:embed="rId2"/>
            <a:srcRect l="89732"/>
            <a:stretch/>
          </p:blipFill>
          <p:spPr>
            <a:xfrm>
              <a:off x="7135595" y="1672582"/>
              <a:ext cx="1251857" cy="3241150"/>
            </a:xfrm>
            <a:prstGeom prst="rect">
              <a:avLst/>
            </a:prstGeom>
          </p:spPr>
        </p:pic>
        <p:pic>
          <p:nvPicPr>
            <p:cNvPr id="7" name="Imagem 6">
              <a:extLst>
                <a:ext uri="{FF2B5EF4-FFF2-40B4-BE49-F238E27FC236}">
                  <a16:creationId xmlns:a16="http://schemas.microsoft.com/office/drawing/2014/main" id="{3578A7AB-C96B-1A18-011E-428B8A543367}"/>
                </a:ext>
              </a:extLst>
            </p:cNvPr>
            <p:cNvPicPr>
              <a:picLocks noChangeAspect="1"/>
            </p:cNvPicPr>
            <p:nvPr/>
          </p:nvPicPr>
          <p:blipFill rotWithShape="1">
            <a:blip r:embed="rId2"/>
            <a:srcRect l="31697" r="52857"/>
            <a:stretch/>
          </p:blipFill>
          <p:spPr>
            <a:xfrm>
              <a:off x="2607132" y="1690688"/>
              <a:ext cx="1883228" cy="3241150"/>
            </a:xfrm>
            <a:prstGeom prst="rect">
              <a:avLst/>
            </a:prstGeom>
          </p:spPr>
        </p:pic>
        <p:pic>
          <p:nvPicPr>
            <p:cNvPr id="8" name="Imagem 7">
              <a:extLst>
                <a:ext uri="{FF2B5EF4-FFF2-40B4-BE49-F238E27FC236}">
                  <a16:creationId xmlns:a16="http://schemas.microsoft.com/office/drawing/2014/main" id="{D2F08DCC-A613-B284-5DDE-3A2147E22AF5}"/>
                </a:ext>
              </a:extLst>
            </p:cNvPr>
            <p:cNvPicPr>
              <a:picLocks noChangeAspect="1"/>
            </p:cNvPicPr>
            <p:nvPr/>
          </p:nvPicPr>
          <p:blipFill rotWithShape="1">
            <a:blip r:embed="rId2"/>
            <a:srcRect l="60714" r="23929"/>
            <a:stretch/>
          </p:blipFill>
          <p:spPr>
            <a:xfrm>
              <a:off x="4876806" y="1672582"/>
              <a:ext cx="1872343" cy="3241150"/>
            </a:xfrm>
            <a:prstGeom prst="rect">
              <a:avLst/>
            </a:prstGeom>
          </p:spPr>
        </p:pic>
      </p:grpSp>
    </p:spTree>
    <p:extLst>
      <p:ext uri="{BB962C8B-B14F-4D97-AF65-F5344CB8AC3E}">
        <p14:creationId xmlns:p14="http://schemas.microsoft.com/office/powerpoint/2010/main" val="2197337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859D24-083B-4F12-23CB-CA788AD2D8EC}"/>
              </a:ext>
            </a:extLst>
          </p:cNvPr>
          <p:cNvSpPr>
            <a:spLocks noGrp="1"/>
          </p:cNvSpPr>
          <p:nvPr>
            <p:ph type="title"/>
          </p:nvPr>
        </p:nvSpPr>
        <p:spPr/>
        <p:txBody>
          <a:bodyPr/>
          <a:lstStyle/>
          <a:p>
            <a:r>
              <a:rPr lang="pt-BR" dirty="0"/>
              <a:t>Programação tradicional</a:t>
            </a:r>
          </a:p>
        </p:txBody>
      </p:sp>
      <p:sp>
        <p:nvSpPr>
          <p:cNvPr id="3" name="Espaço Reservado para Conteúdo 2">
            <a:extLst>
              <a:ext uri="{FF2B5EF4-FFF2-40B4-BE49-F238E27FC236}">
                <a16:creationId xmlns:a16="http://schemas.microsoft.com/office/drawing/2014/main" id="{B712A549-DCD5-9C7D-3A1F-F4CB938CF177}"/>
              </a:ext>
            </a:extLst>
          </p:cNvPr>
          <p:cNvSpPr>
            <a:spLocks noGrp="1"/>
          </p:cNvSpPr>
          <p:nvPr>
            <p:ph idx="1"/>
          </p:nvPr>
        </p:nvSpPr>
        <p:spPr>
          <a:xfrm>
            <a:off x="7222733" y="1690688"/>
            <a:ext cx="4900010" cy="5167312"/>
          </a:xfrm>
        </p:spPr>
        <p:txBody>
          <a:bodyPr>
            <a:normAutofit/>
          </a:bodyPr>
          <a:lstStyle/>
          <a:p>
            <a:r>
              <a:rPr lang="pt-BR" dirty="0"/>
              <a:t>Além disso, vejam que as </a:t>
            </a:r>
            <a:r>
              <a:rPr lang="pt-BR" b="1" i="1" dirty="0">
                <a:solidFill>
                  <a:srgbClr val="00B050"/>
                </a:solidFill>
              </a:rPr>
              <a:t>regras</a:t>
            </a:r>
            <a:r>
              <a:rPr lang="pt-BR" dirty="0"/>
              <a:t> que criamos são bem </a:t>
            </a:r>
            <a:r>
              <a:rPr lang="pt-BR" b="1" i="1" dirty="0">
                <a:solidFill>
                  <a:srgbClr val="00B050"/>
                </a:solidFill>
              </a:rPr>
              <a:t>simples e com certeza gerariam vários erros de identificação</a:t>
            </a:r>
            <a:r>
              <a:rPr lang="pt-BR" dirty="0"/>
              <a:t>.</a:t>
            </a:r>
          </a:p>
          <a:p>
            <a:pPr lvl="1">
              <a:buFont typeface="Wingdings" panose="05000000000000000000" pitchFamily="2" charset="2"/>
              <a:buChar char="§"/>
            </a:pPr>
            <a:r>
              <a:rPr lang="pt-BR" dirty="0"/>
              <a:t>Por exemplo, podemos correr ladeira abaixo mais rápido do que pedalamos ladeira acima.</a:t>
            </a:r>
          </a:p>
          <a:p>
            <a:r>
              <a:rPr lang="pt-BR" b="1" i="1" dirty="0">
                <a:solidFill>
                  <a:schemeClr val="accent1"/>
                </a:solidFill>
              </a:rPr>
              <a:t>Aprendizado de máquina</a:t>
            </a:r>
            <a:r>
              <a:rPr lang="pt-BR" dirty="0"/>
              <a:t> pode nos ajudar a resolver este problema.</a:t>
            </a:r>
          </a:p>
        </p:txBody>
      </p:sp>
      <p:grpSp>
        <p:nvGrpSpPr>
          <p:cNvPr id="10" name="Agrupar 9">
            <a:extLst>
              <a:ext uri="{FF2B5EF4-FFF2-40B4-BE49-F238E27FC236}">
                <a16:creationId xmlns:a16="http://schemas.microsoft.com/office/drawing/2014/main" id="{E6BE4743-3C61-AD20-5644-76B635B7F260}"/>
              </a:ext>
            </a:extLst>
          </p:cNvPr>
          <p:cNvGrpSpPr>
            <a:grpSpLocks noChangeAspect="1"/>
          </p:cNvGrpSpPr>
          <p:nvPr/>
        </p:nvGrpSpPr>
        <p:grpSpPr>
          <a:xfrm>
            <a:off x="149400" y="2420042"/>
            <a:ext cx="6833430" cy="2655392"/>
            <a:chOff x="0" y="1672582"/>
            <a:chExt cx="8387452" cy="3259256"/>
          </a:xfrm>
        </p:grpSpPr>
        <p:pic>
          <p:nvPicPr>
            <p:cNvPr id="5" name="Imagem 4">
              <a:extLst>
                <a:ext uri="{FF2B5EF4-FFF2-40B4-BE49-F238E27FC236}">
                  <a16:creationId xmlns:a16="http://schemas.microsoft.com/office/drawing/2014/main" id="{3DDF97E4-A0BE-B8B6-AC86-B7FD47E96CCE}"/>
                </a:ext>
              </a:extLst>
            </p:cNvPr>
            <p:cNvPicPr>
              <a:picLocks noChangeAspect="1"/>
            </p:cNvPicPr>
            <p:nvPr/>
          </p:nvPicPr>
          <p:blipFill rotWithShape="1">
            <a:blip r:embed="rId2"/>
            <a:srcRect r="81786"/>
            <a:stretch/>
          </p:blipFill>
          <p:spPr>
            <a:xfrm>
              <a:off x="0" y="1672582"/>
              <a:ext cx="2220686" cy="3241150"/>
            </a:xfrm>
            <a:prstGeom prst="rect">
              <a:avLst/>
            </a:prstGeom>
          </p:spPr>
        </p:pic>
        <p:pic>
          <p:nvPicPr>
            <p:cNvPr id="6" name="Imagem 5">
              <a:extLst>
                <a:ext uri="{FF2B5EF4-FFF2-40B4-BE49-F238E27FC236}">
                  <a16:creationId xmlns:a16="http://schemas.microsoft.com/office/drawing/2014/main" id="{7A6EC6EF-821D-9118-6748-01EAB046CC0F}"/>
                </a:ext>
              </a:extLst>
            </p:cNvPr>
            <p:cNvPicPr>
              <a:picLocks noChangeAspect="1"/>
            </p:cNvPicPr>
            <p:nvPr/>
          </p:nvPicPr>
          <p:blipFill rotWithShape="1">
            <a:blip r:embed="rId2"/>
            <a:srcRect l="89732"/>
            <a:stretch/>
          </p:blipFill>
          <p:spPr>
            <a:xfrm>
              <a:off x="7135595" y="1672582"/>
              <a:ext cx="1251857" cy="3241150"/>
            </a:xfrm>
            <a:prstGeom prst="rect">
              <a:avLst/>
            </a:prstGeom>
          </p:spPr>
        </p:pic>
        <p:pic>
          <p:nvPicPr>
            <p:cNvPr id="7" name="Imagem 6">
              <a:extLst>
                <a:ext uri="{FF2B5EF4-FFF2-40B4-BE49-F238E27FC236}">
                  <a16:creationId xmlns:a16="http://schemas.microsoft.com/office/drawing/2014/main" id="{3578A7AB-C96B-1A18-011E-428B8A543367}"/>
                </a:ext>
              </a:extLst>
            </p:cNvPr>
            <p:cNvPicPr>
              <a:picLocks noChangeAspect="1"/>
            </p:cNvPicPr>
            <p:nvPr/>
          </p:nvPicPr>
          <p:blipFill rotWithShape="1">
            <a:blip r:embed="rId2"/>
            <a:srcRect l="31697" r="52857"/>
            <a:stretch/>
          </p:blipFill>
          <p:spPr>
            <a:xfrm>
              <a:off x="2607132" y="1690688"/>
              <a:ext cx="1883228" cy="3241150"/>
            </a:xfrm>
            <a:prstGeom prst="rect">
              <a:avLst/>
            </a:prstGeom>
          </p:spPr>
        </p:pic>
        <p:pic>
          <p:nvPicPr>
            <p:cNvPr id="8" name="Imagem 7">
              <a:extLst>
                <a:ext uri="{FF2B5EF4-FFF2-40B4-BE49-F238E27FC236}">
                  <a16:creationId xmlns:a16="http://schemas.microsoft.com/office/drawing/2014/main" id="{D2F08DCC-A613-B284-5DDE-3A2147E22AF5}"/>
                </a:ext>
              </a:extLst>
            </p:cNvPr>
            <p:cNvPicPr>
              <a:picLocks noChangeAspect="1"/>
            </p:cNvPicPr>
            <p:nvPr/>
          </p:nvPicPr>
          <p:blipFill rotWithShape="1">
            <a:blip r:embed="rId2"/>
            <a:srcRect l="60714" r="23929"/>
            <a:stretch/>
          </p:blipFill>
          <p:spPr>
            <a:xfrm>
              <a:off x="4876806" y="1672582"/>
              <a:ext cx="1872343" cy="3241150"/>
            </a:xfrm>
            <a:prstGeom prst="rect">
              <a:avLst/>
            </a:prstGeom>
          </p:spPr>
        </p:pic>
      </p:grpSp>
    </p:spTree>
    <p:extLst>
      <p:ext uri="{BB962C8B-B14F-4D97-AF65-F5344CB8AC3E}">
        <p14:creationId xmlns:p14="http://schemas.microsoft.com/office/powerpoint/2010/main" val="1959485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2">
            <a:extLst>
              <a:ext uri="{FF2B5EF4-FFF2-40B4-BE49-F238E27FC236}">
                <a16:creationId xmlns:a16="http://schemas.microsoft.com/office/drawing/2014/main" id="{20B49BBC-21C6-6EB6-B7DD-2A4E71AD1EE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16" r="1714"/>
          <a:stretch/>
        </p:blipFill>
        <p:spPr bwMode="auto">
          <a:xfrm>
            <a:off x="661991" y="4187485"/>
            <a:ext cx="2979222" cy="209562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pt-BR" dirty="0"/>
              <a:t>O paradigma do aprendizado de máquina</a:t>
            </a:r>
          </a:p>
        </p:txBody>
      </p:sp>
      <p:sp>
        <p:nvSpPr>
          <p:cNvPr id="3" name="Content Placeholder 2"/>
          <p:cNvSpPr>
            <a:spLocks noGrp="1"/>
          </p:cNvSpPr>
          <p:nvPr>
            <p:ph idx="1"/>
          </p:nvPr>
        </p:nvSpPr>
        <p:spPr>
          <a:xfrm>
            <a:off x="838200" y="1825625"/>
            <a:ext cx="11206316" cy="2692338"/>
          </a:xfrm>
        </p:spPr>
        <p:txBody>
          <a:bodyPr>
            <a:normAutofit/>
          </a:bodyPr>
          <a:lstStyle/>
          <a:p>
            <a:r>
              <a:rPr lang="pt-BR" dirty="0"/>
              <a:t>“</a:t>
            </a:r>
            <a:r>
              <a:rPr lang="pt-BR" dirty="0">
                <a:solidFill>
                  <a:srgbClr val="00B0F0"/>
                </a:solidFill>
              </a:rPr>
              <a:t>... </a:t>
            </a:r>
            <a:r>
              <a:rPr lang="pt-BR" b="1" i="1" dirty="0">
                <a:solidFill>
                  <a:srgbClr val="00B0F0"/>
                </a:solidFill>
              </a:rPr>
              <a:t>aprender sem serem explicitamente programados</a:t>
            </a:r>
            <a:r>
              <a:rPr lang="pt-BR" dirty="0">
                <a:solidFill>
                  <a:srgbClr val="00B0F0"/>
                </a:solidFill>
              </a:rPr>
              <a:t>.</a:t>
            </a:r>
            <a:r>
              <a:rPr lang="pt-BR" dirty="0"/>
              <a:t>”</a:t>
            </a:r>
          </a:p>
          <a:p>
            <a:r>
              <a:rPr lang="pt-BR" dirty="0"/>
              <a:t>Esse trecho pode ser entendido se reorganizarmos a figura anterior.</a:t>
            </a:r>
          </a:p>
          <a:p>
            <a:pPr lvl="1">
              <a:buFont typeface="Wingdings" panose="05000000000000000000" pitchFamily="2" charset="2"/>
              <a:buChar char="§"/>
            </a:pPr>
            <a:r>
              <a:rPr lang="pt-BR" dirty="0"/>
              <a:t>E se ao invés de tentarmos </a:t>
            </a:r>
            <a:r>
              <a:rPr lang="pt-BR" b="1" i="1" dirty="0">
                <a:solidFill>
                  <a:srgbClr val="00B050"/>
                </a:solidFill>
              </a:rPr>
              <a:t>nós mesmos definir as regras</a:t>
            </a:r>
            <a:r>
              <a:rPr lang="pt-BR" b="1" i="1" dirty="0"/>
              <a:t> que agem sobre os dados para gerar as respostas</a:t>
            </a:r>
            <a:r>
              <a:rPr lang="pt-BR" dirty="0"/>
              <a:t>, fizermos o </a:t>
            </a:r>
            <a:r>
              <a:rPr lang="pt-BR" b="1" i="1" dirty="0">
                <a:solidFill>
                  <a:srgbClr val="7030A0"/>
                </a:solidFill>
              </a:rPr>
              <a:t>contrário</a:t>
            </a:r>
            <a:r>
              <a:rPr lang="pt-BR" dirty="0"/>
              <a:t>?</a:t>
            </a:r>
          </a:p>
          <a:p>
            <a:pPr lvl="1"/>
            <a:endParaRPr lang="pt-BR" dirty="0"/>
          </a:p>
          <a:p>
            <a:endParaRPr lang="pt-BR" dirty="0"/>
          </a:p>
        </p:txBody>
      </p:sp>
      <p:sp>
        <p:nvSpPr>
          <p:cNvPr id="13" name="Rectangle 12"/>
          <p:cNvSpPr/>
          <p:nvPr/>
        </p:nvSpPr>
        <p:spPr>
          <a:xfrm>
            <a:off x="5677301" y="4722821"/>
            <a:ext cx="1910443" cy="8490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Computador</a:t>
            </a:r>
          </a:p>
        </p:txBody>
      </p:sp>
      <p:sp>
        <p:nvSpPr>
          <p:cNvPr id="14" name="TextBox 13"/>
          <p:cNvSpPr txBox="1"/>
          <p:nvPr/>
        </p:nvSpPr>
        <p:spPr>
          <a:xfrm>
            <a:off x="4849302" y="4191235"/>
            <a:ext cx="3524518" cy="461665"/>
          </a:xfrm>
          <a:prstGeom prst="rect">
            <a:avLst/>
          </a:prstGeom>
          <a:noFill/>
        </p:spPr>
        <p:txBody>
          <a:bodyPr wrap="square" rtlCol="0">
            <a:spAutoFit/>
          </a:bodyPr>
          <a:lstStyle/>
          <a:p>
            <a:pPr algn="ctr"/>
            <a:r>
              <a:rPr lang="pt-BR" sz="2400" b="1" dirty="0"/>
              <a:t>Aprendizado de Máquina</a:t>
            </a:r>
          </a:p>
        </p:txBody>
      </p:sp>
      <p:cxnSp>
        <p:nvCxnSpPr>
          <p:cNvPr id="15" name="Straight Arrow Connector 14"/>
          <p:cNvCxnSpPr>
            <a:cxnSpLocks/>
          </p:cNvCxnSpPr>
          <p:nvPr/>
        </p:nvCxnSpPr>
        <p:spPr>
          <a:xfrm>
            <a:off x="4849301" y="4902436"/>
            <a:ext cx="82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cxnSpLocks/>
          </p:cNvCxnSpPr>
          <p:nvPr/>
        </p:nvCxnSpPr>
        <p:spPr>
          <a:xfrm>
            <a:off x="4849301" y="5397736"/>
            <a:ext cx="82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p:cNvSpPr txBox="1"/>
              <p:nvPr/>
            </p:nvSpPr>
            <p:spPr>
              <a:xfrm>
                <a:off x="3809715" y="4603546"/>
                <a:ext cx="1039586" cy="584775"/>
              </a:xfrm>
              <a:prstGeom prst="rect">
                <a:avLst/>
              </a:prstGeom>
              <a:noFill/>
            </p:spPr>
            <p:txBody>
              <a:bodyPr wrap="square" rtlCol="0">
                <a:spAutoFit/>
              </a:bodyPr>
              <a:lstStyle/>
              <a:p>
                <a:pPr algn="ctr"/>
                <a:r>
                  <a:rPr lang="pt-BR" dirty="0"/>
                  <a:t>Entradas</a:t>
                </a:r>
              </a:p>
              <a:p>
                <a:pPr algn="ctr"/>
                <a:r>
                  <a:rPr lang="pt-BR" sz="1400" dirty="0"/>
                  <a:t>e.g., </a:t>
                </a:r>
                <a14:m>
                  <m:oMath xmlns:m="http://schemas.openxmlformats.org/officeDocument/2006/math">
                    <m:r>
                      <a:rPr lang="pt-BR" sz="1400" i="1">
                        <a:latin typeface="Cambria Math" panose="02040503050406030204" pitchFamily="18" charset="0"/>
                      </a:rPr>
                      <m:t>𝑥</m:t>
                    </m:r>
                  </m:oMath>
                </a14:m>
                <a:endParaRPr lang="pt-BR" sz="1400" dirty="0"/>
              </a:p>
            </p:txBody>
          </p:sp>
        </mc:Choice>
        <mc:Fallback xmlns="">
          <p:sp>
            <p:nvSpPr>
              <p:cNvPr id="17" name="TextBox 16"/>
              <p:cNvSpPr txBox="1">
                <a:spLocks noRot="1" noChangeAspect="1" noMove="1" noResize="1" noEditPoints="1" noAdjustHandles="1" noChangeArrowheads="1" noChangeShapeType="1" noTextEdit="1"/>
              </p:cNvSpPr>
              <p:nvPr/>
            </p:nvSpPr>
            <p:spPr>
              <a:xfrm>
                <a:off x="3809715" y="4603546"/>
                <a:ext cx="1039586" cy="584775"/>
              </a:xfrm>
              <a:prstGeom prst="rect">
                <a:avLst/>
              </a:prstGeom>
              <a:blipFill>
                <a:blip r:embed="rId4"/>
                <a:stretch>
                  <a:fillRect l="-3529" t="-5208" r="-3529" b="-104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3539010" y="5104456"/>
                <a:ext cx="1512176" cy="861774"/>
              </a:xfrm>
              <a:prstGeom prst="rect">
                <a:avLst/>
              </a:prstGeom>
              <a:noFill/>
            </p:spPr>
            <p:txBody>
              <a:bodyPr wrap="square" rtlCol="0">
                <a:spAutoFit/>
              </a:bodyPr>
              <a:lstStyle/>
              <a:p>
                <a:pPr algn="ctr"/>
                <a:r>
                  <a:rPr lang="pt-BR" dirty="0"/>
                  <a:t>Resultados esperados</a:t>
                </a:r>
              </a:p>
              <a:p>
                <a:pPr algn="ctr"/>
                <a:r>
                  <a:rPr lang="pt-BR" sz="1400" dirty="0"/>
                  <a:t>e.g., </a:t>
                </a:r>
                <a14:m>
                  <m:oMath xmlns:m="http://schemas.openxmlformats.org/officeDocument/2006/math">
                    <m:r>
                      <a:rPr lang="pt-BR" sz="1400" i="1">
                        <a:latin typeface="Cambria Math" panose="02040503050406030204" pitchFamily="18" charset="0"/>
                      </a:rPr>
                      <m:t>𝑦</m:t>
                    </m:r>
                    <m:r>
                      <a:rPr lang="pt-BR" sz="1400" i="1">
                        <a:latin typeface="Cambria Math" panose="02040503050406030204" pitchFamily="18" charset="0"/>
                      </a:rPr>
                      <m:t>=</m:t>
                    </m:r>
                    <m:r>
                      <a:rPr lang="pt-BR" sz="1400" i="1">
                        <a:latin typeface="Cambria Math" panose="02040503050406030204" pitchFamily="18" charset="0"/>
                      </a:rPr>
                      <m:t>𝑓</m:t>
                    </m:r>
                    <m:d>
                      <m:dPr>
                        <m:ctrlPr>
                          <a:rPr lang="pt-BR" sz="1400" i="1">
                            <a:latin typeface="Cambria Math" panose="02040503050406030204" pitchFamily="18" charset="0"/>
                          </a:rPr>
                        </m:ctrlPr>
                      </m:dPr>
                      <m:e>
                        <m:r>
                          <a:rPr lang="pt-BR" sz="1400" i="1">
                            <a:latin typeface="Cambria Math" panose="02040503050406030204" pitchFamily="18" charset="0"/>
                          </a:rPr>
                          <m:t>𝑥</m:t>
                        </m:r>
                      </m:e>
                    </m:d>
                  </m:oMath>
                </a14:m>
                <a:endParaRPr lang="pt-BR" dirty="0"/>
              </a:p>
            </p:txBody>
          </p:sp>
        </mc:Choice>
        <mc:Fallback xmlns="">
          <p:sp>
            <p:nvSpPr>
              <p:cNvPr id="18" name="TextBox 17"/>
              <p:cNvSpPr txBox="1">
                <a:spLocks noRot="1" noChangeAspect="1" noMove="1" noResize="1" noEditPoints="1" noAdjustHandles="1" noChangeArrowheads="1" noChangeShapeType="1" noTextEdit="1"/>
              </p:cNvSpPr>
              <p:nvPr/>
            </p:nvSpPr>
            <p:spPr>
              <a:xfrm>
                <a:off x="3539010" y="5104456"/>
                <a:ext cx="1512176" cy="861774"/>
              </a:xfrm>
              <a:prstGeom prst="rect">
                <a:avLst/>
              </a:prstGeom>
              <a:blipFill>
                <a:blip r:embed="rId5"/>
                <a:stretch>
                  <a:fillRect t="-3521" b="-6338"/>
                </a:stretch>
              </a:blipFill>
            </p:spPr>
            <p:txBody>
              <a:bodyPr/>
              <a:lstStyle/>
              <a:p>
                <a:r>
                  <a:rPr lang="en-US">
                    <a:noFill/>
                  </a:rPr>
                  <a:t> </a:t>
                </a:r>
              </a:p>
            </p:txBody>
          </p:sp>
        </mc:Fallback>
      </mc:AlternateContent>
      <p:cxnSp>
        <p:nvCxnSpPr>
          <p:cNvPr id="19" name="Straight Arrow Connector 18"/>
          <p:cNvCxnSpPr>
            <a:cxnSpLocks/>
          </p:cNvCxnSpPr>
          <p:nvPr/>
        </p:nvCxnSpPr>
        <p:spPr>
          <a:xfrm>
            <a:off x="7587744" y="5147364"/>
            <a:ext cx="82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p:cNvSpPr txBox="1"/>
              <p:nvPr/>
            </p:nvSpPr>
            <p:spPr>
              <a:xfrm>
                <a:off x="8403343" y="4699619"/>
                <a:ext cx="2712410" cy="861774"/>
              </a:xfrm>
              <a:prstGeom prst="rect">
                <a:avLst/>
              </a:prstGeom>
              <a:noFill/>
            </p:spPr>
            <p:txBody>
              <a:bodyPr wrap="square" rtlCol="0">
                <a:spAutoFit/>
              </a:bodyPr>
              <a:lstStyle/>
              <a:p>
                <a:pPr algn="ctr"/>
                <a:r>
                  <a:rPr lang="pt-BR" dirty="0"/>
                  <a:t>Programa = </a:t>
                </a:r>
                <a:r>
                  <a:rPr lang="pt-BR" b="1" dirty="0">
                    <a:solidFill>
                      <a:srgbClr val="FF0000"/>
                    </a:solidFill>
                  </a:rPr>
                  <a:t>Modelo de Aprendizado de Máquina</a:t>
                </a:r>
              </a:p>
              <a:p>
                <a:pPr algn="ctr"/>
                <a:r>
                  <a:rPr lang="pt-BR" sz="1400" dirty="0" err="1"/>
                  <a:t>e.</a:t>
                </a:r>
                <a:r>
                  <a:rPr lang="pt-BR" sz="1400" dirty="0"/>
                  <a:t>g., </a:t>
                </a:r>
                <a14:m>
                  <m:oMath xmlns:m="http://schemas.openxmlformats.org/officeDocument/2006/math">
                    <m:r>
                      <a:rPr lang="pt-BR" sz="1400" i="1">
                        <a:latin typeface="Cambria Math" panose="02040503050406030204" pitchFamily="18" charset="0"/>
                      </a:rPr>
                      <m:t>𝑦</m:t>
                    </m:r>
                    <m:r>
                      <a:rPr lang="pt-BR" sz="1400" i="1">
                        <a:latin typeface="Cambria Math" panose="02040503050406030204" pitchFamily="18" charset="0"/>
                      </a:rPr>
                      <m:t>=</m:t>
                    </m:r>
                    <m:r>
                      <a:rPr lang="pt-BR" sz="1400" i="1">
                        <a:latin typeface="Cambria Math" panose="02040503050406030204" pitchFamily="18" charset="0"/>
                      </a:rPr>
                      <m:t>𝑓</m:t>
                    </m:r>
                    <m:d>
                      <m:dPr>
                        <m:ctrlPr>
                          <a:rPr lang="pt-BR" sz="1400" i="1">
                            <a:latin typeface="Cambria Math" panose="02040503050406030204" pitchFamily="18" charset="0"/>
                          </a:rPr>
                        </m:ctrlPr>
                      </m:dPr>
                      <m:e>
                        <m:r>
                          <a:rPr lang="pt-BR" sz="1400" i="1">
                            <a:latin typeface="Cambria Math" panose="02040503050406030204" pitchFamily="18" charset="0"/>
                          </a:rPr>
                          <m:t>𝑥</m:t>
                        </m:r>
                      </m:e>
                    </m:d>
                    <m:r>
                      <a:rPr lang="pt-BR" sz="1400" i="1">
                        <a:latin typeface="Cambria Math" panose="02040503050406030204" pitchFamily="18" charset="0"/>
                      </a:rPr>
                      <m:t>=</m:t>
                    </m:r>
                    <m:r>
                      <a:rPr lang="pt-BR" sz="1400" i="1">
                        <a:latin typeface="Cambria Math" panose="02040503050406030204" pitchFamily="18" charset="0"/>
                      </a:rPr>
                      <m:t>𝑎</m:t>
                    </m:r>
                    <m:r>
                      <a:rPr lang="pt-BR" sz="1400" i="1">
                        <a:latin typeface="Cambria Math" panose="02040503050406030204" pitchFamily="18" charset="0"/>
                      </a:rPr>
                      <m:t>+</m:t>
                    </m:r>
                    <m:r>
                      <a:rPr lang="pt-BR" sz="1400" i="1">
                        <a:latin typeface="Cambria Math" panose="02040503050406030204" pitchFamily="18" charset="0"/>
                      </a:rPr>
                      <m:t>𝑏𝑥</m:t>
                    </m:r>
                  </m:oMath>
                </a14:m>
                <a:endParaRPr lang="pt-BR" sz="1400" dirty="0"/>
              </a:p>
            </p:txBody>
          </p:sp>
        </mc:Choice>
        <mc:Fallback xmlns="">
          <p:sp>
            <p:nvSpPr>
              <p:cNvPr id="20" name="TextBox 19"/>
              <p:cNvSpPr txBox="1">
                <a:spLocks noRot="1" noChangeAspect="1" noMove="1" noResize="1" noEditPoints="1" noAdjustHandles="1" noChangeArrowheads="1" noChangeShapeType="1" noTextEdit="1"/>
              </p:cNvSpPr>
              <p:nvPr/>
            </p:nvSpPr>
            <p:spPr>
              <a:xfrm>
                <a:off x="8403343" y="4699619"/>
                <a:ext cx="2712410" cy="861774"/>
              </a:xfrm>
              <a:prstGeom prst="rect">
                <a:avLst/>
              </a:prstGeom>
              <a:blipFill>
                <a:blip r:embed="rId6"/>
                <a:stretch>
                  <a:fillRect t="-4255" b="-6383"/>
                </a:stretch>
              </a:blipFill>
            </p:spPr>
            <p:txBody>
              <a:bodyPr/>
              <a:lstStyle/>
              <a:p>
                <a:r>
                  <a:rPr lang="en-US">
                    <a:noFill/>
                  </a:rPr>
                  <a:t> </a:t>
                </a:r>
              </a:p>
            </p:txBody>
          </p:sp>
        </mc:Fallback>
      </mc:AlternateContent>
      <p:sp>
        <p:nvSpPr>
          <p:cNvPr id="6" name="Retângulo 5"/>
          <p:cNvSpPr/>
          <p:nvPr/>
        </p:nvSpPr>
        <p:spPr>
          <a:xfrm>
            <a:off x="5139592" y="5913776"/>
            <a:ext cx="5720990" cy="369332"/>
          </a:xfrm>
          <a:prstGeom prst="rect">
            <a:avLst/>
          </a:prstGeom>
        </p:spPr>
        <p:txBody>
          <a:bodyPr wrap="square">
            <a:spAutoFit/>
          </a:bodyPr>
          <a:lstStyle/>
          <a:p>
            <a:r>
              <a:rPr lang="pt-BR" b="1" i="1" dirty="0"/>
              <a:t>Experiências prévias = conjunto de dados de treinamento.</a:t>
            </a:r>
            <a:endParaRPr lang="en-US" b="1" i="1" dirty="0"/>
          </a:p>
        </p:txBody>
      </p:sp>
      <p:cxnSp>
        <p:nvCxnSpPr>
          <p:cNvPr id="24" name="Conector de seta reta 23"/>
          <p:cNvCxnSpPr>
            <a:stCxn id="21" idx="4"/>
            <a:endCxn id="6" idx="1"/>
          </p:cNvCxnSpPr>
          <p:nvPr/>
        </p:nvCxnSpPr>
        <p:spPr>
          <a:xfrm>
            <a:off x="4305636" y="6000644"/>
            <a:ext cx="833956" cy="9779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o explicativo retangular 21"/>
          <p:cNvSpPr/>
          <p:nvPr/>
        </p:nvSpPr>
        <p:spPr>
          <a:xfrm>
            <a:off x="9074284" y="4065706"/>
            <a:ext cx="1169418" cy="422029"/>
          </a:xfrm>
          <a:prstGeom prst="wedgeRectCallout">
            <a:avLst>
              <a:gd name="adj1" fmla="val -44165"/>
              <a:gd name="adj2" fmla="val 11170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00" dirty="0">
                <a:solidFill>
                  <a:schemeClr val="tx1"/>
                </a:solidFill>
              </a:rPr>
              <a:t>Resultado do treinamento</a:t>
            </a:r>
            <a:endParaRPr lang="en-US" sz="1400" dirty="0">
              <a:solidFill>
                <a:schemeClr val="tx1"/>
              </a:solidFill>
            </a:endParaRPr>
          </a:p>
        </p:txBody>
      </p:sp>
      <p:sp>
        <p:nvSpPr>
          <p:cNvPr id="21" name="Elipse 20"/>
          <p:cNvSpPr/>
          <p:nvPr/>
        </p:nvSpPr>
        <p:spPr>
          <a:xfrm>
            <a:off x="3274603" y="4565366"/>
            <a:ext cx="2062066" cy="1435278"/>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aixaDeTexto 3">
            <a:extLst>
              <a:ext uri="{FF2B5EF4-FFF2-40B4-BE49-F238E27FC236}">
                <a16:creationId xmlns:a16="http://schemas.microsoft.com/office/drawing/2014/main" id="{DE5956E9-5B6F-E4EF-1B3E-DD6D1765046F}"/>
              </a:ext>
            </a:extLst>
          </p:cNvPr>
          <p:cNvSpPr txBox="1"/>
          <p:nvPr/>
        </p:nvSpPr>
        <p:spPr>
          <a:xfrm>
            <a:off x="998772" y="3976357"/>
            <a:ext cx="2540238" cy="338554"/>
          </a:xfrm>
          <a:prstGeom prst="rect">
            <a:avLst/>
          </a:prstGeom>
          <a:noFill/>
        </p:spPr>
        <p:txBody>
          <a:bodyPr wrap="square" rtlCol="0">
            <a:spAutoFit/>
          </a:bodyPr>
          <a:lstStyle/>
          <a:p>
            <a:pPr algn="ctr"/>
            <a:r>
              <a:rPr lang="pt-BR" sz="1600" b="1" dirty="0" err="1">
                <a:solidFill>
                  <a:srgbClr val="7030A0"/>
                </a:solidFill>
              </a:rPr>
              <a:t>Paleteria</a:t>
            </a:r>
            <a:r>
              <a:rPr lang="pt-BR" sz="1600" b="1" dirty="0">
                <a:solidFill>
                  <a:srgbClr val="7030A0"/>
                </a:solidFill>
              </a:rPr>
              <a:t> Mexicana</a:t>
            </a:r>
          </a:p>
        </p:txBody>
      </p:sp>
    </p:spTree>
    <p:extLst>
      <p:ext uri="{BB962C8B-B14F-4D97-AF65-F5344CB8AC3E}">
        <p14:creationId xmlns:p14="http://schemas.microsoft.com/office/powerpoint/2010/main" val="19937424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85005-1B32-9E4E-9A4E-72F8E13E7647}"/>
            </a:ext>
          </a:extLst>
        </p:cNvPr>
        <p:cNvGrpSpPr/>
        <p:nvPr/>
      </p:nvGrpSpPr>
      <p:grpSpPr>
        <a:xfrm>
          <a:off x="0" y="0"/>
          <a:ext cx="0" cy="0"/>
          <a:chOff x="0" y="0"/>
          <a:chExt cx="0" cy="0"/>
        </a:xfrm>
      </p:grpSpPr>
      <p:pic>
        <p:nvPicPr>
          <p:cNvPr id="30" name="Picture 2">
            <a:extLst>
              <a:ext uri="{FF2B5EF4-FFF2-40B4-BE49-F238E27FC236}">
                <a16:creationId xmlns:a16="http://schemas.microsoft.com/office/drawing/2014/main" id="{2A798789-F197-2CA6-41E4-606EC3C7A81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16" r="1714"/>
          <a:stretch/>
        </p:blipFill>
        <p:spPr bwMode="auto">
          <a:xfrm>
            <a:off x="900038" y="4132953"/>
            <a:ext cx="2979222" cy="209562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6045CBA-C738-370D-09C9-FAD80CB9E251}"/>
              </a:ext>
            </a:extLst>
          </p:cNvPr>
          <p:cNvSpPr>
            <a:spLocks noGrp="1"/>
          </p:cNvSpPr>
          <p:nvPr>
            <p:ph type="title"/>
          </p:nvPr>
        </p:nvSpPr>
        <p:spPr/>
        <p:txBody>
          <a:bodyPr/>
          <a:lstStyle/>
          <a:p>
            <a:r>
              <a:rPr lang="pt-BR" dirty="0"/>
              <a:t>O paradigma do aprendizado de máquina</a:t>
            </a:r>
          </a:p>
        </p:txBody>
      </p:sp>
      <p:sp>
        <p:nvSpPr>
          <p:cNvPr id="3" name="Content Placeholder 2">
            <a:extLst>
              <a:ext uri="{FF2B5EF4-FFF2-40B4-BE49-F238E27FC236}">
                <a16:creationId xmlns:a16="http://schemas.microsoft.com/office/drawing/2014/main" id="{C4F797B7-9248-DED8-FA47-663D1C7316EB}"/>
              </a:ext>
            </a:extLst>
          </p:cNvPr>
          <p:cNvSpPr>
            <a:spLocks noGrp="1"/>
          </p:cNvSpPr>
          <p:nvPr>
            <p:ph idx="1"/>
          </p:nvPr>
        </p:nvSpPr>
        <p:spPr>
          <a:xfrm>
            <a:off x="838200" y="1825625"/>
            <a:ext cx="11206316" cy="2692338"/>
          </a:xfrm>
        </p:spPr>
        <p:txBody>
          <a:bodyPr>
            <a:normAutofit/>
          </a:bodyPr>
          <a:lstStyle/>
          <a:p>
            <a:r>
              <a:rPr lang="pt-BR" dirty="0"/>
              <a:t>Ou seja, </a:t>
            </a:r>
            <a:r>
              <a:rPr lang="pt-BR" b="1" i="1" dirty="0">
                <a:solidFill>
                  <a:srgbClr val="00B050"/>
                </a:solidFill>
              </a:rPr>
              <a:t>fornecer as </a:t>
            </a:r>
            <a:r>
              <a:rPr lang="pt-BR" b="1" i="1" dirty="0">
                <a:solidFill>
                  <a:schemeClr val="accent1"/>
                </a:solidFill>
              </a:rPr>
              <a:t>respostas e os dados (i.e., entradas) </a:t>
            </a:r>
            <a:r>
              <a:rPr lang="pt-BR" b="1" i="1" dirty="0">
                <a:solidFill>
                  <a:srgbClr val="00B050"/>
                </a:solidFill>
              </a:rPr>
              <a:t>a um computador e deixar que ele </a:t>
            </a:r>
            <a:r>
              <a:rPr lang="pt-BR" b="1" i="1" dirty="0">
                <a:solidFill>
                  <a:srgbClr val="7030A0"/>
                </a:solidFill>
              </a:rPr>
              <a:t>descubra</a:t>
            </a:r>
            <a:r>
              <a:rPr lang="pt-BR" b="1" i="1" dirty="0">
                <a:solidFill>
                  <a:srgbClr val="00B050"/>
                </a:solidFill>
              </a:rPr>
              <a:t> as regras </a:t>
            </a:r>
            <a:r>
              <a:rPr lang="pt-BR" dirty="0"/>
              <a:t>que geram as saídas.</a:t>
            </a:r>
          </a:p>
          <a:p>
            <a:r>
              <a:rPr lang="pt-BR" dirty="0"/>
              <a:t>Queremos que o computador </a:t>
            </a:r>
            <a:r>
              <a:rPr lang="pt-BR" b="1" i="1" dirty="0">
                <a:solidFill>
                  <a:schemeClr val="accent2"/>
                </a:solidFill>
              </a:rPr>
              <a:t>aprenda</a:t>
            </a:r>
            <a:r>
              <a:rPr lang="pt-BR" dirty="0"/>
              <a:t> o mapeamento das entradas nas saídas.</a:t>
            </a:r>
          </a:p>
          <a:p>
            <a:pPr lvl="1"/>
            <a:endParaRPr lang="pt-BR" dirty="0"/>
          </a:p>
          <a:p>
            <a:endParaRPr lang="pt-BR" dirty="0"/>
          </a:p>
        </p:txBody>
      </p:sp>
      <p:sp>
        <p:nvSpPr>
          <p:cNvPr id="13" name="Rectangle 12">
            <a:extLst>
              <a:ext uri="{FF2B5EF4-FFF2-40B4-BE49-F238E27FC236}">
                <a16:creationId xmlns:a16="http://schemas.microsoft.com/office/drawing/2014/main" id="{7C18E33B-18B8-E068-FB37-BFE4BB0EA2BF}"/>
              </a:ext>
            </a:extLst>
          </p:cNvPr>
          <p:cNvSpPr/>
          <p:nvPr/>
        </p:nvSpPr>
        <p:spPr>
          <a:xfrm>
            <a:off x="5915348" y="4668289"/>
            <a:ext cx="1910443" cy="8490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Computador</a:t>
            </a:r>
          </a:p>
        </p:txBody>
      </p:sp>
      <p:sp>
        <p:nvSpPr>
          <p:cNvPr id="14" name="TextBox 13">
            <a:extLst>
              <a:ext uri="{FF2B5EF4-FFF2-40B4-BE49-F238E27FC236}">
                <a16:creationId xmlns:a16="http://schemas.microsoft.com/office/drawing/2014/main" id="{A71E9CF5-FAA8-ECFD-A421-A75A9FFC7DDE}"/>
              </a:ext>
            </a:extLst>
          </p:cNvPr>
          <p:cNvSpPr txBox="1"/>
          <p:nvPr/>
        </p:nvSpPr>
        <p:spPr>
          <a:xfrm>
            <a:off x="5087349" y="4136703"/>
            <a:ext cx="3524518" cy="461665"/>
          </a:xfrm>
          <a:prstGeom prst="rect">
            <a:avLst/>
          </a:prstGeom>
          <a:noFill/>
        </p:spPr>
        <p:txBody>
          <a:bodyPr wrap="square" rtlCol="0">
            <a:spAutoFit/>
          </a:bodyPr>
          <a:lstStyle/>
          <a:p>
            <a:pPr algn="ctr"/>
            <a:r>
              <a:rPr lang="pt-BR" sz="2400" b="1" dirty="0"/>
              <a:t>Aprendizado de Máquina</a:t>
            </a:r>
          </a:p>
        </p:txBody>
      </p:sp>
      <p:cxnSp>
        <p:nvCxnSpPr>
          <p:cNvPr id="15" name="Straight Arrow Connector 14">
            <a:extLst>
              <a:ext uri="{FF2B5EF4-FFF2-40B4-BE49-F238E27FC236}">
                <a16:creationId xmlns:a16="http://schemas.microsoft.com/office/drawing/2014/main" id="{B4D97AA2-EACA-F9E9-B954-381B66C4F848}"/>
              </a:ext>
            </a:extLst>
          </p:cNvPr>
          <p:cNvCxnSpPr>
            <a:cxnSpLocks/>
          </p:cNvCxnSpPr>
          <p:nvPr/>
        </p:nvCxnSpPr>
        <p:spPr>
          <a:xfrm>
            <a:off x="5087348" y="4847904"/>
            <a:ext cx="82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E2E9B5E-BEFC-0330-7BDC-33B8C97689F4}"/>
              </a:ext>
            </a:extLst>
          </p:cNvPr>
          <p:cNvCxnSpPr>
            <a:cxnSpLocks/>
          </p:cNvCxnSpPr>
          <p:nvPr/>
        </p:nvCxnSpPr>
        <p:spPr>
          <a:xfrm>
            <a:off x="5087348" y="5343204"/>
            <a:ext cx="82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ED11556-F756-B72D-1A0B-5E2B87A6D121}"/>
                  </a:ext>
                </a:extLst>
              </p:cNvPr>
              <p:cNvSpPr txBox="1"/>
              <p:nvPr/>
            </p:nvSpPr>
            <p:spPr>
              <a:xfrm>
                <a:off x="4047762" y="4549014"/>
                <a:ext cx="1039586" cy="584775"/>
              </a:xfrm>
              <a:prstGeom prst="rect">
                <a:avLst/>
              </a:prstGeom>
              <a:noFill/>
            </p:spPr>
            <p:txBody>
              <a:bodyPr wrap="square" rtlCol="0">
                <a:spAutoFit/>
              </a:bodyPr>
              <a:lstStyle/>
              <a:p>
                <a:pPr algn="ctr"/>
                <a:r>
                  <a:rPr lang="pt-BR" dirty="0"/>
                  <a:t>Entradas</a:t>
                </a:r>
              </a:p>
              <a:p>
                <a:pPr algn="ctr"/>
                <a:r>
                  <a:rPr lang="pt-BR" sz="1400" dirty="0"/>
                  <a:t>e.g., </a:t>
                </a:r>
                <a14:m>
                  <m:oMath xmlns:m="http://schemas.openxmlformats.org/officeDocument/2006/math">
                    <m:r>
                      <a:rPr lang="pt-BR" sz="1400" i="1">
                        <a:latin typeface="Cambria Math" panose="02040503050406030204" pitchFamily="18" charset="0"/>
                      </a:rPr>
                      <m:t>𝑥</m:t>
                    </m:r>
                  </m:oMath>
                </a14:m>
                <a:endParaRPr lang="pt-BR" sz="1400" dirty="0"/>
              </a:p>
            </p:txBody>
          </p:sp>
        </mc:Choice>
        <mc:Fallback xmlns="">
          <p:sp>
            <p:nvSpPr>
              <p:cNvPr id="17" name="TextBox 16">
                <a:extLst>
                  <a:ext uri="{FF2B5EF4-FFF2-40B4-BE49-F238E27FC236}">
                    <a16:creationId xmlns:a16="http://schemas.microsoft.com/office/drawing/2014/main" id="{7ED11556-F756-B72D-1A0B-5E2B87A6D121}"/>
                  </a:ext>
                </a:extLst>
              </p:cNvPr>
              <p:cNvSpPr txBox="1">
                <a:spLocks noRot="1" noChangeAspect="1" noMove="1" noResize="1" noEditPoints="1" noAdjustHandles="1" noChangeArrowheads="1" noChangeShapeType="1" noTextEdit="1"/>
              </p:cNvSpPr>
              <p:nvPr/>
            </p:nvSpPr>
            <p:spPr>
              <a:xfrm>
                <a:off x="4047762" y="4549014"/>
                <a:ext cx="1039586" cy="584775"/>
              </a:xfrm>
              <a:prstGeom prst="rect">
                <a:avLst/>
              </a:prstGeom>
              <a:blipFill>
                <a:blip r:embed="rId4"/>
                <a:stretch>
                  <a:fillRect l="-3509" t="-5208" r="-2924" b="-104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EF112C0-FF90-B36E-77D0-7A72AFACB46C}"/>
                  </a:ext>
                </a:extLst>
              </p:cNvPr>
              <p:cNvSpPr txBox="1"/>
              <p:nvPr/>
            </p:nvSpPr>
            <p:spPr>
              <a:xfrm>
                <a:off x="3777057" y="5049924"/>
                <a:ext cx="1512176" cy="861774"/>
              </a:xfrm>
              <a:prstGeom prst="rect">
                <a:avLst/>
              </a:prstGeom>
              <a:noFill/>
            </p:spPr>
            <p:txBody>
              <a:bodyPr wrap="square" rtlCol="0">
                <a:spAutoFit/>
              </a:bodyPr>
              <a:lstStyle/>
              <a:p>
                <a:pPr algn="ctr"/>
                <a:r>
                  <a:rPr lang="pt-BR" dirty="0"/>
                  <a:t>Resultados esperados</a:t>
                </a:r>
              </a:p>
              <a:p>
                <a:pPr algn="ctr"/>
                <a:r>
                  <a:rPr lang="pt-BR" sz="1400" dirty="0"/>
                  <a:t>e.g., </a:t>
                </a:r>
                <a14:m>
                  <m:oMath xmlns:m="http://schemas.openxmlformats.org/officeDocument/2006/math">
                    <m:r>
                      <a:rPr lang="pt-BR" sz="1400" i="1">
                        <a:latin typeface="Cambria Math" panose="02040503050406030204" pitchFamily="18" charset="0"/>
                      </a:rPr>
                      <m:t>𝑦</m:t>
                    </m:r>
                    <m:r>
                      <a:rPr lang="pt-BR" sz="1400" i="1">
                        <a:latin typeface="Cambria Math" panose="02040503050406030204" pitchFamily="18" charset="0"/>
                      </a:rPr>
                      <m:t>=</m:t>
                    </m:r>
                    <m:r>
                      <a:rPr lang="pt-BR" sz="1400" i="1">
                        <a:latin typeface="Cambria Math" panose="02040503050406030204" pitchFamily="18" charset="0"/>
                      </a:rPr>
                      <m:t>𝑓</m:t>
                    </m:r>
                    <m:d>
                      <m:dPr>
                        <m:ctrlPr>
                          <a:rPr lang="pt-BR" sz="1400" i="1">
                            <a:latin typeface="Cambria Math" panose="02040503050406030204" pitchFamily="18" charset="0"/>
                          </a:rPr>
                        </m:ctrlPr>
                      </m:dPr>
                      <m:e>
                        <m:r>
                          <a:rPr lang="pt-BR" sz="1400" i="1">
                            <a:latin typeface="Cambria Math" panose="02040503050406030204" pitchFamily="18" charset="0"/>
                          </a:rPr>
                          <m:t>𝑥</m:t>
                        </m:r>
                      </m:e>
                    </m:d>
                  </m:oMath>
                </a14:m>
                <a:endParaRPr lang="pt-BR" dirty="0"/>
              </a:p>
            </p:txBody>
          </p:sp>
        </mc:Choice>
        <mc:Fallback xmlns="">
          <p:sp>
            <p:nvSpPr>
              <p:cNvPr id="18" name="TextBox 17">
                <a:extLst>
                  <a:ext uri="{FF2B5EF4-FFF2-40B4-BE49-F238E27FC236}">
                    <a16:creationId xmlns:a16="http://schemas.microsoft.com/office/drawing/2014/main" id="{2EF112C0-FF90-B36E-77D0-7A72AFACB46C}"/>
                  </a:ext>
                </a:extLst>
              </p:cNvPr>
              <p:cNvSpPr txBox="1">
                <a:spLocks noRot="1" noChangeAspect="1" noMove="1" noResize="1" noEditPoints="1" noAdjustHandles="1" noChangeArrowheads="1" noChangeShapeType="1" noTextEdit="1"/>
              </p:cNvSpPr>
              <p:nvPr/>
            </p:nvSpPr>
            <p:spPr>
              <a:xfrm>
                <a:off x="3777057" y="5049924"/>
                <a:ext cx="1512176" cy="861774"/>
              </a:xfrm>
              <a:prstGeom prst="rect">
                <a:avLst/>
              </a:prstGeom>
              <a:blipFill>
                <a:blip r:embed="rId5"/>
                <a:stretch>
                  <a:fillRect t="-3521" b="-6338"/>
                </a:stretch>
              </a:blipFill>
            </p:spPr>
            <p:txBody>
              <a:bodyPr/>
              <a:lstStyle/>
              <a:p>
                <a:r>
                  <a:rPr lang="en-US">
                    <a:noFill/>
                  </a:rPr>
                  <a:t> </a:t>
                </a:r>
              </a:p>
            </p:txBody>
          </p:sp>
        </mc:Fallback>
      </mc:AlternateContent>
      <p:cxnSp>
        <p:nvCxnSpPr>
          <p:cNvPr id="19" name="Straight Arrow Connector 18">
            <a:extLst>
              <a:ext uri="{FF2B5EF4-FFF2-40B4-BE49-F238E27FC236}">
                <a16:creationId xmlns:a16="http://schemas.microsoft.com/office/drawing/2014/main" id="{36C97953-7515-F8C7-0838-4174E6CE513C}"/>
              </a:ext>
            </a:extLst>
          </p:cNvPr>
          <p:cNvCxnSpPr>
            <a:cxnSpLocks/>
          </p:cNvCxnSpPr>
          <p:nvPr/>
        </p:nvCxnSpPr>
        <p:spPr>
          <a:xfrm>
            <a:off x="7825791" y="5092832"/>
            <a:ext cx="82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C3F935D0-3700-4C3E-82B0-AF9AA22A9C69}"/>
                  </a:ext>
                </a:extLst>
              </p:cNvPr>
              <p:cNvSpPr txBox="1"/>
              <p:nvPr/>
            </p:nvSpPr>
            <p:spPr>
              <a:xfrm>
                <a:off x="8641390" y="4645087"/>
                <a:ext cx="2712410" cy="861774"/>
              </a:xfrm>
              <a:prstGeom prst="rect">
                <a:avLst/>
              </a:prstGeom>
              <a:noFill/>
            </p:spPr>
            <p:txBody>
              <a:bodyPr wrap="square" rtlCol="0">
                <a:spAutoFit/>
              </a:bodyPr>
              <a:lstStyle/>
              <a:p>
                <a:pPr algn="ctr"/>
                <a:r>
                  <a:rPr lang="pt-BR" dirty="0"/>
                  <a:t>Programa = </a:t>
                </a:r>
                <a:r>
                  <a:rPr lang="pt-BR" b="1" dirty="0">
                    <a:solidFill>
                      <a:srgbClr val="FF0000"/>
                    </a:solidFill>
                  </a:rPr>
                  <a:t>Modelo de Aprendizado de Máquina</a:t>
                </a:r>
              </a:p>
              <a:p>
                <a:pPr algn="ctr"/>
                <a:r>
                  <a:rPr lang="pt-BR" sz="1400" dirty="0" err="1"/>
                  <a:t>e.</a:t>
                </a:r>
                <a:r>
                  <a:rPr lang="pt-BR" sz="1400" dirty="0"/>
                  <a:t>g., </a:t>
                </a:r>
                <a14:m>
                  <m:oMath xmlns:m="http://schemas.openxmlformats.org/officeDocument/2006/math">
                    <m:r>
                      <a:rPr lang="pt-BR" sz="1400" i="1">
                        <a:latin typeface="Cambria Math" panose="02040503050406030204" pitchFamily="18" charset="0"/>
                      </a:rPr>
                      <m:t>𝑦</m:t>
                    </m:r>
                    <m:r>
                      <a:rPr lang="pt-BR" sz="1400" i="1">
                        <a:latin typeface="Cambria Math" panose="02040503050406030204" pitchFamily="18" charset="0"/>
                      </a:rPr>
                      <m:t>=</m:t>
                    </m:r>
                    <m:r>
                      <a:rPr lang="pt-BR" sz="1400" i="1">
                        <a:latin typeface="Cambria Math" panose="02040503050406030204" pitchFamily="18" charset="0"/>
                      </a:rPr>
                      <m:t>𝑓</m:t>
                    </m:r>
                    <m:d>
                      <m:dPr>
                        <m:ctrlPr>
                          <a:rPr lang="pt-BR" sz="1400" i="1">
                            <a:latin typeface="Cambria Math" panose="02040503050406030204" pitchFamily="18" charset="0"/>
                          </a:rPr>
                        </m:ctrlPr>
                      </m:dPr>
                      <m:e>
                        <m:r>
                          <a:rPr lang="pt-BR" sz="1400" i="1">
                            <a:latin typeface="Cambria Math" panose="02040503050406030204" pitchFamily="18" charset="0"/>
                          </a:rPr>
                          <m:t>𝑥</m:t>
                        </m:r>
                      </m:e>
                    </m:d>
                    <m:r>
                      <a:rPr lang="pt-BR" sz="1400" i="1">
                        <a:latin typeface="Cambria Math" panose="02040503050406030204" pitchFamily="18" charset="0"/>
                      </a:rPr>
                      <m:t>=</m:t>
                    </m:r>
                    <m:r>
                      <a:rPr lang="pt-BR" sz="1400" i="1">
                        <a:latin typeface="Cambria Math" panose="02040503050406030204" pitchFamily="18" charset="0"/>
                      </a:rPr>
                      <m:t>𝑎</m:t>
                    </m:r>
                    <m:r>
                      <a:rPr lang="pt-BR" sz="1400" i="1">
                        <a:latin typeface="Cambria Math" panose="02040503050406030204" pitchFamily="18" charset="0"/>
                      </a:rPr>
                      <m:t>+</m:t>
                    </m:r>
                    <m:r>
                      <a:rPr lang="pt-BR" sz="1400" i="1">
                        <a:latin typeface="Cambria Math" panose="02040503050406030204" pitchFamily="18" charset="0"/>
                      </a:rPr>
                      <m:t>𝑏𝑥</m:t>
                    </m:r>
                  </m:oMath>
                </a14:m>
                <a:endParaRPr lang="pt-BR" sz="1400" dirty="0"/>
              </a:p>
            </p:txBody>
          </p:sp>
        </mc:Choice>
        <mc:Fallback xmlns="">
          <p:sp>
            <p:nvSpPr>
              <p:cNvPr id="20" name="TextBox 19">
                <a:extLst>
                  <a:ext uri="{FF2B5EF4-FFF2-40B4-BE49-F238E27FC236}">
                    <a16:creationId xmlns:a16="http://schemas.microsoft.com/office/drawing/2014/main" id="{C3F935D0-3700-4C3E-82B0-AF9AA22A9C69}"/>
                  </a:ext>
                </a:extLst>
              </p:cNvPr>
              <p:cNvSpPr txBox="1">
                <a:spLocks noRot="1" noChangeAspect="1" noMove="1" noResize="1" noEditPoints="1" noAdjustHandles="1" noChangeArrowheads="1" noChangeShapeType="1" noTextEdit="1"/>
              </p:cNvSpPr>
              <p:nvPr/>
            </p:nvSpPr>
            <p:spPr>
              <a:xfrm>
                <a:off x="8641390" y="4645087"/>
                <a:ext cx="2712410" cy="861774"/>
              </a:xfrm>
              <a:prstGeom prst="rect">
                <a:avLst/>
              </a:prstGeom>
              <a:blipFill>
                <a:blip r:embed="rId6"/>
                <a:stretch>
                  <a:fillRect t="-4255" b="-6383"/>
                </a:stretch>
              </a:blipFill>
            </p:spPr>
            <p:txBody>
              <a:bodyPr/>
              <a:lstStyle/>
              <a:p>
                <a:r>
                  <a:rPr lang="en-US">
                    <a:noFill/>
                  </a:rPr>
                  <a:t> </a:t>
                </a:r>
              </a:p>
            </p:txBody>
          </p:sp>
        </mc:Fallback>
      </mc:AlternateContent>
      <p:sp>
        <p:nvSpPr>
          <p:cNvPr id="6" name="Retângulo 5">
            <a:extLst>
              <a:ext uri="{FF2B5EF4-FFF2-40B4-BE49-F238E27FC236}">
                <a16:creationId xmlns:a16="http://schemas.microsoft.com/office/drawing/2014/main" id="{F5F94C9C-D419-2356-007E-4B351F599BE9}"/>
              </a:ext>
            </a:extLst>
          </p:cNvPr>
          <p:cNvSpPr/>
          <p:nvPr/>
        </p:nvSpPr>
        <p:spPr>
          <a:xfrm>
            <a:off x="5377639" y="5859244"/>
            <a:ext cx="5720990" cy="369332"/>
          </a:xfrm>
          <a:prstGeom prst="rect">
            <a:avLst/>
          </a:prstGeom>
        </p:spPr>
        <p:txBody>
          <a:bodyPr wrap="square">
            <a:spAutoFit/>
          </a:bodyPr>
          <a:lstStyle/>
          <a:p>
            <a:r>
              <a:rPr lang="pt-BR" b="1" i="1" dirty="0"/>
              <a:t>Experiências prévias = conjunto de dados de treinamento.</a:t>
            </a:r>
            <a:endParaRPr lang="en-US" b="1" i="1" dirty="0"/>
          </a:p>
        </p:txBody>
      </p:sp>
      <p:cxnSp>
        <p:nvCxnSpPr>
          <p:cNvPr id="24" name="Conector de seta reta 23">
            <a:extLst>
              <a:ext uri="{FF2B5EF4-FFF2-40B4-BE49-F238E27FC236}">
                <a16:creationId xmlns:a16="http://schemas.microsoft.com/office/drawing/2014/main" id="{F78EF055-7D28-8A48-536A-55C34F3B1416}"/>
              </a:ext>
            </a:extLst>
          </p:cNvPr>
          <p:cNvCxnSpPr>
            <a:stCxn id="21" idx="4"/>
            <a:endCxn id="6" idx="1"/>
          </p:cNvCxnSpPr>
          <p:nvPr/>
        </p:nvCxnSpPr>
        <p:spPr>
          <a:xfrm>
            <a:off x="4543683" y="5946112"/>
            <a:ext cx="833956" cy="9779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o explicativo retangular 21">
            <a:extLst>
              <a:ext uri="{FF2B5EF4-FFF2-40B4-BE49-F238E27FC236}">
                <a16:creationId xmlns:a16="http://schemas.microsoft.com/office/drawing/2014/main" id="{86F3C10C-53D1-F387-2574-A92D9B8E35F9}"/>
              </a:ext>
            </a:extLst>
          </p:cNvPr>
          <p:cNvSpPr/>
          <p:nvPr/>
        </p:nvSpPr>
        <p:spPr>
          <a:xfrm>
            <a:off x="9312331" y="4011174"/>
            <a:ext cx="1169418" cy="422029"/>
          </a:xfrm>
          <a:prstGeom prst="wedgeRectCallout">
            <a:avLst>
              <a:gd name="adj1" fmla="val -44165"/>
              <a:gd name="adj2" fmla="val 11170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00" dirty="0">
                <a:solidFill>
                  <a:schemeClr val="tx1"/>
                </a:solidFill>
              </a:rPr>
              <a:t>Resultado do treinamento</a:t>
            </a:r>
            <a:endParaRPr lang="en-US" sz="1400" dirty="0">
              <a:solidFill>
                <a:schemeClr val="tx1"/>
              </a:solidFill>
            </a:endParaRPr>
          </a:p>
        </p:txBody>
      </p:sp>
      <p:sp>
        <p:nvSpPr>
          <p:cNvPr id="21" name="Elipse 20">
            <a:extLst>
              <a:ext uri="{FF2B5EF4-FFF2-40B4-BE49-F238E27FC236}">
                <a16:creationId xmlns:a16="http://schemas.microsoft.com/office/drawing/2014/main" id="{87ADF499-24DE-B950-5282-2215225F355E}"/>
              </a:ext>
            </a:extLst>
          </p:cNvPr>
          <p:cNvSpPr/>
          <p:nvPr/>
        </p:nvSpPr>
        <p:spPr>
          <a:xfrm>
            <a:off x="3512650" y="4510834"/>
            <a:ext cx="2062066" cy="1435278"/>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aixaDeTexto 3">
            <a:extLst>
              <a:ext uri="{FF2B5EF4-FFF2-40B4-BE49-F238E27FC236}">
                <a16:creationId xmlns:a16="http://schemas.microsoft.com/office/drawing/2014/main" id="{287466E0-F4F4-52E2-A9AA-A63EE3DCCD2F}"/>
              </a:ext>
            </a:extLst>
          </p:cNvPr>
          <p:cNvSpPr txBox="1"/>
          <p:nvPr/>
        </p:nvSpPr>
        <p:spPr>
          <a:xfrm>
            <a:off x="1236819" y="3921825"/>
            <a:ext cx="2540238" cy="338554"/>
          </a:xfrm>
          <a:prstGeom prst="rect">
            <a:avLst/>
          </a:prstGeom>
          <a:noFill/>
        </p:spPr>
        <p:txBody>
          <a:bodyPr wrap="square" rtlCol="0">
            <a:spAutoFit/>
          </a:bodyPr>
          <a:lstStyle/>
          <a:p>
            <a:pPr algn="ctr"/>
            <a:r>
              <a:rPr lang="pt-BR" sz="1600" b="1" dirty="0" err="1">
                <a:solidFill>
                  <a:srgbClr val="7030A0"/>
                </a:solidFill>
              </a:rPr>
              <a:t>Paleteria</a:t>
            </a:r>
            <a:r>
              <a:rPr lang="pt-BR" sz="1600" b="1" dirty="0">
                <a:solidFill>
                  <a:srgbClr val="7030A0"/>
                </a:solidFill>
              </a:rPr>
              <a:t> Mexicana</a:t>
            </a:r>
          </a:p>
        </p:txBody>
      </p:sp>
    </p:spTree>
    <p:extLst>
      <p:ext uri="{BB962C8B-B14F-4D97-AF65-F5344CB8AC3E}">
        <p14:creationId xmlns:p14="http://schemas.microsoft.com/office/powerpoint/2010/main" val="18813331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O paradigma do aprendizado de máquina</a:t>
            </a:r>
          </a:p>
        </p:txBody>
      </p:sp>
      <p:sp>
        <p:nvSpPr>
          <p:cNvPr id="3" name="Content Placeholder 2"/>
          <p:cNvSpPr>
            <a:spLocks noGrp="1"/>
          </p:cNvSpPr>
          <p:nvPr>
            <p:ph idx="1"/>
          </p:nvPr>
        </p:nvSpPr>
        <p:spPr>
          <a:xfrm>
            <a:off x="5952809" y="1825624"/>
            <a:ext cx="6091707" cy="5032375"/>
          </a:xfrm>
        </p:spPr>
        <p:txBody>
          <a:bodyPr>
            <a:normAutofit/>
          </a:bodyPr>
          <a:lstStyle/>
          <a:p>
            <a:r>
              <a:rPr lang="pt-BR" dirty="0"/>
              <a:t>Como a máquina apende?</a:t>
            </a:r>
          </a:p>
          <a:p>
            <a:pPr lvl="1">
              <a:buFont typeface="Wingdings" panose="05000000000000000000" pitchFamily="2" charset="2"/>
              <a:buChar char="§"/>
            </a:pPr>
            <a:r>
              <a:rPr lang="pt-BR" dirty="0"/>
              <a:t>Através de treinamento com um </a:t>
            </a:r>
            <a:r>
              <a:rPr lang="pt-BR" b="1" i="1" dirty="0"/>
              <a:t>conjunto de experiências prévias </a:t>
            </a:r>
            <a:r>
              <a:rPr lang="pt-BR" dirty="0"/>
              <a:t>(chamado de </a:t>
            </a:r>
            <a:r>
              <a:rPr lang="pt-BR" b="1" i="1" dirty="0">
                <a:solidFill>
                  <a:srgbClr val="00B050"/>
                </a:solidFill>
              </a:rPr>
              <a:t>conjunto de treinamento</a:t>
            </a:r>
            <a:r>
              <a:rPr lang="pt-BR" dirty="0"/>
              <a:t>).</a:t>
            </a:r>
          </a:p>
          <a:p>
            <a:pPr lvl="1">
              <a:buFont typeface="Wingdings" panose="05000000000000000000" pitchFamily="2" charset="2"/>
              <a:buChar char="§"/>
            </a:pPr>
            <a:r>
              <a:rPr lang="pt-BR" dirty="0"/>
              <a:t>Durante o treinamento, o </a:t>
            </a:r>
            <a:r>
              <a:rPr lang="pt-BR" b="1" i="1" dirty="0">
                <a:solidFill>
                  <a:srgbClr val="00B050"/>
                </a:solidFill>
              </a:rPr>
              <a:t>conjunto de treinamento </a:t>
            </a:r>
            <a:r>
              <a:rPr lang="pt-BR" dirty="0"/>
              <a:t>é </a:t>
            </a:r>
            <a:r>
              <a:rPr lang="pt-BR" b="1" i="1" dirty="0">
                <a:solidFill>
                  <a:srgbClr val="00B050"/>
                </a:solidFill>
              </a:rPr>
              <a:t>apresentado ao modelo diversas vezes </a:t>
            </a:r>
            <a:r>
              <a:rPr lang="pt-BR" dirty="0"/>
              <a:t>(chamada de </a:t>
            </a:r>
            <a:r>
              <a:rPr lang="pt-BR" b="1" i="1" dirty="0">
                <a:solidFill>
                  <a:schemeClr val="accent2"/>
                </a:solidFill>
              </a:rPr>
              <a:t>iterações</a:t>
            </a:r>
            <a:r>
              <a:rPr lang="pt-BR" dirty="0"/>
              <a:t>).</a:t>
            </a:r>
          </a:p>
          <a:p>
            <a:pPr lvl="1">
              <a:buFont typeface="Wingdings" panose="05000000000000000000" pitchFamily="2" charset="2"/>
              <a:buChar char="§"/>
            </a:pPr>
            <a:r>
              <a:rPr lang="pt-BR" dirty="0"/>
              <a:t>Com isso, o modelo vai </a:t>
            </a:r>
            <a:r>
              <a:rPr lang="pt-BR" b="1" i="1" dirty="0">
                <a:solidFill>
                  <a:srgbClr val="00B050"/>
                </a:solidFill>
              </a:rPr>
              <a:t>iterativamente se atualizando</a:t>
            </a:r>
            <a:r>
              <a:rPr lang="pt-BR" dirty="0"/>
              <a:t> e </a:t>
            </a:r>
            <a:r>
              <a:rPr lang="pt-BR" b="1" i="1" dirty="0">
                <a:solidFill>
                  <a:srgbClr val="00B050"/>
                </a:solidFill>
              </a:rPr>
              <a:t>aprendendo</a:t>
            </a:r>
            <a:r>
              <a:rPr lang="pt-BR" dirty="0"/>
              <a:t> um </a:t>
            </a:r>
            <a:r>
              <a:rPr lang="pt-BR" b="1" i="1" dirty="0">
                <a:solidFill>
                  <a:srgbClr val="7030A0"/>
                </a:solidFill>
              </a:rPr>
              <a:t>bom mapeamento</a:t>
            </a:r>
            <a:r>
              <a:rPr lang="pt-BR" dirty="0"/>
              <a:t> das entradas nas saídas esperadas.</a:t>
            </a:r>
          </a:p>
        </p:txBody>
      </p:sp>
      <p:sp>
        <p:nvSpPr>
          <p:cNvPr id="13" name="Rectangle 12"/>
          <p:cNvSpPr/>
          <p:nvPr/>
        </p:nvSpPr>
        <p:spPr>
          <a:xfrm>
            <a:off x="2038075" y="3429000"/>
            <a:ext cx="1910443" cy="8490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Computador</a:t>
            </a:r>
          </a:p>
        </p:txBody>
      </p:sp>
      <p:sp>
        <p:nvSpPr>
          <p:cNvPr id="14" name="TextBox 13"/>
          <p:cNvSpPr txBox="1"/>
          <p:nvPr/>
        </p:nvSpPr>
        <p:spPr>
          <a:xfrm>
            <a:off x="2077277" y="2666413"/>
            <a:ext cx="1832038" cy="646331"/>
          </a:xfrm>
          <a:prstGeom prst="rect">
            <a:avLst/>
          </a:prstGeom>
          <a:noFill/>
        </p:spPr>
        <p:txBody>
          <a:bodyPr wrap="square" rtlCol="0">
            <a:spAutoFit/>
          </a:bodyPr>
          <a:lstStyle/>
          <a:p>
            <a:pPr algn="ctr"/>
            <a:r>
              <a:rPr lang="pt-BR" b="1" dirty="0"/>
              <a:t>Aprendizado de Máquina</a:t>
            </a:r>
          </a:p>
        </p:txBody>
      </p:sp>
      <p:cxnSp>
        <p:nvCxnSpPr>
          <p:cNvPr id="15" name="Straight Arrow Connector 14"/>
          <p:cNvCxnSpPr>
            <a:cxnSpLocks/>
          </p:cNvCxnSpPr>
          <p:nvPr/>
        </p:nvCxnSpPr>
        <p:spPr>
          <a:xfrm>
            <a:off x="1569666" y="3608615"/>
            <a:ext cx="46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cxnSpLocks/>
          </p:cNvCxnSpPr>
          <p:nvPr/>
        </p:nvCxnSpPr>
        <p:spPr>
          <a:xfrm>
            <a:off x="1569666" y="4103915"/>
            <a:ext cx="46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p:cNvSpPr txBox="1"/>
              <p:nvPr/>
            </p:nvSpPr>
            <p:spPr>
              <a:xfrm>
                <a:off x="509531" y="3268629"/>
                <a:ext cx="1039586" cy="584775"/>
              </a:xfrm>
              <a:prstGeom prst="rect">
                <a:avLst/>
              </a:prstGeom>
              <a:noFill/>
            </p:spPr>
            <p:txBody>
              <a:bodyPr wrap="square" rtlCol="0">
                <a:spAutoFit/>
              </a:bodyPr>
              <a:lstStyle/>
              <a:p>
                <a:pPr algn="ctr"/>
                <a:r>
                  <a:rPr lang="pt-BR" dirty="0"/>
                  <a:t>Entradas</a:t>
                </a:r>
              </a:p>
              <a:p>
                <a:pPr algn="ctr"/>
                <a:r>
                  <a:rPr lang="pt-BR" sz="1400" dirty="0"/>
                  <a:t>e.g., </a:t>
                </a:r>
                <a14:m>
                  <m:oMath xmlns:m="http://schemas.openxmlformats.org/officeDocument/2006/math">
                    <m:r>
                      <a:rPr lang="pt-BR" sz="1400" i="1">
                        <a:latin typeface="Cambria Math" panose="02040503050406030204" pitchFamily="18" charset="0"/>
                      </a:rPr>
                      <m:t>𝑥</m:t>
                    </m:r>
                  </m:oMath>
                </a14:m>
                <a:endParaRPr lang="pt-BR" sz="1400" dirty="0"/>
              </a:p>
            </p:txBody>
          </p:sp>
        </mc:Choice>
        <mc:Fallback xmlns="">
          <p:sp>
            <p:nvSpPr>
              <p:cNvPr id="17" name="TextBox 16"/>
              <p:cNvSpPr txBox="1">
                <a:spLocks noRot="1" noChangeAspect="1" noMove="1" noResize="1" noEditPoints="1" noAdjustHandles="1" noChangeArrowheads="1" noChangeShapeType="1" noTextEdit="1"/>
              </p:cNvSpPr>
              <p:nvPr/>
            </p:nvSpPr>
            <p:spPr>
              <a:xfrm>
                <a:off x="509531" y="3268629"/>
                <a:ext cx="1039586" cy="584775"/>
              </a:xfrm>
              <a:prstGeom prst="rect">
                <a:avLst/>
              </a:prstGeom>
              <a:blipFill>
                <a:blip r:embed="rId3"/>
                <a:stretch>
                  <a:fillRect l="-4118" t="-5208" r="-2941" b="-1041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238826" y="3769539"/>
                <a:ext cx="1512176" cy="861774"/>
              </a:xfrm>
              <a:prstGeom prst="rect">
                <a:avLst/>
              </a:prstGeom>
              <a:noFill/>
            </p:spPr>
            <p:txBody>
              <a:bodyPr wrap="square" rtlCol="0">
                <a:spAutoFit/>
              </a:bodyPr>
              <a:lstStyle/>
              <a:p>
                <a:pPr algn="ctr"/>
                <a:r>
                  <a:rPr lang="pt-BR" dirty="0"/>
                  <a:t>Resultados esperados</a:t>
                </a:r>
              </a:p>
              <a:p>
                <a:pPr algn="ctr"/>
                <a:r>
                  <a:rPr lang="pt-BR" sz="1400" dirty="0"/>
                  <a:t>e.g., </a:t>
                </a:r>
                <a14:m>
                  <m:oMath xmlns:m="http://schemas.openxmlformats.org/officeDocument/2006/math">
                    <m:r>
                      <a:rPr lang="pt-BR" sz="1400" i="1">
                        <a:latin typeface="Cambria Math" panose="02040503050406030204" pitchFamily="18" charset="0"/>
                      </a:rPr>
                      <m:t>𝑦</m:t>
                    </m:r>
                    <m:r>
                      <a:rPr lang="pt-BR" sz="1400" i="1">
                        <a:latin typeface="Cambria Math" panose="02040503050406030204" pitchFamily="18" charset="0"/>
                      </a:rPr>
                      <m:t>=</m:t>
                    </m:r>
                    <m:r>
                      <a:rPr lang="pt-BR" sz="1400" i="1">
                        <a:latin typeface="Cambria Math" panose="02040503050406030204" pitchFamily="18" charset="0"/>
                      </a:rPr>
                      <m:t>𝑓</m:t>
                    </m:r>
                    <m:d>
                      <m:dPr>
                        <m:ctrlPr>
                          <a:rPr lang="pt-BR" sz="1400" i="1">
                            <a:latin typeface="Cambria Math" panose="02040503050406030204" pitchFamily="18" charset="0"/>
                          </a:rPr>
                        </m:ctrlPr>
                      </m:dPr>
                      <m:e>
                        <m:r>
                          <a:rPr lang="pt-BR" sz="1400" i="1">
                            <a:latin typeface="Cambria Math" panose="02040503050406030204" pitchFamily="18" charset="0"/>
                          </a:rPr>
                          <m:t>𝑥</m:t>
                        </m:r>
                      </m:e>
                    </m:d>
                  </m:oMath>
                </a14:m>
                <a:endParaRPr lang="pt-BR" dirty="0"/>
              </a:p>
            </p:txBody>
          </p:sp>
        </mc:Choice>
        <mc:Fallback xmlns="">
          <p:sp>
            <p:nvSpPr>
              <p:cNvPr id="18" name="TextBox 17"/>
              <p:cNvSpPr txBox="1">
                <a:spLocks noRot="1" noChangeAspect="1" noMove="1" noResize="1" noEditPoints="1" noAdjustHandles="1" noChangeArrowheads="1" noChangeShapeType="1" noTextEdit="1"/>
              </p:cNvSpPr>
              <p:nvPr/>
            </p:nvSpPr>
            <p:spPr>
              <a:xfrm>
                <a:off x="238826" y="3769539"/>
                <a:ext cx="1512176" cy="861774"/>
              </a:xfrm>
              <a:prstGeom prst="rect">
                <a:avLst/>
              </a:prstGeom>
              <a:blipFill>
                <a:blip r:embed="rId4"/>
                <a:stretch>
                  <a:fillRect t="-3521" b="-6338"/>
                </a:stretch>
              </a:blipFill>
            </p:spPr>
            <p:txBody>
              <a:bodyPr/>
              <a:lstStyle/>
              <a:p>
                <a:r>
                  <a:rPr lang="pt-BR">
                    <a:noFill/>
                  </a:rPr>
                  <a:t> </a:t>
                </a:r>
              </a:p>
            </p:txBody>
          </p:sp>
        </mc:Fallback>
      </mc:AlternateContent>
      <p:cxnSp>
        <p:nvCxnSpPr>
          <p:cNvPr id="19" name="Straight Arrow Connector 18"/>
          <p:cNvCxnSpPr>
            <a:cxnSpLocks/>
            <a:stCxn id="13" idx="3"/>
          </p:cNvCxnSpPr>
          <p:nvPr/>
        </p:nvCxnSpPr>
        <p:spPr>
          <a:xfrm>
            <a:off x="3948518" y="3853543"/>
            <a:ext cx="296824"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6" name="Retângulo 5"/>
          <p:cNvSpPr/>
          <p:nvPr/>
        </p:nvSpPr>
        <p:spPr>
          <a:xfrm>
            <a:off x="919933" y="4866390"/>
            <a:ext cx="2722316" cy="369332"/>
          </a:xfrm>
          <a:prstGeom prst="rect">
            <a:avLst/>
          </a:prstGeom>
        </p:spPr>
        <p:txBody>
          <a:bodyPr wrap="square">
            <a:spAutoFit/>
          </a:bodyPr>
          <a:lstStyle/>
          <a:p>
            <a:r>
              <a:rPr lang="pt-BR" b="1" i="1" dirty="0"/>
              <a:t>Conjunto de treinamento</a:t>
            </a:r>
            <a:endParaRPr lang="en-US" b="1" i="1" dirty="0"/>
          </a:p>
        </p:txBody>
      </p:sp>
      <p:cxnSp>
        <p:nvCxnSpPr>
          <p:cNvPr id="24" name="Conector de seta reta 23"/>
          <p:cNvCxnSpPr>
            <a:cxnSpLocks/>
            <a:stCxn id="21" idx="4"/>
          </p:cNvCxnSpPr>
          <p:nvPr/>
        </p:nvCxnSpPr>
        <p:spPr>
          <a:xfrm>
            <a:off x="994292" y="4703907"/>
            <a:ext cx="464241" cy="21814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o explicativo retangular 21"/>
          <p:cNvSpPr/>
          <p:nvPr/>
        </p:nvSpPr>
        <p:spPr>
          <a:xfrm>
            <a:off x="4391933" y="2812460"/>
            <a:ext cx="1169418" cy="422029"/>
          </a:xfrm>
          <a:prstGeom prst="wedgeRectCallout">
            <a:avLst>
              <a:gd name="adj1" fmla="val 2399"/>
              <a:gd name="adj2" fmla="val 14335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00" dirty="0">
                <a:solidFill>
                  <a:schemeClr val="tx1"/>
                </a:solidFill>
              </a:rPr>
              <a:t>Resultado do treinamento</a:t>
            </a:r>
            <a:endParaRPr lang="en-US" sz="1400" dirty="0">
              <a:solidFill>
                <a:schemeClr val="tx1"/>
              </a:solidFill>
            </a:endParaRPr>
          </a:p>
        </p:txBody>
      </p:sp>
      <p:sp>
        <p:nvSpPr>
          <p:cNvPr id="21" name="Elipse 20"/>
          <p:cNvSpPr/>
          <p:nvPr/>
        </p:nvSpPr>
        <p:spPr>
          <a:xfrm>
            <a:off x="113863" y="3268629"/>
            <a:ext cx="1760857" cy="1435278"/>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TextBox 19">
                <a:extLst>
                  <a:ext uri="{FF2B5EF4-FFF2-40B4-BE49-F238E27FC236}">
                    <a16:creationId xmlns:a16="http://schemas.microsoft.com/office/drawing/2014/main" id="{27EFCC52-B7B8-453A-D5C5-BFACC0B89FEF}"/>
                  </a:ext>
                </a:extLst>
              </p:cNvPr>
              <p:cNvSpPr txBox="1"/>
              <p:nvPr/>
            </p:nvSpPr>
            <p:spPr>
              <a:xfrm>
                <a:off x="4033547" y="3582730"/>
                <a:ext cx="2063951" cy="584775"/>
              </a:xfrm>
              <a:prstGeom prst="rect">
                <a:avLst/>
              </a:prstGeom>
              <a:noFill/>
            </p:spPr>
            <p:txBody>
              <a:bodyPr wrap="square" rtlCol="0">
                <a:spAutoFit/>
              </a:bodyPr>
              <a:lstStyle/>
              <a:p>
                <a:pPr algn="ctr"/>
                <a:r>
                  <a:rPr lang="pt-BR" b="1" dirty="0">
                    <a:solidFill>
                      <a:srgbClr val="FF0000"/>
                    </a:solidFill>
                  </a:rPr>
                  <a:t>Modelo de ML</a:t>
                </a:r>
              </a:p>
              <a:p>
                <a:pPr algn="ctr"/>
                <a:r>
                  <a:rPr lang="pt-BR" sz="1400" dirty="0" err="1"/>
                  <a:t>e.</a:t>
                </a:r>
                <a:r>
                  <a:rPr lang="pt-BR" sz="1400" dirty="0"/>
                  <a:t>g., </a:t>
                </a:r>
                <a14:m>
                  <m:oMath xmlns:m="http://schemas.openxmlformats.org/officeDocument/2006/math">
                    <m:r>
                      <a:rPr lang="pt-BR" sz="1400" i="1">
                        <a:latin typeface="Cambria Math" panose="02040503050406030204" pitchFamily="18" charset="0"/>
                      </a:rPr>
                      <m:t>𝑦</m:t>
                    </m:r>
                    <m:r>
                      <a:rPr lang="pt-BR" sz="1400" i="1">
                        <a:latin typeface="Cambria Math" panose="02040503050406030204" pitchFamily="18" charset="0"/>
                      </a:rPr>
                      <m:t>=</m:t>
                    </m:r>
                    <m:r>
                      <a:rPr lang="pt-BR" sz="1400" i="1">
                        <a:latin typeface="Cambria Math" panose="02040503050406030204" pitchFamily="18" charset="0"/>
                      </a:rPr>
                      <m:t>𝑓</m:t>
                    </m:r>
                    <m:d>
                      <m:dPr>
                        <m:ctrlPr>
                          <a:rPr lang="pt-BR" sz="1400" i="1">
                            <a:latin typeface="Cambria Math" panose="02040503050406030204" pitchFamily="18" charset="0"/>
                          </a:rPr>
                        </m:ctrlPr>
                      </m:dPr>
                      <m:e>
                        <m:r>
                          <a:rPr lang="pt-BR" sz="1400" i="1">
                            <a:latin typeface="Cambria Math" panose="02040503050406030204" pitchFamily="18" charset="0"/>
                          </a:rPr>
                          <m:t>𝑥</m:t>
                        </m:r>
                      </m:e>
                    </m:d>
                    <m:r>
                      <a:rPr lang="pt-BR" sz="1400" i="1">
                        <a:latin typeface="Cambria Math" panose="02040503050406030204" pitchFamily="18" charset="0"/>
                      </a:rPr>
                      <m:t>=</m:t>
                    </m:r>
                    <m:r>
                      <a:rPr lang="pt-BR" sz="1400" i="1">
                        <a:latin typeface="Cambria Math" panose="02040503050406030204" pitchFamily="18" charset="0"/>
                      </a:rPr>
                      <m:t>𝑎</m:t>
                    </m:r>
                    <m:r>
                      <a:rPr lang="pt-BR" sz="1400" i="1">
                        <a:latin typeface="Cambria Math" panose="02040503050406030204" pitchFamily="18" charset="0"/>
                      </a:rPr>
                      <m:t>+</m:t>
                    </m:r>
                    <m:r>
                      <a:rPr lang="pt-BR" sz="1400" i="1">
                        <a:latin typeface="Cambria Math" panose="02040503050406030204" pitchFamily="18" charset="0"/>
                      </a:rPr>
                      <m:t>𝑏𝑥</m:t>
                    </m:r>
                  </m:oMath>
                </a14:m>
                <a:endParaRPr lang="pt-BR" sz="1400" dirty="0"/>
              </a:p>
            </p:txBody>
          </p:sp>
        </mc:Choice>
        <mc:Fallback xmlns="">
          <p:sp>
            <p:nvSpPr>
              <p:cNvPr id="23" name="TextBox 19">
                <a:extLst>
                  <a:ext uri="{FF2B5EF4-FFF2-40B4-BE49-F238E27FC236}">
                    <a16:creationId xmlns:a16="http://schemas.microsoft.com/office/drawing/2014/main" id="{27EFCC52-B7B8-453A-D5C5-BFACC0B89FEF}"/>
                  </a:ext>
                </a:extLst>
              </p:cNvPr>
              <p:cNvSpPr txBox="1">
                <a:spLocks noRot="1" noChangeAspect="1" noMove="1" noResize="1" noEditPoints="1" noAdjustHandles="1" noChangeArrowheads="1" noChangeShapeType="1" noTextEdit="1"/>
              </p:cNvSpPr>
              <p:nvPr/>
            </p:nvSpPr>
            <p:spPr>
              <a:xfrm>
                <a:off x="4033547" y="3582730"/>
                <a:ext cx="2063951" cy="584775"/>
              </a:xfrm>
              <a:prstGeom prst="rect">
                <a:avLst/>
              </a:prstGeom>
              <a:blipFill>
                <a:blip r:embed="rId5"/>
                <a:stretch>
                  <a:fillRect t="-6250" b="-9375"/>
                </a:stretch>
              </a:blipFill>
            </p:spPr>
            <p:txBody>
              <a:bodyPr/>
              <a:lstStyle/>
              <a:p>
                <a:r>
                  <a:rPr lang="pt-BR">
                    <a:noFill/>
                  </a:rPr>
                  <a:t> </a:t>
                </a:r>
              </a:p>
            </p:txBody>
          </p:sp>
        </mc:Fallback>
      </mc:AlternateContent>
    </p:spTree>
    <p:extLst>
      <p:ext uri="{BB962C8B-B14F-4D97-AF65-F5344CB8AC3E}">
        <p14:creationId xmlns:p14="http://schemas.microsoft.com/office/powerpoint/2010/main" val="21035915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CAE2C6-D107-FD1E-C892-5B95B54B322B}"/>
              </a:ext>
            </a:extLst>
          </p:cNvPr>
          <p:cNvSpPr>
            <a:spLocks noGrp="1"/>
          </p:cNvSpPr>
          <p:nvPr>
            <p:ph type="title"/>
          </p:nvPr>
        </p:nvSpPr>
        <p:spPr/>
        <p:txBody>
          <a:bodyPr/>
          <a:lstStyle/>
          <a:p>
            <a:r>
              <a:rPr lang="pt-BR" dirty="0"/>
              <a:t>O paradigma do aprendizado de máquina</a:t>
            </a:r>
          </a:p>
        </p:txBody>
      </p:sp>
      <p:sp>
        <p:nvSpPr>
          <p:cNvPr id="3" name="Espaço Reservado para Conteúdo 2">
            <a:extLst>
              <a:ext uri="{FF2B5EF4-FFF2-40B4-BE49-F238E27FC236}">
                <a16:creationId xmlns:a16="http://schemas.microsoft.com/office/drawing/2014/main" id="{C9400B58-74B2-79FD-32FE-1DE36CE68CFE}"/>
              </a:ext>
            </a:extLst>
          </p:cNvPr>
          <p:cNvSpPr>
            <a:spLocks noGrp="1"/>
          </p:cNvSpPr>
          <p:nvPr>
            <p:ph idx="1"/>
          </p:nvPr>
        </p:nvSpPr>
        <p:spPr>
          <a:xfrm>
            <a:off x="6834909" y="1825625"/>
            <a:ext cx="5242790" cy="5032376"/>
          </a:xfrm>
        </p:spPr>
        <p:txBody>
          <a:bodyPr>
            <a:normAutofit/>
          </a:bodyPr>
          <a:lstStyle/>
          <a:p>
            <a:r>
              <a:rPr lang="pt-BR" dirty="0"/>
              <a:t>No caso da nossa aplicação, podemos </a:t>
            </a:r>
            <a:r>
              <a:rPr lang="pt-BR" b="1" i="1" dirty="0">
                <a:solidFill>
                  <a:srgbClr val="00B050"/>
                </a:solidFill>
              </a:rPr>
              <a:t>coletar informações de diferentes sensores</a:t>
            </a:r>
            <a:r>
              <a:rPr lang="pt-BR" dirty="0"/>
              <a:t> (i.e., entradas) e </a:t>
            </a:r>
            <a:r>
              <a:rPr lang="pt-BR" b="1" i="1" dirty="0">
                <a:solidFill>
                  <a:srgbClr val="00B050"/>
                </a:solidFill>
              </a:rPr>
              <a:t>rotulá-las</a:t>
            </a:r>
            <a:r>
              <a:rPr lang="pt-BR" dirty="0"/>
              <a:t> (i.e., saídas esperadas) com a atividade do usuário. </a:t>
            </a:r>
          </a:p>
        </p:txBody>
      </p:sp>
      <p:pic>
        <p:nvPicPr>
          <p:cNvPr id="5" name="Imagem 4">
            <a:extLst>
              <a:ext uri="{FF2B5EF4-FFF2-40B4-BE49-F238E27FC236}">
                <a16:creationId xmlns:a16="http://schemas.microsoft.com/office/drawing/2014/main" id="{D7990831-F5F8-FA7F-F208-813E12598C2E}"/>
              </a:ext>
            </a:extLst>
          </p:cNvPr>
          <p:cNvPicPr>
            <a:picLocks noChangeAspect="1"/>
          </p:cNvPicPr>
          <p:nvPr/>
        </p:nvPicPr>
        <p:blipFill>
          <a:blip r:embed="rId2"/>
          <a:stretch>
            <a:fillRect/>
          </a:stretch>
        </p:blipFill>
        <p:spPr>
          <a:xfrm>
            <a:off x="76200" y="2274810"/>
            <a:ext cx="6552000" cy="2308379"/>
          </a:xfrm>
          <a:prstGeom prst="rect">
            <a:avLst/>
          </a:prstGeom>
        </p:spPr>
      </p:pic>
    </p:spTree>
    <p:extLst>
      <p:ext uri="{BB962C8B-B14F-4D97-AF65-F5344CB8AC3E}">
        <p14:creationId xmlns:p14="http://schemas.microsoft.com/office/powerpoint/2010/main" val="41456087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065E5-8F45-1BD5-AF0D-8C6545D1B06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FB668D9-FA22-5459-A7EF-537ACE788125}"/>
              </a:ext>
            </a:extLst>
          </p:cNvPr>
          <p:cNvSpPr>
            <a:spLocks noGrp="1"/>
          </p:cNvSpPr>
          <p:nvPr>
            <p:ph type="title"/>
          </p:nvPr>
        </p:nvSpPr>
        <p:spPr/>
        <p:txBody>
          <a:bodyPr/>
          <a:lstStyle/>
          <a:p>
            <a:r>
              <a:rPr lang="pt-BR" dirty="0"/>
              <a:t>O paradigma do aprendizado de máquina</a:t>
            </a:r>
          </a:p>
        </p:txBody>
      </p:sp>
      <p:sp>
        <p:nvSpPr>
          <p:cNvPr id="3" name="Espaço Reservado para Conteúdo 2">
            <a:extLst>
              <a:ext uri="{FF2B5EF4-FFF2-40B4-BE49-F238E27FC236}">
                <a16:creationId xmlns:a16="http://schemas.microsoft.com/office/drawing/2014/main" id="{FE2F7E17-6357-BAA8-6A6C-7A9D9BF46E85}"/>
              </a:ext>
            </a:extLst>
          </p:cNvPr>
          <p:cNvSpPr>
            <a:spLocks noGrp="1"/>
          </p:cNvSpPr>
          <p:nvPr>
            <p:ph idx="1"/>
          </p:nvPr>
        </p:nvSpPr>
        <p:spPr>
          <a:xfrm>
            <a:off x="6997984" y="1825625"/>
            <a:ext cx="5079715" cy="5032376"/>
          </a:xfrm>
        </p:spPr>
        <p:txBody>
          <a:bodyPr>
            <a:normAutofit/>
          </a:bodyPr>
          <a:lstStyle/>
          <a:p>
            <a:r>
              <a:rPr lang="pt-BR" dirty="0"/>
              <a:t>Usando este </a:t>
            </a:r>
            <a:r>
              <a:rPr lang="pt-BR" b="1" i="1" dirty="0"/>
              <a:t>conjunto de dados </a:t>
            </a:r>
            <a:r>
              <a:rPr lang="pt-BR" dirty="0"/>
              <a:t>(i.e., dados dos sensores e rótulos), o computador pode</a:t>
            </a:r>
            <a:r>
              <a:rPr lang="pt-BR" b="1" i="1" dirty="0">
                <a:solidFill>
                  <a:srgbClr val="00B050"/>
                </a:solidFill>
              </a:rPr>
              <a:t> </a:t>
            </a:r>
            <a:r>
              <a:rPr lang="pt-BR" b="1" i="1" dirty="0">
                <a:solidFill>
                  <a:srgbClr val="7030A0"/>
                </a:solidFill>
              </a:rPr>
              <a:t>descobrir</a:t>
            </a:r>
            <a:r>
              <a:rPr lang="pt-BR" b="1" i="1" dirty="0">
                <a:solidFill>
                  <a:srgbClr val="00B050"/>
                </a:solidFill>
              </a:rPr>
              <a:t> regras que identificam as atividades</a:t>
            </a:r>
            <a:r>
              <a:rPr lang="pt-BR" dirty="0"/>
              <a:t>: </a:t>
            </a:r>
          </a:p>
          <a:p>
            <a:pPr lvl="1">
              <a:buFont typeface="Wingdings" panose="05000000000000000000" pitchFamily="2" charset="2"/>
              <a:buChar char="§"/>
            </a:pPr>
            <a:r>
              <a:rPr lang="pt-BR" dirty="0"/>
              <a:t>caminhar, </a:t>
            </a:r>
          </a:p>
          <a:p>
            <a:pPr lvl="1">
              <a:buFont typeface="Wingdings" panose="05000000000000000000" pitchFamily="2" charset="2"/>
              <a:buChar char="§"/>
            </a:pPr>
            <a:r>
              <a:rPr lang="pt-BR" dirty="0"/>
              <a:t>correr, </a:t>
            </a:r>
          </a:p>
          <a:p>
            <a:pPr lvl="1">
              <a:buFont typeface="Wingdings" panose="05000000000000000000" pitchFamily="2" charset="2"/>
              <a:buChar char="§"/>
            </a:pPr>
            <a:r>
              <a:rPr lang="pt-BR" dirty="0"/>
              <a:t>pedalar e </a:t>
            </a:r>
          </a:p>
          <a:p>
            <a:pPr lvl="1">
              <a:buFont typeface="Wingdings" panose="05000000000000000000" pitchFamily="2" charset="2"/>
              <a:buChar char="§"/>
            </a:pPr>
            <a:r>
              <a:rPr lang="pt-BR" dirty="0"/>
              <a:t>até mesmo jogar golfe.</a:t>
            </a:r>
          </a:p>
        </p:txBody>
      </p:sp>
      <p:pic>
        <p:nvPicPr>
          <p:cNvPr id="5" name="Imagem 4">
            <a:extLst>
              <a:ext uri="{FF2B5EF4-FFF2-40B4-BE49-F238E27FC236}">
                <a16:creationId xmlns:a16="http://schemas.microsoft.com/office/drawing/2014/main" id="{DFA5DC01-1022-7A2E-F90A-26F48412B42C}"/>
              </a:ext>
            </a:extLst>
          </p:cNvPr>
          <p:cNvPicPr>
            <a:picLocks noChangeAspect="1"/>
          </p:cNvPicPr>
          <p:nvPr/>
        </p:nvPicPr>
        <p:blipFill>
          <a:blip r:embed="rId2"/>
          <a:stretch>
            <a:fillRect/>
          </a:stretch>
        </p:blipFill>
        <p:spPr>
          <a:xfrm>
            <a:off x="76200" y="2274810"/>
            <a:ext cx="6552000" cy="2308379"/>
          </a:xfrm>
          <a:prstGeom prst="rect">
            <a:avLst/>
          </a:prstGeom>
        </p:spPr>
      </p:pic>
    </p:spTree>
    <p:extLst>
      <p:ext uri="{BB962C8B-B14F-4D97-AF65-F5344CB8AC3E}">
        <p14:creationId xmlns:p14="http://schemas.microsoft.com/office/powerpoint/2010/main" val="38467135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A5A6F-6D46-48C7-4464-B1AD22DA0EF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2EBBF58-C8DF-D4CC-F96E-9784DC7FD4C6}"/>
              </a:ext>
            </a:extLst>
          </p:cNvPr>
          <p:cNvSpPr>
            <a:spLocks noGrp="1"/>
          </p:cNvSpPr>
          <p:nvPr>
            <p:ph type="title"/>
          </p:nvPr>
        </p:nvSpPr>
        <p:spPr/>
        <p:txBody>
          <a:bodyPr/>
          <a:lstStyle/>
          <a:p>
            <a:r>
              <a:rPr lang="pt-BR" dirty="0"/>
              <a:t>O paradigma do aprendizado de máquina</a:t>
            </a:r>
          </a:p>
        </p:txBody>
      </p:sp>
      <p:sp>
        <p:nvSpPr>
          <p:cNvPr id="3" name="Espaço Reservado para Conteúdo 2">
            <a:extLst>
              <a:ext uri="{FF2B5EF4-FFF2-40B4-BE49-F238E27FC236}">
                <a16:creationId xmlns:a16="http://schemas.microsoft.com/office/drawing/2014/main" id="{6A104971-6270-53A5-0EB5-DE52D07BA4D8}"/>
              </a:ext>
            </a:extLst>
          </p:cNvPr>
          <p:cNvSpPr>
            <a:spLocks noGrp="1"/>
          </p:cNvSpPr>
          <p:nvPr>
            <p:ph idx="1"/>
          </p:nvPr>
        </p:nvSpPr>
        <p:spPr>
          <a:xfrm>
            <a:off x="6997984" y="1825625"/>
            <a:ext cx="5079715" cy="5032376"/>
          </a:xfrm>
        </p:spPr>
        <p:txBody>
          <a:bodyPr>
            <a:normAutofit/>
          </a:bodyPr>
          <a:lstStyle/>
          <a:p>
            <a:r>
              <a:rPr lang="pt-BR" dirty="0"/>
              <a:t>O computador aprende, através de </a:t>
            </a:r>
            <a:r>
              <a:rPr lang="pt-BR" b="1" i="1" dirty="0">
                <a:solidFill>
                  <a:schemeClr val="accent2"/>
                </a:solidFill>
              </a:rPr>
              <a:t>treinamento</a:t>
            </a:r>
            <a:r>
              <a:rPr lang="pt-BR" dirty="0"/>
              <a:t>, </a:t>
            </a:r>
            <a:r>
              <a:rPr lang="pt-BR" b="1" i="1" dirty="0">
                <a:solidFill>
                  <a:srgbClr val="00B050"/>
                </a:solidFill>
              </a:rPr>
              <a:t>padrões</a:t>
            </a:r>
            <a:r>
              <a:rPr lang="pt-BR" dirty="0"/>
              <a:t> nos dados de diferentes sensores que </a:t>
            </a:r>
            <a:r>
              <a:rPr lang="pt-BR" b="1" i="1" dirty="0">
                <a:solidFill>
                  <a:srgbClr val="00B050"/>
                </a:solidFill>
              </a:rPr>
              <a:t>podem ser </a:t>
            </a:r>
            <a:r>
              <a:rPr lang="pt-BR" b="1" i="1" dirty="0">
                <a:solidFill>
                  <a:srgbClr val="7030A0"/>
                </a:solidFill>
              </a:rPr>
              <a:t>mapeados</a:t>
            </a:r>
            <a:r>
              <a:rPr lang="pt-BR" b="1" i="1" dirty="0">
                <a:solidFill>
                  <a:srgbClr val="00B050"/>
                </a:solidFill>
              </a:rPr>
              <a:t> nas atividades</a:t>
            </a:r>
            <a:r>
              <a:rPr lang="pt-BR" dirty="0"/>
              <a:t>.</a:t>
            </a:r>
          </a:p>
        </p:txBody>
      </p:sp>
      <p:pic>
        <p:nvPicPr>
          <p:cNvPr id="5" name="Imagem 4">
            <a:extLst>
              <a:ext uri="{FF2B5EF4-FFF2-40B4-BE49-F238E27FC236}">
                <a16:creationId xmlns:a16="http://schemas.microsoft.com/office/drawing/2014/main" id="{405B7E34-8438-EEDF-963C-EC8C6C36EA38}"/>
              </a:ext>
            </a:extLst>
          </p:cNvPr>
          <p:cNvPicPr>
            <a:picLocks noChangeAspect="1"/>
          </p:cNvPicPr>
          <p:nvPr/>
        </p:nvPicPr>
        <p:blipFill>
          <a:blip r:embed="rId2"/>
          <a:stretch>
            <a:fillRect/>
          </a:stretch>
        </p:blipFill>
        <p:spPr>
          <a:xfrm>
            <a:off x="76200" y="2274810"/>
            <a:ext cx="6552000" cy="2308379"/>
          </a:xfrm>
          <a:prstGeom prst="rect">
            <a:avLst/>
          </a:prstGeom>
        </p:spPr>
      </p:pic>
    </p:spTree>
    <p:extLst>
      <p:ext uri="{BB962C8B-B14F-4D97-AF65-F5344CB8AC3E}">
        <p14:creationId xmlns:p14="http://schemas.microsoft.com/office/powerpoint/2010/main" val="37926000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AAC63C-303B-CC7F-1D4F-8D765EB8B09B}"/>
              </a:ext>
            </a:extLst>
          </p:cNvPr>
          <p:cNvSpPr>
            <a:spLocks noGrp="1"/>
          </p:cNvSpPr>
          <p:nvPr>
            <p:ph type="title"/>
          </p:nvPr>
        </p:nvSpPr>
        <p:spPr/>
        <p:txBody>
          <a:bodyPr/>
          <a:lstStyle/>
          <a:p>
            <a:r>
              <a:rPr lang="pt-BR" dirty="0"/>
              <a:t>Treinamento da máquina (ou modelo de ML)</a:t>
            </a:r>
          </a:p>
        </p:txBody>
      </p:sp>
      <p:sp>
        <p:nvSpPr>
          <p:cNvPr id="3" name="Espaço Reservado para Conteúdo 2">
            <a:extLst>
              <a:ext uri="{FF2B5EF4-FFF2-40B4-BE49-F238E27FC236}">
                <a16:creationId xmlns:a16="http://schemas.microsoft.com/office/drawing/2014/main" id="{62A3C305-4461-D25D-82D9-0C9F42995D65}"/>
              </a:ext>
            </a:extLst>
          </p:cNvPr>
          <p:cNvSpPr>
            <a:spLocks noGrp="1"/>
          </p:cNvSpPr>
          <p:nvPr>
            <p:ph idx="1"/>
          </p:nvPr>
        </p:nvSpPr>
        <p:spPr>
          <a:xfrm>
            <a:off x="6049699" y="1825624"/>
            <a:ext cx="5985114" cy="5032376"/>
          </a:xfrm>
        </p:spPr>
        <p:txBody>
          <a:bodyPr>
            <a:normAutofit/>
          </a:bodyPr>
          <a:lstStyle/>
          <a:p>
            <a:r>
              <a:rPr lang="pt-BR" dirty="0"/>
              <a:t>Na verdade, nós não treinamos a máquina, mas sim, um </a:t>
            </a:r>
            <a:r>
              <a:rPr lang="pt-BR" b="1" i="1" dirty="0">
                <a:solidFill>
                  <a:srgbClr val="7030A0"/>
                </a:solidFill>
              </a:rPr>
              <a:t>modelo</a:t>
            </a:r>
            <a:r>
              <a:rPr lang="pt-BR" dirty="0"/>
              <a:t>.</a:t>
            </a:r>
          </a:p>
          <a:p>
            <a:pPr lvl="1">
              <a:buFont typeface="Wingdings" panose="05000000000000000000" pitchFamily="2" charset="2"/>
              <a:buChar char="§"/>
            </a:pPr>
            <a:r>
              <a:rPr lang="pt-BR" dirty="0"/>
              <a:t>Por exemplo, um neurônio artificial.</a:t>
            </a:r>
          </a:p>
          <a:p>
            <a:r>
              <a:rPr lang="pt-BR" dirty="0"/>
              <a:t>Vamos ver como o treinamento dos modelos funciona em alto nível.</a:t>
            </a:r>
          </a:p>
          <a:p>
            <a:r>
              <a:rPr lang="pt-BR" dirty="0"/>
              <a:t>Essa explicação em alto nível nos </a:t>
            </a:r>
            <a:r>
              <a:rPr lang="pt-BR" b="1" i="1" dirty="0">
                <a:solidFill>
                  <a:srgbClr val="00B050"/>
                </a:solidFill>
              </a:rPr>
              <a:t>dará a base </a:t>
            </a:r>
            <a:r>
              <a:rPr lang="pt-BR" dirty="0"/>
              <a:t>para o entendimento do </a:t>
            </a:r>
            <a:r>
              <a:rPr lang="pt-BR" b="1" i="1" dirty="0">
                <a:solidFill>
                  <a:srgbClr val="7030A0"/>
                </a:solidFill>
              </a:rPr>
              <a:t>algoritmo</a:t>
            </a:r>
            <a:r>
              <a:rPr lang="pt-BR" dirty="0"/>
              <a:t> por trás do </a:t>
            </a:r>
            <a:r>
              <a:rPr lang="pt-BR" b="1" i="1" dirty="0">
                <a:solidFill>
                  <a:srgbClr val="00B050"/>
                </a:solidFill>
              </a:rPr>
              <a:t>treinamento de muitos modelos de ML</a:t>
            </a:r>
            <a:r>
              <a:rPr lang="pt-BR" dirty="0"/>
              <a:t>.</a:t>
            </a:r>
          </a:p>
        </p:txBody>
      </p:sp>
      <p:grpSp>
        <p:nvGrpSpPr>
          <p:cNvPr id="34" name="Agrupar 33">
            <a:extLst>
              <a:ext uri="{FF2B5EF4-FFF2-40B4-BE49-F238E27FC236}">
                <a16:creationId xmlns:a16="http://schemas.microsoft.com/office/drawing/2014/main" id="{C99055CE-2A30-8E13-5578-E4E0AB4F26C3}"/>
              </a:ext>
            </a:extLst>
          </p:cNvPr>
          <p:cNvGrpSpPr/>
          <p:nvPr/>
        </p:nvGrpSpPr>
        <p:grpSpPr>
          <a:xfrm>
            <a:off x="732540" y="2398623"/>
            <a:ext cx="4730868" cy="3031571"/>
            <a:chOff x="157187" y="2378075"/>
            <a:chExt cx="4730868" cy="3031571"/>
          </a:xfrm>
        </p:grpSpPr>
        <p:sp>
          <p:nvSpPr>
            <p:cNvPr id="25" name="Retângulo 24">
              <a:extLst>
                <a:ext uri="{FF2B5EF4-FFF2-40B4-BE49-F238E27FC236}">
                  <a16:creationId xmlns:a16="http://schemas.microsoft.com/office/drawing/2014/main" id="{5E781219-D9F8-C3D2-6311-373A6032B12A}"/>
                </a:ext>
              </a:extLst>
            </p:cNvPr>
            <p:cNvSpPr/>
            <p:nvPr/>
          </p:nvSpPr>
          <p:spPr>
            <a:xfrm>
              <a:off x="425788" y="3029858"/>
              <a:ext cx="463575" cy="1935842"/>
            </a:xfrm>
            <a:prstGeom prst="rect">
              <a:avLst/>
            </a:prstGeom>
            <a:solidFill>
              <a:schemeClr val="accent1">
                <a:alpha val="41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6" name="Rectangle 12">
              <a:extLst>
                <a:ext uri="{FF2B5EF4-FFF2-40B4-BE49-F238E27FC236}">
                  <a16:creationId xmlns:a16="http://schemas.microsoft.com/office/drawing/2014/main" id="{E7853E63-2A92-3519-5D05-A785F4AA7AB1}"/>
                </a:ext>
              </a:extLst>
            </p:cNvPr>
            <p:cNvSpPr/>
            <p:nvPr/>
          </p:nvSpPr>
          <p:spPr>
            <a:xfrm>
              <a:off x="1361788" y="3029857"/>
              <a:ext cx="1216819" cy="8490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Modelo de ML</a:t>
              </a:r>
            </a:p>
          </p:txBody>
        </p:sp>
        <p:cxnSp>
          <p:nvCxnSpPr>
            <p:cNvPr id="7" name="Straight Arrow Connector 14">
              <a:extLst>
                <a:ext uri="{FF2B5EF4-FFF2-40B4-BE49-F238E27FC236}">
                  <a16:creationId xmlns:a16="http://schemas.microsoft.com/office/drawing/2014/main" id="{A9257D97-965C-8425-2635-FF993FEB273B}"/>
                </a:ext>
              </a:extLst>
            </p:cNvPr>
            <p:cNvCxnSpPr>
              <a:cxnSpLocks/>
            </p:cNvCxnSpPr>
            <p:nvPr/>
          </p:nvCxnSpPr>
          <p:spPr>
            <a:xfrm>
              <a:off x="893787" y="3471233"/>
              <a:ext cx="46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14">
              <a:extLst>
                <a:ext uri="{FF2B5EF4-FFF2-40B4-BE49-F238E27FC236}">
                  <a16:creationId xmlns:a16="http://schemas.microsoft.com/office/drawing/2014/main" id="{81279072-2FCD-B9AC-98AF-9E1381EA4C61}"/>
                </a:ext>
              </a:extLst>
            </p:cNvPr>
            <p:cNvCxnSpPr>
              <a:cxnSpLocks/>
              <a:stCxn id="6" idx="3"/>
              <a:endCxn id="9" idx="1"/>
            </p:cNvCxnSpPr>
            <p:nvPr/>
          </p:nvCxnSpPr>
          <p:spPr>
            <a:xfrm>
              <a:off x="2578607" y="3454400"/>
              <a:ext cx="692886"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9" name="Rectangle 12">
              <a:extLst>
                <a:ext uri="{FF2B5EF4-FFF2-40B4-BE49-F238E27FC236}">
                  <a16:creationId xmlns:a16="http://schemas.microsoft.com/office/drawing/2014/main" id="{3DC3166C-018F-F1AF-A692-954F8C6F39F2}"/>
                </a:ext>
              </a:extLst>
            </p:cNvPr>
            <p:cNvSpPr/>
            <p:nvPr/>
          </p:nvSpPr>
          <p:spPr>
            <a:xfrm>
              <a:off x="3271493" y="3029857"/>
              <a:ext cx="1216818" cy="8490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Função de erro</a:t>
              </a:r>
            </a:p>
          </p:txBody>
        </p:sp>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5288BD09-DF15-9DAC-F0A9-2A5E8A55D030}"/>
                    </a:ext>
                  </a:extLst>
                </p:cNvPr>
                <p:cNvSpPr txBox="1"/>
                <p:nvPr/>
              </p:nvSpPr>
              <p:spPr>
                <a:xfrm flipH="1">
                  <a:off x="436587" y="3162012"/>
                  <a:ext cx="467999"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pt-BR" sz="2400" b="1" i="1" smtClean="0">
                            <a:latin typeface="Cambria Math" panose="02040503050406030204" pitchFamily="18" charset="0"/>
                          </a:rPr>
                          <m:t>𝒙</m:t>
                        </m:r>
                      </m:oMath>
                    </m:oMathPara>
                  </a14:m>
                  <a:endParaRPr lang="pt-BR" sz="2400" b="1" dirty="0"/>
                </a:p>
              </p:txBody>
            </p:sp>
          </mc:Choice>
          <mc:Fallback xmlns="">
            <p:sp>
              <p:nvSpPr>
                <p:cNvPr id="11" name="CaixaDeTexto 10">
                  <a:extLst>
                    <a:ext uri="{FF2B5EF4-FFF2-40B4-BE49-F238E27FC236}">
                      <a16:creationId xmlns:a16="http://schemas.microsoft.com/office/drawing/2014/main" id="{5288BD09-DF15-9DAC-F0A9-2A5E8A55D030}"/>
                    </a:ext>
                  </a:extLst>
                </p:cNvPr>
                <p:cNvSpPr txBox="1">
                  <a:spLocks noRot="1" noChangeAspect="1" noMove="1" noResize="1" noEditPoints="1" noAdjustHandles="1" noChangeArrowheads="1" noChangeShapeType="1" noTextEdit="1"/>
                </p:cNvSpPr>
                <p:nvPr/>
              </p:nvSpPr>
              <p:spPr>
                <a:xfrm flipH="1">
                  <a:off x="436587" y="3162012"/>
                  <a:ext cx="467999" cy="461665"/>
                </a:xfrm>
                <a:prstGeom prst="rect">
                  <a:avLst/>
                </a:prstGeom>
                <a:blipFill>
                  <a:blip r:embed="rId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2" name="CaixaDeTexto 11">
                  <a:extLst>
                    <a:ext uri="{FF2B5EF4-FFF2-40B4-BE49-F238E27FC236}">
                      <a16:creationId xmlns:a16="http://schemas.microsoft.com/office/drawing/2014/main" id="{120EB5AF-A158-F20A-7D5F-DC34312E5153}"/>
                    </a:ext>
                  </a:extLst>
                </p:cNvPr>
                <p:cNvSpPr txBox="1"/>
                <p:nvPr/>
              </p:nvSpPr>
              <p:spPr>
                <a:xfrm flipH="1">
                  <a:off x="425788" y="4367212"/>
                  <a:ext cx="467999"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pt-BR" sz="2400" b="0" i="1" smtClean="0">
                            <a:latin typeface="Cambria Math" panose="02040503050406030204" pitchFamily="18" charset="0"/>
                          </a:rPr>
                          <m:t>𝑦</m:t>
                        </m:r>
                      </m:oMath>
                    </m:oMathPara>
                  </a14:m>
                  <a:endParaRPr lang="pt-BR" sz="2400" dirty="0"/>
                </a:p>
              </p:txBody>
            </p:sp>
          </mc:Choice>
          <mc:Fallback xmlns="">
            <p:sp>
              <p:nvSpPr>
                <p:cNvPr id="12" name="CaixaDeTexto 11">
                  <a:extLst>
                    <a:ext uri="{FF2B5EF4-FFF2-40B4-BE49-F238E27FC236}">
                      <a16:creationId xmlns:a16="http://schemas.microsoft.com/office/drawing/2014/main" id="{120EB5AF-A158-F20A-7D5F-DC34312E5153}"/>
                    </a:ext>
                  </a:extLst>
                </p:cNvPr>
                <p:cNvSpPr txBox="1">
                  <a:spLocks noRot="1" noChangeAspect="1" noMove="1" noResize="1" noEditPoints="1" noAdjustHandles="1" noChangeArrowheads="1" noChangeShapeType="1" noTextEdit="1"/>
                </p:cNvSpPr>
                <p:nvPr/>
              </p:nvSpPr>
              <p:spPr>
                <a:xfrm flipH="1">
                  <a:off x="425788" y="4367212"/>
                  <a:ext cx="467999" cy="461665"/>
                </a:xfrm>
                <a:prstGeom prst="rect">
                  <a:avLst/>
                </a:prstGeom>
                <a:blipFill>
                  <a:blip r:embed="rId5"/>
                  <a:stretch>
                    <a:fillRect b="-1052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3" name="CaixaDeTexto 12">
                  <a:extLst>
                    <a:ext uri="{FF2B5EF4-FFF2-40B4-BE49-F238E27FC236}">
                      <a16:creationId xmlns:a16="http://schemas.microsoft.com/office/drawing/2014/main" id="{0DD5471C-A64B-2523-03B6-5429998A9CAA}"/>
                    </a:ext>
                  </a:extLst>
                </p:cNvPr>
                <p:cNvSpPr txBox="1"/>
                <p:nvPr/>
              </p:nvSpPr>
              <p:spPr>
                <a:xfrm flipH="1">
                  <a:off x="2656972" y="3008452"/>
                  <a:ext cx="467999"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pt-BR" sz="2400" b="0" i="1" smtClean="0">
                                <a:latin typeface="Cambria Math" panose="02040503050406030204" pitchFamily="18" charset="0"/>
                              </a:rPr>
                            </m:ctrlPr>
                          </m:accPr>
                          <m:e>
                            <m:r>
                              <a:rPr lang="pt-BR" sz="2400" b="0" i="1" smtClean="0">
                                <a:latin typeface="Cambria Math" panose="02040503050406030204" pitchFamily="18" charset="0"/>
                              </a:rPr>
                              <m:t>𝑦</m:t>
                            </m:r>
                          </m:e>
                        </m:acc>
                      </m:oMath>
                    </m:oMathPara>
                  </a14:m>
                  <a:endParaRPr lang="pt-BR" sz="2400" dirty="0"/>
                </a:p>
              </p:txBody>
            </p:sp>
          </mc:Choice>
          <mc:Fallback xmlns="">
            <p:sp>
              <p:nvSpPr>
                <p:cNvPr id="13" name="CaixaDeTexto 12">
                  <a:extLst>
                    <a:ext uri="{FF2B5EF4-FFF2-40B4-BE49-F238E27FC236}">
                      <a16:creationId xmlns:a16="http://schemas.microsoft.com/office/drawing/2014/main" id="{0DD5471C-A64B-2523-03B6-5429998A9CAA}"/>
                    </a:ext>
                  </a:extLst>
                </p:cNvPr>
                <p:cNvSpPr txBox="1">
                  <a:spLocks noRot="1" noChangeAspect="1" noMove="1" noResize="1" noEditPoints="1" noAdjustHandles="1" noChangeArrowheads="1" noChangeShapeType="1" noTextEdit="1"/>
                </p:cNvSpPr>
                <p:nvPr/>
              </p:nvSpPr>
              <p:spPr>
                <a:xfrm flipH="1">
                  <a:off x="2656972" y="3008452"/>
                  <a:ext cx="467999" cy="461665"/>
                </a:xfrm>
                <a:prstGeom prst="rect">
                  <a:avLst/>
                </a:prstGeom>
                <a:blipFill>
                  <a:blip r:embed="rId6"/>
                  <a:stretch>
                    <a:fillRect t="-4000" r="-24675" b="-10667"/>
                  </a:stretch>
                </a:blipFill>
              </p:spPr>
              <p:txBody>
                <a:bodyPr/>
                <a:lstStyle/>
                <a:p>
                  <a:r>
                    <a:rPr lang="pt-BR">
                      <a:noFill/>
                    </a:rPr>
                    <a:t> </a:t>
                  </a:r>
                </a:p>
              </p:txBody>
            </p:sp>
          </mc:Fallback>
        </mc:AlternateContent>
        <p:cxnSp>
          <p:nvCxnSpPr>
            <p:cNvPr id="16" name="Conector: Angulado 15">
              <a:extLst>
                <a:ext uri="{FF2B5EF4-FFF2-40B4-BE49-F238E27FC236}">
                  <a16:creationId xmlns:a16="http://schemas.microsoft.com/office/drawing/2014/main" id="{3FAEDAB4-1B8D-7870-9AD3-B92809EB1C85}"/>
                </a:ext>
              </a:extLst>
            </p:cNvPr>
            <p:cNvCxnSpPr>
              <a:cxnSpLocks/>
              <a:stCxn id="12" idx="1"/>
              <a:endCxn id="9" idx="2"/>
            </p:cNvCxnSpPr>
            <p:nvPr/>
          </p:nvCxnSpPr>
          <p:spPr>
            <a:xfrm flipV="1">
              <a:off x="893787" y="3878943"/>
              <a:ext cx="2986115" cy="71910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ector: Angulado 20">
              <a:extLst>
                <a:ext uri="{FF2B5EF4-FFF2-40B4-BE49-F238E27FC236}">
                  <a16:creationId xmlns:a16="http://schemas.microsoft.com/office/drawing/2014/main" id="{D673CECA-B641-12AA-8739-E88867B97027}"/>
                </a:ext>
              </a:extLst>
            </p:cNvPr>
            <p:cNvCxnSpPr>
              <a:stCxn id="9" idx="3"/>
            </p:cNvCxnSpPr>
            <p:nvPr/>
          </p:nvCxnSpPr>
          <p:spPr>
            <a:xfrm flipH="1" flipV="1">
              <a:off x="2663083" y="2378075"/>
              <a:ext cx="1825228" cy="1076325"/>
            </a:xfrm>
            <a:prstGeom prst="bentConnector3">
              <a:avLst>
                <a:gd name="adj1" fmla="val -12524"/>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Conector reto 22">
              <a:extLst>
                <a:ext uri="{FF2B5EF4-FFF2-40B4-BE49-F238E27FC236}">
                  <a16:creationId xmlns:a16="http://schemas.microsoft.com/office/drawing/2014/main" id="{8398CC8E-EF21-D29C-8F65-6D07E0E1EE67}"/>
                </a:ext>
              </a:extLst>
            </p:cNvPr>
            <p:cNvCxnSpPr/>
            <p:nvPr/>
          </p:nvCxnSpPr>
          <p:spPr>
            <a:xfrm flipH="1">
              <a:off x="1450107" y="2378075"/>
              <a:ext cx="1212396" cy="1743075"/>
            </a:xfrm>
            <a:prstGeom prst="line">
              <a:avLst/>
            </a:prstGeom>
            <a:ln>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4" name="CaixaDeTexto 23">
              <a:extLst>
                <a:ext uri="{FF2B5EF4-FFF2-40B4-BE49-F238E27FC236}">
                  <a16:creationId xmlns:a16="http://schemas.microsoft.com/office/drawing/2014/main" id="{A983C952-9622-7311-DD7F-BBE088C3FA5C}"/>
                </a:ext>
              </a:extLst>
            </p:cNvPr>
            <p:cNvSpPr txBox="1"/>
            <p:nvPr/>
          </p:nvSpPr>
          <p:spPr>
            <a:xfrm>
              <a:off x="893787" y="4074825"/>
              <a:ext cx="1309262" cy="276999"/>
            </a:xfrm>
            <a:prstGeom prst="rect">
              <a:avLst/>
            </a:prstGeom>
            <a:noFill/>
          </p:spPr>
          <p:txBody>
            <a:bodyPr wrap="square" rtlCol="0">
              <a:spAutoFit/>
            </a:bodyPr>
            <a:lstStyle/>
            <a:p>
              <a:pPr algn="ctr"/>
              <a:r>
                <a:rPr lang="pt-BR" sz="1200" dirty="0"/>
                <a:t>Ajuste do modelo</a:t>
              </a:r>
            </a:p>
          </p:txBody>
        </p:sp>
        <p:sp>
          <p:nvSpPr>
            <p:cNvPr id="26" name="CaixaDeTexto 25">
              <a:extLst>
                <a:ext uri="{FF2B5EF4-FFF2-40B4-BE49-F238E27FC236}">
                  <a16:creationId xmlns:a16="http://schemas.microsoft.com/office/drawing/2014/main" id="{A6C5BE65-AEB1-25A0-ECFE-36046A8635E7}"/>
                </a:ext>
              </a:extLst>
            </p:cNvPr>
            <p:cNvSpPr txBox="1"/>
            <p:nvPr/>
          </p:nvSpPr>
          <p:spPr>
            <a:xfrm>
              <a:off x="157187" y="4947981"/>
              <a:ext cx="1047413" cy="461665"/>
            </a:xfrm>
            <a:prstGeom prst="rect">
              <a:avLst/>
            </a:prstGeom>
            <a:noFill/>
          </p:spPr>
          <p:txBody>
            <a:bodyPr wrap="square" rtlCol="0">
              <a:spAutoFit/>
            </a:bodyPr>
            <a:lstStyle/>
            <a:p>
              <a:pPr algn="ctr"/>
              <a:r>
                <a:rPr lang="pt-BR" sz="1200" dirty="0"/>
                <a:t>Conjunto de treinamento</a:t>
              </a:r>
            </a:p>
          </p:txBody>
        </p:sp>
        <p:sp>
          <p:nvSpPr>
            <p:cNvPr id="27" name="CaixaDeTexto 26">
              <a:extLst>
                <a:ext uri="{FF2B5EF4-FFF2-40B4-BE49-F238E27FC236}">
                  <a16:creationId xmlns:a16="http://schemas.microsoft.com/office/drawing/2014/main" id="{0794D333-1DB6-18B2-56CE-2B802E73EEEE}"/>
                </a:ext>
              </a:extLst>
            </p:cNvPr>
            <p:cNvSpPr txBox="1"/>
            <p:nvPr/>
          </p:nvSpPr>
          <p:spPr>
            <a:xfrm>
              <a:off x="2578608" y="3490140"/>
              <a:ext cx="692886" cy="276999"/>
            </a:xfrm>
            <a:prstGeom prst="rect">
              <a:avLst/>
            </a:prstGeom>
            <a:noFill/>
          </p:spPr>
          <p:txBody>
            <a:bodyPr wrap="square" rtlCol="0">
              <a:spAutoFit/>
            </a:bodyPr>
            <a:lstStyle/>
            <a:p>
              <a:pPr algn="ctr"/>
              <a:r>
                <a:rPr lang="pt-BR" sz="1200" dirty="0"/>
                <a:t>palpite</a:t>
              </a:r>
            </a:p>
          </p:txBody>
        </p:sp>
        <p:sp>
          <p:nvSpPr>
            <p:cNvPr id="33" name="CaixaDeTexto 32">
              <a:extLst>
                <a:ext uri="{FF2B5EF4-FFF2-40B4-BE49-F238E27FC236}">
                  <a16:creationId xmlns:a16="http://schemas.microsoft.com/office/drawing/2014/main" id="{5951DD9B-3496-28D4-FA71-CD2BFAF52EDB}"/>
                </a:ext>
              </a:extLst>
            </p:cNvPr>
            <p:cNvSpPr txBox="1"/>
            <p:nvPr/>
          </p:nvSpPr>
          <p:spPr>
            <a:xfrm>
              <a:off x="4433138" y="3443383"/>
              <a:ext cx="454917" cy="276999"/>
            </a:xfrm>
            <a:prstGeom prst="rect">
              <a:avLst/>
            </a:prstGeom>
            <a:noFill/>
          </p:spPr>
          <p:txBody>
            <a:bodyPr wrap="square" rtlCol="0">
              <a:spAutoFit/>
            </a:bodyPr>
            <a:lstStyle/>
            <a:p>
              <a:pPr algn="ctr"/>
              <a:r>
                <a:rPr lang="pt-BR" sz="1200" dirty="0"/>
                <a:t>erro</a:t>
              </a:r>
            </a:p>
          </p:txBody>
        </p:sp>
      </p:grpSp>
    </p:spTree>
    <p:extLst>
      <p:ext uri="{BB962C8B-B14F-4D97-AF65-F5344CB8AC3E}">
        <p14:creationId xmlns:p14="http://schemas.microsoft.com/office/powerpoint/2010/main" val="18118718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AAC63C-303B-CC7F-1D4F-8D765EB8B09B}"/>
              </a:ext>
            </a:extLst>
          </p:cNvPr>
          <p:cNvSpPr>
            <a:spLocks noGrp="1"/>
          </p:cNvSpPr>
          <p:nvPr>
            <p:ph type="title"/>
          </p:nvPr>
        </p:nvSpPr>
        <p:spPr/>
        <p:txBody>
          <a:bodyPr/>
          <a:lstStyle/>
          <a:p>
            <a:r>
              <a:rPr lang="pt-BR" dirty="0"/>
              <a:t>Treinamento da máquina (ou modelo de ML)</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62A3C305-4461-D25D-82D9-0C9F42995D65}"/>
                  </a:ext>
                </a:extLst>
              </p:cNvPr>
              <p:cNvSpPr>
                <a:spLocks noGrp="1"/>
              </p:cNvSpPr>
              <p:nvPr>
                <p:ph idx="1"/>
              </p:nvPr>
            </p:nvSpPr>
            <p:spPr>
              <a:xfrm>
                <a:off x="6049699" y="1825624"/>
                <a:ext cx="5985114" cy="5032376"/>
              </a:xfrm>
            </p:spPr>
            <p:txBody>
              <a:bodyPr>
                <a:normAutofit/>
              </a:bodyPr>
              <a:lstStyle/>
              <a:p>
                <a:r>
                  <a:rPr lang="pt-BR" dirty="0"/>
                  <a:t>Primeiro, o modelo de ML faz um </a:t>
                </a:r>
                <a:r>
                  <a:rPr lang="pt-BR" b="1" i="1" dirty="0">
                    <a:solidFill>
                      <a:srgbClr val="00B050"/>
                    </a:solidFill>
                  </a:rPr>
                  <a:t>mapeamento</a:t>
                </a:r>
                <a:r>
                  <a:rPr lang="pt-BR" b="1" i="1" dirty="0"/>
                  <a:t> </a:t>
                </a:r>
                <a:r>
                  <a:rPr lang="pt-BR" b="1" i="1" dirty="0">
                    <a:solidFill>
                      <a:srgbClr val="7030A0"/>
                    </a:solidFill>
                  </a:rPr>
                  <a:t>aleatório</a:t>
                </a:r>
                <a:r>
                  <a:rPr lang="pt-BR" b="1" i="1" dirty="0"/>
                  <a:t> </a:t>
                </a:r>
                <a:r>
                  <a:rPr lang="pt-BR" dirty="0"/>
                  <a:t>da entrada, </a:t>
                </a:r>
                <a14:m>
                  <m:oMath xmlns:m="http://schemas.openxmlformats.org/officeDocument/2006/math">
                    <m:r>
                      <a:rPr lang="pt-BR" b="1" i="1" smtClean="0">
                        <a:latin typeface="Cambria Math" panose="02040503050406030204" pitchFamily="18" charset="0"/>
                      </a:rPr>
                      <m:t>𝒙</m:t>
                    </m:r>
                  </m:oMath>
                </a14:m>
                <a:r>
                  <a:rPr lang="pt-BR" dirty="0"/>
                  <a:t>, em um valor de saída, </a:t>
                </a:r>
                <a14:m>
                  <m:oMath xmlns:m="http://schemas.openxmlformats.org/officeDocument/2006/math">
                    <m:acc>
                      <m:accPr>
                        <m:chr m:val="̂"/>
                        <m:ctrlPr>
                          <a:rPr lang="pt-BR" i="1" smtClean="0">
                            <a:latin typeface="Cambria Math" panose="02040503050406030204" pitchFamily="18" charset="0"/>
                          </a:rPr>
                        </m:ctrlPr>
                      </m:accPr>
                      <m:e>
                        <m:r>
                          <a:rPr lang="pt-BR" b="0" i="1" smtClean="0">
                            <a:latin typeface="Cambria Math" panose="02040503050406030204" pitchFamily="18" charset="0"/>
                          </a:rPr>
                          <m:t>𝑦</m:t>
                        </m:r>
                      </m:e>
                    </m:acc>
                  </m:oMath>
                </a14:m>
                <a:r>
                  <a:rPr lang="pt-BR" dirty="0"/>
                  <a:t>.</a:t>
                </a:r>
              </a:p>
              <a:p>
                <a:pPr lvl="1">
                  <a:buFont typeface="Wingdings" panose="05000000000000000000" pitchFamily="2" charset="2"/>
                  <a:buChar char="§"/>
                </a:pPr>
                <a:r>
                  <a:rPr lang="pt-BR" dirty="0"/>
                  <a:t>Por exemplos, os pesos sinápticos e de bias de um neurônio são inicializados de forma aleatória.</a:t>
                </a:r>
              </a:p>
              <a:p>
                <a:r>
                  <a:rPr lang="pt-BR" dirty="0"/>
                  <a:t>Ou seja, o modelo dá um </a:t>
                </a:r>
                <a:r>
                  <a:rPr lang="pt-BR" b="1" i="1" dirty="0">
                    <a:solidFill>
                      <a:srgbClr val="00B050"/>
                    </a:solidFill>
                  </a:rPr>
                  <a:t>palpite</a:t>
                </a:r>
                <a:r>
                  <a:rPr lang="pt-BR" dirty="0"/>
                  <a:t> sobre qual deve ser a saída para aquela entrada.</a:t>
                </a:r>
              </a:p>
            </p:txBody>
          </p:sp>
        </mc:Choice>
        <mc:Fallback xmlns="">
          <p:sp>
            <p:nvSpPr>
              <p:cNvPr id="3" name="Espaço Reservado para Conteúdo 2">
                <a:extLst>
                  <a:ext uri="{FF2B5EF4-FFF2-40B4-BE49-F238E27FC236}">
                    <a16:creationId xmlns:a16="http://schemas.microsoft.com/office/drawing/2014/main" id="{62A3C305-4461-D25D-82D9-0C9F42995D65}"/>
                  </a:ext>
                </a:extLst>
              </p:cNvPr>
              <p:cNvSpPr>
                <a:spLocks noGrp="1" noRot="1" noChangeAspect="1" noMove="1" noResize="1" noEditPoints="1" noAdjustHandles="1" noChangeArrowheads="1" noChangeShapeType="1" noTextEdit="1"/>
              </p:cNvSpPr>
              <p:nvPr>
                <p:ph idx="1"/>
              </p:nvPr>
            </p:nvSpPr>
            <p:spPr>
              <a:xfrm>
                <a:off x="6049699" y="1825624"/>
                <a:ext cx="5985114" cy="5032376"/>
              </a:xfrm>
              <a:blipFill>
                <a:blip r:embed="rId3"/>
                <a:stretch>
                  <a:fillRect l="-1833" t="-1937" r="-2444"/>
                </a:stretch>
              </a:blipFill>
            </p:spPr>
            <p:txBody>
              <a:bodyPr/>
              <a:lstStyle/>
              <a:p>
                <a:r>
                  <a:rPr lang="en-US">
                    <a:noFill/>
                  </a:rPr>
                  <a:t> </a:t>
                </a:r>
              </a:p>
            </p:txBody>
          </p:sp>
        </mc:Fallback>
      </mc:AlternateContent>
      <p:grpSp>
        <p:nvGrpSpPr>
          <p:cNvPr id="34" name="Agrupar 33">
            <a:extLst>
              <a:ext uri="{FF2B5EF4-FFF2-40B4-BE49-F238E27FC236}">
                <a16:creationId xmlns:a16="http://schemas.microsoft.com/office/drawing/2014/main" id="{C99055CE-2A30-8E13-5578-E4E0AB4F26C3}"/>
              </a:ext>
            </a:extLst>
          </p:cNvPr>
          <p:cNvGrpSpPr/>
          <p:nvPr/>
        </p:nvGrpSpPr>
        <p:grpSpPr>
          <a:xfrm>
            <a:off x="732540" y="2398623"/>
            <a:ext cx="4730868" cy="3031571"/>
            <a:chOff x="157187" y="2378075"/>
            <a:chExt cx="4730868" cy="3031571"/>
          </a:xfrm>
        </p:grpSpPr>
        <p:sp>
          <p:nvSpPr>
            <p:cNvPr id="25" name="Retângulo 24">
              <a:extLst>
                <a:ext uri="{FF2B5EF4-FFF2-40B4-BE49-F238E27FC236}">
                  <a16:creationId xmlns:a16="http://schemas.microsoft.com/office/drawing/2014/main" id="{5E781219-D9F8-C3D2-6311-373A6032B12A}"/>
                </a:ext>
              </a:extLst>
            </p:cNvPr>
            <p:cNvSpPr/>
            <p:nvPr/>
          </p:nvSpPr>
          <p:spPr>
            <a:xfrm>
              <a:off x="425788" y="3029858"/>
              <a:ext cx="463575" cy="1935842"/>
            </a:xfrm>
            <a:prstGeom prst="rect">
              <a:avLst/>
            </a:prstGeom>
            <a:solidFill>
              <a:schemeClr val="accent1">
                <a:alpha val="41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6" name="Rectangle 12">
              <a:extLst>
                <a:ext uri="{FF2B5EF4-FFF2-40B4-BE49-F238E27FC236}">
                  <a16:creationId xmlns:a16="http://schemas.microsoft.com/office/drawing/2014/main" id="{E7853E63-2A92-3519-5D05-A785F4AA7AB1}"/>
                </a:ext>
              </a:extLst>
            </p:cNvPr>
            <p:cNvSpPr/>
            <p:nvPr/>
          </p:nvSpPr>
          <p:spPr>
            <a:xfrm>
              <a:off x="1361788" y="3029857"/>
              <a:ext cx="1216819" cy="8490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Modelo de ML</a:t>
              </a:r>
            </a:p>
          </p:txBody>
        </p:sp>
        <p:cxnSp>
          <p:nvCxnSpPr>
            <p:cNvPr id="7" name="Straight Arrow Connector 14">
              <a:extLst>
                <a:ext uri="{FF2B5EF4-FFF2-40B4-BE49-F238E27FC236}">
                  <a16:creationId xmlns:a16="http://schemas.microsoft.com/office/drawing/2014/main" id="{A9257D97-965C-8425-2635-FF993FEB273B}"/>
                </a:ext>
              </a:extLst>
            </p:cNvPr>
            <p:cNvCxnSpPr>
              <a:cxnSpLocks/>
            </p:cNvCxnSpPr>
            <p:nvPr/>
          </p:nvCxnSpPr>
          <p:spPr>
            <a:xfrm>
              <a:off x="893787" y="3471233"/>
              <a:ext cx="46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14">
              <a:extLst>
                <a:ext uri="{FF2B5EF4-FFF2-40B4-BE49-F238E27FC236}">
                  <a16:creationId xmlns:a16="http://schemas.microsoft.com/office/drawing/2014/main" id="{81279072-2FCD-B9AC-98AF-9E1381EA4C61}"/>
                </a:ext>
              </a:extLst>
            </p:cNvPr>
            <p:cNvCxnSpPr>
              <a:cxnSpLocks/>
              <a:stCxn id="6" idx="3"/>
              <a:endCxn id="9" idx="1"/>
            </p:cNvCxnSpPr>
            <p:nvPr/>
          </p:nvCxnSpPr>
          <p:spPr>
            <a:xfrm>
              <a:off x="2578607" y="3454400"/>
              <a:ext cx="692886"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9" name="Rectangle 12">
              <a:extLst>
                <a:ext uri="{FF2B5EF4-FFF2-40B4-BE49-F238E27FC236}">
                  <a16:creationId xmlns:a16="http://schemas.microsoft.com/office/drawing/2014/main" id="{3DC3166C-018F-F1AF-A692-954F8C6F39F2}"/>
                </a:ext>
              </a:extLst>
            </p:cNvPr>
            <p:cNvSpPr/>
            <p:nvPr/>
          </p:nvSpPr>
          <p:spPr>
            <a:xfrm>
              <a:off x="3271493" y="3029857"/>
              <a:ext cx="1216818" cy="8490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Função de erro</a:t>
              </a:r>
            </a:p>
          </p:txBody>
        </p:sp>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5288BD09-DF15-9DAC-F0A9-2A5E8A55D030}"/>
                    </a:ext>
                  </a:extLst>
                </p:cNvPr>
                <p:cNvSpPr txBox="1"/>
                <p:nvPr/>
              </p:nvSpPr>
              <p:spPr>
                <a:xfrm flipH="1">
                  <a:off x="436587" y="3162012"/>
                  <a:ext cx="467999"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pt-BR" sz="2400" b="1" i="1" smtClean="0">
                            <a:latin typeface="Cambria Math" panose="02040503050406030204" pitchFamily="18" charset="0"/>
                          </a:rPr>
                          <m:t>𝒙</m:t>
                        </m:r>
                      </m:oMath>
                    </m:oMathPara>
                  </a14:m>
                  <a:endParaRPr lang="pt-BR" sz="2400" b="1" dirty="0"/>
                </a:p>
              </p:txBody>
            </p:sp>
          </mc:Choice>
          <mc:Fallback xmlns="">
            <p:sp>
              <p:nvSpPr>
                <p:cNvPr id="11" name="CaixaDeTexto 10">
                  <a:extLst>
                    <a:ext uri="{FF2B5EF4-FFF2-40B4-BE49-F238E27FC236}">
                      <a16:creationId xmlns:a16="http://schemas.microsoft.com/office/drawing/2014/main" id="{5288BD09-DF15-9DAC-F0A9-2A5E8A55D030}"/>
                    </a:ext>
                  </a:extLst>
                </p:cNvPr>
                <p:cNvSpPr txBox="1">
                  <a:spLocks noRot="1" noChangeAspect="1" noMove="1" noResize="1" noEditPoints="1" noAdjustHandles="1" noChangeArrowheads="1" noChangeShapeType="1" noTextEdit="1"/>
                </p:cNvSpPr>
                <p:nvPr/>
              </p:nvSpPr>
              <p:spPr>
                <a:xfrm flipH="1">
                  <a:off x="436587" y="3162012"/>
                  <a:ext cx="467999" cy="461665"/>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2" name="CaixaDeTexto 11">
                  <a:extLst>
                    <a:ext uri="{FF2B5EF4-FFF2-40B4-BE49-F238E27FC236}">
                      <a16:creationId xmlns:a16="http://schemas.microsoft.com/office/drawing/2014/main" id="{120EB5AF-A158-F20A-7D5F-DC34312E5153}"/>
                    </a:ext>
                  </a:extLst>
                </p:cNvPr>
                <p:cNvSpPr txBox="1"/>
                <p:nvPr/>
              </p:nvSpPr>
              <p:spPr>
                <a:xfrm flipH="1">
                  <a:off x="425788" y="4367212"/>
                  <a:ext cx="467999"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pt-BR" sz="2400" b="0" i="1" smtClean="0">
                            <a:latin typeface="Cambria Math" panose="02040503050406030204" pitchFamily="18" charset="0"/>
                          </a:rPr>
                          <m:t>𝑦</m:t>
                        </m:r>
                      </m:oMath>
                    </m:oMathPara>
                  </a14:m>
                  <a:endParaRPr lang="pt-BR" sz="2400" dirty="0"/>
                </a:p>
              </p:txBody>
            </p:sp>
          </mc:Choice>
          <mc:Fallback xmlns="">
            <p:sp>
              <p:nvSpPr>
                <p:cNvPr id="12" name="CaixaDeTexto 11">
                  <a:extLst>
                    <a:ext uri="{FF2B5EF4-FFF2-40B4-BE49-F238E27FC236}">
                      <a16:creationId xmlns:a16="http://schemas.microsoft.com/office/drawing/2014/main" id="{120EB5AF-A158-F20A-7D5F-DC34312E5153}"/>
                    </a:ext>
                  </a:extLst>
                </p:cNvPr>
                <p:cNvSpPr txBox="1">
                  <a:spLocks noRot="1" noChangeAspect="1" noMove="1" noResize="1" noEditPoints="1" noAdjustHandles="1" noChangeArrowheads="1" noChangeShapeType="1" noTextEdit="1"/>
                </p:cNvSpPr>
                <p:nvPr/>
              </p:nvSpPr>
              <p:spPr>
                <a:xfrm flipH="1">
                  <a:off x="425788" y="4367212"/>
                  <a:ext cx="467999" cy="461665"/>
                </a:xfrm>
                <a:prstGeom prst="rect">
                  <a:avLst/>
                </a:prstGeom>
                <a:blipFill>
                  <a:blip r:embed="rId5"/>
                  <a:stretch>
                    <a:fillRect b="-1052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3" name="CaixaDeTexto 12">
                  <a:extLst>
                    <a:ext uri="{FF2B5EF4-FFF2-40B4-BE49-F238E27FC236}">
                      <a16:creationId xmlns:a16="http://schemas.microsoft.com/office/drawing/2014/main" id="{0DD5471C-A64B-2523-03B6-5429998A9CAA}"/>
                    </a:ext>
                  </a:extLst>
                </p:cNvPr>
                <p:cNvSpPr txBox="1"/>
                <p:nvPr/>
              </p:nvSpPr>
              <p:spPr>
                <a:xfrm flipH="1">
                  <a:off x="2656972" y="3008452"/>
                  <a:ext cx="467999"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pt-BR" sz="2400" b="0" i="1" smtClean="0">
                                <a:latin typeface="Cambria Math" panose="02040503050406030204" pitchFamily="18" charset="0"/>
                              </a:rPr>
                            </m:ctrlPr>
                          </m:accPr>
                          <m:e>
                            <m:r>
                              <a:rPr lang="pt-BR" sz="2400" b="0" i="1" smtClean="0">
                                <a:latin typeface="Cambria Math" panose="02040503050406030204" pitchFamily="18" charset="0"/>
                              </a:rPr>
                              <m:t>𝑦</m:t>
                            </m:r>
                          </m:e>
                        </m:acc>
                      </m:oMath>
                    </m:oMathPara>
                  </a14:m>
                  <a:endParaRPr lang="pt-BR" sz="2400" dirty="0"/>
                </a:p>
              </p:txBody>
            </p:sp>
          </mc:Choice>
          <mc:Fallback xmlns="">
            <p:sp>
              <p:nvSpPr>
                <p:cNvPr id="13" name="CaixaDeTexto 12">
                  <a:extLst>
                    <a:ext uri="{FF2B5EF4-FFF2-40B4-BE49-F238E27FC236}">
                      <a16:creationId xmlns:a16="http://schemas.microsoft.com/office/drawing/2014/main" id="{0DD5471C-A64B-2523-03B6-5429998A9CAA}"/>
                    </a:ext>
                  </a:extLst>
                </p:cNvPr>
                <p:cNvSpPr txBox="1">
                  <a:spLocks noRot="1" noChangeAspect="1" noMove="1" noResize="1" noEditPoints="1" noAdjustHandles="1" noChangeArrowheads="1" noChangeShapeType="1" noTextEdit="1"/>
                </p:cNvSpPr>
                <p:nvPr/>
              </p:nvSpPr>
              <p:spPr>
                <a:xfrm flipH="1">
                  <a:off x="2656972" y="3008452"/>
                  <a:ext cx="467999" cy="461665"/>
                </a:xfrm>
                <a:prstGeom prst="rect">
                  <a:avLst/>
                </a:prstGeom>
                <a:blipFill>
                  <a:blip r:embed="rId6"/>
                  <a:stretch>
                    <a:fillRect t="-4000" r="-24675" b="-10667"/>
                  </a:stretch>
                </a:blipFill>
              </p:spPr>
              <p:txBody>
                <a:bodyPr/>
                <a:lstStyle/>
                <a:p>
                  <a:r>
                    <a:rPr lang="pt-BR">
                      <a:noFill/>
                    </a:rPr>
                    <a:t> </a:t>
                  </a:r>
                </a:p>
              </p:txBody>
            </p:sp>
          </mc:Fallback>
        </mc:AlternateContent>
        <p:cxnSp>
          <p:nvCxnSpPr>
            <p:cNvPr id="16" name="Conector: Angulado 15">
              <a:extLst>
                <a:ext uri="{FF2B5EF4-FFF2-40B4-BE49-F238E27FC236}">
                  <a16:creationId xmlns:a16="http://schemas.microsoft.com/office/drawing/2014/main" id="{3FAEDAB4-1B8D-7870-9AD3-B92809EB1C85}"/>
                </a:ext>
              </a:extLst>
            </p:cNvPr>
            <p:cNvCxnSpPr>
              <a:cxnSpLocks/>
              <a:stCxn id="12" idx="1"/>
              <a:endCxn id="9" idx="2"/>
            </p:cNvCxnSpPr>
            <p:nvPr/>
          </p:nvCxnSpPr>
          <p:spPr>
            <a:xfrm flipV="1">
              <a:off x="893787" y="3878943"/>
              <a:ext cx="2986115" cy="71910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ector: Angulado 20">
              <a:extLst>
                <a:ext uri="{FF2B5EF4-FFF2-40B4-BE49-F238E27FC236}">
                  <a16:creationId xmlns:a16="http://schemas.microsoft.com/office/drawing/2014/main" id="{D673CECA-B641-12AA-8739-E88867B97027}"/>
                </a:ext>
              </a:extLst>
            </p:cNvPr>
            <p:cNvCxnSpPr>
              <a:stCxn id="9" idx="3"/>
            </p:cNvCxnSpPr>
            <p:nvPr/>
          </p:nvCxnSpPr>
          <p:spPr>
            <a:xfrm flipH="1" flipV="1">
              <a:off x="2663083" y="2378075"/>
              <a:ext cx="1825228" cy="1076325"/>
            </a:xfrm>
            <a:prstGeom prst="bentConnector3">
              <a:avLst>
                <a:gd name="adj1" fmla="val -12524"/>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Conector reto 22">
              <a:extLst>
                <a:ext uri="{FF2B5EF4-FFF2-40B4-BE49-F238E27FC236}">
                  <a16:creationId xmlns:a16="http://schemas.microsoft.com/office/drawing/2014/main" id="{8398CC8E-EF21-D29C-8F65-6D07E0E1EE67}"/>
                </a:ext>
              </a:extLst>
            </p:cNvPr>
            <p:cNvCxnSpPr/>
            <p:nvPr/>
          </p:nvCxnSpPr>
          <p:spPr>
            <a:xfrm flipH="1">
              <a:off x="1450107" y="2378075"/>
              <a:ext cx="1212396" cy="1743075"/>
            </a:xfrm>
            <a:prstGeom prst="line">
              <a:avLst/>
            </a:prstGeom>
            <a:ln>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4" name="CaixaDeTexto 23">
              <a:extLst>
                <a:ext uri="{FF2B5EF4-FFF2-40B4-BE49-F238E27FC236}">
                  <a16:creationId xmlns:a16="http://schemas.microsoft.com/office/drawing/2014/main" id="{A983C952-9622-7311-DD7F-BBE088C3FA5C}"/>
                </a:ext>
              </a:extLst>
            </p:cNvPr>
            <p:cNvSpPr txBox="1"/>
            <p:nvPr/>
          </p:nvSpPr>
          <p:spPr>
            <a:xfrm>
              <a:off x="893787" y="4074825"/>
              <a:ext cx="1309262" cy="276999"/>
            </a:xfrm>
            <a:prstGeom prst="rect">
              <a:avLst/>
            </a:prstGeom>
            <a:noFill/>
          </p:spPr>
          <p:txBody>
            <a:bodyPr wrap="square" rtlCol="0">
              <a:spAutoFit/>
            </a:bodyPr>
            <a:lstStyle/>
            <a:p>
              <a:pPr algn="ctr"/>
              <a:r>
                <a:rPr lang="pt-BR" sz="1200" dirty="0"/>
                <a:t>Ajuste do modelo</a:t>
              </a:r>
            </a:p>
          </p:txBody>
        </p:sp>
        <p:sp>
          <p:nvSpPr>
            <p:cNvPr id="26" name="CaixaDeTexto 25">
              <a:extLst>
                <a:ext uri="{FF2B5EF4-FFF2-40B4-BE49-F238E27FC236}">
                  <a16:creationId xmlns:a16="http://schemas.microsoft.com/office/drawing/2014/main" id="{A6C5BE65-AEB1-25A0-ECFE-36046A8635E7}"/>
                </a:ext>
              </a:extLst>
            </p:cNvPr>
            <p:cNvSpPr txBox="1"/>
            <p:nvPr/>
          </p:nvSpPr>
          <p:spPr>
            <a:xfrm>
              <a:off x="157187" y="4947981"/>
              <a:ext cx="1047413" cy="461665"/>
            </a:xfrm>
            <a:prstGeom prst="rect">
              <a:avLst/>
            </a:prstGeom>
            <a:noFill/>
          </p:spPr>
          <p:txBody>
            <a:bodyPr wrap="square" rtlCol="0">
              <a:spAutoFit/>
            </a:bodyPr>
            <a:lstStyle/>
            <a:p>
              <a:pPr algn="ctr"/>
              <a:r>
                <a:rPr lang="pt-BR" sz="1200" dirty="0"/>
                <a:t>Conjunto de treinamento</a:t>
              </a:r>
            </a:p>
          </p:txBody>
        </p:sp>
        <p:sp>
          <p:nvSpPr>
            <p:cNvPr id="27" name="CaixaDeTexto 26">
              <a:extLst>
                <a:ext uri="{FF2B5EF4-FFF2-40B4-BE49-F238E27FC236}">
                  <a16:creationId xmlns:a16="http://schemas.microsoft.com/office/drawing/2014/main" id="{0794D333-1DB6-18B2-56CE-2B802E73EEEE}"/>
                </a:ext>
              </a:extLst>
            </p:cNvPr>
            <p:cNvSpPr txBox="1"/>
            <p:nvPr/>
          </p:nvSpPr>
          <p:spPr>
            <a:xfrm>
              <a:off x="2578608" y="3490140"/>
              <a:ext cx="692886" cy="276999"/>
            </a:xfrm>
            <a:prstGeom prst="rect">
              <a:avLst/>
            </a:prstGeom>
            <a:noFill/>
          </p:spPr>
          <p:txBody>
            <a:bodyPr wrap="square" rtlCol="0">
              <a:spAutoFit/>
            </a:bodyPr>
            <a:lstStyle/>
            <a:p>
              <a:pPr algn="ctr"/>
              <a:r>
                <a:rPr lang="pt-BR" sz="1200" dirty="0"/>
                <a:t>palpite</a:t>
              </a:r>
            </a:p>
          </p:txBody>
        </p:sp>
        <p:sp>
          <p:nvSpPr>
            <p:cNvPr id="33" name="CaixaDeTexto 32">
              <a:extLst>
                <a:ext uri="{FF2B5EF4-FFF2-40B4-BE49-F238E27FC236}">
                  <a16:creationId xmlns:a16="http://schemas.microsoft.com/office/drawing/2014/main" id="{5951DD9B-3496-28D4-FA71-CD2BFAF52EDB}"/>
                </a:ext>
              </a:extLst>
            </p:cNvPr>
            <p:cNvSpPr txBox="1"/>
            <p:nvPr/>
          </p:nvSpPr>
          <p:spPr>
            <a:xfrm>
              <a:off x="4433138" y="3443383"/>
              <a:ext cx="454917" cy="276999"/>
            </a:xfrm>
            <a:prstGeom prst="rect">
              <a:avLst/>
            </a:prstGeom>
            <a:noFill/>
          </p:spPr>
          <p:txBody>
            <a:bodyPr wrap="square" rtlCol="0">
              <a:spAutoFit/>
            </a:bodyPr>
            <a:lstStyle/>
            <a:p>
              <a:pPr algn="ctr"/>
              <a:r>
                <a:rPr lang="pt-BR" sz="1200" dirty="0"/>
                <a:t>erro</a:t>
              </a:r>
            </a:p>
          </p:txBody>
        </p:sp>
      </p:grpSp>
      <p:cxnSp>
        <p:nvCxnSpPr>
          <p:cNvPr id="5" name="Conector de Seta Reta 4">
            <a:extLst>
              <a:ext uri="{FF2B5EF4-FFF2-40B4-BE49-F238E27FC236}">
                <a16:creationId xmlns:a16="http://schemas.microsoft.com/office/drawing/2014/main" id="{3771C7D8-C1ED-95A7-2F19-A79FA983D139}"/>
              </a:ext>
            </a:extLst>
          </p:cNvPr>
          <p:cNvCxnSpPr/>
          <p:nvPr/>
        </p:nvCxnSpPr>
        <p:spPr>
          <a:xfrm flipH="1">
            <a:off x="3626778" y="2054831"/>
            <a:ext cx="667820" cy="97416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92789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AAC63C-303B-CC7F-1D4F-8D765EB8B09B}"/>
              </a:ext>
            </a:extLst>
          </p:cNvPr>
          <p:cNvSpPr>
            <a:spLocks noGrp="1"/>
          </p:cNvSpPr>
          <p:nvPr>
            <p:ph type="title"/>
          </p:nvPr>
        </p:nvSpPr>
        <p:spPr/>
        <p:txBody>
          <a:bodyPr/>
          <a:lstStyle/>
          <a:p>
            <a:r>
              <a:rPr lang="pt-BR" dirty="0"/>
              <a:t>Treinamento da máquina (ou modelo de ML)</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62A3C305-4461-D25D-82D9-0C9F42995D65}"/>
                  </a:ext>
                </a:extLst>
              </p:cNvPr>
              <p:cNvSpPr>
                <a:spLocks noGrp="1"/>
              </p:cNvSpPr>
              <p:nvPr>
                <p:ph idx="1"/>
              </p:nvPr>
            </p:nvSpPr>
            <p:spPr>
              <a:xfrm>
                <a:off x="6225308" y="1825624"/>
                <a:ext cx="5809505" cy="5032376"/>
              </a:xfrm>
            </p:spPr>
            <p:txBody>
              <a:bodyPr>
                <a:normAutofit/>
              </a:bodyPr>
              <a:lstStyle/>
              <a:p>
                <a:r>
                  <a:rPr lang="pt-BR" dirty="0"/>
                  <a:t>Em seguida, usando as saídas esperadas, </a:t>
                </a:r>
                <a14:m>
                  <m:oMath xmlns:m="http://schemas.openxmlformats.org/officeDocument/2006/math">
                    <m:r>
                      <a:rPr lang="pt-BR" b="0" i="1" smtClean="0">
                        <a:latin typeface="Cambria Math" panose="02040503050406030204" pitchFamily="18" charset="0"/>
                      </a:rPr>
                      <m:t>𝑦</m:t>
                    </m:r>
                  </m:oMath>
                </a14:m>
                <a:r>
                  <a:rPr lang="pt-BR" dirty="0"/>
                  <a:t>, (i.e., </a:t>
                </a:r>
                <a:r>
                  <a:rPr lang="pt-BR" b="1" i="1" dirty="0">
                    <a:solidFill>
                      <a:srgbClr val="7030A0"/>
                    </a:solidFill>
                  </a:rPr>
                  <a:t>rótulos</a:t>
                </a:r>
                <a:r>
                  <a:rPr lang="pt-BR" dirty="0"/>
                  <a:t>), </a:t>
                </a:r>
                <a:r>
                  <a:rPr lang="pt-BR" b="1" i="1" dirty="0">
                    <a:solidFill>
                      <a:srgbClr val="00B050"/>
                    </a:solidFill>
                  </a:rPr>
                  <a:t>mede-se o quão bom ou ruim foi esse palpite</a:t>
                </a:r>
                <a:r>
                  <a:rPr lang="pt-BR" dirty="0"/>
                  <a:t>.</a:t>
                </a:r>
              </a:p>
              <a:p>
                <a:r>
                  <a:rPr lang="pt-BR" dirty="0"/>
                  <a:t>Medimos a </a:t>
                </a:r>
                <a:r>
                  <a:rPr lang="pt-BR" b="1" i="1" dirty="0">
                    <a:solidFill>
                      <a:srgbClr val="0070C0"/>
                    </a:solidFill>
                  </a:rPr>
                  <a:t>qualidade</a:t>
                </a:r>
                <a:r>
                  <a:rPr lang="pt-BR" dirty="0"/>
                  <a:t> do palpite usando uma função chamada de </a:t>
                </a:r>
                <a:r>
                  <a:rPr lang="pt-BR" b="1" i="1" dirty="0">
                    <a:solidFill>
                      <a:srgbClr val="00B050"/>
                    </a:solidFill>
                  </a:rPr>
                  <a:t>função de perda, erro ou custo</a:t>
                </a:r>
                <a:r>
                  <a:rPr lang="pt-BR" dirty="0"/>
                  <a:t>.</a:t>
                </a:r>
              </a:p>
            </p:txBody>
          </p:sp>
        </mc:Choice>
        <mc:Fallback xmlns="">
          <p:sp>
            <p:nvSpPr>
              <p:cNvPr id="3" name="Espaço Reservado para Conteúdo 2">
                <a:extLst>
                  <a:ext uri="{FF2B5EF4-FFF2-40B4-BE49-F238E27FC236}">
                    <a16:creationId xmlns:a16="http://schemas.microsoft.com/office/drawing/2014/main" id="{62A3C305-4461-D25D-82D9-0C9F42995D65}"/>
                  </a:ext>
                </a:extLst>
              </p:cNvPr>
              <p:cNvSpPr>
                <a:spLocks noGrp="1" noRot="1" noChangeAspect="1" noMove="1" noResize="1" noEditPoints="1" noAdjustHandles="1" noChangeArrowheads="1" noChangeShapeType="1" noTextEdit="1"/>
              </p:cNvSpPr>
              <p:nvPr>
                <p:ph idx="1"/>
              </p:nvPr>
            </p:nvSpPr>
            <p:spPr>
              <a:xfrm>
                <a:off x="6225308" y="1825624"/>
                <a:ext cx="5809505" cy="5032376"/>
              </a:xfrm>
              <a:blipFill>
                <a:blip r:embed="rId3"/>
                <a:stretch>
                  <a:fillRect l="-1889" t="-1937" r="-1784"/>
                </a:stretch>
              </a:blipFill>
            </p:spPr>
            <p:txBody>
              <a:bodyPr/>
              <a:lstStyle/>
              <a:p>
                <a:r>
                  <a:rPr lang="en-US">
                    <a:noFill/>
                  </a:rPr>
                  <a:t> </a:t>
                </a:r>
              </a:p>
            </p:txBody>
          </p:sp>
        </mc:Fallback>
      </mc:AlternateContent>
      <p:grpSp>
        <p:nvGrpSpPr>
          <p:cNvPr id="4" name="Agrupar 3">
            <a:extLst>
              <a:ext uri="{FF2B5EF4-FFF2-40B4-BE49-F238E27FC236}">
                <a16:creationId xmlns:a16="http://schemas.microsoft.com/office/drawing/2014/main" id="{CCCDE794-E720-1B63-E7C9-4D5DD9D45595}"/>
              </a:ext>
            </a:extLst>
          </p:cNvPr>
          <p:cNvGrpSpPr/>
          <p:nvPr/>
        </p:nvGrpSpPr>
        <p:grpSpPr>
          <a:xfrm>
            <a:off x="732540" y="2398623"/>
            <a:ext cx="4730868" cy="3031571"/>
            <a:chOff x="157187" y="2378075"/>
            <a:chExt cx="4730868" cy="3031571"/>
          </a:xfrm>
        </p:grpSpPr>
        <p:sp>
          <p:nvSpPr>
            <p:cNvPr id="30" name="Retângulo 29">
              <a:extLst>
                <a:ext uri="{FF2B5EF4-FFF2-40B4-BE49-F238E27FC236}">
                  <a16:creationId xmlns:a16="http://schemas.microsoft.com/office/drawing/2014/main" id="{5457C6EE-71F9-1CB7-6E0E-F9D95D6A2340}"/>
                </a:ext>
              </a:extLst>
            </p:cNvPr>
            <p:cNvSpPr/>
            <p:nvPr/>
          </p:nvSpPr>
          <p:spPr>
            <a:xfrm>
              <a:off x="425788" y="3029858"/>
              <a:ext cx="463575" cy="1935842"/>
            </a:xfrm>
            <a:prstGeom prst="rect">
              <a:avLst/>
            </a:prstGeom>
            <a:solidFill>
              <a:schemeClr val="accent1">
                <a:alpha val="41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5" name="Rectangle 12">
              <a:extLst>
                <a:ext uri="{FF2B5EF4-FFF2-40B4-BE49-F238E27FC236}">
                  <a16:creationId xmlns:a16="http://schemas.microsoft.com/office/drawing/2014/main" id="{390BBD88-0109-C7FE-D7CB-561A3327AA6D}"/>
                </a:ext>
              </a:extLst>
            </p:cNvPr>
            <p:cNvSpPr/>
            <p:nvPr/>
          </p:nvSpPr>
          <p:spPr>
            <a:xfrm>
              <a:off x="1361788" y="3029857"/>
              <a:ext cx="1216819" cy="8490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Modelo de ML</a:t>
              </a:r>
            </a:p>
          </p:txBody>
        </p:sp>
        <p:cxnSp>
          <p:nvCxnSpPr>
            <p:cNvPr id="10" name="Straight Arrow Connector 14">
              <a:extLst>
                <a:ext uri="{FF2B5EF4-FFF2-40B4-BE49-F238E27FC236}">
                  <a16:creationId xmlns:a16="http://schemas.microsoft.com/office/drawing/2014/main" id="{1F398044-DACB-9311-0181-BE304F7A8EDA}"/>
                </a:ext>
              </a:extLst>
            </p:cNvPr>
            <p:cNvCxnSpPr>
              <a:cxnSpLocks/>
            </p:cNvCxnSpPr>
            <p:nvPr/>
          </p:nvCxnSpPr>
          <p:spPr>
            <a:xfrm>
              <a:off x="893787" y="3471233"/>
              <a:ext cx="46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4">
              <a:extLst>
                <a:ext uri="{FF2B5EF4-FFF2-40B4-BE49-F238E27FC236}">
                  <a16:creationId xmlns:a16="http://schemas.microsoft.com/office/drawing/2014/main" id="{85E0BE7E-BBF1-84F8-0276-31D04E5F47B9}"/>
                </a:ext>
              </a:extLst>
            </p:cNvPr>
            <p:cNvCxnSpPr>
              <a:cxnSpLocks/>
              <a:stCxn id="5" idx="3"/>
              <a:endCxn id="15" idx="1"/>
            </p:cNvCxnSpPr>
            <p:nvPr/>
          </p:nvCxnSpPr>
          <p:spPr>
            <a:xfrm>
              <a:off x="2578607" y="3454400"/>
              <a:ext cx="692886"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5" name="Rectangle 12">
              <a:extLst>
                <a:ext uri="{FF2B5EF4-FFF2-40B4-BE49-F238E27FC236}">
                  <a16:creationId xmlns:a16="http://schemas.microsoft.com/office/drawing/2014/main" id="{953C9CEB-F3AB-DAC8-E8C0-62A1AF30A1B0}"/>
                </a:ext>
              </a:extLst>
            </p:cNvPr>
            <p:cNvSpPr/>
            <p:nvPr/>
          </p:nvSpPr>
          <p:spPr>
            <a:xfrm>
              <a:off x="3271493" y="3029857"/>
              <a:ext cx="1216818" cy="8490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Função de erro</a:t>
              </a:r>
            </a:p>
          </p:txBody>
        </p:sp>
        <mc:AlternateContent xmlns:mc="http://schemas.openxmlformats.org/markup-compatibility/2006" xmlns:a14="http://schemas.microsoft.com/office/drawing/2010/main">
          <mc:Choice Requires="a14">
            <p:sp>
              <p:nvSpPr>
                <p:cNvPr id="17" name="CaixaDeTexto 16">
                  <a:extLst>
                    <a:ext uri="{FF2B5EF4-FFF2-40B4-BE49-F238E27FC236}">
                      <a16:creationId xmlns:a16="http://schemas.microsoft.com/office/drawing/2014/main" id="{B64F947A-777F-0D6C-5417-FC876FD98B07}"/>
                    </a:ext>
                  </a:extLst>
                </p:cNvPr>
                <p:cNvSpPr txBox="1"/>
                <p:nvPr/>
              </p:nvSpPr>
              <p:spPr>
                <a:xfrm flipH="1">
                  <a:off x="436587" y="3162012"/>
                  <a:ext cx="467999"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pt-BR" sz="2400" b="1" i="1" smtClean="0">
                            <a:latin typeface="Cambria Math" panose="02040503050406030204" pitchFamily="18" charset="0"/>
                          </a:rPr>
                          <m:t>𝒙</m:t>
                        </m:r>
                      </m:oMath>
                    </m:oMathPara>
                  </a14:m>
                  <a:endParaRPr lang="pt-BR" sz="2400" b="1" dirty="0"/>
                </a:p>
              </p:txBody>
            </p:sp>
          </mc:Choice>
          <mc:Fallback xmlns="">
            <p:sp>
              <p:nvSpPr>
                <p:cNvPr id="17" name="CaixaDeTexto 16">
                  <a:extLst>
                    <a:ext uri="{FF2B5EF4-FFF2-40B4-BE49-F238E27FC236}">
                      <a16:creationId xmlns:a16="http://schemas.microsoft.com/office/drawing/2014/main" id="{B64F947A-777F-0D6C-5417-FC876FD98B07}"/>
                    </a:ext>
                  </a:extLst>
                </p:cNvPr>
                <p:cNvSpPr txBox="1">
                  <a:spLocks noRot="1" noChangeAspect="1" noMove="1" noResize="1" noEditPoints="1" noAdjustHandles="1" noChangeArrowheads="1" noChangeShapeType="1" noTextEdit="1"/>
                </p:cNvSpPr>
                <p:nvPr/>
              </p:nvSpPr>
              <p:spPr>
                <a:xfrm flipH="1">
                  <a:off x="436587" y="3162012"/>
                  <a:ext cx="467999" cy="461665"/>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8" name="CaixaDeTexto 17">
                  <a:extLst>
                    <a:ext uri="{FF2B5EF4-FFF2-40B4-BE49-F238E27FC236}">
                      <a16:creationId xmlns:a16="http://schemas.microsoft.com/office/drawing/2014/main" id="{7CC57361-0CEC-C0F9-E200-E1E4C1028A3A}"/>
                    </a:ext>
                  </a:extLst>
                </p:cNvPr>
                <p:cNvSpPr txBox="1"/>
                <p:nvPr/>
              </p:nvSpPr>
              <p:spPr>
                <a:xfrm flipH="1">
                  <a:off x="425788" y="4367212"/>
                  <a:ext cx="467999"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pt-BR" sz="2400" b="0" i="1" smtClean="0">
                            <a:latin typeface="Cambria Math" panose="02040503050406030204" pitchFamily="18" charset="0"/>
                          </a:rPr>
                          <m:t>𝑦</m:t>
                        </m:r>
                      </m:oMath>
                    </m:oMathPara>
                  </a14:m>
                  <a:endParaRPr lang="pt-BR" sz="2400" dirty="0"/>
                </a:p>
              </p:txBody>
            </p:sp>
          </mc:Choice>
          <mc:Fallback xmlns="">
            <p:sp>
              <p:nvSpPr>
                <p:cNvPr id="12" name="CaixaDeTexto 11">
                  <a:extLst>
                    <a:ext uri="{FF2B5EF4-FFF2-40B4-BE49-F238E27FC236}">
                      <a16:creationId xmlns:a16="http://schemas.microsoft.com/office/drawing/2014/main" id="{120EB5AF-A158-F20A-7D5F-DC34312E5153}"/>
                    </a:ext>
                  </a:extLst>
                </p:cNvPr>
                <p:cNvSpPr txBox="1">
                  <a:spLocks noRot="1" noChangeAspect="1" noMove="1" noResize="1" noEditPoints="1" noAdjustHandles="1" noChangeArrowheads="1" noChangeShapeType="1" noTextEdit="1"/>
                </p:cNvSpPr>
                <p:nvPr/>
              </p:nvSpPr>
              <p:spPr>
                <a:xfrm flipH="1">
                  <a:off x="425788" y="4367212"/>
                  <a:ext cx="467999" cy="461665"/>
                </a:xfrm>
                <a:prstGeom prst="rect">
                  <a:avLst/>
                </a:prstGeom>
                <a:blipFill>
                  <a:blip r:embed="rId5"/>
                  <a:stretch>
                    <a:fillRect b="-1052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9" name="CaixaDeTexto 18">
                  <a:extLst>
                    <a:ext uri="{FF2B5EF4-FFF2-40B4-BE49-F238E27FC236}">
                      <a16:creationId xmlns:a16="http://schemas.microsoft.com/office/drawing/2014/main" id="{BE976E3E-2A00-1A2C-08BF-0695934C3E8D}"/>
                    </a:ext>
                  </a:extLst>
                </p:cNvPr>
                <p:cNvSpPr txBox="1"/>
                <p:nvPr/>
              </p:nvSpPr>
              <p:spPr>
                <a:xfrm flipH="1">
                  <a:off x="2656972" y="3008452"/>
                  <a:ext cx="467999"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pt-BR" sz="2400" b="0" i="1" smtClean="0">
                                <a:latin typeface="Cambria Math" panose="02040503050406030204" pitchFamily="18" charset="0"/>
                              </a:rPr>
                            </m:ctrlPr>
                          </m:accPr>
                          <m:e>
                            <m:r>
                              <a:rPr lang="pt-BR" sz="2400" b="0" i="1" smtClean="0">
                                <a:latin typeface="Cambria Math" panose="02040503050406030204" pitchFamily="18" charset="0"/>
                              </a:rPr>
                              <m:t>𝑦</m:t>
                            </m:r>
                          </m:e>
                        </m:acc>
                      </m:oMath>
                    </m:oMathPara>
                  </a14:m>
                  <a:endParaRPr lang="pt-BR" sz="2400" dirty="0"/>
                </a:p>
              </p:txBody>
            </p:sp>
          </mc:Choice>
          <mc:Fallback xmlns="">
            <p:sp>
              <p:nvSpPr>
                <p:cNvPr id="13" name="CaixaDeTexto 12">
                  <a:extLst>
                    <a:ext uri="{FF2B5EF4-FFF2-40B4-BE49-F238E27FC236}">
                      <a16:creationId xmlns:a16="http://schemas.microsoft.com/office/drawing/2014/main" id="{0DD5471C-A64B-2523-03B6-5429998A9CAA}"/>
                    </a:ext>
                  </a:extLst>
                </p:cNvPr>
                <p:cNvSpPr txBox="1">
                  <a:spLocks noRot="1" noChangeAspect="1" noMove="1" noResize="1" noEditPoints="1" noAdjustHandles="1" noChangeArrowheads="1" noChangeShapeType="1" noTextEdit="1"/>
                </p:cNvSpPr>
                <p:nvPr/>
              </p:nvSpPr>
              <p:spPr>
                <a:xfrm flipH="1">
                  <a:off x="2656972" y="3008452"/>
                  <a:ext cx="467999" cy="461665"/>
                </a:xfrm>
                <a:prstGeom prst="rect">
                  <a:avLst/>
                </a:prstGeom>
                <a:blipFill>
                  <a:blip r:embed="rId6"/>
                  <a:stretch>
                    <a:fillRect t="-4000" r="-24675" b="-10667"/>
                  </a:stretch>
                </a:blipFill>
              </p:spPr>
              <p:txBody>
                <a:bodyPr/>
                <a:lstStyle/>
                <a:p>
                  <a:r>
                    <a:rPr lang="pt-BR">
                      <a:noFill/>
                    </a:rPr>
                    <a:t> </a:t>
                  </a:r>
                </a:p>
              </p:txBody>
            </p:sp>
          </mc:Fallback>
        </mc:AlternateContent>
        <p:cxnSp>
          <p:nvCxnSpPr>
            <p:cNvPr id="20" name="Conector: Angulado 19">
              <a:extLst>
                <a:ext uri="{FF2B5EF4-FFF2-40B4-BE49-F238E27FC236}">
                  <a16:creationId xmlns:a16="http://schemas.microsoft.com/office/drawing/2014/main" id="{234913BA-36A8-AA80-3B70-DB10188CA44F}"/>
                </a:ext>
              </a:extLst>
            </p:cNvPr>
            <p:cNvCxnSpPr>
              <a:cxnSpLocks/>
              <a:stCxn id="18" idx="1"/>
              <a:endCxn id="15" idx="2"/>
            </p:cNvCxnSpPr>
            <p:nvPr/>
          </p:nvCxnSpPr>
          <p:spPr>
            <a:xfrm flipV="1">
              <a:off x="893787" y="3878943"/>
              <a:ext cx="2986115" cy="71910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ector: Angulado 21">
              <a:extLst>
                <a:ext uri="{FF2B5EF4-FFF2-40B4-BE49-F238E27FC236}">
                  <a16:creationId xmlns:a16="http://schemas.microsoft.com/office/drawing/2014/main" id="{4D9FE84A-E1BF-2828-26F1-C8B75316EC2C}"/>
                </a:ext>
              </a:extLst>
            </p:cNvPr>
            <p:cNvCxnSpPr>
              <a:stCxn id="15" idx="3"/>
            </p:cNvCxnSpPr>
            <p:nvPr/>
          </p:nvCxnSpPr>
          <p:spPr>
            <a:xfrm flipH="1" flipV="1">
              <a:off x="2663083" y="2378075"/>
              <a:ext cx="1825228" cy="1076325"/>
            </a:xfrm>
            <a:prstGeom prst="bentConnector3">
              <a:avLst>
                <a:gd name="adj1" fmla="val -12524"/>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Conector reto 27">
              <a:extLst>
                <a:ext uri="{FF2B5EF4-FFF2-40B4-BE49-F238E27FC236}">
                  <a16:creationId xmlns:a16="http://schemas.microsoft.com/office/drawing/2014/main" id="{3593A203-4F21-99F8-E3AB-6E1CAD411FDD}"/>
                </a:ext>
              </a:extLst>
            </p:cNvPr>
            <p:cNvCxnSpPr/>
            <p:nvPr/>
          </p:nvCxnSpPr>
          <p:spPr>
            <a:xfrm flipH="1">
              <a:off x="1450107" y="2378075"/>
              <a:ext cx="1212396" cy="1743075"/>
            </a:xfrm>
            <a:prstGeom prst="line">
              <a:avLst/>
            </a:prstGeom>
            <a:ln>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9" name="CaixaDeTexto 28">
              <a:extLst>
                <a:ext uri="{FF2B5EF4-FFF2-40B4-BE49-F238E27FC236}">
                  <a16:creationId xmlns:a16="http://schemas.microsoft.com/office/drawing/2014/main" id="{B98E3756-83CF-B046-07A6-192FD8B343F5}"/>
                </a:ext>
              </a:extLst>
            </p:cNvPr>
            <p:cNvSpPr txBox="1"/>
            <p:nvPr/>
          </p:nvSpPr>
          <p:spPr>
            <a:xfrm>
              <a:off x="893787" y="4074825"/>
              <a:ext cx="1309262" cy="276999"/>
            </a:xfrm>
            <a:prstGeom prst="rect">
              <a:avLst/>
            </a:prstGeom>
            <a:noFill/>
          </p:spPr>
          <p:txBody>
            <a:bodyPr wrap="square" rtlCol="0">
              <a:spAutoFit/>
            </a:bodyPr>
            <a:lstStyle/>
            <a:p>
              <a:pPr algn="ctr"/>
              <a:r>
                <a:rPr lang="pt-BR" sz="1200" dirty="0"/>
                <a:t>Ajuste do modelo</a:t>
              </a:r>
            </a:p>
          </p:txBody>
        </p:sp>
        <p:sp>
          <p:nvSpPr>
            <p:cNvPr id="31" name="CaixaDeTexto 30">
              <a:extLst>
                <a:ext uri="{FF2B5EF4-FFF2-40B4-BE49-F238E27FC236}">
                  <a16:creationId xmlns:a16="http://schemas.microsoft.com/office/drawing/2014/main" id="{DE689569-E51E-705C-8D3B-00C3FEDC2640}"/>
                </a:ext>
              </a:extLst>
            </p:cNvPr>
            <p:cNvSpPr txBox="1"/>
            <p:nvPr/>
          </p:nvSpPr>
          <p:spPr>
            <a:xfrm>
              <a:off x="157187" y="4947981"/>
              <a:ext cx="1047413" cy="461665"/>
            </a:xfrm>
            <a:prstGeom prst="rect">
              <a:avLst/>
            </a:prstGeom>
            <a:noFill/>
          </p:spPr>
          <p:txBody>
            <a:bodyPr wrap="square" rtlCol="0">
              <a:spAutoFit/>
            </a:bodyPr>
            <a:lstStyle/>
            <a:p>
              <a:pPr algn="ctr"/>
              <a:r>
                <a:rPr lang="pt-BR" sz="1200" dirty="0"/>
                <a:t>Conjunto de treinamento</a:t>
              </a:r>
            </a:p>
          </p:txBody>
        </p:sp>
        <p:sp>
          <p:nvSpPr>
            <p:cNvPr id="32" name="CaixaDeTexto 31">
              <a:extLst>
                <a:ext uri="{FF2B5EF4-FFF2-40B4-BE49-F238E27FC236}">
                  <a16:creationId xmlns:a16="http://schemas.microsoft.com/office/drawing/2014/main" id="{BF75512F-4B53-7B87-D58B-61991F01B41E}"/>
                </a:ext>
              </a:extLst>
            </p:cNvPr>
            <p:cNvSpPr txBox="1"/>
            <p:nvPr/>
          </p:nvSpPr>
          <p:spPr>
            <a:xfrm>
              <a:off x="2578608" y="3490140"/>
              <a:ext cx="692886" cy="276999"/>
            </a:xfrm>
            <a:prstGeom prst="rect">
              <a:avLst/>
            </a:prstGeom>
            <a:noFill/>
          </p:spPr>
          <p:txBody>
            <a:bodyPr wrap="square" rtlCol="0">
              <a:spAutoFit/>
            </a:bodyPr>
            <a:lstStyle/>
            <a:p>
              <a:pPr algn="ctr"/>
              <a:r>
                <a:rPr lang="pt-BR" sz="1200" dirty="0"/>
                <a:t>palpite</a:t>
              </a:r>
            </a:p>
          </p:txBody>
        </p:sp>
        <p:sp>
          <p:nvSpPr>
            <p:cNvPr id="35" name="CaixaDeTexto 34">
              <a:extLst>
                <a:ext uri="{FF2B5EF4-FFF2-40B4-BE49-F238E27FC236}">
                  <a16:creationId xmlns:a16="http://schemas.microsoft.com/office/drawing/2014/main" id="{FAD24CE9-D99C-4760-AB43-F40B263538D0}"/>
                </a:ext>
              </a:extLst>
            </p:cNvPr>
            <p:cNvSpPr txBox="1"/>
            <p:nvPr/>
          </p:nvSpPr>
          <p:spPr>
            <a:xfrm>
              <a:off x="4433138" y="3443383"/>
              <a:ext cx="454917" cy="276999"/>
            </a:xfrm>
            <a:prstGeom prst="rect">
              <a:avLst/>
            </a:prstGeom>
            <a:noFill/>
          </p:spPr>
          <p:txBody>
            <a:bodyPr wrap="square" rtlCol="0">
              <a:spAutoFit/>
            </a:bodyPr>
            <a:lstStyle/>
            <a:p>
              <a:pPr algn="ctr"/>
              <a:r>
                <a:rPr lang="pt-BR" sz="1200" dirty="0"/>
                <a:t>erro</a:t>
              </a:r>
            </a:p>
          </p:txBody>
        </p:sp>
      </p:grpSp>
      <p:cxnSp>
        <p:nvCxnSpPr>
          <p:cNvPr id="36" name="Conector de Seta Reta 35">
            <a:extLst>
              <a:ext uri="{FF2B5EF4-FFF2-40B4-BE49-F238E27FC236}">
                <a16:creationId xmlns:a16="http://schemas.microsoft.com/office/drawing/2014/main" id="{8B04329C-4E04-DDD6-76BB-265996AE7889}"/>
              </a:ext>
            </a:extLst>
          </p:cNvPr>
          <p:cNvCxnSpPr/>
          <p:nvPr/>
        </p:nvCxnSpPr>
        <p:spPr>
          <a:xfrm flipH="1">
            <a:off x="4620400" y="1974080"/>
            <a:ext cx="667820" cy="97416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35007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AAC63C-303B-CC7F-1D4F-8D765EB8B09B}"/>
              </a:ext>
            </a:extLst>
          </p:cNvPr>
          <p:cNvSpPr>
            <a:spLocks noGrp="1"/>
          </p:cNvSpPr>
          <p:nvPr>
            <p:ph type="title"/>
          </p:nvPr>
        </p:nvSpPr>
        <p:spPr/>
        <p:txBody>
          <a:bodyPr/>
          <a:lstStyle/>
          <a:p>
            <a:r>
              <a:rPr lang="pt-BR" dirty="0"/>
              <a:t>Treinamento da máquina (ou modelo de ML)</a:t>
            </a:r>
          </a:p>
        </p:txBody>
      </p:sp>
      <p:sp>
        <p:nvSpPr>
          <p:cNvPr id="3" name="Espaço Reservado para Conteúdo 2">
            <a:extLst>
              <a:ext uri="{FF2B5EF4-FFF2-40B4-BE49-F238E27FC236}">
                <a16:creationId xmlns:a16="http://schemas.microsoft.com/office/drawing/2014/main" id="{62A3C305-4461-D25D-82D9-0C9F42995D65}"/>
              </a:ext>
            </a:extLst>
          </p:cNvPr>
          <p:cNvSpPr>
            <a:spLocks noGrp="1"/>
          </p:cNvSpPr>
          <p:nvPr>
            <p:ph idx="1"/>
          </p:nvPr>
        </p:nvSpPr>
        <p:spPr>
          <a:xfrm>
            <a:off x="6431622" y="1825624"/>
            <a:ext cx="5603189" cy="5032376"/>
          </a:xfrm>
        </p:spPr>
        <p:txBody>
          <a:bodyPr>
            <a:normAutofit/>
          </a:bodyPr>
          <a:lstStyle/>
          <a:p>
            <a:r>
              <a:rPr lang="pt-BR" dirty="0"/>
              <a:t>Na sequência, o </a:t>
            </a:r>
            <a:r>
              <a:rPr lang="pt-BR" b="1" i="1" dirty="0">
                <a:solidFill>
                  <a:srgbClr val="00B050"/>
                </a:solidFill>
              </a:rPr>
              <a:t>erro </a:t>
            </a:r>
            <a:r>
              <a:rPr lang="pt-BR" dirty="0"/>
              <a:t>é usado para </a:t>
            </a:r>
            <a:r>
              <a:rPr lang="pt-BR" b="1" i="1" dirty="0">
                <a:solidFill>
                  <a:srgbClr val="0070C0"/>
                </a:solidFill>
              </a:rPr>
              <a:t>otimizar</a:t>
            </a:r>
            <a:r>
              <a:rPr lang="pt-BR" b="1" i="1" dirty="0">
                <a:solidFill>
                  <a:srgbClr val="00B050"/>
                </a:solidFill>
              </a:rPr>
              <a:t> o modelo </a:t>
            </a:r>
            <a:r>
              <a:rPr lang="pt-BR" dirty="0"/>
              <a:t>e, com isso, </a:t>
            </a:r>
            <a:r>
              <a:rPr lang="pt-BR" b="1" i="1" dirty="0">
                <a:solidFill>
                  <a:srgbClr val="00B050"/>
                </a:solidFill>
              </a:rPr>
              <a:t>melhorar o </a:t>
            </a:r>
            <a:r>
              <a:rPr lang="pt-BR" b="1" i="1" dirty="0">
                <a:solidFill>
                  <a:srgbClr val="0070C0"/>
                </a:solidFill>
              </a:rPr>
              <a:t>próximo palpite</a:t>
            </a:r>
            <a:r>
              <a:rPr lang="pt-BR" dirty="0"/>
              <a:t>.</a:t>
            </a:r>
          </a:p>
          <a:p>
            <a:pPr lvl="1">
              <a:buFont typeface="Wingdings" panose="05000000000000000000" pitchFamily="2" charset="2"/>
              <a:buChar char="§"/>
            </a:pPr>
            <a:r>
              <a:rPr lang="pt-BR" dirty="0"/>
              <a:t>Por exemplo, atualizar os pesos do neurônio.</a:t>
            </a:r>
          </a:p>
          <a:p>
            <a:r>
              <a:rPr lang="pt-BR" dirty="0"/>
              <a:t>Como veremos, a informação fornecida pelo </a:t>
            </a:r>
            <a:r>
              <a:rPr lang="pt-BR" b="1" i="1" dirty="0">
                <a:solidFill>
                  <a:srgbClr val="00B050"/>
                </a:solidFill>
              </a:rPr>
              <a:t>erro</a:t>
            </a:r>
            <a:r>
              <a:rPr lang="pt-BR" dirty="0"/>
              <a:t> é de </a:t>
            </a:r>
            <a:r>
              <a:rPr lang="pt-BR" b="1" i="1" dirty="0">
                <a:solidFill>
                  <a:srgbClr val="00B050"/>
                </a:solidFill>
              </a:rPr>
              <a:t>suma importância para o treinamento de modelos de </a:t>
            </a:r>
            <a:r>
              <a:rPr lang="pt-BR" b="1" i="1" dirty="0">
                <a:solidFill>
                  <a:srgbClr val="7030A0"/>
                </a:solidFill>
              </a:rPr>
              <a:t>aprendizado supervisionados</a:t>
            </a:r>
            <a:r>
              <a:rPr lang="pt-BR" dirty="0"/>
              <a:t>.</a:t>
            </a:r>
          </a:p>
        </p:txBody>
      </p:sp>
      <p:cxnSp>
        <p:nvCxnSpPr>
          <p:cNvPr id="5" name="Conector de Seta Reta 4">
            <a:extLst>
              <a:ext uri="{FF2B5EF4-FFF2-40B4-BE49-F238E27FC236}">
                <a16:creationId xmlns:a16="http://schemas.microsoft.com/office/drawing/2014/main" id="{8BB9C575-3068-5B14-7064-A105060529DB}"/>
              </a:ext>
            </a:extLst>
          </p:cNvPr>
          <p:cNvCxnSpPr/>
          <p:nvPr/>
        </p:nvCxnSpPr>
        <p:spPr>
          <a:xfrm flipH="1">
            <a:off x="5377299" y="1949539"/>
            <a:ext cx="667820" cy="97416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0" name="Agrupar 9">
            <a:extLst>
              <a:ext uri="{FF2B5EF4-FFF2-40B4-BE49-F238E27FC236}">
                <a16:creationId xmlns:a16="http://schemas.microsoft.com/office/drawing/2014/main" id="{7EF84DB4-3BDD-E644-74D7-FFA985F542CA}"/>
              </a:ext>
            </a:extLst>
          </p:cNvPr>
          <p:cNvGrpSpPr/>
          <p:nvPr/>
        </p:nvGrpSpPr>
        <p:grpSpPr>
          <a:xfrm>
            <a:off x="732540" y="2398623"/>
            <a:ext cx="4730868" cy="3031571"/>
            <a:chOff x="157187" y="2378075"/>
            <a:chExt cx="4730868" cy="3031571"/>
          </a:xfrm>
        </p:grpSpPr>
        <p:sp>
          <p:nvSpPr>
            <p:cNvPr id="32" name="Retângulo 31">
              <a:extLst>
                <a:ext uri="{FF2B5EF4-FFF2-40B4-BE49-F238E27FC236}">
                  <a16:creationId xmlns:a16="http://schemas.microsoft.com/office/drawing/2014/main" id="{456BCF4E-986B-3014-D06E-2DA7A8B197A2}"/>
                </a:ext>
              </a:extLst>
            </p:cNvPr>
            <p:cNvSpPr/>
            <p:nvPr/>
          </p:nvSpPr>
          <p:spPr>
            <a:xfrm>
              <a:off x="425788" y="3029858"/>
              <a:ext cx="463575" cy="1935842"/>
            </a:xfrm>
            <a:prstGeom prst="rect">
              <a:avLst/>
            </a:prstGeom>
            <a:solidFill>
              <a:schemeClr val="accent1">
                <a:alpha val="41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Rectangle 12">
              <a:extLst>
                <a:ext uri="{FF2B5EF4-FFF2-40B4-BE49-F238E27FC236}">
                  <a16:creationId xmlns:a16="http://schemas.microsoft.com/office/drawing/2014/main" id="{F0E7957C-C6A0-2179-5662-5EE08664FFC2}"/>
                </a:ext>
              </a:extLst>
            </p:cNvPr>
            <p:cNvSpPr/>
            <p:nvPr/>
          </p:nvSpPr>
          <p:spPr>
            <a:xfrm>
              <a:off x="1361788" y="3029857"/>
              <a:ext cx="1216819" cy="8490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Modelo de ML</a:t>
              </a:r>
            </a:p>
          </p:txBody>
        </p:sp>
        <p:cxnSp>
          <p:nvCxnSpPr>
            <p:cNvPr id="15" name="Straight Arrow Connector 14">
              <a:extLst>
                <a:ext uri="{FF2B5EF4-FFF2-40B4-BE49-F238E27FC236}">
                  <a16:creationId xmlns:a16="http://schemas.microsoft.com/office/drawing/2014/main" id="{2D47C614-4531-B28C-6900-69B1F88DB650}"/>
                </a:ext>
              </a:extLst>
            </p:cNvPr>
            <p:cNvCxnSpPr>
              <a:cxnSpLocks/>
            </p:cNvCxnSpPr>
            <p:nvPr/>
          </p:nvCxnSpPr>
          <p:spPr>
            <a:xfrm>
              <a:off x="893787" y="3471233"/>
              <a:ext cx="46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4">
              <a:extLst>
                <a:ext uri="{FF2B5EF4-FFF2-40B4-BE49-F238E27FC236}">
                  <a16:creationId xmlns:a16="http://schemas.microsoft.com/office/drawing/2014/main" id="{402361EB-FB20-7031-8784-AA05588EB792}"/>
                </a:ext>
              </a:extLst>
            </p:cNvPr>
            <p:cNvCxnSpPr>
              <a:cxnSpLocks/>
              <a:stCxn id="14" idx="3"/>
              <a:endCxn id="18" idx="1"/>
            </p:cNvCxnSpPr>
            <p:nvPr/>
          </p:nvCxnSpPr>
          <p:spPr>
            <a:xfrm>
              <a:off x="2578607" y="3454400"/>
              <a:ext cx="692886"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8" name="Rectangle 12">
              <a:extLst>
                <a:ext uri="{FF2B5EF4-FFF2-40B4-BE49-F238E27FC236}">
                  <a16:creationId xmlns:a16="http://schemas.microsoft.com/office/drawing/2014/main" id="{6E90C608-84DA-5F27-C58B-74A15BA315D2}"/>
                </a:ext>
              </a:extLst>
            </p:cNvPr>
            <p:cNvSpPr/>
            <p:nvPr/>
          </p:nvSpPr>
          <p:spPr>
            <a:xfrm>
              <a:off x="3271493" y="3029857"/>
              <a:ext cx="1216818" cy="8490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Função de erro</a:t>
              </a:r>
            </a:p>
          </p:txBody>
        </p:sp>
        <mc:AlternateContent xmlns:mc="http://schemas.openxmlformats.org/markup-compatibility/2006" xmlns:a14="http://schemas.microsoft.com/office/drawing/2010/main">
          <mc:Choice Requires="a14">
            <p:sp>
              <p:nvSpPr>
                <p:cNvPr id="19" name="CaixaDeTexto 18">
                  <a:extLst>
                    <a:ext uri="{FF2B5EF4-FFF2-40B4-BE49-F238E27FC236}">
                      <a16:creationId xmlns:a16="http://schemas.microsoft.com/office/drawing/2014/main" id="{C78060AE-A702-AF60-DFA2-2E7F62790D30}"/>
                    </a:ext>
                  </a:extLst>
                </p:cNvPr>
                <p:cNvSpPr txBox="1"/>
                <p:nvPr/>
              </p:nvSpPr>
              <p:spPr>
                <a:xfrm flipH="1">
                  <a:off x="436587" y="3162012"/>
                  <a:ext cx="467999"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pt-BR" sz="2400" b="1" i="1" smtClean="0">
                            <a:latin typeface="Cambria Math" panose="02040503050406030204" pitchFamily="18" charset="0"/>
                          </a:rPr>
                          <m:t>𝒙</m:t>
                        </m:r>
                      </m:oMath>
                    </m:oMathPara>
                  </a14:m>
                  <a:endParaRPr lang="pt-BR" sz="2400" b="1" dirty="0"/>
                </a:p>
              </p:txBody>
            </p:sp>
          </mc:Choice>
          <mc:Fallback xmlns="">
            <p:sp>
              <p:nvSpPr>
                <p:cNvPr id="19" name="CaixaDeTexto 18">
                  <a:extLst>
                    <a:ext uri="{FF2B5EF4-FFF2-40B4-BE49-F238E27FC236}">
                      <a16:creationId xmlns:a16="http://schemas.microsoft.com/office/drawing/2014/main" id="{C78060AE-A702-AF60-DFA2-2E7F62790D30}"/>
                    </a:ext>
                  </a:extLst>
                </p:cNvPr>
                <p:cNvSpPr txBox="1">
                  <a:spLocks noRot="1" noChangeAspect="1" noMove="1" noResize="1" noEditPoints="1" noAdjustHandles="1" noChangeArrowheads="1" noChangeShapeType="1" noTextEdit="1"/>
                </p:cNvSpPr>
                <p:nvPr/>
              </p:nvSpPr>
              <p:spPr>
                <a:xfrm flipH="1">
                  <a:off x="436587" y="3162012"/>
                  <a:ext cx="467999" cy="461665"/>
                </a:xfrm>
                <a:prstGeom prst="rect">
                  <a:avLst/>
                </a:prstGeom>
                <a:blipFill>
                  <a:blip r:embed="rId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0" name="CaixaDeTexto 19">
                  <a:extLst>
                    <a:ext uri="{FF2B5EF4-FFF2-40B4-BE49-F238E27FC236}">
                      <a16:creationId xmlns:a16="http://schemas.microsoft.com/office/drawing/2014/main" id="{4BC3A338-5F1D-8021-EA19-5C6C480B3F47}"/>
                    </a:ext>
                  </a:extLst>
                </p:cNvPr>
                <p:cNvSpPr txBox="1"/>
                <p:nvPr/>
              </p:nvSpPr>
              <p:spPr>
                <a:xfrm flipH="1">
                  <a:off x="425788" y="4367212"/>
                  <a:ext cx="467999"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pt-BR" sz="2400" b="0" i="1" smtClean="0">
                            <a:latin typeface="Cambria Math" panose="02040503050406030204" pitchFamily="18" charset="0"/>
                          </a:rPr>
                          <m:t>𝑦</m:t>
                        </m:r>
                      </m:oMath>
                    </m:oMathPara>
                  </a14:m>
                  <a:endParaRPr lang="pt-BR" sz="2400" dirty="0"/>
                </a:p>
              </p:txBody>
            </p:sp>
          </mc:Choice>
          <mc:Fallback xmlns="">
            <p:sp>
              <p:nvSpPr>
                <p:cNvPr id="12" name="CaixaDeTexto 11">
                  <a:extLst>
                    <a:ext uri="{FF2B5EF4-FFF2-40B4-BE49-F238E27FC236}">
                      <a16:creationId xmlns:a16="http://schemas.microsoft.com/office/drawing/2014/main" id="{120EB5AF-A158-F20A-7D5F-DC34312E5153}"/>
                    </a:ext>
                  </a:extLst>
                </p:cNvPr>
                <p:cNvSpPr txBox="1">
                  <a:spLocks noRot="1" noChangeAspect="1" noMove="1" noResize="1" noEditPoints="1" noAdjustHandles="1" noChangeArrowheads="1" noChangeShapeType="1" noTextEdit="1"/>
                </p:cNvSpPr>
                <p:nvPr/>
              </p:nvSpPr>
              <p:spPr>
                <a:xfrm flipH="1">
                  <a:off x="425788" y="4367212"/>
                  <a:ext cx="467999" cy="461665"/>
                </a:xfrm>
                <a:prstGeom prst="rect">
                  <a:avLst/>
                </a:prstGeom>
                <a:blipFill>
                  <a:blip r:embed="rId5"/>
                  <a:stretch>
                    <a:fillRect b="-1052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2" name="CaixaDeTexto 21">
                  <a:extLst>
                    <a:ext uri="{FF2B5EF4-FFF2-40B4-BE49-F238E27FC236}">
                      <a16:creationId xmlns:a16="http://schemas.microsoft.com/office/drawing/2014/main" id="{9B339CAC-B2B7-A33C-0440-5F0652D6BEC2}"/>
                    </a:ext>
                  </a:extLst>
                </p:cNvPr>
                <p:cNvSpPr txBox="1"/>
                <p:nvPr/>
              </p:nvSpPr>
              <p:spPr>
                <a:xfrm flipH="1">
                  <a:off x="2656972" y="3008452"/>
                  <a:ext cx="467999"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pt-BR" sz="2400" b="0" i="1" smtClean="0">
                                <a:latin typeface="Cambria Math" panose="02040503050406030204" pitchFamily="18" charset="0"/>
                              </a:rPr>
                            </m:ctrlPr>
                          </m:accPr>
                          <m:e>
                            <m:r>
                              <a:rPr lang="pt-BR" sz="2400" b="0" i="1" smtClean="0">
                                <a:latin typeface="Cambria Math" panose="02040503050406030204" pitchFamily="18" charset="0"/>
                              </a:rPr>
                              <m:t>𝑦</m:t>
                            </m:r>
                          </m:e>
                        </m:acc>
                      </m:oMath>
                    </m:oMathPara>
                  </a14:m>
                  <a:endParaRPr lang="pt-BR" sz="2400" dirty="0"/>
                </a:p>
              </p:txBody>
            </p:sp>
          </mc:Choice>
          <mc:Fallback xmlns="">
            <p:sp>
              <p:nvSpPr>
                <p:cNvPr id="13" name="CaixaDeTexto 12">
                  <a:extLst>
                    <a:ext uri="{FF2B5EF4-FFF2-40B4-BE49-F238E27FC236}">
                      <a16:creationId xmlns:a16="http://schemas.microsoft.com/office/drawing/2014/main" id="{0DD5471C-A64B-2523-03B6-5429998A9CAA}"/>
                    </a:ext>
                  </a:extLst>
                </p:cNvPr>
                <p:cNvSpPr txBox="1">
                  <a:spLocks noRot="1" noChangeAspect="1" noMove="1" noResize="1" noEditPoints="1" noAdjustHandles="1" noChangeArrowheads="1" noChangeShapeType="1" noTextEdit="1"/>
                </p:cNvSpPr>
                <p:nvPr/>
              </p:nvSpPr>
              <p:spPr>
                <a:xfrm flipH="1">
                  <a:off x="2656972" y="3008452"/>
                  <a:ext cx="467999" cy="461665"/>
                </a:xfrm>
                <a:prstGeom prst="rect">
                  <a:avLst/>
                </a:prstGeom>
                <a:blipFill>
                  <a:blip r:embed="rId6"/>
                  <a:stretch>
                    <a:fillRect t="-4000" r="-24675" b="-10667"/>
                  </a:stretch>
                </a:blipFill>
              </p:spPr>
              <p:txBody>
                <a:bodyPr/>
                <a:lstStyle/>
                <a:p>
                  <a:r>
                    <a:rPr lang="pt-BR">
                      <a:noFill/>
                    </a:rPr>
                    <a:t> </a:t>
                  </a:r>
                </a:p>
              </p:txBody>
            </p:sp>
          </mc:Fallback>
        </mc:AlternateContent>
        <p:cxnSp>
          <p:nvCxnSpPr>
            <p:cNvPr id="28" name="Conector: Angulado 27">
              <a:extLst>
                <a:ext uri="{FF2B5EF4-FFF2-40B4-BE49-F238E27FC236}">
                  <a16:creationId xmlns:a16="http://schemas.microsoft.com/office/drawing/2014/main" id="{B1AC42AB-F076-18E9-2C42-55403DC6C411}"/>
                </a:ext>
              </a:extLst>
            </p:cNvPr>
            <p:cNvCxnSpPr>
              <a:cxnSpLocks/>
              <a:stCxn id="20" idx="1"/>
              <a:endCxn id="18" idx="2"/>
            </p:cNvCxnSpPr>
            <p:nvPr/>
          </p:nvCxnSpPr>
          <p:spPr>
            <a:xfrm flipV="1">
              <a:off x="893787" y="3878943"/>
              <a:ext cx="2986115" cy="71910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ector: Angulado 28">
              <a:extLst>
                <a:ext uri="{FF2B5EF4-FFF2-40B4-BE49-F238E27FC236}">
                  <a16:creationId xmlns:a16="http://schemas.microsoft.com/office/drawing/2014/main" id="{9B482144-5108-7552-1BFA-066B47DA26A9}"/>
                </a:ext>
              </a:extLst>
            </p:cNvPr>
            <p:cNvCxnSpPr>
              <a:stCxn id="18" idx="3"/>
            </p:cNvCxnSpPr>
            <p:nvPr/>
          </p:nvCxnSpPr>
          <p:spPr>
            <a:xfrm flipH="1" flipV="1">
              <a:off x="2663083" y="2378075"/>
              <a:ext cx="1825228" cy="1076325"/>
            </a:xfrm>
            <a:prstGeom prst="bentConnector3">
              <a:avLst>
                <a:gd name="adj1" fmla="val -12524"/>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Conector reto 29">
              <a:extLst>
                <a:ext uri="{FF2B5EF4-FFF2-40B4-BE49-F238E27FC236}">
                  <a16:creationId xmlns:a16="http://schemas.microsoft.com/office/drawing/2014/main" id="{04C06EBD-88F9-8C50-23CB-B682C6FC05A4}"/>
                </a:ext>
              </a:extLst>
            </p:cNvPr>
            <p:cNvCxnSpPr/>
            <p:nvPr/>
          </p:nvCxnSpPr>
          <p:spPr>
            <a:xfrm flipH="1">
              <a:off x="1450107" y="2378075"/>
              <a:ext cx="1212396" cy="1743075"/>
            </a:xfrm>
            <a:prstGeom prst="line">
              <a:avLst/>
            </a:prstGeom>
            <a:ln>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1" name="CaixaDeTexto 30">
              <a:extLst>
                <a:ext uri="{FF2B5EF4-FFF2-40B4-BE49-F238E27FC236}">
                  <a16:creationId xmlns:a16="http://schemas.microsoft.com/office/drawing/2014/main" id="{E0798807-1B93-6863-EAA6-5A443094BBD1}"/>
                </a:ext>
              </a:extLst>
            </p:cNvPr>
            <p:cNvSpPr txBox="1"/>
            <p:nvPr/>
          </p:nvSpPr>
          <p:spPr>
            <a:xfrm>
              <a:off x="893787" y="4074825"/>
              <a:ext cx="1309262" cy="276999"/>
            </a:xfrm>
            <a:prstGeom prst="rect">
              <a:avLst/>
            </a:prstGeom>
            <a:noFill/>
          </p:spPr>
          <p:txBody>
            <a:bodyPr wrap="square" rtlCol="0">
              <a:spAutoFit/>
            </a:bodyPr>
            <a:lstStyle/>
            <a:p>
              <a:pPr algn="ctr"/>
              <a:r>
                <a:rPr lang="pt-BR" sz="1200" dirty="0"/>
                <a:t>Ajuste do modelo</a:t>
              </a:r>
            </a:p>
          </p:txBody>
        </p:sp>
        <p:sp>
          <p:nvSpPr>
            <p:cNvPr id="35" name="CaixaDeTexto 34">
              <a:extLst>
                <a:ext uri="{FF2B5EF4-FFF2-40B4-BE49-F238E27FC236}">
                  <a16:creationId xmlns:a16="http://schemas.microsoft.com/office/drawing/2014/main" id="{6EAD01CE-9133-ACE3-7CEB-DD1D88C551CE}"/>
                </a:ext>
              </a:extLst>
            </p:cNvPr>
            <p:cNvSpPr txBox="1"/>
            <p:nvPr/>
          </p:nvSpPr>
          <p:spPr>
            <a:xfrm>
              <a:off x="157187" y="4947981"/>
              <a:ext cx="1047413" cy="461665"/>
            </a:xfrm>
            <a:prstGeom prst="rect">
              <a:avLst/>
            </a:prstGeom>
            <a:noFill/>
          </p:spPr>
          <p:txBody>
            <a:bodyPr wrap="square" rtlCol="0">
              <a:spAutoFit/>
            </a:bodyPr>
            <a:lstStyle/>
            <a:p>
              <a:pPr algn="ctr"/>
              <a:r>
                <a:rPr lang="pt-BR" sz="1200" dirty="0"/>
                <a:t>Conjunto de treinamento</a:t>
              </a:r>
            </a:p>
          </p:txBody>
        </p:sp>
        <p:sp>
          <p:nvSpPr>
            <p:cNvPr id="36" name="CaixaDeTexto 35">
              <a:extLst>
                <a:ext uri="{FF2B5EF4-FFF2-40B4-BE49-F238E27FC236}">
                  <a16:creationId xmlns:a16="http://schemas.microsoft.com/office/drawing/2014/main" id="{55826C35-CBC2-FBF5-75AC-8471EAFDF8F1}"/>
                </a:ext>
              </a:extLst>
            </p:cNvPr>
            <p:cNvSpPr txBox="1"/>
            <p:nvPr/>
          </p:nvSpPr>
          <p:spPr>
            <a:xfrm>
              <a:off x="2578608" y="3490140"/>
              <a:ext cx="692886" cy="276999"/>
            </a:xfrm>
            <a:prstGeom prst="rect">
              <a:avLst/>
            </a:prstGeom>
            <a:noFill/>
          </p:spPr>
          <p:txBody>
            <a:bodyPr wrap="square" rtlCol="0">
              <a:spAutoFit/>
            </a:bodyPr>
            <a:lstStyle/>
            <a:p>
              <a:pPr algn="ctr"/>
              <a:r>
                <a:rPr lang="pt-BR" sz="1200" dirty="0"/>
                <a:t>palpite</a:t>
              </a:r>
            </a:p>
          </p:txBody>
        </p:sp>
        <p:sp>
          <p:nvSpPr>
            <p:cNvPr id="37" name="CaixaDeTexto 36">
              <a:extLst>
                <a:ext uri="{FF2B5EF4-FFF2-40B4-BE49-F238E27FC236}">
                  <a16:creationId xmlns:a16="http://schemas.microsoft.com/office/drawing/2014/main" id="{8AA4CA27-3337-C223-8072-8F2373A66BD1}"/>
                </a:ext>
              </a:extLst>
            </p:cNvPr>
            <p:cNvSpPr txBox="1"/>
            <p:nvPr/>
          </p:nvSpPr>
          <p:spPr>
            <a:xfrm>
              <a:off x="4433138" y="3443383"/>
              <a:ext cx="454917" cy="276999"/>
            </a:xfrm>
            <a:prstGeom prst="rect">
              <a:avLst/>
            </a:prstGeom>
            <a:noFill/>
          </p:spPr>
          <p:txBody>
            <a:bodyPr wrap="square" rtlCol="0">
              <a:spAutoFit/>
            </a:bodyPr>
            <a:lstStyle/>
            <a:p>
              <a:pPr algn="ctr"/>
              <a:r>
                <a:rPr lang="pt-BR" sz="1200" dirty="0"/>
                <a:t>erro</a:t>
              </a:r>
            </a:p>
          </p:txBody>
        </p:sp>
      </p:grpSp>
    </p:spTree>
    <p:extLst>
      <p:ext uri="{BB962C8B-B14F-4D97-AF65-F5344CB8AC3E}">
        <p14:creationId xmlns:p14="http://schemas.microsoft.com/office/powerpoint/2010/main" val="1896702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2C295-4EFD-FDAF-2220-2DA2FF8A90E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27D2E67-6F3F-3DFB-4A65-F052362B1546}"/>
              </a:ext>
            </a:extLst>
          </p:cNvPr>
          <p:cNvSpPr>
            <a:spLocks noGrp="1"/>
          </p:cNvSpPr>
          <p:nvPr>
            <p:ph type="title"/>
          </p:nvPr>
        </p:nvSpPr>
        <p:spPr/>
        <p:txBody>
          <a:bodyPr/>
          <a:lstStyle/>
          <a:p>
            <a:r>
              <a:rPr lang="pt-BR" dirty="0"/>
              <a:t>Treinamento da máquina (ou modelo de ML)</a:t>
            </a:r>
          </a:p>
        </p:txBody>
      </p:sp>
      <p:sp>
        <p:nvSpPr>
          <p:cNvPr id="3" name="Espaço Reservado para Conteúdo 2">
            <a:extLst>
              <a:ext uri="{FF2B5EF4-FFF2-40B4-BE49-F238E27FC236}">
                <a16:creationId xmlns:a16="http://schemas.microsoft.com/office/drawing/2014/main" id="{C83E2783-5080-94DD-F04F-DAC0387416F9}"/>
              </a:ext>
            </a:extLst>
          </p:cNvPr>
          <p:cNvSpPr>
            <a:spLocks noGrp="1"/>
          </p:cNvSpPr>
          <p:nvPr>
            <p:ph idx="1"/>
          </p:nvPr>
        </p:nvSpPr>
        <p:spPr>
          <a:xfrm>
            <a:off x="6225308" y="1825624"/>
            <a:ext cx="5809503" cy="5032376"/>
          </a:xfrm>
        </p:spPr>
        <p:txBody>
          <a:bodyPr>
            <a:normAutofit/>
          </a:bodyPr>
          <a:lstStyle/>
          <a:p>
            <a:r>
              <a:rPr lang="pt-BR" dirty="0"/>
              <a:t>O </a:t>
            </a:r>
            <a:r>
              <a:rPr lang="pt-BR" b="1" i="1" dirty="0">
                <a:solidFill>
                  <a:srgbClr val="7030A0"/>
                </a:solidFill>
              </a:rPr>
              <a:t>aprendizado supervisionado</a:t>
            </a:r>
            <a:r>
              <a:rPr lang="pt-BR" dirty="0"/>
              <a:t> é uma abordagem do aprendizado de máquina em que o </a:t>
            </a:r>
            <a:r>
              <a:rPr lang="pt-BR" b="1" i="1" dirty="0">
                <a:solidFill>
                  <a:srgbClr val="00B050"/>
                </a:solidFill>
              </a:rPr>
              <a:t>modelo</a:t>
            </a:r>
            <a:r>
              <a:rPr lang="pt-BR" dirty="0"/>
              <a:t> aprende a partir de </a:t>
            </a:r>
            <a:r>
              <a:rPr lang="pt-BR" b="1" i="1" dirty="0">
                <a:solidFill>
                  <a:schemeClr val="accent1"/>
                </a:solidFill>
              </a:rPr>
              <a:t>dados rotulados</a:t>
            </a:r>
            <a:r>
              <a:rPr lang="pt-BR" dirty="0"/>
              <a:t>. </a:t>
            </a:r>
          </a:p>
          <a:p>
            <a:r>
              <a:rPr lang="pt-BR" dirty="0"/>
              <a:t>Ou seja, cada exemplo do conjunto de treinamento contém uma entrada e a saída esperada (ou rótulo). </a:t>
            </a:r>
          </a:p>
        </p:txBody>
      </p:sp>
      <p:grpSp>
        <p:nvGrpSpPr>
          <p:cNvPr id="10" name="Agrupar 9">
            <a:extLst>
              <a:ext uri="{FF2B5EF4-FFF2-40B4-BE49-F238E27FC236}">
                <a16:creationId xmlns:a16="http://schemas.microsoft.com/office/drawing/2014/main" id="{9BBC33AB-684C-4B19-628A-1F6C080DF968}"/>
              </a:ext>
            </a:extLst>
          </p:cNvPr>
          <p:cNvGrpSpPr/>
          <p:nvPr/>
        </p:nvGrpSpPr>
        <p:grpSpPr>
          <a:xfrm>
            <a:off x="732540" y="2398623"/>
            <a:ext cx="4730868" cy="3031571"/>
            <a:chOff x="157187" y="2378075"/>
            <a:chExt cx="4730868" cy="3031571"/>
          </a:xfrm>
        </p:grpSpPr>
        <p:sp>
          <p:nvSpPr>
            <p:cNvPr id="32" name="Retângulo 31">
              <a:extLst>
                <a:ext uri="{FF2B5EF4-FFF2-40B4-BE49-F238E27FC236}">
                  <a16:creationId xmlns:a16="http://schemas.microsoft.com/office/drawing/2014/main" id="{838329C1-1E89-B28D-F941-8802C19AD179}"/>
                </a:ext>
              </a:extLst>
            </p:cNvPr>
            <p:cNvSpPr/>
            <p:nvPr/>
          </p:nvSpPr>
          <p:spPr>
            <a:xfrm>
              <a:off x="425788" y="3029858"/>
              <a:ext cx="463575" cy="1935842"/>
            </a:xfrm>
            <a:prstGeom prst="rect">
              <a:avLst/>
            </a:prstGeom>
            <a:solidFill>
              <a:schemeClr val="accent1">
                <a:alpha val="41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Rectangle 12">
              <a:extLst>
                <a:ext uri="{FF2B5EF4-FFF2-40B4-BE49-F238E27FC236}">
                  <a16:creationId xmlns:a16="http://schemas.microsoft.com/office/drawing/2014/main" id="{4A2785BF-1CEE-E8AB-8D08-84BCD2D133E0}"/>
                </a:ext>
              </a:extLst>
            </p:cNvPr>
            <p:cNvSpPr/>
            <p:nvPr/>
          </p:nvSpPr>
          <p:spPr>
            <a:xfrm>
              <a:off x="1361788" y="3029857"/>
              <a:ext cx="1216819" cy="8490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Modelo de ML</a:t>
              </a:r>
            </a:p>
          </p:txBody>
        </p:sp>
        <p:cxnSp>
          <p:nvCxnSpPr>
            <p:cNvPr id="15" name="Straight Arrow Connector 14">
              <a:extLst>
                <a:ext uri="{FF2B5EF4-FFF2-40B4-BE49-F238E27FC236}">
                  <a16:creationId xmlns:a16="http://schemas.microsoft.com/office/drawing/2014/main" id="{435EB3E1-4C6B-29AA-FCF3-CC20FA646A06}"/>
                </a:ext>
              </a:extLst>
            </p:cNvPr>
            <p:cNvCxnSpPr>
              <a:cxnSpLocks/>
            </p:cNvCxnSpPr>
            <p:nvPr/>
          </p:nvCxnSpPr>
          <p:spPr>
            <a:xfrm>
              <a:off x="893787" y="3471233"/>
              <a:ext cx="46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4">
              <a:extLst>
                <a:ext uri="{FF2B5EF4-FFF2-40B4-BE49-F238E27FC236}">
                  <a16:creationId xmlns:a16="http://schemas.microsoft.com/office/drawing/2014/main" id="{6F777AA0-6CE8-9E70-5DB9-8A7A493D5C0C}"/>
                </a:ext>
              </a:extLst>
            </p:cNvPr>
            <p:cNvCxnSpPr>
              <a:cxnSpLocks/>
              <a:stCxn id="14" idx="3"/>
              <a:endCxn id="18" idx="1"/>
            </p:cNvCxnSpPr>
            <p:nvPr/>
          </p:nvCxnSpPr>
          <p:spPr>
            <a:xfrm>
              <a:off x="2578607" y="3454400"/>
              <a:ext cx="692886"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8" name="Rectangle 12">
              <a:extLst>
                <a:ext uri="{FF2B5EF4-FFF2-40B4-BE49-F238E27FC236}">
                  <a16:creationId xmlns:a16="http://schemas.microsoft.com/office/drawing/2014/main" id="{97EA4150-4F71-28A5-8099-E18BAC734F20}"/>
                </a:ext>
              </a:extLst>
            </p:cNvPr>
            <p:cNvSpPr/>
            <p:nvPr/>
          </p:nvSpPr>
          <p:spPr>
            <a:xfrm>
              <a:off x="3271493" y="3029857"/>
              <a:ext cx="1216818" cy="8490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Função de erro</a:t>
              </a:r>
            </a:p>
          </p:txBody>
        </p:sp>
        <mc:AlternateContent xmlns:mc="http://schemas.openxmlformats.org/markup-compatibility/2006" xmlns:a14="http://schemas.microsoft.com/office/drawing/2010/main">
          <mc:Choice Requires="a14">
            <p:sp>
              <p:nvSpPr>
                <p:cNvPr id="19" name="CaixaDeTexto 18">
                  <a:extLst>
                    <a:ext uri="{FF2B5EF4-FFF2-40B4-BE49-F238E27FC236}">
                      <a16:creationId xmlns:a16="http://schemas.microsoft.com/office/drawing/2014/main" id="{A8C92083-4870-D971-9726-55B7AAA3538B}"/>
                    </a:ext>
                  </a:extLst>
                </p:cNvPr>
                <p:cNvSpPr txBox="1"/>
                <p:nvPr/>
              </p:nvSpPr>
              <p:spPr>
                <a:xfrm flipH="1">
                  <a:off x="436587" y="3162012"/>
                  <a:ext cx="467999"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pt-BR" sz="2400" b="1" i="1" smtClean="0">
                            <a:latin typeface="Cambria Math" panose="02040503050406030204" pitchFamily="18" charset="0"/>
                          </a:rPr>
                          <m:t>𝒙</m:t>
                        </m:r>
                      </m:oMath>
                    </m:oMathPara>
                  </a14:m>
                  <a:endParaRPr lang="pt-BR" sz="2400" b="1" dirty="0"/>
                </a:p>
              </p:txBody>
            </p:sp>
          </mc:Choice>
          <mc:Fallback xmlns="">
            <p:sp>
              <p:nvSpPr>
                <p:cNvPr id="19" name="CaixaDeTexto 18">
                  <a:extLst>
                    <a:ext uri="{FF2B5EF4-FFF2-40B4-BE49-F238E27FC236}">
                      <a16:creationId xmlns:a16="http://schemas.microsoft.com/office/drawing/2014/main" id="{C78060AE-A702-AF60-DFA2-2E7F62790D30}"/>
                    </a:ext>
                  </a:extLst>
                </p:cNvPr>
                <p:cNvSpPr txBox="1">
                  <a:spLocks noRot="1" noChangeAspect="1" noMove="1" noResize="1" noEditPoints="1" noAdjustHandles="1" noChangeArrowheads="1" noChangeShapeType="1" noTextEdit="1"/>
                </p:cNvSpPr>
                <p:nvPr/>
              </p:nvSpPr>
              <p:spPr>
                <a:xfrm flipH="1">
                  <a:off x="436587" y="3162012"/>
                  <a:ext cx="467999" cy="461665"/>
                </a:xfrm>
                <a:prstGeom prst="rect">
                  <a:avLst/>
                </a:prstGeom>
                <a:blipFill>
                  <a:blip r:embed="rId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0" name="CaixaDeTexto 19">
                  <a:extLst>
                    <a:ext uri="{FF2B5EF4-FFF2-40B4-BE49-F238E27FC236}">
                      <a16:creationId xmlns:a16="http://schemas.microsoft.com/office/drawing/2014/main" id="{3239E92A-0AF3-20CF-CDF8-D1DE86F8E7D2}"/>
                    </a:ext>
                  </a:extLst>
                </p:cNvPr>
                <p:cNvSpPr txBox="1"/>
                <p:nvPr/>
              </p:nvSpPr>
              <p:spPr>
                <a:xfrm flipH="1">
                  <a:off x="425788" y="4367212"/>
                  <a:ext cx="467999"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pt-BR" sz="2400" b="0" i="1" smtClean="0">
                            <a:latin typeface="Cambria Math" panose="02040503050406030204" pitchFamily="18" charset="0"/>
                          </a:rPr>
                          <m:t>𝑦</m:t>
                        </m:r>
                      </m:oMath>
                    </m:oMathPara>
                  </a14:m>
                  <a:endParaRPr lang="pt-BR" sz="2400" dirty="0"/>
                </a:p>
              </p:txBody>
            </p:sp>
          </mc:Choice>
          <mc:Fallback xmlns="">
            <p:sp>
              <p:nvSpPr>
                <p:cNvPr id="12" name="CaixaDeTexto 11">
                  <a:extLst>
                    <a:ext uri="{FF2B5EF4-FFF2-40B4-BE49-F238E27FC236}">
                      <a16:creationId xmlns:a16="http://schemas.microsoft.com/office/drawing/2014/main" id="{120EB5AF-A158-F20A-7D5F-DC34312E5153}"/>
                    </a:ext>
                  </a:extLst>
                </p:cNvPr>
                <p:cNvSpPr txBox="1">
                  <a:spLocks noRot="1" noChangeAspect="1" noMove="1" noResize="1" noEditPoints="1" noAdjustHandles="1" noChangeArrowheads="1" noChangeShapeType="1" noTextEdit="1"/>
                </p:cNvSpPr>
                <p:nvPr/>
              </p:nvSpPr>
              <p:spPr>
                <a:xfrm flipH="1">
                  <a:off x="425788" y="4367212"/>
                  <a:ext cx="467999" cy="461665"/>
                </a:xfrm>
                <a:prstGeom prst="rect">
                  <a:avLst/>
                </a:prstGeom>
                <a:blipFill>
                  <a:blip r:embed="rId5"/>
                  <a:stretch>
                    <a:fillRect b="-1052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2" name="CaixaDeTexto 21">
                  <a:extLst>
                    <a:ext uri="{FF2B5EF4-FFF2-40B4-BE49-F238E27FC236}">
                      <a16:creationId xmlns:a16="http://schemas.microsoft.com/office/drawing/2014/main" id="{7BF159E9-FD2C-CD6C-1FF7-7A1E5F39FB86}"/>
                    </a:ext>
                  </a:extLst>
                </p:cNvPr>
                <p:cNvSpPr txBox="1"/>
                <p:nvPr/>
              </p:nvSpPr>
              <p:spPr>
                <a:xfrm flipH="1">
                  <a:off x="2656972" y="3008452"/>
                  <a:ext cx="467999"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pt-BR" sz="2400" b="0" i="1" smtClean="0">
                                <a:latin typeface="Cambria Math" panose="02040503050406030204" pitchFamily="18" charset="0"/>
                              </a:rPr>
                            </m:ctrlPr>
                          </m:accPr>
                          <m:e>
                            <m:r>
                              <a:rPr lang="pt-BR" sz="2400" b="0" i="1" smtClean="0">
                                <a:latin typeface="Cambria Math" panose="02040503050406030204" pitchFamily="18" charset="0"/>
                              </a:rPr>
                              <m:t>𝑦</m:t>
                            </m:r>
                          </m:e>
                        </m:acc>
                      </m:oMath>
                    </m:oMathPara>
                  </a14:m>
                  <a:endParaRPr lang="pt-BR" sz="2400" dirty="0"/>
                </a:p>
              </p:txBody>
            </p:sp>
          </mc:Choice>
          <mc:Fallback xmlns="">
            <p:sp>
              <p:nvSpPr>
                <p:cNvPr id="13" name="CaixaDeTexto 12">
                  <a:extLst>
                    <a:ext uri="{FF2B5EF4-FFF2-40B4-BE49-F238E27FC236}">
                      <a16:creationId xmlns:a16="http://schemas.microsoft.com/office/drawing/2014/main" id="{0DD5471C-A64B-2523-03B6-5429998A9CAA}"/>
                    </a:ext>
                  </a:extLst>
                </p:cNvPr>
                <p:cNvSpPr txBox="1">
                  <a:spLocks noRot="1" noChangeAspect="1" noMove="1" noResize="1" noEditPoints="1" noAdjustHandles="1" noChangeArrowheads="1" noChangeShapeType="1" noTextEdit="1"/>
                </p:cNvSpPr>
                <p:nvPr/>
              </p:nvSpPr>
              <p:spPr>
                <a:xfrm flipH="1">
                  <a:off x="2656972" y="3008452"/>
                  <a:ext cx="467999" cy="461665"/>
                </a:xfrm>
                <a:prstGeom prst="rect">
                  <a:avLst/>
                </a:prstGeom>
                <a:blipFill>
                  <a:blip r:embed="rId6"/>
                  <a:stretch>
                    <a:fillRect t="-4000" r="-24675" b="-10667"/>
                  </a:stretch>
                </a:blipFill>
              </p:spPr>
              <p:txBody>
                <a:bodyPr/>
                <a:lstStyle/>
                <a:p>
                  <a:r>
                    <a:rPr lang="pt-BR">
                      <a:noFill/>
                    </a:rPr>
                    <a:t> </a:t>
                  </a:r>
                </a:p>
              </p:txBody>
            </p:sp>
          </mc:Fallback>
        </mc:AlternateContent>
        <p:cxnSp>
          <p:nvCxnSpPr>
            <p:cNvPr id="28" name="Conector: Angulado 27">
              <a:extLst>
                <a:ext uri="{FF2B5EF4-FFF2-40B4-BE49-F238E27FC236}">
                  <a16:creationId xmlns:a16="http://schemas.microsoft.com/office/drawing/2014/main" id="{93CAC8EC-8DD3-0065-D7A3-44F194B56749}"/>
                </a:ext>
              </a:extLst>
            </p:cNvPr>
            <p:cNvCxnSpPr>
              <a:cxnSpLocks/>
              <a:stCxn id="20" idx="1"/>
              <a:endCxn id="18" idx="2"/>
            </p:cNvCxnSpPr>
            <p:nvPr/>
          </p:nvCxnSpPr>
          <p:spPr>
            <a:xfrm flipV="1">
              <a:off x="893787" y="3878943"/>
              <a:ext cx="2986115" cy="71910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ector: Angulado 28">
              <a:extLst>
                <a:ext uri="{FF2B5EF4-FFF2-40B4-BE49-F238E27FC236}">
                  <a16:creationId xmlns:a16="http://schemas.microsoft.com/office/drawing/2014/main" id="{4BB76601-D203-2E3A-0CE4-DAE4C5F709EA}"/>
                </a:ext>
              </a:extLst>
            </p:cNvPr>
            <p:cNvCxnSpPr>
              <a:stCxn id="18" idx="3"/>
            </p:cNvCxnSpPr>
            <p:nvPr/>
          </p:nvCxnSpPr>
          <p:spPr>
            <a:xfrm flipH="1" flipV="1">
              <a:off x="2663083" y="2378075"/>
              <a:ext cx="1825228" cy="1076325"/>
            </a:xfrm>
            <a:prstGeom prst="bentConnector3">
              <a:avLst>
                <a:gd name="adj1" fmla="val -12524"/>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Conector reto 29">
              <a:extLst>
                <a:ext uri="{FF2B5EF4-FFF2-40B4-BE49-F238E27FC236}">
                  <a16:creationId xmlns:a16="http://schemas.microsoft.com/office/drawing/2014/main" id="{16D37D63-EDD1-FDE6-0ADD-36BADAF7DB27}"/>
                </a:ext>
              </a:extLst>
            </p:cNvPr>
            <p:cNvCxnSpPr/>
            <p:nvPr/>
          </p:nvCxnSpPr>
          <p:spPr>
            <a:xfrm flipH="1">
              <a:off x="1450107" y="2378075"/>
              <a:ext cx="1212396" cy="1743075"/>
            </a:xfrm>
            <a:prstGeom prst="line">
              <a:avLst/>
            </a:prstGeom>
            <a:ln>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1" name="CaixaDeTexto 30">
              <a:extLst>
                <a:ext uri="{FF2B5EF4-FFF2-40B4-BE49-F238E27FC236}">
                  <a16:creationId xmlns:a16="http://schemas.microsoft.com/office/drawing/2014/main" id="{D1E65769-723F-E0E4-8B19-F24F2391844D}"/>
                </a:ext>
              </a:extLst>
            </p:cNvPr>
            <p:cNvSpPr txBox="1"/>
            <p:nvPr/>
          </p:nvSpPr>
          <p:spPr>
            <a:xfrm>
              <a:off x="893787" y="4074825"/>
              <a:ext cx="1309262" cy="276999"/>
            </a:xfrm>
            <a:prstGeom prst="rect">
              <a:avLst/>
            </a:prstGeom>
            <a:noFill/>
          </p:spPr>
          <p:txBody>
            <a:bodyPr wrap="square" rtlCol="0">
              <a:spAutoFit/>
            </a:bodyPr>
            <a:lstStyle/>
            <a:p>
              <a:pPr algn="ctr"/>
              <a:r>
                <a:rPr lang="pt-BR" sz="1200" dirty="0"/>
                <a:t>Ajuste do modelo</a:t>
              </a:r>
            </a:p>
          </p:txBody>
        </p:sp>
        <p:sp>
          <p:nvSpPr>
            <p:cNvPr id="35" name="CaixaDeTexto 34">
              <a:extLst>
                <a:ext uri="{FF2B5EF4-FFF2-40B4-BE49-F238E27FC236}">
                  <a16:creationId xmlns:a16="http://schemas.microsoft.com/office/drawing/2014/main" id="{ED008859-9A38-E63A-CD30-71AEDC72C153}"/>
                </a:ext>
              </a:extLst>
            </p:cNvPr>
            <p:cNvSpPr txBox="1"/>
            <p:nvPr/>
          </p:nvSpPr>
          <p:spPr>
            <a:xfrm>
              <a:off x="157187" y="4947981"/>
              <a:ext cx="1047413" cy="461665"/>
            </a:xfrm>
            <a:prstGeom prst="rect">
              <a:avLst/>
            </a:prstGeom>
            <a:noFill/>
          </p:spPr>
          <p:txBody>
            <a:bodyPr wrap="square" rtlCol="0">
              <a:spAutoFit/>
            </a:bodyPr>
            <a:lstStyle/>
            <a:p>
              <a:pPr algn="ctr"/>
              <a:r>
                <a:rPr lang="pt-BR" sz="1200" dirty="0"/>
                <a:t>Conjunto de treinamento</a:t>
              </a:r>
            </a:p>
          </p:txBody>
        </p:sp>
        <p:sp>
          <p:nvSpPr>
            <p:cNvPr id="36" name="CaixaDeTexto 35">
              <a:extLst>
                <a:ext uri="{FF2B5EF4-FFF2-40B4-BE49-F238E27FC236}">
                  <a16:creationId xmlns:a16="http://schemas.microsoft.com/office/drawing/2014/main" id="{7827DB5B-F0A6-A2F0-7B68-97F6F9DC5ED8}"/>
                </a:ext>
              </a:extLst>
            </p:cNvPr>
            <p:cNvSpPr txBox="1"/>
            <p:nvPr/>
          </p:nvSpPr>
          <p:spPr>
            <a:xfrm>
              <a:off x="2578608" y="3490140"/>
              <a:ext cx="692886" cy="276999"/>
            </a:xfrm>
            <a:prstGeom prst="rect">
              <a:avLst/>
            </a:prstGeom>
            <a:noFill/>
          </p:spPr>
          <p:txBody>
            <a:bodyPr wrap="square" rtlCol="0">
              <a:spAutoFit/>
            </a:bodyPr>
            <a:lstStyle/>
            <a:p>
              <a:pPr algn="ctr"/>
              <a:r>
                <a:rPr lang="pt-BR" sz="1200" dirty="0"/>
                <a:t>palpite</a:t>
              </a:r>
            </a:p>
          </p:txBody>
        </p:sp>
        <p:sp>
          <p:nvSpPr>
            <p:cNvPr id="37" name="CaixaDeTexto 36">
              <a:extLst>
                <a:ext uri="{FF2B5EF4-FFF2-40B4-BE49-F238E27FC236}">
                  <a16:creationId xmlns:a16="http://schemas.microsoft.com/office/drawing/2014/main" id="{D6885FDC-ACED-E437-62E3-542908BECB0F}"/>
                </a:ext>
              </a:extLst>
            </p:cNvPr>
            <p:cNvSpPr txBox="1"/>
            <p:nvPr/>
          </p:nvSpPr>
          <p:spPr>
            <a:xfrm>
              <a:off x="4433138" y="3443383"/>
              <a:ext cx="454917" cy="276999"/>
            </a:xfrm>
            <a:prstGeom prst="rect">
              <a:avLst/>
            </a:prstGeom>
            <a:noFill/>
          </p:spPr>
          <p:txBody>
            <a:bodyPr wrap="square" rtlCol="0">
              <a:spAutoFit/>
            </a:bodyPr>
            <a:lstStyle/>
            <a:p>
              <a:pPr algn="ctr"/>
              <a:r>
                <a:rPr lang="pt-BR" sz="1200" dirty="0"/>
                <a:t>erro</a:t>
              </a:r>
            </a:p>
          </p:txBody>
        </p:sp>
      </p:grpSp>
    </p:spTree>
    <p:extLst>
      <p:ext uri="{BB962C8B-B14F-4D97-AF65-F5344CB8AC3E}">
        <p14:creationId xmlns:p14="http://schemas.microsoft.com/office/powerpoint/2010/main" val="10561126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AAC63C-303B-CC7F-1D4F-8D765EB8B09B}"/>
              </a:ext>
            </a:extLst>
          </p:cNvPr>
          <p:cNvSpPr>
            <a:spLocks noGrp="1"/>
          </p:cNvSpPr>
          <p:nvPr>
            <p:ph type="title"/>
          </p:nvPr>
        </p:nvSpPr>
        <p:spPr/>
        <p:txBody>
          <a:bodyPr/>
          <a:lstStyle/>
          <a:p>
            <a:r>
              <a:rPr lang="pt-BR" dirty="0"/>
              <a:t>Treinamento da máquina (ou modelo de ML)</a:t>
            </a:r>
          </a:p>
        </p:txBody>
      </p:sp>
      <p:sp>
        <p:nvSpPr>
          <p:cNvPr id="3" name="Espaço Reservado para Conteúdo 2">
            <a:extLst>
              <a:ext uri="{FF2B5EF4-FFF2-40B4-BE49-F238E27FC236}">
                <a16:creationId xmlns:a16="http://schemas.microsoft.com/office/drawing/2014/main" id="{62A3C305-4461-D25D-82D9-0C9F42995D65}"/>
              </a:ext>
            </a:extLst>
          </p:cNvPr>
          <p:cNvSpPr>
            <a:spLocks noGrp="1"/>
          </p:cNvSpPr>
          <p:nvPr>
            <p:ph idx="1"/>
          </p:nvPr>
        </p:nvSpPr>
        <p:spPr>
          <a:xfrm>
            <a:off x="6096000" y="1825624"/>
            <a:ext cx="5938812" cy="5032376"/>
          </a:xfrm>
        </p:spPr>
        <p:txBody>
          <a:bodyPr>
            <a:normAutofit/>
          </a:bodyPr>
          <a:lstStyle/>
          <a:p>
            <a:r>
              <a:rPr lang="pt-BR" dirty="0"/>
              <a:t>Esse processo iterativo de aprendizado é repetido até que o erro seja </a:t>
            </a:r>
            <a:r>
              <a:rPr lang="pt-BR" b="1" i="1" dirty="0">
                <a:solidFill>
                  <a:srgbClr val="00B050"/>
                </a:solidFill>
              </a:rPr>
              <a:t>minimizado</a:t>
            </a:r>
            <a:r>
              <a:rPr lang="pt-BR" dirty="0"/>
              <a:t>.</a:t>
            </a:r>
          </a:p>
          <a:p>
            <a:r>
              <a:rPr lang="pt-BR" dirty="0"/>
              <a:t>A </a:t>
            </a:r>
            <a:r>
              <a:rPr lang="pt-BR" b="1" i="1" dirty="0">
                <a:solidFill>
                  <a:srgbClr val="00B050"/>
                </a:solidFill>
              </a:rPr>
              <a:t>ideia</a:t>
            </a:r>
            <a:r>
              <a:rPr lang="pt-BR" dirty="0"/>
              <a:t> é que a cada </a:t>
            </a:r>
            <a:r>
              <a:rPr lang="pt-BR" b="1" i="1" dirty="0">
                <a:solidFill>
                  <a:srgbClr val="00B050"/>
                </a:solidFill>
              </a:rPr>
              <a:t>repetição</a:t>
            </a:r>
            <a:r>
              <a:rPr lang="pt-BR" dirty="0"/>
              <a:t> (ou </a:t>
            </a:r>
            <a:r>
              <a:rPr lang="pt-BR" b="1" i="1" dirty="0">
                <a:solidFill>
                  <a:srgbClr val="00B050"/>
                </a:solidFill>
              </a:rPr>
              <a:t>iteração</a:t>
            </a:r>
            <a:r>
              <a:rPr lang="pt-BR" dirty="0"/>
              <a:t>), o </a:t>
            </a:r>
            <a:r>
              <a:rPr lang="pt-BR" b="1" i="1" dirty="0">
                <a:solidFill>
                  <a:srgbClr val="00B050"/>
                </a:solidFill>
              </a:rPr>
              <a:t>novo</a:t>
            </a:r>
            <a:r>
              <a:rPr lang="pt-BR" dirty="0"/>
              <a:t> </a:t>
            </a:r>
            <a:r>
              <a:rPr lang="pt-BR" b="1" i="1" dirty="0">
                <a:solidFill>
                  <a:srgbClr val="00B050"/>
                </a:solidFill>
              </a:rPr>
              <a:t>palpite</a:t>
            </a:r>
            <a:r>
              <a:rPr lang="pt-BR" dirty="0"/>
              <a:t> se torne </a:t>
            </a:r>
            <a:r>
              <a:rPr lang="pt-BR" b="1" i="1" dirty="0">
                <a:solidFill>
                  <a:srgbClr val="00B050"/>
                </a:solidFill>
              </a:rPr>
              <a:t>melhor do que o anterior</a:t>
            </a:r>
            <a:r>
              <a:rPr lang="pt-BR" dirty="0"/>
              <a:t>, fazendo com que o </a:t>
            </a:r>
            <a:r>
              <a:rPr lang="pt-BR" b="1" i="1" dirty="0">
                <a:solidFill>
                  <a:srgbClr val="00B050"/>
                </a:solidFill>
              </a:rPr>
              <a:t>erro diminua</a:t>
            </a:r>
            <a:r>
              <a:rPr lang="pt-BR" dirty="0"/>
              <a:t> e o </a:t>
            </a:r>
            <a:r>
              <a:rPr lang="pt-BR" b="1" i="1" dirty="0">
                <a:solidFill>
                  <a:srgbClr val="00B050"/>
                </a:solidFill>
              </a:rPr>
              <a:t>modelo se torne mais preciso</a:t>
            </a:r>
            <a:r>
              <a:rPr lang="pt-BR" dirty="0"/>
              <a:t>.</a:t>
            </a:r>
          </a:p>
        </p:txBody>
      </p:sp>
      <p:grpSp>
        <p:nvGrpSpPr>
          <p:cNvPr id="5" name="Agrupar 4">
            <a:extLst>
              <a:ext uri="{FF2B5EF4-FFF2-40B4-BE49-F238E27FC236}">
                <a16:creationId xmlns:a16="http://schemas.microsoft.com/office/drawing/2014/main" id="{EA33E72B-15C4-3A2F-6825-328A915500B2}"/>
              </a:ext>
            </a:extLst>
          </p:cNvPr>
          <p:cNvGrpSpPr/>
          <p:nvPr/>
        </p:nvGrpSpPr>
        <p:grpSpPr>
          <a:xfrm>
            <a:off x="732540" y="2398623"/>
            <a:ext cx="4730868" cy="3031571"/>
            <a:chOff x="157187" y="2378075"/>
            <a:chExt cx="4730868" cy="3031571"/>
          </a:xfrm>
        </p:grpSpPr>
        <p:sp>
          <p:nvSpPr>
            <p:cNvPr id="31" name="Retângulo 30">
              <a:extLst>
                <a:ext uri="{FF2B5EF4-FFF2-40B4-BE49-F238E27FC236}">
                  <a16:creationId xmlns:a16="http://schemas.microsoft.com/office/drawing/2014/main" id="{1627BF27-8FE5-01DD-D401-828FF6A562C4}"/>
                </a:ext>
              </a:extLst>
            </p:cNvPr>
            <p:cNvSpPr/>
            <p:nvPr/>
          </p:nvSpPr>
          <p:spPr>
            <a:xfrm>
              <a:off x="425788" y="3029858"/>
              <a:ext cx="463575" cy="1935842"/>
            </a:xfrm>
            <a:prstGeom prst="rect">
              <a:avLst/>
            </a:prstGeom>
            <a:solidFill>
              <a:schemeClr val="accent1">
                <a:alpha val="41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Rectangle 12">
              <a:extLst>
                <a:ext uri="{FF2B5EF4-FFF2-40B4-BE49-F238E27FC236}">
                  <a16:creationId xmlns:a16="http://schemas.microsoft.com/office/drawing/2014/main" id="{B5E23454-A266-C53C-0EFC-B1DCFC3BC9D1}"/>
                </a:ext>
              </a:extLst>
            </p:cNvPr>
            <p:cNvSpPr/>
            <p:nvPr/>
          </p:nvSpPr>
          <p:spPr>
            <a:xfrm>
              <a:off x="1361788" y="3029857"/>
              <a:ext cx="1216819" cy="8490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Modelo de ML</a:t>
              </a:r>
            </a:p>
          </p:txBody>
        </p:sp>
        <p:cxnSp>
          <p:nvCxnSpPr>
            <p:cNvPr id="14" name="Straight Arrow Connector 14">
              <a:extLst>
                <a:ext uri="{FF2B5EF4-FFF2-40B4-BE49-F238E27FC236}">
                  <a16:creationId xmlns:a16="http://schemas.microsoft.com/office/drawing/2014/main" id="{BEDC1A2B-2AB0-0EC0-8B92-C4B4F0BDAA45}"/>
                </a:ext>
              </a:extLst>
            </p:cNvPr>
            <p:cNvCxnSpPr>
              <a:cxnSpLocks/>
            </p:cNvCxnSpPr>
            <p:nvPr/>
          </p:nvCxnSpPr>
          <p:spPr>
            <a:xfrm>
              <a:off x="893787" y="3471233"/>
              <a:ext cx="46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5606855-4EBB-1E11-0D0C-DBA2A463F91A}"/>
                </a:ext>
              </a:extLst>
            </p:cNvPr>
            <p:cNvCxnSpPr>
              <a:cxnSpLocks/>
              <a:stCxn id="10" idx="3"/>
              <a:endCxn id="17" idx="1"/>
            </p:cNvCxnSpPr>
            <p:nvPr/>
          </p:nvCxnSpPr>
          <p:spPr>
            <a:xfrm>
              <a:off x="2578607" y="3454400"/>
              <a:ext cx="692886"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7" name="Rectangle 12">
              <a:extLst>
                <a:ext uri="{FF2B5EF4-FFF2-40B4-BE49-F238E27FC236}">
                  <a16:creationId xmlns:a16="http://schemas.microsoft.com/office/drawing/2014/main" id="{D15DAF30-8C8B-0BFC-85F6-E170B434AE3B}"/>
                </a:ext>
              </a:extLst>
            </p:cNvPr>
            <p:cNvSpPr/>
            <p:nvPr/>
          </p:nvSpPr>
          <p:spPr>
            <a:xfrm>
              <a:off x="3271493" y="3029857"/>
              <a:ext cx="1216818" cy="8490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Função de erro</a:t>
              </a:r>
            </a:p>
          </p:txBody>
        </p:sp>
        <mc:AlternateContent xmlns:mc="http://schemas.openxmlformats.org/markup-compatibility/2006" xmlns:a14="http://schemas.microsoft.com/office/drawing/2010/main">
          <mc:Choice Requires="a14">
            <p:sp>
              <p:nvSpPr>
                <p:cNvPr id="18" name="CaixaDeTexto 17">
                  <a:extLst>
                    <a:ext uri="{FF2B5EF4-FFF2-40B4-BE49-F238E27FC236}">
                      <a16:creationId xmlns:a16="http://schemas.microsoft.com/office/drawing/2014/main" id="{D0DE47C6-364E-3AB5-3488-3271B39399D6}"/>
                    </a:ext>
                  </a:extLst>
                </p:cNvPr>
                <p:cNvSpPr txBox="1"/>
                <p:nvPr/>
              </p:nvSpPr>
              <p:spPr>
                <a:xfrm flipH="1">
                  <a:off x="436587" y="3162012"/>
                  <a:ext cx="467999"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pt-BR" sz="2400" b="1" i="1" smtClean="0">
                            <a:latin typeface="Cambria Math" panose="02040503050406030204" pitchFamily="18" charset="0"/>
                          </a:rPr>
                          <m:t>𝒙</m:t>
                        </m:r>
                      </m:oMath>
                    </m:oMathPara>
                  </a14:m>
                  <a:endParaRPr lang="pt-BR" sz="2400" b="1" dirty="0"/>
                </a:p>
              </p:txBody>
            </p:sp>
          </mc:Choice>
          <mc:Fallback xmlns="">
            <p:sp>
              <p:nvSpPr>
                <p:cNvPr id="18" name="CaixaDeTexto 17">
                  <a:extLst>
                    <a:ext uri="{FF2B5EF4-FFF2-40B4-BE49-F238E27FC236}">
                      <a16:creationId xmlns:a16="http://schemas.microsoft.com/office/drawing/2014/main" id="{D0DE47C6-364E-3AB5-3488-3271B39399D6}"/>
                    </a:ext>
                  </a:extLst>
                </p:cNvPr>
                <p:cNvSpPr txBox="1">
                  <a:spLocks noRot="1" noChangeAspect="1" noMove="1" noResize="1" noEditPoints="1" noAdjustHandles="1" noChangeArrowheads="1" noChangeShapeType="1" noTextEdit="1"/>
                </p:cNvSpPr>
                <p:nvPr/>
              </p:nvSpPr>
              <p:spPr>
                <a:xfrm flipH="1">
                  <a:off x="436587" y="3162012"/>
                  <a:ext cx="467999" cy="461665"/>
                </a:xfrm>
                <a:prstGeom prst="rect">
                  <a:avLst/>
                </a:prstGeom>
                <a:blipFill>
                  <a:blip r:embed="rId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9" name="CaixaDeTexto 18">
                  <a:extLst>
                    <a:ext uri="{FF2B5EF4-FFF2-40B4-BE49-F238E27FC236}">
                      <a16:creationId xmlns:a16="http://schemas.microsoft.com/office/drawing/2014/main" id="{318CCA72-60E7-A23B-5BA0-0D4D50FE41A5}"/>
                    </a:ext>
                  </a:extLst>
                </p:cNvPr>
                <p:cNvSpPr txBox="1"/>
                <p:nvPr/>
              </p:nvSpPr>
              <p:spPr>
                <a:xfrm flipH="1">
                  <a:off x="425788" y="4367212"/>
                  <a:ext cx="467999"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pt-BR" sz="2400" b="0" i="1" smtClean="0">
                            <a:latin typeface="Cambria Math" panose="02040503050406030204" pitchFamily="18" charset="0"/>
                          </a:rPr>
                          <m:t>𝑦</m:t>
                        </m:r>
                      </m:oMath>
                    </m:oMathPara>
                  </a14:m>
                  <a:endParaRPr lang="pt-BR" sz="2400" dirty="0"/>
                </a:p>
              </p:txBody>
            </p:sp>
          </mc:Choice>
          <mc:Fallback xmlns="">
            <p:sp>
              <p:nvSpPr>
                <p:cNvPr id="12" name="CaixaDeTexto 11">
                  <a:extLst>
                    <a:ext uri="{FF2B5EF4-FFF2-40B4-BE49-F238E27FC236}">
                      <a16:creationId xmlns:a16="http://schemas.microsoft.com/office/drawing/2014/main" id="{120EB5AF-A158-F20A-7D5F-DC34312E5153}"/>
                    </a:ext>
                  </a:extLst>
                </p:cNvPr>
                <p:cNvSpPr txBox="1">
                  <a:spLocks noRot="1" noChangeAspect="1" noMove="1" noResize="1" noEditPoints="1" noAdjustHandles="1" noChangeArrowheads="1" noChangeShapeType="1" noTextEdit="1"/>
                </p:cNvSpPr>
                <p:nvPr/>
              </p:nvSpPr>
              <p:spPr>
                <a:xfrm flipH="1">
                  <a:off x="425788" y="4367212"/>
                  <a:ext cx="467999" cy="461665"/>
                </a:xfrm>
                <a:prstGeom prst="rect">
                  <a:avLst/>
                </a:prstGeom>
                <a:blipFill>
                  <a:blip r:embed="rId5"/>
                  <a:stretch>
                    <a:fillRect b="-1052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0" name="CaixaDeTexto 19">
                  <a:extLst>
                    <a:ext uri="{FF2B5EF4-FFF2-40B4-BE49-F238E27FC236}">
                      <a16:creationId xmlns:a16="http://schemas.microsoft.com/office/drawing/2014/main" id="{D917D577-573B-7DC9-3DA7-C5E1ED6D8DDA}"/>
                    </a:ext>
                  </a:extLst>
                </p:cNvPr>
                <p:cNvSpPr txBox="1"/>
                <p:nvPr/>
              </p:nvSpPr>
              <p:spPr>
                <a:xfrm flipH="1">
                  <a:off x="2656972" y="3008452"/>
                  <a:ext cx="467999"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pt-BR" sz="2400" b="0" i="1" smtClean="0">
                                <a:latin typeface="Cambria Math" panose="02040503050406030204" pitchFamily="18" charset="0"/>
                              </a:rPr>
                            </m:ctrlPr>
                          </m:accPr>
                          <m:e>
                            <m:r>
                              <a:rPr lang="pt-BR" sz="2400" b="0" i="1" smtClean="0">
                                <a:latin typeface="Cambria Math" panose="02040503050406030204" pitchFamily="18" charset="0"/>
                              </a:rPr>
                              <m:t>𝑦</m:t>
                            </m:r>
                          </m:e>
                        </m:acc>
                      </m:oMath>
                    </m:oMathPara>
                  </a14:m>
                  <a:endParaRPr lang="pt-BR" sz="2400" dirty="0"/>
                </a:p>
              </p:txBody>
            </p:sp>
          </mc:Choice>
          <mc:Fallback xmlns="">
            <p:sp>
              <p:nvSpPr>
                <p:cNvPr id="13" name="CaixaDeTexto 12">
                  <a:extLst>
                    <a:ext uri="{FF2B5EF4-FFF2-40B4-BE49-F238E27FC236}">
                      <a16:creationId xmlns:a16="http://schemas.microsoft.com/office/drawing/2014/main" id="{0DD5471C-A64B-2523-03B6-5429998A9CAA}"/>
                    </a:ext>
                  </a:extLst>
                </p:cNvPr>
                <p:cNvSpPr txBox="1">
                  <a:spLocks noRot="1" noChangeAspect="1" noMove="1" noResize="1" noEditPoints="1" noAdjustHandles="1" noChangeArrowheads="1" noChangeShapeType="1" noTextEdit="1"/>
                </p:cNvSpPr>
                <p:nvPr/>
              </p:nvSpPr>
              <p:spPr>
                <a:xfrm flipH="1">
                  <a:off x="2656972" y="3008452"/>
                  <a:ext cx="467999" cy="461665"/>
                </a:xfrm>
                <a:prstGeom prst="rect">
                  <a:avLst/>
                </a:prstGeom>
                <a:blipFill>
                  <a:blip r:embed="rId6"/>
                  <a:stretch>
                    <a:fillRect t="-4000" r="-24675" b="-10667"/>
                  </a:stretch>
                </a:blipFill>
              </p:spPr>
              <p:txBody>
                <a:bodyPr/>
                <a:lstStyle/>
                <a:p>
                  <a:r>
                    <a:rPr lang="pt-BR">
                      <a:noFill/>
                    </a:rPr>
                    <a:t> </a:t>
                  </a:r>
                </a:p>
              </p:txBody>
            </p:sp>
          </mc:Fallback>
        </mc:AlternateContent>
        <p:cxnSp>
          <p:nvCxnSpPr>
            <p:cNvPr id="22" name="Conector: Angulado 21">
              <a:extLst>
                <a:ext uri="{FF2B5EF4-FFF2-40B4-BE49-F238E27FC236}">
                  <a16:creationId xmlns:a16="http://schemas.microsoft.com/office/drawing/2014/main" id="{A93EF0D3-690B-35B7-CD54-D70AB8D77F5A}"/>
                </a:ext>
              </a:extLst>
            </p:cNvPr>
            <p:cNvCxnSpPr>
              <a:cxnSpLocks/>
              <a:stCxn id="19" idx="1"/>
              <a:endCxn id="17" idx="2"/>
            </p:cNvCxnSpPr>
            <p:nvPr/>
          </p:nvCxnSpPr>
          <p:spPr>
            <a:xfrm flipV="1">
              <a:off x="893787" y="3878943"/>
              <a:ext cx="2986115" cy="71910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ector: Angulado 27">
              <a:extLst>
                <a:ext uri="{FF2B5EF4-FFF2-40B4-BE49-F238E27FC236}">
                  <a16:creationId xmlns:a16="http://schemas.microsoft.com/office/drawing/2014/main" id="{565465A5-F8F8-CC79-FB72-4BEDB16E4C36}"/>
                </a:ext>
              </a:extLst>
            </p:cNvPr>
            <p:cNvCxnSpPr>
              <a:stCxn id="17" idx="3"/>
            </p:cNvCxnSpPr>
            <p:nvPr/>
          </p:nvCxnSpPr>
          <p:spPr>
            <a:xfrm flipH="1" flipV="1">
              <a:off x="2663083" y="2378075"/>
              <a:ext cx="1825228" cy="1076325"/>
            </a:xfrm>
            <a:prstGeom prst="bentConnector3">
              <a:avLst>
                <a:gd name="adj1" fmla="val -12524"/>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Conector reto 28">
              <a:extLst>
                <a:ext uri="{FF2B5EF4-FFF2-40B4-BE49-F238E27FC236}">
                  <a16:creationId xmlns:a16="http://schemas.microsoft.com/office/drawing/2014/main" id="{205203AD-B9D2-1024-DB53-4BFAE1540155}"/>
                </a:ext>
              </a:extLst>
            </p:cNvPr>
            <p:cNvCxnSpPr/>
            <p:nvPr/>
          </p:nvCxnSpPr>
          <p:spPr>
            <a:xfrm flipH="1">
              <a:off x="1450107" y="2378075"/>
              <a:ext cx="1212396" cy="1743075"/>
            </a:xfrm>
            <a:prstGeom prst="line">
              <a:avLst/>
            </a:prstGeom>
            <a:ln>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0" name="CaixaDeTexto 29">
              <a:extLst>
                <a:ext uri="{FF2B5EF4-FFF2-40B4-BE49-F238E27FC236}">
                  <a16:creationId xmlns:a16="http://schemas.microsoft.com/office/drawing/2014/main" id="{7DBFBE6D-4719-1E11-569E-86F7955C21CD}"/>
                </a:ext>
              </a:extLst>
            </p:cNvPr>
            <p:cNvSpPr txBox="1"/>
            <p:nvPr/>
          </p:nvSpPr>
          <p:spPr>
            <a:xfrm>
              <a:off x="893787" y="4074825"/>
              <a:ext cx="1309262" cy="276999"/>
            </a:xfrm>
            <a:prstGeom prst="rect">
              <a:avLst/>
            </a:prstGeom>
            <a:noFill/>
          </p:spPr>
          <p:txBody>
            <a:bodyPr wrap="square" rtlCol="0">
              <a:spAutoFit/>
            </a:bodyPr>
            <a:lstStyle/>
            <a:p>
              <a:pPr algn="ctr"/>
              <a:r>
                <a:rPr lang="pt-BR" sz="1200" dirty="0"/>
                <a:t>Ajuste do modelo</a:t>
              </a:r>
            </a:p>
          </p:txBody>
        </p:sp>
        <p:sp>
          <p:nvSpPr>
            <p:cNvPr id="32" name="CaixaDeTexto 31">
              <a:extLst>
                <a:ext uri="{FF2B5EF4-FFF2-40B4-BE49-F238E27FC236}">
                  <a16:creationId xmlns:a16="http://schemas.microsoft.com/office/drawing/2014/main" id="{48968ED4-BA8D-80BE-FCBC-89D71057E484}"/>
                </a:ext>
              </a:extLst>
            </p:cNvPr>
            <p:cNvSpPr txBox="1"/>
            <p:nvPr/>
          </p:nvSpPr>
          <p:spPr>
            <a:xfrm>
              <a:off x="157187" y="4947981"/>
              <a:ext cx="1047413" cy="461665"/>
            </a:xfrm>
            <a:prstGeom prst="rect">
              <a:avLst/>
            </a:prstGeom>
            <a:noFill/>
          </p:spPr>
          <p:txBody>
            <a:bodyPr wrap="square" rtlCol="0">
              <a:spAutoFit/>
            </a:bodyPr>
            <a:lstStyle/>
            <a:p>
              <a:pPr algn="ctr"/>
              <a:r>
                <a:rPr lang="pt-BR" sz="1200" dirty="0"/>
                <a:t>Conjunto de treinamento</a:t>
              </a:r>
            </a:p>
          </p:txBody>
        </p:sp>
        <p:sp>
          <p:nvSpPr>
            <p:cNvPr id="35" name="CaixaDeTexto 34">
              <a:extLst>
                <a:ext uri="{FF2B5EF4-FFF2-40B4-BE49-F238E27FC236}">
                  <a16:creationId xmlns:a16="http://schemas.microsoft.com/office/drawing/2014/main" id="{A38961B3-775E-9793-8EBA-64CCEB0C5E29}"/>
                </a:ext>
              </a:extLst>
            </p:cNvPr>
            <p:cNvSpPr txBox="1"/>
            <p:nvPr/>
          </p:nvSpPr>
          <p:spPr>
            <a:xfrm>
              <a:off x="2578608" y="3490140"/>
              <a:ext cx="692886" cy="276999"/>
            </a:xfrm>
            <a:prstGeom prst="rect">
              <a:avLst/>
            </a:prstGeom>
            <a:noFill/>
          </p:spPr>
          <p:txBody>
            <a:bodyPr wrap="square" rtlCol="0">
              <a:spAutoFit/>
            </a:bodyPr>
            <a:lstStyle/>
            <a:p>
              <a:pPr algn="ctr"/>
              <a:r>
                <a:rPr lang="pt-BR" sz="1200" dirty="0"/>
                <a:t>palpite</a:t>
              </a:r>
            </a:p>
          </p:txBody>
        </p:sp>
        <p:sp>
          <p:nvSpPr>
            <p:cNvPr id="36" name="CaixaDeTexto 35">
              <a:extLst>
                <a:ext uri="{FF2B5EF4-FFF2-40B4-BE49-F238E27FC236}">
                  <a16:creationId xmlns:a16="http://schemas.microsoft.com/office/drawing/2014/main" id="{AD2BA2BF-3479-9998-94C1-1A346504E0ED}"/>
                </a:ext>
              </a:extLst>
            </p:cNvPr>
            <p:cNvSpPr txBox="1"/>
            <p:nvPr/>
          </p:nvSpPr>
          <p:spPr>
            <a:xfrm>
              <a:off x="4433138" y="3443383"/>
              <a:ext cx="454917" cy="276999"/>
            </a:xfrm>
            <a:prstGeom prst="rect">
              <a:avLst/>
            </a:prstGeom>
            <a:noFill/>
          </p:spPr>
          <p:txBody>
            <a:bodyPr wrap="square" rtlCol="0">
              <a:spAutoFit/>
            </a:bodyPr>
            <a:lstStyle/>
            <a:p>
              <a:pPr algn="ctr"/>
              <a:r>
                <a:rPr lang="pt-BR" sz="1200" dirty="0"/>
                <a:t>erro</a:t>
              </a:r>
            </a:p>
          </p:txBody>
        </p:sp>
      </p:grpSp>
    </p:spTree>
    <p:extLst>
      <p:ext uri="{BB962C8B-B14F-4D97-AF65-F5344CB8AC3E}">
        <p14:creationId xmlns:p14="http://schemas.microsoft.com/office/powerpoint/2010/main" val="27124649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AAC63C-303B-CC7F-1D4F-8D765EB8B09B}"/>
              </a:ext>
            </a:extLst>
          </p:cNvPr>
          <p:cNvSpPr>
            <a:spLocks noGrp="1"/>
          </p:cNvSpPr>
          <p:nvPr>
            <p:ph type="title"/>
          </p:nvPr>
        </p:nvSpPr>
        <p:spPr/>
        <p:txBody>
          <a:bodyPr/>
          <a:lstStyle/>
          <a:p>
            <a:r>
              <a:rPr lang="pt-BR" dirty="0"/>
              <a:t>Treinamento da máquina (ou modelo de ML)</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62A3C305-4461-D25D-82D9-0C9F42995D65}"/>
                  </a:ext>
                </a:extLst>
              </p:cNvPr>
              <p:cNvSpPr>
                <a:spLocks noGrp="1"/>
              </p:cNvSpPr>
              <p:nvPr>
                <p:ph idx="1"/>
              </p:nvPr>
            </p:nvSpPr>
            <p:spPr>
              <a:xfrm>
                <a:off x="5959011" y="1825624"/>
                <a:ext cx="6075801" cy="5032376"/>
              </a:xfrm>
            </p:spPr>
            <p:txBody>
              <a:bodyPr>
                <a:normAutofit/>
              </a:bodyPr>
              <a:lstStyle/>
              <a:p>
                <a:r>
                  <a:rPr lang="pt-BR" dirty="0"/>
                  <a:t>Percebam que a </a:t>
                </a:r>
                <a:r>
                  <a:rPr lang="pt-BR" b="1" i="1" dirty="0">
                    <a:solidFill>
                      <a:srgbClr val="00B050"/>
                    </a:solidFill>
                  </a:rPr>
                  <a:t>solução</a:t>
                </a:r>
                <a:r>
                  <a:rPr lang="pt-BR" dirty="0"/>
                  <a:t> para o problema é </a:t>
                </a:r>
                <a:r>
                  <a:rPr lang="pt-BR" b="1" i="1" dirty="0">
                    <a:solidFill>
                      <a:srgbClr val="00B050"/>
                    </a:solidFill>
                  </a:rPr>
                  <a:t>encontrada com base em experiências prévias</a:t>
                </a:r>
                <a:r>
                  <a:rPr lang="pt-BR" dirty="0"/>
                  <a:t>, ou seja, com o conjunto de treinamento (i.e., entradas, </a:t>
                </a:r>
                <a14:m>
                  <m:oMath xmlns:m="http://schemas.openxmlformats.org/officeDocument/2006/math">
                    <m:r>
                      <a:rPr lang="pt-BR" sz="2800" b="1" i="1" smtClean="0">
                        <a:latin typeface="Cambria Math" panose="02040503050406030204" pitchFamily="18" charset="0"/>
                      </a:rPr>
                      <m:t>𝒙</m:t>
                    </m:r>
                  </m:oMath>
                </a14:m>
                <a:r>
                  <a:rPr lang="pt-BR" dirty="0"/>
                  <a:t>, e saídas esperadas, </a:t>
                </a:r>
                <a14:m>
                  <m:oMath xmlns:m="http://schemas.openxmlformats.org/officeDocument/2006/math">
                    <m:r>
                      <a:rPr lang="pt-BR" i="1">
                        <a:latin typeface="Cambria Math" panose="02040503050406030204" pitchFamily="18" charset="0"/>
                      </a:rPr>
                      <m:t>𝑦</m:t>
                    </m:r>
                  </m:oMath>
                </a14:m>
                <a:r>
                  <a:rPr lang="pt-BR" dirty="0"/>
                  <a:t>).</a:t>
                </a:r>
              </a:p>
              <a:p>
                <a:r>
                  <a:rPr lang="pt-BR" dirty="0"/>
                  <a:t>Isso é chamado de </a:t>
                </a:r>
                <a:r>
                  <a:rPr lang="pt-BR" b="1" i="1" dirty="0">
                    <a:effectLst/>
                  </a:rPr>
                  <a:t>raciocínio indutivo</a:t>
                </a:r>
                <a:r>
                  <a:rPr lang="pt-BR" b="0" i="0" dirty="0">
                    <a:effectLst/>
                  </a:rPr>
                  <a:t>, que é um processo pelo qual chega-se a </a:t>
                </a:r>
                <a:r>
                  <a:rPr lang="pt-BR" b="1" i="1" dirty="0">
                    <a:solidFill>
                      <a:schemeClr val="accent1"/>
                    </a:solidFill>
                    <a:effectLst/>
                  </a:rPr>
                  <a:t>conclusões gerais </a:t>
                </a:r>
                <a:r>
                  <a:rPr lang="pt-BR" b="0" i="0" dirty="0">
                    <a:effectLst/>
                  </a:rPr>
                  <a:t>a partir de </a:t>
                </a:r>
                <a:r>
                  <a:rPr lang="pt-BR" b="1" i="1" dirty="0">
                    <a:solidFill>
                      <a:srgbClr val="7030A0"/>
                    </a:solidFill>
                    <a:effectLst/>
                  </a:rPr>
                  <a:t>experiências passadas</a:t>
                </a:r>
                <a:r>
                  <a:rPr lang="pt-BR" b="0" i="0" dirty="0">
                    <a:effectLst/>
                  </a:rPr>
                  <a:t>.</a:t>
                </a:r>
                <a:endParaRPr lang="pt-BR" dirty="0"/>
              </a:p>
            </p:txBody>
          </p:sp>
        </mc:Choice>
        <mc:Fallback xmlns="">
          <p:sp>
            <p:nvSpPr>
              <p:cNvPr id="3" name="Espaço Reservado para Conteúdo 2">
                <a:extLst>
                  <a:ext uri="{FF2B5EF4-FFF2-40B4-BE49-F238E27FC236}">
                    <a16:creationId xmlns:a16="http://schemas.microsoft.com/office/drawing/2014/main" id="{62A3C305-4461-D25D-82D9-0C9F42995D65}"/>
                  </a:ext>
                </a:extLst>
              </p:cNvPr>
              <p:cNvSpPr>
                <a:spLocks noGrp="1" noRot="1" noChangeAspect="1" noMove="1" noResize="1" noEditPoints="1" noAdjustHandles="1" noChangeArrowheads="1" noChangeShapeType="1" noTextEdit="1"/>
              </p:cNvSpPr>
              <p:nvPr>
                <p:ph idx="1"/>
              </p:nvPr>
            </p:nvSpPr>
            <p:spPr>
              <a:xfrm>
                <a:off x="5959011" y="1825624"/>
                <a:ext cx="6075801" cy="5032376"/>
              </a:xfrm>
              <a:blipFill>
                <a:blip r:embed="rId3"/>
                <a:stretch>
                  <a:fillRect l="-1807" t="-1937" r="-1908"/>
                </a:stretch>
              </a:blipFill>
            </p:spPr>
            <p:txBody>
              <a:bodyPr/>
              <a:lstStyle/>
              <a:p>
                <a:r>
                  <a:rPr lang="en-US">
                    <a:noFill/>
                  </a:rPr>
                  <a:t> </a:t>
                </a:r>
              </a:p>
            </p:txBody>
          </p:sp>
        </mc:Fallback>
      </mc:AlternateContent>
      <p:grpSp>
        <p:nvGrpSpPr>
          <p:cNvPr id="5" name="Agrupar 4">
            <a:extLst>
              <a:ext uri="{FF2B5EF4-FFF2-40B4-BE49-F238E27FC236}">
                <a16:creationId xmlns:a16="http://schemas.microsoft.com/office/drawing/2014/main" id="{3190850C-5195-B1C6-65F2-9517F7561131}"/>
              </a:ext>
            </a:extLst>
          </p:cNvPr>
          <p:cNvGrpSpPr/>
          <p:nvPr/>
        </p:nvGrpSpPr>
        <p:grpSpPr>
          <a:xfrm>
            <a:off x="732540" y="2398623"/>
            <a:ext cx="4730868" cy="3031571"/>
            <a:chOff x="157187" y="2378075"/>
            <a:chExt cx="4730868" cy="3031571"/>
          </a:xfrm>
        </p:grpSpPr>
        <p:sp>
          <p:nvSpPr>
            <p:cNvPr id="31" name="Retângulo 30">
              <a:extLst>
                <a:ext uri="{FF2B5EF4-FFF2-40B4-BE49-F238E27FC236}">
                  <a16:creationId xmlns:a16="http://schemas.microsoft.com/office/drawing/2014/main" id="{F133C84A-8387-EE4F-F53D-C92AFD1C05C3}"/>
                </a:ext>
              </a:extLst>
            </p:cNvPr>
            <p:cNvSpPr/>
            <p:nvPr/>
          </p:nvSpPr>
          <p:spPr>
            <a:xfrm>
              <a:off x="425788" y="3029858"/>
              <a:ext cx="463575" cy="1935842"/>
            </a:xfrm>
            <a:prstGeom prst="rect">
              <a:avLst/>
            </a:prstGeom>
            <a:solidFill>
              <a:schemeClr val="accent1">
                <a:alpha val="41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Rectangle 12">
              <a:extLst>
                <a:ext uri="{FF2B5EF4-FFF2-40B4-BE49-F238E27FC236}">
                  <a16:creationId xmlns:a16="http://schemas.microsoft.com/office/drawing/2014/main" id="{4FC2EFF0-948C-F34E-1DF1-15226E334CB7}"/>
                </a:ext>
              </a:extLst>
            </p:cNvPr>
            <p:cNvSpPr/>
            <p:nvPr/>
          </p:nvSpPr>
          <p:spPr>
            <a:xfrm>
              <a:off x="1361788" y="3029857"/>
              <a:ext cx="1216819" cy="8490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Modelo de ML</a:t>
              </a:r>
            </a:p>
          </p:txBody>
        </p:sp>
        <p:cxnSp>
          <p:nvCxnSpPr>
            <p:cNvPr id="14" name="Straight Arrow Connector 14">
              <a:extLst>
                <a:ext uri="{FF2B5EF4-FFF2-40B4-BE49-F238E27FC236}">
                  <a16:creationId xmlns:a16="http://schemas.microsoft.com/office/drawing/2014/main" id="{15BFDC83-191A-59D7-B72B-D503773217A6}"/>
                </a:ext>
              </a:extLst>
            </p:cNvPr>
            <p:cNvCxnSpPr>
              <a:cxnSpLocks/>
            </p:cNvCxnSpPr>
            <p:nvPr/>
          </p:nvCxnSpPr>
          <p:spPr>
            <a:xfrm>
              <a:off x="893787" y="3471233"/>
              <a:ext cx="46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3CA61AB-4734-01E1-A923-3EB55C8089B8}"/>
                </a:ext>
              </a:extLst>
            </p:cNvPr>
            <p:cNvCxnSpPr>
              <a:cxnSpLocks/>
              <a:stCxn id="10" idx="3"/>
              <a:endCxn id="17" idx="1"/>
            </p:cNvCxnSpPr>
            <p:nvPr/>
          </p:nvCxnSpPr>
          <p:spPr>
            <a:xfrm>
              <a:off x="2578607" y="3454400"/>
              <a:ext cx="692886"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7" name="Rectangle 12">
              <a:extLst>
                <a:ext uri="{FF2B5EF4-FFF2-40B4-BE49-F238E27FC236}">
                  <a16:creationId xmlns:a16="http://schemas.microsoft.com/office/drawing/2014/main" id="{91A27CB4-F763-0B14-E319-AD3ADC3308D8}"/>
                </a:ext>
              </a:extLst>
            </p:cNvPr>
            <p:cNvSpPr/>
            <p:nvPr/>
          </p:nvSpPr>
          <p:spPr>
            <a:xfrm>
              <a:off x="3271493" y="3029857"/>
              <a:ext cx="1216818" cy="8490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Função de erro</a:t>
              </a:r>
            </a:p>
          </p:txBody>
        </p:sp>
        <mc:AlternateContent xmlns:mc="http://schemas.openxmlformats.org/markup-compatibility/2006" xmlns:a14="http://schemas.microsoft.com/office/drawing/2010/main">
          <mc:Choice Requires="a14">
            <p:sp>
              <p:nvSpPr>
                <p:cNvPr id="18" name="CaixaDeTexto 17">
                  <a:extLst>
                    <a:ext uri="{FF2B5EF4-FFF2-40B4-BE49-F238E27FC236}">
                      <a16:creationId xmlns:a16="http://schemas.microsoft.com/office/drawing/2014/main" id="{A0D91F04-C137-4CBB-E93C-31FF777761C1}"/>
                    </a:ext>
                  </a:extLst>
                </p:cNvPr>
                <p:cNvSpPr txBox="1"/>
                <p:nvPr/>
              </p:nvSpPr>
              <p:spPr>
                <a:xfrm flipH="1">
                  <a:off x="436587" y="3162012"/>
                  <a:ext cx="467999"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pt-BR" sz="2400" b="1" i="1" smtClean="0">
                            <a:latin typeface="Cambria Math" panose="02040503050406030204" pitchFamily="18" charset="0"/>
                          </a:rPr>
                          <m:t>𝒙</m:t>
                        </m:r>
                      </m:oMath>
                    </m:oMathPara>
                  </a14:m>
                  <a:endParaRPr lang="pt-BR" sz="2400" b="1" dirty="0"/>
                </a:p>
              </p:txBody>
            </p:sp>
          </mc:Choice>
          <mc:Fallback xmlns="">
            <p:sp>
              <p:nvSpPr>
                <p:cNvPr id="18" name="CaixaDeTexto 17">
                  <a:extLst>
                    <a:ext uri="{FF2B5EF4-FFF2-40B4-BE49-F238E27FC236}">
                      <a16:creationId xmlns:a16="http://schemas.microsoft.com/office/drawing/2014/main" id="{A0D91F04-C137-4CBB-E93C-31FF777761C1}"/>
                    </a:ext>
                  </a:extLst>
                </p:cNvPr>
                <p:cNvSpPr txBox="1">
                  <a:spLocks noRot="1" noChangeAspect="1" noMove="1" noResize="1" noEditPoints="1" noAdjustHandles="1" noChangeArrowheads="1" noChangeShapeType="1" noTextEdit="1"/>
                </p:cNvSpPr>
                <p:nvPr/>
              </p:nvSpPr>
              <p:spPr>
                <a:xfrm flipH="1">
                  <a:off x="436587" y="3162012"/>
                  <a:ext cx="467999" cy="461665"/>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9" name="CaixaDeTexto 18">
                  <a:extLst>
                    <a:ext uri="{FF2B5EF4-FFF2-40B4-BE49-F238E27FC236}">
                      <a16:creationId xmlns:a16="http://schemas.microsoft.com/office/drawing/2014/main" id="{EC39E661-CCDA-70CF-2A43-635F75FA58BD}"/>
                    </a:ext>
                  </a:extLst>
                </p:cNvPr>
                <p:cNvSpPr txBox="1"/>
                <p:nvPr/>
              </p:nvSpPr>
              <p:spPr>
                <a:xfrm flipH="1">
                  <a:off x="425788" y="4367212"/>
                  <a:ext cx="467999"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pt-BR" sz="2400" b="0" i="1" smtClean="0">
                            <a:latin typeface="Cambria Math" panose="02040503050406030204" pitchFamily="18" charset="0"/>
                          </a:rPr>
                          <m:t>𝑦</m:t>
                        </m:r>
                      </m:oMath>
                    </m:oMathPara>
                  </a14:m>
                  <a:endParaRPr lang="pt-BR" sz="2400" dirty="0"/>
                </a:p>
              </p:txBody>
            </p:sp>
          </mc:Choice>
          <mc:Fallback xmlns="">
            <p:sp>
              <p:nvSpPr>
                <p:cNvPr id="12" name="CaixaDeTexto 11">
                  <a:extLst>
                    <a:ext uri="{FF2B5EF4-FFF2-40B4-BE49-F238E27FC236}">
                      <a16:creationId xmlns:a16="http://schemas.microsoft.com/office/drawing/2014/main" id="{120EB5AF-A158-F20A-7D5F-DC34312E5153}"/>
                    </a:ext>
                  </a:extLst>
                </p:cNvPr>
                <p:cNvSpPr txBox="1">
                  <a:spLocks noRot="1" noChangeAspect="1" noMove="1" noResize="1" noEditPoints="1" noAdjustHandles="1" noChangeArrowheads="1" noChangeShapeType="1" noTextEdit="1"/>
                </p:cNvSpPr>
                <p:nvPr/>
              </p:nvSpPr>
              <p:spPr>
                <a:xfrm flipH="1">
                  <a:off x="425788" y="4367212"/>
                  <a:ext cx="467999" cy="461665"/>
                </a:xfrm>
                <a:prstGeom prst="rect">
                  <a:avLst/>
                </a:prstGeom>
                <a:blipFill>
                  <a:blip r:embed="rId5"/>
                  <a:stretch>
                    <a:fillRect b="-1052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0" name="CaixaDeTexto 19">
                  <a:extLst>
                    <a:ext uri="{FF2B5EF4-FFF2-40B4-BE49-F238E27FC236}">
                      <a16:creationId xmlns:a16="http://schemas.microsoft.com/office/drawing/2014/main" id="{D10A722F-36E6-806C-439B-802573D30B46}"/>
                    </a:ext>
                  </a:extLst>
                </p:cNvPr>
                <p:cNvSpPr txBox="1"/>
                <p:nvPr/>
              </p:nvSpPr>
              <p:spPr>
                <a:xfrm flipH="1">
                  <a:off x="2656972" y="3008452"/>
                  <a:ext cx="467999"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pt-BR" sz="2400" b="0" i="1" smtClean="0">
                                <a:latin typeface="Cambria Math" panose="02040503050406030204" pitchFamily="18" charset="0"/>
                              </a:rPr>
                            </m:ctrlPr>
                          </m:accPr>
                          <m:e>
                            <m:r>
                              <a:rPr lang="pt-BR" sz="2400" b="0" i="1" smtClean="0">
                                <a:latin typeface="Cambria Math" panose="02040503050406030204" pitchFamily="18" charset="0"/>
                              </a:rPr>
                              <m:t>𝑦</m:t>
                            </m:r>
                          </m:e>
                        </m:acc>
                      </m:oMath>
                    </m:oMathPara>
                  </a14:m>
                  <a:endParaRPr lang="pt-BR" sz="2400" dirty="0"/>
                </a:p>
              </p:txBody>
            </p:sp>
          </mc:Choice>
          <mc:Fallback xmlns="">
            <p:sp>
              <p:nvSpPr>
                <p:cNvPr id="13" name="CaixaDeTexto 12">
                  <a:extLst>
                    <a:ext uri="{FF2B5EF4-FFF2-40B4-BE49-F238E27FC236}">
                      <a16:creationId xmlns:a16="http://schemas.microsoft.com/office/drawing/2014/main" id="{0DD5471C-A64B-2523-03B6-5429998A9CAA}"/>
                    </a:ext>
                  </a:extLst>
                </p:cNvPr>
                <p:cNvSpPr txBox="1">
                  <a:spLocks noRot="1" noChangeAspect="1" noMove="1" noResize="1" noEditPoints="1" noAdjustHandles="1" noChangeArrowheads="1" noChangeShapeType="1" noTextEdit="1"/>
                </p:cNvSpPr>
                <p:nvPr/>
              </p:nvSpPr>
              <p:spPr>
                <a:xfrm flipH="1">
                  <a:off x="2656972" y="3008452"/>
                  <a:ext cx="467999" cy="461665"/>
                </a:xfrm>
                <a:prstGeom prst="rect">
                  <a:avLst/>
                </a:prstGeom>
                <a:blipFill>
                  <a:blip r:embed="rId6"/>
                  <a:stretch>
                    <a:fillRect t="-4000" r="-24675" b="-10667"/>
                  </a:stretch>
                </a:blipFill>
              </p:spPr>
              <p:txBody>
                <a:bodyPr/>
                <a:lstStyle/>
                <a:p>
                  <a:r>
                    <a:rPr lang="pt-BR">
                      <a:noFill/>
                    </a:rPr>
                    <a:t> </a:t>
                  </a:r>
                </a:p>
              </p:txBody>
            </p:sp>
          </mc:Fallback>
        </mc:AlternateContent>
        <p:cxnSp>
          <p:nvCxnSpPr>
            <p:cNvPr id="22" name="Conector: Angulado 21">
              <a:extLst>
                <a:ext uri="{FF2B5EF4-FFF2-40B4-BE49-F238E27FC236}">
                  <a16:creationId xmlns:a16="http://schemas.microsoft.com/office/drawing/2014/main" id="{84B9DBA0-0DD2-CAFC-5554-C72E9D3F6A1D}"/>
                </a:ext>
              </a:extLst>
            </p:cNvPr>
            <p:cNvCxnSpPr>
              <a:cxnSpLocks/>
              <a:stCxn id="19" idx="1"/>
              <a:endCxn id="17" idx="2"/>
            </p:cNvCxnSpPr>
            <p:nvPr/>
          </p:nvCxnSpPr>
          <p:spPr>
            <a:xfrm flipV="1">
              <a:off x="893787" y="3878943"/>
              <a:ext cx="2986115" cy="71910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ector: Angulado 27">
              <a:extLst>
                <a:ext uri="{FF2B5EF4-FFF2-40B4-BE49-F238E27FC236}">
                  <a16:creationId xmlns:a16="http://schemas.microsoft.com/office/drawing/2014/main" id="{58CEE1C0-9EEB-B458-78E1-14EA3427B498}"/>
                </a:ext>
              </a:extLst>
            </p:cNvPr>
            <p:cNvCxnSpPr>
              <a:stCxn id="17" idx="3"/>
            </p:cNvCxnSpPr>
            <p:nvPr/>
          </p:nvCxnSpPr>
          <p:spPr>
            <a:xfrm flipH="1" flipV="1">
              <a:off x="2663083" y="2378075"/>
              <a:ext cx="1825228" cy="1076325"/>
            </a:xfrm>
            <a:prstGeom prst="bentConnector3">
              <a:avLst>
                <a:gd name="adj1" fmla="val -12524"/>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Conector reto 28">
              <a:extLst>
                <a:ext uri="{FF2B5EF4-FFF2-40B4-BE49-F238E27FC236}">
                  <a16:creationId xmlns:a16="http://schemas.microsoft.com/office/drawing/2014/main" id="{CF9E77D4-782A-CF0F-6988-3744515D8463}"/>
                </a:ext>
              </a:extLst>
            </p:cNvPr>
            <p:cNvCxnSpPr/>
            <p:nvPr/>
          </p:nvCxnSpPr>
          <p:spPr>
            <a:xfrm flipH="1">
              <a:off x="1450107" y="2378075"/>
              <a:ext cx="1212396" cy="1743075"/>
            </a:xfrm>
            <a:prstGeom prst="line">
              <a:avLst/>
            </a:prstGeom>
            <a:ln>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0" name="CaixaDeTexto 29">
              <a:extLst>
                <a:ext uri="{FF2B5EF4-FFF2-40B4-BE49-F238E27FC236}">
                  <a16:creationId xmlns:a16="http://schemas.microsoft.com/office/drawing/2014/main" id="{D905E230-1DA8-E072-11BE-1474444DED72}"/>
                </a:ext>
              </a:extLst>
            </p:cNvPr>
            <p:cNvSpPr txBox="1"/>
            <p:nvPr/>
          </p:nvSpPr>
          <p:spPr>
            <a:xfrm>
              <a:off x="893787" y="4074825"/>
              <a:ext cx="1309262" cy="276999"/>
            </a:xfrm>
            <a:prstGeom prst="rect">
              <a:avLst/>
            </a:prstGeom>
            <a:noFill/>
          </p:spPr>
          <p:txBody>
            <a:bodyPr wrap="square" rtlCol="0">
              <a:spAutoFit/>
            </a:bodyPr>
            <a:lstStyle/>
            <a:p>
              <a:pPr algn="ctr"/>
              <a:r>
                <a:rPr lang="pt-BR" sz="1200" dirty="0"/>
                <a:t>Ajuste do modelo</a:t>
              </a:r>
            </a:p>
          </p:txBody>
        </p:sp>
        <p:sp>
          <p:nvSpPr>
            <p:cNvPr id="32" name="CaixaDeTexto 31">
              <a:extLst>
                <a:ext uri="{FF2B5EF4-FFF2-40B4-BE49-F238E27FC236}">
                  <a16:creationId xmlns:a16="http://schemas.microsoft.com/office/drawing/2014/main" id="{2BD1F0FE-08E1-D86E-7C95-243A334275BD}"/>
                </a:ext>
              </a:extLst>
            </p:cNvPr>
            <p:cNvSpPr txBox="1"/>
            <p:nvPr/>
          </p:nvSpPr>
          <p:spPr>
            <a:xfrm>
              <a:off x="157187" y="4947981"/>
              <a:ext cx="1047413" cy="461665"/>
            </a:xfrm>
            <a:prstGeom prst="rect">
              <a:avLst/>
            </a:prstGeom>
            <a:noFill/>
          </p:spPr>
          <p:txBody>
            <a:bodyPr wrap="square" rtlCol="0">
              <a:spAutoFit/>
            </a:bodyPr>
            <a:lstStyle/>
            <a:p>
              <a:pPr algn="ctr"/>
              <a:r>
                <a:rPr lang="pt-BR" sz="1200" dirty="0"/>
                <a:t>Conjunto de treinamento</a:t>
              </a:r>
            </a:p>
          </p:txBody>
        </p:sp>
        <p:sp>
          <p:nvSpPr>
            <p:cNvPr id="35" name="CaixaDeTexto 34">
              <a:extLst>
                <a:ext uri="{FF2B5EF4-FFF2-40B4-BE49-F238E27FC236}">
                  <a16:creationId xmlns:a16="http://schemas.microsoft.com/office/drawing/2014/main" id="{1FDF62CF-7501-8844-5A2B-9851C5D32B6A}"/>
                </a:ext>
              </a:extLst>
            </p:cNvPr>
            <p:cNvSpPr txBox="1"/>
            <p:nvPr/>
          </p:nvSpPr>
          <p:spPr>
            <a:xfrm>
              <a:off x="2578608" y="3490140"/>
              <a:ext cx="692886" cy="276999"/>
            </a:xfrm>
            <a:prstGeom prst="rect">
              <a:avLst/>
            </a:prstGeom>
            <a:noFill/>
          </p:spPr>
          <p:txBody>
            <a:bodyPr wrap="square" rtlCol="0">
              <a:spAutoFit/>
            </a:bodyPr>
            <a:lstStyle/>
            <a:p>
              <a:pPr algn="ctr"/>
              <a:r>
                <a:rPr lang="pt-BR" sz="1200" dirty="0"/>
                <a:t>palpite</a:t>
              </a:r>
            </a:p>
          </p:txBody>
        </p:sp>
        <p:sp>
          <p:nvSpPr>
            <p:cNvPr id="36" name="CaixaDeTexto 35">
              <a:extLst>
                <a:ext uri="{FF2B5EF4-FFF2-40B4-BE49-F238E27FC236}">
                  <a16:creationId xmlns:a16="http://schemas.microsoft.com/office/drawing/2014/main" id="{AF130E62-B744-315E-7E3B-82FC25CEDCEC}"/>
                </a:ext>
              </a:extLst>
            </p:cNvPr>
            <p:cNvSpPr txBox="1"/>
            <p:nvPr/>
          </p:nvSpPr>
          <p:spPr>
            <a:xfrm>
              <a:off x="4433138" y="3443383"/>
              <a:ext cx="454917" cy="276999"/>
            </a:xfrm>
            <a:prstGeom prst="rect">
              <a:avLst/>
            </a:prstGeom>
            <a:noFill/>
          </p:spPr>
          <p:txBody>
            <a:bodyPr wrap="square" rtlCol="0">
              <a:spAutoFit/>
            </a:bodyPr>
            <a:lstStyle/>
            <a:p>
              <a:pPr algn="ctr"/>
              <a:r>
                <a:rPr lang="pt-BR" sz="1200" dirty="0"/>
                <a:t>erro</a:t>
              </a:r>
            </a:p>
          </p:txBody>
        </p:sp>
      </p:grpSp>
    </p:spTree>
    <p:extLst>
      <p:ext uri="{BB962C8B-B14F-4D97-AF65-F5344CB8AC3E}">
        <p14:creationId xmlns:p14="http://schemas.microsoft.com/office/powerpoint/2010/main" val="33862672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AAC63C-303B-CC7F-1D4F-8D765EB8B09B}"/>
              </a:ext>
            </a:extLst>
          </p:cNvPr>
          <p:cNvSpPr>
            <a:spLocks noGrp="1"/>
          </p:cNvSpPr>
          <p:nvPr>
            <p:ph type="title"/>
          </p:nvPr>
        </p:nvSpPr>
        <p:spPr/>
        <p:txBody>
          <a:bodyPr/>
          <a:lstStyle/>
          <a:p>
            <a:r>
              <a:rPr lang="pt-BR" dirty="0"/>
              <a:t>Treinamento da máquina (ou modelo de ML)</a:t>
            </a:r>
          </a:p>
        </p:txBody>
      </p:sp>
      <p:sp>
        <p:nvSpPr>
          <p:cNvPr id="3" name="Espaço Reservado para Conteúdo 2">
            <a:extLst>
              <a:ext uri="{FF2B5EF4-FFF2-40B4-BE49-F238E27FC236}">
                <a16:creationId xmlns:a16="http://schemas.microsoft.com/office/drawing/2014/main" id="{62A3C305-4461-D25D-82D9-0C9F42995D65}"/>
              </a:ext>
            </a:extLst>
          </p:cNvPr>
          <p:cNvSpPr>
            <a:spLocks noGrp="1"/>
          </p:cNvSpPr>
          <p:nvPr>
            <p:ph idx="1"/>
          </p:nvPr>
        </p:nvSpPr>
        <p:spPr>
          <a:xfrm>
            <a:off x="838199" y="5024063"/>
            <a:ext cx="11236287" cy="1833937"/>
          </a:xfrm>
        </p:spPr>
        <p:txBody>
          <a:bodyPr>
            <a:normAutofit lnSpcReduction="10000"/>
          </a:bodyPr>
          <a:lstStyle/>
          <a:p>
            <a:r>
              <a:rPr lang="pt-BR" sz="2800" dirty="0"/>
              <a:t>Por exemplo, o modelo de ML pode ser um </a:t>
            </a:r>
            <a:r>
              <a:rPr lang="pt-BR" sz="2800" b="1" i="1" dirty="0">
                <a:solidFill>
                  <a:srgbClr val="00B050"/>
                </a:solidFill>
              </a:rPr>
              <a:t>neurônio</a:t>
            </a:r>
            <a:r>
              <a:rPr lang="pt-BR" sz="2800" dirty="0"/>
              <a:t> ou uma </a:t>
            </a:r>
            <a:r>
              <a:rPr lang="pt-BR" sz="2800" b="1" i="1" dirty="0">
                <a:solidFill>
                  <a:srgbClr val="00B050"/>
                </a:solidFill>
              </a:rPr>
              <a:t>rede neural </a:t>
            </a:r>
            <a:r>
              <a:rPr lang="pt-BR" sz="2800" dirty="0"/>
              <a:t>onde o </a:t>
            </a:r>
            <a:r>
              <a:rPr lang="pt-BR" sz="2800" b="1" i="1" dirty="0"/>
              <a:t>processo de treinamento</a:t>
            </a:r>
            <a:r>
              <a:rPr lang="pt-BR" sz="2800" dirty="0"/>
              <a:t> </a:t>
            </a:r>
            <a:r>
              <a:rPr lang="pt-BR" sz="2800" b="1" i="1" dirty="0">
                <a:solidFill>
                  <a:srgbClr val="00B050"/>
                </a:solidFill>
              </a:rPr>
              <a:t>atualiza</a:t>
            </a:r>
            <a:r>
              <a:rPr lang="pt-BR" sz="2800" dirty="0"/>
              <a:t> os seus </a:t>
            </a:r>
            <a:r>
              <a:rPr lang="pt-BR" sz="2800" b="1" i="1" dirty="0">
                <a:solidFill>
                  <a:srgbClr val="00B050"/>
                </a:solidFill>
              </a:rPr>
              <a:t>pesos</a:t>
            </a:r>
            <a:r>
              <a:rPr lang="pt-BR" sz="2800" dirty="0"/>
              <a:t> (sinápticos e de bias) a fim de </a:t>
            </a:r>
            <a:r>
              <a:rPr lang="pt-BR" sz="2800" b="1" i="1" dirty="0">
                <a:solidFill>
                  <a:srgbClr val="00B050"/>
                </a:solidFill>
              </a:rPr>
              <a:t>minimizar o erro</a:t>
            </a:r>
            <a:r>
              <a:rPr lang="pt-BR" sz="2800" dirty="0"/>
              <a:t> e, consequentemente, </a:t>
            </a:r>
            <a:r>
              <a:rPr lang="pt-BR" sz="2800" b="1" i="1" dirty="0">
                <a:solidFill>
                  <a:srgbClr val="00B050"/>
                </a:solidFill>
              </a:rPr>
              <a:t>resolver problemas classificação</a:t>
            </a:r>
            <a:r>
              <a:rPr lang="pt-BR" sz="2800" dirty="0"/>
              <a:t> (e.g., de imagens), </a:t>
            </a:r>
            <a:r>
              <a:rPr lang="pt-BR" sz="2800" b="1" i="1" dirty="0">
                <a:solidFill>
                  <a:srgbClr val="00B050"/>
                </a:solidFill>
              </a:rPr>
              <a:t>regressão</a:t>
            </a:r>
            <a:r>
              <a:rPr lang="pt-BR" sz="2800" dirty="0"/>
              <a:t> (i.e., aproximação de curvas), etc.</a:t>
            </a:r>
          </a:p>
        </p:txBody>
      </p:sp>
      <p:pic>
        <p:nvPicPr>
          <p:cNvPr id="5" name="Imagem 4">
            <a:extLst>
              <a:ext uri="{FF2B5EF4-FFF2-40B4-BE49-F238E27FC236}">
                <a16:creationId xmlns:a16="http://schemas.microsoft.com/office/drawing/2014/main" id="{517BF33B-96BE-DF95-42A6-EBDD6330CA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12591" y="1690688"/>
            <a:ext cx="4766818" cy="3102481"/>
          </a:xfrm>
          <a:prstGeom prst="rect">
            <a:avLst/>
          </a:prstGeom>
        </p:spPr>
      </p:pic>
    </p:spTree>
    <p:extLst>
      <p:ext uri="{BB962C8B-B14F-4D97-AF65-F5344CB8AC3E}">
        <p14:creationId xmlns:p14="http://schemas.microsoft.com/office/powerpoint/2010/main" val="27377801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3E9311-064D-E16C-41CF-FDDCAC1B534B}"/>
              </a:ext>
            </a:extLst>
          </p:cNvPr>
          <p:cNvSpPr>
            <a:spLocks noGrp="1"/>
          </p:cNvSpPr>
          <p:nvPr>
            <p:ph type="title"/>
          </p:nvPr>
        </p:nvSpPr>
        <p:spPr/>
        <p:txBody>
          <a:bodyPr/>
          <a:lstStyle/>
          <a:p>
            <a:r>
              <a:rPr lang="pt-BR" dirty="0"/>
              <a:t>Inferência</a:t>
            </a:r>
          </a:p>
        </p:txBody>
      </p:sp>
      <p:sp>
        <p:nvSpPr>
          <p:cNvPr id="5" name="Rectangle 12">
            <a:extLst>
              <a:ext uri="{FF2B5EF4-FFF2-40B4-BE49-F238E27FC236}">
                <a16:creationId xmlns:a16="http://schemas.microsoft.com/office/drawing/2014/main" id="{6F331DB9-5397-FE0A-91D8-1793EEF62E87}"/>
              </a:ext>
            </a:extLst>
          </p:cNvPr>
          <p:cNvSpPr/>
          <p:nvPr/>
        </p:nvSpPr>
        <p:spPr>
          <a:xfrm>
            <a:off x="4565513" y="2316027"/>
            <a:ext cx="1910443" cy="8490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Computador</a:t>
            </a:r>
          </a:p>
        </p:txBody>
      </p:sp>
      <p:sp>
        <p:nvSpPr>
          <p:cNvPr id="6" name="TextBox 13">
            <a:extLst>
              <a:ext uri="{FF2B5EF4-FFF2-40B4-BE49-F238E27FC236}">
                <a16:creationId xmlns:a16="http://schemas.microsoft.com/office/drawing/2014/main" id="{06E9CAFA-EF45-D808-3524-541209F72608}"/>
              </a:ext>
            </a:extLst>
          </p:cNvPr>
          <p:cNvSpPr txBox="1"/>
          <p:nvPr/>
        </p:nvSpPr>
        <p:spPr>
          <a:xfrm>
            <a:off x="3737514" y="1784441"/>
            <a:ext cx="3524518" cy="461665"/>
          </a:xfrm>
          <a:prstGeom prst="rect">
            <a:avLst/>
          </a:prstGeom>
          <a:noFill/>
        </p:spPr>
        <p:txBody>
          <a:bodyPr wrap="square" rtlCol="0">
            <a:spAutoFit/>
          </a:bodyPr>
          <a:lstStyle/>
          <a:p>
            <a:pPr algn="ctr"/>
            <a:r>
              <a:rPr lang="pt-BR" sz="2400" b="1" dirty="0"/>
              <a:t>Aprendizado de Máquina</a:t>
            </a:r>
          </a:p>
        </p:txBody>
      </p:sp>
      <p:cxnSp>
        <p:nvCxnSpPr>
          <p:cNvPr id="7" name="Straight Arrow Connector 14">
            <a:extLst>
              <a:ext uri="{FF2B5EF4-FFF2-40B4-BE49-F238E27FC236}">
                <a16:creationId xmlns:a16="http://schemas.microsoft.com/office/drawing/2014/main" id="{8C345449-B77B-4B47-E20B-D471D26E35B7}"/>
              </a:ext>
            </a:extLst>
          </p:cNvPr>
          <p:cNvCxnSpPr>
            <a:cxnSpLocks/>
          </p:cNvCxnSpPr>
          <p:nvPr/>
        </p:nvCxnSpPr>
        <p:spPr>
          <a:xfrm>
            <a:off x="3737513" y="2495642"/>
            <a:ext cx="82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15">
            <a:extLst>
              <a:ext uri="{FF2B5EF4-FFF2-40B4-BE49-F238E27FC236}">
                <a16:creationId xmlns:a16="http://schemas.microsoft.com/office/drawing/2014/main" id="{8D62EBB6-EAA7-28D8-E6C2-9795FDB921EE}"/>
              </a:ext>
            </a:extLst>
          </p:cNvPr>
          <p:cNvCxnSpPr>
            <a:cxnSpLocks/>
          </p:cNvCxnSpPr>
          <p:nvPr/>
        </p:nvCxnSpPr>
        <p:spPr>
          <a:xfrm>
            <a:off x="3737513" y="2990942"/>
            <a:ext cx="82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9" name="TextBox 16">
            <a:extLst>
              <a:ext uri="{FF2B5EF4-FFF2-40B4-BE49-F238E27FC236}">
                <a16:creationId xmlns:a16="http://schemas.microsoft.com/office/drawing/2014/main" id="{3FA78080-AFCA-96CC-C453-181F485B31C9}"/>
              </a:ext>
            </a:extLst>
          </p:cNvPr>
          <p:cNvSpPr txBox="1"/>
          <p:nvPr/>
        </p:nvSpPr>
        <p:spPr>
          <a:xfrm>
            <a:off x="2710328" y="2290304"/>
            <a:ext cx="1039586" cy="369332"/>
          </a:xfrm>
          <a:prstGeom prst="rect">
            <a:avLst/>
          </a:prstGeom>
          <a:noFill/>
        </p:spPr>
        <p:txBody>
          <a:bodyPr wrap="square" rtlCol="0">
            <a:spAutoFit/>
          </a:bodyPr>
          <a:lstStyle/>
          <a:p>
            <a:pPr algn="ctr"/>
            <a:r>
              <a:rPr lang="pt-BR" dirty="0"/>
              <a:t>Dados</a:t>
            </a:r>
          </a:p>
        </p:txBody>
      </p:sp>
      <p:sp>
        <p:nvSpPr>
          <p:cNvPr id="10" name="TextBox 17">
            <a:extLst>
              <a:ext uri="{FF2B5EF4-FFF2-40B4-BE49-F238E27FC236}">
                <a16:creationId xmlns:a16="http://schemas.microsoft.com/office/drawing/2014/main" id="{FCE4DF68-8A97-96D9-7A92-8454F29DB5D4}"/>
              </a:ext>
            </a:extLst>
          </p:cNvPr>
          <p:cNvSpPr txBox="1"/>
          <p:nvPr/>
        </p:nvSpPr>
        <p:spPr>
          <a:xfrm>
            <a:off x="2474033" y="2667776"/>
            <a:ext cx="1512176" cy="646331"/>
          </a:xfrm>
          <a:prstGeom prst="rect">
            <a:avLst/>
          </a:prstGeom>
          <a:noFill/>
        </p:spPr>
        <p:txBody>
          <a:bodyPr wrap="square" rtlCol="0">
            <a:spAutoFit/>
          </a:bodyPr>
          <a:lstStyle/>
          <a:p>
            <a:pPr algn="ctr"/>
            <a:r>
              <a:rPr lang="pt-BR" dirty="0"/>
              <a:t>Resultados esperados</a:t>
            </a:r>
          </a:p>
        </p:txBody>
      </p:sp>
      <p:cxnSp>
        <p:nvCxnSpPr>
          <p:cNvPr id="11" name="Straight Arrow Connector 18">
            <a:extLst>
              <a:ext uri="{FF2B5EF4-FFF2-40B4-BE49-F238E27FC236}">
                <a16:creationId xmlns:a16="http://schemas.microsoft.com/office/drawing/2014/main" id="{2D395B6B-3F86-38F7-5013-11F890A95EA5}"/>
              </a:ext>
            </a:extLst>
          </p:cNvPr>
          <p:cNvCxnSpPr>
            <a:cxnSpLocks/>
          </p:cNvCxnSpPr>
          <p:nvPr/>
        </p:nvCxnSpPr>
        <p:spPr>
          <a:xfrm>
            <a:off x="6475956" y="2740570"/>
            <a:ext cx="82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2" name="TextBox 19">
            <a:extLst>
              <a:ext uri="{FF2B5EF4-FFF2-40B4-BE49-F238E27FC236}">
                <a16:creationId xmlns:a16="http://schemas.microsoft.com/office/drawing/2014/main" id="{B323B8BD-3D5F-3D1B-2326-DC97504A05FD}"/>
              </a:ext>
            </a:extLst>
          </p:cNvPr>
          <p:cNvSpPr txBox="1"/>
          <p:nvPr/>
        </p:nvSpPr>
        <p:spPr>
          <a:xfrm>
            <a:off x="7262032" y="2361429"/>
            <a:ext cx="1046854" cy="646331"/>
          </a:xfrm>
          <a:prstGeom prst="rect">
            <a:avLst/>
          </a:prstGeom>
          <a:noFill/>
        </p:spPr>
        <p:txBody>
          <a:bodyPr wrap="square" rtlCol="0">
            <a:spAutoFit/>
          </a:bodyPr>
          <a:lstStyle/>
          <a:p>
            <a:pPr algn="ctr"/>
            <a:r>
              <a:rPr lang="pt-BR" b="1" dirty="0"/>
              <a:t>Modelo de ML</a:t>
            </a:r>
          </a:p>
        </p:txBody>
      </p:sp>
      <p:sp>
        <p:nvSpPr>
          <p:cNvPr id="17" name="Rectangle 12">
            <a:extLst>
              <a:ext uri="{FF2B5EF4-FFF2-40B4-BE49-F238E27FC236}">
                <a16:creationId xmlns:a16="http://schemas.microsoft.com/office/drawing/2014/main" id="{3BDD7A2C-B103-5CF5-013A-B09C54C3859B}"/>
              </a:ext>
            </a:extLst>
          </p:cNvPr>
          <p:cNvSpPr/>
          <p:nvPr/>
        </p:nvSpPr>
        <p:spPr>
          <a:xfrm>
            <a:off x="4565512" y="3972592"/>
            <a:ext cx="1910443" cy="8490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b="1" dirty="0">
                <a:solidFill>
                  <a:schemeClr val="tx1"/>
                </a:solidFill>
              </a:rPr>
              <a:t>Modelo de ML</a:t>
            </a:r>
          </a:p>
        </p:txBody>
      </p:sp>
      <p:sp>
        <p:nvSpPr>
          <p:cNvPr id="18" name="Elipse 17">
            <a:extLst>
              <a:ext uri="{FF2B5EF4-FFF2-40B4-BE49-F238E27FC236}">
                <a16:creationId xmlns:a16="http://schemas.microsoft.com/office/drawing/2014/main" id="{85D61170-E541-E622-A574-5F938A9E5B03}"/>
              </a:ext>
            </a:extLst>
          </p:cNvPr>
          <p:cNvSpPr/>
          <p:nvPr/>
        </p:nvSpPr>
        <p:spPr>
          <a:xfrm>
            <a:off x="7145514" y="2235093"/>
            <a:ext cx="1237966" cy="849086"/>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20" name="Conector: Curvo 19">
            <a:extLst>
              <a:ext uri="{FF2B5EF4-FFF2-40B4-BE49-F238E27FC236}">
                <a16:creationId xmlns:a16="http://schemas.microsoft.com/office/drawing/2014/main" id="{749B6397-E0D4-6139-3D75-F7D3B11F887D}"/>
              </a:ext>
            </a:extLst>
          </p:cNvPr>
          <p:cNvCxnSpPr>
            <a:cxnSpLocks/>
            <a:stCxn id="18" idx="2"/>
          </p:cNvCxnSpPr>
          <p:nvPr/>
        </p:nvCxnSpPr>
        <p:spPr>
          <a:xfrm rot="10800000" flipV="1">
            <a:off x="5592698" y="2659635"/>
            <a:ext cx="1552816" cy="1655509"/>
          </a:xfrm>
          <a:prstGeom prst="curved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15">
            <a:extLst>
              <a:ext uri="{FF2B5EF4-FFF2-40B4-BE49-F238E27FC236}">
                <a16:creationId xmlns:a16="http://schemas.microsoft.com/office/drawing/2014/main" id="{BB742821-1459-A4B5-4D8D-C5A6248E0D75}"/>
              </a:ext>
            </a:extLst>
          </p:cNvPr>
          <p:cNvCxnSpPr>
            <a:cxnSpLocks/>
          </p:cNvCxnSpPr>
          <p:nvPr/>
        </p:nvCxnSpPr>
        <p:spPr>
          <a:xfrm>
            <a:off x="3749914" y="4397135"/>
            <a:ext cx="82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15">
            <a:extLst>
              <a:ext uri="{FF2B5EF4-FFF2-40B4-BE49-F238E27FC236}">
                <a16:creationId xmlns:a16="http://schemas.microsoft.com/office/drawing/2014/main" id="{BAD9F21E-4241-FCB6-CDB7-1D8B28EA6594}"/>
              </a:ext>
            </a:extLst>
          </p:cNvPr>
          <p:cNvCxnSpPr>
            <a:cxnSpLocks/>
          </p:cNvCxnSpPr>
          <p:nvPr/>
        </p:nvCxnSpPr>
        <p:spPr>
          <a:xfrm>
            <a:off x="6475956" y="4406859"/>
            <a:ext cx="82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4" name="TextBox 16">
            <a:extLst>
              <a:ext uri="{FF2B5EF4-FFF2-40B4-BE49-F238E27FC236}">
                <a16:creationId xmlns:a16="http://schemas.microsoft.com/office/drawing/2014/main" id="{351ED6B5-96CF-327C-9BC3-800144EA6143}"/>
              </a:ext>
            </a:extLst>
          </p:cNvPr>
          <p:cNvSpPr txBox="1"/>
          <p:nvPr/>
        </p:nvSpPr>
        <p:spPr>
          <a:xfrm>
            <a:off x="2807753" y="4212469"/>
            <a:ext cx="1039586" cy="369332"/>
          </a:xfrm>
          <a:prstGeom prst="rect">
            <a:avLst/>
          </a:prstGeom>
          <a:noFill/>
        </p:spPr>
        <p:txBody>
          <a:bodyPr wrap="square" rtlCol="0">
            <a:spAutoFit/>
          </a:bodyPr>
          <a:lstStyle/>
          <a:p>
            <a:pPr algn="ctr"/>
            <a:r>
              <a:rPr lang="pt-BR" dirty="0"/>
              <a:t>Dados</a:t>
            </a:r>
          </a:p>
        </p:txBody>
      </p:sp>
      <p:sp>
        <p:nvSpPr>
          <p:cNvPr id="25" name="TextBox 16">
            <a:extLst>
              <a:ext uri="{FF2B5EF4-FFF2-40B4-BE49-F238E27FC236}">
                <a16:creationId xmlns:a16="http://schemas.microsoft.com/office/drawing/2014/main" id="{3B2C4DD6-ABCD-7FFD-E1AA-2F7425A98988}"/>
              </a:ext>
            </a:extLst>
          </p:cNvPr>
          <p:cNvSpPr txBox="1"/>
          <p:nvPr/>
        </p:nvSpPr>
        <p:spPr>
          <a:xfrm>
            <a:off x="7212316" y="4083693"/>
            <a:ext cx="1456083" cy="646331"/>
          </a:xfrm>
          <a:prstGeom prst="rect">
            <a:avLst/>
          </a:prstGeom>
          <a:noFill/>
        </p:spPr>
        <p:txBody>
          <a:bodyPr wrap="square" rtlCol="0">
            <a:spAutoFit/>
          </a:bodyPr>
          <a:lstStyle/>
          <a:p>
            <a:pPr algn="ctr"/>
            <a:r>
              <a:rPr lang="pt-BR" dirty="0"/>
              <a:t>Inferências ou predições</a:t>
            </a:r>
          </a:p>
        </p:txBody>
      </p:sp>
      <p:sp>
        <p:nvSpPr>
          <p:cNvPr id="3" name="Espaço Reservado para Conteúdo 2">
            <a:extLst>
              <a:ext uri="{FF2B5EF4-FFF2-40B4-BE49-F238E27FC236}">
                <a16:creationId xmlns:a16="http://schemas.microsoft.com/office/drawing/2014/main" id="{8C447695-AEA9-9967-3A0A-FF7CEA659948}"/>
              </a:ext>
            </a:extLst>
          </p:cNvPr>
          <p:cNvSpPr>
            <a:spLocks noGrp="1"/>
          </p:cNvSpPr>
          <p:nvPr>
            <p:ph idx="1"/>
          </p:nvPr>
        </p:nvSpPr>
        <p:spPr>
          <a:xfrm>
            <a:off x="838199" y="5006343"/>
            <a:ext cx="11110645" cy="1851657"/>
          </a:xfrm>
        </p:spPr>
        <p:txBody>
          <a:bodyPr/>
          <a:lstStyle/>
          <a:p>
            <a:r>
              <a:rPr lang="pt-BR" dirty="0"/>
              <a:t>Após o treinamento do modelo, o usamos para fazer </a:t>
            </a:r>
            <a:r>
              <a:rPr lang="pt-BR" b="1" i="1" dirty="0">
                <a:solidFill>
                  <a:srgbClr val="00B050"/>
                </a:solidFill>
              </a:rPr>
              <a:t>inferências</a:t>
            </a:r>
            <a:r>
              <a:rPr lang="pt-BR" dirty="0"/>
              <a:t>.</a:t>
            </a:r>
          </a:p>
          <a:p>
            <a:r>
              <a:rPr lang="pt-BR" dirty="0"/>
              <a:t>Ou seja, o usamos para fazer </a:t>
            </a:r>
            <a:r>
              <a:rPr lang="pt-BR" b="1" i="1" dirty="0">
                <a:solidFill>
                  <a:srgbClr val="00B050"/>
                </a:solidFill>
              </a:rPr>
              <a:t>predições</a:t>
            </a:r>
            <a:r>
              <a:rPr lang="pt-BR" dirty="0"/>
              <a:t> (i.e., valores de saídas) </a:t>
            </a:r>
            <a:r>
              <a:rPr lang="pt-BR" b="1" i="1" dirty="0">
                <a:solidFill>
                  <a:srgbClr val="00B050"/>
                </a:solidFill>
              </a:rPr>
              <a:t>para entradas inéditas</a:t>
            </a:r>
            <a:r>
              <a:rPr lang="pt-BR" dirty="0"/>
              <a:t>.</a:t>
            </a:r>
          </a:p>
        </p:txBody>
      </p:sp>
    </p:spTree>
    <p:extLst>
      <p:ext uri="{BB962C8B-B14F-4D97-AF65-F5344CB8AC3E}">
        <p14:creationId xmlns:p14="http://schemas.microsoft.com/office/powerpoint/2010/main" val="11323471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Generalização</a:t>
            </a:r>
            <a:endParaRPr lang="en-US" dirty="0"/>
          </a:p>
        </p:txBody>
      </p:sp>
      <p:sp>
        <p:nvSpPr>
          <p:cNvPr id="3" name="Espaço Reservado para Conteúdo 2"/>
          <p:cNvSpPr>
            <a:spLocks noGrp="1"/>
          </p:cNvSpPr>
          <p:nvPr>
            <p:ph idx="1"/>
          </p:nvPr>
        </p:nvSpPr>
        <p:spPr>
          <a:xfrm>
            <a:off x="838199" y="1825624"/>
            <a:ext cx="11127659" cy="3074186"/>
          </a:xfrm>
        </p:spPr>
        <p:txBody>
          <a:bodyPr>
            <a:normAutofit/>
          </a:bodyPr>
          <a:lstStyle/>
          <a:p>
            <a:r>
              <a:rPr lang="pt-BR" dirty="0"/>
              <a:t>Porém, não basta que o algoritmo de ML treine um modelo que faça um bom mapeamento </a:t>
            </a:r>
            <a:r>
              <a:rPr lang="pt-BR" b="1" i="1" dirty="0"/>
              <a:t>apenas para os dados do conjunto de treinamento</a:t>
            </a:r>
            <a:r>
              <a:rPr lang="pt-BR" dirty="0"/>
              <a:t>.</a:t>
            </a:r>
          </a:p>
          <a:p>
            <a:r>
              <a:rPr lang="pt-BR" dirty="0"/>
              <a:t>O </a:t>
            </a:r>
            <a:r>
              <a:rPr lang="pt-BR" b="1" i="1" dirty="0"/>
              <a:t>algoritmo</a:t>
            </a:r>
            <a:r>
              <a:rPr lang="pt-BR" dirty="0"/>
              <a:t> de ML deve </a:t>
            </a:r>
            <a:r>
              <a:rPr lang="pt-BR" b="1" i="1" dirty="0"/>
              <a:t>treinar</a:t>
            </a:r>
            <a:r>
              <a:rPr lang="pt-BR" dirty="0"/>
              <a:t> um </a:t>
            </a:r>
            <a:r>
              <a:rPr lang="pt-BR" b="1" i="1" dirty="0"/>
              <a:t>modelo</a:t>
            </a:r>
            <a:r>
              <a:rPr lang="pt-BR" dirty="0"/>
              <a:t> que </a:t>
            </a:r>
            <a:r>
              <a:rPr lang="pt-BR" b="1" i="1" dirty="0"/>
              <a:t>aprenda</a:t>
            </a:r>
            <a:r>
              <a:rPr lang="pt-BR" dirty="0"/>
              <a:t> uma </a:t>
            </a:r>
            <a:r>
              <a:rPr lang="pt-BR" b="1" i="1" dirty="0">
                <a:solidFill>
                  <a:srgbClr val="7030A0"/>
                </a:solidFill>
              </a:rPr>
              <a:t>solução geral</a:t>
            </a:r>
            <a:r>
              <a:rPr lang="pt-BR" dirty="0"/>
              <a:t>, ou seja, um modelo que </a:t>
            </a:r>
            <a:r>
              <a:rPr lang="pt-BR" b="1" i="1" dirty="0">
                <a:solidFill>
                  <a:srgbClr val="00B050"/>
                </a:solidFill>
              </a:rPr>
              <a:t>faça predições precisas para entradas não vistas durante o treinamento</a:t>
            </a:r>
            <a:r>
              <a:rPr lang="pt-BR" dirty="0"/>
              <a:t>.</a:t>
            </a:r>
          </a:p>
          <a:p>
            <a:r>
              <a:rPr lang="pt-BR" dirty="0"/>
              <a:t>Essa extrapolação do conhecimento adquirido durante o treinamento é chamado de </a:t>
            </a:r>
            <a:r>
              <a:rPr lang="pt-BR" b="1" i="1" dirty="0">
                <a:solidFill>
                  <a:srgbClr val="00B050"/>
                </a:solidFill>
              </a:rPr>
              <a:t>generalização</a:t>
            </a:r>
            <a:r>
              <a:rPr lang="pt-BR" dirty="0"/>
              <a:t>.</a:t>
            </a:r>
          </a:p>
        </p:txBody>
      </p:sp>
      <p:sp>
        <p:nvSpPr>
          <p:cNvPr id="15" name="Rectangle 12"/>
          <p:cNvSpPr/>
          <p:nvPr/>
        </p:nvSpPr>
        <p:spPr>
          <a:xfrm>
            <a:off x="5016127" y="5643789"/>
            <a:ext cx="1910443" cy="8490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Computador com modelo de ML </a:t>
            </a:r>
            <a:r>
              <a:rPr lang="pt-BR" b="1" i="1" dirty="0">
                <a:solidFill>
                  <a:srgbClr val="00B0F0"/>
                </a:solidFill>
              </a:rPr>
              <a:t>treinado</a:t>
            </a:r>
          </a:p>
        </p:txBody>
      </p:sp>
      <p:sp>
        <p:nvSpPr>
          <p:cNvPr id="16" name="TextBox 13"/>
          <p:cNvSpPr txBox="1"/>
          <p:nvPr/>
        </p:nvSpPr>
        <p:spPr>
          <a:xfrm>
            <a:off x="4188128" y="5112203"/>
            <a:ext cx="3524518" cy="461665"/>
          </a:xfrm>
          <a:prstGeom prst="rect">
            <a:avLst/>
          </a:prstGeom>
          <a:noFill/>
        </p:spPr>
        <p:txBody>
          <a:bodyPr wrap="square" rtlCol="0">
            <a:spAutoFit/>
          </a:bodyPr>
          <a:lstStyle/>
          <a:p>
            <a:pPr algn="ctr"/>
            <a:r>
              <a:rPr lang="pt-BR" sz="2400" b="1" dirty="0"/>
              <a:t>Aprendizado de Máquina</a:t>
            </a:r>
          </a:p>
        </p:txBody>
      </p:sp>
      <p:cxnSp>
        <p:nvCxnSpPr>
          <p:cNvPr id="17" name="Straight Arrow Connector 14"/>
          <p:cNvCxnSpPr/>
          <p:nvPr/>
        </p:nvCxnSpPr>
        <p:spPr>
          <a:xfrm>
            <a:off x="4188127" y="6068332"/>
            <a:ext cx="82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9" name="TextBox 16"/>
          <p:cNvSpPr txBox="1"/>
          <p:nvPr/>
        </p:nvSpPr>
        <p:spPr>
          <a:xfrm>
            <a:off x="3228378" y="5745166"/>
            <a:ext cx="999567" cy="646331"/>
          </a:xfrm>
          <a:prstGeom prst="rect">
            <a:avLst/>
          </a:prstGeom>
          <a:noFill/>
        </p:spPr>
        <p:txBody>
          <a:bodyPr wrap="square" rtlCol="0">
            <a:spAutoFit/>
          </a:bodyPr>
          <a:lstStyle/>
          <a:p>
            <a:pPr algn="ctr"/>
            <a:r>
              <a:rPr lang="pt-BR" dirty="0"/>
              <a:t>Entradas inéditas</a:t>
            </a:r>
          </a:p>
        </p:txBody>
      </p:sp>
      <p:cxnSp>
        <p:nvCxnSpPr>
          <p:cNvPr id="21" name="Straight Arrow Connector 18"/>
          <p:cNvCxnSpPr/>
          <p:nvPr/>
        </p:nvCxnSpPr>
        <p:spPr>
          <a:xfrm>
            <a:off x="6926570" y="6068332"/>
            <a:ext cx="82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2" name="TextBox 19"/>
          <p:cNvSpPr txBox="1"/>
          <p:nvPr/>
        </p:nvSpPr>
        <p:spPr>
          <a:xfrm>
            <a:off x="7610288" y="5786261"/>
            <a:ext cx="1226725" cy="646331"/>
          </a:xfrm>
          <a:prstGeom prst="rect">
            <a:avLst/>
          </a:prstGeom>
          <a:noFill/>
        </p:spPr>
        <p:txBody>
          <a:bodyPr wrap="square" rtlCol="0">
            <a:spAutoFit/>
          </a:bodyPr>
          <a:lstStyle/>
          <a:p>
            <a:pPr algn="ctr"/>
            <a:r>
              <a:rPr lang="pt-BR" dirty="0"/>
              <a:t>Saída ou inferência</a:t>
            </a:r>
            <a:endParaRPr lang="pt-BR" b="1" dirty="0">
              <a:solidFill>
                <a:srgbClr val="FF0000"/>
              </a:solidFill>
            </a:endParaRPr>
          </a:p>
        </p:txBody>
      </p:sp>
    </p:spTree>
    <p:extLst>
      <p:ext uri="{BB962C8B-B14F-4D97-AF65-F5344CB8AC3E}">
        <p14:creationId xmlns:p14="http://schemas.microsoft.com/office/powerpoint/2010/main" val="19396983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Generalização: </a:t>
            </a:r>
            <a:r>
              <a:rPr lang="pt-BR" dirty="0" err="1"/>
              <a:t>Paleteria</a:t>
            </a:r>
            <a:r>
              <a:rPr lang="pt-BR" dirty="0"/>
              <a:t> Mexicana</a:t>
            </a:r>
            <a:endParaRPr lang="en-US" dirty="0"/>
          </a:p>
        </p:txBody>
      </p:sp>
      <p:grpSp>
        <p:nvGrpSpPr>
          <p:cNvPr id="25" name="Agrupar 24">
            <a:extLst>
              <a:ext uri="{FF2B5EF4-FFF2-40B4-BE49-F238E27FC236}">
                <a16:creationId xmlns:a16="http://schemas.microsoft.com/office/drawing/2014/main" id="{747CBF5F-F2D1-3A8F-F528-AFC261175F5F}"/>
              </a:ext>
            </a:extLst>
          </p:cNvPr>
          <p:cNvGrpSpPr/>
          <p:nvPr/>
        </p:nvGrpSpPr>
        <p:grpSpPr>
          <a:xfrm>
            <a:off x="129538" y="2530784"/>
            <a:ext cx="11939174" cy="2760057"/>
            <a:chOff x="129538" y="2530784"/>
            <a:chExt cx="11939174" cy="2760057"/>
          </a:xfrm>
        </p:grpSpPr>
        <p:sp>
          <p:nvSpPr>
            <p:cNvPr id="15" name="Rectangle 12"/>
            <p:cNvSpPr/>
            <p:nvPr/>
          </p:nvSpPr>
          <p:spPr>
            <a:xfrm>
              <a:off x="4871676" y="3062370"/>
              <a:ext cx="1910443" cy="8490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Computador com modelo de ML </a:t>
              </a:r>
              <a:r>
                <a:rPr lang="pt-BR" b="1" i="1" dirty="0">
                  <a:solidFill>
                    <a:srgbClr val="00B0F0"/>
                  </a:solidFill>
                </a:rPr>
                <a:t>treinado</a:t>
              </a:r>
            </a:p>
          </p:txBody>
        </p:sp>
        <p:sp>
          <p:nvSpPr>
            <p:cNvPr id="16" name="TextBox 13"/>
            <p:cNvSpPr txBox="1"/>
            <p:nvPr/>
          </p:nvSpPr>
          <p:spPr>
            <a:xfrm>
              <a:off x="4043677" y="2530784"/>
              <a:ext cx="3524518" cy="461665"/>
            </a:xfrm>
            <a:prstGeom prst="rect">
              <a:avLst/>
            </a:prstGeom>
            <a:noFill/>
          </p:spPr>
          <p:txBody>
            <a:bodyPr wrap="square" rtlCol="0">
              <a:spAutoFit/>
            </a:bodyPr>
            <a:lstStyle/>
            <a:p>
              <a:pPr algn="ctr"/>
              <a:r>
                <a:rPr lang="pt-BR" sz="2400" b="1" dirty="0"/>
                <a:t>Aprendizado de Máquina</a:t>
              </a:r>
            </a:p>
          </p:txBody>
        </p:sp>
        <p:cxnSp>
          <p:nvCxnSpPr>
            <p:cNvPr id="17" name="Straight Arrow Connector 14"/>
            <p:cNvCxnSpPr/>
            <p:nvPr/>
          </p:nvCxnSpPr>
          <p:spPr>
            <a:xfrm>
              <a:off x="4043676" y="3486913"/>
              <a:ext cx="82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9" name="TextBox 16"/>
            <p:cNvSpPr txBox="1"/>
            <p:nvPr/>
          </p:nvSpPr>
          <p:spPr>
            <a:xfrm>
              <a:off x="3083927" y="3163747"/>
              <a:ext cx="999567" cy="646331"/>
            </a:xfrm>
            <a:prstGeom prst="rect">
              <a:avLst/>
            </a:prstGeom>
            <a:noFill/>
          </p:spPr>
          <p:txBody>
            <a:bodyPr wrap="square" rtlCol="0">
              <a:spAutoFit/>
            </a:bodyPr>
            <a:lstStyle/>
            <a:p>
              <a:pPr algn="ctr"/>
              <a:r>
                <a:rPr lang="pt-BR" dirty="0"/>
                <a:t>Entradas inéditas</a:t>
              </a:r>
            </a:p>
          </p:txBody>
        </p:sp>
        <p:cxnSp>
          <p:nvCxnSpPr>
            <p:cNvPr id="21" name="Straight Arrow Connector 18"/>
            <p:cNvCxnSpPr/>
            <p:nvPr/>
          </p:nvCxnSpPr>
          <p:spPr>
            <a:xfrm>
              <a:off x="6782119" y="3486913"/>
              <a:ext cx="82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2" name="TextBox 19"/>
            <p:cNvSpPr txBox="1"/>
            <p:nvPr/>
          </p:nvSpPr>
          <p:spPr>
            <a:xfrm>
              <a:off x="7465837" y="3204842"/>
              <a:ext cx="1226725" cy="646331"/>
            </a:xfrm>
            <a:prstGeom prst="rect">
              <a:avLst/>
            </a:prstGeom>
            <a:noFill/>
          </p:spPr>
          <p:txBody>
            <a:bodyPr wrap="square" rtlCol="0">
              <a:spAutoFit/>
            </a:bodyPr>
            <a:lstStyle/>
            <a:p>
              <a:pPr algn="ctr"/>
              <a:r>
                <a:rPr lang="pt-BR" dirty="0"/>
                <a:t>Saída ou inferência</a:t>
              </a:r>
              <a:endParaRPr lang="pt-BR" b="1" dirty="0">
                <a:solidFill>
                  <a:srgbClr val="FF0000"/>
                </a:solidFill>
              </a:endParaRPr>
            </a:p>
          </p:txBody>
        </p:sp>
        <mc:AlternateContent xmlns:mc="http://schemas.openxmlformats.org/markup-compatibility/2006" xmlns:a14="http://schemas.microsoft.com/office/drawing/2010/main">
          <mc:Choice Requires="a14">
            <p:sp>
              <p:nvSpPr>
                <p:cNvPr id="27" name="CaixaDeTexto 26">
                  <a:extLst>
                    <a:ext uri="{FF2B5EF4-FFF2-40B4-BE49-F238E27FC236}">
                      <a16:creationId xmlns:a16="http://schemas.microsoft.com/office/drawing/2014/main" id="{33FC6AED-12D8-69D4-01FE-7857F2F70EC0}"/>
                    </a:ext>
                  </a:extLst>
                </p:cNvPr>
                <p:cNvSpPr txBox="1"/>
                <p:nvPr/>
              </p:nvSpPr>
              <p:spPr>
                <a:xfrm>
                  <a:off x="129538" y="4548939"/>
                  <a:ext cx="3304095" cy="738664"/>
                </a:xfrm>
                <a:prstGeom prst="rect">
                  <a:avLst/>
                </a:prstGeom>
                <a:noFill/>
              </p:spPr>
              <p:txBody>
                <a:bodyPr wrap="square" rtlCol="0">
                  <a:spAutoFit/>
                </a:bodyPr>
                <a:lstStyle/>
                <a:p>
                  <a:pPr algn="ctr"/>
                  <a:r>
                    <a:rPr lang="pt-BR" sz="1400" b="1" i="1" dirty="0">
                      <a:solidFill>
                        <a:srgbClr val="00B050"/>
                      </a:solidFill>
                    </a:rPr>
                    <a:t>Qual é a estimativa de paletas vendidas quando a temperatura é de </a:t>
                  </a:r>
                  <a14:m>
                    <m:oMath xmlns:m="http://schemas.openxmlformats.org/officeDocument/2006/math">
                      <m:r>
                        <a:rPr lang="pt-BR" sz="1400" b="1" i="1" smtClean="0">
                          <a:solidFill>
                            <a:srgbClr val="00B050"/>
                          </a:solidFill>
                          <a:latin typeface="Cambria Math" panose="02040503050406030204" pitchFamily="18" charset="0"/>
                          <a:ea typeface="Cambria Math" panose="02040503050406030204" pitchFamily="18" charset="0"/>
                        </a:rPr>
                        <m:t>≈</m:t>
                      </m:r>
                    </m:oMath>
                  </a14:m>
                  <a:r>
                    <a:rPr lang="pt-BR" sz="1400" b="1" i="1" dirty="0">
                      <a:solidFill>
                        <a:srgbClr val="00B050"/>
                      </a:solidFill>
                    </a:rPr>
                    <a:t> 6 graus (valor não visto durante o treinamento)?</a:t>
                  </a:r>
                </a:p>
              </p:txBody>
            </p:sp>
          </mc:Choice>
          <mc:Fallback xmlns="">
            <p:sp>
              <p:nvSpPr>
                <p:cNvPr id="27" name="CaixaDeTexto 26">
                  <a:extLst>
                    <a:ext uri="{FF2B5EF4-FFF2-40B4-BE49-F238E27FC236}">
                      <a16:creationId xmlns:a16="http://schemas.microsoft.com/office/drawing/2014/main" id="{33FC6AED-12D8-69D4-01FE-7857F2F70EC0}"/>
                    </a:ext>
                  </a:extLst>
                </p:cNvPr>
                <p:cNvSpPr txBox="1">
                  <a:spLocks noRot="1" noChangeAspect="1" noMove="1" noResize="1" noEditPoints="1" noAdjustHandles="1" noChangeArrowheads="1" noChangeShapeType="1" noTextEdit="1"/>
                </p:cNvSpPr>
                <p:nvPr/>
              </p:nvSpPr>
              <p:spPr>
                <a:xfrm>
                  <a:off x="129538" y="4548939"/>
                  <a:ext cx="3304095" cy="738664"/>
                </a:xfrm>
                <a:prstGeom prst="rect">
                  <a:avLst/>
                </a:prstGeom>
                <a:blipFill>
                  <a:blip r:embed="rId3"/>
                  <a:stretch>
                    <a:fillRect t="-1653" b="-8264"/>
                  </a:stretch>
                </a:blipFill>
              </p:spPr>
              <p:txBody>
                <a:bodyPr/>
                <a:lstStyle/>
                <a:p>
                  <a:r>
                    <a:rPr lang="pt-BR">
                      <a:noFill/>
                    </a:rPr>
                    <a:t> </a:t>
                  </a:r>
                </a:p>
              </p:txBody>
            </p:sp>
          </mc:Fallback>
        </mc:AlternateContent>
        <p:sp>
          <p:nvSpPr>
            <p:cNvPr id="29" name="CaixaDeTexto 28">
              <a:extLst>
                <a:ext uri="{FF2B5EF4-FFF2-40B4-BE49-F238E27FC236}">
                  <a16:creationId xmlns:a16="http://schemas.microsoft.com/office/drawing/2014/main" id="{6330BD9E-096B-426F-F26D-E85D0A9C38E6}"/>
                </a:ext>
              </a:extLst>
            </p:cNvPr>
            <p:cNvSpPr txBox="1"/>
            <p:nvPr/>
          </p:nvSpPr>
          <p:spPr>
            <a:xfrm>
              <a:off x="4043676" y="3109950"/>
              <a:ext cx="827999" cy="369332"/>
            </a:xfrm>
            <a:prstGeom prst="rect">
              <a:avLst/>
            </a:prstGeom>
            <a:noFill/>
          </p:spPr>
          <p:txBody>
            <a:bodyPr wrap="square">
              <a:spAutoFit/>
            </a:bodyPr>
            <a:lstStyle/>
            <a:p>
              <a:pPr algn="ctr"/>
              <a:r>
                <a:rPr lang="pt-BR" sz="1800" dirty="0">
                  <a:solidFill>
                    <a:srgbClr val="FF0000"/>
                  </a:solidFill>
                </a:rPr>
                <a:t>6</a:t>
              </a:r>
              <a:endParaRPr lang="pt-BR" dirty="0">
                <a:solidFill>
                  <a:srgbClr val="FF0000"/>
                </a:solidFill>
              </a:endParaRPr>
            </a:p>
          </p:txBody>
        </p:sp>
        <p:sp>
          <p:nvSpPr>
            <p:cNvPr id="30" name="CaixaDeTexto 29">
              <a:extLst>
                <a:ext uri="{FF2B5EF4-FFF2-40B4-BE49-F238E27FC236}">
                  <a16:creationId xmlns:a16="http://schemas.microsoft.com/office/drawing/2014/main" id="{539D4C0F-5A25-B1AE-77C4-1387B2C44B76}"/>
                </a:ext>
              </a:extLst>
            </p:cNvPr>
            <p:cNvSpPr txBox="1"/>
            <p:nvPr/>
          </p:nvSpPr>
          <p:spPr>
            <a:xfrm>
              <a:off x="6782118" y="3117580"/>
              <a:ext cx="828001" cy="369332"/>
            </a:xfrm>
            <a:prstGeom prst="rect">
              <a:avLst/>
            </a:prstGeom>
            <a:noFill/>
          </p:spPr>
          <p:txBody>
            <a:bodyPr wrap="square">
              <a:spAutoFit/>
            </a:bodyPr>
            <a:lstStyle/>
            <a:p>
              <a:pPr algn="ctr"/>
              <a:r>
                <a:rPr lang="pt-BR" dirty="0">
                  <a:solidFill>
                    <a:srgbClr val="FF0000"/>
                  </a:solidFill>
                </a:rPr>
                <a:t>21</a:t>
              </a:r>
            </a:p>
          </p:txBody>
        </p:sp>
        <p:grpSp>
          <p:nvGrpSpPr>
            <p:cNvPr id="36" name="Agrupar 35">
              <a:extLst>
                <a:ext uri="{FF2B5EF4-FFF2-40B4-BE49-F238E27FC236}">
                  <a16:creationId xmlns:a16="http://schemas.microsoft.com/office/drawing/2014/main" id="{1A6A15E3-E326-F525-832C-F40AEF35FD53}"/>
                </a:ext>
              </a:extLst>
            </p:cNvPr>
            <p:cNvGrpSpPr/>
            <p:nvPr/>
          </p:nvGrpSpPr>
          <p:grpSpPr>
            <a:xfrm>
              <a:off x="186025" y="2574959"/>
              <a:ext cx="2861802" cy="2013028"/>
              <a:chOff x="126016" y="4182282"/>
              <a:chExt cx="2861802" cy="2013028"/>
            </a:xfrm>
          </p:grpSpPr>
          <p:pic>
            <p:nvPicPr>
              <p:cNvPr id="35" name="Picture 2">
                <a:extLst>
                  <a:ext uri="{FF2B5EF4-FFF2-40B4-BE49-F238E27FC236}">
                    <a16:creationId xmlns:a16="http://schemas.microsoft.com/office/drawing/2014/main" id="{2A0CE568-3641-CBBF-E5AE-0F7516F7728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16" r="1714"/>
              <a:stretch/>
            </p:blipFill>
            <p:spPr bwMode="auto">
              <a:xfrm>
                <a:off x="126016" y="4182282"/>
                <a:ext cx="2861802" cy="2013028"/>
              </a:xfrm>
              <a:prstGeom prst="rect">
                <a:avLst/>
              </a:prstGeom>
              <a:noFill/>
              <a:extLst>
                <a:ext uri="{909E8E84-426E-40DD-AFC4-6F175D3DCCD1}">
                  <a14:hiddenFill xmlns:a14="http://schemas.microsoft.com/office/drawing/2010/main">
                    <a:solidFill>
                      <a:srgbClr val="FFFFFF"/>
                    </a:solidFill>
                  </a14:hiddenFill>
                </a:ext>
              </a:extLst>
            </p:spPr>
          </p:pic>
          <p:cxnSp>
            <p:nvCxnSpPr>
              <p:cNvPr id="9" name="Conector reto 8">
                <a:extLst>
                  <a:ext uri="{FF2B5EF4-FFF2-40B4-BE49-F238E27FC236}">
                    <a16:creationId xmlns:a16="http://schemas.microsoft.com/office/drawing/2014/main" id="{5CDDCA79-6D29-DCE9-D80C-8C4EF91FD287}"/>
                  </a:ext>
                </a:extLst>
              </p:cNvPr>
              <p:cNvCxnSpPr>
                <a:cxnSpLocks/>
              </p:cNvCxnSpPr>
              <p:nvPr/>
            </p:nvCxnSpPr>
            <p:spPr>
              <a:xfrm>
                <a:off x="921532" y="4434654"/>
                <a:ext cx="0" cy="1476000"/>
              </a:xfrm>
              <a:prstGeom prst="line">
                <a:avLst/>
              </a:prstGeom>
              <a:ln w="12700">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31" name="CaixaDeTexto 30">
                <a:extLst>
                  <a:ext uri="{FF2B5EF4-FFF2-40B4-BE49-F238E27FC236}">
                    <a16:creationId xmlns:a16="http://schemas.microsoft.com/office/drawing/2014/main" id="{F5E30D89-E0D0-71E5-687B-CCB6FD038244}"/>
                  </a:ext>
                </a:extLst>
              </p:cNvPr>
              <p:cNvSpPr txBox="1"/>
              <p:nvPr/>
            </p:nvSpPr>
            <p:spPr>
              <a:xfrm>
                <a:off x="814753" y="5869491"/>
                <a:ext cx="213557" cy="261610"/>
              </a:xfrm>
              <a:prstGeom prst="rect">
                <a:avLst/>
              </a:prstGeom>
              <a:noFill/>
            </p:spPr>
            <p:txBody>
              <a:bodyPr wrap="square">
                <a:spAutoFit/>
              </a:bodyPr>
              <a:lstStyle/>
              <a:p>
                <a:pPr algn="ctr"/>
                <a:r>
                  <a:rPr lang="pt-BR" sz="1050" dirty="0">
                    <a:solidFill>
                      <a:srgbClr val="FF0000"/>
                    </a:solidFill>
                  </a:rPr>
                  <a:t>6</a:t>
                </a:r>
              </a:p>
            </p:txBody>
          </p:sp>
        </p:grpSp>
        <p:sp>
          <p:nvSpPr>
            <p:cNvPr id="34" name="CaixaDeTexto 33">
              <a:extLst>
                <a:ext uri="{FF2B5EF4-FFF2-40B4-BE49-F238E27FC236}">
                  <a16:creationId xmlns:a16="http://schemas.microsoft.com/office/drawing/2014/main" id="{91C4D063-7664-1260-F4EF-0FF568DA02AA}"/>
                </a:ext>
              </a:extLst>
            </p:cNvPr>
            <p:cNvSpPr txBox="1"/>
            <p:nvPr/>
          </p:nvSpPr>
          <p:spPr>
            <a:xfrm>
              <a:off x="4083494" y="4028957"/>
              <a:ext cx="3484701" cy="523220"/>
            </a:xfrm>
            <a:prstGeom prst="rect">
              <a:avLst/>
            </a:prstGeom>
            <a:noFill/>
          </p:spPr>
          <p:txBody>
            <a:bodyPr wrap="square" rtlCol="0">
              <a:spAutoFit/>
            </a:bodyPr>
            <a:lstStyle/>
            <a:p>
              <a:pPr algn="ctr"/>
              <a:r>
                <a:rPr lang="pt-BR" sz="1400" b="1" i="1" dirty="0">
                  <a:solidFill>
                    <a:srgbClr val="00B050"/>
                  </a:solidFill>
                </a:rPr>
                <a:t>O modelo aprendeu que uma </a:t>
              </a:r>
              <a:r>
                <a:rPr lang="pt-BR" sz="1400" b="1" i="1" dirty="0">
                  <a:solidFill>
                    <a:schemeClr val="accent2"/>
                  </a:solidFill>
                </a:rPr>
                <a:t>reta</a:t>
              </a:r>
              <a:r>
                <a:rPr lang="pt-BR" sz="1400" b="1" i="1" dirty="0">
                  <a:solidFill>
                    <a:srgbClr val="00B050"/>
                  </a:solidFill>
                </a:rPr>
                <a:t> é um </a:t>
              </a:r>
              <a:r>
                <a:rPr lang="pt-BR" sz="1400" b="1" i="1" dirty="0">
                  <a:solidFill>
                    <a:srgbClr val="7030A0"/>
                  </a:solidFill>
                </a:rPr>
                <a:t>bom</a:t>
              </a:r>
              <a:r>
                <a:rPr lang="pt-BR" sz="1400" b="1" i="1" dirty="0">
                  <a:solidFill>
                    <a:srgbClr val="00B050"/>
                  </a:solidFill>
                </a:rPr>
                <a:t> mapeamento.</a:t>
              </a:r>
            </a:p>
          </p:txBody>
        </p:sp>
        <p:sp>
          <p:nvSpPr>
            <p:cNvPr id="59" name="CaixaDeTexto 58">
              <a:extLst>
                <a:ext uri="{FF2B5EF4-FFF2-40B4-BE49-F238E27FC236}">
                  <a16:creationId xmlns:a16="http://schemas.microsoft.com/office/drawing/2014/main" id="{7A0CE6F8-0566-7F88-89AF-A69DC4F872DC}"/>
                </a:ext>
              </a:extLst>
            </p:cNvPr>
            <p:cNvSpPr txBox="1"/>
            <p:nvPr/>
          </p:nvSpPr>
          <p:spPr>
            <a:xfrm>
              <a:off x="8275020" y="4552177"/>
              <a:ext cx="3793692" cy="738664"/>
            </a:xfrm>
            <a:prstGeom prst="rect">
              <a:avLst/>
            </a:prstGeom>
            <a:noFill/>
          </p:spPr>
          <p:txBody>
            <a:bodyPr wrap="square" rtlCol="0">
              <a:spAutoFit/>
            </a:bodyPr>
            <a:lstStyle/>
            <a:p>
              <a:pPr algn="ctr"/>
              <a:r>
                <a:rPr lang="pt-BR" sz="1400" b="1" i="1" dirty="0">
                  <a:solidFill>
                    <a:srgbClr val="00B050"/>
                  </a:solidFill>
                </a:rPr>
                <a:t>A partir do mapeamento aprendido (reta), o modelo gera como saída o valor 21, que é coerente com o restante dos dados.</a:t>
              </a:r>
            </a:p>
          </p:txBody>
        </p:sp>
        <p:grpSp>
          <p:nvGrpSpPr>
            <p:cNvPr id="11" name="Agrupar 10">
              <a:extLst>
                <a:ext uri="{FF2B5EF4-FFF2-40B4-BE49-F238E27FC236}">
                  <a16:creationId xmlns:a16="http://schemas.microsoft.com/office/drawing/2014/main" id="{CD8A6BB2-4890-A94B-9877-E9C973A58567}"/>
                </a:ext>
              </a:extLst>
            </p:cNvPr>
            <p:cNvGrpSpPr/>
            <p:nvPr/>
          </p:nvGrpSpPr>
          <p:grpSpPr>
            <a:xfrm>
              <a:off x="8617979" y="2559857"/>
              <a:ext cx="2948745" cy="2010947"/>
              <a:chOff x="8950873" y="2545355"/>
              <a:chExt cx="2948745" cy="2010947"/>
            </a:xfrm>
          </p:grpSpPr>
          <p:grpSp>
            <p:nvGrpSpPr>
              <p:cNvPr id="6" name="Agrupar 5">
                <a:extLst>
                  <a:ext uri="{FF2B5EF4-FFF2-40B4-BE49-F238E27FC236}">
                    <a16:creationId xmlns:a16="http://schemas.microsoft.com/office/drawing/2014/main" id="{52BF4D7F-2CA2-62F8-9BE4-DD9F2B339365}"/>
                  </a:ext>
                </a:extLst>
              </p:cNvPr>
              <p:cNvGrpSpPr/>
              <p:nvPr/>
            </p:nvGrpSpPr>
            <p:grpSpPr>
              <a:xfrm>
                <a:off x="8950873" y="2545355"/>
                <a:ext cx="2948745" cy="2010947"/>
                <a:chOff x="8367252" y="3883682"/>
                <a:chExt cx="2948745" cy="2010947"/>
              </a:xfrm>
            </p:grpSpPr>
            <p:pic>
              <p:nvPicPr>
                <p:cNvPr id="7" name="Imagem 6">
                  <a:extLst>
                    <a:ext uri="{FF2B5EF4-FFF2-40B4-BE49-F238E27FC236}">
                      <a16:creationId xmlns:a16="http://schemas.microsoft.com/office/drawing/2014/main" id="{101C69F6-520F-96EC-5E9F-BCAF39C84B33}"/>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3463" t="9957" r="8514"/>
                <a:stretch/>
              </p:blipFill>
              <p:spPr>
                <a:xfrm>
                  <a:off x="8367252" y="3883682"/>
                  <a:ext cx="2948745" cy="2010947"/>
                </a:xfrm>
                <a:prstGeom prst="rect">
                  <a:avLst/>
                </a:prstGeom>
              </p:spPr>
            </p:pic>
            <p:cxnSp>
              <p:nvCxnSpPr>
                <p:cNvPr id="8" name="Conector reto 7">
                  <a:extLst>
                    <a:ext uri="{FF2B5EF4-FFF2-40B4-BE49-F238E27FC236}">
                      <a16:creationId xmlns:a16="http://schemas.microsoft.com/office/drawing/2014/main" id="{293481F6-7067-7574-5F3C-3820E58598AB}"/>
                    </a:ext>
                  </a:extLst>
                </p:cNvPr>
                <p:cNvCxnSpPr>
                  <a:cxnSpLocks/>
                </p:cNvCxnSpPr>
                <p:nvPr/>
              </p:nvCxnSpPr>
              <p:spPr>
                <a:xfrm>
                  <a:off x="9162852" y="5293244"/>
                  <a:ext cx="0" cy="360000"/>
                </a:xfrm>
                <a:prstGeom prst="line">
                  <a:avLst/>
                </a:prstGeom>
                <a:ln w="12700">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10" name="CaixaDeTexto 9">
                  <a:extLst>
                    <a:ext uri="{FF2B5EF4-FFF2-40B4-BE49-F238E27FC236}">
                      <a16:creationId xmlns:a16="http://schemas.microsoft.com/office/drawing/2014/main" id="{662738E1-6CDB-7CA5-31F9-5BCD2D5A2DD8}"/>
                    </a:ext>
                  </a:extLst>
                </p:cNvPr>
                <p:cNvSpPr txBox="1"/>
                <p:nvPr/>
              </p:nvSpPr>
              <p:spPr>
                <a:xfrm>
                  <a:off x="9056073" y="5606014"/>
                  <a:ext cx="213557" cy="261610"/>
                </a:xfrm>
                <a:prstGeom prst="rect">
                  <a:avLst/>
                </a:prstGeom>
                <a:noFill/>
              </p:spPr>
              <p:txBody>
                <a:bodyPr wrap="square">
                  <a:spAutoFit/>
                </a:bodyPr>
                <a:lstStyle/>
                <a:p>
                  <a:pPr algn="ctr"/>
                  <a:r>
                    <a:rPr lang="pt-BR" sz="1050" dirty="0">
                      <a:solidFill>
                        <a:srgbClr val="FF0000"/>
                      </a:solidFill>
                    </a:rPr>
                    <a:t>6</a:t>
                  </a:r>
                </a:p>
              </p:txBody>
            </p:sp>
          </p:grpSp>
          <p:grpSp>
            <p:nvGrpSpPr>
              <p:cNvPr id="55" name="Agrupar 54">
                <a:extLst>
                  <a:ext uri="{FF2B5EF4-FFF2-40B4-BE49-F238E27FC236}">
                    <a16:creationId xmlns:a16="http://schemas.microsoft.com/office/drawing/2014/main" id="{6DFD4159-05F0-AA5F-E5AF-8812ADBB7F4D}"/>
                  </a:ext>
                </a:extLst>
              </p:cNvPr>
              <p:cNvGrpSpPr>
                <a:grpSpLocks noChangeAspect="1"/>
              </p:cNvGrpSpPr>
              <p:nvPr/>
            </p:nvGrpSpPr>
            <p:grpSpPr>
              <a:xfrm>
                <a:off x="9729806" y="3933640"/>
                <a:ext cx="36000" cy="36000"/>
                <a:chOff x="11557842" y="4567654"/>
                <a:chExt cx="280014" cy="280014"/>
              </a:xfrm>
            </p:grpSpPr>
            <p:cxnSp>
              <p:nvCxnSpPr>
                <p:cNvPr id="47" name="Conector reto 46">
                  <a:extLst>
                    <a:ext uri="{FF2B5EF4-FFF2-40B4-BE49-F238E27FC236}">
                      <a16:creationId xmlns:a16="http://schemas.microsoft.com/office/drawing/2014/main" id="{F93A44DD-0490-076B-C58B-66975D7F66F3}"/>
                    </a:ext>
                  </a:extLst>
                </p:cNvPr>
                <p:cNvCxnSpPr>
                  <a:cxnSpLocks/>
                </p:cNvCxnSpPr>
                <p:nvPr/>
              </p:nvCxnSpPr>
              <p:spPr>
                <a:xfrm>
                  <a:off x="11557842" y="4567654"/>
                  <a:ext cx="280014" cy="280014"/>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4" name="Conector reto 53">
                  <a:extLst>
                    <a:ext uri="{FF2B5EF4-FFF2-40B4-BE49-F238E27FC236}">
                      <a16:creationId xmlns:a16="http://schemas.microsoft.com/office/drawing/2014/main" id="{ADD05E9C-618B-C77C-3016-1E8B72CCE174}"/>
                    </a:ext>
                  </a:extLst>
                </p:cNvPr>
                <p:cNvCxnSpPr>
                  <a:cxnSpLocks/>
                </p:cNvCxnSpPr>
                <p:nvPr/>
              </p:nvCxnSpPr>
              <p:spPr>
                <a:xfrm flipH="1">
                  <a:off x="11557842" y="4567654"/>
                  <a:ext cx="280014" cy="280014"/>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grpSp>
        <p:cxnSp>
          <p:nvCxnSpPr>
            <p:cNvPr id="33" name="Conector de Seta Reta 32">
              <a:extLst>
                <a:ext uri="{FF2B5EF4-FFF2-40B4-BE49-F238E27FC236}">
                  <a16:creationId xmlns:a16="http://schemas.microsoft.com/office/drawing/2014/main" id="{5F1A6BC8-8443-4FA2-7696-1587BF08972D}"/>
                </a:ext>
              </a:extLst>
            </p:cNvPr>
            <p:cNvCxnSpPr>
              <a:cxnSpLocks/>
            </p:cNvCxnSpPr>
            <p:nvPr/>
          </p:nvCxnSpPr>
          <p:spPr>
            <a:xfrm>
              <a:off x="7251838" y="3524703"/>
              <a:ext cx="2046365" cy="42262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reto 13">
              <a:extLst>
                <a:ext uri="{FF2B5EF4-FFF2-40B4-BE49-F238E27FC236}">
                  <a16:creationId xmlns:a16="http://schemas.microsoft.com/office/drawing/2014/main" id="{5E9B5479-FF18-4E4A-C4C3-F667BA554379}"/>
                </a:ext>
              </a:extLst>
            </p:cNvPr>
            <p:cNvCxnSpPr>
              <a:cxnSpLocks/>
            </p:cNvCxnSpPr>
            <p:nvPr/>
          </p:nvCxnSpPr>
          <p:spPr>
            <a:xfrm flipH="1" flipV="1">
              <a:off x="8918575" y="3966142"/>
              <a:ext cx="495003" cy="2833"/>
            </a:xfrm>
            <a:prstGeom prst="line">
              <a:avLst/>
            </a:prstGeom>
            <a:ln w="12700">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607596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Generalização: </a:t>
            </a:r>
            <a:r>
              <a:rPr lang="pt-BR" dirty="0" err="1"/>
              <a:t>Paleteria</a:t>
            </a:r>
            <a:r>
              <a:rPr lang="pt-BR" dirty="0"/>
              <a:t> Mexicana</a:t>
            </a:r>
            <a:endParaRPr lang="en-US" dirty="0"/>
          </a:p>
        </p:txBody>
      </p:sp>
      <p:grpSp>
        <p:nvGrpSpPr>
          <p:cNvPr id="25" name="Agrupar 24">
            <a:extLst>
              <a:ext uri="{FF2B5EF4-FFF2-40B4-BE49-F238E27FC236}">
                <a16:creationId xmlns:a16="http://schemas.microsoft.com/office/drawing/2014/main" id="{747CBF5F-F2D1-3A8F-F528-AFC261175F5F}"/>
              </a:ext>
            </a:extLst>
          </p:cNvPr>
          <p:cNvGrpSpPr/>
          <p:nvPr/>
        </p:nvGrpSpPr>
        <p:grpSpPr>
          <a:xfrm>
            <a:off x="129538" y="2530784"/>
            <a:ext cx="11939174" cy="2760057"/>
            <a:chOff x="129538" y="2530784"/>
            <a:chExt cx="11939174" cy="2760057"/>
          </a:xfrm>
        </p:grpSpPr>
        <p:sp>
          <p:nvSpPr>
            <p:cNvPr id="15" name="Rectangle 12"/>
            <p:cNvSpPr/>
            <p:nvPr/>
          </p:nvSpPr>
          <p:spPr>
            <a:xfrm>
              <a:off x="4871676" y="3062370"/>
              <a:ext cx="1910443" cy="8490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Computador com modelo de ML </a:t>
              </a:r>
              <a:r>
                <a:rPr lang="pt-BR" b="1" i="1" dirty="0">
                  <a:solidFill>
                    <a:srgbClr val="00B0F0"/>
                  </a:solidFill>
                </a:rPr>
                <a:t>treinado</a:t>
              </a:r>
            </a:p>
          </p:txBody>
        </p:sp>
        <p:sp>
          <p:nvSpPr>
            <p:cNvPr id="16" name="TextBox 13"/>
            <p:cNvSpPr txBox="1"/>
            <p:nvPr/>
          </p:nvSpPr>
          <p:spPr>
            <a:xfrm>
              <a:off x="4043677" y="2530784"/>
              <a:ext cx="3524518" cy="461665"/>
            </a:xfrm>
            <a:prstGeom prst="rect">
              <a:avLst/>
            </a:prstGeom>
            <a:noFill/>
          </p:spPr>
          <p:txBody>
            <a:bodyPr wrap="square" rtlCol="0">
              <a:spAutoFit/>
            </a:bodyPr>
            <a:lstStyle/>
            <a:p>
              <a:pPr algn="ctr"/>
              <a:r>
                <a:rPr lang="pt-BR" sz="2400" b="1" dirty="0"/>
                <a:t>Aprendizado de Máquina</a:t>
              </a:r>
            </a:p>
          </p:txBody>
        </p:sp>
        <p:cxnSp>
          <p:nvCxnSpPr>
            <p:cNvPr id="17" name="Straight Arrow Connector 14"/>
            <p:cNvCxnSpPr/>
            <p:nvPr/>
          </p:nvCxnSpPr>
          <p:spPr>
            <a:xfrm>
              <a:off x="4043676" y="3486913"/>
              <a:ext cx="82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9" name="TextBox 16"/>
            <p:cNvSpPr txBox="1"/>
            <p:nvPr/>
          </p:nvSpPr>
          <p:spPr>
            <a:xfrm>
              <a:off x="3083927" y="3163747"/>
              <a:ext cx="999567" cy="646331"/>
            </a:xfrm>
            <a:prstGeom prst="rect">
              <a:avLst/>
            </a:prstGeom>
            <a:noFill/>
          </p:spPr>
          <p:txBody>
            <a:bodyPr wrap="square" rtlCol="0">
              <a:spAutoFit/>
            </a:bodyPr>
            <a:lstStyle/>
            <a:p>
              <a:pPr algn="ctr"/>
              <a:r>
                <a:rPr lang="pt-BR" dirty="0"/>
                <a:t>Entradas inéditas</a:t>
              </a:r>
            </a:p>
          </p:txBody>
        </p:sp>
        <p:cxnSp>
          <p:nvCxnSpPr>
            <p:cNvPr id="21" name="Straight Arrow Connector 18"/>
            <p:cNvCxnSpPr/>
            <p:nvPr/>
          </p:nvCxnSpPr>
          <p:spPr>
            <a:xfrm>
              <a:off x="6782119" y="3486913"/>
              <a:ext cx="82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2" name="TextBox 19"/>
            <p:cNvSpPr txBox="1"/>
            <p:nvPr/>
          </p:nvSpPr>
          <p:spPr>
            <a:xfrm>
              <a:off x="7465837" y="3204842"/>
              <a:ext cx="1226725" cy="646331"/>
            </a:xfrm>
            <a:prstGeom prst="rect">
              <a:avLst/>
            </a:prstGeom>
            <a:noFill/>
          </p:spPr>
          <p:txBody>
            <a:bodyPr wrap="square" rtlCol="0">
              <a:spAutoFit/>
            </a:bodyPr>
            <a:lstStyle/>
            <a:p>
              <a:pPr algn="ctr"/>
              <a:r>
                <a:rPr lang="pt-BR" dirty="0"/>
                <a:t>Saída ou inferência</a:t>
              </a:r>
              <a:endParaRPr lang="pt-BR" b="1" dirty="0">
                <a:solidFill>
                  <a:srgbClr val="FF0000"/>
                </a:solidFill>
              </a:endParaRPr>
            </a:p>
          </p:txBody>
        </p:sp>
        <mc:AlternateContent xmlns:mc="http://schemas.openxmlformats.org/markup-compatibility/2006" xmlns:a14="http://schemas.microsoft.com/office/drawing/2010/main">
          <mc:Choice Requires="a14">
            <p:sp>
              <p:nvSpPr>
                <p:cNvPr id="27" name="CaixaDeTexto 26">
                  <a:extLst>
                    <a:ext uri="{FF2B5EF4-FFF2-40B4-BE49-F238E27FC236}">
                      <a16:creationId xmlns:a16="http://schemas.microsoft.com/office/drawing/2014/main" id="{33FC6AED-12D8-69D4-01FE-7857F2F70EC0}"/>
                    </a:ext>
                  </a:extLst>
                </p:cNvPr>
                <p:cNvSpPr txBox="1"/>
                <p:nvPr/>
              </p:nvSpPr>
              <p:spPr>
                <a:xfrm>
                  <a:off x="129538" y="4548939"/>
                  <a:ext cx="3304095" cy="738664"/>
                </a:xfrm>
                <a:prstGeom prst="rect">
                  <a:avLst/>
                </a:prstGeom>
                <a:noFill/>
              </p:spPr>
              <p:txBody>
                <a:bodyPr wrap="square" rtlCol="0">
                  <a:spAutoFit/>
                </a:bodyPr>
                <a:lstStyle/>
                <a:p>
                  <a:pPr algn="ctr"/>
                  <a:r>
                    <a:rPr lang="pt-BR" sz="1400" b="1" i="1" dirty="0">
                      <a:solidFill>
                        <a:srgbClr val="00B050"/>
                      </a:solidFill>
                    </a:rPr>
                    <a:t>Qual é a estimativa de paletas vendidas quando a temperatura é de </a:t>
                  </a:r>
                  <a14:m>
                    <m:oMath xmlns:m="http://schemas.openxmlformats.org/officeDocument/2006/math">
                      <m:r>
                        <a:rPr lang="pt-BR" sz="1400" b="1" i="1" smtClean="0">
                          <a:solidFill>
                            <a:srgbClr val="00B050"/>
                          </a:solidFill>
                          <a:latin typeface="Cambria Math" panose="02040503050406030204" pitchFamily="18" charset="0"/>
                          <a:ea typeface="Cambria Math" panose="02040503050406030204" pitchFamily="18" charset="0"/>
                        </a:rPr>
                        <m:t>≈</m:t>
                      </m:r>
                    </m:oMath>
                  </a14:m>
                  <a:r>
                    <a:rPr lang="pt-BR" sz="1400" b="1" i="1" dirty="0">
                      <a:solidFill>
                        <a:srgbClr val="00B050"/>
                      </a:solidFill>
                    </a:rPr>
                    <a:t> 6 graus (valor não visto durante o treinamento)?</a:t>
                  </a:r>
                </a:p>
              </p:txBody>
            </p:sp>
          </mc:Choice>
          <mc:Fallback xmlns="">
            <p:sp>
              <p:nvSpPr>
                <p:cNvPr id="27" name="CaixaDeTexto 26">
                  <a:extLst>
                    <a:ext uri="{FF2B5EF4-FFF2-40B4-BE49-F238E27FC236}">
                      <a16:creationId xmlns:a16="http://schemas.microsoft.com/office/drawing/2014/main" id="{33FC6AED-12D8-69D4-01FE-7857F2F70EC0}"/>
                    </a:ext>
                  </a:extLst>
                </p:cNvPr>
                <p:cNvSpPr txBox="1">
                  <a:spLocks noRot="1" noChangeAspect="1" noMove="1" noResize="1" noEditPoints="1" noAdjustHandles="1" noChangeArrowheads="1" noChangeShapeType="1" noTextEdit="1"/>
                </p:cNvSpPr>
                <p:nvPr/>
              </p:nvSpPr>
              <p:spPr>
                <a:xfrm>
                  <a:off x="129538" y="4548939"/>
                  <a:ext cx="3304095" cy="738664"/>
                </a:xfrm>
                <a:prstGeom prst="rect">
                  <a:avLst/>
                </a:prstGeom>
                <a:blipFill>
                  <a:blip r:embed="rId3"/>
                  <a:stretch>
                    <a:fillRect t="-1653" b="-8264"/>
                  </a:stretch>
                </a:blipFill>
              </p:spPr>
              <p:txBody>
                <a:bodyPr/>
                <a:lstStyle/>
                <a:p>
                  <a:r>
                    <a:rPr lang="pt-BR">
                      <a:noFill/>
                    </a:rPr>
                    <a:t> </a:t>
                  </a:r>
                </a:p>
              </p:txBody>
            </p:sp>
          </mc:Fallback>
        </mc:AlternateContent>
        <p:sp>
          <p:nvSpPr>
            <p:cNvPr id="29" name="CaixaDeTexto 28">
              <a:extLst>
                <a:ext uri="{FF2B5EF4-FFF2-40B4-BE49-F238E27FC236}">
                  <a16:creationId xmlns:a16="http://schemas.microsoft.com/office/drawing/2014/main" id="{6330BD9E-096B-426F-F26D-E85D0A9C38E6}"/>
                </a:ext>
              </a:extLst>
            </p:cNvPr>
            <p:cNvSpPr txBox="1"/>
            <p:nvPr/>
          </p:nvSpPr>
          <p:spPr>
            <a:xfrm>
              <a:off x="4043676" y="3109950"/>
              <a:ext cx="827999" cy="369332"/>
            </a:xfrm>
            <a:prstGeom prst="rect">
              <a:avLst/>
            </a:prstGeom>
            <a:noFill/>
          </p:spPr>
          <p:txBody>
            <a:bodyPr wrap="square">
              <a:spAutoFit/>
            </a:bodyPr>
            <a:lstStyle/>
            <a:p>
              <a:pPr algn="ctr"/>
              <a:r>
                <a:rPr lang="pt-BR" sz="1800" dirty="0">
                  <a:solidFill>
                    <a:srgbClr val="FF0000"/>
                  </a:solidFill>
                </a:rPr>
                <a:t>6</a:t>
              </a:r>
              <a:endParaRPr lang="pt-BR" dirty="0">
                <a:solidFill>
                  <a:srgbClr val="FF0000"/>
                </a:solidFill>
              </a:endParaRPr>
            </a:p>
          </p:txBody>
        </p:sp>
        <p:sp>
          <p:nvSpPr>
            <p:cNvPr id="30" name="CaixaDeTexto 29">
              <a:extLst>
                <a:ext uri="{FF2B5EF4-FFF2-40B4-BE49-F238E27FC236}">
                  <a16:creationId xmlns:a16="http://schemas.microsoft.com/office/drawing/2014/main" id="{539D4C0F-5A25-B1AE-77C4-1387B2C44B76}"/>
                </a:ext>
              </a:extLst>
            </p:cNvPr>
            <p:cNvSpPr txBox="1"/>
            <p:nvPr/>
          </p:nvSpPr>
          <p:spPr>
            <a:xfrm>
              <a:off x="6782118" y="3117580"/>
              <a:ext cx="828001" cy="369332"/>
            </a:xfrm>
            <a:prstGeom prst="rect">
              <a:avLst/>
            </a:prstGeom>
            <a:noFill/>
          </p:spPr>
          <p:txBody>
            <a:bodyPr wrap="square">
              <a:spAutoFit/>
            </a:bodyPr>
            <a:lstStyle/>
            <a:p>
              <a:pPr algn="ctr"/>
              <a:r>
                <a:rPr lang="pt-BR" dirty="0">
                  <a:solidFill>
                    <a:srgbClr val="FF0000"/>
                  </a:solidFill>
                </a:rPr>
                <a:t>21</a:t>
              </a:r>
            </a:p>
          </p:txBody>
        </p:sp>
        <p:grpSp>
          <p:nvGrpSpPr>
            <p:cNvPr id="36" name="Agrupar 35">
              <a:extLst>
                <a:ext uri="{FF2B5EF4-FFF2-40B4-BE49-F238E27FC236}">
                  <a16:creationId xmlns:a16="http://schemas.microsoft.com/office/drawing/2014/main" id="{1A6A15E3-E326-F525-832C-F40AEF35FD53}"/>
                </a:ext>
              </a:extLst>
            </p:cNvPr>
            <p:cNvGrpSpPr/>
            <p:nvPr/>
          </p:nvGrpSpPr>
          <p:grpSpPr>
            <a:xfrm>
              <a:off x="186025" y="2574959"/>
              <a:ext cx="2861802" cy="2013028"/>
              <a:chOff x="126016" y="4182282"/>
              <a:chExt cx="2861802" cy="2013028"/>
            </a:xfrm>
          </p:grpSpPr>
          <p:pic>
            <p:nvPicPr>
              <p:cNvPr id="35" name="Picture 2">
                <a:extLst>
                  <a:ext uri="{FF2B5EF4-FFF2-40B4-BE49-F238E27FC236}">
                    <a16:creationId xmlns:a16="http://schemas.microsoft.com/office/drawing/2014/main" id="{2A0CE568-3641-CBBF-E5AE-0F7516F7728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16" r="1714"/>
              <a:stretch/>
            </p:blipFill>
            <p:spPr bwMode="auto">
              <a:xfrm>
                <a:off x="126016" y="4182282"/>
                <a:ext cx="2861802" cy="2013028"/>
              </a:xfrm>
              <a:prstGeom prst="rect">
                <a:avLst/>
              </a:prstGeom>
              <a:noFill/>
              <a:extLst>
                <a:ext uri="{909E8E84-426E-40DD-AFC4-6F175D3DCCD1}">
                  <a14:hiddenFill xmlns:a14="http://schemas.microsoft.com/office/drawing/2010/main">
                    <a:solidFill>
                      <a:srgbClr val="FFFFFF"/>
                    </a:solidFill>
                  </a14:hiddenFill>
                </a:ext>
              </a:extLst>
            </p:spPr>
          </p:pic>
          <p:cxnSp>
            <p:nvCxnSpPr>
              <p:cNvPr id="9" name="Conector reto 8">
                <a:extLst>
                  <a:ext uri="{FF2B5EF4-FFF2-40B4-BE49-F238E27FC236}">
                    <a16:creationId xmlns:a16="http://schemas.microsoft.com/office/drawing/2014/main" id="{5CDDCA79-6D29-DCE9-D80C-8C4EF91FD287}"/>
                  </a:ext>
                </a:extLst>
              </p:cNvPr>
              <p:cNvCxnSpPr>
                <a:cxnSpLocks/>
              </p:cNvCxnSpPr>
              <p:nvPr/>
            </p:nvCxnSpPr>
            <p:spPr>
              <a:xfrm>
                <a:off x="921532" y="4434654"/>
                <a:ext cx="0" cy="1476000"/>
              </a:xfrm>
              <a:prstGeom prst="line">
                <a:avLst/>
              </a:prstGeom>
              <a:ln w="12700">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31" name="CaixaDeTexto 30">
                <a:extLst>
                  <a:ext uri="{FF2B5EF4-FFF2-40B4-BE49-F238E27FC236}">
                    <a16:creationId xmlns:a16="http://schemas.microsoft.com/office/drawing/2014/main" id="{F5E30D89-E0D0-71E5-687B-CCB6FD038244}"/>
                  </a:ext>
                </a:extLst>
              </p:cNvPr>
              <p:cNvSpPr txBox="1"/>
              <p:nvPr/>
            </p:nvSpPr>
            <p:spPr>
              <a:xfrm>
                <a:off x="814753" y="5869491"/>
                <a:ext cx="213557" cy="261610"/>
              </a:xfrm>
              <a:prstGeom prst="rect">
                <a:avLst/>
              </a:prstGeom>
              <a:noFill/>
            </p:spPr>
            <p:txBody>
              <a:bodyPr wrap="square">
                <a:spAutoFit/>
              </a:bodyPr>
              <a:lstStyle/>
              <a:p>
                <a:pPr algn="ctr"/>
                <a:r>
                  <a:rPr lang="pt-BR" sz="1050" dirty="0">
                    <a:solidFill>
                      <a:srgbClr val="FF0000"/>
                    </a:solidFill>
                  </a:rPr>
                  <a:t>6</a:t>
                </a:r>
              </a:p>
            </p:txBody>
          </p:sp>
        </p:grpSp>
        <p:sp>
          <p:nvSpPr>
            <p:cNvPr id="34" name="CaixaDeTexto 33">
              <a:extLst>
                <a:ext uri="{FF2B5EF4-FFF2-40B4-BE49-F238E27FC236}">
                  <a16:creationId xmlns:a16="http://schemas.microsoft.com/office/drawing/2014/main" id="{91C4D063-7664-1260-F4EF-0FF568DA02AA}"/>
                </a:ext>
              </a:extLst>
            </p:cNvPr>
            <p:cNvSpPr txBox="1"/>
            <p:nvPr/>
          </p:nvSpPr>
          <p:spPr>
            <a:xfrm>
              <a:off x="4083494" y="4028957"/>
              <a:ext cx="3484701" cy="523220"/>
            </a:xfrm>
            <a:prstGeom prst="rect">
              <a:avLst/>
            </a:prstGeom>
            <a:noFill/>
          </p:spPr>
          <p:txBody>
            <a:bodyPr wrap="square" rtlCol="0">
              <a:spAutoFit/>
            </a:bodyPr>
            <a:lstStyle/>
            <a:p>
              <a:pPr algn="ctr"/>
              <a:r>
                <a:rPr lang="pt-BR" sz="1400" b="1" i="1" dirty="0">
                  <a:solidFill>
                    <a:srgbClr val="00B050"/>
                  </a:solidFill>
                </a:rPr>
                <a:t>O modelo aprendeu que uma reta é um </a:t>
              </a:r>
              <a:r>
                <a:rPr lang="pt-BR" sz="1400" b="1" i="1" dirty="0">
                  <a:solidFill>
                    <a:srgbClr val="7030A0"/>
                  </a:solidFill>
                </a:rPr>
                <a:t>bom</a:t>
              </a:r>
              <a:r>
                <a:rPr lang="pt-BR" sz="1400" b="1" i="1" dirty="0">
                  <a:solidFill>
                    <a:srgbClr val="00B050"/>
                  </a:solidFill>
                </a:rPr>
                <a:t> mapeamento.</a:t>
              </a:r>
            </a:p>
          </p:txBody>
        </p:sp>
        <p:sp>
          <p:nvSpPr>
            <p:cNvPr id="59" name="CaixaDeTexto 58">
              <a:extLst>
                <a:ext uri="{FF2B5EF4-FFF2-40B4-BE49-F238E27FC236}">
                  <a16:creationId xmlns:a16="http://schemas.microsoft.com/office/drawing/2014/main" id="{7A0CE6F8-0566-7F88-89AF-A69DC4F872DC}"/>
                </a:ext>
              </a:extLst>
            </p:cNvPr>
            <p:cNvSpPr txBox="1"/>
            <p:nvPr/>
          </p:nvSpPr>
          <p:spPr>
            <a:xfrm>
              <a:off x="8275020" y="4552177"/>
              <a:ext cx="3793692" cy="738664"/>
            </a:xfrm>
            <a:prstGeom prst="rect">
              <a:avLst/>
            </a:prstGeom>
            <a:noFill/>
          </p:spPr>
          <p:txBody>
            <a:bodyPr wrap="square" rtlCol="0">
              <a:spAutoFit/>
            </a:bodyPr>
            <a:lstStyle/>
            <a:p>
              <a:pPr algn="ctr"/>
              <a:r>
                <a:rPr lang="pt-BR" sz="1400" b="1" i="1" dirty="0">
                  <a:solidFill>
                    <a:srgbClr val="00B050"/>
                  </a:solidFill>
                </a:rPr>
                <a:t>A partir do mapeamento aprendido (reta), o modelo gera como saída o valor 21, que é coerente com o restante dos dados.</a:t>
              </a:r>
            </a:p>
          </p:txBody>
        </p:sp>
        <p:grpSp>
          <p:nvGrpSpPr>
            <p:cNvPr id="11" name="Agrupar 10">
              <a:extLst>
                <a:ext uri="{FF2B5EF4-FFF2-40B4-BE49-F238E27FC236}">
                  <a16:creationId xmlns:a16="http://schemas.microsoft.com/office/drawing/2014/main" id="{CD8A6BB2-4890-A94B-9877-E9C973A58567}"/>
                </a:ext>
              </a:extLst>
            </p:cNvPr>
            <p:cNvGrpSpPr/>
            <p:nvPr/>
          </p:nvGrpSpPr>
          <p:grpSpPr>
            <a:xfrm>
              <a:off x="8617979" y="2559857"/>
              <a:ext cx="2948745" cy="2010947"/>
              <a:chOff x="8950873" y="2545355"/>
              <a:chExt cx="2948745" cy="2010947"/>
            </a:xfrm>
          </p:grpSpPr>
          <p:grpSp>
            <p:nvGrpSpPr>
              <p:cNvPr id="6" name="Agrupar 5">
                <a:extLst>
                  <a:ext uri="{FF2B5EF4-FFF2-40B4-BE49-F238E27FC236}">
                    <a16:creationId xmlns:a16="http://schemas.microsoft.com/office/drawing/2014/main" id="{52BF4D7F-2CA2-62F8-9BE4-DD9F2B339365}"/>
                  </a:ext>
                </a:extLst>
              </p:cNvPr>
              <p:cNvGrpSpPr/>
              <p:nvPr/>
            </p:nvGrpSpPr>
            <p:grpSpPr>
              <a:xfrm>
                <a:off x="8950873" y="2545355"/>
                <a:ext cx="2948745" cy="2010947"/>
                <a:chOff x="8367252" y="3883682"/>
                <a:chExt cx="2948745" cy="2010947"/>
              </a:xfrm>
            </p:grpSpPr>
            <p:pic>
              <p:nvPicPr>
                <p:cNvPr id="7" name="Imagem 6">
                  <a:extLst>
                    <a:ext uri="{FF2B5EF4-FFF2-40B4-BE49-F238E27FC236}">
                      <a16:creationId xmlns:a16="http://schemas.microsoft.com/office/drawing/2014/main" id="{101C69F6-520F-96EC-5E9F-BCAF39C84B33}"/>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3463" t="9957" r="8514"/>
                <a:stretch/>
              </p:blipFill>
              <p:spPr>
                <a:xfrm>
                  <a:off x="8367252" y="3883682"/>
                  <a:ext cx="2948745" cy="2010947"/>
                </a:xfrm>
                <a:prstGeom prst="rect">
                  <a:avLst/>
                </a:prstGeom>
              </p:spPr>
            </p:pic>
            <p:cxnSp>
              <p:nvCxnSpPr>
                <p:cNvPr id="8" name="Conector reto 7">
                  <a:extLst>
                    <a:ext uri="{FF2B5EF4-FFF2-40B4-BE49-F238E27FC236}">
                      <a16:creationId xmlns:a16="http://schemas.microsoft.com/office/drawing/2014/main" id="{293481F6-7067-7574-5F3C-3820E58598AB}"/>
                    </a:ext>
                  </a:extLst>
                </p:cNvPr>
                <p:cNvCxnSpPr>
                  <a:cxnSpLocks/>
                </p:cNvCxnSpPr>
                <p:nvPr/>
              </p:nvCxnSpPr>
              <p:spPr>
                <a:xfrm>
                  <a:off x="9162852" y="5293244"/>
                  <a:ext cx="0" cy="360000"/>
                </a:xfrm>
                <a:prstGeom prst="line">
                  <a:avLst/>
                </a:prstGeom>
                <a:ln w="12700">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10" name="CaixaDeTexto 9">
                  <a:extLst>
                    <a:ext uri="{FF2B5EF4-FFF2-40B4-BE49-F238E27FC236}">
                      <a16:creationId xmlns:a16="http://schemas.microsoft.com/office/drawing/2014/main" id="{662738E1-6CDB-7CA5-31F9-5BCD2D5A2DD8}"/>
                    </a:ext>
                  </a:extLst>
                </p:cNvPr>
                <p:cNvSpPr txBox="1"/>
                <p:nvPr/>
              </p:nvSpPr>
              <p:spPr>
                <a:xfrm>
                  <a:off x="9056073" y="5606014"/>
                  <a:ext cx="213557" cy="261610"/>
                </a:xfrm>
                <a:prstGeom prst="rect">
                  <a:avLst/>
                </a:prstGeom>
                <a:noFill/>
              </p:spPr>
              <p:txBody>
                <a:bodyPr wrap="square">
                  <a:spAutoFit/>
                </a:bodyPr>
                <a:lstStyle/>
                <a:p>
                  <a:pPr algn="ctr"/>
                  <a:r>
                    <a:rPr lang="pt-BR" sz="1050" dirty="0">
                      <a:solidFill>
                        <a:srgbClr val="FF0000"/>
                      </a:solidFill>
                    </a:rPr>
                    <a:t>6</a:t>
                  </a:r>
                </a:p>
              </p:txBody>
            </p:sp>
          </p:grpSp>
          <p:grpSp>
            <p:nvGrpSpPr>
              <p:cNvPr id="55" name="Agrupar 54">
                <a:extLst>
                  <a:ext uri="{FF2B5EF4-FFF2-40B4-BE49-F238E27FC236}">
                    <a16:creationId xmlns:a16="http://schemas.microsoft.com/office/drawing/2014/main" id="{6DFD4159-05F0-AA5F-E5AF-8812ADBB7F4D}"/>
                  </a:ext>
                </a:extLst>
              </p:cNvPr>
              <p:cNvGrpSpPr>
                <a:grpSpLocks noChangeAspect="1"/>
              </p:cNvGrpSpPr>
              <p:nvPr/>
            </p:nvGrpSpPr>
            <p:grpSpPr>
              <a:xfrm>
                <a:off x="9729806" y="3933640"/>
                <a:ext cx="36000" cy="36000"/>
                <a:chOff x="11557842" y="4567654"/>
                <a:chExt cx="280014" cy="280014"/>
              </a:xfrm>
            </p:grpSpPr>
            <p:cxnSp>
              <p:nvCxnSpPr>
                <p:cNvPr id="47" name="Conector reto 46">
                  <a:extLst>
                    <a:ext uri="{FF2B5EF4-FFF2-40B4-BE49-F238E27FC236}">
                      <a16:creationId xmlns:a16="http://schemas.microsoft.com/office/drawing/2014/main" id="{F93A44DD-0490-076B-C58B-66975D7F66F3}"/>
                    </a:ext>
                  </a:extLst>
                </p:cNvPr>
                <p:cNvCxnSpPr>
                  <a:cxnSpLocks/>
                </p:cNvCxnSpPr>
                <p:nvPr/>
              </p:nvCxnSpPr>
              <p:spPr>
                <a:xfrm>
                  <a:off x="11557842" y="4567654"/>
                  <a:ext cx="280014" cy="280014"/>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4" name="Conector reto 53">
                  <a:extLst>
                    <a:ext uri="{FF2B5EF4-FFF2-40B4-BE49-F238E27FC236}">
                      <a16:creationId xmlns:a16="http://schemas.microsoft.com/office/drawing/2014/main" id="{ADD05E9C-618B-C77C-3016-1E8B72CCE174}"/>
                    </a:ext>
                  </a:extLst>
                </p:cNvPr>
                <p:cNvCxnSpPr>
                  <a:cxnSpLocks/>
                </p:cNvCxnSpPr>
                <p:nvPr/>
              </p:nvCxnSpPr>
              <p:spPr>
                <a:xfrm flipH="1">
                  <a:off x="11557842" y="4567654"/>
                  <a:ext cx="280014" cy="280014"/>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grpSp>
        <p:cxnSp>
          <p:nvCxnSpPr>
            <p:cNvPr id="33" name="Conector de Seta Reta 32">
              <a:extLst>
                <a:ext uri="{FF2B5EF4-FFF2-40B4-BE49-F238E27FC236}">
                  <a16:creationId xmlns:a16="http://schemas.microsoft.com/office/drawing/2014/main" id="{5F1A6BC8-8443-4FA2-7696-1587BF08972D}"/>
                </a:ext>
              </a:extLst>
            </p:cNvPr>
            <p:cNvCxnSpPr>
              <a:cxnSpLocks/>
            </p:cNvCxnSpPr>
            <p:nvPr/>
          </p:nvCxnSpPr>
          <p:spPr>
            <a:xfrm>
              <a:off x="7251838" y="3524703"/>
              <a:ext cx="2046365" cy="42262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reto 13">
              <a:extLst>
                <a:ext uri="{FF2B5EF4-FFF2-40B4-BE49-F238E27FC236}">
                  <a16:creationId xmlns:a16="http://schemas.microsoft.com/office/drawing/2014/main" id="{5E9B5479-FF18-4E4A-C4C3-F667BA554379}"/>
                </a:ext>
              </a:extLst>
            </p:cNvPr>
            <p:cNvCxnSpPr>
              <a:cxnSpLocks/>
            </p:cNvCxnSpPr>
            <p:nvPr/>
          </p:nvCxnSpPr>
          <p:spPr>
            <a:xfrm flipH="1" flipV="1">
              <a:off x="8918575" y="3966142"/>
              <a:ext cx="495003" cy="2833"/>
            </a:xfrm>
            <a:prstGeom prst="line">
              <a:avLst/>
            </a:prstGeom>
            <a:ln w="12700">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sp>
        <p:nvSpPr>
          <p:cNvPr id="3" name="Elipse 2">
            <a:extLst>
              <a:ext uri="{FF2B5EF4-FFF2-40B4-BE49-F238E27FC236}">
                <a16:creationId xmlns:a16="http://schemas.microsoft.com/office/drawing/2014/main" id="{6900A132-5DF0-BAC9-8C73-5E6414020F81}"/>
              </a:ext>
            </a:extLst>
          </p:cNvPr>
          <p:cNvSpPr/>
          <p:nvPr/>
        </p:nvSpPr>
        <p:spPr>
          <a:xfrm>
            <a:off x="7086599" y="4041657"/>
            <a:ext cx="425451" cy="274373"/>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CaixaDeTexto 3">
            <a:extLst>
              <a:ext uri="{FF2B5EF4-FFF2-40B4-BE49-F238E27FC236}">
                <a16:creationId xmlns:a16="http://schemas.microsoft.com/office/drawing/2014/main" id="{90664F4E-5D5B-E670-5362-74C1E9BDB412}"/>
              </a:ext>
            </a:extLst>
          </p:cNvPr>
          <p:cNvSpPr txBox="1"/>
          <p:nvPr/>
        </p:nvSpPr>
        <p:spPr>
          <a:xfrm>
            <a:off x="3840480" y="5616484"/>
            <a:ext cx="4511040" cy="800219"/>
          </a:xfrm>
          <a:prstGeom prst="rect">
            <a:avLst/>
          </a:prstGeom>
          <a:noFill/>
        </p:spPr>
        <p:txBody>
          <a:bodyPr wrap="square" rtlCol="0">
            <a:spAutoFit/>
          </a:bodyPr>
          <a:lstStyle/>
          <a:p>
            <a:pPr algn="ctr"/>
            <a:r>
              <a:rPr lang="pt-BR" b="1" dirty="0">
                <a:solidFill>
                  <a:srgbClr val="7030A0"/>
                </a:solidFill>
              </a:rPr>
              <a:t>No sentido da minimização do erro </a:t>
            </a:r>
            <a:r>
              <a:rPr lang="pt-BR" sz="2800" b="1" dirty="0">
                <a:solidFill>
                  <a:srgbClr val="FF0000"/>
                </a:solidFill>
              </a:rPr>
              <a:t>E </a:t>
            </a:r>
            <a:r>
              <a:rPr lang="pt-BR" b="1" dirty="0">
                <a:solidFill>
                  <a:srgbClr val="7030A0"/>
                </a:solidFill>
              </a:rPr>
              <a:t>de ter uma boa capacidade de generalização.</a:t>
            </a:r>
          </a:p>
        </p:txBody>
      </p:sp>
      <p:cxnSp>
        <p:nvCxnSpPr>
          <p:cNvPr id="12" name="Conector de Seta Reta 11">
            <a:extLst>
              <a:ext uri="{FF2B5EF4-FFF2-40B4-BE49-F238E27FC236}">
                <a16:creationId xmlns:a16="http://schemas.microsoft.com/office/drawing/2014/main" id="{1BFC2765-B519-77A4-84F6-6A57F1B2DACE}"/>
              </a:ext>
            </a:extLst>
          </p:cNvPr>
          <p:cNvCxnSpPr>
            <a:stCxn id="3" idx="4"/>
            <a:endCxn id="4" idx="0"/>
          </p:cNvCxnSpPr>
          <p:nvPr/>
        </p:nvCxnSpPr>
        <p:spPr>
          <a:xfrm flipH="1">
            <a:off x="6096000" y="4316030"/>
            <a:ext cx="1203325" cy="130045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71921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55BD9F-A5F9-C006-2D60-3988AFB742AA}"/>
              </a:ext>
            </a:extLst>
          </p:cNvPr>
          <p:cNvSpPr>
            <a:spLocks noGrp="1"/>
          </p:cNvSpPr>
          <p:nvPr>
            <p:ph type="title"/>
          </p:nvPr>
        </p:nvSpPr>
        <p:spPr/>
        <p:txBody>
          <a:bodyPr/>
          <a:lstStyle/>
          <a:p>
            <a:r>
              <a:rPr lang="pt-BR" dirty="0"/>
              <a:t>Atividades</a:t>
            </a:r>
          </a:p>
        </p:txBody>
      </p:sp>
      <p:sp>
        <p:nvSpPr>
          <p:cNvPr id="3" name="Espaço Reservado para Conteúdo 2">
            <a:extLst>
              <a:ext uri="{FF2B5EF4-FFF2-40B4-BE49-F238E27FC236}">
                <a16:creationId xmlns:a16="http://schemas.microsoft.com/office/drawing/2014/main" id="{DE398648-3AD3-9986-3010-6210876DC9B1}"/>
              </a:ext>
            </a:extLst>
          </p:cNvPr>
          <p:cNvSpPr>
            <a:spLocks noGrp="1"/>
          </p:cNvSpPr>
          <p:nvPr>
            <p:ph idx="1"/>
          </p:nvPr>
        </p:nvSpPr>
        <p:spPr/>
        <p:txBody>
          <a:bodyPr/>
          <a:lstStyle/>
          <a:p>
            <a:r>
              <a:rPr lang="pt-BR" dirty="0"/>
              <a:t>Quiz: “</a:t>
            </a:r>
            <a:r>
              <a:rPr lang="pt-BR" b="1" i="1" dirty="0">
                <a:effectLst/>
              </a:rPr>
              <a:t>TP557 - O Paradigma do Aprendizado de Máquina</a:t>
            </a:r>
            <a:r>
              <a:rPr lang="pt-BR" dirty="0"/>
              <a:t>”.</a:t>
            </a:r>
          </a:p>
        </p:txBody>
      </p:sp>
    </p:spTree>
    <p:extLst>
      <p:ext uri="{BB962C8B-B14F-4D97-AF65-F5344CB8AC3E}">
        <p14:creationId xmlns:p14="http://schemas.microsoft.com/office/powerpoint/2010/main" val="29185202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32666AC8-2E17-4DB4-B0F5-60C640CCFD2E}"/>
              </a:ext>
            </a:extLst>
          </p:cNvPr>
          <p:cNvSpPr txBox="1">
            <a:spLocks/>
          </p:cNvSpPr>
          <p:nvPr/>
        </p:nvSpPr>
        <p:spPr>
          <a:xfrm>
            <a:off x="1431533" y="2720526"/>
            <a:ext cx="9144000" cy="10295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6600" dirty="0"/>
              <a:t>Perguntas?</a:t>
            </a:r>
            <a:endParaRPr lang="pt-BR" sz="6600" b="1" i="1" dirty="0"/>
          </a:p>
        </p:txBody>
      </p:sp>
    </p:spTree>
    <p:extLst>
      <p:ext uri="{BB962C8B-B14F-4D97-AF65-F5344CB8AC3E}">
        <p14:creationId xmlns:p14="http://schemas.microsoft.com/office/powerpoint/2010/main" val="19759815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32666AC8-2E17-4DB4-B0F5-60C640CCFD2E}"/>
              </a:ext>
            </a:extLst>
          </p:cNvPr>
          <p:cNvSpPr txBox="1">
            <a:spLocks/>
          </p:cNvSpPr>
          <p:nvPr/>
        </p:nvSpPr>
        <p:spPr>
          <a:xfrm>
            <a:off x="1431533" y="2720526"/>
            <a:ext cx="9144000" cy="10295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6600" dirty="0"/>
              <a:t>Obrigado!</a:t>
            </a:r>
            <a:endParaRPr lang="pt-BR" sz="6600" b="1" i="1" dirty="0"/>
          </a:p>
        </p:txBody>
      </p:sp>
    </p:spTree>
    <p:extLst>
      <p:ext uri="{BB962C8B-B14F-4D97-AF65-F5344CB8AC3E}">
        <p14:creationId xmlns:p14="http://schemas.microsoft.com/office/powerpoint/2010/main" val="5991458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Agrupar 3">
            <a:extLst>
              <a:ext uri="{FF2B5EF4-FFF2-40B4-BE49-F238E27FC236}">
                <a16:creationId xmlns:a16="http://schemas.microsoft.com/office/drawing/2014/main" id="{F13C674A-ABCA-0077-09B4-52385C09E4C3}"/>
              </a:ext>
            </a:extLst>
          </p:cNvPr>
          <p:cNvGrpSpPr/>
          <p:nvPr/>
        </p:nvGrpSpPr>
        <p:grpSpPr>
          <a:xfrm>
            <a:off x="3440214" y="2034381"/>
            <a:ext cx="4730868" cy="3031571"/>
            <a:chOff x="3440214" y="2034381"/>
            <a:chExt cx="4730868" cy="3031571"/>
          </a:xfrm>
        </p:grpSpPr>
        <p:sp>
          <p:nvSpPr>
            <p:cNvPr id="15" name="Retângulo 14">
              <a:extLst>
                <a:ext uri="{FF2B5EF4-FFF2-40B4-BE49-F238E27FC236}">
                  <a16:creationId xmlns:a16="http://schemas.microsoft.com/office/drawing/2014/main" id="{757D62A8-E829-B2D0-D5BA-C249B2A0B3DA}"/>
                </a:ext>
              </a:extLst>
            </p:cNvPr>
            <p:cNvSpPr/>
            <p:nvPr/>
          </p:nvSpPr>
          <p:spPr>
            <a:xfrm>
              <a:off x="3708815" y="2686164"/>
              <a:ext cx="463575" cy="1935842"/>
            </a:xfrm>
            <a:prstGeom prst="rect">
              <a:avLst/>
            </a:prstGeom>
            <a:solidFill>
              <a:schemeClr val="accent1">
                <a:alpha val="41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Imagem 4">
              <a:extLst>
                <a:ext uri="{FF2B5EF4-FFF2-40B4-BE49-F238E27FC236}">
                  <a16:creationId xmlns:a16="http://schemas.microsoft.com/office/drawing/2014/main" id="{F999CBE6-C740-A61F-1472-ECC6C9421B80}"/>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4703" b="4769"/>
            <a:stretch/>
          </p:blipFill>
          <p:spPr>
            <a:xfrm>
              <a:off x="4534205" y="2691704"/>
              <a:ext cx="1438041" cy="869437"/>
            </a:xfrm>
            <a:prstGeom prst="rect">
              <a:avLst/>
            </a:prstGeom>
          </p:spPr>
        </p:pic>
        <p:cxnSp>
          <p:nvCxnSpPr>
            <p:cNvPr id="6" name="Straight Arrow Connector 14">
              <a:extLst>
                <a:ext uri="{FF2B5EF4-FFF2-40B4-BE49-F238E27FC236}">
                  <a16:creationId xmlns:a16="http://schemas.microsoft.com/office/drawing/2014/main" id="{389BC68B-3077-CF87-A54A-164DA0235689}"/>
                </a:ext>
              </a:extLst>
            </p:cNvPr>
            <p:cNvCxnSpPr>
              <a:cxnSpLocks/>
            </p:cNvCxnSpPr>
            <p:nvPr/>
          </p:nvCxnSpPr>
          <p:spPr>
            <a:xfrm>
              <a:off x="4176814" y="3127539"/>
              <a:ext cx="360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14">
              <a:extLst>
                <a:ext uri="{FF2B5EF4-FFF2-40B4-BE49-F238E27FC236}">
                  <a16:creationId xmlns:a16="http://schemas.microsoft.com/office/drawing/2014/main" id="{9D8C7367-F572-8B3D-D511-4108942974DC}"/>
                </a:ext>
              </a:extLst>
            </p:cNvPr>
            <p:cNvCxnSpPr>
              <a:cxnSpLocks/>
            </p:cNvCxnSpPr>
            <p:nvPr/>
          </p:nvCxnSpPr>
          <p:spPr>
            <a:xfrm>
              <a:off x="5973245" y="3123247"/>
              <a:ext cx="576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8" name="Rectangle 12">
              <a:extLst>
                <a:ext uri="{FF2B5EF4-FFF2-40B4-BE49-F238E27FC236}">
                  <a16:creationId xmlns:a16="http://schemas.microsoft.com/office/drawing/2014/main" id="{5937F31E-D79C-D921-50AE-B3AF4B2E0808}"/>
                </a:ext>
              </a:extLst>
            </p:cNvPr>
            <p:cNvSpPr/>
            <p:nvPr/>
          </p:nvSpPr>
          <p:spPr>
            <a:xfrm>
              <a:off x="6554520" y="2686163"/>
              <a:ext cx="1216818" cy="8490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Função de erro</a:t>
              </a:r>
            </a:p>
          </p:txBody>
        </p:sp>
        <mc:AlternateContent xmlns:mc="http://schemas.openxmlformats.org/markup-compatibility/2006" xmlns:a14="http://schemas.microsoft.com/office/drawing/2010/main">
          <mc:Choice Requires="a14">
            <p:sp>
              <p:nvSpPr>
                <p:cNvPr id="9" name="CaixaDeTexto 8">
                  <a:extLst>
                    <a:ext uri="{FF2B5EF4-FFF2-40B4-BE49-F238E27FC236}">
                      <a16:creationId xmlns:a16="http://schemas.microsoft.com/office/drawing/2014/main" id="{DA4ABC62-C35B-9FE0-837A-4791504D8B0C}"/>
                    </a:ext>
                  </a:extLst>
                </p:cNvPr>
                <p:cNvSpPr txBox="1"/>
                <p:nvPr/>
              </p:nvSpPr>
              <p:spPr>
                <a:xfrm flipH="1">
                  <a:off x="3719614" y="2818318"/>
                  <a:ext cx="467999"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pt-BR" sz="2400" b="1" i="1" smtClean="0">
                            <a:latin typeface="Cambria Math" panose="02040503050406030204" pitchFamily="18" charset="0"/>
                          </a:rPr>
                          <m:t>𝒙</m:t>
                        </m:r>
                      </m:oMath>
                    </m:oMathPara>
                  </a14:m>
                  <a:endParaRPr lang="pt-BR" sz="2400" b="1" dirty="0"/>
                </a:p>
              </p:txBody>
            </p:sp>
          </mc:Choice>
          <mc:Fallback xmlns="">
            <p:sp>
              <p:nvSpPr>
                <p:cNvPr id="9" name="CaixaDeTexto 8">
                  <a:extLst>
                    <a:ext uri="{FF2B5EF4-FFF2-40B4-BE49-F238E27FC236}">
                      <a16:creationId xmlns:a16="http://schemas.microsoft.com/office/drawing/2014/main" id="{DA4ABC62-C35B-9FE0-837A-4791504D8B0C}"/>
                    </a:ext>
                  </a:extLst>
                </p:cNvPr>
                <p:cNvSpPr txBox="1">
                  <a:spLocks noRot="1" noChangeAspect="1" noMove="1" noResize="1" noEditPoints="1" noAdjustHandles="1" noChangeArrowheads="1" noChangeShapeType="1" noTextEdit="1"/>
                </p:cNvSpPr>
                <p:nvPr/>
              </p:nvSpPr>
              <p:spPr>
                <a:xfrm flipH="1">
                  <a:off x="3719614" y="2818318"/>
                  <a:ext cx="467999" cy="461665"/>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A5E5AD39-A7D5-E436-9BBF-FFF6ADD6FD8F}"/>
                    </a:ext>
                  </a:extLst>
                </p:cNvPr>
                <p:cNvSpPr txBox="1"/>
                <p:nvPr/>
              </p:nvSpPr>
              <p:spPr>
                <a:xfrm flipH="1">
                  <a:off x="3708815" y="4023518"/>
                  <a:ext cx="467999"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pt-BR" sz="2400" b="0" i="1" smtClean="0">
                            <a:latin typeface="Cambria Math" panose="02040503050406030204" pitchFamily="18" charset="0"/>
                          </a:rPr>
                          <m:t>𝑦</m:t>
                        </m:r>
                      </m:oMath>
                    </m:oMathPara>
                  </a14:m>
                  <a:endParaRPr lang="pt-BR" sz="2400" dirty="0"/>
                </a:p>
              </p:txBody>
            </p:sp>
          </mc:Choice>
          <mc:Fallback xmlns="">
            <p:sp>
              <p:nvSpPr>
                <p:cNvPr id="10" name="CaixaDeTexto 9">
                  <a:extLst>
                    <a:ext uri="{FF2B5EF4-FFF2-40B4-BE49-F238E27FC236}">
                      <a16:creationId xmlns:a16="http://schemas.microsoft.com/office/drawing/2014/main" id="{A5E5AD39-A7D5-E436-9BBF-FFF6ADD6FD8F}"/>
                    </a:ext>
                  </a:extLst>
                </p:cNvPr>
                <p:cNvSpPr txBox="1">
                  <a:spLocks noRot="1" noChangeAspect="1" noMove="1" noResize="1" noEditPoints="1" noAdjustHandles="1" noChangeArrowheads="1" noChangeShapeType="1" noTextEdit="1"/>
                </p:cNvSpPr>
                <p:nvPr/>
              </p:nvSpPr>
              <p:spPr>
                <a:xfrm flipH="1">
                  <a:off x="3708815" y="4023518"/>
                  <a:ext cx="467999" cy="461665"/>
                </a:xfrm>
                <a:prstGeom prst="rect">
                  <a:avLst/>
                </a:prstGeom>
                <a:blipFill>
                  <a:blip r:embed="rId5"/>
                  <a:stretch>
                    <a:fillRect b="-1052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1CE7135F-E568-D584-D67C-E15C08BC53CE}"/>
                    </a:ext>
                  </a:extLst>
                </p:cNvPr>
                <p:cNvSpPr txBox="1"/>
                <p:nvPr/>
              </p:nvSpPr>
              <p:spPr>
                <a:xfrm flipH="1">
                  <a:off x="5939999" y="2664758"/>
                  <a:ext cx="467999" cy="461665"/>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pt-BR" sz="2400" b="0" i="1" smtClean="0">
                                <a:latin typeface="Cambria Math" panose="02040503050406030204" pitchFamily="18" charset="0"/>
                              </a:rPr>
                            </m:ctrlPr>
                          </m:accPr>
                          <m:e>
                            <m:r>
                              <a:rPr lang="pt-BR" sz="2400" b="0" i="1" smtClean="0">
                                <a:latin typeface="Cambria Math" panose="02040503050406030204" pitchFamily="18" charset="0"/>
                              </a:rPr>
                              <m:t>𝑦</m:t>
                            </m:r>
                          </m:e>
                        </m:acc>
                      </m:oMath>
                    </m:oMathPara>
                  </a14:m>
                  <a:endParaRPr lang="pt-BR" sz="2400" dirty="0"/>
                </a:p>
              </p:txBody>
            </p:sp>
          </mc:Choice>
          <mc:Fallback xmlns="">
            <p:sp>
              <p:nvSpPr>
                <p:cNvPr id="11" name="CaixaDeTexto 10">
                  <a:extLst>
                    <a:ext uri="{FF2B5EF4-FFF2-40B4-BE49-F238E27FC236}">
                      <a16:creationId xmlns:a16="http://schemas.microsoft.com/office/drawing/2014/main" id="{1CE7135F-E568-D584-D67C-E15C08BC53CE}"/>
                    </a:ext>
                  </a:extLst>
                </p:cNvPr>
                <p:cNvSpPr txBox="1">
                  <a:spLocks noRot="1" noChangeAspect="1" noMove="1" noResize="1" noEditPoints="1" noAdjustHandles="1" noChangeArrowheads="1" noChangeShapeType="1" noTextEdit="1"/>
                </p:cNvSpPr>
                <p:nvPr/>
              </p:nvSpPr>
              <p:spPr>
                <a:xfrm flipH="1">
                  <a:off x="5939999" y="2664758"/>
                  <a:ext cx="467999" cy="461665"/>
                </a:xfrm>
                <a:prstGeom prst="rect">
                  <a:avLst/>
                </a:prstGeom>
                <a:blipFill>
                  <a:blip r:embed="rId6"/>
                  <a:stretch>
                    <a:fillRect t="-3947" r="-25974" b="-10526"/>
                  </a:stretch>
                </a:blipFill>
              </p:spPr>
              <p:txBody>
                <a:bodyPr/>
                <a:lstStyle/>
                <a:p>
                  <a:r>
                    <a:rPr lang="pt-BR">
                      <a:noFill/>
                    </a:rPr>
                    <a:t> </a:t>
                  </a:r>
                </a:p>
              </p:txBody>
            </p:sp>
          </mc:Fallback>
        </mc:AlternateContent>
        <p:cxnSp>
          <p:nvCxnSpPr>
            <p:cNvPr id="12" name="Conector: Angulado 11">
              <a:extLst>
                <a:ext uri="{FF2B5EF4-FFF2-40B4-BE49-F238E27FC236}">
                  <a16:creationId xmlns:a16="http://schemas.microsoft.com/office/drawing/2014/main" id="{A1A47383-9BDD-C795-08C5-3B1E6E4F1412}"/>
                </a:ext>
              </a:extLst>
            </p:cNvPr>
            <p:cNvCxnSpPr>
              <a:cxnSpLocks/>
              <a:stCxn id="10" idx="1"/>
              <a:endCxn id="8" idx="2"/>
            </p:cNvCxnSpPr>
            <p:nvPr/>
          </p:nvCxnSpPr>
          <p:spPr>
            <a:xfrm flipV="1">
              <a:off x="4176814" y="3535249"/>
              <a:ext cx="2986115" cy="71910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Conector: Angulado 12">
              <a:extLst>
                <a:ext uri="{FF2B5EF4-FFF2-40B4-BE49-F238E27FC236}">
                  <a16:creationId xmlns:a16="http://schemas.microsoft.com/office/drawing/2014/main" id="{39769B3D-7B38-812D-ADBD-24D90DC6FE0C}"/>
                </a:ext>
              </a:extLst>
            </p:cNvPr>
            <p:cNvCxnSpPr>
              <a:stCxn id="8" idx="3"/>
            </p:cNvCxnSpPr>
            <p:nvPr/>
          </p:nvCxnSpPr>
          <p:spPr>
            <a:xfrm flipH="1" flipV="1">
              <a:off x="5946110" y="2034381"/>
              <a:ext cx="1825228" cy="1076325"/>
            </a:xfrm>
            <a:prstGeom prst="bentConnector3">
              <a:avLst>
                <a:gd name="adj1" fmla="val -12524"/>
              </a:avLst>
            </a:prstGeom>
            <a:ln>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CaixaDeTexto 13">
              <a:extLst>
                <a:ext uri="{FF2B5EF4-FFF2-40B4-BE49-F238E27FC236}">
                  <a16:creationId xmlns:a16="http://schemas.microsoft.com/office/drawing/2014/main" id="{E6314D03-1C95-3944-FD75-C4E6785952A5}"/>
                </a:ext>
              </a:extLst>
            </p:cNvPr>
            <p:cNvSpPr txBox="1"/>
            <p:nvPr/>
          </p:nvSpPr>
          <p:spPr>
            <a:xfrm>
              <a:off x="4176814" y="3731131"/>
              <a:ext cx="1309262" cy="276999"/>
            </a:xfrm>
            <a:prstGeom prst="rect">
              <a:avLst/>
            </a:prstGeom>
            <a:noFill/>
          </p:spPr>
          <p:txBody>
            <a:bodyPr wrap="square" rtlCol="0">
              <a:spAutoFit/>
            </a:bodyPr>
            <a:lstStyle/>
            <a:p>
              <a:pPr algn="ctr"/>
              <a:r>
                <a:rPr lang="pt-BR" sz="1200" dirty="0"/>
                <a:t>Ajuste do modelo</a:t>
              </a:r>
            </a:p>
          </p:txBody>
        </p:sp>
        <p:sp>
          <p:nvSpPr>
            <p:cNvPr id="16" name="CaixaDeTexto 15">
              <a:extLst>
                <a:ext uri="{FF2B5EF4-FFF2-40B4-BE49-F238E27FC236}">
                  <a16:creationId xmlns:a16="http://schemas.microsoft.com/office/drawing/2014/main" id="{C0E13280-A62B-C336-49AA-50BEA8AA2AD1}"/>
                </a:ext>
              </a:extLst>
            </p:cNvPr>
            <p:cNvSpPr txBox="1"/>
            <p:nvPr/>
          </p:nvSpPr>
          <p:spPr>
            <a:xfrm>
              <a:off x="3440214" y="4604287"/>
              <a:ext cx="1047413" cy="461665"/>
            </a:xfrm>
            <a:prstGeom prst="rect">
              <a:avLst/>
            </a:prstGeom>
            <a:noFill/>
          </p:spPr>
          <p:txBody>
            <a:bodyPr wrap="square" rtlCol="0">
              <a:spAutoFit/>
            </a:bodyPr>
            <a:lstStyle/>
            <a:p>
              <a:pPr algn="ctr"/>
              <a:r>
                <a:rPr lang="pt-BR" sz="1200" dirty="0"/>
                <a:t>Conjunto de treinamento</a:t>
              </a:r>
            </a:p>
          </p:txBody>
        </p:sp>
        <p:sp>
          <p:nvSpPr>
            <p:cNvPr id="17" name="CaixaDeTexto 16">
              <a:extLst>
                <a:ext uri="{FF2B5EF4-FFF2-40B4-BE49-F238E27FC236}">
                  <a16:creationId xmlns:a16="http://schemas.microsoft.com/office/drawing/2014/main" id="{2AD8E9CE-24CF-338D-5E45-1B9D10A8B60E}"/>
                </a:ext>
              </a:extLst>
            </p:cNvPr>
            <p:cNvSpPr txBox="1"/>
            <p:nvPr/>
          </p:nvSpPr>
          <p:spPr>
            <a:xfrm>
              <a:off x="5915101" y="3146446"/>
              <a:ext cx="639419" cy="276999"/>
            </a:xfrm>
            <a:prstGeom prst="rect">
              <a:avLst/>
            </a:prstGeom>
            <a:noFill/>
          </p:spPr>
          <p:txBody>
            <a:bodyPr wrap="square" rtlCol="0">
              <a:spAutoFit/>
            </a:bodyPr>
            <a:lstStyle/>
            <a:p>
              <a:pPr algn="ctr"/>
              <a:r>
                <a:rPr lang="pt-BR" sz="1200" dirty="0"/>
                <a:t>palpite</a:t>
              </a:r>
            </a:p>
          </p:txBody>
        </p:sp>
        <p:sp>
          <p:nvSpPr>
            <p:cNvPr id="18" name="CaixaDeTexto 17">
              <a:extLst>
                <a:ext uri="{FF2B5EF4-FFF2-40B4-BE49-F238E27FC236}">
                  <a16:creationId xmlns:a16="http://schemas.microsoft.com/office/drawing/2014/main" id="{9485820E-AA28-7FC3-20F3-E552B1D8A66D}"/>
                </a:ext>
              </a:extLst>
            </p:cNvPr>
            <p:cNvSpPr txBox="1"/>
            <p:nvPr/>
          </p:nvSpPr>
          <p:spPr>
            <a:xfrm>
              <a:off x="7716165" y="3099689"/>
              <a:ext cx="454917" cy="276999"/>
            </a:xfrm>
            <a:prstGeom prst="rect">
              <a:avLst/>
            </a:prstGeom>
            <a:noFill/>
          </p:spPr>
          <p:txBody>
            <a:bodyPr wrap="square" rtlCol="0">
              <a:spAutoFit/>
            </a:bodyPr>
            <a:lstStyle/>
            <a:p>
              <a:pPr algn="ctr"/>
              <a:r>
                <a:rPr lang="pt-BR" sz="1200" dirty="0"/>
                <a:t>erro</a:t>
              </a:r>
            </a:p>
          </p:txBody>
        </p:sp>
        <p:cxnSp>
          <p:nvCxnSpPr>
            <p:cNvPr id="19" name="Conector reto 18">
              <a:extLst>
                <a:ext uri="{FF2B5EF4-FFF2-40B4-BE49-F238E27FC236}">
                  <a16:creationId xmlns:a16="http://schemas.microsoft.com/office/drawing/2014/main" id="{018E9A6A-CB22-9FE2-FB75-ED67C8DA0F8A}"/>
                </a:ext>
              </a:extLst>
            </p:cNvPr>
            <p:cNvCxnSpPr/>
            <p:nvPr/>
          </p:nvCxnSpPr>
          <p:spPr>
            <a:xfrm flipH="1">
              <a:off x="4733134" y="2034381"/>
              <a:ext cx="1212396" cy="1743075"/>
            </a:xfrm>
            <a:prstGeom prst="line">
              <a:avLst/>
            </a:prstGeom>
            <a:ln>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19783987"/>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7945</TotalTime>
  <Words>4341</Words>
  <Application>Microsoft Office PowerPoint</Application>
  <PresentationFormat>Widescreen</PresentationFormat>
  <Paragraphs>377</Paragraphs>
  <Slides>32</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Arial</vt:lpstr>
      <vt:lpstr>Calibri</vt:lpstr>
      <vt:lpstr>Calibri Light</vt:lpstr>
      <vt:lpstr>Cambria Math</vt:lpstr>
      <vt:lpstr>Söhne</vt:lpstr>
      <vt:lpstr>Wingdings</vt:lpstr>
      <vt:lpstr>Tema do Office</vt:lpstr>
      <vt:lpstr>TP557 - Tópicos avançados em IoT e Machine Learning: O Paradigma do Aprendizado de Máquina</vt:lpstr>
      <vt:lpstr>O que vamos ver?</vt:lpstr>
      <vt:lpstr>O que é o aprendizado de máquina?</vt:lpstr>
      <vt:lpstr>O que é o aprendizado de máquina?</vt:lpstr>
      <vt:lpstr>Programação tradicional</vt:lpstr>
      <vt:lpstr>Programação tradicional</vt:lpstr>
      <vt:lpstr>Programação tradicional</vt:lpstr>
      <vt:lpstr>Programação tradicional</vt:lpstr>
      <vt:lpstr>Programação tradicional</vt:lpstr>
      <vt:lpstr>Programação tradicional</vt:lpstr>
      <vt:lpstr>O paradigma do aprendizado de máquina</vt:lpstr>
      <vt:lpstr>O paradigma do aprendizado de máquina</vt:lpstr>
      <vt:lpstr>O paradigma do aprendizado de máquina</vt:lpstr>
      <vt:lpstr>O paradigma do aprendizado de máquina</vt:lpstr>
      <vt:lpstr>O paradigma do aprendizado de máquina</vt:lpstr>
      <vt:lpstr>O paradigma do aprendizado de máquina</vt:lpstr>
      <vt:lpstr>Treinamento da máquina (ou modelo de ML)</vt:lpstr>
      <vt:lpstr>Treinamento da máquina (ou modelo de ML)</vt:lpstr>
      <vt:lpstr>Treinamento da máquina (ou modelo de ML)</vt:lpstr>
      <vt:lpstr>Treinamento da máquina (ou modelo de ML)</vt:lpstr>
      <vt:lpstr>Treinamento da máquina (ou modelo de ML)</vt:lpstr>
      <vt:lpstr>Treinamento da máquina (ou modelo de ML)</vt:lpstr>
      <vt:lpstr>Treinamento da máquina (ou modelo de ML)</vt:lpstr>
      <vt:lpstr>Treinamento da máquina (ou modelo de ML)</vt:lpstr>
      <vt:lpstr>Inferência</vt:lpstr>
      <vt:lpstr>Generalização</vt:lpstr>
      <vt:lpstr>Generalização: Paleteria Mexicana</vt:lpstr>
      <vt:lpstr>Generalização: Paleteria Mexicana</vt:lpstr>
      <vt:lpstr>Atividades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TP555 - Inteligência Artificial e Machine Learning</dc:title>
  <dc:creator>Felipe Augusto Pereira de Figueiredo</dc:creator>
  <cp:lastModifiedBy>Felipe Augusto Pereira de Figueiredo</cp:lastModifiedBy>
  <cp:revision>1681</cp:revision>
  <dcterms:created xsi:type="dcterms:W3CDTF">2020-01-20T13:50:05Z</dcterms:created>
  <dcterms:modified xsi:type="dcterms:W3CDTF">2025-03-27T00:30:39Z</dcterms:modified>
</cp:coreProperties>
</file>