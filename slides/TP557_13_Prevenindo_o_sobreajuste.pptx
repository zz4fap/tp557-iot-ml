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4"/>
  </p:notesMasterIdLst>
  <p:handoutMasterIdLst>
    <p:handoutMasterId r:id="rId55"/>
  </p:handoutMasterIdLst>
  <p:sldIdLst>
    <p:sldId id="256" r:id="rId2"/>
    <p:sldId id="406" r:id="rId3"/>
    <p:sldId id="427" r:id="rId4"/>
    <p:sldId id="430" r:id="rId5"/>
    <p:sldId id="462" r:id="rId6"/>
    <p:sldId id="463" r:id="rId7"/>
    <p:sldId id="428" r:id="rId8"/>
    <p:sldId id="434" r:id="rId9"/>
    <p:sldId id="435" r:id="rId10"/>
    <p:sldId id="431" r:id="rId11"/>
    <p:sldId id="438" r:id="rId12"/>
    <p:sldId id="439" r:id="rId13"/>
    <p:sldId id="429" r:id="rId14"/>
    <p:sldId id="470" r:id="rId15"/>
    <p:sldId id="467" r:id="rId16"/>
    <p:sldId id="469" r:id="rId17"/>
    <p:sldId id="440" r:id="rId18"/>
    <p:sldId id="464" r:id="rId19"/>
    <p:sldId id="441" r:id="rId20"/>
    <p:sldId id="468" r:id="rId21"/>
    <p:sldId id="432" r:id="rId22"/>
    <p:sldId id="442" r:id="rId23"/>
    <p:sldId id="444" r:id="rId24"/>
    <p:sldId id="447" r:id="rId25"/>
    <p:sldId id="446" r:id="rId26"/>
    <p:sldId id="436" r:id="rId27"/>
    <p:sldId id="459" r:id="rId28"/>
    <p:sldId id="466" r:id="rId29"/>
    <p:sldId id="460" r:id="rId30"/>
    <p:sldId id="437" r:id="rId31"/>
    <p:sldId id="448" r:id="rId32"/>
    <p:sldId id="458" r:id="rId33"/>
    <p:sldId id="449" r:id="rId34"/>
    <p:sldId id="453" r:id="rId35"/>
    <p:sldId id="451" r:id="rId36"/>
    <p:sldId id="452" r:id="rId37"/>
    <p:sldId id="454" r:id="rId38"/>
    <p:sldId id="476" r:id="rId39"/>
    <p:sldId id="456" r:id="rId40"/>
    <p:sldId id="461" r:id="rId41"/>
    <p:sldId id="471" r:id="rId42"/>
    <p:sldId id="472" r:id="rId43"/>
    <p:sldId id="405" r:id="rId44"/>
    <p:sldId id="293" r:id="rId45"/>
    <p:sldId id="306" r:id="rId46"/>
    <p:sldId id="450" r:id="rId47"/>
    <p:sldId id="475" r:id="rId48"/>
    <p:sldId id="477" r:id="rId49"/>
    <p:sldId id="473" r:id="rId50"/>
    <p:sldId id="457" r:id="rId51"/>
    <p:sldId id="465" r:id="rId52"/>
    <p:sldId id="478" r:id="rId53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3FCA41B-7398-400B-83DC-FDE8722EB923}" v="79" dt="2020-02-09T01:28:39.66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Estilo Médio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D5ABB26-0587-4C30-8999-92F81FD0307C}" styleName="Nenhum Estilo, Nenhuma Grad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352" autoAdjust="0"/>
    <p:restoredTop sz="91404" autoAdjust="0"/>
  </p:normalViewPr>
  <p:slideViewPr>
    <p:cSldViewPr snapToGrid="0">
      <p:cViewPr varScale="1">
        <p:scale>
          <a:sx n="101" d="100"/>
          <a:sy n="101" d="100"/>
        </p:scale>
        <p:origin x="1314" y="96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handoutMaster" Target="handoutMasters/handout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theme" Target="theme/theme1.xml"/><Relationship Id="rId5" Type="http://schemas.openxmlformats.org/officeDocument/2006/relationships/slide" Target="slides/slide4.xml"/><Relationship Id="rId61" Type="http://schemas.microsoft.com/office/2015/10/relationships/revisionInfo" Target="revisionInfo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viewProps" Target="view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lipe Augusto Pereira de Figueiredo" userId="e1771b70d906f94b" providerId="Windows Live" clId="Web-{B3FCA41B-7398-400B-83DC-FDE8722EB923}"/>
    <pc:docChg chg="modSld">
      <pc:chgData name="Felipe Augusto Pereira de Figueiredo" userId="e1771b70d906f94b" providerId="Windows Live" clId="Web-{B3FCA41B-7398-400B-83DC-FDE8722EB923}" dt="2020-02-09T01:40:38.055" v="257"/>
      <pc:docMkLst>
        <pc:docMk/>
      </pc:docMkLst>
      <pc:sldChg chg="modSp modNotes">
        <pc:chgData name="Felipe Augusto Pereira de Figueiredo" userId="e1771b70d906f94b" providerId="Windows Live" clId="Web-{B3FCA41B-7398-400B-83DC-FDE8722EB923}" dt="2020-02-09T01:26:20.191" v="45"/>
        <pc:sldMkLst>
          <pc:docMk/>
          <pc:sldMk cId="636059476" sldId="259"/>
        </pc:sldMkLst>
        <pc:spChg chg="mod">
          <ac:chgData name="Felipe Augusto Pereira de Figueiredo" userId="e1771b70d906f94b" providerId="Windows Live" clId="Web-{B3FCA41B-7398-400B-83DC-FDE8722EB923}" dt="2020-02-09T01:22:23.081" v="18" actId="1076"/>
          <ac:spMkLst>
            <pc:docMk/>
            <pc:sldMk cId="636059476" sldId="259"/>
            <ac:spMk id="3" creationId="{979D29AC-E01B-406F-AC75-55866B75A7CC}"/>
          </ac:spMkLst>
        </pc:spChg>
      </pc:sldChg>
      <pc:sldChg chg="modNotes">
        <pc:chgData name="Felipe Augusto Pereira de Figueiredo" userId="e1771b70d906f94b" providerId="Windows Live" clId="Web-{B3FCA41B-7398-400B-83DC-FDE8722EB923}" dt="2020-02-09T01:21:46.721" v="16"/>
        <pc:sldMkLst>
          <pc:docMk/>
          <pc:sldMk cId="248504461" sldId="267"/>
        </pc:sldMkLst>
      </pc:sldChg>
      <pc:sldChg chg="modSp modNotes">
        <pc:chgData name="Felipe Augusto Pereira de Figueiredo" userId="e1771b70d906f94b" providerId="Windows Live" clId="Web-{B3FCA41B-7398-400B-83DC-FDE8722EB923}" dt="2020-02-09T01:40:38.055" v="257"/>
        <pc:sldMkLst>
          <pc:docMk/>
          <pc:sldMk cId="2076219387" sldId="277"/>
        </pc:sldMkLst>
        <pc:spChg chg="mod">
          <ac:chgData name="Felipe Augusto Pereira de Figueiredo" userId="e1771b70d906f94b" providerId="Windows Live" clId="Web-{B3FCA41B-7398-400B-83DC-FDE8722EB923}" dt="2020-02-09T01:28:39.664" v="120" actId="14100"/>
          <ac:spMkLst>
            <pc:docMk/>
            <pc:sldMk cId="2076219387" sldId="277"/>
            <ac:spMk id="3" creationId="{5E0262E2-3A0F-4805-BCCB-6745237D1574}"/>
          </ac:spMkLst>
        </pc:spChg>
      </pc:sldChg>
    </pc:docChg>
  </pc:docChgLst>
  <pc:docChgLst>
    <pc:chgData name="Felipe Augusto Pereira de Figueiredo" userId="e1771b70d906f94b" providerId="Windows Live" clId="Web-{1FA475AF-6444-47C2-89B1-9776BABC0E66}"/>
    <pc:docChg chg="modSld">
      <pc:chgData name="Felipe Augusto Pereira de Figueiredo" userId="e1771b70d906f94b" providerId="Windows Live" clId="Web-{1FA475AF-6444-47C2-89B1-9776BABC0E66}" dt="2020-02-09T18:53:52.767" v="85"/>
      <pc:docMkLst>
        <pc:docMk/>
      </pc:docMkLst>
      <pc:sldChg chg="modNotes">
        <pc:chgData name="Felipe Augusto Pereira de Figueiredo" userId="e1771b70d906f94b" providerId="Windows Live" clId="Web-{1FA475AF-6444-47C2-89B1-9776BABC0E66}" dt="2020-02-09T18:53:52.767" v="85"/>
        <pc:sldMkLst>
          <pc:docMk/>
          <pc:sldMk cId="248504461" sldId="267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15/05/2025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15/05/2025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sigopt.com/static/pdf/SigOpt_Bayesian_Optimization_Primer.pdf" TargetMode="External"/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0" i="0" dirty="0">
                <a:solidFill>
                  <a:srgbClr val="000000"/>
                </a:solidFill>
                <a:effectLst/>
                <a:latin typeface="roboto" panose="02000000000000000000" pitchFamily="2" charset="0"/>
              </a:rPr>
              <a:t>o </a:t>
            </a:r>
            <a:r>
              <a:rPr lang="pt-BR" b="0" i="0" dirty="0" err="1">
                <a:solidFill>
                  <a:srgbClr val="000000"/>
                </a:solidFill>
                <a:effectLst/>
                <a:latin typeface="roboto" panose="02000000000000000000" pitchFamily="2" charset="0"/>
              </a:rPr>
              <a:t>overfitting</a:t>
            </a:r>
            <a:r>
              <a:rPr lang="pt-BR" b="0" i="0" dirty="0">
                <a:solidFill>
                  <a:srgbClr val="000000"/>
                </a:solidFill>
                <a:effectLst/>
                <a:latin typeface="roboto" panose="02000000000000000000" pitchFamily="2" charset="0"/>
              </a:rPr>
              <a:t> é um grande problema nas redes neurais, especialmente à medida que os computadores se tornam mais poderosos e temos a capacidade de treinar redes maiores.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7423865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0" i="0" dirty="0">
                <a:solidFill>
                  <a:srgbClr val="000000"/>
                </a:solidFill>
                <a:effectLst/>
                <a:latin typeface="Helvetica Neue"/>
              </a:rPr>
              <a:t>Percebam que o modelo (i.e., a função hipótese) </a:t>
            </a:r>
            <a:r>
              <a:rPr lang="pt-BR" b="1" i="0" dirty="0">
                <a:solidFill>
                  <a:srgbClr val="000000"/>
                </a:solidFill>
                <a:effectLst/>
                <a:latin typeface="Helvetica Neue"/>
              </a:rPr>
              <a:t>varia</a:t>
            </a:r>
            <a:r>
              <a:rPr lang="pt-BR" b="0" i="0" dirty="0">
                <a:solidFill>
                  <a:srgbClr val="000000"/>
                </a:solidFill>
                <a:effectLst/>
                <a:latin typeface="Helvetica Neue"/>
              </a:rPr>
              <a:t>, ou seja, assume formatos diferentes, de acordo com o conjunto de treinamento.</a:t>
            </a:r>
          </a:p>
          <a:p>
            <a:endParaRPr lang="pt-BR" dirty="0"/>
          </a:p>
          <a:p>
            <a:r>
              <a:rPr lang="pt-BR" dirty="0"/>
              <a:t>https://colab.research.google.com/github/zz4fap/tp557-iot-ml/blob/master/examples/Overffiting.ipynb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1871409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0" i="0" dirty="0">
                <a:solidFill>
                  <a:srgbClr val="000000"/>
                </a:solidFill>
                <a:effectLst/>
                <a:latin typeface="Helvetica Neue"/>
              </a:rPr>
              <a:t>Percebam que o modelo (i.e., a função hipótese) </a:t>
            </a:r>
            <a:r>
              <a:rPr lang="pt-BR" b="1" i="0" dirty="0">
                <a:solidFill>
                  <a:srgbClr val="000000"/>
                </a:solidFill>
                <a:effectLst/>
                <a:latin typeface="Helvetica Neue"/>
              </a:rPr>
              <a:t>varia</a:t>
            </a:r>
            <a:r>
              <a:rPr lang="pt-BR" b="0" i="0" dirty="0">
                <a:solidFill>
                  <a:srgbClr val="000000"/>
                </a:solidFill>
                <a:effectLst/>
                <a:latin typeface="Helvetica Neue"/>
              </a:rPr>
              <a:t>, ou seja, assume formatos diferentes, de acordo com o conjunto de treinamento.</a:t>
            </a:r>
          </a:p>
          <a:p>
            <a:endParaRPr lang="pt-BR" dirty="0"/>
          </a:p>
          <a:p>
            <a:r>
              <a:rPr lang="pt-BR" dirty="0"/>
              <a:t>https://colab.research.google.com/github/zz4fap/tp557-iot-ml/blob/master/examples/Overfitting.ipynb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7167442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9340650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https://colab.research.google.com/github/zz4fap/tp557-iot-ml/blob/master/examples/validacao_cruzada_k_fold.ipynb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1883361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https://colab.research.google.com/github/zz4fap/tp557-iot-ml/blob/master/examples/validacao_cruzada_k_fold.ipynb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3961477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https://colab.research.google.com/github/zz4fap/tp557-iot-ml/blob/master/examples/</a:t>
            </a:r>
            <a:r>
              <a:rPr lang="en-US" dirty="0" err="1"/>
              <a:t>Sobreajuste_e_early_stop.ipynb</a:t>
            </a:r>
            <a:endParaRPr lang="pt-BR" dirty="0"/>
          </a:p>
          <a:p>
            <a:endParaRPr lang="pt-BR" dirty="0"/>
          </a:p>
          <a:p>
            <a:r>
              <a:rPr lang="en-US" b="0" i="0" dirty="0">
                <a:solidFill>
                  <a:srgbClr val="242424"/>
                </a:solidFill>
                <a:effectLst/>
                <a:latin typeface="source-serif-pro"/>
              </a:rPr>
              <a:t>The one-sentence summary of </a:t>
            </a:r>
            <a:r>
              <a:rPr lang="en-US" b="0" i="0" u="sng" dirty="0">
                <a:effectLst/>
                <a:latin typeface="source-serif-pro"/>
                <a:hlinkClick r:id="rId3"/>
              </a:rPr>
              <a:t>Bayesian hyperparameter optimization</a:t>
            </a:r>
            <a:r>
              <a:rPr lang="en-US" b="0" i="0" dirty="0">
                <a:solidFill>
                  <a:srgbClr val="242424"/>
                </a:solidFill>
                <a:effectLst/>
                <a:latin typeface="source-serif-pro"/>
              </a:rPr>
              <a:t> is: </a:t>
            </a:r>
            <a:r>
              <a:rPr lang="en-US" dirty="0"/>
              <a:t>build a probability model of the objective function and use it to select the most promising hyperparameters to evaluate in the true objective function.</a:t>
            </a:r>
            <a:endParaRPr lang="pt-BR" u="none" dirty="0"/>
          </a:p>
          <a:p>
            <a:endParaRPr lang="pt-BR" u="none" dirty="0"/>
          </a:p>
          <a:p>
            <a:r>
              <a:rPr lang="pt-BR" u="none" dirty="0" err="1"/>
              <a:t>References</a:t>
            </a:r>
            <a:endParaRPr lang="pt-BR" u="none" dirty="0"/>
          </a:p>
          <a:p>
            <a:endParaRPr lang="pt-BR" u="none" dirty="0"/>
          </a:p>
          <a:p>
            <a:r>
              <a:rPr lang="pt-BR" u="none" dirty="0"/>
              <a:t>[1] https://towardsdatascience.com/a-conceptual-explanation-of-bayesian-model-based-hyperparameter-optimization-for-machine-learning-b8172278050f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5844008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https://colab.research.google.com/github/zz4fap/tp557-iot-ml/blob/master/examples/</a:t>
            </a:r>
            <a:r>
              <a:rPr lang="en-US" dirty="0" err="1"/>
              <a:t>Sobreajuste_e_early_stop.ipynb</a:t>
            </a: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Dropout é uma técnica de regularização usada em redes neurais para evitar o sobreajuste (</a:t>
            </a:r>
            <a:r>
              <a:rPr lang="pt-BR" dirty="0" err="1"/>
              <a:t>overfitting</a:t>
            </a:r>
            <a:r>
              <a:rPr lang="pt-BR" dirty="0"/>
              <a:t>). O sobreajuste ocorre quando uma rede neural se torna muito especializada nos dados de treinamento e não generaliza bem para novos dados. O </a:t>
            </a:r>
            <a:r>
              <a:rPr lang="pt-BR" dirty="0" err="1"/>
              <a:t>dropout</a:t>
            </a:r>
            <a:r>
              <a:rPr lang="pt-BR" dirty="0"/>
              <a:t> é uma abordagem eficaz para melhorar a generalização de uma rede neural. Aqui está como funciona: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1. **Desligamento Aleatório de Neurônios**: Durante o treinamento da rede neural, o </a:t>
            </a:r>
            <a:r>
              <a:rPr lang="pt-BR" dirty="0" err="1"/>
              <a:t>dropout</a:t>
            </a:r>
            <a:r>
              <a:rPr lang="pt-BR" dirty="0"/>
              <a:t> envolve aleatoriamente "desligar" ou "descartar" um subconjunto dos neurônios em cada camada. Isso significa que esses neurônios não contribuirão para o cálculo das saídas da rede durante essa iteração de treinamento.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2. **Taxa de Dropout**: Um </a:t>
            </a:r>
            <a:r>
              <a:rPr lang="pt-BR" dirty="0" err="1"/>
              <a:t>hiperparâmetro</a:t>
            </a:r>
            <a:r>
              <a:rPr lang="pt-BR" dirty="0"/>
              <a:t> chamado "taxa de </a:t>
            </a:r>
            <a:r>
              <a:rPr lang="pt-BR" dirty="0" err="1"/>
              <a:t>dropout</a:t>
            </a:r>
            <a:r>
              <a:rPr lang="pt-BR" dirty="0"/>
              <a:t>" é definido antes do treinamento. Essa taxa determina a probabilidade de um neurônio ser desligado durante cada iteração. Por exemplo, uma taxa de </a:t>
            </a:r>
            <a:r>
              <a:rPr lang="pt-BR" dirty="0" err="1"/>
              <a:t>dropout</a:t>
            </a:r>
            <a:r>
              <a:rPr lang="pt-BR" dirty="0"/>
              <a:t> de 0,5 significa que, em média, metade dos neurônios será desligada em cada iteração.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3. **Treinamento Estocástico**: O </a:t>
            </a:r>
            <a:r>
              <a:rPr lang="pt-BR" dirty="0" err="1"/>
              <a:t>dropout</a:t>
            </a:r>
            <a:r>
              <a:rPr lang="pt-BR" dirty="0"/>
              <a:t> introduz uma forma de treinamento estocástico, onde a rede não pode depender excessivamente de nenhum neurônio específico. Isso obriga a rede a aprender recursos mais robustos e a generalizar melhor para dados que não foram vistos durante o treinamento.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4. **</a:t>
            </a:r>
            <a:r>
              <a:rPr lang="pt-BR" dirty="0" err="1"/>
              <a:t>Averaging</a:t>
            </a:r>
            <a:r>
              <a:rPr lang="pt-BR" dirty="0"/>
              <a:t> de Múltiplos Modelos**: O </a:t>
            </a:r>
            <a:r>
              <a:rPr lang="pt-BR" dirty="0" err="1"/>
              <a:t>dropout</a:t>
            </a:r>
            <a:r>
              <a:rPr lang="pt-BR" dirty="0"/>
              <a:t> efetivamente treina várias </a:t>
            </a:r>
            <a:r>
              <a:rPr lang="pt-BR" dirty="0" err="1"/>
              <a:t>sub-redes</a:t>
            </a:r>
            <a:r>
              <a:rPr lang="pt-BR" dirty="0"/>
              <a:t> durante o treinamento, já que diferentes subconjuntos de neurônios são desligados a cada iteração. Isso é semelhante a treinar uma série de modelos diferentes e, durante a inferência, os resultados dessas </a:t>
            </a:r>
            <a:r>
              <a:rPr lang="pt-BR" dirty="0" err="1"/>
              <a:t>sub-redes</a:t>
            </a:r>
            <a:r>
              <a:rPr lang="pt-BR" dirty="0"/>
              <a:t> são médios ou ponderados de alguma forma para produzir a saída final da rede.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Benefícios do Dropout: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- Reduz o risco de sobreajuste, permitindo que a rede generalize melhor para novos dados.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- Ajuda a evitar a dependência excessiva de neurônios individuais, tornando o modelo mais robusto.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- Funciona bem em redes neurais profundas, onde o risco de </a:t>
            </a:r>
            <a:r>
              <a:rPr lang="pt-BR" dirty="0" err="1"/>
              <a:t>overfitting</a:t>
            </a:r>
            <a:r>
              <a:rPr lang="pt-BR" dirty="0"/>
              <a:t> é mais alto.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Embora o </a:t>
            </a:r>
            <a:r>
              <a:rPr lang="pt-BR" dirty="0" err="1"/>
              <a:t>dropout</a:t>
            </a:r>
            <a:r>
              <a:rPr lang="pt-BR" dirty="0"/>
              <a:t> seja uma técnica eficaz de regularização, é importante ajustar a taxa de </a:t>
            </a:r>
            <a:r>
              <a:rPr lang="pt-BR" dirty="0" err="1"/>
              <a:t>dropout</a:t>
            </a:r>
            <a:r>
              <a:rPr lang="pt-BR" dirty="0"/>
              <a:t> adequadamente, pois uma taxa muito alta pode prejudicar o aprendizado, enquanto uma taxa muito baixa pode não fornecer os benefícios desejados. A taxa de </a:t>
            </a:r>
            <a:r>
              <a:rPr lang="pt-BR" dirty="0" err="1"/>
              <a:t>dropout</a:t>
            </a:r>
            <a:r>
              <a:rPr lang="pt-BR" dirty="0"/>
              <a:t> é geralmente escolhida por meio de experimentação e validação cruzada em um conjunto de validação.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O "</a:t>
            </a:r>
            <a:r>
              <a:rPr lang="pt-BR" dirty="0" err="1"/>
              <a:t>early</a:t>
            </a:r>
            <a:r>
              <a:rPr lang="pt-BR" dirty="0"/>
              <a:t> stopping" (parada antecipada) é uma técnica de regularização utilizada em treinamento de redes neurais para evitar o sobreajuste e encontrar um ponto ótimo de convergência durante o treinamento. A ideia fundamental por trás do </a:t>
            </a:r>
            <a:r>
              <a:rPr lang="pt-BR" dirty="0" err="1"/>
              <a:t>early</a:t>
            </a:r>
            <a:r>
              <a:rPr lang="pt-BR" dirty="0"/>
              <a:t> stopping é interromper o treinamento do modelo assim que o desempenho em um conjunto de validação começa a piorar, em vez de continuar até que o modelo se ajuste demais aos dados de treinamento. Aqui está como o </a:t>
            </a:r>
            <a:r>
              <a:rPr lang="pt-BR" dirty="0" err="1"/>
              <a:t>early</a:t>
            </a:r>
            <a:r>
              <a:rPr lang="pt-BR" dirty="0"/>
              <a:t> stopping funciona: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1. **Conjunto de Treinamento e Conjunto de Validação**: Durante o treinamento de uma rede neural, geralmente divide-se o conjunto de dados em dois subconjuntos: um conjunto de treinamento usado para atualizar os pesos do modelo e um conjunto de validação usado para avaliar o desempenho do modelo em dados não vistos durante o treinamento.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2. **Monitoramento de Métricas**: À medida que o treinamento progride, as métricas de desempenho, como erro ou precisão, são calculadas regularmente no conjunto de validação. Essas métricas fornecem uma indicação de quão bem o modelo está generalizando para novos dados.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3. **Critério de Parada**: O critério de parada é uma métrica escolhida com base no problema e nas metas do treinamento. Pode ser o erro de validação, a precisão ou qualquer outra métrica relevante. O treinamento é interrompido quando a métrica de validação não melhora mais ou começa a piorar.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4. **Recuperação do Melhor Modelo**: Ao interromper o treinamento, o modelo é revertido para o ponto em que obteve o melhor desempenho no conjunto de validação. Esse modelo é então usado para inferência e avaliação em novos dados.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Os benefícios do </a:t>
            </a:r>
            <a:r>
              <a:rPr lang="pt-BR" dirty="0" err="1"/>
              <a:t>early</a:t>
            </a:r>
            <a:r>
              <a:rPr lang="pt-BR" dirty="0"/>
              <a:t> stopping incluem: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- Evita o sobreajuste: Ao interromper o treinamento antes que o modelo se ajuste demais aos dados de treinamento, o </a:t>
            </a:r>
            <a:r>
              <a:rPr lang="pt-BR" dirty="0" err="1"/>
              <a:t>early</a:t>
            </a:r>
            <a:r>
              <a:rPr lang="pt-BR" dirty="0"/>
              <a:t> stopping ajuda a obter modelos mais generalizados e melhores em dados de teste não vistos.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- Economiza tempo e recursos computacionais: O treinamento de redes neurais pode ser computacionalmente intensivo, e o </a:t>
            </a:r>
            <a:r>
              <a:rPr lang="pt-BR" dirty="0" err="1"/>
              <a:t>early</a:t>
            </a:r>
            <a:r>
              <a:rPr lang="pt-BR" dirty="0"/>
              <a:t> stopping pode ajudar a economizar tempo e recursos interrompendo o treinamento assim que não houver mais ganho significativo no desempenho.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- Melhora a robustez: Modelos treinados com </a:t>
            </a:r>
            <a:r>
              <a:rPr lang="pt-BR" dirty="0" err="1"/>
              <a:t>early</a:t>
            </a:r>
            <a:r>
              <a:rPr lang="pt-BR" dirty="0"/>
              <a:t> stopping tendem a ser mais robustos e menos sensíveis a variações nos dados de treinamento.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É importante ajustar o critério de parada, monitorar regularmente as métricas de validação e implementar o </a:t>
            </a:r>
            <a:r>
              <a:rPr lang="pt-BR" dirty="0" err="1"/>
              <a:t>early</a:t>
            </a:r>
            <a:r>
              <a:rPr lang="pt-BR" dirty="0"/>
              <a:t> stopping de maneira adequada para obter os melhores resultados. O </a:t>
            </a:r>
            <a:r>
              <a:rPr lang="pt-BR" dirty="0" err="1"/>
              <a:t>early</a:t>
            </a:r>
            <a:r>
              <a:rPr lang="pt-BR" dirty="0"/>
              <a:t> stopping é uma técnica eficaz, especialmente quando o conjunto de dados é limitado e não é possível coletar mais dados para treinamento.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290136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https://colab.research.google.com/github/zz4fap/tp557-iot-ml/blob/master/examples/</a:t>
            </a:r>
            <a:r>
              <a:rPr lang="en-US" dirty="0" err="1"/>
              <a:t>Sobreajuste_e_early_stop.ipynb</a:t>
            </a: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Dropout é uma técnica de regularização usada em redes neurais para evitar o sobreajuste (</a:t>
            </a:r>
            <a:r>
              <a:rPr lang="pt-BR" dirty="0" err="1"/>
              <a:t>overfitting</a:t>
            </a:r>
            <a:r>
              <a:rPr lang="pt-BR" dirty="0"/>
              <a:t>). O sobreajuste ocorre quando uma rede neural se torna muito especializada nos dados de treinamento e não generaliza bem para novos dados. O </a:t>
            </a:r>
            <a:r>
              <a:rPr lang="pt-BR" dirty="0" err="1"/>
              <a:t>dropout</a:t>
            </a:r>
            <a:r>
              <a:rPr lang="pt-BR" dirty="0"/>
              <a:t> é uma abordagem eficaz para melhorar a generalização de uma rede neural. Aqui está como funciona: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1. **Desligamento Aleatório de Neurônios**: Durante o treinamento da rede neural, o </a:t>
            </a:r>
            <a:r>
              <a:rPr lang="pt-BR" dirty="0" err="1"/>
              <a:t>dropout</a:t>
            </a:r>
            <a:r>
              <a:rPr lang="pt-BR" dirty="0"/>
              <a:t> envolve aleatoriamente "desligar" ou "descartar" um subconjunto dos neurônios em cada camada. Isso significa que esses neurônios não contribuirão para o cálculo das saídas da rede durante essa iteração de treinamento.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2. **Taxa de Dropout**: Um </a:t>
            </a:r>
            <a:r>
              <a:rPr lang="pt-BR" dirty="0" err="1"/>
              <a:t>hiperparâmetro</a:t>
            </a:r>
            <a:r>
              <a:rPr lang="pt-BR" dirty="0"/>
              <a:t> chamado "taxa de </a:t>
            </a:r>
            <a:r>
              <a:rPr lang="pt-BR" dirty="0" err="1"/>
              <a:t>dropout</a:t>
            </a:r>
            <a:r>
              <a:rPr lang="pt-BR" dirty="0"/>
              <a:t>" é definido antes do treinamento. Essa taxa determina a probabilidade de um neurônio ser desligado durante cada iteração. Por exemplo, uma taxa de </a:t>
            </a:r>
            <a:r>
              <a:rPr lang="pt-BR" dirty="0" err="1"/>
              <a:t>dropout</a:t>
            </a:r>
            <a:r>
              <a:rPr lang="pt-BR" dirty="0"/>
              <a:t> de 0,5 significa que, em média, metade dos neurônios será desligada em cada iteração.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3. **Treinamento Estocástico**: O </a:t>
            </a:r>
            <a:r>
              <a:rPr lang="pt-BR" dirty="0" err="1"/>
              <a:t>dropout</a:t>
            </a:r>
            <a:r>
              <a:rPr lang="pt-BR" dirty="0"/>
              <a:t> introduz uma forma de treinamento estocástico, onde a rede não pode depender excessivamente de nenhum neurônio específico. Isso obriga a rede a aprender recursos mais robustos e a generalizar melhor para dados que não foram vistos durante o treinamento.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4. **</a:t>
            </a:r>
            <a:r>
              <a:rPr lang="pt-BR" dirty="0" err="1"/>
              <a:t>Averaging</a:t>
            </a:r>
            <a:r>
              <a:rPr lang="pt-BR" dirty="0"/>
              <a:t> de Múltiplos Modelos**: O </a:t>
            </a:r>
            <a:r>
              <a:rPr lang="pt-BR" dirty="0" err="1"/>
              <a:t>dropout</a:t>
            </a:r>
            <a:r>
              <a:rPr lang="pt-BR" dirty="0"/>
              <a:t> efetivamente treina várias </a:t>
            </a:r>
            <a:r>
              <a:rPr lang="pt-BR" dirty="0" err="1"/>
              <a:t>sub-redes</a:t>
            </a:r>
            <a:r>
              <a:rPr lang="pt-BR" dirty="0"/>
              <a:t> durante o treinamento, já que diferentes subconjuntos de neurônios são desligados a cada iteração. Isso é semelhante a treinar uma série de modelos diferentes e, durante a inferência, os resultados dessas </a:t>
            </a:r>
            <a:r>
              <a:rPr lang="pt-BR" dirty="0" err="1"/>
              <a:t>sub-redes</a:t>
            </a:r>
            <a:r>
              <a:rPr lang="pt-BR" dirty="0"/>
              <a:t> são médios ou ponderados de alguma forma para produzir a saída final da rede.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Benefícios do Dropout: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- Reduz o risco de sobreajuste, permitindo que a rede generalize melhor para novos dados.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- Ajuda a evitar a dependência excessiva de neurônios individuais, tornando o modelo mais robusto.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- Funciona bem em redes neurais profundas, onde o risco de </a:t>
            </a:r>
            <a:r>
              <a:rPr lang="pt-BR" dirty="0" err="1"/>
              <a:t>overfitting</a:t>
            </a:r>
            <a:r>
              <a:rPr lang="pt-BR" dirty="0"/>
              <a:t> é mais alto.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Embora o </a:t>
            </a:r>
            <a:r>
              <a:rPr lang="pt-BR" dirty="0" err="1"/>
              <a:t>dropout</a:t>
            </a:r>
            <a:r>
              <a:rPr lang="pt-BR" dirty="0"/>
              <a:t> seja uma técnica eficaz de regularização, é importante ajustar a taxa de </a:t>
            </a:r>
            <a:r>
              <a:rPr lang="pt-BR" dirty="0" err="1"/>
              <a:t>dropout</a:t>
            </a:r>
            <a:r>
              <a:rPr lang="pt-BR" dirty="0"/>
              <a:t> adequadamente, pois uma taxa muito alta pode prejudicar o aprendizado, enquanto uma taxa muito baixa pode não fornecer os benefícios desejados. A taxa de </a:t>
            </a:r>
            <a:r>
              <a:rPr lang="pt-BR" dirty="0" err="1"/>
              <a:t>dropout</a:t>
            </a:r>
            <a:r>
              <a:rPr lang="pt-BR" dirty="0"/>
              <a:t> é geralmente escolhida por meio de experimentação e validação cruzada em um conjunto de validação.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O "</a:t>
            </a:r>
            <a:r>
              <a:rPr lang="pt-BR" dirty="0" err="1"/>
              <a:t>early</a:t>
            </a:r>
            <a:r>
              <a:rPr lang="pt-BR" dirty="0"/>
              <a:t> stopping" (parada antecipada) é uma técnica de regularização utilizada em treinamento de redes neurais para evitar o sobreajuste e encontrar um ponto ótimo de convergência durante o treinamento. A ideia fundamental por trás do </a:t>
            </a:r>
            <a:r>
              <a:rPr lang="pt-BR" dirty="0" err="1"/>
              <a:t>early</a:t>
            </a:r>
            <a:r>
              <a:rPr lang="pt-BR" dirty="0"/>
              <a:t> stopping é interromper o treinamento do modelo assim que o desempenho em um conjunto de validação começa a piorar, em vez de continuar até que o modelo se ajuste demais aos dados de treinamento. Aqui está como o </a:t>
            </a:r>
            <a:r>
              <a:rPr lang="pt-BR" dirty="0" err="1"/>
              <a:t>early</a:t>
            </a:r>
            <a:r>
              <a:rPr lang="pt-BR" dirty="0"/>
              <a:t> stopping funciona: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1. **Conjunto de Treinamento e Conjunto de Validação**: Durante o treinamento de uma rede neural, geralmente divide-se o conjunto de dados em dois subconjuntos: um conjunto de treinamento usado para atualizar os pesos do modelo e um conjunto de validação usado para avaliar o desempenho do modelo em dados não vistos durante o treinamento.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2. **Monitoramento de Métricas**: À medida que o treinamento progride, as métricas de desempenho, como erro ou precisão, são calculadas regularmente no conjunto de validação. Essas métricas fornecem uma indicação de quão bem o modelo está generalizando para novos dados.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3. **Critério de Parada**: O critério de parada é uma métrica escolhida com base no problema e nas metas do treinamento. Pode ser o erro de validação, a precisão ou qualquer outra métrica relevante. O treinamento é interrompido quando a métrica de validação não melhora mais ou começa a piorar.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4. **Recuperação do Melhor Modelo**: Ao interromper o treinamento, o modelo é revertido para o ponto em que obteve o melhor desempenho no conjunto de validação. Esse modelo é então usado para inferência e avaliação em novos dados.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Os benefícios do </a:t>
            </a:r>
            <a:r>
              <a:rPr lang="pt-BR" dirty="0" err="1"/>
              <a:t>early</a:t>
            </a:r>
            <a:r>
              <a:rPr lang="pt-BR" dirty="0"/>
              <a:t> stopping incluem: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- Evita o sobreajuste: Ao interromper o treinamento antes que o modelo se ajuste demais aos dados de treinamento, o </a:t>
            </a:r>
            <a:r>
              <a:rPr lang="pt-BR" dirty="0" err="1"/>
              <a:t>early</a:t>
            </a:r>
            <a:r>
              <a:rPr lang="pt-BR" dirty="0"/>
              <a:t> stopping ajuda a obter modelos mais generalizados e melhores em dados de teste não vistos.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- Economiza tempo e recursos computacionais: O treinamento de redes neurais pode ser computacionalmente intensivo, e o </a:t>
            </a:r>
            <a:r>
              <a:rPr lang="pt-BR" dirty="0" err="1"/>
              <a:t>early</a:t>
            </a:r>
            <a:r>
              <a:rPr lang="pt-BR" dirty="0"/>
              <a:t> stopping pode ajudar a economizar tempo e recursos interrompendo o treinamento assim que não houver mais ganho significativo no desempenho.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- Melhora a robustez: Modelos treinados com </a:t>
            </a:r>
            <a:r>
              <a:rPr lang="pt-BR" dirty="0" err="1"/>
              <a:t>early</a:t>
            </a:r>
            <a:r>
              <a:rPr lang="pt-BR" dirty="0"/>
              <a:t> stopping tendem a ser mais robustos e menos sensíveis a variações nos dados de treinamento.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É importante ajustar o critério de parada, monitorar regularmente as métricas de validação e implementar o </a:t>
            </a:r>
            <a:r>
              <a:rPr lang="pt-BR" dirty="0" err="1"/>
              <a:t>early</a:t>
            </a:r>
            <a:r>
              <a:rPr lang="pt-BR" dirty="0"/>
              <a:t> stopping de maneira adequada para obter os melhores resultados. O </a:t>
            </a:r>
            <a:r>
              <a:rPr lang="pt-BR" dirty="0" err="1"/>
              <a:t>early</a:t>
            </a:r>
            <a:r>
              <a:rPr lang="pt-BR" dirty="0"/>
              <a:t> stopping é uma técnica eficaz, especialmente quando o conjunto de dados é limitado e não é possível coletar mais dados para treinamento.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7330920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https://colab.research.google.com/github/zz4fap/tp557-iot-ml/blob/master/examples/</a:t>
            </a:r>
            <a:r>
              <a:rPr lang="en-US" dirty="0" err="1"/>
              <a:t>Sobreajuste_e_early_stop.ipynb</a:t>
            </a: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Dropout é uma técnica de regularização usada em redes neurais para evitar o sobreajuste (</a:t>
            </a:r>
            <a:r>
              <a:rPr lang="pt-BR" dirty="0" err="1"/>
              <a:t>overfitting</a:t>
            </a:r>
            <a:r>
              <a:rPr lang="pt-BR" dirty="0"/>
              <a:t>). O sobreajuste ocorre quando uma rede neural se torna muito especializada nos dados de treinamento e não generaliza bem para novos dados. O </a:t>
            </a:r>
            <a:r>
              <a:rPr lang="pt-BR" dirty="0" err="1"/>
              <a:t>dropout</a:t>
            </a:r>
            <a:r>
              <a:rPr lang="pt-BR" dirty="0"/>
              <a:t> é uma abordagem eficaz para melhorar a generalização de uma rede neural. Aqui está como funciona: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1. **Desligamento Aleatório de Neurônios**: Durante o treinamento da rede neural, o </a:t>
            </a:r>
            <a:r>
              <a:rPr lang="pt-BR" dirty="0" err="1"/>
              <a:t>dropout</a:t>
            </a:r>
            <a:r>
              <a:rPr lang="pt-BR" dirty="0"/>
              <a:t> envolve aleatoriamente "desligar" ou "descartar" um subconjunto dos neurônios em cada camada. Isso significa que esses neurônios não contribuirão para o cálculo das saídas da rede durante essa iteração de treinamento.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2. **Taxa de Dropout**: Um </a:t>
            </a:r>
            <a:r>
              <a:rPr lang="pt-BR" dirty="0" err="1"/>
              <a:t>hiperparâmetro</a:t>
            </a:r>
            <a:r>
              <a:rPr lang="pt-BR" dirty="0"/>
              <a:t> chamado "taxa de </a:t>
            </a:r>
            <a:r>
              <a:rPr lang="pt-BR" dirty="0" err="1"/>
              <a:t>dropout</a:t>
            </a:r>
            <a:r>
              <a:rPr lang="pt-BR" dirty="0"/>
              <a:t>" é definido antes do treinamento. Essa taxa determina a probabilidade de um neurônio ser desligado durante cada iteração. Por exemplo, uma taxa de </a:t>
            </a:r>
            <a:r>
              <a:rPr lang="pt-BR" dirty="0" err="1"/>
              <a:t>dropout</a:t>
            </a:r>
            <a:r>
              <a:rPr lang="pt-BR" dirty="0"/>
              <a:t> de 0,5 significa que, em média, metade dos neurônios será desligada em cada iteração.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3. **Treinamento Estocástico**: O </a:t>
            </a:r>
            <a:r>
              <a:rPr lang="pt-BR" dirty="0" err="1"/>
              <a:t>dropout</a:t>
            </a:r>
            <a:r>
              <a:rPr lang="pt-BR" dirty="0"/>
              <a:t> introduz uma forma de treinamento estocástico, onde a rede não pode depender excessivamente de nenhum neurônio específico. Isso obriga a rede a aprender recursos mais robustos e a generalizar melhor para dados que não foram vistos durante o treinamento.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4. **</a:t>
            </a:r>
            <a:r>
              <a:rPr lang="pt-BR" dirty="0" err="1"/>
              <a:t>Averaging</a:t>
            </a:r>
            <a:r>
              <a:rPr lang="pt-BR" dirty="0"/>
              <a:t> de Múltiplos Modelos**: O </a:t>
            </a:r>
            <a:r>
              <a:rPr lang="pt-BR" dirty="0" err="1"/>
              <a:t>dropout</a:t>
            </a:r>
            <a:r>
              <a:rPr lang="pt-BR" dirty="0"/>
              <a:t> efetivamente treina várias </a:t>
            </a:r>
            <a:r>
              <a:rPr lang="pt-BR" dirty="0" err="1"/>
              <a:t>sub-redes</a:t>
            </a:r>
            <a:r>
              <a:rPr lang="pt-BR" dirty="0"/>
              <a:t> durante o treinamento, já que diferentes subconjuntos de neurônios são desligados a cada iteração. Isso é semelhante a treinar uma série de modelos diferentes e, durante a inferência, os resultados dessas </a:t>
            </a:r>
            <a:r>
              <a:rPr lang="pt-BR" dirty="0" err="1"/>
              <a:t>sub-redes</a:t>
            </a:r>
            <a:r>
              <a:rPr lang="pt-BR" dirty="0"/>
              <a:t> são médios ou ponderados de alguma forma para produzir a saída final da rede.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Benefícios do Dropout: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- Reduz o risco de sobreajuste, permitindo que a rede generalize melhor para novos dados.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- Ajuda a evitar a dependência excessiva de neurônios individuais, tornando o modelo mais robusto.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- Funciona bem em redes neurais profundas, onde o risco de </a:t>
            </a:r>
            <a:r>
              <a:rPr lang="pt-BR" dirty="0" err="1"/>
              <a:t>overfitting</a:t>
            </a:r>
            <a:r>
              <a:rPr lang="pt-BR" dirty="0"/>
              <a:t> é mais alto.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Embora o </a:t>
            </a:r>
            <a:r>
              <a:rPr lang="pt-BR" dirty="0" err="1"/>
              <a:t>dropout</a:t>
            </a:r>
            <a:r>
              <a:rPr lang="pt-BR" dirty="0"/>
              <a:t> seja uma técnica eficaz de regularização, é importante ajustar a taxa de </a:t>
            </a:r>
            <a:r>
              <a:rPr lang="pt-BR" dirty="0" err="1"/>
              <a:t>dropout</a:t>
            </a:r>
            <a:r>
              <a:rPr lang="pt-BR" dirty="0"/>
              <a:t> adequadamente, pois uma taxa muito alta pode prejudicar o aprendizado, enquanto uma taxa muito baixa pode não fornecer os benefícios desejados. A taxa de </a:t>
            </a:r>
            <a:r>
              <a:rPr lang="pt-BR" dirty="0" err="1"/>
              <a:t>dropout</a:t>
            </a:r>
            <a:r>
              <a:rPr lang="pt-BR" dirty="0"/>
              <a:t> é geralmente escolhida por meio de experimentação e validação cruzada em um conjunto de validação.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O "</a:t>
            </a:r>
            <a:r>
              <a:rPr lang="pt-BR" dirty="0" err="1"/>
              <a:t>early</a:t>
            </a:r>
            <a:r>
              <a:rPr lang="pt-BR" dirty="0"/>
              <a:t> stopping" (parada antecipada) é uma técnica de regularização utilizada em treinamento de redes neurais para evitar o sobreajuste e encontrar um ponto ótimo de convergência durante o treinamento. A ideia fundamental por trás do </a:t>
            </a:r>
            <a:r>
              <a:rPr lang="pt-BR" dirty="0" err="1"/>
              <a:t>early</a:t>
            </a:r>
            <a:r>
              <a:rPr lang="pt-BR" dirty="0"/>
              <a:t> stopping é interromper o treinamento do modelo assim que o desempenho em um conjunto de validação começa a piorar, em vez de continuar até que o modelo se ajuste demais aos dados de treinamento. Aqui está como o </a:t>
            </a:r>
            <a:r>
              <a:rPr lang="pt-BR" dirty="0" err="1"/>
              <a:t>early</a:t>
            </a:r>
            <a:r>
              <a:rPr lang="pt-BR" dirty="0"/>
              <a:t> stopping funciona: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1. **Conjunto de Treinamento e Conjunto de Validação**: Durante o treinamento de uma rede neural, geralmente divide-se o conjunto de dados em dois subconjuntos: um conjunto de treinamento usado para atualizar os pesos do modelo e um conjunto de validação usado para avaliar o desempenho do modelo em dados não vistos durante o treinamento.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2. **Monitoramento de Métricas**: À medida que o treinamento progride, as métricas de desempenho, como erro ou precisão, são calculadas regularmente no conjunto de validação. Essas métricas fornecem uma indicação de quão bem o modelo está generalizando para novos dados.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3. **Critério de Parada**: O critério de parada é uma métrica escolhida com base no problema e nas metas do treinamento. Pode ser o erro de validação, a precisão ou qualquer outra métrica relevante. O treinamento é interrompido quando a métrica de validação não melhora mais ou começa a piorar.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4. **Recuperação do Melhor Modelo**: Ao interromper o treinamento, o modelo é revertido para o ponto em que obteve o melhor desempenho no conjunto de validação. Esse modelo é então usado para inferência e avaliação em novos dados.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Os benefícios do </a:t>
            </a:r>
            <a:r>
              <a:rPr lang="pt-BR" dirty="0" err="1"/>
              <a:t>early</a:t>
            </a:r>
            <a:r>
              <a:rPr lang="pt-BR" dirty="0"/>
              <a:t> stopping incluem: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- Evita o sobreajuste: Ao interromper o treinamento antes que o modelo se ajuste demais aos dados de treinamento, o </a:t>
            </a:r>
            <a:r>
              <a:rPr lang="pt-BR" dirty="0" err="1"/>
              <a:t>early</a:t>
            </a:r>
            <a:r>
              <a:rPr lang="pt-BR" dirty="0"/>
              <a:t> stopping ajuda a obter modelos mais generalizados e melhores em dados de teste não vistos.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- Economiza tempo e recursos computacionais: O treinamento de redes neurais pode ser computacionalmente intensivo, e o </a:t>
            </a:r>
            <a:r>
              <a:rPr lang="pt-BR" dirty="0" err="1"/>
              <a:t>early</a:t>
            </a:r>
            <a:r>
              <a:rPr lang="pt-BR" dirty="0"/>
              <a:t> stopping pode ajudar a economizar tempo e recursos interrompendo o treinamento assim que não houver mais ganho significativo no desempenho.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- Melhora a robustez: Modelos treinados com </a:t>
            </a:r>
            <a:r>
              <a:rPr lang="pt-BR" dirty="0" err="1"/>
              <a:t>early</a:t>
            </a:r>
            <a:r>
              <a:rPr lang="pt-BR" dirty="0"/>
              <a:t> stopping tendem a ser mais robustos e menos sensíveis a variações nos dados de treinamento.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É importante ajustar o critério de parada, monitorar regularmente as métricas de validação e implementar o </a:t>
            </a:r>
            <a:r>
              <a:rPr lang="pt-BR" dirty="0" err="1"/>
              <a:t>early</a:t>
            </a:r>
            <a:r>
              <a:rPr lang="pt-BR" dirty="0"/>
              <a:t> stopping de maneira adequada para obter os melhores resultados. O </a:t>
            </a:r>
            <a:r>
              <a:rPr lang="pt-BR" dirty="0" err="1"/>
              <a:t>early</a:t>
            </a:r>
            <a:r>
              <a:rPr lang="pt-BR" dirty="0"/>
              <a:t> stopping é uma técnica eficaz, especialmente quando o conjunto de dados é limitado e não é possível coletar mais dados para treinamento.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7477597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https://colab.research.google.com/github/zz4fap/tp557-iot-ml/blob/master/examples/</a:t>
            </a:r>
            <a:r>
              <a:rPr lang="en-US" dirty="0" err="1"/>
              <a:t>Sobreajuste_e_early_stop.ipynb</a:t>
            </a: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Dropout é uma técnica de regularização usada em redes neurais para evitar o sobreajuste (</a:t>
            </a:r>
            <a:r>
              <a:rPr lang="pt-BR" dirty="0" err="1"/>
              <a:t>overfitting</a:t>
            </a:r>
            <a:r>
              <a:rPr lang="pt-BR" dirty="0"/>
              <a:t>). O sobreajuste ocorre quando uma rede neural se torna muito especializada nos dados de treinamento e não generaliza bem para novos dados. O </a:t>
            </a:r>
            <a:r>
              <a:rPr lang="pt-BR" dirty="0" err="1"/>
              <a:t>dropout</a:t>
            </a:r>
            <a:r>
              <a:rPr lang="pt-BR" dirty="0"/>
              <a:t> é uma abordagem eficaz para melhorar a generalização de uma rede neural. Aqui está como funciona: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1. **Desligamento Aleatório de Neurônios**: Durante o treinamento da rede neural, o </a:t>
            </a:r>
            <a:r>
              <a:rPr lang="pt-BR" dirty="0" err="1"/>
              <a:t>dropout</a:t>
            </a:r>
            <a:r>
              <a:rPr lang="pt-BR" dirty="0"/>
              <a:t> envolve aleatoriamente "desligar" ou "descartar" um subconjunto dos neurônios em cada camada. Isso significa que esses neurônios não contribuirão para o cálculo das saídas da rede durante essa iteração de treinamento.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2. **Taxa de Dropout**: Um </a:t>
            </a:r>
            <a:r>
              <a:rPr lang="pt-BR" dirty="0" err="1"/>
              <a:t>hiperparâmetro</a:t>
            </a:r>
            <a:r>
              <a:rPr lang="pt-BR" dirty="0"/>
              <a:t> chamado "taxa de </a:t>
            </a:r>
            <a:r>
              <a:rPr lang="pt-BR" dirty="0" err="1"/>
              <a:t>dropout</a:t>
            </a:r>
            <a:r>
              <a:rPr lang="pt-BR" dirty="0"/>
              <a:t>" é definido antes do treinamento. Essa taxa determina a probabilidade de um neurônio ser desligado durante cada iteração. Por exemplo, uma taxa de </a:t>
            </a:r>
            <a:r>
              <a:rPr lang="pt-BR" dirty="0" err="1"/>
              <a:t>dropout</a:t>
            </a:r>
            <a:r>
              <a:rPr lang="pt-BR" dirty="0"/>
              <a:t> de 0,5 significa que, em média, metade dos neurônios será desligada em cada iteração.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3. **Treinamento Estocástico**: O </a:t>
            </a:r>
            <a:r>
              <a:rPr lang="pt-BR" dirty="0" err="1"/>
              <a:t>dropout</a:t>
            </a:r>
            <a:r>
              <a:rPr lang="pt-BR" dirty="0"/>
              <a:t> introduz uma forma de treinamento estocástico, onde a rede não pode depender excessivamente de nenhum neurônio específico. Isso obriga a rede a aprender recursos mais robustos e a generalizar melhor para dados que não foram vistos durante o treinamento.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4. **</a:t>
            </a:r>
            <a:r>
              <a:rPr lang="pt-BR" dirty="0" err="1"/>
              <a:t>Averaging</a:t>
            </a:r>
            <a:r>
              <a:rPr lang="pt-BR" dirty="0"/>
              <a:t> de Múltiplos Modelos**: O </a:t>
            </a:r>
            <a:r>
              <a:rPr lang="pt-BR" dirty="0" err="1"/>
              <a:t>dropout</a:t>
            </a:r>
            <a:r>
              <a:rPr lang="pt-BR" dirty="0"/>
              <a:t> efetivamente treina várias </a:t>
            </a:r>
            <a:r>
              <a:rPr lang="pt-BR" dirty="0" err="1"/>
              <a:t>sub-redes</a:t>
            </a:r>
            <a:r>
              <a:rPr lang="pt-BR" dirty="0"/>
              <a:t> durante o treinamento, já que diferentes subconjuntos de neurônios são desligados a cada iteração. Isso é semelhante a treinar uma série de modelos diferentes e, durante a inferência, os resultados dessas </a:t>
            </a:r>
            <a:r>
              <a:rPr lang="pt-BR" dirty="0" err="1"/>
              <a:t>sub-redes</a:t>
            </a:r>
            <a:r>
              <a:rPr lang="pt-BR" dirty="0"/>
              <a:t> são médios ou ponderados de alguma forma para produzir a saída final da rede.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Benefícios do Dropout: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- Reduz o risco de sobreajuste, permitindo que a rede generalize melhor para novos dados.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- Ajuda a evitar a dependência excessiva de neurônios individuais, tornando o modelo mais robusto.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- Funciona bem em redes neurais profundas, onde o risco de </a:t>
            </a:r>
            <a:r>
              <a:rPr lang="pt-BR" dirty="0" err="1"/>
              <a:t>overfitting</a:t>
            </a:r>
            <a:r>
              <a:rPr lang="pt-BR" dirty="0"/>
              <a:t> é mais alto.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Embora o </a:t>
            </a:r>
            <a:r>
              <a:rPr lang="pt-BR" dirty="0" err="1"/>
              <a:t>dropout</a:t>
            </a:r>
            <a:r>
              <a:rPr lang="pt-BR" dirty="0"/>
              <a:t> seja uma técnica eficaz de regularização, é importante ajustar a taxa de </a:t>
            </a:r>
            <a:r>
              <a:rPr lang="pt-BR" dirty="0" err="1"/>
              <a:t>dropout</a:t>
            </a:r>
            <a:r>
              <a:rPr lang="pt-BR" dirty="0"/>
              <a:t> adequadamente, pois uma taxa muito alta pode prejudicar o aprendizado, enquanto uma taxa muito baixa pode não fornecer os benefícios desejados. A taxa de </a:t>
            </a:r>
            <a:r>
              <a:rPr lang="pt-BR" dirty="0" err="1"/>
              <a:t>dropout</a:t>
            </a:r>
            <a:r>
              <a:rPr lang="pt-BR" dirty="0"/>
              <a:t> é geralmente escolhida por meio de experimentação e validação cruzada em um conjunto de validação.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O "</a:t>
            </a:r>
            <a:r>
              <a:rPr lang="pt-BR" dirty="0" err="1"/>
              <a:t>early</a:t>
            </a:r>
            <a:r>
              <a:rPr lang="pt-BR" dirty="0"/>
              <a:t> stopping" (parada antecipada) é uma técnica de regularização utilizada em treinamento de redes neurais para evitar o sobreajuste e encontrar um ponto ótimo de convergência durante o treinamento. A ideia fundamental por trás do </a:t>
            </a:r>
            <a:r>
              <a:rPr lang="pt-BR" dirty="0" err="1"/>
              <a:t>early</a:t>
            </a:r>
            <a:r>
              <a:rPr lang="pt-BR" dirty="0"/>
              <a:t> stopping é interromper o treinamento do modelo assim que o desempenho em um conjunto de validação começa a piorar, em vez de continuar até que o modelo se ajuste demais aos dados de treinamento. Aqui está como o </a:t>
            </a:r>
            <a:r>
              <a:rPr lang="pt-BR" dirty="0" err="1"/>
              <a:t>early</a:t>
            </a:r>
            <a:r>
              <a:rPr lang="pt-BR" dirty="0"/>
              <a:t> stopping funciona: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1. **Conjunto de Treinamento e Conjunto de Validação**: Durante o treinamento de uma rede neural, geralmente divide-se o conjunto de dados em dois subconjuntos: um conjunto de treinamento usado para atualizar os pesos do modelo e um conjunto de validação usado para avaliar o desempenho do modelo em dados não vistos durante o treinamento.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2. **Monitoramento de Métricas**: À medida que o treinamento progride, as métricas de desempenho, como erro ou precisão, são calculadas regularmente no conjunto de validação. Essas métricas fornecem uma indicação de quão bem o modelo está generalizando para novos dados.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3. **Critério de Parada**: O critério de parada é uma métrica escolhida com base no problema e nas metas do treinamento. Pode ser o erro de validação, a precisão ou qualquer outra métrica relevante. O treinamento é interrompido quando a métrica de validação não melhora mais ou começa a piorar.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4. **Recuperação do Melhor Modelo**: Ao interromper o treinamento, o modelo é revertido para o ponto em que obteve o melhor desempenho no conjunto de validação. Esse modelo é então usado para inferência e avaliação em novos dados.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Os benefícios do </a:t>
            </a:r>
            <a:r>
              <a:rPr lang="pt-BR" dirty="0" err="1"/>
              <a:t>early</a:t>
            </a:r>
            <a:r>
              <a:rPr lang="pt-BR" dirty="0"/>
              <a:t> stopping incluem: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- Evita o sobreajuste: Ao interromper o treinamento antes que o modelo se ajuste demais aos dados de treinamento, o </a:t>
            </a:r>
            <a:r>
              <a:rPr lang="pt-BR" dirty="0" err="1"/>
              <a:t>early</a:t>
            </a:r>
            <a:r>
              <a:rPr lang="pt-BR" dirty="0"/>
              <a:t> stopping ajuda a obter modelos mais generalizados e melhores em dados de teste não vistos.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- Economiza tempo e recursos computacionais: O treinamento de redes neurais pode ser computacionalmente intensivo, e o </a:t>
            </a:r>
            <a:r>
              <a:rPr lang="pt-BR" dirty="0" err="1"/>
              <a:t>early</a:t>
            </a:r>
            <a:r>
              <a:rPr lang="pt-BR" dirty="0"/>
              <a:t> stopping pode ajudar a economizar tempo e recursos interrompendo o treinamento assim que não houver mais ganho significativo no desempenho.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- Melhora a robustez: Modelos treinados com </a:t>
            </a:r>
            <a:r>
              <a:rPr lang="pt-BR" dirty="0" err="1"/>
              <a:t>early</a:t>
            </a:r>
            <a:r>
              <a:rPr lang="pt-BR" dirty="0"/>
              <a:t> stopping tendem a ser mais robustos e menos sensíveis a variações nos dados de treinamento.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É importante ajustar o critério de parada, monitorar regularmente as métricas de validação e implementar o </a:t>
            </a:r>
            <a:r>
              <a:rPr lang="pt-BR" dirty="0" err="1"/>
              <a:t>early</a:t>
            </a:r>
            <a:r>
              <a:rPr lang="pt-BR" dirty="0"/>
              <a:t> stopping de maneira adequada para obter os melhores resultados. O </a:t>
            </a:r>
            <a:r>
              <a:rPr lang="pt-BR" dirty="0" err="1"/>
              <a:t>early</a:t>
            </a:r>
            <a:r>
              <a:rPr lang="pt-BR" dirty="0"/>
              <a:t> stopping é uma técnica eficaz, especialmente quando o conjunto de dados é limitado e não é possível coletar mais dados para treinamento.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09154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https://colab.research.google.com/github/zz4fap/tp557-iot-ml/blob/master/examples/</a:t>
            </a:r>
            <a:r>
              <a:rPr lang="en-US" dirty="0" err="1"/>
              <a:t>Sobreajuste_e_dropout.ipynb</a:t>
            </a: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Dropout é uma técnica de regularização usada em redes neurais para evitar o sobreajuste (</a:t>
            </a:r>
            <a:r>
              <a:rPr lang="pt-BR" dirty="0" err="1"/>
              <a:t>overfitting</a:t>
            </a:r>
            <a:r>
              <a:rPr lang="pt-BR" dirty="0"/>
              <a:t>). O sobreajuste ocorre quando uma rede neural se torna muito especializada nos dados de treinamento e não generaliza bem para novos dados. O </a:t>
            </a:r>
            <a:r>
              <a:rPr lang="pt-BR" dirty="0" err="1"/>
              <a:t>dropout</a:t>
            </a:r>
            <a:r>
              <a:rPr lang="pt-BR" dirty="0"/>
              <a:t> é uma abordagem eficaz para melhorar a generalização de uma rede neural. Aqui está como funciona: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1. **Desligamento Aleatório de Neurônios**: Durante o treinamento da rede neural, o </a:t>
            </a:r>
            <a:r>
              <a:rPr lang="pt-BR" dirty="0" err="1"/>
              <a:t>dropout</a:t>
            </a:r>
            <a:r>
              <a:rPr lang="pt-BR" dirty="0"/>
              <a:t> envolve aleatoriamente "desligar" ou "descartar" um subconjunto dos neurônios em cada camada. Isso significa que esses neurônios não contribuirão para o cálculo das saídas da rede durante essa iteração de treinamento.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2. **Taxa de Dropout**: Um </a:t>
            </a:r>
            <a:r>
              <a:rPr lang="pt-BR" dirty="0" err="1"/>
              <a:t>hiperparâmetro</a:t>
            </a:r>
            <a:r>
              <a:rPr lang="pt-BR" dirty="0"/>
              <a:t> chamado "taxa de </a:t>
            </a:r>
            <a:r>
              <a:rPr lang="pt-BR" dirty="0" err="1"/>
              <a:t>dropout</a:t>
            </a:r>
            <a:r>
              <a:rPr lang="pt-BR" dirty="0"/>
              <a:t>" é definido antes do treinamento. Essa taxa determina a probabilidade de um neurônio ser desligado durante cada iteração. Por exemplo, uma taxa de </a:t>
            </a:r>
            <a:r>
              <a:rPr lang="pt-BR" dirty="0" err="1"/>
              <a:t>dropout</a:t>
            </a:r>
            <a:r>
              <a:rPr lang="pt-BR" dirty="0"/>
              <a:t> de 0,5 significa que, em média, metade dos neurônios será desligada em cada iteração.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3. **Treinamento Estocástico**: O </a:t>
            </a:r>
            <a:r>
              <a:rPr lang="pt-BR" dirty="0" err="1"/>
              <a:t>dropout</a:t>
            </a:r>
            <a:r>
              <a:rPr lang="pt-BR" dirty="0"/>
              <a:t> introduz uma forma de treinamento estocástico, onde a rede não pode depender excessivamente de nenhum neurônio específico. Isso obriga a rede a aprender recursos mais robustos e a generalizar melhor para dados que não foram vistos durante o treinamento.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4. **</a:t>
            </a:r>
            <a:r>
              <a:rPr lang="pt-BR" dirty="0" err="1"/>
              <a:t>Averaging</a:t>
            </a:r>
            <a:r>
              <a:rPr lang="pt-BR" dirty="0"/>
              <a:t> de Múltiplos Modelos**: O </a:t>
            </a:r>
            <a:r>
              <a:rPr lang="pt-BR" dirty="0" err="1"/>
              <a:t>dropout</a:t>
            </a:r>
            <a:r>
              <a:rPr lang="pt-BR" dirty="0"/>
              <a:t> efetivamente treina várias </a:t>
            </a:r>
            <a:r>
              <a:rPr lang="pt-BR" dirty="0" err="1"/>
              <a:t>sub-redes</a:t>
            </a:r>
            <a:r>
              <a:rPr lang="pt-BR" dirty="0"/>
              <a:t> durante o treinamento, já que diferentes subconjuntos de neurônios são desligados a cada iteração. Isso é semelhante a treinar uma série de modelos diferentes e, durante a inferência, os resultados dessas </a:t>
            </a:r>
            <a:r>
              <a:rPr lang="pt-BR" dirty="0" err="1"/>
              <a:t>sub-redes</a:t>
            </a:r>
            <a:r>
              <a:rPr lang="pt-BR" dirty="0"/>
              <a:t> são médios ou ponderados de alguma forma para produzir a saída final da rede.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Benefícios do Dropout: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- Reduz o risco de sobreajuste, permitindo que a rede generalize melhor para novos dados.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- Ajuda a evitar a dependência excessiva de neurônios individuais, tornando o modelo mais robusto.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- Funciona bem em redes neurais profundas, onde o risco de </a:t>
            </a:r>
            <a:r>
              <a:rPr lang="pt-BR" dirty="0" err="1"/>
              <a:t>overfitting</a:t>
            </a:r>
            <a:r>
              <a:rPr lang="pt-BR" dirty="0"/>
              <a:t> é mais alto.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Embora o </a:t>
            </a:r>
            <a:r>
              <a:rPr lang="pt-BR" dirty="0" err="1"/>
              <a:t>dropout</a:t>
            </a:r>
            <a:r>
              <a:rPr lang="pt-BR" dirty="0"/>
              <a:t> seja uma técnica eficaz de regularização, é importante ajustar a taxa de </a:t>
            </a:r>
            <a:r>
              <a:rPr lang="pt-BR" dirty="0" err="1"/>
              <a:t>dropout</a:t>
            </a:r>
            <a:r>
              <a:rPr lang="pt-BR" dirty="0"/>
              <a:t> adequadamente, pois uma taxa muito alta pode prejudicar o aprendizado, enquanto uma taxa muito baixa pode não fornecer os benefícios desejados. A taxa de </a:t>
            </a:r>
            <a:r>
              <a:rPr lang="pt-BR" dirty="0" err="1"/>
              <a:t>dropout</a:t>
            </a:r>
            <a:r>
              <a:rPr lang="pt-BR" dirty="0"/>
              <a:t> é geralmente escolhida por meio de experimentação e validação cruzada em um conjunto de validação.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6825531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Heuristicamente: de forma simplista, intuitiva, </a:t>
            </a:r>
            <a:r>
              <a:rPr lang="pt-BR" b="0" i="0" dirty="0">
                <a:solidFill>
                  <a:srgbClr val="1F1F1F"/>
                </a:solidFill>
                <a:effectLst/>
                <a:latin typeface="Google Sans"/>
              </a:rPr>
              <a:t>analogia aproximada, mas não perfeita.</a:t>
            </a: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1643588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Heuristicamente: de forma simplista, intuitiva, </a:t>
            </a:r>
            <a:r>
              <a:rPr lang="pt-BR" b="0" i="0" dirty="0">
                <a:solidFill>
                  <a:srgbClr val="1F1F1F"/>
                </a:solidFill>
                <a:effectLst/>
                <a:latin typeface="Google Sans"/>
              </a:rPr>
              <a:t>analogia aproximada, mas não perfeita.</a:t>
            </a: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Referência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[1] https://www.deeplearningbook.com.br/capitulo-23-como-funciona-o-dropout/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Exemplo: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[1] https://colab.research.google.com/github/zz4fap/tp557-iot-ml/blob/master/examples/</a:t>
            </a:r>
            <a:r>
              <a:rPr lang="en-US" dirty="0" err="1"/>
              <a:t>Sobreajuste_e_dropout.ipynb</a:t>
            </a: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Dropout é uma técnica de regularização usada em redes neurais para evitar o sobreajuste (</a:t>
            </a:r>
            <a:r>
              <a:rPr lang="pt-BR" dirty="0" err="1"/>
              <a:t>overfitting</a:t>
            </a:r>
            <a:r>
              <a:rPr lang="pt-BR" dirty="0"/>
              <a:t>). O sobreajuste ocorre quando uma rede neural se torna muito especializada nos dados de treinamento e não generaliza bem para novos dados. O </a:t>
            </a:r>
            <a:r>
              <a:rPr lang="pt-BR" dirty="0" err="1"/>
              <a:t>dropout</a:t>
            </a:r>
            <a:r>
              <a:rPr lang="pt-BR" dirty="0"/>
              <a:t> é uma abordagem eficaz para melhorar a generalização de uma rede neural. Aqui está como funciona: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1. **Desligamento Aleatório de Neurônios**: Durante o treinamento da rede neural, o </a:t>
            </a:r>
            <a:r>
              <a:rPr lang="pt-BR" dirty="0" err="1"/>
              <a:t>dropout</a:t>
            </a:r>
            <a:r>
              <a:rPr lang="pt-BR" dirty="0"/>
              <a:t> envolve aleatoriamente "desligar" ou "descartar" um subconjunto dos neurônios em cada camada. Isso significa que esses neurônios não contribuirão para o cálculo das saídas da rede durante essa iteração de treinamento.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2. **Taxa de Dropout**: Um </a:t>
            </a:r>
            <a:r>
              <a:rPr lang="pt-BR" dirty="0" err="1"/>
              <a:t>hiperparâmetro</a:t>
            </a:r>
            <a:r>
              <a:rPr lang="pt-BR" dirty="0"/>
              <a:t> chamado "taxa de </a:t>
            </a:r>
            <a:r>
              <a:rPr lang="pt-BR" dirty="0" err="1"/>
              <a:t>dropout</a:t>
            </a:r>
            <a:r>
              <a:rPr lang="pt-BR" dirty="0"/>
              <a:t>" é definido antes do treinamento. Essa taxa determina a probabilidade de um neurônio ser desligado durante cada iteração. Por exemplo, uma taxa de </a:t>
            </a:r>
            <a:r>
              <a:rPr lang="pt-BR" dirty="0" err="1"/>
              <a:t>dropout</a:t>
            </a:r>
            <a:r>
              <a:rPr lang="pt-BR" dirty="0"/>
              <a:t> de 0,5 significa que, em média, metade dos neurônios será desligada em cada iteração.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3. **Treinamento Estocástico**: O </a:t>
            </a:r>
            <a:r>
              <a:rPr lang="pt-BR" dirty="0" err="1"/>
              <a:t>dropout</a:t>
            </a:r>
            <a:r>
              <a:rPr lang="pt-BR" dirty="0"/>
              <a:t> introduz uma forma de treinamento estocástico, onde a rede não pode depender excessivamente de nenhum neurônio específico. Isso obriga a rede a aprender recursos mais robustos e a generalizar melhor para dados que não foram vistos durante o treinamento.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4. **</a:t>
            </a:r>
            <a:r>
              <a:rPr lang="pt-BR" dirty="0" err="1"/>
              <a:t>Averaging</a:t>
            </a:r>
            <a:r>
              <a:rPr lang="pt-BR" dirty="0"/>
              <a:t> de Múltiplos Modelos**: O </a:t>
            </a:r>
            <a:r>
              <a:rPr lang="pt-BR" dirty="0" err="1"/>
              <a:t>dropout</a:t>
            </a:r>
            <a:r>
              <a:rPr lang="pt-BR" dirty="0"/>
              <a:t> efetivamente treina várias </a:t>
            </a:r>
            <a:r>
              <a:rPr lang="pt-BR" dirty="0" err="1"/>
              <a:t>sub-redes</a:t>
            </a:r>
            <a:r>
              <a:rPr lang="pt-BR" dirty="0"/>
              <a:t> durante o treinamento, já que diferentes subconjuntos de neurônios são desligados a cada iteração. Isso é semelhante a treinar uma série de modelos diferentes e, durante a inferência, os resultados dessas </a:t>
            </a:r>
            <a:r>
              <a:rPr lang="pt-BR" dirty="0" err="1"/>
              <a:t>sub-redes</a:t>
            </a:r>
            <a:r>
              <a:rPr lang="pt-BR" dirty="0"/>
              <a:t> são médios ou ponderados de alguma forma para produzir a saída final da rede.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Benefícios do Dropout: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- Reduz o risco de sobreajuste, permitindo que a rede generalize melhor para novos dados.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- Ajuda a evitar a dependência excessiva de neurônios individuais, tornando o modelo mais robusto.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- Funciona bem em redes neurais profundas, onde o risco de </a:t>
            </a:r>
            <a:r>
              <a:rPr lang="pt-BR" dirty="0" err="1"/>
              <a:t>overfitting</a:t>
            </a:r>
            <a:r>
              <a:rPr lang="pt-BR" dirty="0"/>
              <a:t> é mais alto.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Embora o </a:t>
            </a:r>
            <a:r>
              <a:rPr lang="pt-BR" dirty="0" err="1"/>
              <a:t>dropout</a:t>
            </a:r>
            <a:r>
              <a:rPr lang="pt-BR" dirty="0"/>
              <a:t> seja uma técnica eficaz de regularização, é importante ajustar a taxa de </a:t>
            </a:r>
            <a:r>
              <a:rPr lang="pt-BR" dirty="0" err="1"/>
              <a:t>dropout</a:t>
            </a:r>
            <a:r>
              <a:rPr lang="pt-BR" dirty="0"/>
              <a:t> adequadamente, pois uma taxa muito alta pode prejudicar o aprendizado, enquanto uma taxa muito baixa pode não fornecer os benefícios desejados. A taxa de </a:t>
            </a:r>
            <a:r>
              <a:rPr lang="pt-BR" dirty="0" err="1"/>
              <a:t>dropout</a:t>
            </a:r>
            <a:r>
              <a:rPr lang="pt-BR" dirty="0"/>
              <a:t> é geralmente escolhida por meio de experimentação e validação cruzada em um conjunto de validação.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38774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Heuristicamente: de forma simplista, intuitiva, </a:t>
            </a:r>
            <a:r>
              <a:rPr lang="pt-BR" b="0" i="0" dirty="0">
                <a:solidFill>
                  <a:srgbClr val="1F1F1F"/>
                </a:solidFill>
                <a:effectLst/>
                <a:latin typeface="Google Sans"/>
              </a:rPr>
              <a:t>analogia aproximada, mas não perfeita.</a:t>
            </a: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Referência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[1] https://www.deeplearningbook.com.br/capitulo-23-como-funciona-o-dropout/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Exemplo: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[1] https://colab.research.google.com/github/zz4fap/tp557-iot-ml/blob/master/examples/</a:t>
            </a:r>
            <a:r>
              <a:rPr lang="en-US" dirty="0" err="1"/>
              <a:t>Sobreajuste_e_dropout.ipynb</a:t>
            </a: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Dropout é uma técnica de regularização usada em redes neurais para evitar o sobreajuste (</a:t>
            </a:r>
            <a:r>
              <a:rPr lang="pt-BR" dirty="0" err="1"/>
              <a:t>overfitting</a:t>
            </a:r>
            <a:r>
              <a:rPr lang="pt-BR" dirty="0"/>
              <a:t>). O sobreajuste ocorre quando uma rede neural se torna muito especializada nos dados de treinamento e não generaliza bem para novos dados. O </a:t>
            </a:r>
            <a:r>
              <a:rPr lang="pt-BR" dirty="0" err="1"/>
              <a:t>dropout</a:t>
            </a:r>
            <a:r>
              <a:rPr lang="pt-BR" dirty="0"/>
              <a:t> é uma abordagem eficaz para melhorar a generalização de uma rede neural. Aqui está como funciona: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1. **Desligamento Aleatório de Neurônios**: Durante o treinamento da rede neural, o </a:t>
            </a:r>
            <a:r>
              <a:rPr lang="pt-BR" dirty="0" err="1"/>
              <a:t>dropout</a:t>
            </a:r>
            <a:r>
              <a:rPr lang="pt-BR" dirty="0"/>
              <a:t> envolve aleatoriamente "desligar" ou "descartar" um subconjunto dos neurônios em cada camada. Isso significa que esses neurônios não contribuirão para o cálculo das saídas da rede durante essa iteração de treinamento.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2. **Taxa de Dropout**: Um </a:t>
            </a:r>
            <a:r>
              <a:rPr lang="pt-BR" dirty="0" err="1"/>
              <a:t>hiperparâmetro</a:t>
            </a:r>
            <a:r>
              <a:rPr lang="pt-BR" dirty="0"/>
              <a:t> chamado "taxa de </a:t>
            </a:r>
            <a:r>
              <a:rPr lang="pt-BR" dirty="0" err="1"/>
              <a:t>dropout</a:t>
            </a:r>
            <a:r>
              <a:rPr lang="pt-BR" dirty="0"/>
              <a:t>" é definido antes do treinamento. Essa taxa determina a probabilidade de um neurônio ser desligado durante cada iteração. Por exemplo, uma taxa de </a:t>
            </a:r>
            <a:r>
              <a:rPr lang="pt-BR" dirty="0" err="1"/>
              <a:t>dropout</a:t>
            </a:r>
            <a:r>
              <a:rPr lang="pt-BR" dirty="0"/>
              <a:t> de 0,5 significa que, em média, metade dos neurônios será desligada em cada iteração.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3. **Treinamento Estocástico**: O </a:t>
            </a:r>
            <a:r>
              <a:rPr lang="pt-BR" dirty="0" err="1"/>
              <a:t>dropout</a:t>
            </a:r>
            <a:r>
              <a:rPr lang="pt-BR" dirty="0"/>
              <a:t> introduz uma forma de treinamento estocástico, onde a rede não pode depender excessivamente de nenhum neurônio específico. Isso obriga a rede a aprender recursos mais robustos e a generalizar melhor para dados que não foram vistos durante o treinamento.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4. **</a:t>
            </a:r>
            <a:r>
              <a:rPr lang="pt-BR" dirty="0" err="1"/>
              <a:t>Averaging</a:t>
            </a:r>
            <a:r>
              <a:rPr lang="pt-BR" dirty="0"/>
              <a:t> de Múltiplos Modelos**: O </a:t>
            </a:r>
            <a:r>
              <a:rPr lang="pt-BR" dirty="0" err="1"/>
              <a:t>dropout</a:t>
            </a:r>
            <a:r>
              <a:rPr lang="pt-BR" dirty="0"/>
              <a:t> efetivamente treina várias </a:t>
            </a:r>
            <a:r>
              <a:rPr lang="pt-BR" dirty="0" err="1"/>
              <a:t>sub-redes</a:t>
            </a:r>
            <a:r>
              <a:rPr lang="pt-BR" dirty="0"/>
              <a:t> durante o treinamento, já que diferentes subconjuntos de neurônios são desligados a cada iteração. Isso é semelhante a treinar uma série de modelos diferentes e, durante a inferência, os resultados dessas </a:t>
            </a:r>
            <a:r>
              <a:rPr lang="pt-BR" dirty="0" err="1"/>
              <a:t>sub-redes</a:t>
            </a:r>
            <a:r>
              <a:rPr lang="pt-BR" dirty="0"/>
              <a:t> são médios ou ponderados de alguma forma para produzir a saída final da rede.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Benefícios do Dropout: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- Reduz o risco de sobreajuste, permitindo que a rede generalize melhor para novos dados.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- Ajuda a evitar a dependência excessiva de neurônios individuais, tornando o modelo mais robusto.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- Funciona bem em redes neurais profundas, onde o risco de </a:t>
            </a:r>
            <a:r>
              <a:rPr lang="pt-BR" dirty="0" err="1"/>
              <a:t>overfitting</a:t>
            </a:r>
            <a:r>
              <a:rPr lang="pt-BR" dirty="0"/>
              <a:t> é mais alto.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Embora o </a:t>
            </a:r>
            <a:r>
              <a:rPr lang="pt-BR" dirty="0" err="1"/>
              <a:t>dropout</a:t>
            </a:r>
            <a:r>
              <a:rPr lang="pt-BR" dirty="0"/>
              <a:t> seja uma técnica eficaz de regularização, é importante ajustar a taxa de </a:t>
            </a:r>
            <a:r>
              <a:rPr lang="pt-BR" dirty="0" err="1"/>
              <a:t>dropout</a:t>
            </a:r>
            <a:r>
              <a:rPr lang="pt-BR" dirty="0"/>
              <a:t> adequadamente, pois uma taxa muito alta pode prejudicar o aprendizado, enquanto uma taxa muito baixa pode não fornecer os benefícios desejados. A taxa de </a:t>
            </a:r>
            <a:r>
              <a:rPr lang="pt-BR" dirty="0" err="1"/>
              <a:t>dropout</a:t>
            </a:r>
            <a:r>
              <a:rPr lang="pt-BR" dirty="0"/>
              <a:t> é geralmente escolhida por meio de experimentação e validação cruzada em um conjunto de validação.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6444350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https://colab.research.google.com/github/zz4fap/tp557-iot-ml/blob/master/examples/Treinamento_com_e_sem_data_augmentation.ipynb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902626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https://colab.research.google.com/github/zz4fap/tp557-iot-ml/blob/master/examples/</a:t>
            </a:r>
            <a:r>
              <a:rPr lang="pt-BR" sz="1200" dirty="0"/>
              <a:t>data_augmentation.ipynb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5278945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b="1" i="0" dirty="0">
                <a:solidFill>
                  <a:srgbClr val="575757"/>
                </a:solidFill>
                <a:effectLst/>
                <a:latin typeface="georgia" panose="02040502050405020303" pitchFamily="18" charset="0"/>
              </a:rPr>
              <a:t>The number of parameters</a:t>
            </a:r>
            <a:r>
              <a:rPr lang="en-US" b="0" i="0" dirty="0">
                <a:solidFill>
                  <a:srgbClr val="575757"/>
                </a:solidFill>
                <a:effectLst/>
                <a:latin typeface="georgia" panose="02040502050405020303" pitchFamily="18" charset="0"/>
              </a:rPr>
              <a:t>: When there is a large number of tunable parameters, which is also sometimes called the </a:t>
            </a:r>
            <a:r>
              <a:rPr lang="en-US" b="0" i="1" dirty="0">
                <a:solidFill>
                  <a:srgbClr val="575757"/>
                </a:solidFill>
                <a:effectLst/>
                <a:latin typeface="georgia" panose="02040502050405020303" pitchFamily="18" charset="0"/>
              </a:rPr>
              <a:t>degrees of freedom</a:t>
            </a:r>
            <a:r>
              <a:rPr lang="en-US" b="0" i="0" dirty="0">
                <a:solidFill>
                  <a:srgbClr val="575757"/>
                </a:solidFill>
                <a:effectLst/>
                <a:latin typeface="georgia" panose="02040502050405020303" pitchFamily="18" charset="0"/>
              </a:rPr>
              <a:t>, the models tend to be more susceptible to overfitting.</a:t>
            </a:r>
          </a:p>
          <a:p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https://colab.research.google.com/github/zz4fap/tp557-iot-ml/blob/master/</a:t>
            </a:r>
            <a:r>
              <a:rPr lang="pt-BR" dirty="0" err="1"/>
              <a:t>examples</a:t>
            </a:r>
            <a:r>
              <a:rPr lang="pt-BR" dirty="0"/>
              <a:t>/</a:t>
            </a:r>
            <a:r>
              <a:rPr lang="pt-BR" dirty="0" err="1"/>
              <a:t>Sobreajuste_e_otimização_hiperparamétrica</a:t>
            </a:r>
            <a:r>
              <a:rPr lang="pt-BR" sz="1200" dirty="0" err="1"/>
              <a:t>.ipynb</a:t>
            </a: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9230170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https://colab.research.google.com/github/zz4fap/tp557-iot-ml/blob/master/examples/</a:t>
            </a:r>
            <a:r>
              <a:rPr lang="pt-BR" sz="1200" dirty="0"/>
              <a:t>transfer_learning.ipynb</a:t>
            </a: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0436263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Base de dados: https://drive.google.com/file/d/1843ScaJU3UuTBDQxzAXUazFn0b7__Dca/view?usp=drive_link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1886553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Base de dados: https://drive.google.com/file/d/1843ScaJU3UuTBDQxzAXUazFn0b7__Dca/view?usp=drive_link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5695165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https://colab.research.google.com/github/zz4fap/tp557-iot-ml/blob/master/exercises/exercicio_transfer_learning.ipynb</a:t>
            </a:r>
          </a:p>
          <a:p>
            <a:endParaRPr lang="pt-BR" dirty="0"/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4792245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2226795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0073698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https://www.biorxiv.org/content/10.1101/2021.08.19.457035v1.full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1814980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15/05/2025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15/05/2025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15/05/2025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15/05/2025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15/05/2025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15/05/2025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15/05/2025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15/05/2025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15/05/2025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15/05/2025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15/05/2025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15/05/2025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zz4fap/tp557-iot-ml/blob/master/examples/Overfitting.ipynb" TargetMode="External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colab.research.google.com/github/zz4fap/tp557-iot-ml/blob/master/examples/Overffiting.ipynb" TargetMode="Externa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hyperlink" Target="https://colab.research.google.com/github/zz4fap/tp557-iot-ml/blob/master/examples/validacao_cruzada_k_fold.ipynb" TargetMode="External"/><Relationship Id="rId4" Type="http://schemas.openxmlformats.org/officeDocument/2006/relationships/image" Target="../media/image1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130.png"/><Relationship Id="rId4" Type="http://schemas.openxmlformats.org/officeDocument/2006/relationships/image" Target="../media/image13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zz4fap/tp557-iot-ml/blob/master/examples/Sobreajuste_e_early_stop.ipynb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image" Target="../media/image14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zz4fap/tp557-iot-ml/blob/master/examples/Sobreajuste_e_dropout.ipynb" TargetMode="Externa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colab.research.google.com/github/zz4fap/tp557-iot-ml/blob/master/examples/Treinamento_com_e_sem_data_augmentation.ipynb" TargetMode="Externa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7" Type="http://schemas.openxmlformats.org/officeDocument/2006/relationships/hyperlink" Target="https://colab.research.google.com/github/zz4fap/tp557-iot-ml/blob/master/examples/data_augmentation.ipynb" TargetMode="External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colab.research.google.com/github/zz4fap/tp557-iot-ml/blob/master/examples/Sobreajuste_e_otimiza&#231;&#227;o_hiperparam&#233;trica.ipynb" TargetMode="Externa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jpe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jpe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jpe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jpe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jpe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zz4fap/tp557-iot-ml/blob/master/examples/transfer_learning.ipynb" TargetMode="Externa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hyperlink" Target="https://studio.edgeimpulse.com/login" TargetMode="Externa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8.png"/><Relationship Id="rId4" Type="http://schemas.openxmlformats.org/officeDocument/2006/relationships/hyperlink" Target="https://github.com/AI-Lab-Makerere/ibean/?tab=readme-ov-file" TargetMode="Externa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zz4fap/tp557-iot-ml/blob/master/exercises/exercicio_transfer_learning.ipynb" TargetMode="External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7" Type="http://schemas.openxmlformats.org/officeDocument/2006/relationships/image" Target="../media/image43.jpe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2.png"/><Relationship Id="rId5" Type="http://schemas.openxmlformats.org/officeDocument/2006/relationships/image" Target="../media/image39.png"/><Relationship Id="rId4" Type="http://schemas.openxmlformats.org/officeDocument/2006/relationships/image" Target="../media/image41.png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jpe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jpe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63783" y="819807"/>
            <a:ext cx="10092796" cy="2690156"/>
          </a:xfrm>
        </p:spPr>
        <p:txBody>
          <a:bodyPr>
            <a:normAutofit/>
          </a:bodyPr>
          <a:lstStyle/>
          <a:p>
            <a:r>
              <a:rPr lang="pt-BR" sz="5400" dirty="0"/>
              <a:t>TP557 - Tópicos avançados em IoT e </a:t>
            </a:r>
            <a:r>
              <a:rPr lang="pt-BR" sz="5400" dirty="0" err="1"/>
              <a:t>Machine</a:t>
            </a:r>
            <a:r>
              <a:rPr lang="pt-BR" sz="5400" dirty="0"/>
              <a:t> Learning:</a:t>
            </a:r>
            <a:br>
              <a:rPr lang="pt-BR" dirty="0"/>
            </a:br>
            <a:r>
              <a:rPr lang="pt-BR" b="1" i="1" dirty="0"/>
              <a:t>Prevenindo o sobreajuste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430EB894-B7D4-434C-9D1A-A14094D9BEEC}"/>
              </a:ext>
            </a:extLst>
          </p:cNvPr>
          <p:cNvSpPr txBox="1"/>
          <p:nvPr/>
        </p:nvSpPr>
        <p:spPr>
          <a:xfrm>
            <a:off x="7915801" y="57806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Augusto Pereira de Figueiredo</a:t>
            </a:r>
          </a:p>
          <a:p>
            <a:r>
              <a:rPr lang="pt-BR" dirty="0"/>
              <a:t>felipe.figueiredo@inatel.br</a:t>
            </a:r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6785107" y="3429000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IoT Group">
            <a:extLst>
              <a:ext uri="{FF2B5EF4-FFF2-40B4-BE49-F238E27FC236}">
                <a16:creationId xmlns:a16="http://schemas.microsoft.com/office/drawing/2014/main" id="{AC034F57-E830-B6E7-6790-12FDBBDB297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r="63551" b="22561"/>
          <a:stretch/>
        </p:blipFill>
        <p:spPr bwMode="auto">
          <a:xfrm>
            <a:off x="2899985" y="3509963"/>
            <a:ext cx="2509138" cy="20099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ECB3FED-5D1A-7084-5333-A3B2FA75F6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vamos ver?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5FE7774-7186-A846-D8DE-518B2CBF4E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54103" cy="5032376"/>
          </a:xfrm>
        </p:spPr>
        <p:txBody>
          <a:bodyPr>
            <a:normAutofit/>
          </a:bodyPr>
          <a:lstStyle/>
          <a:p>
            <a:r>
              <a:rPr lang="pt-BR" b="0" i="0" dirty="0">
                <a:effectLst/>
              </a:rPr>
              <a:t>Vimos anteriormente que o sobreajuste (</a:t>
            </a:r>
            <a:r>
              <a:rPr lang="pt-BR" b="0" i="1" dirty="0" err="1">
                <a:effectLst/>
              </a:rPr>
              <a:t>overfitting</a:t>
            </a:r>
            <a:r>
              <a:rPr lang="pt-BR" b="0" i="0" dirty="0">
                <a:effectLst/>
              </a:rPr>
              <a:t>) é um fenômeno indesejado que ocorre em modelos de aprendizado de máquina, no qual o modelo se </a:t>
            </a:r>
            <a:r>
              <a:rPr lang="pt-BR" b="1" i="1" dirty="0">
                <a:solidFill>
                  <a:srgbClr val="00B050"/>
                </a:solidFill>
                <a:effectLst/>
              </a:rPr>
              <a:t>ajusta excessivamente aos dados de treinamento</a:t>
            </a:r>
            <a:r>
              <a:rPr lang="pt-BR" b="0" i="0" dirty="0">
                <a:effectLst/>
              </a:rPr>
              <a:t>, em vez de generalizar bem para dados inéditos. </a:t>
            </a:r>
          </a:p>
          <a:p>
            <a:r>
              <a:rPr lang="pt-BR" b="0" i="0" dirty="0">
                <a:effectLst/>
              </a:rPr>
              <a:t>Em outras palavras, o </a:t>
            </a:r>
            <a:r>
              <a:rPr lang="pt-BR" b="1" i="1" dirty="0">
                <a:solidFill>
                  <a:srgbClr val="00B050"/>
                </a:solidFill>
                <a:effectLst/>
              </a:rPr>
              <a:t>modelo "decora" os dados de treinamento capturando </a:t>
            </a:r>
            <a:r>
              <a:rPr lang="pt-BR" b="1" i="1" dirty="0">
                <a:solidFill>
                  <a:srgbClr val="7030A0"/>
                </a:solidFill>
                <a:effectLst/>
              </a:rPr>
              <a:t>até mesmo a variação residual (e.g., ruído) </a:t>
            </a:r>
            <a:r>
              <a:rPr lang="pt-BR" b="1" i="1" dirty="0">
                <a:solidFill>
                  <a:srgbClr val="00B050"/>
                </a:solidFill>
                <a:effectLst/>
              </a:rPr>
              <a:t>presente nos dados</a:t>
            </a:r>
            <a:r>
              <a:rPr lang="pt-BR" b="0" i="0" dirty="0">
                <a:effectLst/>
              </a:rPr>
              <a:t> em vez de aprender o padrão geral que pode ser aplicado a exemplos desconhecidos.</a:t>
            </a:r>
          </a:p>
          <a:p>
            <a:r>
              <a:rPr lang="pt-BR" dirty="0"/>
              <a:t>Em geral, é </a:t>
            </a:r>
            <a:r>
              <a:rPr lang="pt-BR" b="1" i="1" dirty="0">
                <a:solidFill>
                  <a:srgbClr val="7030A0"/>
                </a:solidFill>
              </a:rPr>
              <a:t>mais comum um modelo </a:t>
            </a:r>
            <a:r>
              <a:rPr lang="pt-BR" dirty="0"/>
              <a:t>se </a:t>
            </a:r>
            <a:r>
              <a:rPr lang="pt-BR" b="1" i="1" dirty="0">
                <a:solidFill>
                  <a:srgbClr val="00B050"/>
                </a:solidFill>
              </a:rPr>
              <a:t>sobreajustar</a:t>
            </a:r>
            <a:r>
              <a:rPr lang="pt-BR" dirty="0"/>
              <a:t> do que subajustar.</a:t>
            </a:r>
            <a:endParaRPr lang="pt-BR" b="0" i="0" dirty="0">
              <a:effectLst/>
            </a:endParaRPr>
          </a:p>
          <a:p>
            <a:r>
              <a:rPr lang="pt-BR" dirty="0"/>
              <a:t>Portanto, neste tópico, veremos algumas formas de se evitar o sobreajuste.</a:t>
            </a:r>
          </a:p>
        </p:txBody>
      </p:sp>
    </p:spTree>
    <p:extLst>
      <p:ext uri="{BB962C8B-B14F-4D97-AF65-F5344CB8AC3E}">
        <p14:creationId xmlns:p14="http://schemas.microsoft.com/office/powerpoint/2010/main" val="5297399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4171677-0DA6-0EA4-AABC-F9A0125F7A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Sobreajuste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578AC6E-9849-E110-636E-7C2D924C2F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75243" y="1825624"/>
            <a:ext cx="6335248" cy="5032375"/>
          </a:xfrm>
        </p:spPr>
        <p:txBody>
          <a:bodyPr>
            <a:normAutofit lnSpcReduction="10000"/>
          </a:bodyPr>
          <a:lstStyle/>
          <a:p>
            <a:r>
              <a:rPr lang="pt-BR" dirty="0"/>
              <a:t>A figura ao lado mostra 11 </a:t>
            </a:r>
            <a:r>
              <a:rPr lang="pt-BR" b="1" i="1" dirty="0">
                <a:solidFill>
                  <a:srgbClr val="00B050"/>
                </a:solidFill>
              </a:rPr>
              <a:t>amostras ruidosas</a:t>
            </a:r>
            <a:r>
              <a:rPr lang="pt-BR" dirty="0"/>
              <a:t> geradas a partir de uma reta, chamada de </a:t>
            </a:r>
            <a:r>
              <a:rPr lang="pt-BR" b="1" i="1" dirty="0">
                <a:solidFill>
                  <a:srgbClr val="7030A0"/>
                </a:solidFill>
              </a:rPr>
              <a:t>função objetivo</a:t>
            </a:r>
            <a:r>
              <a:rPr lang="pt-BR" dirty="0"/>
              <a:t>.</a:t>
            </a:r>
          </a:p>
          <a:p>
            <a:r>
              <a:rPr lang="pt-BR" dirty="0"/>
              <a:t>Elas são aproximadas por uma (outra) </a:t>
            </a:r>
            <a:r>
              <a:rPr lang="pt-BR" b="1" i="1" dirty="0">
                <a:solidFill>
                  <a:srgbClr val="00B050"/>
                </a:solidFill>
              </a:rPr>
              <a:t>reta</a:t>
            </a:r>
            <a:r>
              <a:rPr lang="pt-BR" dirty="0"/>
              <a:t> e um </a:t>
            </a:r>
            <a:r>
              <a:rPr lang="pt-BR" b="1" i="1" dirty="0">
                <a:solidFill>
                  <a:srgbClr val="00B050"/>
                </a:solidFill>
              </a:rPr>
              <a:t>polinômio de ordem 11</a:t>
            </a:r>
            <a:r>
              <a:rPr lang="pt-BR" dirty="0"/>
              <a:t>. </a:t>
            </a:r>
          </a:p>
          <a:p>
            <a:r>
              <a:rPr lang="pt-BR" dirty="0"/>
              <a:t>Embora o </a:t>
            </a:r>
            <a:r>
              <a:rPr lang="pt-BR" b="1" i="1" dirty="0">
                <a:solidFill>
                  <a:srgbClr val="00B050"/>
                </a:solidFill>
              </a:rPr>
              <a:t>polinômio se ajuste perfeitamente</a:t>
            </a:r>
            <a:r>
              <a:rPr lang="pt-BR" dirty="0"/>
              <a:t> aos dados ruidosos, pode-se esperar que a </a:t>
            </a:r>
            <a:r>
              <a:rPr lang="pt-BR" b="1" i="1" dirty="0">
                <a:solidFill>
                  <a:srgbClr val="00B050"/>
                </a:solidFill>
              </a:rPr>
              <a:t>reta generalize melhor</a:t>
            </a:r>
            <a:r>
              <a:rPr lang="pt-BR" dirty="0"/>
              <a:t>. </a:t>
            </a:r>
          </a:p>
          <a:p>
            <a:r>
              <a:rPr lang="pt-BR" dirty="0"/>
              <a:t>Se as duas funções forem usadas para fazer predições além das 11 amostras, a </a:t>
            </a:r>
            <a:r>
              <a:rPr lang="pt-BR" b="1" i="1" dirty="0">
                <a:solidFill>
                  <a:srgbClr val="7030A0"/>
                </a:solidFill>
              </a:rPr>
              <a:t>reta</a:t>
            </a:r>
            <a:r>
              <a:rPr lang="pt-BR" dirty="0"/>
              <a:t> deve obter </a:t>
            </a:r>
            <a:r>
              <a:rPr lang="pt-BR" b="1" i="1" dirty="0">
                <a:solidFill>
                  <a:srgbClr val="00B050"/>
                </a:solidFill>
              </a:rPr>
              <a:t>melhores resultados no sentido da </a:t>
            </a:r>
            <a:r>
              <a:rPr lang="pt-BR" b="1" i="1" dirty="0">
                <a:solidFill>
                  <a:srgbClr val="7030A0"/>
                </a:solidFill>
              </a:rPr>
              <a:t>minimização do erro médio</a:t>
            </a:r>
            <a:r>
              <a:rPr lang="pt-BR" dirty="0"/>
              <a:t>.</a:t>
            </a:r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F226FF0E-2384-5A28-B8CB-B3AEB327795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3264" y="2393877"/>
            <a:ext cx="4337444" cy="32017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872379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4171677-0DA6-0EA4-AABC-F9A0125F7A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Sensibilidade aos dados de treinamento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578AC6E-9849-E110-636E-7C2D924C2F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44817" y="1825624"/>
            <a:ext cx="6265674" cy="5032375"/>
          </a:xfrm>
        </p:spPr>
        <p:txBody>
          <a:bodyPr>
            <a:normAutofit/>
          </a:bodyPr>
          <a:lstStyle/>
          <a:p>
            <a:r>
              <a:rPr lang="pt-BR" dirty="0"/>
              <a:t>Em essência, o </a:t>
            </a:r>
            <a:r>
              <a:rPr lang="pt-BR" b="1" i="1" dirty="0">
                <a:solidFill>
                  <a:srgbClr val="00B050"/>
                </a:solidFill>
              </a:rPr>
              <a:t>sobreajuste</a:t>
            </a:r>
            <a:r>
              <a:rPr lang="pt-BR" dirty="0"/>
              <a:t> faz com que um </a:t>
            </a:r>
            <a:r>
              <a:rPr lang="pt-BR" b="1" i="1" dirty="0">
                <a:solidFill>
                  <a:srgbClr val="00B050"/>
                </a:solidFill>
              </a:rPr>
              <a:t>modelo extraia</a:t>
            </a:r>
            <a:r>
              <a:rPr lang="pt-BR" dirty="0"/>
              <a:t>, sem saber, parte da </a:t>
            </a:r>
            <a:r>
              <a:rPr lang="pt-BR" b="1" i="1" dirty="0">
                <a:solidFill>
                  <a:srgbClr val="7030A0"/>
                </a:solidFill>
              </a:rPr>
              <a:t>variação residual</a:t>
            </a:r>
            <a:r>
              <a:rPr lang="pt-BR" dirty="0"/>
              <a:t>, </a:t>
            </a:r>
            <a:r>
              <a:rPr lang="pt-BR" b="1" i="1" dirty="0">
                <a:solidFill>
                  <a:srgbClr val="00B050"/>
                </a:solidFill>
              </a:rPr>
              <a:t>como se essa variação representasse o padrão geral por trás dos dados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i="1" dirty="0">
                <a:solidFill>
                  <a:srgbClr val="7030A0"/>
                </a:solidFill>
              </a:rPr>
              <a:t>Variação residual</a:t>
            </a:r>
            <a:r>
              <a:rPr lang="pt-BR" b="1" i="1" dirty="0"/>
              <a:t> </a:t>
            </a:r>
            <a:r>
              <a:rPr lang="pt-BR" b="0" i="0" dirty="0">
                <a:effectLst/>
              </a:rPr>
              <a:t>são </a:t>
            </a:r>
            <a:r>
              <a:rPr lang="pt-BR" b="1" i="1" dirty="0">
                <a:solidFill>
                  <a:srgbClr val="00B050"/>
                </a:solidFill>
                <a:effectLst/>
              </a:rPr>
              <a:t>padrões que não são significativos</a:t>
            </a:r>
            <a:r>
              <a:rPr lang="pt-BR" b="0" i="0" dirty="0">
                <a:effectLst/>
              </a:rPr>
              <a:t>, como por exemplo </a:t>
            </a:r>
            <a:r>
              <a:rPr lang="pt-BR" dirty="0"/>
              <a:t>o ruído presente nas amostras.</a:t>
            </a:r>
          </a:p>
          <a:p>
            <a:r>
              <a:rPr lang="pt-BR" dirty="0"/>
              <a:t>Um modelo </a:t>
            </a:r>
            <a:r>
              <a:rPr lang="pt-BR" b="1" i="1" dirty="0">
                <a:solidFill>
                  <a:srgbClr val="00B050"/>
                </a:solidFill>
              </a:rPr>
              <a:t>muito flexível</a:t>
            </a:r>
            <a:r>
              <a:rPr lang="pt-BR" dirty="0"/>
              <a:t>, que se sobreajusta aos dados de treinamento, apresenta </a:t>
            </a:r>
            <a:r>
              <a:rPr lang="pt-BR" b="1" i="1" dirty="0">
                <a:solidFill>
                  <a:srgbClr val="00B050"/>
                </a:solidFill>
              </a:rPr>
              <a:t>alta variância</a:t>
            </a:r>
            <a:r>
              <a:rPr lang="pt-BR" dirty="0"/>
              <a:t>.</a:t>
            </a:r>
          </a:p>
        </p:txBody>
      </p:sp>
      <p:pic>
        <p:nvPicPr>
          <p:cNvPr id="4" name="Picture 4">
            <a:extLst>
              <a:ext uri="{FF2B5EF4-FFF2-40B4-BE49-F238E27FC236}">
                <a16:creationId xmlns:a16="http://schemas.microsoft.com/office/drawing/2014/main" id="{2A78028C-8649-6A73-DF2B-60E5720D34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9840" y="2320725"/>
            <a:ext cx="4494808" cy="33179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657656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4171677-0DA6-0EA4-AABC-F9A0125F7A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Sensibilidade aos dados de treinamento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578AC6E-9849-E110-636E-7C2D924C2F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2618" y="1825624"/>
            <a:ext cx="6827873" cy="5032375"/>
          </a:xfrm>
        </p:spPr>
        <p:txBody>
          <a:bodyPr>
            <a:normAutofit/>
          </a:bodyPr>
          <a:lstStyle/>
          <a:p>
            <a:r>
              <a:rPr lang="pt-BR" dirty="0"/>
              <a:t>A alta variância</a:t>
            </a:r>
            <a:r>
              <a:rPr lang="pt-BR" b="0" i="0" dirty="0">
                <a:effectLst/>
              </a:rPr>
              <a:t> significa que o </a:t>
            </a:r>
            <a:r>
              <a:rPr lang="pt-BR" b="1" i="1" dirty="0">
                <a:solidFill>
                  <a:srgbClr val="00B050"/>
                </a:solidFill>
                <a:effectLst/>
              </a:rPr>
              <a:t>modelo</a:t>
            </a:r>
            <a:r>
              <a:rPr lang="pt-BR" b="0" i="0" dirty="0">
                <a:effectLst/>
              </a:rPr>
              <a:t> é </a:t>
            </a:r>
            <a:r>
              <a:rPr lang="pt-BR" b="1" i="1" dirty="0">
                <a:solidFill>
                  <a:srgbClr val="7030A0"/>
                </a:solidFill>
                <a:effectLst/>
              </a:rPr>
              <a:t>muito sensível </a:t>
            </a:r>
            <a:r>
              <a:rPr lang="pt-BR" b="1" i="1" dirty="0">
                <a:solidFill>
                  <a:srgbClr val="00B050"/>
                </a:solidFill>
                <a:effectLst/>
              </a:rPr>
              <a:t>às variações nos dados de treinamento</a:t>
            </a:r>
            <a:r>
              <a:rPr lang="pt-BR" b="0" i="0" dirty="0">
                <a:effectLst/>
              </a:rPr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 </a:t>
            </a:r>
            <a:r>
              <a:rPr lang="pt-BR" b="1" i="1" dirty="0">
                <a:solidFill>
                  <a:srgbClr val="7030A0"/>
                </a:solidFill>
              </a:rPr>
              <a:t>modelo será diferente para cada conjunto de treinamento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Nesse caso, o modelo se </a:t>
            </a:r>
            <a:r>
              <a:rPr lang="pt-BR" b="1" i="1" dirty="0">
                <a:solidFill>
                  <a:srgbClr val="00B050"/>
                </a:solidFill>
              </a:rPr>
              <a:t>distancia do padrão geral</a:t>
            </a:r>
            <a:r>
              <a:rPr lang="pt-BR" dirty="0"/>
              <a:t> por trás dos dados.</a:t>
            </a:r>
          </a:p>
          <a:p>
            <a:r>
              <a:rPr lang="pt-BR" dirty="0"/>
              <a:t>No exemplo ao lado ele irá se </a:t>
            </a:r>
            <a:r>
              <a:rPr lang="pt-BR" b="1" i="1" dirty="0">
                <a:solidFill>
                  <a:srgbClr val="00B050"/>
                </a:solidFill>
              </a:rPr>
              <a:t>ajustar tão bem aos dados que vai aprender até o ruído presente nas amostras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Cada conjunto de treinamento </a:t>
            </a:r>
            <a:r>
              <a:rPr lang="pt-BR" b="1" i="1" dirty="0">
                <a:solidFill>
                  <a:srgbClr val="00B050"/>
                </a:solidFill>
              </a:rPr>
              <a:t>corrompido com amostras ruidosas diferentes resultará em um modelo diferente</a:t>
            </a:r>
            <a:r>
              <a:rPr lang="pt-BR" dirty="0"/>
              <a:t>.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C5EA6DD7-9C22-986C-BD49-8D6BFDCF0F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509" y="2358415"/>
            <a:ext cx="4742523" cy="35548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39815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50957D9-D95B-09E9-2635-36F12E20F1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Complexidade (ou flexibilidade) ideal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41463E9-7187-5BEC-27A7-77212D6662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15001" y="1825624"/>
            <a:ext cx="6341164" cy="5032375"/>
          </a:xfrm>
        </p:spPr>
        <p:txBody>
          <a:bodyPr>
            <a:normAutofit/>
          </a:bodyPr>
          <a:lstStyle/>
          <a:p>
            <a:r>
              <a:rPr lang="pt-BR" b="0" dirty="0">
                <a:effectLst/>
              </a:rPr>
              <a:t>O modelo mostrado na figura ao lado tem ordem apropriada (i.e., ordem 1).</a:t>
            </a:r>
          </a:p>
          <a:p>
            <a:r>
              <a:rPr lang="pt-BR" b="0" dirty="0">
                <a:effectLst/>
              </a:rPr>
              <a:t>Percebam que ele </a:t>
            </a:r>
            <a:r>
              <a:rPr lang="pt-BR" b="1" i="1" dirty="0">
                <a:solidFill>
                  <a:srgbClr val="00B050"/>
                </a:solidFill>
                <a:effectLst/>
              </a:rPr>
              <a:t>não varia tanto</a:t>
            </a:r>
            <a:r>
              <a:rPr lang="pt-BR" b="0" dirty="0">
                <a:effectLst/>
              </a:rPr>
              <a:t>, como no exemplo anterior, </a:t>
            </a:r>
            <a:r>
              <a:rPr lang="pt-BR" b="1" i="1" dirty="0">
                <a:solidFill>
                  <a:srgbClr val="00B050"/>
                </a:solidFill>
                <a:effectLst/>
              </a:rPr>
              <a:t>quando se varia o ruído adicionado às amostras de treinamento</a:t>
            </a:r>
            <a:r>
              <a:rPr lang="pt-BR" b="0" dirty="0">
                <a:effectLst/>
              </a:rPr>
              <a:t>.</a:t>
            </a:r>
          </a:p>
          <a:p>
            <a:r>
              <a:rPr lang="pt-BR" b="0" dirty="0">
                <a:effectLst/>
              </a:rPr>
              <a:t>Um modelo que apresente </a:t>
            </a:r>
            <a:r>
              <a:rPr lang="pt-BR" b="1" i="1" dirty="0">
                <a:solidFill>
                  <a:srgbClr val="00B050"/>
                </a:solidFill>
                <a:effectLst/>
              </a:rPr>
              <a:t>flexibilidade ideal</a:t>
            </a:r>
            <a:r>
              <a:rPr lang="pt-BR" b="0" dirty="0">
                <a:effectLst/>
              </a:rPr>
              <a:t> terá </a:t>
            </a:r>
            <a:r>
              <a:rPr lang="pt-BR" b="1" i="1" dirty="0">
                <a:solidFill>
                  <a:srgbClr val="00B050"/>
                </a:solidFill>
                <a:effectLst/>
              </a:rPr>
              <a:t>baixa variância</a:t>
            </a:r>
            <a:r>
              <a:rPr lang="pt-BR" b="0" dirty="0">
                <a:effectLst/>
              </a:rPr>
              <a:t>, ou seja, ele sempre </a:t>
            </a:r>
            <a:r>
              <a:rPr lang="pt-BR" b="1" i="1" dirty="0">
                <a:solidFill>
                  <a:srgbClr val="00B050"/>
                </a:solidFill>
                <a:effectLst/>
              </a:rPr>
              <a:t>tenderá a capturar o padrão geral por trás das amostras</a:t>
            </a:r>
            <a:r>
              <a:rPr lang="pt-BR" b="0" dirty="0">
                <a:effectLst/>
              </a:rPr>
              <a:t>, </a:t>
            </a:r>
            <a:r>
              <a:rPr lang="pt-BR" b="1" i="1" dirty="0">
                <a:solidFill>
                  <a:srgbClr val="7030A0"/>
                </a:solidFill>
                <a:effectLst/>
              </a:rPr>
              <a:t>mesmo que ruidosas</a:t>
            </a:r>
            <a:r>
              <a:rPr lang="pt-BR" b="0" dirty="0">
                <a:effectLst/>
              </a:rPr>
              <a:t>.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736D35BB-0715-16C1-54DF-FD7798597DC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4256" y="2514600"/>
            <a:ext cx="4367709" cy="32739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A656B790-8EE3-573C-13FA-B02060A11DA4}"/>
              </a:ext>
            </a:extLst>
          </p:cNvPr>
          <p:cNvSpPr txBox="1"/>
          <p:nvPr/>
        </p:nvSpPr>
        <p:spPr>
          <a:xfrm>
            <a:off x="0" y="6581000"/>
            <a:ext cx="277744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200" dirty="0">
                <a:hlinkClick r:id="rId3"/>
              </a:rPr>
              <a:t>Exemplo: </a:t>
            </a:r>
            <a:r>
              <a:rPr lang="pt-BR" sz="1200" dirty="0" err="1">
                <a:hlinkClick r:id="rId3"/>
              </a:rPr>
              <a:t>Overfitting.ipynb</a:t>
            </a:r>
            <a:endParaRPr lang="pt-BR" sz="1200" dirty="0"/>
          </a:p>
        </p:txBody>
      </p:sp>
    </p:spTree>
    <p:extLst>
      <p:ext uri="{BB962C8B-B14F-4D97-AF65-F5344CB8AC3E}">
        <p14:creationId xmlns:p14="http://schemas.microsoft.com/office/powerpoint/2010/main" val="24904953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486B566-D571-BD6F-E0D3-18E76F021E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Causas do sobreajuste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E25C1B5-093D-0D16-1FAC-FAB201CB85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03865" cy="5032375"/>
          </a:xfrm>
        </p:spPr>
        <p:txBody>
          <a:bodyPr/>
          <a:lstStyle/>
          <a:p>
            <a:r>
              <a:rPr lang="pt-BR" b="1" i="0" dirty="0">
                <a:effectLst/>
              </a:rPr>
              <a:t>Modelo complexo:</a:t>
            </a:r>
            <a:r>
              <a:rPr lang="pt-BR" b="0" i="0" dirty="0">
                <a:effectLst/>
              </a:rPr>
              <a:t> Um modelo </a:t>
            </a:r>
            <a:r>
              <a:rPr lang="pt-BR" b="1" i="1" dirty="0">
                <a:solidFill>
                  <a:srgbClr val="00B050"/>
                </a:solidFill>
                <a:effectLst/>
              </a:rPr>
              <a:t>muito complexo</a:t>
            </a:r>
            <a:r>
              <a:rPr lang="pt-BR" b="0" i="0" dirty="0">
                <a:effectLst/>
              </a:rPr>
              <a:t>, po</a:t>
            </a:r>
            <a:r>
              <a:rPr lang="pt-BR" dirty="0"/>
              <a:t>r exemplo, </a:t>
            </a:r>
            <a:r>
              <a:rPr lang="pt-BR" b="0" i="0" dirty="0">
                <a:effectLst/>
              </a:rPr>
              <a:t>com muitos parâmetros (i.e</a:t>
            </a:r>
            <a:r>
              <a:rPr lang="pt-BR" dirty="0"/>
              <a:t>., pesos)</a:t>
            </a:r>
            <a:r>
              <a:rPr lang="pt-BR" b="0" i="0" dirty="0">
                <a:effectLst/>
              </a:rPr>
              <a:t>, tem uma </a:t>
            </a:r>
            <a:r>
              <a:rPr lang="pt-BR" b="1" i="1" dirty="0">
                <a:solidFill>
                  <a:srgbClr val="00B050"/>
                </a:solidFill>
                <a:effectLst/>
              </a:rPr>
              <a:t>alta capacidade de </a:t>
            </a:r>
            <a:r>
              <a:rPr lang="pt-BR" b="1" i="1" dirty="0">
                <a:solidFill>
                  <a:srgbClr val="7030A0"/>
                </a:solidFill>
                <a:effectLst/>
              </a:rPr>
              <a:t>representação</a:t>
            </a:r>
            <a:r>
              <a:rPr lang="pt-BR" b="0" i="0" dirty="0">
                <a:effectLst/>
              </a:rPr>
              <a:t> (ou flexibilidade) e pode </a:t>
            </a:r>
            <a:r>
              <a:rPr lang="pt-BR" b="1" i="1" dirty="0">
                <a:solidFill>
                  <a:srgbClr val="00B050"/>
                </a:solidFill>
                <a:effectLst/>
              </a:rPr>
              <a:t>se ajustar demais aos dados</a:t>
            </a:r>
            <a:r>
              <a:rPr lang="pt-BR" b="0" i="0" dirty="0">
                <a:effectLst/>
              </a:rPr>
              <a:t>.</a:t>
            </a:r>
          </a:p>
          <a:p>
            <a:r>
              <a:rPr lang="pt-BR" b="1" i="0" dirty="0">
                <a:effectLst/>
              </a:rPr>
              <a:t>Dados insuficientes:</a:t>
            </a:r>
            <a:r>
              <a:rPr lang="pt-BR" b="0" i="0" dirty="0">
                <a:effectLst/>
              </a:rPr>
              <a:t> Quando os </a:t>
            </a:r>
            <a:r>
              <a:rPr lang="pt-BR" b="1" i="1" dirty="0">
                <a:solidFill>
                  <a:srgbClr val="00B050"/>
                </a:solidFill>
                <a:effectLst/>
              </a:rPr>
              <a:t>dados de treinamento </a:t>
            </a:r>
            <a:r>
              <a:rPr lang="pt-BR" b="1" i="1" dirty="0">
                <a:solidFill>
                  <a:srgbClr val="7030A0"/>
                </a:solidFill>
                <a:effectLst/>
              </a:rPr>
              <a:t>são limitados </a:t>
            </a:r>
            <a:r>
              <a:rPr lang="pt-BR" b="1" i="1" dirty="0">
                <a:solidFill>
                  <a:srgbClr val="00B050"/>
                </a:solidFill>
                <a:effectLst/>
              </a:rPr>
              <a:t>em quantidade</a:t>
            </a:r>
            <a:r>
              <a:rPr lang="pt-BR" b="0" i="0" dirty="0">
                <a:effectLst/>
              </a:rPr>
              <a:t>, o </a:t>
            </a:r>
            <a:r>
              <a:rPr lang="pt-BR" b="1" i="1" dirty="0">
                <a:solidFill>
                  <a:srgbClr val="00B050"/>
                </a:solidFill>
                <a:effectLst/>
              </a:rPr>
              <a:t>modelo pode não ter </a:t>
            </a:r>
            <a:r>
              <a:rPr lang="pt-BR" b="1" i="1" dirty="0">
                <a:solidFill>
                  <a:srgbClr val="7030A0"/>
                </a:solidFill>
                <a:effectLst/>
              </a:rPr>
              <a:t>informações suficientes para generalizar</a:t>
            </a:r>
            <a:r>
              <a:rPr lang="pt-BR" b="0" i="0" dirty="0">
                <a:effectLst/>
              </a:rPr>
              <a:t> adequadamente.</a:t>
            </a:r>
          </a:p>
          <a:p>
            <a:r>
              <a:rPr lang="pt-BR" b="1" i="0" dirty="0">
                <a:effectLst/>
              </a:rPr>
              <a:t>Ruído nos dados:</a:t>
            </a:r>
            <a:r>
              <a:rPr lang="pt-BR" b="0" i="0" dirty="0">
                <a:effectLst/>
              </a:rPr>
              <a:t> A presença de </a:t>
            </a:r>
            <a:r>
              <a:rPr lang="pt-BR" b="1" i="1" dirty="0">
                <a:solidFill>
                  <a:srgbClr val="7030A0"/>
                </a:solidFill>
                <a:effectLst/>
              </a:rPr>
              <a:t>ruído ou outliers </a:t>
            </a:r>
            <a:r>
              <a:rPr lang="pt-BR" b="1" i="1" dirty="0">
                <a:solidFill>
                  <a:srgbClr val="00B050"/>
                </a:solidFill>
                <a:effectLst/>
              </a:rPr>
              <a:t>nos dados de treinamento</a:t>
            </a:r>
            <a:r>
              <a:rPr lang="pt-BR" b="0" i="0" dirty="0">
                <a:effectLst/>
              </a:rPr>
              <a:t> pode fazer com que o </a:t>
            </a:r>
            <a:r>
              <a:rPr lang="pt-BR" b="1" i="1" dirty="0">
                <a:solidFill>
                  <a:srgbClr val="00B050"/>
                </a:solidFill>
                <a:effectLst/>
              </a:rPr>
              <a:t>modelo tente ajustar-se a essas variações aleatórias</a:t>
            </a:r>
            <a:r>
              <a:rPr lang="pt-BR" b="0" i="0" dirty="0">
                <a:effectLst/>
              </a:rPr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 ruído é chamado de </a:t>
            </a:r>
            <a:r>
              <a:rPr lang="pt-BR" b="1" i="1" dirty="0">
                <a:solidFill>
                  <a:srgbClr val="FF0000"/>
                </a:solidFill>
              </a:rPr>
              <a:t>erro irredutível</a:t>
            </a:r>
            <a:r>
              <a:rPr lang="pt-BR" dirty="0"/>
              <a:t>, pois dificilmente nos livramos dele.</a:t>
            </a:r>
            <a:endParaRPr lang="pt-BR" b="0" i="0" dirty="0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333685768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64A88D9-2D97-A5AC-70C5-4C08644355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detectar o sobreajuste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3DFD790-B161-AACA-37D4-2B1B5B84E5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30237" y="1825624"/>
            <a:ext cx="6455745" cy="5032375"/>
          </a:xfrm>
        </p:spPr>
        <p:txBody>
          <a:bodyPr/>
          <a:lstStyle/>
          <a:p>
            <a:r>
              <a:rPr lang="pt-BR" b="1" i="0" dirty="0">
                <a:effectLst/>
              </a:rPr>
              <a:t>Conjunto de Validação: </a:t>
            </a:r>
            <a:r>
              <a:rPr lang="pt-BR" b="1" i="1" dirty="0">
                <a:solidFill>
                  <a:srgbClr val="00B050"/>
                </a:solidFill>
                <a:effectLst/>
              </a:rPr>
              <a:t>Dividir o conjunto total </a:t>
            </a:r>
            <a:r>
              <a:rPr lang="pt-BR" b="0" i="0" dirty="0">
                <a:effectLst/>
              </a:rPr>
              <a:t>de em um conjunto de treinamento e um de validação e </a:t>
            </a:r>
            <a:r>
              <a:rPr lang="pt-BR" b="1" i="1" dirty="0">
                <a:solidFill>
                  <a:srgbClr val="00B050"/>
                </a:solidFill>
                <a:effectLst/>
              </a:rPr>
              <a:t>avaliar o erro em ambos os conjuntos ao </a:t>
            </a:r>
            <a:r>
              <a:rPr lang="pt-BR" b="1" i="1" dirty="0">
                <a:solidFill>
                  <a:srgbClr val="7030A0"/>
                </a:solidFill>
                <a:effectLst/>
              </a:rPr>
              <a:t>longo do treinamento</a:t>
            </a:r>
            <a:r>
              <a:rPr lang="pt-BR" b="0" i="0" dirty="0">
                <a:effectLst/>
              </a:rPr>
              <a:t>.</a:t>
            </a:r>
          </a:p>
          <a:p>
            <a:r>
              <a:rPr lang="pt-BR" b="0" i="0" dirty="0">
                <a:effectLst/>
              </a:rPr>
              <a:t>Se o </a:t>
            </a:r>
            <a:r>
              <a:rPr lang="pt-BR" b="1" i="1" dirty="0">
                <a:solidFill>
                  <a:srgbClr val="00B050"/>
                </a:solidFill>
                <a:effectLst/>
              </a:rPr>
              <a:t>desempenho no conjunto de validação for significativamente pior</a:t>
            </a:r>
            <a:r>
              <a:rPr lang="pt-BR" b="0" i="0" dirty="0">
                <a:effectLst/>
              </a:rPr>
              <a:t> do que no conjunto de treinamento, é um </a:t>
            </a:r>
            <a:r>
              <a:rPr lang="pt-BR" b="1" i="1" dirty="0">
                <a:solidFill>
                  <a:srgbClr val="00B050"/>
                </a:solidFill>
                <a:effectLst/>
              </a:rPr>
              <a:t>sinal de possível sobreajuste</a:t>
            </a:r>
            <a:r>
              <a:rPr lang="pt-BR" b="0" i="0" dirty="0">
                <a:effectLst/>
              </a:rPr>
              <a:t>.</a:t>
            </a: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6A603EB6-7919-DCC3-AF0A-4ED8580104C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4223" y="2003460"/>
            <a:ext cx="4367932" cy="32243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EBD2DF02-63AE-3B1E-D5B4-C94647E5DDD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2867" y="5345772"/>
            <a:ext cx="3812567" cy="61555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pt-BR" altLang="pt-BR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MSE </a:t>
            </a:r>
            <a:r>
              <a:rPr kumimoji="0" lang="pt-BR" altLang="pt-BR" sz="2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</a:rPr>
              <a:t>train</a:t>
            </a:r>
            <a:r>
              <a:rPr kumimoji="0" lang="pt-BR" altLang="pt-BR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: 3.023264662910588e-24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pt-BR" altLang="pt-BR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MSE </a:t>
            </a:r>
            <a:r>
              <a:rPr kumimoji="0" lang="pt-BR" altLang="pt-BR" sz="2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</a:rPr>
              <a:t>val</a:t>
            </a:r>
            <a:r>
              <a:rPr kumimoji="0" lang="pt-BR" altLang="pt-BR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: 0.18213360918420743</a:t>
            </a:r>
            <a:r>
              <a:rPr kumimoji="0" lang="pt-BR" altLang="pt-BR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60CF8BD2-45EB-9A8A-EDA6-C2C4F04E8ACA}"/>
              </a:ext>
            </a:extLst>
          </p:cNvPr>
          <p:cNvSpPr txBox="1"/>
          <p:nvPr/>
        </p:nvSpPr>
        <p:spPr>
          <a:xfrm>
            <a:off x="0" y="6581000"/>
            <a:ext cx="277744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200" dirty="0">
                <a:hlinkClick r:id="rId4"/>
              </a:rPr>
              <a:t>Exemplo: </a:t>
            </a:r>
            <a:r>
              <a:rPr lang="pt-BR" sz="1200" dirty="0" err="1">
                <a:hlinkClick r:id="rId4"/>
              </a:rPr>
              <a:t>Overffiting.ipynb</a:t>
            </a:r>
            <a:endParaRPr lang="pt-BR" sz="1200" dirty="0"/>
          </a:p>
        </p:txBody>
      </p:sp>
    </p:spTree>
    <p:extLst>
      <p:ext uri="{BB962C8B-B14F-4D97-AF65-F5344CB8AC3E}">
        <p14:creationId xmlns:p14="http://schemas.microsoft.com/office/powerpoint/2010/main" val="346444389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64A88D9-2D97-A5AC-70C5-4C08644355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detectar o sobreajuste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3DFD790-B161-AACA-37D4-2B1B5B84E5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30238" y="1825624"/>
            <a:ext cx="6359704" cy="5032375"/>
          </a:xfrm>
        </p:spPr>
        <p:txBody>
          <a:bodyPr>
            <a:normAutofit/>
          </a:bodyPr>
          <a:lstStyle/>
          <a:p>
            <a:r>
              <a:rPr lang="pt-BR" b="1" i="0" dirty="0">
                <a:effectLst/>
              </a:rPr>
              <a:t>Conjunto de Validação: </a:t>
            </a:r>
            <a:r>
              <a:rPr lang="pt-BR" dirty="0"/>
              <a:t>No caso de </a:t>
            </a:r>
            <a:r>
              <a:rPr lang="pt-BR" b="1" i="1" dirty="0">
                <a:solidFill>
                  <a:srgbClr val="00B050"/>
                </a:solidFill>
              </a:rPr>
              <a:t>modelos de </a:t>
            </a:r>
            <a:r>
              <a:rPr lang="pt-BR" b="1" i="1" dirty="0">
                <a:solidFill>
                  <a:srgbClr val="7030A0"/>
                </a:solidFill>
              </a:rPr>
              <a:t>aprendizado iterativo</a:t>
            </a:r>
            <a:r>
              <a:rPr lang="pt-BR" dirty="0"/>
              <a:t>, como redes neurais, podemos</a:t>
            </a:r>
            <a:r>
              <a:rPr lang="pt-BR" b="0" i="0" dirty="0">
                <a:effectLst/>
              </a:rPr>
              <a:t> </a:t>
            </a:r>
            <a:r>
              <a:rPr lang="pt-BR" b="1" i="1" dirty="0">
                <a:solidFill>
                  <a:srgbClr val="00B050"/>
                </a:solidFill>
                <a:effectLst/>
              </a:rPr>
              <a:t>monitorar o desempenho do modelo em ambos os conjuntos</a:t>
            </a:r>
            <a:r>
              <a:rPr lang="pt-BR" b="0" i="0" dirty="0">
                <a:effectLst/>
              </a:rPr>
              <a:t> durante o treinamento.</a:t>
            </a:r>
          </a:p>
          <a:p>
            <a:r>
              <a:rPr lang="pt-BR" b="0" i="0" dirty="0">
                <a:effectLst/>
              </a:rPr>
              <a:t>Se o </a:t>
            </a:r>
            <a:r>
              <a:rPr lang="pt-BR" b="1" i="1" dirty="0">
                <a:solidFill>
                  <a:srgbClr val="00B050"/>
                </a:solidFill>
                <a:effectLst/>
              </a:rPr>
              <a:t>erro no conjunto de validação aumentar e no conjunto de treinamento diminuir </a:t>
            </a:r>
            <a:r>
              <a:rPr lang="pt-BR" b="0" i="0" dirty="0">
                <a:effectLst/>
              </a:rPr>
              <a:t>ao longo das épocas de treinamento, isso é </a:t>
            </a:r>
            <a:r>
              <a:rPr lang="pt-BR" b="1" i="1" dirty="0">
                <a:solidFill>
                  <a:srgbClr val="00B050"/>
                </a:solidFill>
                <a:effectLst/>
              </a:rPr>
              <a:t>um claro sinal de sobreajuste</a:t>
            </a:r>
            <a:r>
              <a:rPr lang="pt-BR" b="0" i="0" dirty="0">
                <a:effectLst/>
              </a:rPr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Como vimos antes, nesse caso, podemos usar a </a:t>
            </a:r>
            <a:r>
              <a:rPr lang="pt-BR" b="1" i="1" dirty="0">
                <a:solidFill>
                  <a:srgbClr val="7030A0"/>
                </a:solidFill>
              </a:rPr>
              <a:t>parada antecipada </a:t>
            </a:r>
            <a:r>
              <a:rPr lang="pt-BR" dirty="0"/>
              <a:t>(</a:t>
            </a:r>
            <a:r>
              <a:rPr lang="pt-BR" i="1" dirty="0"/>
              <a:t>early stopping</a:t>
            </a:r>
            <a:r>
              <a:rPr lang="pt-BR" dirty="0"/>
              <a:t>).</a:t>
            </a:r>
            <a:endParaRPr lang="pt-BR" b="0" i="0" dirty="0">
              <a:effectLst/>
            </a:endParaRPr>
          </a:p>
          <a:p>
            <a:endParaRPr lang="pt-BR" b="0" i="0" dirty="0">
              <a:effectLst/>
            </a:endParaRPr>
          </a:p>
          <a:p>
            <a:endParaRPr lang="pt-BR" b="0" i="0" dirty="0">
              <a:effectLst/>
            </a:endParaRPr>
          </a:p>
          <a:p>
            <a:endParaRPr lang="pt-BR" dirty="0"/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C758D526-2A03-121F-CF8F-19DF97588DE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0876" y="2160731"/>
            <a:ext cx="4333174" cy="31921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824754AF-55B7-A2B5-1F12-A4542DFF6E10}"/>
              </a:ext>
            </a:extLst>
          </p:cNvPr>
          <p:cNvSpPr txBox="1"/>
          <p:nvPr/>
        </p:nvSpPr>
        <p:spPr>
          <a:xfrm>
            <a:off x="4366516" y="5250094"/>
            <a:ext cx="8527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Épocas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D79A02E6-3659-B1D5-1F68-43BB54ADE219}"/>
              </a:ext>
            </a:extLst>
          </p:cNvPr>
          <p:cNvSpPr txBox="1"/>
          <p:nvPr/>
        </p:nvSpPr>
        <p:spPr>
          <a:xfrm>
            <a:off x="547574" y="2063394"/>
            <a:ext cx="852755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pt-BR" dirty="0"/>
              <a:t>Erro</a:t>
            </a:r>
          </a:p>
        </p:txBody>
      </p:sp>
    </p:spTree>
    <p:extLst>
      <p:ext uri="{BB962C8B-B14F-4D97-AF65-F5344CB8AC3E}">
        <p14:creationId xmlns:p14="http://schemas.microsoft.com/office/powerpoint/2010/main" val="21157547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64A88D9-2D97-A5AC-70C5-4C08644355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detectar o sobreajuste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3DFD790-B161-AACA-37D4-2B1B5B84E5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41335" y="1825624"/>
            <a:ext cx="6214830" cy="5032375"/>
          </a:xfrm>
        </p:spPr>
        <p:txBody>
          <a:bodyPr>
            <a:normAutofit lnSpcReduction="10000"/>
          </a:bodyPr>
          <a:lstStyle/>
          <a:p>
            <a:r>
              <a:rPr lang="pt-BR" b="0" i="0" dirty="0">
                <a:effectLst/>
              </a:rPr>
              <a:t>Técnicas de </a:t>
            </a:r>
            <a:r>
              <a:rPr lang="pt-BR" b="1" i="1" dirty="0">
                <a:solidFill>
                  <a:srgbClr val="7030A0"/>
                </a:solidFill>
                <a:effectLst/>
              </a:rPr>
              <a:t>validação cruzada </a:t>
            </a:r>
            <a:r>
              <a:rPr lang="pt-BR" b="1" i="1" dirty="0">
                <a:solidFill>
                  <a:srgbClr val="00B050"/>
                </a:solidFill>
                <a:effectLst/>
              </a:rPr>
              <a:t>avaliam o desempenho</a:t>
            </a:r>
            <a:r>
              <a:rPr lang="pt-BR" b="0" i="0" dirty="0">
                <a:effectLst/>
              </a:rPr>
              <a:t> do modelo em </a:t>
            </a:r>
            <a:r>
              <a:rPr lang="pt-BR" b="1" i="1" dirty="0">
                <a:solidFill>
                  <a:srgbClr val="00B050"/>
                </a:solidFill>
                <a:effectLst/>
              </a:rPr>
              <a:t>várias divisões de dados de treinamento e validação</a:t>
            </a:r>
            <a:r>
              <a:rPr lang="pt-BR" b="0" i="0" dirty="0">
                <a:effectLst/>
              </a:rPr>
              <a:t>.</a:t>
            </a:r>
          </a:p>
          <a:p>
            <a:r>
              <a:rPr lang="pt-BR" b="0" i="0" dirty="0">
                <a:effectLst/>
              </a:rPr>
              <a:t>Se o </a:t>
            </a:r>
            <a:r>
              <a:rPr lang="pt-BR" b="1" i="1" dirty="0">
                <a:solidFill>
                  <a:srgbClr val="00B050"/>
                </a:solidFill>
                <a:effectLst/>
              </a:rPr>
              <a:t>modelo mostrar variações significativas no desempenho </a:t>
            </a:r>
            <a:r>
              <a:rPr lang="pt-BR" b="0" i="0" dirty="0">
                <a:effectLst/>
              </a:rPr>
              <a:t>(i.e., erro e variância) </a:t>
            </a:r>
            <a:r>
              <a:rPr lang="pt-BR" b="1" i="1" dirty="0">
                <a:solidFill>
                  <a:srgbClr val="00B050"/>
                </a:solidFill>
                <a:effectLst/>
              </a:rPr>
              <a:t>entre as divisões </a:t>
            </a:r>
            <a:r>
              <a:rPr lang="pt-BR" b="0" i="0" dirty="0">
                <a:effectLst/>
              </a:rPr>
              <a:t>dos dados, isso pode ser um </a:t>
            </a:r>
            <a:r>
              <a:rPr lang="pt-BR" b="1" i="1" dirty="0">
                <a:solidFill>
                  <a:srgbClr val="00B050"/>
                </a:solidFill>
                <a:effectLst/>
              </a:rPr>
              <a:t>sinal de sobreajuste ou subajuste</a:t>
            </a:r>
            <a:r>
              <a:rPr lang="pt-BR" b="0" i="0" dirty="0">
                <a:effectLst/>
              </a:rPr>
              <a:t>.</a:t>
            </a:r>
          </a:p>
          <a:p>
            <a:r>
              <a:rPr lang="pt-BR" dirty="0"/>
              <a:t>Técnicas de validação cruzada que podem ser usadas: </a:t>
            </a:r>
            <a:r>
              <a:rPr lang="pt-BR" i="1" dirty="0"/>
              <a:t>k-</a:t>
            </a:r>
            <a:r>
              <a:rPr lang="pt-BR" i="1" dirty="0" err="1"/>
              <a:t>fold</a:t>
            </a:r>
            <a:r>
              <a:rPr lang="pt-BR" dirty="0"/>
              <a:t>, </a:t>
            </a:r>
            <a:r>
              <a:rPr lang="pt-BR" i="1" dirty="0" err="1"/>
              <a:t>leave</a:t>
            </a:r>
            <a:r>
              <a:rPr lang="pt-BR" i="1" dirty="0"/>
              <a:t>-</a:t>
            </a:r>
            <a:r>
              <a:rPr lang="pt-BR" i="1" dirty="0" err="1"/>
              <a:t>p-out</a:t>
            </a:r>
            <a:r>
              <a:rPr lang="pt-BR" dirty="0"/>
              <a:t>, </a:t>
            </a:r>
            <a:r>
              <a:rPr lang="pt-BR" i="1" dirty="0" err="1"/>
              <a:t>holdout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0" i="0" dirty="0">
                <a:effectLst/>
              </a:rPr>
              <a:t>Na prática, o </a:t>
            </a:r>
            <a:r>
              <a:rPr lang="pt-BR" i="1" dirty="0"/>
              <a:t>k</a:t>
            </a:r>
            <a:r>
              <a:rPr lang="pt-BR" b="0" i="0" dirty="0">
                <a:effectLst/>
              </a:rPr>
              <a:t>-</a:t>
            </a:r>
            <a:r>
              <a:rPr lang="pt-BR" b="0" i="0" dirty="0" err="1">
                <a:effectLst/>
              </a:rPr>
              <a:t>fold</a:t>
            </a:r>
            <a:r>
              <a:rPr lang="pt-BR" b="0" i="0" dirty="0">
                <a:effectLst/>
              </a:rPr>
              <a:t> é a mais usada.</a:t>
            </a:r>
          </a:p>
        </p:txBody>
      </p:sp>
      <p:pic>
        <p:nvPicPr>
          <p:cNvPr id="3076" name="Picture 4">
            <a:extLst>
              <a:ext uri="{FF2B5EF4-FFF2-40B4-BE49-F238E27FC236}">
                <a16:creationId xmlns:a16="http://schemas.microsoft.com/office/drawing/2014/main" id="{23C6D210-29E4-BEC4-2587-5A703B9EA81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542" t="7613" r="2875"/>
          <a:stretch/>
        </p:blipFill>
        <p:spPr bwMode="auto">
          <a:xfrm>
            <a:off x="266462" y="2339013"/>
            <a:ext cx="5574873" cy="33811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8086044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ítulo 1">
                <a:extLst>
                  <a:ext uri="{FF2B5EF4-FFF2-40B4-BE49-F238E27FC236}">
                    <a16:creationId xmlns:a16="http://schemas.microsoft.com/office/drawing/2014/main" id="{F64A88D9-2D97-A5AC-70C5-4C08644355AE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pt-BR" dirty="0"/>
                  <a:t>Como detectar o sobreajuste: </a:t>
                </a:r>
                <a14:m>
                  <m:oMath xmlns:m="http://schemas.openxmlformats.org/officeDocument/2006/math">
                    <m:r>
                      <a:rPr lang="pt-BR" b="0" i="1" smtClean="0">
                        <a:effectLst/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i="1" dirty="0"/>
                  <a:t>-</a:t>
                </a:r>
                <a:r>
                  <a:rPr lang="pt-BR" i="1" dirty="0" err="1"/>
                  <a:t>fold</a:t>
                </a:r>
                <a:endParaRPr lang="pt-BR" i="1" dirty="0"/>
              </a:p>
            </p:txBody>
          </p:sp>
        </mc:Choice>
        <mc:Fallback xmlns="">
          <p:sp>
            <p:nvSpPr>
              <p:cNvPr id="2" name="Título 1">
                <a:extLst>
                  <a:ext uri="{FF2B5EF4-FFF2-40B4-BE49-F238E27FC236}">
                    <a16:creationId xmlns:a16="http://schemas.microsoft.com/office/drawing/2014/main" id="{F64A88D9-2D97-A5AC-70C5-4C08644355A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3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E3DFD790-B161-AACA-37D4-2B1B5B84E56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753529" y="1825624"/>
                <a:ext cx="6287784" cy="5032375"/>
              </a:xfrm>
            </p:spPr>
            <p:txBody>
              <a:bodyPr>
                <a:normAutofit/>
              </a:bodyPr>
              <a:lstStyle/>
              <a:p>
                <a:r>
                  <a:rPr lang="pt-BR" b="0" i="0" dirty="0">
                    <a:solidFill>
                      <a:schemeClr val="tx1"/>
                    </a:solidFill>
                    <a:effectLst/>
                  </a:rPr>
                  <a:t>A técnica </a:t>
                </a:r>
                <a:r>
                  <a:rPr lang="pt-BR" b="1" i="1" dirty="0">
                    <a:solidFill>
                      <a:srgbClr val="00B050"/>
                    </a:solidFill>
                    <a:effectLst/>
                  </a:rPr>
                  <a:t>divide o conjunto de dados em </a:t>
                </a:r>
                <a14:m>
                  <m:oMath xmlns:m="http://schemas.openxmlformats.org/officeDocument/2006/math">
                    <m:r>
                      <a:rPr lang="pt-BR" b="1" i="1" smtClean="0">
                        <a:solidFill>
                          <a:srgbClr val="7030A0"/>
                        </a:solidFill>
                        <a:effectLst/>
                        <a:latin typeface="Cambria Math" panose="02040503050406030204" pitchFamily="18" charset="0"/>
                      </a:rPr>
                      <m:t>𝒌</m:t>
                    </m:r>
                  </m:oMath>
                </a14:m>
                <a:r>
                  <a:rPr lang="pt-BR" b="1" i="1" dirty="0">
                    <a:solidFill>
                      <a:srgbClr val="00B050"/>
                    </a:solidFill>
                    <a:effectLst/>
                  </a:rPr>
                  <a:t> subconjuntos</a:t>
                </a:r>
                <a:r>
                  <a:rPr lang="pt-BR" b="0" i="0" dirty="0">
                    <a:solidFill>
                      <a:schemeClr val="tx1"/>
                    </a:solidFill>
                    <a:effectLst/>
                  </a:rPr>
                  <a:t>, chamados dobras (</a:t>
                </a:r>
                <a:r>
                  <a:rPr lang="pt-BR" b="0" i="1" dirty="0" err="1">
                    <a:solidFill>
                      <a:schemeClr val="tx1"/>
                    </a:solidFill>
                    <a:effectLst/>
                  </a:rPr>
                  <a:t>folds</a:t>
                </a:r>
                <a:r>
                  <a:rPr lang="pt-BR" b="0" i="0" dirty="0">
                    <a:solidFill>
                      <a:schemeClr val="tx1"/>
                    </a:solidFill>
                    <a:effectLst/>
                  </a:rPr>
                  <a:t>),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treinando</a:t>
                </a:r>
                <a:r>
                  <a:rPr lang="pt-BR" dirty="0">
                    <a:solidFill>
                      <a:schemeClr val="tx1"/>
                    </a:solidFill>
                  </a:rPr>
                  <a:t> e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avaliando o modelo </a:t>
                </a:r>
                <a14:m>
                  <m:oMath xmlns:m="http://schemas.openxmlformats.org/officeDocument/2006/math">
                    <m:r>
                      <a:rPr lang="pt-BR" b="1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𝒌</m:t>
                    </m:r>
                  </m:oMath>
                </a14:m>
                <a:r>
                  <a:rPr lang="pt-BR" b="1" i="1" dirty="0">
                    <a:solidFill>
                      <a:srgbClr val="7030A0"/>
                    </a:solidFill>
                  </a:rPr>
                  <a:t>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vezes </a:t>
                </a:r>
                <a:r>
                  <a:rPr lang="pt-BR" dirty="0">
                    <a:solidFill>
                      <a:schemeClr val="tx1"/>
                    </a:solidFill>
                  </a:rPr>
                  <a:t>(e.g., MSE ou acurácia), cada vez com um subconjunto diferente como conjunto de teste e os </a:t>
                </a:r>
                <a14:m>
                  <m:oMath xmlns:m="http://schemas.openxmlformats.org/officeDocument/2006/math">
                    <m:r>
                      <a:rPr lang="pt-BR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dirty="0">
                    <a:solidFill>
                      <a:schemeClr val="tx1"/>
                    </a:solidFill>
                  </a:rPr>
                  <a:t>-1 subconjuntos restantes como conjunto de treinamento</a:t>
                </a:r>
                <a:r>
                  <a:rPr lang="pt-BR" b="0" i="0" dirty="0">
                    <a:solidFill>
                      <a:schemeClr val="tx1"/>
                    </a:solidFill>
                    <a:effectLst/>
                  </a:rPr>
                  <a:t>.</a:t>
                </a:r>
              </a:p>
              <a:p>
                <a:r>
                  <a:rPr lang="pt-BR" b="0" i="0" dirty="0">
                    <a:solidFill>
                      <a:schemeClr val="tx1"/>
                    </a:solidFill>
                    <a:effectLst/>
                  </a:rPr>
                  <a:t>Ao final, </a:t>
                </a:r>
                <a:r>
                  <a:rPr lang="pt-BR" b="1" i="1" dirty="0">
                    <a:solidFill>
                      <a:srgbClr val="00B050"/>
                    </a:solidFill>
                    <a:effectLst/>
                  </a:rPr>
                  <a:t>calcula-se a média e a variância das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pt-BR" b="1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𝒌</m:t>
                    </m:r>
                  </m:oMath>
                </a14:m>
                <a:r>
                  <a:rPr lang="pt-BR" b="1" i="1" dirty="0">
                    <a:solidFill>
                      <a:srgbClr val="00B050"/>
                    </a:solidFill>
                    <a:effectLst/>
                  </a:rPr>
                  <a:t> métricas </a:t>
                </a:r>
                <a:r>
                  <a:rPr lang="pt-BR" b="0" i="0" dirty="0">
                    <a:solidFill>
                      <a:schemeClr val="tx1"/>
                    </a:solidFill>
                    <a:effectLst/>
                  </a:rPr>
                  <a:t>individuais de desempenho para fornecer uma única </a:t>
                </a:r>
                <a:r>
                  <a:rPr lang="pt-BR" b="1" i="1" dirty="0">
                    <a:solidFill>
                      <a:srgbClr val="00B050"/>
                    </a:solidFill>
                    <a:effectLst/>
                  </a:rPr>
                  <a:t>métrica geral do modelo</a:t>
                </a:r>
                <a:r>
                  <a:rPr lang="pt-BR" b="0" i="0" dirty="0">
                    <a:solidFill>
                      <a:schemeClr val="tx1"/>
                    </a:solidFill>
                    <a:effectLst/>
                  </a:rPr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E3DFD790-B161-AACA-37D4-2B1B5B84E56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753529" y="1825624"/>
                <a:ext cx="6287784" cy="5032375"/>
              </a:xfrm>
              <a:blipFill>
                <a:blip r:embed="rId4"/>
                <a:stretch>
                  <a:fillRect l="-1746" t="-1937" r="-291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CaixaDeTexto 4">
            <a:extLst>
              <a:ext uri="{FF2B5EF4-FFF2-40B4-BE49-F238E27FC236}">
                <a16:creationId xmlns:a16="http://schemas.microsoft.com/office/drawing/2014/main" id="{4C98CA81-D5B4-3FB5-6A37-8D8EDAE72660}"/>
              </a:ext>
            </a:extLst>
          </p:cNvPr>
          <p:cNvSpPr txBox="1"/>
          <p:nvPr/>
        </p:nvSpPr>
        <p:spPr>
          <a:xfrm>
            <a:off x="0" y="6581000"/>
            <a:ext cx="278686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200" dirty="0">
                <a:hlinkClick r:id="rId5"/>
              </a:rPr>
              <a:t>Exemplo: </a:t>
            </a:r>
            <a:r>
              <a:rPr lang="pt-BR" sz="1200" dirty="0" err="1">
                <a:hlinkClick r:id="rId5"/>
              </a:rPr>
              <a:t>validacao_cruzada_k_fold.ipynb</a:t>
            </a:r>
            <a:endParaRPr lang="pt-BR" sz="1200" dirty="0"/>
          </a:p>
        </p:txBody>
      </p:sp>
      <p:pic>
        <p:nvPicPr>
          <p:cNvPr id="4" name="Picture 4">
            <a:extLst>
              <a:ext uri="{FF2B5EF4-FFF2-40B4-BE49-F238E27FC236}">
                <a16:creationId xmlns:a16="http://schemas.microsoft.com/office/drawing/2014/main" id="{C38E020A-A51A-D5C4-761C-EE24409A008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542" t="7613" r="2875"/>
          <a:stretch/>
        </p:blipFill>
        <p:spPr bwMode="auto">
          <a:xfrm>
            <a:off x="150687" y="2275005"/>
            <a:ext cx="5602842" cy="33981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7114794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766F209-3E3E-0136-4083-293C5897A4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evitar o sobreajuste?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2294B5F-B438-34E2-4845-29E47EF0DE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99416" y="1825624"/>
            <a:ext cx="6431622" cy="5032375"/>
          </a:xfrm>
        </p:spPr>
        <p:txBody>
          <a:bodyPr>
            <a:normAutofit/>
          </a:bodyPr>
          <a:lstStyle/>
          <a:p>
            <a:r>
              <a:rPr lang="pt-BR" b="1" i="0" dirty="0">
                <a:effectLst/>
              </a:rPr>
              <a:t>Coletar mais </a:t>
            </a:r>
            <a:r>
              <a:rPr lang="pt-BR" b="1" dirty="0"/>
              <a:t>d</a:t>
            </a:r>
            <a:r>
              <a:rPr lang="pt-BR" b="1" i="0" dirty="0">
                <a:effectLst/>
              </a:rPr>
              <a:t>ados</a:t>
            </a:r>
            <a:r>
              <a:rPr lang="pt-BR" b="1" dirty="0"/>
              <a:t> </a:t>
            </a:r>
            <a:r>
              <a:rPr lang="pt-BR" b="0" i="0" dirty="0">
                <a:effectLst/>
              </a:rPr>
              <a:t>de treinamento é uma das </a:t>
            </a:r>
            <a:r>
              <a:rPr lang="pt-BR" b="1" i="1" dirty="0">
                <a:solidFill>
                  <a:srgbClr val="00B050"/>
                </a:solidFill>
                <a:effectLst/>
              </a:rPr>
              <a:t>estratégias mais eficazes </a:t>
            </a:r>
            <a:r>
              <a:rPr lang="pt-BR" b="0" i="0" dirty="0">
                <a:effectLst/>
              </a:rPr>
              <a:t>para </a:t>
            </a:r>
            <a:r>
              <a:rPr lang="pt-BR" b="1" i="1" dirty="0">
                <a:solidFill>
                  <a:srgbClr val="00B050"/>
                </a:solidFill>
                <a:effectLst/>
              </a:rPr>
              <a:t>melhorar a capacidade de generalização </a:t>
            </a:r>
            <a:r>
              <a:rPr lang="pt-BR" b="0" i="0" dirty="0">
                <a:effectLst/>
              </a:rPr>
              <a:t>do modelo, consequentemente, reduzindo o sobreajuste.</a:t>
            </a:r>
          </a:p>
          <a:p>
            <a:r>
              <a:rPr lang="pt-BR" b="0" i="0" dirty="0">
                <a:effectLst/>
              </a:rPr>
              <a:t>Porém, em algumas situações, a </a:t>
            </a:r>
            <a:r>
              <a:rPr lang="pt-BR" b="1" i="1" dirty="0">
                <a:solidFill>
                  <a:srgbClr val="00B050"/>
                </a:solidFill>
                <a:effectLst/>
              </a:rPr>
              <a:t>coleta de dados</a:t>
            </a:r>
            <a:r>
              <a:rPr lang="pt-BR" b="0" i="0" dirty="0">
                <a:effectLst/>
              </a:rPr>
              <a:t> adicionais pode ser muito </a:t>
            </a:r>
            <a:r>
              <a:rPr lang="pt-BR" b="1" i="1" dirty="0">
                <a:solidFill>
                  <a:srgbClr val="7030A0"/>
                </a:solidFill>
                <a:effectLst/>
              </a:rPr>
              <a:t>cara</a:t>
            </a:r>
            <a:r>
              <a:rPr lang="pt-BR" b="0" i="0" dirty="0">
                <a:effectLst/>
              </a:rPr>
              <a:t>, </a:t>
            </a:r>
            <a:r>
              <a:rPr lang="pt-BR" b="1" i="1" dirty="0">
                <a:solidFill>
                  <a:srgbClr val="7030A0"/>
                </a:solidFill>
                <a:effectLst/>
              </a:rPr>
              <a:t>demorada</a:t>
            </a:r>
            <a:r>
              <a:rPr lang="pt-BR" b="0" i="0" dirty="0">
                <a:effectLst/>
              </a:rPr>
              <a:t> ou </a:t>
            </a:r>
            <a:r>
              <a:rPr lang="pt-BR" b="1" i="1" dirty="0">
                <a:solidFill>
                  <a:srgbClr val="7030A0"/>
                </a:solidFill>
                <a:effectLst/>
              </a:rPr>
              <a:t>simplesmente impossível</a:t>
            </a:r>
            <a:r>
              <a:rPr lang="pt-BR" b="0" i="0" dirty="0">
                <a:effectLst/>
              </a:rPr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Por coleta, entende-se que a </a:t>
            </a:r>
            <a:r>
              <a:rPr lang="pt-BR" b="1" i="1" dirty="0">
                <a:solidFill>
                  <a:srgbClr val="00B050"/>
                </a:solidFill>
              </a:rPr>
              <a:t>rotulagem também está inclusa</a:t>
            </a:r>
            <a:r>
              <a:rPr lang="pt-BR" dirty="0"/>
              <a:t>.</a:t>
            </a:r>
            <a:endParaRPr lang="pt-BR" b="1" i="0" dirty="0">
              <a:effectLst/>
            </a:endParaRPr>
          </a:p>
        </p:txBody>
      </p:sp>
      <p:pic>
        <p:nvPicPr>
          <p:cNvPr id="1026" name="Picture 2" descr="The Difference Between Training Data vs. Test Data in Machine Learning">
            <a:extLst>
              <a:ext uri="{FF2B5EF4-FFF2-40B4-BE49-F238E27FC236}">
                <a16:creationId xmlns:a16="http://schemas.microsoft.com/office/drawing/2014/main" id="{65FD752D-DDD7-D638-20EE-6FFAF3C8059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5646"/>
          <a:stretch/>
        </p:blipFill>
        <p:spPr bwMode="auto">
          <a:xfrm>
            <a:off x="249906" y="2428092"/>
            <a:ext cx="5104702" cy="32503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3012536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m 8">
            <a:extLst>
              <a:ext uri="{FF2B5EF4-FFF2-40B4-BE49-F238E27FC236}">
                <a16:creationId xmlns:a16="http://schemas.microsoft.com/office/drawing/2014/main" id="{20AB6FA0-AEEA-DD68-71A9-D05F91264E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28194" y="3997134"/>
            <a:ext cx="2145915" cy="2852904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6766F209-3E3E-0136-4083-293C5897A4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evitar o sobreajuste?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2294B5F-B438-34E2-4845-29E47EF0DE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90794" y="1825624"/>
            <a:ext cx="6360793" cy="5032375"/>
          </a:xfrm>
        </p:spPr>
        <p:txBody>
          <a:bodyPr>
            <a:normAutofit lnSpcReduction="10000"/>
          </a:bodyPr>
          <a:lstStyle/>
          <a:p>
            <a:r>
              <a:rPr lang="pt-BR" b="1" i="0" dirty="0">
                <a:effectLst/>
              </a:rPr>
              <a:t>Regularização</a:t>
            </a:r>
            <a:r>
              <a:rPr lang="pt-BR" b="0" i="0" dirty="0">
                <a:effectLst/>
              </a:rPr>
              <a:t>: envolve a </a:t>
            </a:r>
            <a:r>
              <a:rPr lang="pt-BR" b="1" i="1" dirty="0">
                <a:solidFill>
                  <a:srgbClr val="7030A0"/>
                </a:solidFill>
                <a:effectLst/>
              </a:rPr>
              <a:t>adição de um termo de penalização à função de perda </a:t>
            </a:r>
            <a:r>
              <a:rPr lang="pt-BR" b="1" i="1" dirty="0">
                <a:solidFill>
                  <a:srgbClr val="00B050"/>
                </a:solidFill>
                <a:effectLst/>
              </a:rPr>
              <a:t>durante o treinamento </a:t>
            </a:r>
            <a:r>
              <a:rPr lang="pt-BR" b="0" i="0" dirty="0">
                <a:effectLst/>
              </a:rPr>
              <a:t>do modelo, com o objetivo de impor </a:t>
            </a:r>
            <a:r>
              <a:rPr lang="pt-BR" b="1" i="1" dirty="0">
                <a:solidFill>
                  <a:srgbClr val="00B050"/>
                </a:solidFill>
                <a:effectLst/>
              </a:rPr>
              <a:t>restrições sobre os pesos do modelo</a:t>
            </a:r>
            <a:r>
              <a:rPr lang="pt-BR" b="0" i="0" dirty="0">
                <a:effectLst/>
              </a:rPr>
              <a:t>.</a:t>
            </a:r>
          </a:p>
          <a:p>
            <a:r>
              <a:rPr lang="pt-BR" dirty="0"/>
              <a:t>A regularização </a:t>
            </a:r>
            <a:r>
              <a:rPr lang="pt-BR" b="1" i="1" dirty="0">
                <a:solidFill>
                  <a:srgbClr val="00B050"/>
                </a:solidFill>
              </a:rPr>
              <a:t>reduz a flexibilidade </a:t>
            </a:r>
            <a:r>
              <a:rPr lang="pt-BR" dirty="0"/>
              <a:t>do modelo </a:t>
            </a:r>
            <a:r>
              <a:rPr lang="pt-BR" b="1" i="1" dirty="0">
                <a:solidFill>
                  <a:srgbClr val="00B050"/>
                </a:solidFill>
              </a:rPr>
              <a:t>penalizando seus pesos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Modelos que sobreajustam têm </a:t>
            </a:r>
            <a:r>
              <a:rPr lang="pt-BR" b="1" i="1" dirty="0">
                <a:solidFill>
                  <a:srgbClr val="00B050"/>
                </a:solidFill>
              </a:rPr>
              <a:t>pesos com valores </a:t>
            </a:r>
            <a:r>
              <a:rPr lang="pt-BR" b="1" i="1" dirty="0">
                <a:solidFill>
                  <a:srgbClr val="7030A0"/>
                </a:solidFill>
              </a:rPr>
              <a:t>absolutos</a:t>
            </a:r>
            <a:r>
              <a:rPr lang="pt-BR" b="1" i="1" dirty="0">
                <a:solidFill>
                  <a:srgbClr val="00B050"/>
                </a:solidFill>
              </a:rPr>
              <a:t> muito altos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 regularização </a:t>
            </a:r>
            <a:r>
              <a:rPr lang="pt-BR" b="1" i="1" dirty="0">
                <a:solidFill>
                  <a:srgbClr val="00B050"/>
                </a:solidFill>
              </a:rPr>
              <a:t>restringe</a:t>
            </a:r>
            <a:r>
              <a:rPr lang="pt-BR" dirty="0"/>
              <a:t> o aumento dos pesos a uma </a:t>
            </a:r>
            <a:r>
              <a:rPr lang="pt-BR" b="1" i="1" dirty="0">
                <a:solidFill>
                  <a:srgbClr val="00B050"/>
                </a:solidFill>
              </a:rPr>
              <a:t>região de possíveis valores</a:t>
            </a:r>
            <a:r>
              <a:rPr lang="pt-BR" dirty="0"/>
              <a:t>.</a:t>
            </a:r>
          </a:p>
          <a:p>
            <a:r>
              <a:rPr lang="pt-BR" dirty="0"/>
              <a:t>As</a:t>
            </a:r>
            <a:r>
              <a:rPr lang="pt-BR" b="0" i="0" dirty="0">
                <a:effectLst/>
              </a:rPr>
              <a:t> técnicas de regularização mais utilizadas são L1, L2 e </a:t>
            </a:r>
            <a:r>
              <a:rPr lang="pt-BR" b="0" i="1" dirty="0" err="1">
                <a:effectLst/>
              </a:rPr>
              <a:t>elastic</a:t>
            </a:r>
            <a:r>
              <a:rPr lang="pt-BR" b="0" i="1" dirty="0">
                <a:effectLst/>
              </a:rPr>
              <a:t>-net</a:t>
            </a:r>
            <a:r>
              <a:rPr lang="pt-BR" b="0" i="0" dirty="0">
                <a:effectLst/>
              </a:rPr>
              <a:t>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A5D2EFB5-F853-0ECE-6705-DF53B688DBE6}"/>
                  </a:ext>
                </a:extLst>
              </p:cNvPr>
              <p:cNvSpPr txBox="1"/>
              <p:nvPr/>
            </p:nvSpPr>
            <p:spPr>
              <a:xfrm>
                <a:off x="1298918" y="2680590"/>
                <a:ext cx="3803434" cy="147098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nl-BE" sz="280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nl-BE" sz="2800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nl-BE" sz="2800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r>
                                <a:rPr lang="pt-BR" sz="2800" b="1" i="1" smtClean="0">
                                  <a:latin typeface="Cambria Math" panose="02040503050406030204" pitchFamily="18" charset="0"/>
                                </a:rPr>
                                <m:t>𝒘</m:t>
                              </m:r>
                            </m:lim>
                          </m:limLow>
                        </m:fName>
                        <m:e>
                          <m:sSup>
                            <m:sSupPr>
                              <m:ctrlPr>
                                <a:rPr lang="pt-BR" sz="28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‖"/>
                                  <m:endChr m:val="‖"/>
                                  <m:ctrlPr>
                                    <a:rPr lang="pt-BR" sz="28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sz="2800" b="1" i="1">
                                      <a:latin typeface="Cambria Math" panose="02040503050406030204" pitchFamily="18" charset="0"/>
                                    </a:rPr>
                                    <m:t>𝒚</m:t>
                                  </m:r>
                                  <m:r>
                                    <a:rPr lang="pt-BR" sz="2800" i="1">
                                      <a:latin typeface="Cambria Math" panose="02040503050406030204" pitchFamily="18" charset="0"/>
                                    </a:rPr>
                                    <m:t> −</m:t>
                                  </m:r>
                                  <m:r>
                                    <a:rPr lang="pt-BR" sz="2800" b="1" i="1">
                                      <a:latin typeface="Cambria Math" panose="02040503050406030204" pitchFamily="18" charset="0"/>
                                    </a:rPr>
                                    <m:t>𝒉</m:t>
                                  </m:r>
                                  <m:r>
                                    <a:rPr lang="pt-BR" sz="2800" b="1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pt-BR" sz="2800" b="1" i="1">
                                      <a:latin typeface="Cambria Math" panose="02040503050406030204" pitchFamily="18" charset="0"/>
                                    </a:rPr>
                                    <m:t>𝑿</m:t>
                                  </m:r>
                                  <m:r>
                                    <a:rPr lang="pt-BR" sz="2800" b="1" i="1">
                                      <a:latin typeface="Cambria Math" panose="02040503050406030204" pitchFamily="18" charset="0"/>
                                    </a:rPr>
                                    <m:t>;</m:t>
                                  </m:r>
                                  <m:r>
                                    <a:rPr lang="pt-BR" sz="2800" b="1" i="1" smtClean="0">
                                      <a:latin typeface="Cambria Math" panose="02040503050406030204" pitchFamily="18" charset="0"/>
                                    </a:rPr>
                                    <m:t>𝒘</m:t>
                                  </m:r>
                                  <m:r>
                                    <a:rPr lang="pt-BR" sz="2800" b="1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</m:d>
                            </m:e>
                            <m:sup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func>
                    </m:oMath>
                  </m:oMathPara>
                </a14:m>
                <a:endParaRPr lang="pt-BR" sz="28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pt-BR" sz="2800" i="1">
                          <a:latin typeface="Cambria Math" panose="02040503050406030204" pitchFamily="18" charset="0"/>
                        </a:rPr>
                        <m:t>s</m:t>
                      </m:r>
                      <m:r>
                        <a:rPr lang="pt-BR" sz="2800" i="1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pt-BR" sz="2800" i="1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pt-BR" sz="2800" i="1">
                          <a:latin typeface="Cambria Math" panose="02040503050406030204" pitchFamily="18" charset="0"/>
                        </a:rPr>
                        <m:t>.</m:t>
                      </m:r>
                      <m:sSubSup>
                        <m:sSubSupPr>
                          <m:ctrlPr>
                            <a:rPr lang="pt-BR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d>
                            <m:dPr>
                              <m:begChr m:val="‖"/>
                              <m:endChr m:val="‖"/>
                              <m:ctrlPr>
                                <a:rPr lang="pt-BR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800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𝒘</m:t>
                              </m:r>
                            </m:e>
                          </m:d>
                        </m:e>
                        <m:sub>
                          <m:r>
                            <a:rPr lang="pt-BR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pt-BR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pt-BR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f>
                        <m:fPr>
                          <m:ctrlPr>
                            <a:rPr lang="pt-BR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</m:den>
                      </m:f>
                      <m:r>
                        <a:rPr lang="pt-BR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sz="2800" dirty="0"/>
              </a:p>
            </p:txBody>
          </p:sp>
        </mc:Choice>
        <mc:Fallback xmlns="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A5D2EFB5-F853-0ECE-6705-DF53B688DB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98918" y="2680590"/>
                <a:ext cx="3803434" cy="147098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CaixaDeTexto 6">
                <a:extLst>
                  <a:ext uri="{FF2B5EF4-FFF2-40B4-BE49-F238E27FC236}">
                    <a16:creationId xmlns:a16="http://schemas.microsoft.com/office/drawing/2014/main" id="{94FA96E5-6E55-D162-F30C-3F9BF88DAB2A}"/>
                  </a:ext>
                </a:extLst>
              </p:cNvPr>
              <p:cNvSpPr txBox="1"/>
              <p:nvPr/>
            </p:nvSpPr>
            <p:spPr>
              <a:xfrm>
                <a:off x="429768" y="1825624"/>
                <a:ext cx="5212478" cy="66826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nl-BE" sz="280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nl-BE" sz="2800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nl-BE" sz="2800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r>
                                <a:rPr lang="pt-BR" sz="2800" b="1" i="1" smtClean="0">
                                  <a:latin typeface="Cambria Math" panose="02040503050406030204" pitchFamily="18" charset="0"/>
                                </a:rPr>
                                <m:t>𝒘</m:t>
                              </m:r>
                              <m:r>
                                <a:rPr lang="pt-BR" sz="2800" b="1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lim>
                          </m:limLow>
                        </m:fName>
                        <m:e>
                          <m:d>
                            <m:dPr>
                              <m:ctrlPr>
                                <a:rPr lang="pt-BR" sz="2800" b="1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pt-BR" sz="28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begChr m:val="‖"/>
                                      <m:endChr m:val="‖"/>
                                      <m:ctrlPr>
                                        <a:rPr lang="pt-BR" sz="2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sz="2800" b="1" i="1">
                                          <a:latin typeface="Cambria Math" panose="02040503050406030204" pitchFamily="18" charset="0"/>
                                        </a:rPr>
                                        <m:t>𝒚</m:t>
                                      </m:r>
                                      <m:r>
                                        <a:rPr lang="pt-BR" sz="2800" i="1">
                                          <a:latin typeface="Cambria Math" panose="02040503050406030204" pitchFamily="18" charset="0"/>
                                        </a:rPr>
                                        <m:t> −</m:t>
                                      </m:r>
                                      <m:r>
                                        <a:rPr lang="pt-BR" sz="2800" b="1" i="1" smtClean="0">
                                          <a:latin typeface="Cambria Math" panose="02040503050406030204" pitchFamily="18" charset="0"/>
                                        </a:rPr>
                                        <m:t>𝒉</m:t>
                                      </m:r>
                                      <m:r>
                                        <a:rPr lang="pt-BR" sz="2800" b="1" i="1" smtClean="0"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a:rPr lang="pt-BR" sz="2800" b="1" i="1" smtClean="0">
                                          <a:latin typeface="Cambria Math" panose="02040503050406030204" pitchFamily="18" charset="0"/>
                                        </a:rPr>
                                        <m:t>𝑿</m:t>
                                      </m:r>
                                      <m:r>
                                        <a:rPr lang="pt-BR" sz="2800" b="1" i="1" smtClean="0">
                                          <a:latin typeface="Cambria Math" panose="02040503050406030204" pitchFamily="18" charset="0"/>
                                        </a:rPr>
                                        <m:t>;</m:t>
                                      </m:r>
                                      <m:r>
                                        <a:rPr lang="pt-BR" sz="2800" b="1" i="1" smtClean="0">
                                          <a:latin typeface="Cambria Math" panose="02040503050406030204" pitchFamily="18" charset="0"/>
                                        </a:rPr>
                                        <m:t>𝒘</m:t>
                                      </m:r>
                                      <m:r>
                                        <a:rPr lang="pt-BR" sz="2800" b="1" i="1" smtClean="0">
                                          <a:latin typeface="Cambria Math" panose="02040503050406030204" pitchFamily="18" charset="0"/>
                                        </a:rPr>
                                        <m:t>)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pt-BR" sz="28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pt-BR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𝜆</m:t>
                              </m:r>
                              <m:sSubSup>
                                <m:sSubSupPr>
                                  <m:ctrlPr>
                                    <a:rPr lang="pt-BR" sz="2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d>
                                    <m:dPr>
                                      <m:begChr m:val="‖"/>
                                      <m:endChr m:val="‖"/>
                                      <m:ctrlPr>
                                        <a:rPr lang="pt-BR" sz="28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sz="2800" b="1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𝒘</m:t>
                                      </m:r>
                                    </m:e>
                                  </m:d>
                                </m:e>
                                <m:sub>
                                  <m:r>
                                    <a:rPr lang="pt-BR" sz="2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  <m:sup>
                                  <m:r>
                                    <a:rPr lang="pt-BR" sz="2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e>
                          </m:d>
                          <m:r>
                            <a:rPr lang="pt-BR" sz="28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</m:e>
                      </m:func>
                    </m:oMath>
                  </m:oMathPara>
                </a14:m>
                <a:endParaRPr lang="pt-BR" sz="2800" dirty="0"/>
              </a:p>
            </p:txBody>
          </p:sp>
        </mc:Choice>
        <mc:Fallback xmlns="">
          <p:sp>
            <p:nvSpPr>
              <p:cNvPr id="7" name="CaixaDeTexto 6">
                <a:extLst>
                  <a:ext uri="{FF2B5EF4-FFF2-40B4-BE49-F238E27FC236}">
                    <a16:creationId xmlns:a16="http://schemas.microsoft.com/office/drawing/2014/main" id="{94FA96E5-6E55-D162-F30C-3F9BF88DAB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9768" y="1825624"/>
                <a:ext cx="5212478" cy="66826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CaixaDeTexto 12">
                <a:extLst>
                  <a:ext uri="{FF2B5EF4-FFF2-40B4-BE49-F238E27FC236}">
                    <a16:creationId xmlns:a16="http://schemas.microsoft.com/office/drawing/2014/main" id="{819F47D4-12A7-BD7F-55C6-5DB6C2E38871}"/>
                  </a:ext>
                </a:extLst>
              </p:cNvPr>
              <p:cNvSpPr txBox="1"/>
              <p:nvPr/>
            </p:nvSpPr>
            <p:spPr>
              <a:xfrm>
                <a:off x="-33954" y="6573039"/>
                <a:ext cx="6094206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pt-BR" sz="1200" b="1" dirty="0">
                    <a:ea typeface="Cambria Math" panose="02040503050406030204" pitchFamily="18" charset="0"/>
                  </a:rPr>
                  <a:t>OBS</a:t>
                </a:r>
                <a:r>
                  <a:rPr lang="pt-BR" sz="1200" dirty="0">
                    <a:ea typeface="Cambria Math" panose="02040503050406030204" pitchFamily="18" charset="0"/>
                  </a:rPr>
                  <a:t>.: </a:t>
                </a:r>
                <a14:m>
                  <m:oMath xmlns:m="http://schemas.openxmlformats.org/officeDocument/2006/math">
                    <m:r>
                      <a:rPr lang="pt-BR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  <m:r>
                      <a:rPr lang="pt-BR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≥0 </m:t>
                    </m:r>
                  </m:oMath>
                </a14:m>
                <a:r>
                  <a:rPr lang="pt-BR" sz="1200" dirty="0"/>
                  <a:t>é o </a:t>
                </a:r>
                <a:r>
                  <a:rPr lang="pt-BR" sz="1200" b="1" i="1" dirty="0"/>
                  <a:t>fator de regularização.</a:t>
                </a:r>
                <a:endParaRPr lang="pt-BR" sz="1200" dirty="0"/>
              </a:p>
            </p:txBody>
          </p:sp>
        </mc:Choice>
        <mc:Fallback xmlns="">
          <p:sp>
            <p:nvSpPr>
              <p:cNvPr id="13" name="CaixaDeTexto 12">
                <a:extLst>
                  <a:ext uri="{FF2B5EF4-FFF2-40B4-BE49-F238E27FC236}">
                    <a16:creationId xmlns:a16="http://schemas.microsoft.com/office/drawing/2014/main" id="{819F47D4-12A7-BD7F-55C6-5DB6C2E388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33954" y="6573039"/>
                <a:ext cx="6094206" cy="276999"/>
              </a:xfrm>
              <a:prstGeom prst="rect">
                <a:avLst/>
              </a:prstGeom>
              <a:blipFill>
                <a:blip r:embed="rId6"/>
                <a:stretch>
                  <a:fillRect b="-1521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tângulo 5">
            <a:extLst>
              <a:ext uri="{FF2B5EF4-FFF2-40B4-BE49-F238E27FC236}">
                <a16:creationId xmlns:a16="http://schemas.microsoft.com/office/drawing/2014/main" id="{B1E50C15-796B-7379-D1C6-2808D390DEE1}"/>
              </a:ext>
            </a:extLst>
          </p:cNvPr>
          <p:cNvSpPr/>
          <p:nvPr/>
        </p:nvSpPr>
        <p:spPr>
          <a:xfrm>
            <a:off x="4206240" y="1825624"/>
            <a:ext cx="1060704" cy="59020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F5FB412B-B269-ECA7-F14E-329AAAC59407}"/>
              </a:ext>
            </a:extLst>
          </p:cNvPr>
          <p:cNvSpPr/>
          <p:nvPr/>
        </p:nvSpPr>
        <p:spPr>
          <a:xfrm>
            <a:off x="1340370" y="1803005"/>
            <a:ext cx="2490568" cy="590203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0" name="Chave Direita 9">
            <a:extLst>
              <a:ext uri="{FF2B5EF4-FFF2-40B4-BE49-F238E27FC236}">
                <a16:creationId xmlns:a16="http://schemas.microsoft.com/office/drawing/2014/main" id="{0DBFA6D4-9D17-89FF-09AD-0BB33A989E37}"/>
              </a:ext>
            </a:extLst>
          </p:cNvPr>
          <p:cNvSpPr/>
          <p:nvPr/>
        </p:nvSpPr>
        <p:spPr>
          <a:xfrm rot="5400000">
            <a:off x="3150341" y="642431"/>
            <a:ext cx="281654" cy="3901597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213457FF-A7B2-D6E1-9337-CAD908FDDE69}"/>
              </a:ext>
            </a:extLst>
          </p:cNvPr>
          <p:cNvSpPr txBox="1"/>
          <p:nvPr/>
        </p:nvSpPr>
        <p:spPr>
          <a:xfrm>
            <a:off x="2285732" y="1456292"/>
            <a:ext cx="5998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MSE</a:t>
            </a:r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4A11FE2E-094D-7109-7D29-CDC23773C411}"/>
              </a:ext>
            </a:extLst>
          </p:cNvPr>
          <p:cNvSpPr txBox="1"/>
          <p:nvPr/>
        </p:nvSpPr>
        <p:spPr>
          <a:xfrm>
            <a:off x="3963367" y="1450727"/>
            <a:ext cx="15464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Penalização L2</a:t>
            </a:r>
          </a:p>
        </p:txBody>
      </p:sp>
    </p:spTree>
    <p:extLst>
      <p:ext uri="{BB962C8B-B14F-4D97-AF65-F5344CB8AC3E}">
        <p14:creationId xmlns:p14="http://schemas.microsoft.com/office/powerpoint/2010/main" val="166834566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766F209-3E3E-0136-4083-293C5897A4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evitar o sobreajuste?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2294B5F-B438-34E2-4845-29E47EF0DE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11213388" cy="5032375"/>
          </a:xfrm>
        </p:spPr>
        <p:txBody>
          <a:bodyPr>
            <a:normAutofit/>
          </a:bodyPr>
          <a:lstStyle/>
          <a:p>
            <a:r>
              <a:rPr lang="pt-BR" b="0" dirty="0">
                <a:effectLst/>
              </a:rPr>
              <a:t>Existem outras técnicas que </a:t>
            </a:r>
            <a:r>
              <a:rPr lang="pt-BR" b="1" i="1" dirty="0">
                <a:solidFill>
                  <a:srgbClr val="00B050"/>
                </a:solidFill>
                <a:effectLst/>
              </a:rPr>
              <a:t>não envolvem a adição de termos de penalização</a:t>
            </a:r>
            <a:r>
              <a:rPr lang="pt-BR" b="0" dirty="0">
                <a:effectLst/>
              </a:rPr>
              <a:t>, mas que evitam que o modelo se torne muito flexível e se sobreajuste.</a:t>
            </a:r>
          </a:p>
          <a:p>
            <a:r>
              <a:rPr lang="pt-BR" dirty="0"/>
              <a:t>São técnicas de regularização, mas não no sentido tradicional.</a:t>
            </a:r>
          </a:p>
          <a:p>
            <a:r>
              <a:rPr lang="pt-BR" b="0" dirty="0">
                <a:effectLst/>
              </a:rPr>
              <a:t>Duas técnicas não tradicionais muito utilizadas com redes neurais são o </a:t>
            </a:r>
            <a:r>
              <a:rPr lang="pt-BR" b="0" i="1" dirty="0">
                <a:effectLst/>
              </a:rPr>
              <a:t>earl</a:t>
            </a:r>
            <a:r>
              <a:rPr lang="pt-BR" i="1" dirty="0"/>
              <a:t>y-</a:t>
            </a:r>
            <a:r>
              <a:rPr lang="pt-BR" b="0" i="1" dirty="0">
                <a:effectLst/>
              </a:rPr>
              <a:t>stopping</a:t>
            </a:r>
            <a:r>
              <a:rPr lang="pt-BR" b="0" dirty="0">
                <a:effectLst/>
              </a:rPr>
              <a:t> e o </a:t>
            </a:r>
            <a:r>
              <a:rPr lang="pt-BR" b="0" i="1" dirty="0">
                <a:effectLst/>
              </a:rPr>
              <a:t>Dropout</a:t>
            </a:r>
            <a:r>
              <a:rPr lang="pt-BR" dirty="0"/>
              <a:t>.</a:t>
            </a:r>
            <a:endParaRPr lang="pt-BR" b="0" i="0" dirty="0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252528471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766F209-3E3E-0136-4083-293C5897A4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evitar o sobreajuste?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2294B5F-B438-34E2-4845-29E47EF0DE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37008" y="1825624"/>
            <a:ext cx="6414580" cy="5032375"/>
          </a:xfrm>
        </p:spPr>
        <p:txBody>
          <a:bodyPr>
            <a:normAutofit lnSpcReduction="10000"/>
          </a:bodyPr>
          <a:lstStyle/>
          <a:p>
            <a:r>
              <a:rPr lang="pt-BR" b="1" i="1" dirty="0">
                <a:solidFill>
                  <a:srgbClr val="00B050"/>
                </a:solidFill>
                <a:effectLst/>
              </a:rPr>
              <a:t>Early-stopping</a:t>
            </a:r>
            <a:r>
              <a:rPr lang="pt-BR" b="1" dirty="0">
                <a:solidFill>
                  <a:srgbClr val="00B050"/>
                </a:solidFill>
                <a:effectLst/>
              </a:rPr>
              <a:t> </a:t>
            </a:r>
            <a:r>
              <a:rPr lang="pt-BR" dirty="0">
                <a:effectLst/>
              </a:rPr>
              <a:t>(ou parada antecipada) é uma técnica de </a:t>
            </a:r>
            <a:r>
              <a:rPr lang="pt-BR" b="1" i="1" dirty="0">
                <a:solidFill>
                  <a:srgbClr val="7030A0"/>
                </a:solidFill>
                <a:effectLst/>
              </a:rPr>
              <a:t>regularização temporal</a:t>
            </a:r>
            <a:r>
              <a:rPr lang="pt-BR" dirty="0">
                <a:effectLst/>
              </a:rPr>
              <a:t>.</a:t>
            </a:r>
          </a:p>
          <a:p>
            <a:r>
              <a:rPr lang="pt-BR" b="0" i="0" dirty="0">
                <a:effectLst/>
              </a:rPr>
              <a:t>A ideia é </a:t>
            </a:r>
            <a:r>
              <a:rPr lang="pt-BR" b="1" i="1" dirty="0">
                <a:solidFill>
                  <a:srgbClr val="00B050"/>
                </a:solidFill>
                <a:effectLst/>
              </a:rPr>
              <a:t>interromper o treinamento do modelo assim que o desempenho no conjunto de validação começa a piorar</a:t>
            </a:r>
            <a:r>
              <a:rPr lang="pt-BR" b="0" i="0" dirty="0">
                <a:effectLst/>
              </a:rPr>
              <a:t>, em vez de continuar até que o modelo se ajuste demais aos dados de treinamento.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i="1" dirty="0">
                <a:solidFill>
                  <a:srgbClr val="7030A0"/>
                </a:solidFill>
                <a:effectLst/>
              </a:rPr>
              <a:t>Vantagens</a:t>
            </a:r>
            <a:r>
              <a:rPr lang="pt-BR" b="0" i="0" dirty="0">
                <a:effectLst/>
              </a:rPr>
              <a:t>: </a:t>
            </a:r>
            <a:r>
              <a:rPr lang="pt-BR" b="1" i="1" dirty="0">
                <a:solidFill>
                  <a:srgbClr val="00B050"/>
                </a:solidFill>
                <a:effectLst/>
              </a:rPr>
              <a:t>economiza</a:t>
            </a:r>
            <a:r>
              <a:rPr lang="pt-BR" b="0" i="0" dirty="0">
                <a:effectLst/>
              </a:rPr>
              <a:t> tempo e recursos computacionais.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i="1" dirty="0">
                <a:solidFill>
                  <a:srgbClr val="7030A0"/>
                </a:solidFill>
                <a:effectLst/>
                <a:latin typeface="Google Sans"/>
              </a:rPr>
              <a:t>Desvantagem</a:t>
            </a:r>
            <a:r>
              <a:rPr lang="pt-BR" b="0" i="0" dirty="0">
                <a:solidFill>
                  <a:srgbClr val="1F1F1F"/>
                </a:solidFill>
                <a:effectLst/>
                <a:latin typeface="Google Sans"/>
              </a:rPr>
              <a:t>: se o treinamento for interrompido muito cedo, o modelo pode não ter tempo suficiente para aprender o padrão geral nos dados de treinamento, levando ao </a:t>
            </a:r>
            <a:r>
              <a:rPr lang="pt-BR" b="1" i="1" dirty="0">
                <a:solidFill>
                  <a:srgbClr val="FF0000"/>
                </a:solidFill>
                <a:effectLst/>
                <a:latin typeface="Google Sans"/>
              </a:rPr>
              <a:t>subajuste</a:t>
            </a:r>
            <a:r>
              <a:rPr lang="pt-BR" b="0" i="0" dirty="0">
                <a:solidFill>
                  <a:srgbClr val="1F1F1F"/>
                </a:solidFill>
                <a:effectLst/>
                <a:latin typeface="Google Sans"/>
              </a:rPr>
              <a:t>.</a:t>
            </a:r>
            <a:endParaRPr lang="pt-BR" dirty="0">
              <a:effectLst/>
            </a:endParaRPr>
          </a:p>
        </p:txBody>
      </p:sp>
      <p:grpSp>
        <p:nvGrpSpPr>
          <p:cNvPr id="8" name="Agrupar 7">
            <a:extLst>
              <a:ext uri="{FF2B5EF4-FFF2-40B4-BE49-F238E27FC236}">
                <a16:creationId xmlns:a16="http://schemas.microsoft.com/office/drawing/2014/main" id="{E095B930-11D3-84D9-888C-FDD602C69284}"/>
              </a:ext>
            </a:extLst>
          </p:cNvPr>
          <p:cNvGrpSpPr/>
          <p:nvPr/>
        </p:nvGrpSpPr>
        <p:grpSpPr>
          <a:xfrm>
            <a:off x="448916" y="2140058"/>
            <a:ext cx="4817167" cy="3991572"/>
            <a:chOff x="919612" y="1910994"/>
            <a:chExt cx="4817167" cy="3991572"/>
          </a:xfrm>
        </p:grpSpPr>
        <p:pic>
          <p:nvPicPr>
            <p:cNvPr id="10" name="Picture 2">
              <a:extLst>
                <a:ext uri="{FF2B5EF4-FFF2-40B4-BE49-F238E27FC236}">
                  <a16:creationId xmlns:a16="http://schemas.microsoft.com/office/drawing/2014/main" id="{C13C3FCC-7512-6E26-5226-AE3A2653628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19612" y="1910994"/>
              <a:ext cx="4817167" cy="399157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1" name="Elipse 10">
              <a:extLst>
                <a:ext uri="{FF2B5EF4-FFF2-40B4-BE49-F238E27FC236}">
                  <a16:creationId xmlns:a16="http://schemas.microsoft.com/office/drawing/2014/main" id="{77637BC2-E998-542B-ABA7-76B0A7068739}"/>
                </a:ext>
              </a:extLst>
            </p:cNvPr>
            <p:cNvSpPr/>
            <p:nvPr/>
          </p:nvSpPr>
          <p:spPr>
            <a:xfrm>
              <a:off x="1428749" y="4219574"/>
              <a:ext cx="309563" cy="276225"/>
            </a:xfrm>
            <a:prstGeom prst="ellipse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2" name="CaixaDeTexto 11">
              <a:extLst>
                <a:ext uri="{FF2B5EF4-FFF2-40B4-BE49-F238E27FC236}">
                  <a16:creationId xmlns:a16="http://schemas.microsoft.com/office/drawing/2014/main" id="{C3112F4A-171F-7B59-2F12-B79F6BE6C432}"/>
                </a:ext>
              </a:extLst>
            </p:cNvPr>
            <p:cNvSpPr txBox="1"/>
            <p:nvPr/>
          </p:nvSpPr>
          <p:spPr>
            <a:xfrm>
              <a:off x="1857879" y="4500560"/>
              <a:ext cx="82676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Early-stop</a:t>
              </a:r>
            </a:p>
          </p:txBody>
        </p:sp>
        <p:cxnSp>
          <p:nvCxnSpPr>
            <p:cNvPr id="13" name="Conector de Seta Reta 12">
              <a:extLst>
                <a:ext uri="{FF2B5EF4-FFF2-40B4-BE49-F238E27FC236}">
                  <a16:creationId xmlns:a16="http://schemas.microsoft.com/office/drawing/2014/main" id="{1538B9E6-D12D-D423-F402-A8F26F0AC3E7}"/>
                </a:ext>
              </a:extLst>
            </p:cNvPr>
            <p:cNvCxnSpPr>
              <a:stCxn id="11" idx="5"/>
            </p:cNvCxnSpPr>
            <p:nvPr/>
          </p:nvCxnSpPr>
          <p:spPr>
            <a:xfrm>
              <a:off x="1692978" y="4455347"/>
              <a:ext cx="264410" cy="183712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87467948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766F209-3E3E-0136-4083-293C5897A4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evitar o sobreajuste?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0A5387B2-D421-E880-9FA0-D213BE79D699}"/>
              </a:ext>
            </a:extLst>
          </p:cNvPr>
          <p:cNvSpPr txBox="1"/>
          <p:nvPr/>
        </p:nvSpPr>
        <p:spPr>
          <a:xfrm>
            <a:off x="4842721" y="6542397"/>
            <a:ext cx="28575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 err="1">
                <a:hlinkClick r:id="rId3"/>
              </a:rPr>
              <a:t>Exemplo</a:t>
            </a:r>
            <a:r>
              <a:rPr lang="en-US" sz="1200" dirty="0">
                <a:hlinkClick r:id="rId3"/>
              </a:rPr>
              <a:t>: </a:t>
            </a:r>
            <a:r>
              <a:rPr lang="en-US" sz="1200" dirty="0" err="1">
                <a:hlinkClick r:id="rId3"/>
              </a:rPr>
              <a:t>Sobreajuste_e_early_stop.ipynb</a:t>
            </a:r>
            <a:endParaRPr lang="pt-BR" sz="1200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FEF08294-4B0C-7DBD-1203-9F2E32D99E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4032947"/>
            <a:ext cx="3195638" cy="26479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CaixaDeTexto 7">
            <a:extLst>
              <a:ext uri="{FF2B5EF4-FFF2-40B4-BE49-F238E27FC236}">
                <a16:creationId xmlns:a16="http://schemas.microsoft.com/office/drawing/2014/main" id="{3A4BFA89-5A6A-C89E-1CAA-F3EDB251C21C}"/>
              </a:ext>
            </a:extLst>
          </p:cNvPr>
          <p:cNvSpPr txBox="1"/>
          <p:nvPr/>
        </p:nvSpPr>
        <p:spPr>
          <a:xfrm>
            <a:off x="730044" y="2832618"/>
            <a:ext cx="3609453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200" dirty="0" err="1">
                <a:solidFill>
                  <a:srgbClr val="000000"/>
                </a:solidFill>
                <a:highlight>
                  <a:srgbClr val="FFFFFF"/>
                </a:highlight>
              </a:rPr>
              <a:t>history</a:t>
            </a:r>
            <a:r>
              <a:rPr lang="pt-BR" sz="120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sz="1200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pt-BR" sz="1200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sz="1200" b="0" dirty="0" err="1">
                <a:solidFill>
                  <a:srgbClr val="000000"/>
                </a:solidFill>
                <a:highlight>
                  <a:srgbClr val="FFFFFF"/>
                </a:highlight>
              </a:rPr>
              <a:t>model</a:t>
            </a:r>
            <a:r>
              <a:rPr lang="pt-BR" sz="1200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sz="1200" b="0" dirty="0" err="1">
                <a:solidFill>
                  <a:srgbClr val="000000"/>
                </a:solidFill>
                <a:highlight>
                  <a:srgbClr val="FFFFFF"/>
                </a:highlight>
              </a:rPr>
              <a:t>fit</a:t>
            </a:r>
            <a:r>
              <a:rPr lang="pt-BR" sz="1200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pt-BR" sz="1200" b="0" dirty="0" err="1">
                <a:solidFill>
                  <a:srgbClr val="000000"/>
                </a:solidFill>
                <a:highlight>
                  <a:srgbClr val="FFFFFF"/>
                </a:highlight>
              </a:rPr>
              <a:t>train_images</a:t>
            </a:r>
            <a:r>
              <a:rPr lang="pt-BR" sz="1200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pt-BR" sz="1200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</a:p>
          <a:p>
            <a:r>
              <a:rPr lang="pt-BR" sz="1200" b="0" dirty="0">
                <a:solidFill>
                  <a:srgbClr val="000000"/>
                </a:solidFill>
                <a:highlight>
                  <a:srgbClr val="FFFFFF"/>
                </a:highlight>
              </a:rPr>
              <a:t>                    </a:t>
            </a:r>
            <a:r>
              <a:rPr lang="pt-BR" sz="1200" b="0" dirty="0" err="1">
                <a:solidFill>
                  <a:srgbClr val="000000"/>
                </a:solidFill>
                <a:highlight>
                  <a:srgbClr val="FFFFFF"/>
                </a:highlight>
              </a:rPr>
              <a:t>train_labels</a:t>
            </a:r>
            <a:r>
              <a:rPr lang="pt-BR" sz="1200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pt-BR" sz="1200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</a:p>
          <a:p>
            <a:r>
              <a:rPr lang="pt-BR" sz="1200" b="0" dirty="0">
                <a:solidFill>
                  <a:srgbClr val="000000"/>
                </a:solidFill>
                <a:highlight>
                  <a:srgbClr val="FFFFFF"/>
                </a:highlight>
              </a:rPr>
              <a:t>                    </a:t>
            </a:r>
            <a:r>
              <a:rPr lang="pt-BR" sz="1200" b="0" dirty="0" err="1">
                <a:solidFill>
                  <a:srgbClr val="000000"/>
                </a:solidFill>
                <a:highlight>
                  <a:srgbClr val="FFFFFF"/>
                </a:highlight>
              </a:rPr>
              <a:t>batch_size</a:t>
            </a:r>
            <a:r>
              <a:rPr lang="pt-BR" sz="1200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pt-BR" sz="1200" b="0" dirty="0">
                <a:solidFill>
                  <a:srgbClr val="FF0000"/>
                </a:solidFill>
                <a:highlight>
                  <a:srgbClr val="FFFFFF"/>
                </a:highlight>
              </a:rPr>
              <a:t>64</a:t>
            </a:r>
            <a:r>
              <a:rPr lang="pt-BR" sz="1200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pt-BR" sz="1200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</a:p>
          <a:p>
            <a:r>
              <a:rPr lang="en-US" sz="1200" b="0" dirty="0">
                <a:solidFill>
                  <a:srgbClr val="000000"/>
                </a:solidFill>
                <a:highlight>
                  <a:srgbClr val="FFFFFF"/>
                </a:highlight>
              </a:rPr>
              <a:t>                    </a:t>
            </a:r>
            <a:r>
              <a:rPr lang="en-US" sz="1200" b="0" dirty="0" err="1">
                <a:solidFill>
                  <a:srgbClr val="000000"/>
                </a:solidFill>
                <a:highlight>
                  <a:srgbClr val="FFFFFF"/>
                </a:highlight>
              </a:rPr>
              <a:t>validation_data</a:t>
            </a:r>
            <a:r>
              <a:rPr lang="en-US" sz="1200" b="1" dirty="0">
                <a:solidFill>
                  <a:srgbClr val="000080"/>
                </a:solidFill>
                <a:highlight>
                  <a:srgbClr val="FFFFFF"/>
                </a:highlight>
              </a:rPr>
              <a:t>=(</a:t>
            </a:r>
            <a:r>
              <a:rPr lang="en-US" sz="1200" b="0" dirty="0" err="1">
                <a:solidFill>
                  <a:srgbClr val="000000"/>
                </a:solidFill>
                <a:highlight>
                  <a:srgbClr val="FFFFFF"/>
                </a:highlight>
              </a:rPr>
              <a:t>test_images</a:t>
            </a:r>
            <a:r>
              <a:rPr lang="en-US" sz="1200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sz="1200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sz="1200" b="0" dirty="0" err="1">
                <a:solidFill>
                  <a:srgbClr val="000000"/>
                </a:solidFill>
                <a:highlight>
                  <a:srgbClr val="FFFFFF"/>
                </a:highlight>
              </a:rPr>
              <a:t>test_labels</a:t>
            </a:r>
            <a:r>
              <a:rPr lang="en-US" sz="1200" b="1" dirty="0">
                <a:solidFill>
                  <a:srgbClr val="000080"/>
                </a:solidFill>
                <a:highlight>
                  <a:srgbClr val="FFFFFF"/>
                </a:highlight>
              </a:rPr>
              <a:t>),</a:t>
            </a:r>
            <a:r>
              <a:rPr lang="en-US" sz="1200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</a:p>
          <a:p>
            <a:r>
              <a:rPr lang="pt-BR" sz="1200" b="0" dirty="0">
                <a:solidFill>
                  <a:srgbClr val="000000"/>
                </a:solidFill>
                <a:highlight>
                  <a:srgbClr val="FFFFFF"/>
                </a:highlight>
              </a:rPr>
              <a:t>                    </a:t>
            </a:r>
            <a:r>
              <a:rPr lang="pt-BR" sz="1200" b="0" dirty="0" err="1">
                <a:solidFill>
                  <a:srgbClr val="000000"/>
                </a:solidFill>
                <a:highlight>
                  <a:srgbClr val="FFFFFF"/>
                </a:highlight>
              </a:rPr>
              <a:t>epochs</a:t>
            </a:r>
            <a:r>
              <a:rPr lang="pt-BR" sz="1200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pt-BR" sz="1200" b="0" dirty="0">
                <a:solidFill>
                  <a:srgbClr val="FF0000"/>
                </a:solidFill>
                <a:highlight>
                  <a:srgbClr val="FFFFFF"/>
                </a:highlight>
              </a:rPr>
              <a:t>100</a:t>
            </a:r>
            <a:endParaRPr lang="pt-BR" sz="1200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pt-BR" sz="1200" b="1" dirty="0">
                <a:solidFill>
                  <a:srgbClr val="000080"/>
                </a:solidFill>
                <a:highlight>
                  <a:srgbClr val="FFFFFF"/>
                </a:highlight>
              </a:rPr>
              <a:t>)</a:t>
            </a:r>
            <a:endParaRPr lang="pt-BR" sz="1200" dirty="0"/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F6566219-69C7-65C4-4619-B533E2D07F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05880" y="4032947"/>
            <a:ext cx="3195639" cy="26479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CaixaDeTexto 10">
            <a:extLst>
              <a:ext uri="{FF2B5EF4-FFF2-40B4-BE49-F238E27FC236}">
                <a16:creationId xmlns:a16="http://schemas.microsoft.com/office/drawing/2014/main" id="{2E646AB2-D51E-3377-BC67-200DEBC847C8}"/>
              </a:ext>
            </a:extLst>
          </p:cNvPr>
          <p:cNvSpPr txBox="1"/>
          <p:nvPr/>
        </p:nvSpPr>
        <p:spPr>
          <a:xfrm>
            <a:off x="7703442" y="1539957"/>
            <a:ext cx="4338399" cy="24929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 err="1">
                <a:solidFill>
                  <a:srgbClr val="000000"/>
                </a:solidFill>
                <a:highlight>
                  <a:srgbClr val="FFFFFF"/>
                </a:highlight>
              </a:rPr>
              <a:t>early_stop</a:t>
            </a:r>
            <a:r>
              <a:rPr lang="en-US" sz="120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sz="1200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en-US" sz="1200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sz="1200" b="0" dirty="0" err="1">
                <a:solidFill>
                  <a:srgbClr val="000000"/>
                </a:solidFill>
                <a:highlight>
                  <a:srgbClr val="FFFFFF"/>
                </a:highlight>
              </a:rPr>
              <a:t>EarlyStopping</a:t>
            </a:r>
            <a:r>
              <a:rPr lang="en-US" sz="1200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en-US" sz="1200" b="0" dirty="0">
                <a:solidFill>
                  <a:srgbClr val="000000"/>
                </a:solidFill>
                <a:highlight>
                  <a:srgbClr val="FFFFFF"/>
                </a:highlight>
              </a:rPr>
              <a:t>monitor</a:t>
            </a:r>
            <a:r>
              <a:rPr lang="en-US" sz="1200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en-US" sz="1200" b="0" dirty="0">
                <a:solidFill>
                  <a:srgbClr val="808080"/>
                </a:solidFill>
                <a:highlight>
                  <a:srgbClr val="FFFFFF"/>
                </a:highlight>
              </a:rPr>
              <a:t>'</a:t>
            </a:r>
            <a:r>
              <a:rPr lang="en-US" sz="1200" b="0" dirty="0" err="1">
                <a:solidFill>
                  <a:srgbClr val="808080"/>
                </a:solidFill>
                <a:highlight>
                  <a:srgbClr val="FFFFFF"/>
                </a:highlight>
              </a:rPr>
              <a:t>val_loss</a:t>
            </a:r>
            <a:r>
              <a:rPr lang="en-US" sz="1200" b="0" dirty="0">
                <a:solidFill>
                  <a:srgbClr val="808080"/>
                </a:solidFill>
                <a:highlight>
                  <a:srgbClr val="FFFFFF"/>
                </a:highlight>
              </a:rPr>
              <a:t>'</a:t>
            </a:r>
            <a:r>
              <a:rPr lang="en-US" sz="1200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sz="1200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</a:p>
          <a:p>
            <a:r>
              <a:rPr lang="pt-BR" sz="1200" b="0" dirty="0">
                <a:solidFill>
                  <a:srgbClr val="000000"/>
                </a:solidFill>
                <a:highlight>
                  <a:srgbClr val="FFFFFF"/>
                </a:highlight>
              </a:rPr>
              <a:t>                           </a:t>
            </a:r>
            <a:r>
              <a:rPr lang="pt-BR" sz="1200" b="0" dirty="0" err="1">
                <a:solidFill>
                  <a:srgbClr val="000000"/>
                </a:solidFill>
                <a:highlight>
                  <a:srgbClr val="FFFFFF"/>
                </a:highlight>
              </a:rPr>
              <a:t>mode</a:t>
            </a:r>
            <a:r>
              <a:rPr lang="pt-BR" sz="1200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pt-BR" sz="1200" b="0" dirty="0">
                <a:solidFill>
                  <a:srgbClr val="808080"/>
                </a:solidFill>
                <a:highlight>
                  <a:srgbClr val="FFFFFF"/>
                </a:highlight>
              </a:rPr>
              <a:t>'min'</a:t>
            </a:r>
            <a:r>
              <a:rPr lang="pt-BR" sz="1200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pt-BR" sz="1200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</a:p>
          <a:p>
            <a:r>
              <a:rPr lang="pt-BR" sz="1200" b="0" dirty="0">
                <a:solidFill>
                  <a:srgbClr val="000000"/>
                </a:solidFill>
                <a:highlight>
                  <a:srgbClr val="FFFFFF"/>
                </a:highlight>
              </a:rPr>
              <a:t>                           </a:t>
            </a:r>
            <a:r>
              <a:rPr lang="pt-BR" sz="1200" b="0" dirty="0" err="1">
                <a:solidFill>
                  <a:srgbClr val="000000"/>
                </a:solidFill>
                <a:highlight>
                  <a:srgbClr val="FFFFFF"/>
                </a:highlight>
              </a:rPr>
              <a:t>patience</a:t>
            </a:r>
            <a:r>
              <a:rPr lang="pt-BR" sz="1200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pt-BR" sz="1200" b="0" dirty="0">
                <a:solidFill>
                  <a:srgbClr val="FF0000"/>
                </a:solidFill>
                <a:highlight>
                  <a:srgbClr val="FFFFFF"/>
                </a:highlight>
              </a:rPr>
              <a:t>10</a:t>
            </a:r>
            <a:r>
              <a:rPr lang="pt-BR" sz="1200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pt-BR" sz="1200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</a:p>
          <a:p>
            <a:r>
              <a:rPr lang="pt-BR" sz="1200" b="0" dirty="0">
                <a:solidFill>
                  <a:srgbClr val="000000"/>
                </a:solidFill>
                <a:highlight>
                  <a:srgbClr val="FFFFFF"/>
                </a:highlight>
              </a:rPr>
              <a:t>                           </a:t>
            </a:r>
            <a:r>
              <a:rPr lang="pt-BR" sz="1200" b="0" dirty="0" err="1">
                <a:solidFill>
                  <a:srgbClr val="000000"/>
                </a:solidFill>
                <a:highlight>
                  <a:srgbClr val="FFFFFF"/>
                </a:highlight>
              </a:rPr>
              <a:t>restore_best_weights</a:t>
            </a:r>
            <a:r>
              <a:rPr lang="pt-BR" sz="1200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pt-BR" sz="1200" b="1" dirty="0" err="1">
                <a:solidFill>
                  <a:srgbClr val="880088"/>
                </a:solidFill>
                <a:highlight>
                  <a:srgbClr val="FFFFFF"/>
                </a:highlight>
              </a:rPr>
              <a:t>True</a:t>
            </a:r>
            <a:endParaRPr lang="pt-BR" sz="1200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pt-BR" sz="1200" b="1" dirty="0">
                <a:solidFill>
                  <a:srgbClr val="000080"/>
                </a:solidFill>
                <a:highlight>
                  <a:srgbClr val="FFFFFF"/>
                </a:highlight>
              </a:rPr>
              <a:t>)</a:t>
            </a:r>
            <a:endParaRPr lang="pt-BR" sz="1200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endParaRPr lang="pt-BR" sz="1200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pt-BR" sz="1200" b="0" dirty="0" err="1">
                <a:solidFill>
                  <a:srgbClr val="000000"/>
                </a:solidFill>
                <a:highlight>
                  <a:srgbClr val="FFFFFF"/>
                </a:highlight>
              </a:rPr>
              <a:t>history</a:t>
            </a:r>
            <a:r>
              <a:rPr lang="pt-BR" sz="1200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sz="1200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pt-BR" sz="1200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sz="1200" b="0" dirty="0" err="1">
                <a:solidFill>
                  <a:srgbClr val="000000"/>
                </a:solidFill>
                <a:highlight>
                  <a:srgbClr val="FFFFFF"/>
                </a:highlight>
              </a:rPr>
              <a:t>model</a:t>
            </a:r>
            <a:r>
              <a:rPr lang="pt-BR" sz="1200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sz="1200" b="0" dirty="0" err="1">
                <a:solidFill>
                  <a:srgbClr val="000000"/>
                </a:solidFill>
                <a:highlight>
                  <a:srgbClr val="FFFFFF"/>
                </a:highlight>
              </a:rPr>
              <a:t>fit</a:t>
            </a:r>
            <a:r>
              <a:rPr lang="pt-BR" sz="1200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pt-BR" sz="1200" b="0" dirty="0" err="1">
                <a:solidFill>
                  <a:srgbClr val="000000"/>
                </a:solidFill>
                <a:highlight>
                  <a:srgbClr val="FFFFFF"/>
                </a:highlight>
              </a:rPr>
              <a:t>train_images</a:t>
            </a:r>
            <a:r>
              <a:rPr lang="pt-BR" sz="1200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pt-BR" sz="1200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</a:p>
          <a:p>
            <a:r>
              <a:rPr lang="pt-BR" sz="1200" b="0" dirty="0">
                <a:solidFill>
                  <a:srgbClr val="000000"/>
                </a:solidFill>
                <a:highlight>
                  <a:srgbClr val="FFFFFF"/>
                </a:highlight>
              </a:rPr>
              <a:t>                    </a:t>
            </a:r>
            <a:r>
              <a:rPr lang="pt-BR" sz="1200" b="0" dirty="0" err="1">
                <a:solidFill>
                  <a:srgbClr val="000000"/>
                </a:solidFill>
                <a:highlight>
                  <a:srgbClr val="FFFFFF"/>
                </a:highlight>
              </a:rPr>
              <a:t>train_labels</a:t>
            </a:r>
            <a:r>
              <a:rPr lang="pt-BR" sz="1200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pt-BR" sz="1200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</a:p>
          <a:p>
            <a:r>
              <a:rPr lang="pt-BR" sz="1200" b="0" dirty="0">
                <a:solidFill>
                  <a:srgbClr val="000000"/>
                </a:solidFill>
                <a:highlight>
                  <a:srgbClr val="FFFFFF"/>
                </a:highlight>
              </a:rPr>
              <a:t>                    </a:t>
            </a:r>
            <a:r>
              <a:rPr lang="pt-BR" sz="1200" b="0" dirty="0" err="1">
                <a:solidFill>
                  <a:srgbClr val="000000"/>
                </a:solidFill>
                <a:highlight>
                  <a:srgbClr val="FFFFFF"/>
                </a:highlight>
              </a:rPr>
              <a:t>batch_size</a:t>
            </a:r>
            <a:r>
              <a:rPr lang="pt-BR" sz="1200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pt-BR" sz="1200" b="0" dirty="0">
                <a:solidFill>
                  <a:srgbClr val="FF0000"/>
                </a:solidFill>
                <a:highlight>
                  <a:srgbClr val="FFFFFF"/>
                </a:highlight>
              </a:rPr>
              <a:t>64</a:t>
            </a:r>
            <a:r>
              <a:rPr lang="pt-BR" sz="1200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pt-BR" sz="1200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</a:p>
          <a:p>
            <a:r>
              <a:rPr lang="en-US" sz="1200" b="0" dirty="0">
                <a:solidFill>
                  <a:srgbClr val="000000"/>
                </a:solidFill>
                <a:highlight>
                  <a:srgbClr val="FFFFFF"/>
                </a:highlight>
              </a:rPr>
              <a:t>                    </a:t>
            </a:r>
            <a:r>
              <a:rPr lang="en-US" sz="1200" b="0" dirty="0" err="1">
                <a:solidFill>
                  <a:srgbClr val="000000"/>
                </a:solidFill>
                <a:highlight>
                  <a:srgbClr val="FFFFFF"/>
                </a:highlight>
              </a:rPr>
              <a:t>validation_data</a:t>
            </a:r>
            <a:r>
              <a:rPr lang="en-US" sz="1200" b="1" dirty="0">
                <a:solidFill>
                  <a:srgbClr val="000080"/>
                </a:solidFill>
                <a:highlight>
                  <a:srgbClr val="FFFFFF"/>
                </a:highlight>
              </a:rPr>
              <a:t>=(</a:t>
            </a:r>
            <a:r>
              <a:rPr lang="en-US" sz="1200" b="0" dirty="0" err="1">
                <a:solidFill>
                  <a:srgbClr val="000000"/>
                </a:solidFill>
                <a:highlight>
                  <a:srgbClr val="FFFFFF"/>
                </a:highlight>
              </a:rPr>
              <a:t>test_images</a:t>
            </a:r>
            <a:r>
              <a:rPr lang="en-US" sz="1200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sz="1200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sz="1200" b="0" dirty="0" err="1">
                <a:solidFill>
                  <a:srgbClr val="000000"/>
                </a:solidFill>
                <a:highlight>
                  <a:srgbClr val="FFFFFF"/>
                </a:highlight>
              </a:rPr>
              <a:t>test_labels</a:t>
            </a:r>
            <a:r>
              <a:rPr lang="en-US" sz="1200" b="1" dirty="0">
                <a:solidFill>
                  <a:srgbClr val="000080"/>
                </a:solidFill>
                <a:highlight>
                  <a:srgbClr val="FFFFFF"/>
                </a:highlight>
              </a:rPr>
              <a:t>),</a:t>
            </a:r>
            <a:r>
              <a:rPr lang="en-US" sz="1200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</a:p>
          <a:p>
            <a:r>
              <a:rPr lang="pt-BR" sz="1200" b="0" dirty="0">
                <a:solidFill>
                  <a:srgbClr val="000000"/>
                </a:solidFill>
                <a:highlight>
                  <a:srgbClr val="FFFFFF"/>
                </a:highlight>
              </a:rPr>
              <a:t>                    </a:t>
            </a:r>
            <a:r>
              <a:rPr lang="pt-BR" sz="1200" b="0" dirty="0" err="1">
                <a:solidFill>
                  <a:srgbClr val="000000"/>
                </a:solidFill>
                <a:highlight>
                  <a:srgbClr val="FFFFFF"/>
                </a:highlight>
              </a:rPr>
              <a:t>epochs</a:t>
            </a:r>
            <a:r>
              <a:rPr lang="pt-BR" sz="1200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pt-BR" sz="1200" b="0" dirty="0">
                <a:solidFill>
                  <a:srgbClr val="FF0000"/>
                </a:solidFill>
                <a:highlight>
                  <a:srgbClr val="FFFFFF"/>
                </a:highlight>
              </a:rPr>
              <a:t>100</a:t>
            </a:r>
            <a:r>
              <a:rPr lang="pt-BR" sz="1200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pt-BR" sz="1200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</a:p>
          <a:p>
            <a:r>
              <a:rPr lang="pt-BR" sz="1200" b="0" dirty="0">
                <a:solidFill>
                  <a:srgbClr val="000000"/>
                </a:solidFill>
                <a:highlight>
                  <a:srgbClr val="FFFFFF"/>
                </a:highlight>
              </a:rPr>
              <a:t>                    callbacks</a:t>
            </a:r>
            <a:r>
              <a:rPr lang="pt-BR" sz="1200" b="1" dirty="0">
                <a:solidFill>
                  <a:srgbClr val="000080"/>
                </a:solidFill>
                <a:highlight>
                  <a:srgbClr val="FFFFFF"/>
                </a:highlight>
              </a:rPr>
              <a:t>=[</a:t>
            </a:r>
            <a:r>
              <a:rPr lang="pt-BR" sz="1200" b="0" dirty="0" err="1">
                <a:solidFill>
                  <a:srgbClr val="000000"/>
                </a:solidFill>
                <a:highlight>
                  <a:srgbClr val="FFFFFF"/>
                </a:highlight>
              </a:rPr>
              <a:t>early_stop</a:t>
            </a:r>
            <a:r>
              <a:rPr lang="pt-BR" sz="1200" b="1" dirty="0">
                <a:solidFill>
                  <a:srgbClr val="000080"/>
                </a:solidFill>
                <a:highlight>
                  <a:srgbClr val="FFFFFF"/>
                </a:highlight>
              </a:rPr>
              <a:t>]</a:t>
            </a:r>
            <a:endParaRPr lang="pt-BR" sz="1200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pt-BR" sz="1200" b="1" dirty="0">
                <a:solidFill>
                  <a:srgbClr val="000080"/>
                </a:solidFill>
                <a:highlight>
                  <a:srgbClr val="FFFFFF"/>
                </a:highlight>
              </a:rPr>
              <a:t>)</a:t>
            </a:r>
            <a:endParaRPr lang="pt-BR" sz="1200" dirty="0"/>
          </a:p>
        </p:txBody>
      </p:sp>
      <p:sp>
        <p:nvSpPr>
          <p:cNvPr id="12" name="Retângulo 11">
            <a:extLst>
              <a:ext uri="{FF2B5EF4-FFF2-40B4-BE49-F238E27FC236}">
                <a16:creationId xmlns:a16="http://schemas.microsoft.com/office/drawing/2014/main" id="{2988402C-7D66-1DC0-753F-71F45DEB25CE}"/>
              </a:ext>
            </a:extLst>
          </p:cNvPr>
          <p:cNvSpPr/>
          <p:nvPr/>
        </p:nvSpPr>
        <p:spPr>
          <a:xfrm>
            <a:off x="7700221" y="1539957"/>
            <a:ext cx="3195639" cy="105263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3" name="Retângulo 12">
            <a:extLst>
              <a:ext uri="{FF2B5EF4-FFF2-40B4-BE49-F238E27FC236}">
                <a16:creationId xmlns:a16="http://schemas.microsoft.com/office/drawing/2014/main" id="{361FBCCD-E5F7-9FB3-B8C8-4716276DBFAF}"/>
              </a:ext>
            </a:extLst>
          </p:cNvPr>
          <p:cNvSpPr/>
          <p:nvPr/>
        </p:nvSpPr>
        <p:spPr>
          <a:xfrm>
            <a:off x="8433995" y="3619558"/>
            <a:ext cx="1516829" cy="17437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8761414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766F209-3E3E-0136-4083-293C5897A4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evitar o sobreajuste?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2294B5F-B438-34E2-4845-29E47EF0DE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87615" y="1825624"/>
            <a:ext cx="6263972" cy="5032375"/>
          </a:xfrm>
        </p:spPr>
        <p:txBody>
          <a:bodyPr>
            <a:normAutofit/>
          </a:bodyPr>
          <a:lstStyle/>
          <a:p>
            <a:r>
              <a:rPr lang="pt-BR" b="0" dirty="0">
                <a:effectLst/>
              </a:rPr>
              <a:t>O </a:t>
            </a:r>
            <a:r>
              <a:rPr lang="pt-BR" b="1" i="1" dirty="0" err="1">
                <a:solidFill>
                  <a:srgbClr val="00B050"/>
                </a:solidFill>
                <a:effectLst/>
              </a:rPr>
              <a:t>dropout</a:t>
            </a:r>
            <a:r>
              <a:rPr lang="pt-BR" b="0" i="1" dirty="0">
                <a:effectLst/>
              </a:rPr>
              <a:t> </a:t>
            </a:r>
            <a:r>
              <a:rPr lang="pt-BR" b="0" i="0" dirty="0">
                <a:effectLst/>
              </a:rPr>
              <a:t>envolve </a:t>
            </a:r>
            <a:r>
              <a:rPr lang="pt-BR" b="1" i="1" dirty="0">
                <a:solidFill>
                  <a:schemeClr val="accent1"/>
                </a:solidFill>
                <a:effectLst/>
              </a:rPr>
              <a:t>aleatoriamente</a:t>
            </a:r>
            <a:r>
              <a:rPr lang="pt-BR" b="0" i="0" dirty="0">
                <a:effectLst/>
              </a:rPr>
              <a:t> </a:t>
            </a:r>
            <a:r>
              <a:rPr lang="pt-BR" b="1" i="1" dirty="0">
                <a:solidFill>
                  <a:srgbClr val="00B050"/>
                </a:solidFill>
                <a:effectLst/>
              </a:rPr>
              <a:t>"desligar" ou "descartar" neurônios de uma camada</a:t>
            </a:r>
            <a:r>
              <a:rPr lang="pt-BR" b="0" i="0" dirty="0">
                <a:effectLst/>
              </a:rPr>
              <a:t> </a:t>
            </a:r>
            <a:r>
              <a:rPr lang="pt-BR" b="1" i="1" dirty="0">
                <a:solidFill>
                  <a:srgbClr val="7030A0"/>
                </a:solidFill>
                <a:effectLst/>
              </a:rPr>
              <a:t>durante o treinamento </a:t>
            </a:r>
            <a:r>
              <a:rPr lang="pt-BR" b="0" i="0" dirty="0">
                <a:effectLst/>
              </a:rPr>
              <a:t>da rede neural. </a:t>
            </a:r>
          </a:p>
          <a:p>
            <a:r>
              <a:rPr lang="pt-BR" b="0" i="0" dirty="0">
                <a:effectLst/>
              </a:rPr>
              <a:t>Isso significa que esses neurônios não contribuirão para o cálculo das saídas da rede durante essa iteração de treinamento.</a:t>
            </a:r>
          </a:p>
          <a:p>
            <a:r>
              <a:rPr lang="pt-BR" dirty="0"/>
              <a:t>Desta forma, o </a:t>
            </a:r>
            <a:r>
              <a:rPr lang="pt-BR" b="1" i="1" dirty="0">
                <a:solidFill>
                  <a:srgbClr val="00B050"/>
                </a:solidFill>
              </a:rPr>
              <a:t>modelo</a:t>
            </a:r>
            <a:r>
              <a:rPr lang="pt-BR" dirty="0"/>
              <a:t> fica </a:t>
            </a:r>
            <a:r>
              <a:rPr lang="pt-BR" b="1" i="1" dirty="0">
                <a:solidFill>
                  <a:srgbClr val="00B050"/>
                </a:solidFill>
              </a:rPr>
              <a:t>menos complexo</a:t>
            </a:r>
            <a:r>
              <a:rPr lang="pt-BR" dirty="0"/>
              <a:t>, </a:t>
            </a:r>
            <a:r>
              <a:rPr lang="pt-BR" b="1" i="1" dirty="0">
                <a:solidFill>
                  <a:srgbClr val="00B050"/>
                </a:solidFill>
              </a:rPr>
              <a:t>diminuindo</a:t>
            </a:r>
            <a:r>
              <a:rPr lang="pt-BR" dirty="0"/>
              <a:t> as chances de </a:t>
            </a:r>
            <a:r>
              <a:rPr lang="pt-BR" b="1" i="1" dirty="0">
                <a:solidFill>
                  <a:srgbClr val="00B050"/>
                </a:solidFill>
              </a:rPr>
              <a:t>sobreajuste</a:t>
            </a:r>
            <a:r>
              <a:rPr lang="pt-BR" dirty="0"/>
              <a:t>.</a:t>
            </a:r>
            <a:endParaRPr lang="pt-BR" b="0" i="0" dirty="0">
              <a:effectLst/>
            </a:endParaRPr>
          </a:p>
        </p:txBody>
      </p:sp>
      <p:pic>
        <p:nvPicPr>
          <p:cNvPr id="1026" name="Picture 2" descr="Dropout in Neural Networks. Dropout layers have been the go-to… | by Harsh  Yadav | Towards Data Science">
            <a:extLst>
              <a:ext uri="{FF2B5EF4-FFF2-40B4-BE49-F238E27FC236}">
                <a16:creationId xmlns:a16="http://schemas.microsoft.com/office/drawing/2014/main" id="{7908373E-5974-7415-1DDF-423DEBE8BBF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61" r="4461"/>
          <a:stretch/>
        </p:blipFill>
        <p:spPr bwMode="auto">
          <a:xfrm>
            <a:off x="279699" y="2344492"/>
            <a:ext cx="5271247" cy="30899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0080782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0254C9C-C6CB-0424-71DD-96428C3A28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evitar o sobreajuste?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50D1392-AD6B-0EBC-D5DD-B515F3F949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665304"/>
            <a:ext cx="11247783" cy="1192695"/>
          </a:xfrm>
        </p:spPr>
        <p:txBody>
          <a:bodyPr/>
          <a:lstStyle/>
          <a:p>
            <a:r>
              <a:rPr lang="pt-BR" b="1" i="1" dirty="0">
                <a:solidFill>
                  <a:srgbClr val="00B050"/>
                </a:solidFill>
                <a:effectLst/>
              </a:rPr>
              <a:t>Heuristicamente</a:t>
            </a:r>
            <a:r>
              <a:rPr lang="pt-BR" b="0" i="0" dirty="0">
                <a:effectLst/>
              </a:rPr>
              <a:t>, quando </a:t>
            </a:r>
            <a:r>
              <a:rPr lang="pt-BR" b="1" i="1" dirty="0">
                <a:solidFill>
                  <a:srgbClr val="00B050"/>
                </a:solidFill>
                <a:effectLst/>
              </a:rPr>
              <a:t>desligamos</a:t>
            </a:r>
            <a:r>
              <a:rPr lang="pt-BR" b="0" i="0" dirty="0">
                <a:effectLst/>
              </a:rPr>
              <a:t> diferentes conjuntos de </a:t>
            </a:r>
            <a:r>
              <a:rPr lang="pt-BR" b="1" i="1" dirty="0">
                <a:solidFill>
                  <a:srgbClr val="00B050"/>
                </a:solidFill>
                <a:effectLst/>
              </a:rPr>
              <a:t>neurônios</a:t>
            </a:r>
            <a:r>
              <a:rPr lang="pt-BR" b="0" i="0" dirty="0">
                <a:effectLst/>
              </a:rPr>
              <a:t>, é como se </a:t>
            </a:r>
            <a:r>
              <a:rPr lang="pt-BR" b="1" i="1" dirty="0">
                <a:solidFill>
                  <a:srgbClr val="00B050"/>
                </a:solidFill>
                <a:effectLst/>
              </a:rPr>
              <a:t>estivéssemos </a:t>
            </a:r>
            <a:r>
              <a:rPr lang="pt-BR" b="1" i="1" dirty="0">
                <a:solidFill>
                  <a:srgbClr val="7030A0"/>
                </a:solidFill>
                <a:effectLst/>
              </a:rPr>
              <a:t>treinando várias redes</a:t>
            </a:r>
            <a:r>
              <a:rPr lang="pt-BR" b="0" i="0" dirty="0">
                <a:effectLst/>
              </a:rPr>
              <a:t> neurais diferentes. </a:t>
            </a:r>
          </a:p>
        </p:txBody>
      </p:sp>
      <p:pic>
        <p:nvPicPr>
          <p:cNvPr id="24" name="Imagem 23">
            <a:extLst>
              <a:ext uri="{FF2B5EF4-FFF2-40B4-BE49-F238E27FC236}">
                <a16:creationId xmlns:a16="http://schemas.microsoft.com/office/drawing/2014/main" id="{1A8E974C-56BB-263F-9DA3-FBB30990FB2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74594" y="1849142"/>
            <a:ext cx="7640776" cy="3524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849247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766F209-3E3E-0136-4083-293C5897A4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evitar o sobreajuste?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2294B5F-B438-34E2-4845-29E47EF0DE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4959626"/>
            <a:ext cx="11213387" cy="1898373"/>
          </a:xfrm>
        </p:spPr>
        <p:txBody>
          <a:bodyPr>
            <a:normAutofit/>
          </a:bodyPr>
          <a:lstStyle/>
          <a:p>
            <a:r>
              <a:rPr lang="pt-BR" dirty="0"/>
              <a:t>D</a:t>
            </a:r>
            <a:r>
              <a:rPr lang="pt-BR" b="0" i="0" dirty="0">
                <a:effectLst/>
              </a:rPr>
              <a:t>urante a </a:t>
            </a:r>
            <a:r>
              <a:rPr lang="pt-BR" b="1" i="1" dirty="0">
                <a:solidFill>
                  <a:srgbClr val="7030A0"/>
                </a:solidFill>
                <a:effectLst/>
              </a:rPr>
              <a:t>inferência</a:t>
            </a:r>
            <a:r>
              <a:rPr lang="pt-BR" b="0" i="0" dirty="0">
                <a:effectLst/>
              </a:rPr>
              <a:t>, os </a:t>
            </a:r>
            <a:r>
              <a:rPr lang="pt-BR" b="1" i="1" dirty="0">
                <a:solidFill>
                  <a:srgbClr val="00B050"/>
                </a:solidFill>
                <a:effectLst/>
              </a:rPr>
              <a:t>resultados dessas redes são ponderados </a:t>
            </a:r>
            <a:r>
              <a:rPr lang="pt-BR" b="0" i="0" dirty="0">
                <a:effectLst/>
              </a:rPr>
              <a:t>(e.g., média ou voto majoritário) para produzir a saída final da rede.</a:t>
            </a:r>
          </a:p>
          <a:p>
            <a:r>
              <a:rPr lang="pt-BR" b="0" i="0" dirty="0">
                <a:effectLst/>
              </a:rPr>
              <a:t>As </a:t>
            </a:r>
            <a:r>
              <a:rPr lang="pt-BR" b="1" i="1" dirty="0">
                <a:solidFill>
                  <a:srgbClr val="00B050"/>
                </a:solidFill>
                <a:effectLst/>
              </a:rPr>
              <a:t>diferentes redes se </a:t>
            </a:r>
            <a:r>
              <a:rPr lang="pt-BR" b="1" i="1" dirty="0">
                <a:solidFill>
                  <a:srgbClr val="7030A0"/>
                </a:solidFill>
                <a:effectLst/>
              </a:rPr>
              <a:t>adaptarão de diferentes maneiras</a:t>
            </a:r>
            <a:r>
              <a:rPr lang="pt-BR" b="0" i="0" dirty="0">
                <a:effectLst/>
              </a:rPr>
              <a:t>, e assim, esperançosamente, o efeito do </a:t>
            </a:r>
            <a:r>
              <a:rPr lang="pt-BR" b="0" i="1" dirty="0" err="1">
                <a:effectLst/>
              </a:rPr>
              <a:t>dropout</a:t>
            </a:r>
            <a:r>
              <a:rPr lang="pt-BR" b="0" i="0" dirty="0">
                <a:effectLst/>
              </a:rPr>
              <a:t> será </a:t>
            </a:r>
            <a:r>
              <a:rPr lang="pt-BR" b="1" i="1" dirty="0">
                <a:solidFill>
                  <a:srgbClr val="00B050"/>
                </a:solidFill>
                <a:effectLst/>
              </a:rPr>
              <a:t>reduzir o sobreajuste</a:t>
            </a:r>
            <a:r>
              <a:rPr lang="pt-BR" b="0" i="0" dirty="0">
                <a:effectLst/>
              </a:rPr>
              <a:t>.</a:t>
            </a: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06C3870D-9BAA-F061-0440-28DA0A1FF22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94472" y="1434786"/>
            <a:ext cx="7640776" cy="3524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522406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766F209-3E3E-0136-4083-293C5897A4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evitar o sobreajuste?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2294B5F-B438-34E2-4845-29E47EF0DE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93774" y="6082748"/>
            <a:ext cx="8857813" cy="775251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pt-BR" b="1" i="1" dirty="0">
                <a:solidFill>
                  <a:srgbClr val="00B050"/>
                </a:solidFill>
                <a:effectLst/>
              </a:rPr>
              <a:t>Podem ser usadas com qualquer tipo de camada: densa, convolucional, etc.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C6775C0C-5C43-438C-482A-412B9909ECAA}"/>
              </a:ext>
            </a:extLst>
          </p:cNvPr>
          <p:cNvSpPr txBox="1"/>
          <p:nvPr/>
        </p:nvSpPr>
        <p:spPr>
          <a:xfrm>
            <a:off x="0" y="6581000"/>
            <a:ext cx="370897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200" dirty="0">
                <a:hlinkClick r:id="rId3"/>
              </a:rPr>
              <a:t>Exemplo: </a:t>
            </a:r>
            <a:r>
              <a:rPr lang="pt-BR" sz="1200" dirty="0" err="1">
                <a:hlinkClick r:id="rId3"/>
              </a:rPr>
              <a:t>Sobreajuste_e_dropout.ipynb</a:t>
            </a:r>
            <a:endParaRPr lang="pt-BR" sz="1200" dirty="0"/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1350D6BD-083E-DFEC-4D0D-B7F7A8750964}"/>
              </a:ext>
            </a:extLst>
          </p:cNvPr>
          <p:cNvSpPr txBox="1"/>
          <p:nvPr/>
        </p:nvSpPr>
        <p:spPr>
          <a:xfrm>
            <a:off x="836544" y="1690688"/>
            <a:ext cx="10518912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600" dirty="0">
                <a:solidFill>
                  <a:srgbClr val="000000"/>
                </a:solidFill>
                <a:highlight>
                  <a:srgbClr val="FFFFFF"/>
                </a:highlight>
              </a:rPr>
              <a:t>model </a:t>
            </a:r>
            <a:r>
              <a:rPr lang="pt-BR" sz="1600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pt-BR" sz="1600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sz="1600" b="0" dirty="0" err="1">
                <a:solidFill>
                  <a:srgbClr val="000000"/>
                </a:solidFill>
                <a:highlight>
                  <a:srgbClr val="FFFFFF"/>
                </a:highlight>
              </a:rPr>
              <a:t>tf</a:t>
            </a:r>
            <a:r>
              <a:rPr lang="pt-BR" sz="1600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sz="1600" b="0" dirty="0" err="1">
                <a:solidFill>
                  <a:srgbClr val="000000"/>
                </a:solidFill>
                <a:highlight>
                  <a:srgbClr val="FFFFFF"/>
                </a:highlight>
              </a:rPr>
              <a:t>keras</a:t>
            </a:r>
            <a:r>
              <a:rPr lang="pt-BR" sz="1600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sz="1600" b="0" dirty="0" err="1">
                <a:solidFill>
                  <a:srgbClr val="000000"/>
                </a:solidFill>
                <a:highlight>
                  <a:srgbClr val="FFFFFF"/>
                </a:highlight>
              </a:rPr>
              <a:t>Sequential</a:t>
            </a:r>
            <a:r>
              <a:rPr lang="pt-BR" sz="1600" b="1" dirty="0">
                <a:solidFill>
                  <a:srgbClr val="000080"/>
                </a:solidFill>
                <a:highlight>
                  <a:srgbClr val="FFFFFF"/>
                </a:highlight>
              </a:rPr>
              <a:t>([</a:t>
            </a:r>
            <a:endParaRPr lang="pt-BR" sz="1600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pt-BR" sz="1600" b="0" dirty="0">
                <a:solidFill>
                  <a:srgbClr val="000000"/>
                </a:solidFill>
                <a:highlight>
                  <a:srgbClr val="FFFFFF"/>
                </a:highlight>
              </a:rPr>
              <a:t>    tf</a:t>
            </a:r>
            <a:r>
              <a:rPr lang="pt-BR" sz="1600" b="1" dirty="0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sz="1600" b="0" dirty="0">
                <a:solidFill>
                  <a:srgbClr val="000000"/>
                </a:solidFill>
                <a:highlight>
                  <a:srgbClr val="FFFFFF"/>
                </a:highlight>
              </a:rPr>
              <a:t>keras</a:t>
            </a:r>
            <a:r>
              <a:rPr lang="pt-BR" sz="1600" b="1" dirty="0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sz="1600" b="0" dirty="0">
                <a:solidFill>
                  <a:srgbClr val="000000"/>
                </a:solidFill>
                <a:highlight>
                  <a:srgbClr val="FFFFFF"/>
                </a:highlight>
              </a:rPr>
              <a:t>layers</a:t>
            </a:r>
            <a:r>
              <a:rPr lang="pt-BR" sz="1600" b="1" dirty="0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sz="1600" b="0" dirty="0">
                <a:solidFill>
                  <a:srgbClr val="000000"/>
                </a:solidFill>
                <a:highlight>
                  <a:srgbClr val="FFFFFF"/>
                </a:highlight>
              </a:rPr>
              <a:t>Conv2D</a:t>
            </a:r>
            <a:r>
              <a:rPr lang="pt-BR" sz="1600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pt-BR" sz="1600" b="0" dirty="0" err="1">
                <a:solidFill>
                  <a:srgbClr val="000000"/>
                </a:solidFill>
                <a:highlight>
                  <a:srgbClr val="FFFFFF"/>
                </a:highlight>
              </a:rPr>
              <a:t>filters</a:t>
            </a:r>
            <a:r>
              <a:rPr lang="pt-BR" sz="1600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pt-BR" sz="1600" b="0" dirty="0">
                <a:solidFill>
                  <a:srgbClr val="FF0000"/>
                </a:solidFill>
                <a:highlight>
                  <a:srgbClr val="FFFFFF"/>
                </a:highlight>
              </a:rPr>
              <a:t>32</a:t>
            </a:r>
            <a:r>
              <a:rPr lang="pt-BR" sz="1600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pt-BR" sz="1600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sz="1600" b="0" dirty="0" err="1">
                <a:solidFill>
                  <a:srgbClr val="000000"/>
                </a:solidFill>
                <a:highlight>
                  <a:srgbClr val="FFFFFF"/>
                </a:highlight>
              </a:rPr>
              <a:t>kernel_size</a:t>
            </a:r>
            <a:r>
              <a:rPr lang="pt-BR" sz="1600" b="1" dirty="0">
                <a:solidFill>
                  <a:srgbClr val="000080"/>
                </a:solidFill>
                <a:highlight>
                  <a:srgbClr val="FFFFFF"/>
                </a:highlight>
              </a:rPr>
              <a:t>=(</a:t>
            </a:r>
            <a:r>
              <a:rPr lang="pt-BR" sz="1600" b="0" dirty="0">
                <a:solidFill>
                  <a:srgbClr val="FF0000"/>
                </a:solidFill>
                <a:highlight>
                  <a:srgbClr val="FFFFFF"/>
                </a:highlight>
              </a:rPr>
              <a:t>3</a:t>
            </a:r>
            <a:r>
              <a:rPr lang="pt-BR" sz="1600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pt-BR" sz="1600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sz="1600" b="0" dirty="0">
                <a:solidFill>
                  <a:srgbClr val="FF0000"/>
                </a:solidFill>
                <a:highlight>
                  <a:srgbClr val="FFFFFF"/>
                </a:highlight>
              </a:rPr>
              <a:t>3</a:t>
            </a:r>
            <a:r>
              <a:rPr lang="pt-BR" sz="1600" b="1" dirty="0">
                <a:solidFill>
                  <a:srgbClr val="000080"/>
                </a:solidFill>
                <a:highlight>
                  <a:srgbClr val="FFFFFF"/>
                </a:highlight>
              </a:rPr>
              <a:t>),</a:t>
            </a:r>
            <a:r>
              <a:rPr lang="pt-BR" sz="1600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sz="1600" b="0" dirty="0" err="1">
                <a:solidFill>
                  <a:srgbClr val="000000"/>
                </a:solidFill>
                <a:highlight>
                  <a:srgbClr val="FFFFFF"/>
                </a:highlight>
              </a:rPr>
              <a:t>activation</a:t>
            </a:r>
            <a:r>
              <a:rPr lang="pt-BR" sz="1600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pt-BR" sz="1600" b="0" dirty="0">
                <a:solidFill>
                  <a:srgbClr val="808080"/>
                </a:solidFill>
                <a:highlight>
                  <a:srgbClr val="FFFFFF"/>
                </a:highlight>
              </a:rPr>
              <a:t>'</a:t>
            </a:r>
            <a:r>
              <a:rPr lang="pt-BR" sz="1600" b="0" dirty="0" err="1">
                <a:solidFill>
                  <a:srgbClr val="808080"/>
                </a:solidFill>
                <a:highlight>
                  <a:srgbClr val="FFFFFF"/>
                </a:highlight>
              </a:rPr>
              <a:t>relu</a:t>
            </a:r>
            <a:r>
              <a:rPr lang="pt-BR" sz="1600" b="0" dirty="0">
                <a:solidFill>
                  <a:srgbClr val="808080"/>
                </a:solidFill>
                <a:highlight>
                  <a:srgbClr val="FFFFFF"/>
                </a:highlight>
              </a:rPr>
              <a:t>'</a:t>
            </a:r>
            <a:r>
              <a:rPr lang="pt-BR" sz="1600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pt-BR" sz="1600" b="0" dirty="0">
                <a:solidFill>
                  <a:srgbClr val="000000"/>
                </a:solidFill>
                <a:highlight>
                  <a:srgbClr val="FFFFFF"/>
                </a:highlight>
              </a:rPr>
              <a:t> padding</a:t>
            </a:r>
            <a:r>
              <a:rPr lang="pt-BR" sz="1600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pt-BR" sz="1600" b="0" dirty="0">
                <a:solidFill>
                  <a:srgbClr val="808080"/>
                </a:solidFill>
                <a:highlight>
                  <a:srgbClr val="FFFFFF"/>
                </a:highlight>
              </a:rPr>
              <a:t>'</a:t>
            </a:r>
            <a:r>
              <a:rPr lang="pt-BR" sz="1600" b="0" dirty="0" err="1">
                <a:solidFill>
                  <a:srgbClr val="808080"/>
                </a:solidFill>
                <a:highlight>
                  <a:srgbClr val="FFFFFF"/>
                </a:highlight>
              </a:rPr>
              <a:t>same</a:t>
            </a:r>
            <a:r>
              <a:rPr lang="pt-BR" sz="1600" b="0" dirty="0">
                <a:solidFill>
                  <a:srgbClr val="808080"/>
                </a:solidFill>
                <a:highlight>
                  <a:srgbClr val="FFFFFF"/>
                </a:highlight>
              </a:rPr>
              <a:t>'</a:t>
            </a:r>
            <a:r>
              <a:rPr lang="pt-BR" sz="1600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pt-BR" sz="1600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sz="1600" b="0" dirty="0" err="1">
                <a:solidFill>
                  <a:srgbClr val="000000"/>
                </a:solidFill>
                <a:highlight>
                  <a:srgbClr val="FFFFFF"/>
                </a:highlight>
              </a:rPr>
              <a:t>input_shape</a:t>
            </a:r>
            <a:r>
              <a:rPr lang="pt-BR" sz="1600" b="1" dirty="0">
                <a:solidFill>
                  <a:srgbClr val="000080"/>
                </a:solidFill>
                <a:highlight>
                  <a:srgbClr val="FFFFFF"/>
                </a:highlight>
              </a:rPr>
              <a:t>=(</a:t>
            </a:r>
            <a:r>
              <a:rPr lang="pt-BR" sz="1600" b="0" dirty="0">
                <a:solidFill>
                  <a:srgbClr val="FF0000"/>
                </a:solidFill>
                <a:highlight>
                  <a:srgbClr val="FFFFFF"/>
                </a:highlight>
              </a:rPr>
              <a:t>32</a:t>
            </a:r>
            <a:r>
              <a:rPr lang="pt-BR" sz="1600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pt-BR" sz="1600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sz="1600" b="0" dirty="0">
                <a:solidFill>
                  <a:srgbClr val="FF0000"/>
                </a:solidFill>
                <a:highlight>
                  <a:srgbClr val="FFFFFF"/>
                </a:highlight>
              </a:rPr>
              <a:t>32</a:t>
            </a:r>
            <a:r>
              <a:rPr lang="pt-BR" sz="1600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pt-BR" sz="1600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sz="1600" b="0" dirty="0">
                <a:solidFill>
                  <a:srgbClr val="FF0000"/>
                </a:solidFill>
                <a:highlight>
                  <a:srgbClr val="FFFFFF"/>
                </a:highlight>
              </a:rPr>
              <a:t>3</a:t>
            </a:r>
            <a:r>
              <a:rPr lang="pt-BR" sz="1600" b="1" dirty="0">
                <a:solidFill>
                  <a:srgbClr val="000080"/>
                </a:solidFill>
                <a:highlight>
                  <a:srgbClr val="FFFFFF"/>
                </a:highlight>
              </a:rPr>
              <a:t>)),</a:t>
            </a:r>
            <a:endParaRPr lang="pt-BR" sz="1600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pt-BR" sz="1600" b="0" dirty="0">
                <a:solidFill>
                  <a:srgbClr val="000000"/>
                </a:solidFill>
                <a:highlight>
                  <a:srgbClr val="FFFFFF"/>
                </a:highlight>
              </a:rPr>
              <a:t>    tf</a:t>
            </a:r>
            <a:r>
              <a:rPr lang="pt-BR" sz="1600" b="1" dirty="0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sz="1600" b="0" dirty="0">
                <a:solidFill>
                  <a:srgbClr val="000000"/>
                </a:solidFill>
                <a:highlight>
                  <a:srgbClr val="FFFFFF"/>
                </a:highlight>
              </a:rPr>
              <a:t>keras</a:t>
            </a:r>
            <a:r>
              <a:rPr lang="pt-BR" sz="1600" b="1" dirty="0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sz="1600" b="0" dirty="0">
                <a:solidFill>
                  <a:srgbClr val="000000"/>
                </a:solidFill>
                <a:highlight>
                  <a:srgbClr val="FFFFFF"/>
                </a:highlight>
              </a:rPr>
              <a:t>layers</a:t>
            </a:r>
            <a:r>
              <a:rPr lang="pt-BR" sz="1600" b="1" dirty="0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sz="1600" b="0" dirty="0">
                <a:solidFill>
                  <a:srgbClr val="000000"/>
                </a:solidFill>
                <a:highlight>
                  <a:srgbClr val="FFFFFF"/>
                </a:highlight>
              </a:rPr>
              <a:t>Conv2D</a:t>
            </a:r>
            <a:r>
              <a:rPr lang="pt-BR" sz="1600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pt-BR" sz="1600" b="0" dirty="0" err="1">
                <a:solidFill>
                  <a:srgbClr val="000000"/>
                </a:solidFill>
                <a:highlight>
                  <a:srgbClr val="FFFFFF"/>
                </a:highlight>
              </a:rPr>
              <a:t>filters</a:t>
            </a:r>
            <a:r>
              <a:rPr lang="pt-BR" sz="1600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pt-BR" sz="1600" b="0" dirty="0">
                <a:solidFill>
                  <a:srgbClr val="FF0000"/>
                </a:solidFill>
                <a:highlight>
                  <a:srgbClr val="FFFFFF"/>
                </a:highlight>
              </a:rPr>
              <a:t>32</a:t>
            </a:r>
            <a:r>
              <a:rPr lang="pt-BR" sz="1600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pt-BR" sz="1600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sz="1600" b="0" dirty="0" err="1">
                <a:solidFill>
                  <a:srgbClr val="000000"/>
                </a:solidFill>
                <a:highlight>
                  <a:srgbClr val="FFFFFF"/>
                </a:highlight>
              </a:rPr>
              <a:t>kernel_size</a:t>
            </a:r>
            <a:r>
              <a:rPr lang="pt-BR" sz="1600" b="1" dirty="0">
                <a:solidFill>
                  <a:srgbClr val="000080"/>
                </a:solidFill>
                <a:highlight>
                  <a:srgbClr val="FFFFFF"/>
                </a:highlight>
              </a:rPr>
              <a:t>=(</a:t>
            </a:r>
            <a:r>
              <a:rPr lang="pt-BR" sz="1600" b="0" dirty="0">
                <a:solidFill>
                  <a:srgbClr val="FF0000"/>
                </a:solidFill>
                <a:highlight>
                  <a:srgbClr val="FFFFFF"/>
                </a:highlight>
              </a:rPr>
              <a:t>3</a:t>
            </a:r>
            <a:r>
              <a:rPr lang="pt-BR" sz="1600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pt-BR" sz="1600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sz="1600" b="0" dirty="0">
                <a:solidFill>
                  <a:srgbClr val="FF0000"/>
                </a:solidFill>
                <a:highlight>
                  <a:srgbClr val="FFFFFF"/>
                </a:highlight>
              </a:rPr>
              <a:t>3</a:t>
            </a:r>
            <a:r>
              <a:rPr lang="pt-BR" sz="1600" b="1" dirty="0">
                <a:solidFill>
                  <a:srgbClr val="000080"/>
                </a:solidFill>
                <a:highlight>
                  <a:srgbClr val="FFFFFF"/>
                </a:highlight>
              </a:rPr>
              <a:t>),</a:t>
            </a:r>
            <a:r>
              <a:rPr lang="pt-BR" sz="1600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sz="1600" b="0" dirty="0" err="1">
                <a:solidFill>
                  <a:srgbClr val="000000"/>
                </a:solidFill>
                <a:highlight>
                  <a:srgbClr val="FFFFFF"/>
                </a:highlight>
              </a:rPr>
              <a:t>activation</a:t>
            </a:r>
            <a:r>
              <a:rPr lang="pt-BR" sz="1600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pt-BR" sz="1600" b="0" dirty="0">
                <a:solidFill>
                  <a:srgbClr val="808080"/>
                </a:solidFill>
                <a:highlight>
                  <a:srgbClr val="FFFFFF"/>
                </a:highlight>
              </a:rPr>
              <a:t>'</a:t>
            </a:r>
            <a:r>
              <a:rPr lang="pt-BR" sz="1600" b="0" dirty="0" err="1">
                <a:solidFill>
                  <a:srgbClr val="808080"/>
                </a:solidFill>
                <a:highlight>
                  <a:srgbClr val="FFFFFF"/>
                </a:highlight>
              </a:rPr>
              <a:t>relu</a:t>
            </a:r>
            <a:r>
              <a:rPr lang="pt-BR" sz="1600" b="0" dirty="0">
                <a:solidFill>
                  <a:srgbClr val="808080"/>
                </a:solidFill>
                <a:highlight>
                  <a:srgbClr val="FFFFFF"/>
                </a:highlight>
              </a:rPr>
              <a:t>'</a:t>
            </a:r>
            <a:r>
              <a:rPr lang="pt-BR" sz="1600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pt-BR" sz="1600" b="0" dirty="0">
                <a:solidFill>
                  <a:srgbClr val="000000"/>
                </a:solidFill>
                <a:highlight>
                  <a:srgbClr val="FFFFFF"/>
                </a:highlight>
              </a:rPr>
              <a:t> padding</a:t>
            </a:r>
            <a:r>
              <a:rPr lang="pt-BR" sz="1600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pt-BR" sz="1600" b="0" dirty="0">
                <a:solidFill>
                  <a:srgbClr val="808080"/>
                </a:solidFill>
                <a:highlight>
                  <a:srgbClr val="FFFFFF"/>
                </a:highlight>
              </a:rPr>
              <a:t>'</a:t>
            </a:r>
            <a:r>
              <a:rPr lang="pt-BR" sz="1600" b="0" dirty="0" err="1">
                <a:solidFill>
                  <a:srgbClr val="808080"/>
                </a:solidFill>
                <a:highlight>
                  <a:srgbClr val="FFFFFF"/>
                </a:highlight>
              </a:rPr>
              <a:t>same</a:t>
            </a:r>
            <a:r>
              <a:rPr lang="pt-BR" sz="1600" b="0" dirty="0">
                <a:solidFill>
                  <a:srgbClr val="808080"/>
                </a:solidFill>
                <a:highlight>
                  <a:srgbClr val="FFFFFF"/>
                </a:highlight>
              </a:rPr>
              <a:t>'</a:t>
            </a:r>
            <a:r>
              <a:rPr lang="pt-BR" sz="1600" b="1" dirty="0">
                <a:solidFill>
                  <a:srgbClr val="000080"/>
                </a:solidFill>
                <a:highlight>
                  <a:srgbClr val="FFFFFF"/>
                </a:highlight>
              </a:rPr>
              <a:t>),</a:t>
            </a:r>
            <a:endParaRPr lang="pt-BR" sz="1600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en-US" sz="1600" b="0" dirty="0">
                <a:solidFill>
                  <a:srgbClr val="000000"/>
                </a:solidFill>
                <a:highlight>
                  <a:srgbClr val="FFFFFF"/>
                </a:highlight>
              </a:rPr>
              <a:t>    tf</a:t>
            </a:r>
            <a:r>
              <a:rPr lang="en-US" sz="1600" b="1" dirty="0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en-US" sz="1600" b="0" dirty="0">
                <a:solidFill>
                  <a:srgbClr val="000000"/>
                </a:solidFill>
                <a:highlight>
                  <a:srgbClr val="FFFFFF"/>
                </a:highlight>
              </a:rPr>
              <a:t>keras</a:t>
            </a:r>
            <a:r>
              <a:rPr lang="en-US" sz="1600" b="1" dirty="0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en-US" sz="1600" b="0" dirty="0">
                <a:solidFill>
                  <a:srgbClr val="000000"/>
                </a:solidFill>
                <a:highlight>
                  <a:srgbClr val="FFFFFF"/>
                </a:highlight>
              </a:rPr>
              <a:t>layers</a:t>
            </a:r>
            <a:r>
              <a:rPr lang="en-US" sz="1600" b="1" dirty="0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en-US" sz="1600" b="0" dirty="0">
                <a:solidFill>
                  <a:srgbClr val="000000"/>
                </a:solidFill>
                <a:highlight>
                  <a:srgbClr val="FFFFFF"/>
                </a:highlight>
              </a:rPr>
              <a:t>MaxPooling2D</a:t>
            </a:r>
            <a:r>
              <a:rPr lang="en-US" sz="1600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en-US" sz="1600" b="0" dirty="0" err="1">
                <a:solidFill>
                  <a:srgbClr val="000000"/>
                </a:solidFill>
                <a:highlight>
                  <a:srgbClr val="FFFFFF"/>
                </a:highlight>
              </a:rPr>
              <a:t>pool_size</a:t>
            </a:r>
            <a:r>
              <a:rPr lang="en-US" sz="1600" b="1" dirty="0">
                <a:solidFill>
                  <a:srgbClr val="000080"/>
                </a:solidFill>
                <a:highlight>
                  <a:srgbClr val="FFFFFF"/>
                </a:highlight>
              </a:rPr>
              <a:t>=(</a:t>
            </a:r>
            <a:r>
              <a:rPr lang="en-US" sz="1600" b="0" dirty="0">
                <a:solidFill>
                  <a:srgbClr val="FF0000"/>
                </a:solidFill>
                <a:highlight>
                  <a:srgbClr val="FFFFFF"/>
                </a:highlight>
              </a:rPr>
              <a:t>2</a:t>
            </a:r>
            <a:r>
              <a:rPr lang="en-US" sz="1600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sz="1600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sz="1600" b="0" dirty="0">
                <a:solidFill>
                  <a:srgbClr val="FF0000"/>
                </a:solidFill>
                <a:highlight>
                  <a:srgbClr val="FFFFFF"/>
                </a:highlight>
              </a:rPr>
              <a:t>2</a:t>
            </a:r>
            <a:r>
              <a:rPr lang="en-US" sz="1600" b="1" dirty="0">
                <a:solidFill>
                  <a:srgbClr val="000080"/>
                </a:solidFill>
                <a:highlight>
                  <a:srgbClr val="FFFFFF"/>
                </a:highlight>
              </a:rPr>
              <a:t>)),</a:t>
            </a:r>
            <a:endParaRPr lang="en-US" sz="1600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pt-BR" sz="1600" b="0" dirty="0">
                <a:solidFill>
                  <a:srgbClr val="000000"/>
                </a:solidFill>
                <a:highlight>
                  <a:srgbClr val="FFFFFF"/>
                </a:highlight>
              </a:rPr>
              <a:t>    </a:t>
            </a:r>
            <a:r>
              <a:rPr lang="pt-BR" sz="1600" b="0" dirty="0" err="1">
                <a:solidFill>
                  <a:srgbClr val="000000"/>
                </a:solidFill>
                <a:highlight>
                  <a:srgbClr val="FFFFFF"/>
                </a:highlight>
              </a:rPr>
              <a:t>tf</a:t>
            </a:r>
            <a:r>
              <a:rPr lang="pt-BR" sz="1600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sz="1600" b="0" dirty="0" err="1">
                <a:solidFill>
                  <a:srgbClr val="000000"/>
                </a:solidFill>
                <a:highlight>
                  <a:srgbClr val="FFFFFF"/>
                </a:highlight>
              </a:rPr>
              <a:t>keras</a:t>
            </a:r>
            <a:r>
              <a:rPr lang="pt-BR" sz="1600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sz="1600" b="0" dirty="0" err="1">
                <a:solidFill>
                  <a:srgbClr val="000000"/>
                </a:solidFill>
                <a:highlight>
                  <a:srgbClr val="FFFFFF"/>
                </a:highlight>
              </a:rPr>
              <a:t>layers</a:t>
            </a:r>
            <a:r>
              <a:rPr lang="pt-BR" sz="1600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sz="1600" b="0" dirty="0" err="1">
                <a:solidFill>
                  <a:srgbClr val="000000"/>
                </a:solidFill>
                <a:highlight>
                  <a:srgbClr val="FFFFFF"/>
                </a:highlight>
              </a:rPr>
              <a:t>Dropout</a:t>
            </a:r>
            <a:r>
              <a:rPr lang="pt-BR" sz="1600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pt-BR" sz="1600" b="0" dirty="0">
                <a:solidFill>
                  <a:srgbClr val="FF0000"/>
                </a:solidFill>
                <a:highlight>
                  <a:srgbClr val="FFFFFF"/>
                </a:highlight>
              </a:rPr>
              <a:t>0.5</a:t>
            </a:r>
            <a:r>
              <a:rPr lang="pt-BR" sz="1600" b="1" dirty="0">
                <a:solidFill>
                  <a:srgbClr val="000080"/>
                </a:solidFill>
                <a:highlight>
                  <a:srgbClr val="FFFFFF"/>
                </a:highlight>
              </a:rPr>
              <a:t>),</a:t>
            </a:r>
            <a:endParaRPr lang="pt-BR" sz="1600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pt-BR" sz="1600" b="0" dirty="0">
                <a:solidFill>
                  <a:srgbClr val="000000"/>
                </a:solidFill>
                <a:highlight>
                  <a:srgbClr val="FFFFFF"/>
                </a:highlight>
              </a:rPr>
              <a:t>    tf</a:t>
            </a:r>
            <a:r>
              <a:rPr lang="pt-BR" sz="1600" b="1" dirty="0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sz="1600" b="0" dirty="0">
                <a:solidFill>
                  <a:srgbClr val="000000"/>
                </a:solidFill>
                <a:highlight>
                  <a:srgbClr val="FFFFFF"/>
                </a:highlight>
              </a:rPr>
              <a:t>keras</a:t>
            </a:r>
            <a:r>
              <a:rPr lang="pt-BR" sz="1600" b="1" dirty="0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sz="1600" b="0" dirty="0">
                <a:solidFill>
                  <a:srgbClr val="000000"/>
                </a:solidFill>
                <a:highlight>
                  <a:srgbClr val="FFFFFF"/>
                </a:highlight>
              </a:rPr>
              <a:t>layers</a:t>
            </a:r>
            <a:r>
              <a:rPr lang="pt-BR" sz="1600" b="1" dirty="0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sz="1600" b="0" dirty="0">
                <a:solidFill>
                  <a:srgbClr val="000000"/>
                </a:solidFill>
                <a:highlight>
                  <a:srgbClr val="FFFFFF"/>
                </a:highlight>
              </a:rPr>
              <a:t>Conv2D</a:t>
            </a:r>
            <a:r>
              <a:rPr lang="pt-BR" sz="1600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pt-BR" sz="1600" b="0" dirty="0" err="1">
                <a:solidFill>
                  <a:srgbClr val="000000"/>
                </a:solidFill>
                <a:highlight>
                  <a:srgbClr val="FFFFFF"/>
                </a:highlight>
              </a:rPr>
              <a:t>filters</a:t>
            </a:r>
            <a:r>
              <a:rPr lang="pt-BR" sz="1600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pt-BR" sz="1600" b="0" dirty="0">
                <a:solidFill>
                  <a:srgbClr val="FF0000"/>
                </a:solidFill>
                <a:highlight>
                  <a:srgbClr val="FFFFFF"/>
                </a:highlight>
              </a:rPr>
              <a:t>64</a:t>
            </a:r>
            <a:r>
              <a:rPr lang="pt-BR" sz="1600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pt-BR" sz="1600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sz="1600" b="0" dirty="0" err="1">
                <a:solidFill>
                  <a:srgbClr val="000000"/>
                </a:solidFill>
                <a:highlight>
                  <a:srgbClr val="FFFFFF"/>
                </a:highlight>
              </a:rPr>
              <a:t>kernel_size</a:t>
            </a:r>
            <a:r>
              <a:rPr lang="pt-BR" sz="1600" b="1" dirty="0">
                <a:solidFill>
                  <a:srgbClr val="000080"/>
                </a:solidFill>
                <a:highlight>
                  <a:srgbClr val="FFFFFF"/>
                </a:highlight>
              </a:rPr>
              <a:t>=(</a:t>
            </a:r>
            <a:r>
              <a:rPr lang="pt-BR" sz="1600" b="0" dirty="0">
                <a:solidFill>
                  <a:srgbClr val="FF0000"/>
                </a:solidFill>
                <a:highlight>
                  <a:srgbClr val="FFFFFF"/>
                </a:highlight>
              </a:rPr>
              <a:t>3</a:t>
            </a:r>
            <a:r>
              <a:rPr lang="pt-BR" sz="1600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pt-BR" sz="1600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sz="1600" b="0" dirty="0">
                <a:solidFill>
                  <a:srgbClr val="FF0000"/>
                </a:solidFill>
                <a:highlight>
                  <a:srgbClr val="FFFFFF"/>
                </a:highlight>
              </a:rPr>
              <a:t>3</a:t>
            </a:r>
            <a:r>
              <a:rPr lang="pt-BR" sz="1600" b="1" dirty="0">
                <a:solidFill>
                  <a:srgbClr val="000080"/>
                </a:solidFill>
                <a:highlight>
                  <a:srgbClr val="FFFFFF"/>
                </a:highlight>
              </a:rPr>
              <a:t>),</a:t>
            </a:r>
            <a:r>
              <a:rPr lang="pt-BR" sz="1600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sz="1600" b="0" dirty="0" err="1">
                <a:solidFill>
                  <a:srgbClr val="000000"/>
                </a:solidFill>
                <a:highlight>
                  <a:srgbClr val="FFFFFF"/>
                </a:highlight>
              </a:rPr>
              <a:t>activation</a:t>
            </a:r>
            <a:r>
              <a:rPr lang="pt-BR" sz="1600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pt-BR" sz="1600" b="0" dirty="0">
                <a:solidFill>
                  <a:srgbClr val="808080"/>
                </a:solidFill>
                <a:highlight>
                  <a:srgbClr val="FFFFFF"/>
                </a:highlight>
              </a:rPr>
              <a:t>'</a:t>
            </a:r>
            <a:r>
              <a:rPr lang="pt-BR" sz="1600" b="0" dirty="0" err="1">
                <a:solidFill>
                  <a:srgbClr val="808080"/>
                </a:solidFill>
                <a:highlight>
                  <a:srgbClr val="FFFFFF"/>
                </a:highlight>
              </a:rPr>
              <a:t>relu</a:t>
            </a:r>
            <a:r>
              <a:rPr lang="pt-BR" sz="1600" b="0" dirty="0">
                <a:solidFill>
                  <a:srgbClr val="808080"/>
                </a:solidFill>
                <a:highlight>
                  <a:srgbClr val="FFFFFF"/>
                </a:highlight>
              </a:rPr>
              <a:t>'</a:t>
            </a:r>
            <a:r>
              <a:rPr lang="pt-BR" sz="1600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pt-BR" sz="1600" b="0" dirty="0">
                <a:solidFill>
                  <a:srgbClr val="000000"/>
                </a:solidFill>
                <a:highlight>
                  <a:srgbClr val="FFFFFF"/>
                </a:highlight>
              </a:rPr>
              <a:t> padding</a:t>
            </a:r>
            <a:r>
              <a:rPr lang="pt-BR" sz="1600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pt-BR" sz="1600" b="0" dirty="0">
                <a:solidFill>
                  <a:srgbClr val="808080"/>
                </a:solidFill>
                <a:highlight>
                  <a:srgbClr val="FFFFFF"/>
                </a:highlight>
              </a:rPr>
              <a:t>'</a:t>
            </a:r>
            <a:r>
              <a:rPr lang="pt-BR" sz="1600" b="0" dirty="0" err="1">
                <a:solidFill>
                  <a:srgbClr val="808080"/>
                </a:solidFill>
                <a:highlight>
                  <a:srgbClr val="FFFFFF"/>
                </a:highlight>
              </a:rPr>
              <a:t>same</a:t>
            </a:r>
            <a:r>
              <a:rPr lang="pt-BR" sz="1600" b="0" dirty="0">
                <a:solidFill>
                  <a:srgbClr val="808080"/>
                </a:solidFill>
                <a:highlight>
                  <a:srgbClr val="FFFFFF"/>
                </a:highlight>
              </a:rPr>
              <a:t>'</a:t>
            </a:r>
            <a:r>
              <a:rPr lang="pt-BR" sz="1600" b="1" dirty="0">
                <a:solidFill>
                  <a:srgbClr val="000080"/>
                </a:solidFill>
                <a:highlight>
                  <a:srgbClr val="FFFFFF"/>
                </a:highlight>
              </a:rPr>
              <a:t>),</a:t>
            </a:r>
            <a:endParaRPr lang="pt-BR" sz="1600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pt-BR" sz="1600" b="0" dirty="0">
                <a:solidFill>
                  <a:srgbClr val="000000"/>
                </a:solidFill>
                <a:highlight>
                  <a:srgbClr val="FFFFFF"/>
                </a:highlight>
              </a:rPr>
              <a:t>    tf</a:t>
            </a:r>
            <a:r>
              <a:rPr lang="pt-BR" sz="1600" b="1" dirty="0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sz="1600" b="0" dirty="0">
                <a:solidFill>
                  <a:srgbClr val="000000"/>
                </a:solidFill>
                <a:highlight>
                  <a:srgbClr val="FFFFFF"/>
                </a:highlight>
              </a:rPr>
              <a:t>keras</a:t>
            </a:r>
            <a:r>
              <a:rPr lang="pt-BR" sz="1600" b="1" dirty="0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sz="1600" b="0" dirty="0">
                <a:solidFill>
                  <a:srgbClr val="000000"/>
                </a:solidFill>
                <a:highlight>
                  <a:srgbClr val="FFFFFF"/>
                </a:highlight>
              </a:rPr>
              <a:t>layers</a:t>
            </a:r>
            <a:r>
              <a:rPr lang="pt-BR" sz="1600" b="1" dirty="0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sz="1600" b="0" dirty="0">
                <a:solidFill>
                  <a:srgbClr val="000000"/>
                </a:solidFill>
                <a:highlight>
                  <a:srgbClr val="FFFFFF"/>
                </a:highlight>
              </a:rPr>
              <a:t>Conv2D</a:t>
            </a:r>
            <a:r>
              <a:rPr lang="pt-BR" sz="1600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pt-BR" sz="1600" b="0" dirty="0" err="1">
                <a:solidFill>
                  <a:srgbClr val="000000"/>
                </a:solidFill>
                <a:highlight>
                  <a:srgbClr val="FFFFFF"/>
                </a:highlight>
              </a:rPr>
              <a:t>filters</a:t>
            </a:r>
            <a:r>
              <a:rPr lang="pt-BR" sz="1600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pt-BR" sz="1600" b="0" dirty="0">
                <a:solidFill>
                  <a:srgbClr val="FF0000"/>
                </a:solidFill>
                <a:highlight>
                  <a:srgbClr val="FFFFFF"/>
                </a:highlight>
              </a:rPr>
              <a:t>64</a:t>
            </a:r>
            <a:r>
              <a:rPr lang="pt-BR" sz="1600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pt-BR" sz="1600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sz="1600" b="0" dirty="0" err="1">
                <a:solidFill>
                  <a:srgbClr val="000000"/>
                </a:solidFill>
                <a:highlight>
                  <a:srgbClr val="FFFFFF"/>
                </a:highlight>
              </a:rPr>
              <a:t>kernel_size</a:t>
            </a:r>
            <a:r>
              <a:rPr lang="pt-BR" sz="1600" b="1" dirty="0">
                <a:solidFill>
                  <a:srgbClr val="000080"/>
                </a:solidFill>
                <a:highlight>
                  <a:srgbClr val="FFFFFF"/>
                </a:highlight>
              </a:rPr>
              <a:t>=(</a:t>
            </a:r>
            <a:r>
              <a:rPr lang="pt-BR" sz="1600" b="0" dirty="0">
                <a:solidFill>
                  <a:srgbClr val="FF0000"/>
                </a:solidFill>
                <a:highlight>
                  <a:srgbClr val="FFFFFF"/>
                </a:highlight>
              </a:rPr>
              <a:t>3</a:t>
            </a:r>
            <a:r>
              <a:rPr lang="pt-BR" sz="1600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pt-BR" sz="1600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sz="1600" b="0" dirty="0">
                <a:solidFill>
                  <a:srgbClr val="FF0000"/>
                </a:solidFill>
                <a:highlight>
                  <a:srgbClr val="FFFFFF"/>
                </a:highlight>
              </a:rPr>
              <a:t>3</a:t>
            </a:r>
            <a:r>
              <a:rPr lang="pt-BR" sz="1600" b="1" dirty="0">
                <a:solidFill>
                  <a:srgbClr val="000080"/>
                </a:solidFill>
                <a:highlight>
                  <a:srgbClr val="FFFFFF"/>
                </a:highlight>
              </a:rPr>
              <a:t>),</a:t>
            </a:r>
            <a:r>
              <a:rPr lang="pt-BR" sz="1600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sz="1600" b="0" dirty="0" err="1">
                <a:solidFill>
                  <a:srgbClr val="000000"/>
                </a:solidFill>
                <a:highlight>
                  <a:srgbClr val="FFFFFF"/>
                </a:highlight>
              </a:rPr>
              <a:t>activation</a:t>
            </a:r>
            <a:r>
              <a:rPr lang="pt-BR" sz="1600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pt-BR" sz="1600" b="0" dirty="0">
                <a:solidFill>
                  <a:srgbClr val="808080"/>
                </a:solidFill>
                <a:highlight>
                  <a:srgbClr val="FFFFFF"/>
                </a:highlight>
              </a:rPr>
              <a:t>'</a:t>
            </a:r>
            <a:r>
              <a:rPr lang="pt-BR" sz="1600" b="0" dirty="0" err="1">
                <a:solidFill>
                  <a:srgbClr val="808080"/>
                </a:solidFill>
                <a:highlight>
                  <a:srgbClr val="FFFFFF"/>
                </a:highlight>
              </a:rPr>
              <a:t>relu</a:t>
            </a:r>
            <a:r>
              <a:rPr lang="pt-BR" sz="1600" b="0" dirty="0">
                <a:solidFill>
                  <a:srgbClr val="808080"/>
                </a:solidFill>
                <a:highlight>
                  <a:srgbClr val="FFFFFF"/>
                </a:highlight>
              </a:rPr>
              <a:t>'</a:t>
            </a:r>
            <a:r>
              <a:rPr lang="pt-BR" sz="1600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pt-BR" sz="1600" b="0" dirty="0">
                <a:solidFill>
                  <a:srgbClr val="000000"/>
                </a:solidFill>
                <a:highlight>
                  <a:srgbClr val="FFFFFF"/>
                </a:highlight>
              </a:rPr>
              <a:t> padding</a:t>
            </a:r>
            <a:r>
              <a:rPr lang="pt-BR" sz="1600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pt-BR" sz="1600" b="0" dirty="0">
                <a:solidFill>
                  <a:srgbClr val="808080"/>
                </a:solidFill>
                <a:highlight>
                  <a:srgbClr val="FFFFFF"/>
                </a:highlight>
              </a:rPr>
              <a:t>'</a:t>
            </a:r>
            <a:r>
              <a:rPr lang="pt-BR" sz="1600" b="0" dirty="0" err="1">
                <a:solidFill>
                  <a:srgbClr val="808080"/>
                </a:solidFill>
                <a:highlight>
                  <a:srgbClr val="FFFFFF"/>
                </a:highlight>
              </a:rPr>
              <a:t>same</a:t>
            </a:r>
            <a:r>
              <a:rPr lang="pt-BR" sz="1600" b="0" dirty="0">
                <a:solidFill>
                  <a:srgbClr val="808080"/>
                </a:solidFill>
                <a:highlight>
                  <a:srgbClr val="FFFFFF"/>
                </a:highlight>
              </a:rPr>
              <a:t>'</a:t>
            </a:r>
            <a:r>
              <a:rPr lang="pt-BR" sz="1600" b="1" dirty="0">
                <a:solidFill>
                  <a:srgbClr val="000080"/>
                </a:solidFill>
                <a:highlight>
                  <a:srgbClr val="FFFFFF"/>
                </a:highlight>
              </a:rPr>
              <a:t>),</a:t>
            </a:r>
            <a:endParaRPr lang="pt-BR" sz="1600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en-US" sz="1600" b="0" dirty="0">
                <a:solidFill>
                  <a:srgbClr val="000000"/>
                </a:solidFill>
                <a:highlight>
                  <a:srgbClr val="FFFFFF"/>
                </a:highlight>
              </a:rPr>
              <a:t>    tf</a:t>
            </a:r>
            <a:r>
              <a:rPr lang="en-US" sz="1600" b="1" dirty="0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en-US" sz="1600" b="0" dirty="0">
                <a:solidFill>
                  <a:srgbClr val="000000"/>
                </a:solidFill>
                <a:highlight>
                  <a:srgbClr val="FFFFFF"/>
                </a:highlight>
              </a:rPr>
              <a:t>keras</a:t>
            </a:r>
            <a:r>
              <a:rPr lang="en-US" sz="1600" b="1" dirty="0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en-US" sz="1600" b="0" dirty="0">
                <a:solidFill>
                  <a:srgbClr val="000000"/>
                </a:solidFill>
                <a:highlight>
                  <a:srgbClr val="FFFFFF"/>
                </a:highlight>
              </a:rPr>
              <a:t>layers</a:t>
            </a:r>
            <a:r>
              <a:rPr lang="en-US" sz="1600" b="1" dirty="0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en-US" sz="1600" b="0" dirty="0">
                <a:solidFill>
                  <a:srgbClr val="000000"/>
                </a:solidFill>
                <a:highlight>
                  <a:srgbClr val="FFFFFF"/>
                </a:highlight>
              </a:rPr>
              <a:t>MaxPooling2D</a:t>
            </a:r>
            <a:r>
              <a:rPr lang="en-US" sz="1600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en-US" sz="1600" b="0" dirty="0" err="1">
                <a:solidFill>
                  <a:srgbClr val="000000"/>
                </a:solidFill>
                <a:highlight>
                  <a:srgbClr val="FFFFFF"/>
                </a:highlight>
              </a:rPr>
              <a:t>pool_size</a:t>
            </a:r>
            <a:r>
              <a:rPr lang="en-US" sz="1600" b="1" dirty="0">
                <a:solidFill>
                  <a:srgbClr val="000080"/>
                </a:solidFill>
                <a:highlight>
                  <a:srgbClr val="FFFFFF"/>
                </a:highlight>
              </a:rPr>
              <a:t>=(</a:t>
            </a:r>
            <a:r>
              <a:rPr lang="en-US" sz="1600" b="0" dirty="0">
                <a:solidFill>
                  <a:srgbClr val="FF0000"/>
                </a:solidFill>
                <a:highlight>
                  <a:srgbClr val="FFFFFF"/>
                </a:highlight>
              </a:rPr>
              <a:t>2</a:t>
            </a:r>
            <a:r>
              <a:rPr lang="en-US" sz="1600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sz="1600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sz="1600" b="0" dirty="0">
                <a:solidFill>
                  <a:srgbClr val="FF0000"/>
                </a:solidFill>
                <a:highlight>
                  <a:srgbClr val="FFFFFF"/>
                </a:highlight>
              </a:rPr>
              <a:t>2</a:t>
            </a:r>
            <a:r>
              <a:rPr lang="en-US" sz="1600" b="1" dirty="0">
                <a:solidFill>
                  <a:srgbClr val="000080"/>
                </a:solidFill>
                <a:highlight>
                  <a:srgbClr val="FFFFFF"/>
                </a:highlight>
              </a:rPr>
              <a:t>)),</a:t>
            </a:r>
            <a:endParaRPr lang="en-US" sz="1600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pt-BR" sz="1600" b="0" dirty="0">
                <a:solidFill>
                  <a:srgbClr val="000000"/>
                </a:solidFill>
                <a:highlight>
                  <a:srgbClr val="FFFFFF"/>
                </a:highlight>
              </a:rPr>
              <a:t>    </a:t>
            </a:r>
            <a:r>
              <a:rPr lang="pt-BR" sz="1600" b="0" dirty="0" err="1">
                <a:solidFill>
                  <a:srgbClr val="000000"/>
                </a:solidFill>
                <a:highlight>
                  <a:srgbClr val="FFFFFF"/>
                </a:highlight>
              </a:rPr>
              <a:t>tf</a:t>
            </a:r>
            <a:r>
              <a:rPr lang="pt-BR" sz="1600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sz="1600" b="0" dirty="0" err="1">
                <a:solidFill>
                  <a:srgbClr val="000000"/>
                </a:solidFill>
                <a:highlight>
                  <a:srgbClr val="FFFFFF"/>
                </a:highlight>
              </a:rPr>
              <a:t>keras</a:t>
            </a:r>
            <a:r>
              <a:rPr lang="pt-BR" sz="1600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sz="1600" b="0" dirty="0" err="1">
                <a:solidFill>
                  <a:srgbClr val="000000"/>
                </a:solidFill>
                <a:highlight>
                  <a:srgbClr val="FFFFFF"/>
                </a:highlight>
              </a:rPr>
              <a:t>layers</a:t>
            </a:r>
            <a:r>
              <a:rPr lang="pt-BR" sz="1600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sz="1600" b="0" dirty="0" err="1">
                <a:solidFill>
                  <a:srgbClr val="000000"/>
                </a:solidFill>
                <a:highlight>
                  <a:srgbClr val="FFFFFF"/>
                </a:highlight>
              </a:rPr>
              <a:t>Dropout</a:t>
            </a:r>
            <a:r>
              <a:rPr lang="pt-BR" sz="1600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pt-BR" sz="1600" b="0" dirty="0">
                <a:solidFill>
                  <a:srgbClr val="FF0000"/>
                </a:solidFill>
                <a:highlight>
                  <a:srgbClr val="FFFFFF"/>
                </a:highlight>
              </a:rPr>
              <a:t>0.5</a:t>
            </a:r>
            <a:r>
              <a:rPr lang="pt-BR" sz="1600" b="1" dirty="0">
                <a:solidFill>
                  <a:srgbClr val="000080"/>
                </a:solidFill>
                <a:highlight>
                  <a:srgbClr val="FFFFFF"/>
                </a:highlight>
              </a:rPr>
              <a:t>),</a:t>
            </a:r>
            <a:endParaRPr lang="pt-BR" sz="1600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pt-BR" sz="1600" b="0" dirty="0">
                <a:solidFill>
                  <a:srgbClr val="000000"/>
                </a:solidFill>
                <a:highlight>
                  <a:srgbClr val="FFFFFF"/>
                </a:highlight>
              </a:rPr>
              <a:t>    tf</a:t>
            </a:r>
            <a:r>
              <a:rPr lang="pt-BR" sz="1600" b="1" dirty="0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sz="1600" b="0" dirty="0">
                <a:solidFill>
                  <a:srgbClr val="000000"/>
                </a:solidFill>
                <a:highlight>
                  <a:srgbClr val="FFFFFF"/>
                </a:highlight>
              </a:rPr>
              <a:t>keras</a:t>
            </a:r>
            <a:r>
              <a:rPr lang="pt-BR" sz="1600" b="1" dirty="0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sz="1600" b="0" dirty="0">
                <a:solidFill>
                  <a:srgbClr val="000000"/>
                </a:solidFill>
                <a:highlight>
                  <a:srgbClr val="FFFFFF"/>
                </a:highlight>
              </a:rPr>
              <a:t>layers</a:t>
            </a:r>
            <a:r>
              <a:rPr lang="pt-BR" sz="1600" b="1" dirty="0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sz="1600" b="0" dirty="0">
                <a:solidFill>
                  <a:srgbClr val="000000"/>
                </a:solidFill>
                <a:highlight>
                  <a:srgbClr val="FFFFFF"/>
                </a:highlight>
              </a:rPr>
              <a:t>Conv2D</a:t>
            </a:r>
            <a:r>
              <a:rPr lang="pt-BR" sz="1600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pt-BR" sz="1600" b="0" dirty="0" err="1">
                <a:solidFill>
                  <a:srgbClr val="000000"/>
                </a:solidFill>
                <a:highlight>
                  <a:srgbClr val="FFFFFF"/>
                </a:highlight>
              </a:rPr>
              <a:t>filters</a:t>
            </a:r>
            <a:r>
              <a:rPr lang="pt-BR" sz="1600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pt-BR" sz="1600" b="0" dirty="0">
                <a:solidFill>
                  <a:srgbClr val="FF0000"/>
                </a:solidFill>
                <a:highlight>
                  <a:srgbClr val="FFFFFF"/>
                </a:highlight>
              </a:rPr>
              <a:t>128</a:t>
            </a:r>
            <a:r>
              <a:rPr lang="pt-BR" sz="1600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pt-BR" sz="1600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sz="1600" b="0" dirty="0" err="1">
                <a:solidFill>
                  <a:srgbClr val="000000"/>
                </a:solidFill>
                <a:highlight>
                  <a:srgbClr val="FFFFFF"/>
                </a:highlight>
              </a:rPr>
              <a:t>kernel_size</a:t>
            </a:r>
            <a:r>
              <a:rPr lang="pt-BR" sz="1600" b="1" dirty="0">
                <a:solidFill>
                  <a:srgbClr val="000080"/>
                </a:solidFill>
                <a:highlight>
                  <a:srgbClr val="FFFFFF"/>
                </a:highlight>
              </a:rPr>
              <a:t>=(</a:t>
            </a:r>
            <a:r>
              <a:rPr lang="pt-BR" sz="1600" b="0" dirty="0">
                <a:solidFill>
                  <a:srgbClr val="FF0000"/>
                </a:solidFill>
                <a:highlight>
                  <a:srgbClr val="FFFFFF"/>
                </a:highlight>
              </a:rPr>
              <a:t>3</a:t>
            </a:r>
            <a:r>
              <a:rPr lang="pt-BR" sz="1600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pt-BR" sz="1600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sz="1600" b="0" dirty="0">
                <a:solidFill>
                  <a:srgbClr val="FF0000"/>
                </a:solidFill>
                <a:highlight>
                  <a:srgbClr val="FFFFFF"/>
                </a:highlight>
              </a:rPr>
              <a:t>3</a:t>
            </a:r>
            <a:r>
              <a:rPr lang="pt-BR" sz="1600" b="1" dirty="0">
                <a:solidFill>
                  <a:srgbClr val="000080"/>
                </a:solidFill>
                <a:highlight>
                  <a:srgbClr val="FFFFFF"/>
                </a:highlight>
              </a:rPr>
              <a:t>),</a:t>
            </a:r>
            <a:r>
              <a:rPr lang="pt-BR" sz="1600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sz="1600" b="0" dirty="0" err="1">
                <a:solidFill>
                  <a:srgbClr val="000000"/>
                </a:solidFill>
                <a:highlight>
                  <a:srgbClr val="FFFFFF"/>
                </a:highlight>
              </a:rPr>
              <a:t>activation</a:t>
            </a:r>
            <a:r>
              <a:rPr lang="pt-BR" sz="1600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pt-BR" sz="1600" b="0" dirty="0">
                <a:solidFill>
                  <a:srgbClr val="808080"/>
                </a:solidFill>
                <a:highlight>
                  <a:srgbClr val="FFFFFF"/>
                </a:highlight>
              </a:rPr>
              <a:t>'</a:t>
            </a:r>
            <a:r>
              <a:rPr lang="pt-BR" sz="1600" b="0" dirty="0" err="1">
                <a:solidFill>
                  <a:srgbClr val="808080"/>
                </a:solidFill>
                <a:highlight>
                  <a:srgbClr val="FFFFFF"/>
                </a:highlight>
              </a:rPr>
              <a:t>relu</a:t>
            </a:r>
            <a:r>
              <a:rPr lang="pt-BR" sz="1600" b="0" dirty="0">
                <a:solidFill>
                  <a:srgbClr val="808080"/>
                </a:solidFill>
                <a:highlight>
                  <a:srgbClr val="FFFFFF"/>
                </a:highlight>
              </a:rPr>
              <a:t>'</a:t>
            </a:r>
            <a:r>
              <a:rPr lang="pt-BR" sz="1600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pt-BR" sz="1600" b="0" dirty="0">
                <a:solidFill>
                  <a:srgbClr val="000000"/>
                </a:solidFill>
                <a:highlight>
                  <a:srgbClr val="FFFFFF"/>
                </a:highlight>
              </a:rPr>
              <a:t> padding</a:t>
            </a:r>
            <a:r>
              <a:rPr lang="pt-BR" sz="1600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pt-BR" sz="1600" b="0" dirty="0">
                <a:solidFill>
                  <a:srgbClr val="808080"/>
                </a:solidFill>
                <a:highlight>
                  <a:srgbClr val="FFFFFF"/>
                </a:highlight>
              </a:rPr>
              <a:t>'</a:t>
            </a:r>
            <a:r>
              <a:rPr lang="pt-BR" sz="1600" b="0" dirty="0" err="1">
                <a:solidFill>
                  <a:srgbClr val="808080"/>
                </a:solidFill>
                <a:highlight>
                  <a:srgbClr val="FFFFFF"/>
                </a:highlight>
              </a:rPr>
              <a:t>same</a:t>
            </a:r>
            <a:r>
              <a:rPr lang="pt-BR" sz="1600" b="0" dirty="0">
                <a:solidFill>
                  <a:srgbClr val="808080"/>
                </a:solidFill>
                <a:highlight>
                  <a:srgbClr val="FFFFFF"/>
                </a:highlight>
              </a:rPr>
              <a:t>'</a:t>
            </a:r>
            <a:r>
              <a:rPr lang="pt-BR" sz="1600" b="1" dirty="0">
                <a:solidFill>
                  <a:srgbClr val="000080"/>
                </a:solidFill>
                <a:highlight>
                  <a:srgbClr val="FFFFFF"/>
                </a:highlight>
              </a:rPr>
              <a:t>),</a:t>
            </a:r>
            <a:endParaRPr lang="pt-BR" sz="1600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pt-BR" sz="1600" b="0" dirty="0">
                <a:solidFill>
                  <a:srgbClr val="000000"/>
                </a:solidFill>
                <a:highlight>
                  <a:srgbClr val="FFFFFF"/>
                </a:highlight>
              </a:rPr>
              <a:t>    tf</a:t>
            </a:r>
            <a:r>
              <a:rPr lang="pt-BR" sz="1600" b="1" dirty="0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sz="1600" b="0" dirty="0">
                <a:solidFill>
                  <a:srgbClr val="000000"/>
                </a:solidFill>
                <a:highlight>
                  <a:srgbClr val="FFFFFF"/>
                </a:highlight>
              </a:rPr>
              <a:t>keras</a:t>
            </a:r>
            <a:r>
              <a:rPr lang="pt-BR" sz="1600" b="1" dirty="0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sz="1600" b="0" dirty="0">
                <a:solidFill>
                  <a:srgbClr val="000000"/>
                </a:solidFill>
                <a:highlight>
                  <a:srgbClr val="FFFFFF"/>
                </a:highlight>
              </a:rPr>
              <a:t>layers</a:t>
            </a:r>
            <a:r>
              <a:rPr lang="pt-BR" sz="1600" b="1" dirty="0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sz="1600" b="0" dirty="0">
                <a:solidFill>
                  <a:srgbClr val="000000"/>
                </a:solidFill>
                <a:highlight>
                  <a:srgbClr val="FFFFFF"/>
                </a:highlight>
              </a:rPr>
              <a:t>Conv2D</a:t>
            </a:r>
            <a:r>
              <a:rPr lang="pt-BR" sz="1600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pt-BR" sz="1600" b="0" dirty="0" err="1">
                <a:solidFill>
                  <a:srgbClr val="000000"/>
                </a:solidFill>
                <a:highlight>
                  <a:srgbClr val="FFFFFF"/>
                </a:highlight>
              </a:rPr>
              <a:t>filters</a:t>
            </a:r>
            <a:r>
              <a:rPr lang="pt-BR" sz="1600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pt-BR" sz="1600" b="0" dirty="0">
                <a:solidFill>
                  <a:srgbClr val="FF0000"/>
                </a:solidFill>
                <a:highlight>
                  <a:srgbClr val="FFFFFF"/>
                </a:highlight>
              </a:rPr>
              <a:t>128</a:t>
            </a:r>
            <a:r>
              <a:rPr lang="pt-BR" sz="1600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pt-BR" sz="1600" b="0" dirty="0">
                <a:solidFill>
                  <a:srgbClr val="000000"/>
                </a:solidFill>
                <a:highlight>
                  <a:srgbClr val="FFFFFF"/>
                </a:highlight>
              </a:rPr>
              <a:t>kernel_size</a:t>
            </a:r>
            <a:r>
              <a:rPr lang="pt-BR" sz="1600" b="1" dirty="0">
                <a:solidFill>
                  <a:srgbClr val="000080"/>
                </a:solidFill>
                <a:highlight>
                  <a:srgbClr val="FFFFFF"/>
                </a:highlight>
              </a:rPr>
              <a:t>=(</a:t>
            </a:r>
            <a:r>
              <a:rPr lang="pt-BR" sz="1600" b="0" dirty="0">
                <a:solidFill>
                  <a:srgbClr val="FF0000"/>
                </a:solidFill>
                <a:highlight>
                  <a:srgbClr val="FFFFFF"/>
                </a:highlight>
              </a:rPr>
              <a:t>3</a:t>
            </a:r>
            <a:r>
              <a:rPr lang="pt-BR" sz="1600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pt-BR" sz="1600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sz="1600" b="0" dirty="0">
                <a:solidFill>
                  <a:srgbClr val="FF0000"/>
                </a:solidFill>
                <a:highlight>
                  <a:srgbClr val="FFFFFF"/>
                </a:highlight>
              </a:rPr>
              <a:t>3</a:t>
            </a:r>
            <a:r>
              <a:rPr lang="pt-BR" sz="1600" b="1" dirty="0">
                <a:solidFill>
                  <a:srgbClr val="000080"/>
                </a:solidFill>
                <a:highlight>
                  <a:srgbClr val="FFFFFF"/>
                </a:highlight>
              </a:rPr>
              <a:t>),</a:t>
            </a:r>
            <a:r>
              <a:rPr lang="pt-BR" sz="1600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sz="1600" b="0" dirty="0" err="1">
                <a:solidFill>
                  <a:srgbClr val="000000"/>
                </a:solidFill>
                <a:highlight>
                  <a:srgbClr val="FFFFFF"/>
                </a:highlight>
              </a:rPr>
              <a:t>activation</a:t>
            </a:r>
            <a:r>
              <a:rPr lang="pt-BR" sz="1600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pt-BR" sz="1600" b="0" dirty="0">
                <a:solidFill>
                  <a:srgbClr val="808080"/>
                </a:solidFill>
                <a:highlight>
                  <a:srgbClr val="FFFFFF"/>
                </a:highlight>
              </a:rPr>
              <a:t>'</a:t>
            </a:r>
            <a:r>
              <a:rPr lang="pt-BR" sz="1600" b="0" dirty="0" err="1">
                <a:solidFill>
                  <a:srgbClr val="808080"/>
                </a:solidFill>
                <a:highlight>
                  <a:srgbClr val="FFFFFF"/>
                </a:highlight>
              </a:rPr>
              <a:t>relu</a:t>
            </a:r>
            <a:r>
              <a:rPr lang="pt-BR" sz="1600" b="0" dirty="0">
                <a:solidFill>
                  <a:srgbClr val="808080"/>
                </a:solidFill>
                <a:highlight>
                  <a:srgbClr val="FFFFFF"/>
                </a:highlight>
              </a:rPr>
              <a:t>'</a:t>
            </a:r>
            <a:r>
              <a:rPr lang="pt-BR" sz="1600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pt-BR" sz="1600" b="0" dirty="0">
                <a:solidFill>
                  <a:srgbClr val="000000"/>
                </a:solidFill>
                <a:highlight>
                  <a:srgbClr val="FFFFFF"/>
                </a:highlight>
              </a:rPr>
              <a:t> padding</a:t>
            </a:r>
            <a:r>
              <a:rPr lang="pt-BR" sz="1600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pt-BR" sz="1600" b="0" dirty="0">
                <a:solidFill>
                  <a:srgbClr val="808080"/>
                </a:solidFill>
                <a:highlight>
                  <a:srgbClr val="FFFFFF"/>
                </a:highlight>
              </a:rPr>
              <a:t>'</a:t>
            </a:r>
            <a:r>
              <a:rPr lang="pt-BR" sz="1600" b="0" dirty="0" err="1">
                <a:solidFill>
                  <a:srgbClr val="808080"/>
                </a:solidFill>
                <a:highlight>
                  <a:srgbClr val="FFFFFF"/>
                </a:highlight>
              </a:rPr>
              <a:t>same</a:t>
            </a:r>
            <a:r>
              <a:rPr lang="pt-BR" sz="1600" b="0" dirty="0">
                <a:solidFill>
                  <a:srgbClr val="808080"/>
                </a:solidFill>
                <a:highlight>
                  <a:srgbClr val="FFFFFF"/>
                </a:highlight>
              </a:rPr>
              <a:t>'</a:t>
            </a:r>
            <a:r>
              <a:rPr lang="pt-BR" sz="1600" b="1" dirty="0">
                <a:solidFill>
                  <a:srgbClr val="000080"/>
                </a:solidFill>
                <a:highlight>
                  <a:srgbClr val="FFFFFF"/>
                </a:highlight>
              </a:rPr>
              <a:t>),</a:t>
            </a:r>
            <a:endParaRPr lang="pt-BR" sz="1600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en-US" sz="1600" b="0" dirty="0">
                <a:solidFill>
                  <a:srgbClr val="000000"/>
                </a:solidFill>
                <a:highlight>
                  <a:srgbClr val="FFFFFF"/>
                </a:highlight>
              </a:rPr>
              <a:t>    tf</a:t>
            </a:r>
            <a:r>
              <a:rPr lang="en-US" sz="1600" b="1" dirty="0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en-US" sz="1600" b="0" dirty="0">
                <a:solidFill>
                  <a:srgbClr val="000000"/>
                </a:solidFill>
                <a:highlight>
                  <a:srgbClr val="FFFFFF"/>
                </a:highlight>
              </a:rPr>
              <a:t>keras</a:t>
            </a:r>
            <a:r>
              <a:rPr lang="en-US" sz="1600" b="1" dirty="0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en-US" sz="1600" b="0" dirty="0">
                <a:solidFill>
                  <a:srgbClr val="000000"/>
                </a:solidFill>
                <a:highlight>
                  <a:srgbClr val="FFFFFF"/>
                </a:highlight>
              </a:rPr>
              <a:t>layers</a:t>
            </a:r>
            <a:r>
              <a:rPr lang="en-US" sz="1600" b="1" dirty="0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en-US" sz="1600" b="0" dirty="0">
                <a:solidFill>
                  <a:srgbClr val="000000"/>
                </a:solidFill>
                <a:highlight>
                  <a:srgbClr val="FFFFFF"/>
                </a:highlight>
              </a:rPr>
              <a:t>MaxPooling2D</a:t>
            </a:r>
            <a:r>
              <a:rPr lang="en-US" sz="1600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en-US" sz="1600" b="0" dirty="0" err="1">
                <a:solidFill>
                  <a:srgbClr val="000000"/>
                </a:solidFill>
                <a:highlight>
                  <a:srgbClr val="FFFFFF"/>
                </a:highlight>
              </a:rPr>
              <a:t>pool_size</a:t>
            </a:r>
            <a:r>
              <a:rPr lang="en-US" sz="1600" b="1" dirty="0">
                <a:solidFill>
                  <a:srgbClr val="000080"/>
                </a:solidFill>
                <a:highlight>
                  <a:srgbClr val="FFFFFF"/>
                </a:highlight>
              </a:rPr>
              <a:t>=(</a:t>
            </a:r>
            <a:r>
              <a:rPr lang="en-US" sz="1600" b="0" dirty="0">
                <a:solidFill>
                  <a:srgbClr val="FF0000"/>
                </a:solidFill>
                <a:highlight>
                  <a:srgbClr val="FFFFFF"/>
                </a:highlight>
              </a:rPr>
              <a:t>2</a:t>
            </a:r>
            <a:r>
              <a:rPr lang="en-US" sz="1600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sz="1600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sz="1600" b="0" dirty="0">
                <a:solidFill>
                  <a:srgbClr val="FF0000"/>
                </a:solidFill>
                <a:highlight>
                  <a:srgbClr val="FFFFFF"/>
                </a:highlight>
              </a:rPr>
              <a:t>2</a:t>
            </a:r>
            <a:r>
              <a:rPr lang="en-US" sz="1600" b="1" dirty="0">
                <a:solidFill>
                  <a:srgbClr val="000080"/>
                </a:solidFill>
                <a:highlight>
                  <a:srgbClr val="FFFFFF"/>
                </a:highlight>
              </a:rPr>
              <a:t>)),</a:t>
            </a:r>
            <a:endParaRPr lang="en-US" sz="1600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pt-BR" sz="1600" b="0" dirty="0">
                <a:solidFill>
                  <a:srgbClr val="000000"/>
                </a:solidFill>
                <a:highlight>
                  <a:srgbClr val="FFFFFF"/>
                </a:highlight>
              </a:rPr>
              <a:t>    </a:t>
            </a:r>
            <a:r>
              <a:rPr lang="pt-BR" sz="1600" b="0" dirty="0" err="1">
                <a:solidFill>
                  <a:srgbClr val="000000"/>
                </a:solidFill>
                <a:highlight>
                  <a:srgbClr val="FFFFFF"/>
                </a:highlight>
              </a:rPr>
              <a:t>tf</a:t>
            </a:r>
            <a:r>
              <a:rPr lang="pt-BR" sz="1600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sz="1600" b="0" dirty="0" err="1">
                <a:solidFill>
                  <a:srgbClr val="000000"/>
                </a:solidFill>
                <a:highlight>
                  <a:srgbClr val="FFFFFF"/>
                </a:highlight>
              </a:rPr>
              <a:t>keras</a:t>
            </a:r>
            <a:r>
              <a:rPr lang="pt-BR" sz="1600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sz="1600" b="0" dirty="0" err="1">
                <a:solidFill>
                  <a:srgbClr val="000000"/>
                </a:solidFill>
                <a:highlight>
                  <a:srgbClr val="FFFFFF"/>
                </a:highlight>
              </a:rPr>
              <a:t>layers</a:t>
            </a:r>
            <a:r>
              <a:rPr lang="pt-BR" sz="1600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sz="1600" b="0" dirty="0" err="1">
                <a:solidFill>
                  <a:srgbClr val="000000"/>
                </a:solidFill>
                <a:highlight>
                  <a:srgbClr val="FFFFFF"/>
                </a:highlight>
              </a:rPr>
              <a:t>Dropout</a:t>
            </a:r>
            <a:r>
              <a:rPr lang="pt-BR" sz="1600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pt-BR" sz="1600" b="0" dirty="0">
                <a:solidFill>
                  <a:srgbClr val="FF0000"/>
                </a:solidFill>
                <a:highlight>
                  <a:srgbClr val="FFFFFF"/>
                </a:highlight>
              </a:rPr>
              <a:t>0.5</a:t>
            </a:r>
            <a:r>
              <a:rPr lang="pt-BR" sz="1600" b="1" dirty="0">
                <a:solidFill>
                  <a:srgbClr val="000080"/>
                </a:solidFill>
                <a:highlight>
                  <a:srgbClr val="FFFFFF"/>
                </a:highlight>
              </a:rPr>
              <a:t>),</a:t>
            </a:r>
            <a:endParaRPr lang="pt-BR" sz="1600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pt-BR" sz="1600" b="0" dirty="0">
                <a:solidFill>
                  <a:srgbClr val="000000"/>
                </a:solidFill>
                <a:highlight>
                  <a:srgbClr val="FFFFFF"/>
                </a:highlight>
              </a:rPr>
              <a:t>    </a:t>
            </a:r>
            <a:r>
              <a:rPr lang="pt-BR" sz="1600" b="0" dirty="0" err="1">
                <a:solidFill>
                  <a:srgbClr val="000000"/>
                </a:solidFill>
                <a:highlight>
                  <a:srgbClr val="FFFFFF"/>
                </a:highlight>
              </a:rPr>
              <a:t>tf</a:t>
            </a:r>
            <a:r>
              <a:rPr lang="pt-BR" sz="1600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sz="1600" b="0" dirty="0" err="1">
                <a:solidFill>
                  <a:srgbClr val="000000"/>
                </a:solidFill>
                <a:highlight>
                  <a:srgbClr val="FFFFFF"/>
                </a:highlight>
              </a:rPr>
              <a:t>keras</a:t>
            </a:r>
            <a:r>
              <a:rPr lang="pt-BR" sz="1600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sz="1600" b="0" dirty="0" err="1">
                <a:solidFill>
                  <a:srgbClr val="000000"/>
                </a:solidFill>
                <a:highlight>
                  <a:srgbClr val="FFFFFF"/>
                </a:highlight>
              </a:rPr>
              <a:t>layers</a:t>
            </a:r>
            <a:r>
              <a:rPr lang="pt-BR" sz="1600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sz="1600" b="0" dirty="0" err="1">
                <a:solidFill>
                  <a:srgbClr val="000000"/>
                </a:solidFill>
                <a:highlight>
                  <a:srgbClr val="FFFFFF"/>
                </a:highlight>
              </a:rPr>
              <a:t>Flatten</a:t>
            </a:r>
            <a:r>
              <a:rPr lang="pt-BR" sz="1600" b="1" dirty="0">
                <a:solidFill>
                  <a:srgbClr val="000080"/>
                </a:solidFill>
                <a:highlight>
                  <a:srgbClr val="FFFFFF"/>
                </a:highlight>
              </a:rPr>
              <a:t>(),</a:t>
            </a:r>
            <a:endParaRPr lang="pt-BR" sz="1600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en-US" sz="1600" b="0" dirty="0">
                <a:solidFill>
                  <a:srgbClr val="000000"/>
                </a:solidFill>
                <a:highlight>
                  <a:srgbClr val="FFFFFF"/>
                </a:highlight>
              </a:rPr>
              <a:t>    </a:t>
            </a:r>
            <a:r>
              <a:rPr lang="en-US" sz="1600" b="0" dirty="0" err="1">
                <a:solidFill>
                  <a:srgbClr val="000000"/>
                </a:solidFill>
                <a:highlight>
                  <a:srgbClr val="FFFFFF"/>
                </a:highlight>
              </a:rPr>
              <a:t>tf</a:t>
            </a:r>
            <a:r>
              <a:rPr lang="en-US" sz="1600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en-US" sz="1600" b="0" dirty="0" err="1">
                <a:solidFill>
                  <a:srgbClr val="000000"/>
                </a:solidFill>
                <a:highlight>
                  <a:srgbClr val="FFFFFF"/>
                </a:highlight>
              </a:rPr>
              <a:t>keras</a:t>
            </a:r>
            <a:r>
              <a:rPr lang="en-US" sz="1600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en-US" sz="1600" b="0" dirty="0" err="1">
                <a:solidFill>
                  <a:srgbClr val="000000"/>
                </a:solidFill>
                <a:highlight>
                  <a:srgbClr val="FFFFFF"/>
                </a:highlight>
              </a:rPr>
              <a:t>layers</a:t>
            </a:r>
            <a:r>
              <a:rPr lang="en-US" sz="1600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en-US" sz="1600" b="0" dirty="0" err="1">
                <a:solidFill>
                  <a:srgbClr val="000000"/>
                </a:solidFill>
                <a:highlight>
                  <a:srgbClr val="FFFFFF"/>
                </a:highlight>
              </a:rPr>
              <a:t>Dense</a:t>
            </a:r>
            <a:r>
              <a:rPr lang="en-US" sz="1600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en-US" sz="1600" b="0" dirty="0">
                <a:solidFill>
                  <a:srgbClr val="000000"/>
                </a:solidFill>
                <a:highlight>
                  <a:srgbClr val="FFFFFF"/>
                </a:highlight>
              </a:rPr>
              <a:t>units</a:t>
            </a:r>
            <a:r>
              <a:rPr lang="en-US" sz="1600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en-US" sz="1600" b="0" dirty="0">
                <a:solidFill>
                  <a:srgbClr val="FF0000"/>
                </a:solidFill>
                <a:highlight>
                  <a:srgbClr val="FFFFFF"/>
                </a:highlight>
              </a:rPr>
              <a:t>1024</a:t>
            </a:r>
            <a:r>
              <a:rPr lang="en-US" sz="1600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sz="1600" b="0" dirty="0">
                <a:solidFill>
                  <a:srgbClr val="000000"/>
                </a:solidFill>
                <a:highlight>
                  <a:srgbClr val="FFFFFF"/>
                </a:highlight>
              </a:rPr>
              <a:t> activation</a:t>
            </a:r>
            <a:r>
              <a:rPr lang="en-US" sz="1600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en-US" sz="1600" b="0" dirty="0">
                <a:solidFill>
                  <a:srgbClr val="808080"/>
                </a:solidFill>
                <a:highlight>
                  <a:srgbClr val="FFFFFF"/>
                </a:highlight>
              </a:rPr>
              <a:t>'</a:t>
            </a:r>
            <a:r>
              <a:rPr lang="en-US" sz="1600" b="0" dirty="0" err="1">
                <a:solidFill>
                  <a:srgbClr val="808080"/>
                </a:solidFill>
                <a:highlight>
                  <a:srgbClr val="FFFFFF"/>
                </a:highlight>
              </a:rPr>
              <a:t>relu</a:t>
            </a:r>
            <a:r>
              <a:rPr lang="en-US" sz="1600" b="0" dirty="0">
                <a:solidFill>
                  <a:srgbClr val="808080"/>
                </a:solidFill>
                <a:highlight>
                  <a:srgbClr val="FFFFFF"/>
                </a:highlight>
              </a:rPr>
              <a:t>'</a:t>
            </a:r>
            <a:r>
              <a:rPr lang="en-US" sz="1600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sz="1600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sz="1600" b="0" dirty="0" err="1">
                <a:solidFill>
                  <a:srgbClr val="000000"/>
                </a:solidFill>
                <a:highlight>
                  <a:srgbClr val="FFFFFF"/>
                </a:highlight>
              </a:rPr>
              <a:t>kernel_initializer</a:t>
            </a:r>
            <a:r>
              <a:rPr lang="en-US" sz="1600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en-US" sz="1600" b="0" dirty="0">
                <a:solidFill>
                  <a:srgbClr val="808080"/>
                </a:solidFill>
                <a:highlight>
                  <a:srgbClr val="FFFFFF"/>
                </a:highlight>
              </a:rPr>
              <a:t>'</a:t>
            </a:r>
            <a:r>
              <a:rPr lang="en-US" sz="1600" b="0" dirty="0" err="1">
                <a:solidFill>
                  <a:srgbClr val="808080"/>
                </a:solidFill>
                <a:highlight>
                  <a:srgbClr val="FFFFFF"/>
                </a:highlight>
              </a:rPr>
              <a:t>he_uniform</a:t>
            </a:r>
            <a:r>
              <a:rPr lang="en-US" sz="1600" b="0" dirty="0">
                <a:solidFill>
                  <a:srgbClr val="808080"/>
                </a:solidFill>
                <a:highlight>
                  <a:srgbClr val="FFFFFF"/>
                </a:highlight>
              </a:rPr>
              <a:t>'</a:t>
            </a:r>
            <a:r>
              <a:rPr lang="en-US" sz="1600" b="1" dirty="0">
                <a:solidFill>
                  <a:srgbClr val="000080"/>
                </a:solidFill>
                <a:highlight>
                  <a:srgbClr val="FFFFFF"/>
                </a:highlight>
              </a:rPr>
              <a:t>),</a:t>
            </a:r>
            <a:endParaRPr lang="en-US" sz="1600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en-US" sz="1600" b="0" dirty="0">
                <a:solidFill>
                  <a:srgbClr val="000000"/>
                </a:solidFill>
                <a:highlight>
                  <a:srgbClr val="FFFFFF"/>
                </a:highlight>
              </a:rPr>
              <a:t>    </a:t>
            </a:r>
            <a:r>
              <a:rPr lang="en-US" sz="1600" b="0" dirty="0" err="1">
                <a:solidFill>
                  <a:srgbClr val="000000"/>
                </a:solidFill>
                <a:highlight>
                  <a:srgbClr val="FFFFFF"/>
                </a:highlight>
              </a:rPr>
              <a:t>tf</a:t>
            </a:r>
            <a:r>
              <a:rPr lang="en-US" sz="1600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en-US" sz="1600" b="0" dirty="0" err="1">
                <a:solidFill>
                  <a:srgbClr val="000000"/>
                </a:solidFill>
                <a:highlight>
                  <a:srgbClr val="FFFFFF"/>
                </a:highlight>
              </a:rPr>
              <a:t>keras</a:t>
            </a:r>
            <a:r>
              <a:rPr lang="en-US" sz="1600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en-US" sz="1600" b="0" dirty="0" err="1">
                <a:solidFill>
                  <a:srgbClr val="000000"/>
                </a:solidFill>
                <a:highlight>
                  <a:srgbClr val="FFFFFF"/>
                </a:highlight>
              </a:rPr>
              <a:t>layers</a:t>
            </a:r>
            <a:r>
              <a:rPr lang="en-US" sz="1600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en-US" sz="1600" b="0" dirty="0" err="1">
                <a:solidFill>
                  <a:srgbClr val="000000"/>
                </a:solidFill>
                <a:highlight>
                  <a:srgbClr val="FFFFFF"/>
                </a:highlight>
              </a:rPr>
              <a:t>Dense</a:t>
            </a:r>
            <a:r>
              <a:rPr lang="en-US" sz="1600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en-US" sz="1600" b="0" dirty="0">
                <a:solidFill>
                  <a:srgbClr val="000000"/>
                </a:solidFill>
                <a:highlight>
                  <a:srgbClr val="FFFFFF"/>
                </a:highlight>
              </a:rPr>
              <a:t>units</a:t>
            </a:r>
            <a:r>
              <a:rPr lang="en-US" sz="1600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en-US" sz="1600" b="0" dirty="0">
                <a:solidFill>
                  <a:srgbClr val="FF0000"/>
                </a:solidFill>
                <a:highlight>
                  <a:srgbClr val="FFFFFF"/>
                </a:highlight>
              </a:rPr>
              <a:t>512</a:t>
            </a:r>
            <a:r>
              <a:rPr lang="en-US" sz="1600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sz="1600" b="0" dirty="0">
                <a:solidFill>
                  <a:srgbClr val="000000"/>
                </a:solidFill>
                <a:highlight>
                  <a:srgbClr val="FFFFFF"/>
                </a:highlight>
              </a:rPr>
              <a:t> activation</a:t>
            </a:r>
            <a:r>
              <a:rPr lang="en-US" sz="1600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en-US" sz="1600" b="0" dirty="0">
                <a:solidFill>
                  <a:srgbClr val="808080"/>
                </a:solidFill>
                <a:highlight>
                  <a:srgbClr val="FFFFFF"/>
                </a:highlight>
              </a:rPr>
              <a:t>'</a:t>
            </a:r>
            <a:r>
              <a:rPr lang="en-US" sz="1600" b="0" dirty="0" err="1">
                <a:solidFill>
                  <a:srgbClr val="808080"/>
                </a:solidFill>
                <a:highlight>
                  <a:srgbClr val="FFFFFF"/>
                </a:highlight>
              </a:rPr>
              <a:t>relu</a:t>
            </a:r>
            <a:r>
              <a:rPr lang="en-US" sz="1600" b="0" dirty="0">
                <a:solidFill>
                  <a:srgbClr val="808080"/>
                </a:solidFill>
                <a:highlight>
                  <a:srgbClr val="FFFFFF"/>
                </a:highlight>
              </a:rPr>
              <a:t>'</a:t>
            </a:r>
            <a:r>
              <a:rPr lang="en-US" sz="1600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sz="1600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sz="1600" b="0" dirty="0" err="1">
                <a:solidFill>
                  <a:srgbClr val="000000"/>
                </a:solidFill>
                <a:highlight>
                  <a:srgbClr val="FFFFFF"/>
                </a:highlight>
              </a:rPr>
              <a:t>kernel_initializer</a:t>
            </a:r>
            <a:r>
              <a:rPr lang="en-US" sz="1600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en-US" sz="1600" b="0" dirty="0">
                <a:solidFill>
                  <a:srgbClr val="808080"/>
                </a:solidFill>
                <a:highlight>
                  <a:srgbClr val="FFFFFF"/>
                </a:highlight>
              </a:rPr>
              <a:t>'</a:t>
            </a:r>
            <a:r>
              <a:rPr lang="en-US" sz="1600" b="0" dirty="0" err="1">
                <a:solidFill>
                  <a:srgbClr val="808080"/>
                </a:solidFill>
                <a:highlight>
                  <a:srgbClr val="FFFFFF"/>
                </a:highlight>
              </a:rPr>
              <a:t>he_uniform</a:t>
            </a:r>
            <a:r>
              <a:rPr lang="en-US" sz="1600" b="0" dirty="0">
                <a:solidFill>
                  <a:srgbClr val="808080"/>
                </a:solidFill>
                <a:highlight>
                  <a:srgbClr val="FFFFFF"/>
                </a:highlight>
              </a:rPr>
              <a:t>'</a:t>
            </a:r>
            <a:r>
              <a:rPr lang="en-US" sz="1600" b="1" dirty="0">
                <a:solidFill>
                  <a:srgbClr val="000080"/>
                </a:solidFill>
                <a:highlight>
                  <a:srgbClr val="FFFFFF"/>
                </a:highlight>
              </a:rPr>
              <a:t>),</a:t>
            </a:r>
            <a:endParaRPr lang="en-US" sz="1600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pt-BR" sz="1600" b="0" dirty="0">
                <a:solidFill>
                  <a:srgbClr val="000000"/>
                </a:solidFill>
                <a:highlight>
                  <a:srgbClr val="FFFFFF"/>
                </a:highlight>
              </a:rPr>
              <a:t>    </a:t>
            </a:r>
            <a:r>
              <a:rPr lang="pt-BR" sz="1600" b="0" dirty="0" err="1">
                <a:solidFill>
                  <a:srgbClr val="000000"/>
                </a:solidFill>
                <a:highlight>
                  <a:srgbClr val="FFFFFF"/>
                </a:highlight>
              </a:rPr>
              <a:t>tf</a:t>
            </a:r>
            <a:r>
              <a:rPr lang="pt-BR" sz="1600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sz="1600" b="0" dirty="0" err="1">
                <a:solidFill>
                  <a:srgbClr val="000000"/>
                </a:solidFill>
                <a:highlight>
                  <a:srgbClr val="FFFFFF"/>
                </a:highlight>
              </a:rPr>
              <a:t>keras</a:t>
            </a:r>
            <a:r>
              <a:rPr lang="pt-BR" sz="1600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sz="1600" b="0" dirty="0" err="1">
                <a:solidFill>
                  <a:srgbClr val="000000"/>
                </a:solidFill>
                <a:highlight>
                  <a:srgbClr val="FFFFFF"/>
                </a:highlight>
              </a:rPr>
              <a:t>layers</a:t>
            </a:r>
            <a:r>
              <a:rPr lang="pt-BR" sz="1600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sz="1600" b="0" dirty="0" err="1">
                <a:solidFill>
                  <a:srgbClr val="000000"/>
                </a:solidFill>
                <a:highlight>
                  <a:srgbClr val="FFFFFF"/>
                </a:highlight>
              </a:rPr>
              <a:t>Dense</a:t>
            </a:r>
            <a:r>
              <a:rPr lang="pt-BR" sz="1600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pt-BR" sz="1600" b="0" dirty="0" err="1">
                <a:solidFill>
                  <a:srgbClr val="000000"/>
                </a:solidFill>
                <a:highlight>
                  <a:srgbClr val="FFFFFF"/>
                </a:highlight>
              </a:rPr>
              <a:t>units</a:t>
            </a:r>
            <a:r>
              <a:rPr lang="pt-BR" sz="1600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pt-BR" sz="1600" b="0" dirty="0">
                <a:solidFill>
                  <a:srgbClr val="FF0000"/>
                </a:solidFill>
                <a:highlight>
                  <a:srgbClr val="FFFFFF"/>
                </a:highlight>
              </a:rPr>
              <a:t>10</a:t>
            </a:r>
            <a:r>
              <a:rPr lang="pt-BR" sz="1600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pt-BR" sz="1600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sz="1600" b="0" dirty="0" err="1">
                <a:solidFill>
                  <a:srgbClr val="000000"/>
                </a:solidFill>
                <a:highlight>
                  <a:srgbClr val="FFFFFF"/>
                </a:highlight>
              </a:rPr>
              <a:t>activation</a:t>
            </a:r>
            <a:r>
              <a:rPr lang="pt-BR" sz="1600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pt-BR" sz="1600" b="0" dirty="0">
                <a:solidFill>
                  <a:srgbClr val="808080"/>
                </a:solidFill>
                <a:highlight>
                  <a:srgbClr val="FFFFFF"/>
                </a:highlight>
              </a:rPr>
              <a:t>'softmax'</a:t>
            </a:r>
            <a:r>
              <a:rPr lang="pt-BR" sz="1600" b="1" dirty="0">
                <a:solidFill>
                  <a:srgbClr val="000080"/>
                </a:solidFill>
                <a:highlight>
                  <a:srgbClr val="FFFFFF"/>
                </a:highlight>
              </a:rPr>
              <a:t>)</a:t>
            </a:r>
            <a:endParaRPr lang="pt-BR" sz="1600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pt-BR" sz="1600" b="1" dirty="0">
                <a:solidFill>
                  <a:srgbClr val="000080"/>
                </a:solidFill>
                <a:highlight>
                  <a:srgbClr val="FFFFFF"/>
                </a:highlight>
              </a:rPr>
              <a:t>])</a:t>
            </a:r>
            <a:endParaRPr lang="pt-BR" sz="1600" dirty="0"/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25888ADB-0046-2C1F-8E28-8D926C910A32}"/>
              </a:ext>
            </a:extLst>
          </p:cNvPr>
          <p:cNvSpPr/>
          <p:nvPr/>
        </p:nvSpPr>
        <p:spPr>
          <a:xfrm>
            <a:off x="1066574" y="2713705"/>
            <a:ext cx="2423878" cy="28288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9" name="Retângulo 8">
            <a:extLst>
              <a:ext uri="{FF2B5EF4-FFF2-40B4-BE49-F238E27FC236}">
                <a16:creationId xmlns:a16="http://schemas.microsoft.com/office/drawing/2014/main" id="{5EFA6913-C8D3-59C9-EE62-7E41CF665E27}"/>
              </a:ext>
            </a:extLst>
          </p:cNvPr>
          <p:cNvSpPr/>
          <p:nvPr/>
        </p:nvSpPr>
        <p:spPr>
          <a:xfrm>
            <a:off x="1066574" y="4624449"/>
            <a:ext cx="2423878" cy="28288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0" name="Retângulo 9">
            <a:extLst>
              <a:ext uri="{FF2B5EF4-FFF2-40B4-BE49-F238E27FC236}">
                <a16:creationId xmlns:a16="http://schemas.microsoft.com/office/drawing/2014/main" id="{43FAD2FC-3DF8-542B-885A-2BF9B5E596BD}"/>
              </a:ext>
            </a:extLst>
          </p:cNvPr>
          <p:cNvSpPr/>
          <p:nvPr/>
        </p:nvSpPr>
        <p:spPr>
          <a:xfrm>
            <a:off x="1066574" y="3678786"/>
            <a:ext cx="2423878" cy="28288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62A0072B-F3A7-BAF5-7830-D40C471AD27C}"/>
              </a:ext>
            </a:extLst>
          </p:cNvPr>
          <p:cNvSpPr txBox="1"/>
          <p:nvPr/>
        </p:nvSpPr>
        <p:spPr>
          <a:xfrm>
            <a:off x="9161608" y="2404440"/>
            <a:ext cx="242387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/>
              <a:t>Probabilidade de descarte dos nós ou conexões da camada.</a:t>
            </a:r>
          </a:p>
        </p:txBody>
      </p:sp>
      <p:cxnSp>
        <p:nvCxnSpPr>
          <p:cNvPr id="11" name="Conector de Seta Reta 10">
            <a:extLst>
              <a:ext uri="{FF2B5EF4-FFF2-40B4-BE49-F238E27FC236}">
                <a16:creationId xmlns:a16="http://schemas.microsoft.com/office/drawing/2014/main" id="{AD03D0B2-381C-F0E3-99AE-D3B6E9076560}"/>
              </a:ext>
            </a:extLst>
          </p:cNvPr>
          <p:cNvCxnSpPr>
            <a:cxnSpLocks/>
          </p:cNvCxnSpPr>
          <p:nvPr/>
        </p:nvCxnSpPr>
        <p:spPr>
          <a:xfrm>
            <a:off x="3322320" y="2855146"/>
            <a:ext cx="5949172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8245615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766F209-3E3E-0136-4083-293C5897A4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evitar o sobreajuste?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2294B5F-B438-34E2-4845-29E47EF0DE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18608" y="1825624"/>
            <a:ext cx="5763802" cy="5032375"/>
          </a:xfrm>
        </p:spPr>
        <p:txBody>
          <a:bodyPr>
            <a:normAutofit/>
          </a:bodyPr>
          <a:lstStyle/>
          <a:p>
            <a:r>
              <a:rPr lang="pt-BR" b="1" i="0" dirty="0">
                <a:effectLst/>
              </a:rPr>
              <a:t>Aumentar artificialmente os dados (</a:t>
            </a:r>
            <a:r>
              <a:rPr lang="pt-BR" b="1" i="1" dirty="0">
                <a:effectLst/>
              </a:rPr>
              <a:t>Data Augmentation</a:t>
            </a:r>
            <a:r>
              <a:rPr lang="pt-BR" b="1" i="0" dirty="0">
                <a:effectLst/>
              </a:rPr>
              <a:t>):</a:t>
            </a:r>
            <a:r>
              <a:rPr lang="pt-BR" b="0" i="0" dirty="0">
                <a:effectLst/>
              </a:rPr>
              <a:t> O objetivo é </a:t>
            </a:r>
            <a:r>
              <a:rPr lang="pt-BR" b="1" i="1" dirty="0">
                <a:solidFill>
                  <a:srgbClr val="00B050"/>
                </a:solidFill>
                <a:effectLst/>
              </a:rPr>
              <a:t>aumentar</a:t>
            </a:r>
            <a:r>
              <a:rPr lang="pt-BR" b="0" i="0" dirty="0">
                <a:effectLst/>
              </a:rPr>
              <a:t> a </a:t>
            </a:r>
            <a:r>
              <a:rPr lang="pt-BR" b="1" i="1" dirty="0">
                <a:solidFill>
                  <a:srgbClr val="00B0F0"/>
                </a:solidFill>
                <a:effectLst/>
              </a:rPr>
              <a:t>variedade</a:t>
            </a:r>
            <a:r>
              <a:rPr lang="pt-BR" b="0" i="0" dirty="0">
                <a:effectLst/>
              </a:rPr>
              <a:t> e a </a:t>
            </a:r>
            <a:r>
              <a:rPr lang="pt-BR" b="1" i="1" dirty="0">
                <a:solidFill>
                  <a:srgbClr val="00B0F0"/>
                </a:solidFill>
                <a:effectLst/>
              </a:rPr>
              <a:t>diversidade</a:t>
            </a:r>
            <a:r>
              <a:rPr lang="pt-BR" b="0" i="0" dirty="0">
                <a:effectLst/>
              </a:rPr>
              <a:t> dos dados de treinamento </a:t>
            </a:r>
            <a:r>
              <a:rPr lang="pt-BR" b="1" i="1" dirty="0">
                <a:solidFill>
                  <a:srgbClr val="7030A0"/>
                </a:solidFill>
                <a:effectLst/>
              </a:rPr>
              <a:t>criando novos exemplos a partir dos dados existentes</a:t>
            </a:r>
            <a:r>
              <a:rPr lang="pt-BR" b="0" i="0" dirty="0">
                <a:effectLst/>
              </a:rPr>
              <a:t>.</a:t>
            </a:r>
          </a:p>
          <a:p>
            <a:r>
              <a:rPr lang="pt-BR" b="0" i="0" dirty="0">
                <a:effectLst/>
              </a:rPr>
              <a:t>Essa técnica ajuda a melhorar o desempenho do modelo, tornando-o mais </a:t>
            </a:r>
            <a:r>
              <a:rPr lang="pt-BR" b="1" i="1" dirty="0">
                <a:solidFill>
                  <a:srgbClr val="00B050"/>
                </a:solidFill>
                <a:effectLst/>
              </a:rPr>
              <a:t>robusto</a:t>
            </a:r>
            <a:r>
              <a:rPr lang="pt-BR" b="0" i="0" dirty="0">
                <a:effectLst/>
              </a:rPr>
              <a:t> e capaz de </a:t>
            </a:r>
            <a:r>
              <a:rPr lang="pt-BR" b="1" i="1" dirty="0">
                <a:solidFill>
                  <a:srgbClr val="00B050"/>
                </a:solidFill>
                <a:effectLst/>
              </a:rPr>
              <a:t>generalizar melhor</a:t>
            </a:r>
            <a:r>
              <a:rPr lang="pt-BR" b="0" i="0" dirty="0">
                <a:effectLst/>
              </a:rPr>
              <a:t>. </a:t>
            </a:r>
          </a:p>
        </p:txBody>
      </p:sp>
      <p:pic>
        <p:nvPicPr>
          <p:cNvPr id="4" name="Picture 2" descr="Data Augmentation for Computer Vision | by TagX | Medium">
            <a:extLst>
              <a:ext uri="{FF2B5EF4-FFF2-40B4-BE49-F238E27FC236}">
                <a16:creationId xmlns:a16="http://schemas.microsoft.com/office/drawing/2014/main" id="{5692B4E6-B888-E061-A50A-821892C9DA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8134" y="2463502"/>
            <a:ext cx="5857866" cy="32950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BB7DEDA5-F84D-C921-70EB-FD505F8C918F}"/>
              </a:ext>
            </a:extLst>
          </p:cNvPr>
          <p:cNvSpPr txBox="1"/>
          <p:nvPr/>
        </p:nvSpPr>
        <p:spPr>
          <a:xfrm>
            <a:off x="8187865" y="6581000"/>
            <a:ext cx="411715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200" dirty="0">
                <a:hlinkClick r:id="rId4"/>
              </a:rPr>
              <a:t>Exemplo: </a:t>
            </a:r>
            <a:r>
              <a:rPr lang="pt-BR" sz="1200" dirty="0" err="1">
                <a:hlinkClick r:id="rId4"/>
              </a:rPr>
              <a:t>Treinamento_com_e_sem_data_augmentation.ipynb</a:t>
            </a:r>
            <a:endParaRPr lang="pt-BR" sz="1200" dirty="0"/>
          </a:p>
        </p:txBody>
      </p:sp>
    </p:spTree>
    <p:extLst>
      <p:ext uri="{BB962C8B-B14F-4D97-AF65-F5344CB8AC3E}">
        <p14:creationId xmlns:p14="http://schemas.microsoft.com/office/powerpoint/2010/main" val="151810770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766F209-3E3E-0136-4083-293C5897A4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evitar o sobreajuste?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2294B5F-B438-34E2-4845-29E47EF0DE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1825624"/>
            <a:ext cx="5986410" cy="5032375"/>
          </a:xfrm>
        </p:spPr>
        <p:txBody>
          <a:bodyPr>
            <a:normAutofit/>
          </a:bodyPr>
          <a:lstStyle/>
          <a:p>
            <a:r>
              <a:rPr lang="pt-BR" dirty="0"/>
              <a:t>Quando o problema envolve </a:t>
            </a:r>
            <a:r>
              <a:rPr lang="pt-BR" b="1" i="1" dirty="0">
                <a:solidFill>
                  <a:srgbClr val="00B050"/>
                </a:solidFill>
              </a:rPr>
              <a:t>imagens</a:t>
            </a:r>
            <a:r>
              <a:rPr lang="pt-BR" dirty="0"/>
              <a:t>, podemos aplicar </a:t>
            </a:r>
            <a:r>
              <a:rPr lang="pt-BR" b="1" i="1" dirty="0">
                <a:solidFill>
                  <a:srgbClr val="00B050"/>
                </a:solidFill>
                <a:effectLst/>
              </a:rPr>
              <a:t>transformações</a:t>
            </a:r>
            <a:r>
              <a:rPr lang="pt-BR" b="0" i="0" dirty="0">
                <a:effectLst/>
              </a:rPr>
              <a:t>, como </a:t>
            </a:r>
            <a:r>
              <a:rPr lang="pt-BR" b="1" i="1" dirty="0">
                <a:solidFill>
                  <a:srgbClr val="00B050"/>
                </a:solidFill>
                <a:effectLst/>
              </a:rPr>
              <a:t>rotação</a:t>
            </a:r>
            <a:r>
              <a:rPr lang="pt-BR" b="0" i="0" dirty="0">
                <a:effectLst/>
              </a:rPr>
              <a:t>, </a:t>
            </a:r>
            <a:r>
              <a:rPr lang="pt-BR" b="1" i="1" dirty="0">
                <a:solidFill>
                  <a:srgbClr val="00B050"/>
                </a:solidFill>
                <a:effectLst/>
              </a:rPr>
              <a:t>espelhamento</a:t>
            </a:r>
            <a:r>
              <a:rPr lang="pt-BR" b="0" i="0" dirty="0">
                <a:effectLst/>
              </a:rPr>
              <a:t> e </a:t>
            </a:r>
            <a:r>
              <a:rPr lang="pt-BR" b="1" i="1" dirty="0">
                <a:solidFill>
                  <a:srgbClr val="00B050"/>
                </a:solidFill>
                <a:effectLst/>
              </a:rPr>
              <a:t>corte</a:t>
            </a:r>
            <a:r>
              <a:rPr lang="pt-BR" b="0" i="0" dirty="0">
                <a:effectLst/>
              </a:rPr>
              <a:t>, modificação do </a:t>
            </a:r>
            <a:r>
              <a:rPr lang="pt-BR" b="1" i="1" dirty="0">
                <a:solidFill>
                  <a:srgbClr val="00B050"/>
                </a:solidFill>
                <a:effectLst/>
              </a:rPr>
              <a:t>brilho</a:t>
            </a:r>
            <a:r>
              <a:rPr lang="pt-BR" b="0" i="0" dirty="0">
                <a:effectLst/>
              </a:rPr>
              <a:t>, adição de </a:t>
            </a:r>
            <a:r>
              <a:rPr lang="pt-BR" b="1" i="1" dirty="0">
                <a:solidFill>
                  <a:srgbClr val="00B050"/>
                </a:solidFill>
                <a:effectLst/>
              </a:rPr>
              <a:t>ruído</a:t>
            </a:r>
            <a:r>
              <a:rPr lang="pt-BR" b="0" i="0" dirty="0">
                <a:effectLst/>
              </a:rPr>
              <a:t>, </a:t>
            </a:r>
            <a:r>
              <a:rPr lang="pt-BR" b="1" i="1" dirty="0">
                <a:solidFill>
                  <a:srgbClr val="00B050"/>
                </a:solidFill>
                <a:effectLst/>
              </a:rPr>
              <a:t>desfoque</a:t>
            </a:r>
            <a:r>
              <a:rPr lang="pt-BR" b="0" i="0" dirty="0">
                <a:effectLst/>
              </a:rPr>
              <a:t>, etc.</a:t>
            </a:r>
          </a:p>
          <a:p>
            <a:r>
              <a:rPr lang="pt-BR" dirty="0"/>
              <a:t>O </a:t>
            </a:r>
            <a:r>
              <a:rPr lang="pt-BR" b="1" i="1" dirty="0">
                <a:solidFill>
                  <a:srgbClr val="00B050"/>
                </a:solidFill>
              </a:rPr>
              <a:t>data a</a:t>
            </a:r>
            <a:r>
              <a:rPr lang="pt-BR" b="1" i="1" dirty="0">
                <a:solidFill>
                  <a:srgbClr val="00B050"/>
                </a:solidFill>
                <a:effectLst/>
              </a:rPr>
              <a:t>ugmentation</a:t>
            </a:r>
            <a:r>
              <a:rPr lang="pt-BR" b="1" i="1" dirty="0">
                <a:solidFill>
                  <a:srgbClr val="00B050"/>
                </a:solidFill>
              </a:rPr>
              <a:t> torna </a:t>
            </a:r>
            <a:r>
              <a:rPr lang="pt-BR" b="1" i="1" dirty="0" err="1">
                <a:solidFill>
                  <a:srgbClr val="00B050"/>
                </a:solidFill>
              </a:rPr>
              <a:t>CNNs</a:t>
            </a:r>
            <a:r>
              <a:rPr lang="pt-BR" b="1" i="1" dirty="0">
                <a:solidFill>
                  <a:srgbClr val="00B050"/>
                </a:solidFill>
              </a:rPr>
              <a:t> </a:t>
            </a:r>
            <a:r>
              <a:rPr lang="pt-BR" b="1" i="1" dirty="0">
                <a:solidFill>
                  <a:srgbClr val="7030A0"/>
                </a:solidFill>
              </a:rPr>
              <a:t>robustas à rotação das imagens</a:t>
            </a:r>
            <a:r>
              <a:rPr lang="pt-BR" dirty="0"/>
              <a:t>, pois a rede é treinada com a </a:t>
            </a:r>
            <a:r>
              <a:rPr lang="pt-BR" b="1" i="1" dirty="0"/>
              <a:t>mesma imagem com diferentes rotações</a:t>
            </a:r>
            <a:r>
              <a:rPr lang="pt-BR" dirty="0"/>
              <a:t>.</a:t>
            </a:r>
          </a:p>
          <a:p>
            <a:r>
              <a:rPr lang="pt-BR" b="0" i="0" dirty="0">
                <a:effectLst/>
              </a:rPr>
              <a:t>Assim a rede aprende a </a:t>
            </a:r>
            <a:r>
              <a:rPr lang="pt-BR" b="1" i="1" dirty="0">
                <a:solidFill>
                  <a:srgbClr val="00B050"/>
                </a:solidFill>
                <a:effectLst/>
              </a:rPr>
              <a:t>reconhecer padrões </a:t>
            </a:r>
            <a:r>
              <a:rPr lang="pt-BR" b="1" i="1" dirty="0">
                <a:solidFill>
                  <a:srgbClr val="7030A0"/>
                </a:solidFill>
                <a:effectLst/>
              </a:rPr>
              <a:t>independentemente da orientação</a:t>
            </a:r>
            <a:r>
              <a:rPr lang="pt-BR" b="0" i="0" dirty="0">
                <a:effectLst/>
              </a:rPr>
              <a:t>.</a:t>
            </a:r>
          </a:p>
        </p:txBody>
      </p:sp>
      <p:pic>
        <p:nvPicPr>
          <p:cNvPr id="1026" name="Picture 2" descr="Data Augmentation for Computer Vision | by TagX | Medium">
            <a:extLst>
              <a:ext uri="{FF2B5EF4-FFF2-40B4-BE49-F238E27FC236}">
                <a16:creationId xmlns:a16="http://schemas.microsoft.com/office/drawing/2014/main" id="{FB7D8235-3582-6BF9-817B-5D611675B4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591" y="2495775"/>
            <a:ext cx="5857866" cy="32950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6909683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766F209-3E3E-0136-4083-293C5897A4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/>
              <a:t>Data augmentation </a:t>
            </a:r>
            <a:r>
              <a:rPr lang="pt-BR" dirty="0"/>
              <a:t>com Tensorflow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2294B5F-B438-34E2-4845-29E47EF0DE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53539" y="1825624"/>
            <a:ext cx="6128871" cy="5032375"/>
          </a:xfrm>
        </p:spPr>
        <p:txBody>
          <a:bodyPr>
            <a:normAutofit lnSpcReduction="10000"/>
          </a:bodyPr>
          <a:lstStyle/>
          <a:p>
            <a:r>
              <a:rPr lang="pt-BR" b="0" i="0" dirty="0">
                <a:effectLst/>
              </a:rPr>
              <a:t>O Tensorflow possui </a:t>
            </a:r>
            <a:r>
              <a:rPr lang="pt-BR" dirty="0"/>
              <a:t>várias </a:t>
            </a:r>
            <a:r>
              <a:rPr lang="pt-BR" b="1" i="1" dirty="0">
                <a:solidFill>
                  <a:srgbClr val="7030A0"/>
                </a:solidFill>
              </a:rPr>
              <a:t>camadas</a:t>
            </a:r>
            <a:r>
              <a:rPr lang="pt-BR" dirty="0"/>
              <a:t> que podem ser usadas </a:t>
            </a:r>
            <a:r>
              <a:rPr lang="pt-BR" b="0" i="0" dirty="0">
                <a:effectLst/>
              </a:rPr>
              <a:t>para criar novas imagens a partir das existentes: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/>
              <a:t>tf.keras.layers.RandomCrop</a:t>
            </a:r>
            <a:r>
              <a:rPr lang="pt-BR" dirty="0"/>
              <a:t>(),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/>
              <a:t>tf.keras.layers.RandomZoom</a:t>
            </a:r>
            <a:r>
              <a:rPr lang="pt-BR" dirty="0"/>
              <a:t>(),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/>
              <a:t>tf.keras.layers.RandomFlip</a:t>
            </a:r>
            <a:r>
              <a:rPr lang="pt-BR" dirty="0"/>
              <a:t>(),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/>
              <a:t>tf.keras.layers.RandomRotation</a:t>
            </a:r>
            <a:r>
              <a:rPr lang="pt-BR" dirty="0"/>
              <a:t>(), etc.</a:t>
            </a:r>
          </a:p>
          <a:p>
            <a:r>
              <a:rPr lang="pt-BR" b="0" i="0" dirty="0">
                <a:effectLst/>
              </a:rPr>
              <a:t>Essas camadas podem ser </a:t>
            </a:r>
            <a:r>
              <a:rPr lang="pt-BR" b="1" i="1" dirty="0">
                <a:solidFill>
                  <a:srgbClr val="7030A0"/>
                </a:solidFill>
                <a:effectLst/>
              </a:rPr>
              <a:t>adicionadas como camadas iniciais em um modelo </a:t>
            </a:r>
            <a:r>
              <a:rPr lang="pt-BR" b="0" i="0" dirty="0">
                <a:effectLst/>
              </a:rPr>
              <a:t>e o TensorFlow cuidará automaticamente do pré-processamento durante o treinamento e as </a:t>
            </a:r>
            <a:r>
              <a:rPr lang="pt-BR" b="1" i="1" dirty="0">
                <a:solidFill>
                  <a:srgbClr val="00B050"/>
                </a:solidFill>
                <a:effectLst/>
              </a:rPr>
              <a:t>desligará</a:t>
            </a:r>
            <a:r>
              <a:rPr lang="pt-BR" b="0" i="0" dirty="0">
                <a:effectLst/>
              </a:rPr>
              <a:t> durante a inferência.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1C36DA5E-2BA2-E248-545D-D53ECB51FE80}"/>
              </a:ext>
            </a:extLst>
          </p:cNvPr>
          <p:cNvSpPr txBox="1"/>
          <p:nvPr/>
        </p:nvSpPr>
        <p:spPr>
          <a:xfrm>
            <a:off x="89703" y="1825624"/>
            <a:ext cx="6336146" cy="16004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400" dirty="0" err="1">
                <a:solidFill>
                  <a:srgbClr val="000000"/>
                </a:solidFill>
                <a:highlight>
                  <a:srgbClr val="FFFFFF"/>
                </a:highlight>
              </a:rPr>
              <a:t>data_augmentation</a:t>
            </a:r>
            <a:r>
              <a:rPr lang="pt-BR" sz="140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sz="1400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pt-BR" sz="1400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sz="1400" b="0" dirty="0" err="1">
                <a:solidFill>
                  <a:srgbClr val="000000"/>
                </a:solidFill>
                <a:highlight>
                  <a:srgbClr val="FFFFFF"/>
                </a:highlight>
              </a:rPr>
              <a:t>keras</a:t>
            </a:r>
            <a:r>
              <a:rPr lang="pt-BR" sz="1400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sz="1400" b="0" dirty="0" err="1">
                <a:solidFill>
                  <a:srgbClr val="000000"/>
                </a:solidFill>
                <a:highlight>
                  <a:srgbClr val="FFFFFF"/>
                </a:highlight>
              </a:rPr>
              <a:t>Sequential</a:t>
            </a:r>
            <a:r>
              <a:rPr lang="pt-BR" sz="1400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endParaRPr lang="pt-BR" sz="1400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pt-BR" sz="1400" b="0" dirty="0">
                <a:solidFill>
                  <a:srgbClr val="000000"/>
                </a:solidFill>
                <a:highlight>
                  <a:srgbClr val="FFFFFF"/>
                </a:highlight>
              </a:rPr>
              <a:t>  </a:t>
            </a:r>
            <a:r>
              <a:rPr lang="pt-BR" sz="1400" b="1" dirty="0">
                <a:solidFill>
                  <a:srgbClr val="000080"/>
                </a:solidFill>
                <a:highlight>
                  <a:srgbClr val="FFFFFF"/>
                </a:highlight>
              </a:rPr>
              <a:t>[</a:t>
            </a:r>
            <a:endParaRPr lang="pt-BR" sz="1400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pt-BR" sz="1400" b="0" dirty="0">
                <a:solidFill>
                  <a:srgbClr val="000000"/>
                </a:solidFill>
                <a:highlight>
                  <a:srgbClr val="FFFFFF"/>
                </a:highlight>
              </a:rPr>
              <a:t>    </a:t>
            </a:r>
            <a:r>
              <a:rPr lang="pt-BR" sz="1400" b="0" dirty="0" err="1">
                <a:solidFill>
                  <a:srgbClr val="000000"/>
                </a:solidFill>
                <a:highlight>
                  <a:srgbClr val="FFFFFF"/>
                </a:highlight>
              </a:rPr>
              <a:t>layers</a:t>
            </a:r>
            <a:r>
              <a:rPr lang="pt-BR" sz="1400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sz="1400" b="0" dirty="0" err="1">
                <a:solidFill>
                  <a:srgbClr val="000000"/>
                </a:solidFill>
                <a:highlight>
                  <a:srgbClr val="FFFFFF"/>
                </a:highlight>
              </a:rPr>
              <a:t>RandomFlip</a:t>
            </a:r>
            <a:r>
              <a:rPr lang="pt-BR" sz="1400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pt-BR" sz="1400" b="0" dirty="0">
                <a:solidFill>
                  <a:srgbClr val="808080"/>
                </a:solidFill>
                <a:highlight>
                  <a:srgbClr val="FFFFFF"/>
                </a:highlight>
              </a:rPr>
              <a:t>"horizontal"</a:t>
            </a:r>
            <a:r>
              <a:rPr lang="pt-BR" sz="1400" b="1" dirty="0">
                <a:solidFill>
                  <a:srgbClr val="000080"/>
                </a:solidFill>
                <a:highlight>
                  <a:srgbClr val="FFFFFF"/>
                </a:highlight>
              </a:rPr>
              <a:t>, </a:t>
            </a:r>
            <a:r>
              <a:rPr lang="pt-BR" sz="1400" b="0" dirty="0" err="1">
                <a:solidFill>
                  <a:srgbClr val="000000"/>
                </a:solidFill>
                <a:highlight>
                  <a:srgbClr val="FFFFFF"/>
                </a:highlight>
              </a:rPr>
              <a:t>input_shape</a:t>
            </a:r>
            <a:r>
              <a:rPr lang="pt-BR" sz="1400" b="1" dirty="0">
                <a:solidFill>
                  <a:srgbClr val="000080"/>
                </a:solidFill>
                <a:highlight>
                  <a:srgbClr val="FFFFFF"/>
                </a:highlight>
              </a:rPr>
              <a:t>=(</a:t>
            </a:r>
            <a:r>
              <a:rPr lang="pt-BR" sz="1400" b="0" dirty="0" err="1">
                <a:solidFill>
                  <a:srgbClr val="000000"/>
                </a:solidFill>
                <a:highlight>
                  <a:srgbClr val="FFFFFF"/>
                </a:highlight>
              </a:rPr>
              <a:t>img_height</a:t>
            </a:r>
            <a:r>
              <a:rPr lang="pt-BR" sz="1400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pt-BR" sz="1400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sz="1400" b="0" dirty="0" err="1">
                <a:solidFill>
                  <a:srgbClr val="000000"/>
                </a:solidFill>
                <a:highlight>
                  <a:srgbClr val="FFFFFF"/>
                </a:highlight>
              </a:rPr>
              <a:t>img_width</a:t>
            </a:r>
            <a:r>
              <a:rPr lang="pt-BR" sz="1400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pt-BR" sz="1400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sz="1400" b="0" dirty="0">
                <a:solidFill>
                  <a:srgbClr val="FF0000"/>
                </a:solidFill>
                <a:highlight>
                  <a:srgbClr val="FFFFFF"/>
                </a:highlight>
              </a:rPr>
              <a:t>3</a:t>
            </a:r>
            <a:r>
              <a:rPr lang="pt-BR" sz="1400" b="1" dirty="0">
                <a:solidFill>
                  <a:srgbClr val="000080"/>
                </a:solidFill>
                <a:highlight>
                  <a:srgbClr val="FFFFFF"/>
                </a:highlight>
              </a:rPr>
              <a:t>)),</a:t>
            </a:r>
            <a:endParaRPr lang="pt-BR" sz="1400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pt-BR" sz="1400" b="0" dirty="0">
                <a:solidFill>
                  <a:srgbClr val="000000"/>
                </a:solidFill>
                <a:highlight>
                  <a:srgbClr val="FFFFFF"/>
                </a:highlight>
              </a:rPr>
              <a:t>    </a:t>
            </a:r>
            <a:r>
              <a:rPr lang="pt-BR" sz="1400" b="0" dirty="0" err="1">
                <a:solidFill>
                  <a:srgbClr val="000000"/>
                </a:solidFill>
                <a:highlight>
                  <a:srgbClr val="FFFFFF"/>
                </a:highlight>
              </a:rPr>
              <a:t>layers</a:t>
            </a:r>
            <a:r>
              <a:rPr lang="pt-BR" sz="1400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sz="1400" b="0" dirty="0" err="1">
                <a:solidFill>
                  <a:srgbClr val="000000"/>
                </a:solidFill>
                <a:highlight>
                  <a:srgbClr val="FFFFFF"/>
                </a:highlight>
              </a:rPr>
              <a:t>RandomRotation</a:t>
            </a:r>
            <a:r>
              <a:rPr lang="pt-BR" sz="1400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pt-BR" sz="1400" b="0" dirty="0">
                <a:solidFill>
                  <a:srgbClr val="FF0000"/>
                </a:solidFill>
                <a:highlight>
                  <a:srgbClr val="FFFFFF"/>
                </a:highlight>
              </a:rPr>
              <a:t>0.1</a:t>
            </a:r>
            <a:r>
              <a:rPr lang="pt-BR" sz="1400" b="1" dirty="0">
                <a:solidFill>
                  <a:srgbClr val="000080"/>
                </a:solidFill>
                <a:highlight>
                  <a:srgbClr val="FFFFFF"/>
                </a:highlight>
              </a:rPr>
              <a:t>),</a:t>
            </a:r>
            <a:endParaRPr lang="pt-BR" sz="1400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pt-BR" sz="1400" b="0" dirty="0">
                <a:solidFill>
                  <a:srgbClr val="000000"/>
                </a:solidFill>
                <a:highlight>
                  <a:srgbClr val="FFFFFF"/>
                </a:highlight>
              </a:rPr>
              <a:t>    </a:t>
            </a:r>
            <a:r>
              <a:rPr lang="pt-BR" sz="1400" b="0" dirty="0" err="1">
                <a:solidFill>
                  <a:srgbClr val="000000"/>
                </a:solidFill>
                <a:highlight>
                  <a:srgbClr val="FFFFFF"/>
                </a:highlight>
              </a:rPr>
              <a:t>layers</a:t>
            </a:r>
            <a:r>
              <a:rPr lang="pt-BR" sz="1400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sz="1400" b="0" dirty="0" err="1">
                <a:solidFill>
                  <a:srgbClr val="000000"/>
                </a:solidFill>
                <a:highlight>
                  <a:srgbClr val="FFFFFF"/>
                </a:highlight>
              </a:rPr>
              <a:t>RandomZoom</a:t>
            </a:r>
            <a:r>
              <a:rPr lang="pt-BR" sz="1400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pt-BR" sz="1400" b="0" dirty="0">
                <a:solidFill>
                  <a:srgbClr val="FF0000"/>
                </a:solidFill>
                <a:highlight>
                  <a:srgbClr val="FFFFFF"/>
                </a:highlight>
              </a:rPr>
              <a:t>0.1</a:t>
            </a:r>
            <a:r>
              <a:rPr lang="pt-BR" sz="1400" b="1" dirty="0">
                <a:solidFill>
                  <a:srgbClr val="000080"/>
                </a:solidFill>
                <a:highlight>
                  <a:srgbClr val="FFFFFF"/>
                </a:highlight>
              </a:rPr>
              <a:t>),</a:t>
            </a:r>
            <a:endParaRPr lang="pt-BR" sz="1400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pt-BR" sz="1400" b="0" dirty="0">
                <a:solidFill>
                  <a:srgbClr val="000000"/>
                </a:solidFill>
                <a:highlight>
                  <a:srgbClr val="FFFFFF"/>
                </a:highlight>
              </a:rPr>
              <a:t>  </a:t>
            </a:r>
            <a:r>
              <a:rPr lang="pt-BR" sz="1400" b="1" dirty="0">
                <a:solidFill>
                  <a:srgbClr val="000080"/>
                </a:solidFill>
                <a:highlight>
                  <a:srgbClr val="FFFFFF"/>
                </a:highlight>
              </a:rPr>
              <a:t>]</a:t>
            </a:r>
            <a:endParaRPr lang="pt-BR" sz="1400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pt-BR" sz="1400" b="1" dirty="0">
                <a:solidFill>
                  <a:srgbClr val="000080"/>
                </a:solidFill>
                <a:highlight>
                  <a:srgbClr val="FFFFFF"/>
                </a:highlight>
              </a:rPr>
              <a:t>)</a:t>
            </a:r>
            <a:endParaRPr lang="pt-BR" sz="1400" dirty="0"/>
          </a:p>
        </p:txBody>
      </p:sp>
      <p:pic>
        <p:nvPicPr>
          <p:cNvPr id="1026" name="Picture 2" descr="png">
            <a:extLst>
              <a:ext uri="{FF2B5EF4-FFF2-40B4-BE49-F238E27FC236}">
                <a16:creationId xmlns:a16="http://schemas.microsoft.com/office/drawing/2014/main" id="{C682B81E-8FB9-B056-F838-5063C9F24A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07095" y="3140364"/>
            <a:ext cx="3601616" cy="35883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5645990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766F209-3E3E-0136-4083-293C5897A4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/>
              <a:t>Data augmentation </a:t>
            </a:r>
            <a:r>
              <a:rPr lang="pt-BR" dirty="0"/>
              <a:t>com Tensorflow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2294B5F-B438-34E2-4845-29E47EF0DE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53645" y="1825624"/>
            <a:ext cx="5828766" cy="5032375"/>
          </a:xfrm>
        </p:spPr>
        <p:txBody>
          <a:bodyPr>
            <a:normAutofit/>
          </a:bodyPr>
          <a:lstStyle/>
          <a:p>
            <a:r>
              <a:rPr lang="pt-BR" dirty="0"/>
              <a:t>Além das camadas, o </a:t>
            </a:r>
            <a:r>
              <a:rPr lang="pt-BR" b="0" i="0" dirty="0">
                <a:effectLst/>
              </a:rPr>
              <a:t>Tensorflow possui um módulo de pré-processamento de imagens chamado </a:t>
            </a:r>
            <a:r>
              <a:rPr lang="pt-BR" b="1" i="1" dirty="0" err="1">
                <a:effectLst/>
              </a:rPr>
              <a:t>tf.image</a:t>
            </a:r>
            <a:r>
              <a:rPr lang="pt-BR" b="0" i="0" dirty="0">
                <a:effectLst/>
              </a:rPr>
              <a:t> que contém </a:t>
            </a:r>
            <a:r>
              <a:rPr lang="pt-BR" b="1" i="1" dirty="0">
                <a:solidFill>
                  <a:srgbClr val="7030A0"/>
                </a:solidFill>
                <a:effectLst/>
              </a:rPr>
              <a:t>funções</a:t>
            </a:r>
            <a:r>
              <a:rPr lang="pt-BR" b="0" i="0" dirty="0">
                <a:effectLst/>
              </a:rPr>
              <a:t> que também podem ser usadas para criar novas imagens.</a:t>
            </a:r>
          </a:p>
          <a:p>
            <a:r>
              <a:rPr lang="pt-BR" dirty="0"/>
              <a:t>Elas são usadas para um </a:t>
            </a:r>
            <a:r>
              <a:rPr lang="pt-BR" b="1" i="1" dirty="0">
                <a:solidFill>
                  <a:srgbClr val="00B050"/>
                </a:solidFill>
              </a:rPr>
              <a:t>controle mais preciso</a:t>
            </a:r>
            <a:r>
              <a:rPr lang="pt-BR" dirty="0"/>
              <a:t> do pré-processamento.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3D968FA2-907F-A936-0FB9-FBCC7031AE78}"/>
              </a:ext>
            </a:extLst>
          </p:cNvPr>
          <p:cNvSpPr txBox="1"/>
          <p:nvPr/>
        </p:nvSpPr>
        <p:spPr>
          <a:xfrm>
            <a:off x="1966767" y="1880026"/>
            <a:ext cx="313112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</a:rPr>
              <a:t>flipped </a:t>
            </a:r>
            <a:r>
              <a:rPr lang="en-US" sz="1400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en-US" sz="1400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sz="1400" b="0" dirty="0" err="1">
                <a:solidFill>
                  <a:srgbClr val="000000"/>
                </a:solidFill>
                <a:highlight>
                  <a:srgbClr val="FFFFFF"/>
                </a:highlight>
              </a:rPr>
              <a:t>tf</a:t>
            </a:r>
            <a:r>
              <a:rPr lang="en-US" sz="1400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en-US" sz="1400" b="0" dirty="0" err="1">
                <a:solidFill>
                  <a:srgbClr val="000000"/>
                </a:solidFill>
                <a:highlight>
                  <a:srgbClr val="FFFFFF"/>
                </a:highlight>
              </a:rPr>
              <a:t>image</a:t>
            </a:r>
            <a:r>
              <a:rPr lang="en-US" sz="1400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en-US" sz="1400" b="0" dirty="0" err="1">
                <a:solidFill>
                  <a:srgbClr val="000000"/>
                </a:solidFill>
                <a:highlight>
                  <a:srgbClr val="FFFFFF"/>
                </a:highlight>
              </a:rPr>
              <a:t>flip_left_right</a:t>
            </a:r>
            <a:r>
              <a:rPr lang="en-US" sz="1400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en-US" sz="1400" b="0" dirty="0">
                <a:solidFill>
                  <a:srgbClr val="000000"/>
                </a:solidFill>
                <a:highlight>
                  <a:srgbClr val="FFFFFF"/>
                </a:highlight>
              </a:rPr>
              <a:t>image</a:t>
            </a:r>
            <a:r>
              <a:rPr lang="en-US" sz="1400" b="1" dirty="0">
                <a:solidFill>
                  <a:srgbClr val="000080"/>
                </a:solidFill>
                <a:highlight>
                  <a:srgbClr val="FFFFFF"/>
                </a:highlight>
              </a:rPr>
              <a:t>)</a:t>
            </a:r>
            <a:endParaRPr lang="en-US" sz="1400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pt-BR" sz="1400" b="0" dirty="0">
                <a:solidFill>
                  <a:srgbClr val="000000"/>
                </a:solidFill>
                <a:highlight>
                  <a:srgbClr val="FFFFFF"/>
                </a:highlight>
              </a:rPr>
              <a:t>visualize</a:t>
            </a:r>
            <a:r>
              <a:rPr lang="pt-BR" sz="1400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pt-BR" sz="1400" b="0" dirty="0" err="1">
                <a:solidFill>
                  <a:srgbClr val="000000"/>
                </a:solidFill>
                <a:highlight>
                  <a:srgbClr val="FFFFFF"/>
                </a:highlight>
              </a:rPr>
              <a:t>image</a:t>
            </a:r>
            <a:r>
              <a:rPr lang="pt-BR" sz="1400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pt-BR" sz="1400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sz="1400" b="0" dirty="0" err="1">
                <a:solidFill>
                  <a:srgbClr val="000000"/>
                </a:solidFill>
                <a:highlight>
                  <a:srgbClr val="FFFFFF"/>
                </a:highlight>
              </a:rPr>
              <a:t>flipped</a:t>
            </a:r>
            <a:r>
              <a:rPr lang="pt-BR" sz="1400" b="1" dirty="0">
                <a:solidFill>
                  <a:srgbClr val="000080"/>
                </a:solidFill>
                <a:highlight>
                  <a:srgbClr val="FFFFFF"/>
                </a:highlight>
              </a:rPr>
              <a:t>)</a:t>
            </a:r>
            <a:endParaRPr lang="pt-BR" sz="1400" dirty="0"/>
          </a:p>
        </p:txBody>
      </p:sp>
      <p:pic>
        <p:nvPicPr>
          <p:cNvPr id="2051" name="Picture 3" descr="png">
            <a:extLst>
              <a:ext uri="{FF2B5EF4-FFF2-40B4-BE49-F238E27FC236}">
                <a16:creationId xmlns:a16="http://schemas.microsoft.com/office/drawing/2014/main" id="{D2E157D4-2C63-4035-BFF9-51F204A137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3876" y="2434556"/>
            <a:ext cx="4324927" cy="16923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3" name="Picture 5" descr="png">
            <a:extLst>
              <a:ext uri="{FF2B5EF4-FFF2-40B4-BE49-F238E27FC236}">
                <a16:creationId xmlns:a16="http://schemas.microsoft.com/office/drawing/2014/main" id="{9E28E4D6-8A51-D550-1ED9-41F8AE7BA57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57849" y="4341811"/>
            <a:ext cx="3380509" cy="24741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CaixaDeTexto 7">
            <a:extLst>
              <a:ext uri="{FF2B5EF4-FFF2-40B4-BE49-F238E27FC236}">
                <a16:creationId xmlns:a16="http://schemas.microsoft.com/office/drawing/2014/main" id="{C9E67CF0-3415-EE05-0025-2E6D9FA8DF5D}"/>
              </a:ext>
            </a:extLst>
          </p:cNvPr>
          <p:cNvSpPr txBox="1"/>
          <p:nvPr/>
        </p:nvSpPr>
        <p:spPr>
          <a:xfrm>
            <a:off x="1966767" y="4347567"/>
            <a:ext cx="263194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</a:rPr>
              <a:t>rotated </a:t>
            </a:r>
            <a:r>
              <a:rPr lang="en-US" sz="1400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en-US" sz="1400" b="0" dirty="0">
                <a:solidFill>
                  <a:srgbClr val="000000"/>
                </a:solidFill>
                <a:highlight>
                  <a:srgbClr val="FFFFFF"/>
                </a:highlight>
              </a:rPr>
              <a:t> tf</a:t>
            </a:r>
            <a:r>
              <a:rPr lang="en-US" sz="1400" b="1" dirty="0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en-US" sz="1400" b="0" dirty="0">
                <a:solidFill>
                  <a:srgbClr val="000000"/>
                </a:solidFill>
                <a:highlight>
                  <a:srgbClr val="FFFFFF"/>
                </a:highlight>
              </a:rPr>
              <a:t>image</a:t>
            </a:r>
            <a:r>
              <a:rPr lang="en-US" sz="1400" b="1" dirty="0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en-US" sz="1400" b="0" dirty="0">
                <a:solidFill>
                  <a:srgbClr val="000000"/>
                </a:solidFill>
                <a:highlight>
                  <a:srgbClr val="FFFFFF"/>
                </a:highlight>
              </a:rPr>
              <a:t>rot90</a:t>
            </a:r>
            <a:r>
              <a:rPr lang="en-US" sz="1400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en-US" sz="1400" b="0" dirty="0">
                <a:solidFill>
                  <a:srgbClr val="000000"/>
                </a:solidFill>
                <a:highlight>
                  <a:srgbClr val="FFFFFF"/>
                </a:highlight>
              </a:rPr>
              <a:t>image</a:t>
            </a:r>
            <a:r>
              <a:rPr lang="en-US" sz="1400" b="1" dirty="0">
                <a:solidFill>
                  <a:srgbClr val="000080"/>
                </a:solidFill>
                <a:highlight>
                  <a:srgbClr val="FFFFFF"/>
                </a:highlight>
              </a:rPr>
              <a:t>)</a:t>
            </a:r>
            <a:endParaRPr lang="en-US" sz="1400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pt-BR" sz="1400" b="0" dirty="0">
                <a:solidFill>
                  <a:srgbClr val="000000"/>
                </a:solidFill>
                <a:highlight>
                  <a:srgbClr val="FFFFFF"/>
                </a:highlight>
              </a:rPr>
              <a:t>visualize</a:t>
            </a:r>
            <a:r>
              <a:rPr lang="pt-BR" sz="1400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pt-BR" sz="1400" b="0" dirty="0" err="1">
                <a:solidFill>
                  <a:srgbClr val="000000"/>
                </a:solidFill>
                <a:highlight>
                  <a:srgbClr val="FFFFFF"/>
                </a:highlight>
              </a:rPr>
              <a:t>image</a:t>
            </a:r>
            <a:r>
              <a:rPr lang="pt-BR" sz="1400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pt-BR" sz="1400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sz="1400" b="0" dirty="0" err="1">
                <a:solidFill>
                  <a:srgbClr val="000000"/>
                </a:solidFill>
                <a:highlight>
                  <a:srgbClr val="FFFFFF"/>
                </a:highlight>
              </a:rPr>
              <a:t>rotated</a:t>
            </a:r>
            <a:r>
              <a:rPr lang="pt-BR" sz="1400" b="1" dirty="0">
                <a:solidFill>
                  <a:srgbClr val="000080"/>
                </a:solidFill>
                <a:highlight>
                  <a:srgbClr val="FFFFFF"/>
                </a:highlight>
              </a:rPr>
              <a:t>)</a:t>
            </a:r>
            <a:endParaRPr lang="pt-BR" sz="1400" dirty="0"/>
          </a:p>
        </p:txBody>
      </p:sp>
    </p:spTree>
    <p:extLst>
      <p:ext uri="{BB962C8B-B14F-4D97-AF65-F5344CB8AC3E}">
        <p14:creationId xmlns:p14="http://schemas.microsoft.com/office/powerpoint/2010/main" val="25019804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39B0700-9B3E-5B03-9F91-6AF0EAAFF7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/>
              <a:t>Data </a:t>
            </a:r>
            <a:r>
              <a:rPr lang="pt-BR" i="1" dirty="0" err="1"/>
              <a:t>augmentation</a:t>
            </a:r>
            <a:r>
              <a:rPr lang="pt-BR" i="1"/>
              <a:t> </a:t>
            </a:r>
            <a:r>
              <a:rPr lang="pt-BR"/>
              <a:t>com Tensorflow</a:t>
            </a:r>
          </a:p>
        </p:txBody>
      </p:sp>
      <p:pic>
        <p:nvPicPr>
          <p:cNvPr id="3074" name="Picture 2" descr="png">
            <a:extLst>
              <a:ext uri="{FF2B5EF4-FFF2-40B4-BE49-F238E27FC236}">
                <a16:creationId xmlns:a16="http://schemas.microsoft.com/office/drawing/2014/main" id="{25EF3148-3622-8172-1AAB-58A2B6E686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7609" y="2257808"/>
            <a:ext cx="4753264" cy="18599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829C95C0-18FE-E837-A2FA-27DC9488373C}"/>
              </a:ext>
            </a:extLst>
          </p:cNvPr>
          <p:cNvSpPr txBox="1"/>
          <p:nvPr/>
        </p:nvSpPr>
        <p:spPr>
          <a:xfrm>
            <a:off x="1104900" y="1747346"/>
            <a:ext cx="381461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</a:rPr>
              <a:t>saturated </a:t>
            </a:r>
            <a:r>
              <a:rPr lang="en-US" sz="1400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en-US" sz="1400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sz="1400" b="0" dirty="0" err="1">
                <a:solidFill>
                  <a:srgbClr val="000000"/>
                </a:solidFill>
                <a:highlight>
                  <a:srgbClr val="FFFFFF"/>
                </a:highlight>
              </a:rPr>
              <a:t>tf</a:t>
            </a:r>
            <a:r>
              <a:rPr lang="en-US" sz="1400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en-US" sz="1400" b="0" dirty="0" err="1">
                <a:solidFill>
                  <a:srgbClr val="000000"/>
                </a:solidFill>
                <a:highlight>
                  <a:srgbClr val="FFFFFF"/>
                </a:highlight>
              </a:rPr>
              <a:t>image</a:t>
            </a:r>
            <a:r>
              <a:rPr lang="en-US" sz="1400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en-US" sz="1400" b="0" dirty="0" err="1">
                <a:solidFill>
                  <a:srgbClr val="000000"/>
                </a:solidFill>
                <a:highlight>
                  <a:srgbClr val="FFFFFF"/>
                </a:highlight>
              </a:rPr>
              <a:t>adjust_saturation</a:t>
            </a:r>
            <a:r>
              <a:rPr lang="en-US" sz="1400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en-US" sz="1400" b="0" dirty="0">
                <a:solidFill>
                  <a:srgbClr val="000000"/>
                </a:solidFill>
                <a:highlight>
                  <a:srgbClr val="FFFFFF"/>
                </a:highlight>
              </a:rPr>
              <a:t>image</a:t>
            </a:r>
            <a:r>
              <a:rPr lang="en-US" sz="1400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sz="1400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sz="1400" b="0" dirty="0">
                <a:solidFill>
                  <a:srgbClr val="FF0000"/>
                </a:solidFill>
                <a:highlight>
                  <a:srgbClr val="FFFFFF"/>
                </a:highlight>
              </a:rPr>
              <a:t>3</a:t>
            </a:r>
            <a:r>
              <a:rPr lang="en-US" sz="1400" b="1" dirty="0">
                <a:solidFill>
                  <a:srgbClr val="000080"/>
                </a:solidFill>
                <a:highlight>
                  <a:srgbClr val="FFFFFF"/>
                </a:highlight>
              </a:rPr>
              <a:t>)</a:t>
            </a:r>
            <a:endParaRPr lang="en-US" sz="1400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pt-BR" sz="1400" b="0" dirty="0">
                <a:solidFill>
                  <a:srgbClr val="000000"/>
                </a:solidFill>
                <a:highlight>
                  <a:srgbClr val="FFFFFF"/>
                </a:highlight>
              </a:rPr>
              <a:t>visualize</a:t>
            </a:r>
            <a:r>
              <a:rPr lang="pt-BR" sz="1400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pt-BR" sz="1400" b="0" dirty="0" err="1">
                <a:solidFill>
                  <a:srgbClr val="000000"/>
                </a:solidFill>
                <a:highlight>
                  <a:srgbClr val="FFFFFF"/>
                </a:highlight>
              </a:rPr>
              <a:t>image</a:t>
            </a:r>
            <a:r>
              <a:rPr lang="pt-BR" sz="1400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pt-BR" sz="1400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sz="1400" b="0" dirty="0" err="1">
                <a:solidFill>
                  <a:srgbClr val="000000"/>
                </a:solidFill>
                <a:highlight>
                  <a:srgbClr val="FFFFFF"/>
                </a:highlight>
              </a:rPr>
              <a:t>saturated</a:t>
            </a:r>
            <a:r>
              <a:rPr lang="pt-BR" sz="1400" b="1" dirty="0">
                <a:solidFill>
                  <a:srgbClr val="000080"/>
                </a:solidFill>
                <a:highlight>
                  <a:srgbClr val="FFFFFF"/>
                </a:highlight>
              </a:rPr>
              <a:t>)</a:t>
            </a:r>
            <a:endParaRPr lang="pt-BR" sz="1400" dirty="0"/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F99AE112-4A81-249F-61FC-87A439D9BAAB}"/>
              </a:ext>
            </a:extLst>
          </p:cNvPr>
          <p:cNvSpPr txBox="1"/>
          <p:nvPr/>
        </p:nvSpPr>
        <p:spPr>
          <a:xfrm>
            <a:off x="1224973" y="4253699"/>
            <a:ext cx="369454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</a:rPr>
              <a:t>bright </a:t>
            </a:r>
            <a:r>
              <a:rPr lang="en-US" sz="1400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en-US" sz="1400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sz="1400" b="0" dirty="0" err="1">
                <a:solidFill>
                  <a:srgbClr val="000000"/>
                </a:solidFill>
                <a:highlight>
                  <a:srgbClr val="FFFFFF"/>
                </a:highlight>
              </a:rPr>
              <a:t>tf</a:t>
            </a:r>
            <a:r>
              <a:rPr lang="en-US" sz="1400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en-US" sz="1400" b="0" dirty="0" err="1">
                <a:solidFill>
                  <a:srgbClr val="000000"/>
                </a:solidFill>
                <a:highlight>
                  <a:srgbClr val="FFFFFF"/>
                </a:highlight>
              </a:rPr>
              <a:t>image</a:t>
            </a:r>
            <a:r>
              <a:rPr lang="en-US" sz="1400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en-US" sz="1400" b="0" dirty="0" err="1">
                <a:solidFill>
                  <a:srgbClr val="000000"/>
                </a:solidFill>
                <a:highlight>
                  <a:srgbClr val="FFFFFF"/>
                </a:highlight>
              </a:rPr>
              <a:t>adjust_brightness</a:t>
            </a:r>
            <a:r>
              <a:rPr lang="en-US" sz="1400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en-US" sz="1400" b="0" dirty="0">
                <a:solidFill>
                  <a:srgbClr val="000000"/>
                </a:solidFill>
                <a:highlight>
                  <a:srgbClr val="FFFFFF"/>
                </a:highlight>
              </a:rPr>
              <a:t>image</a:t>
            </a:r>
            <a:r>
              <a:rPr lang="en-US" sz="1400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sz="1400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sz="1400" b="0" dirty="0">
                <a:solidFill>
                  <a:srgbClr val="FF0000"/>
                </a:solidFill>
                <a:highlight>
                  <a:srgbClr val="FFFFFF"/>
                </a:highlight>
              </a:rPr>
              <a:t>0.4</a:t>
            </a:r>
            <a:r>
              <a:rPr lang="en-US" sz="1400" b="1" dirty="0">
                <a:solidFill>
                  <a:srgbClr val="000080"/>
                </a:solidFill>
                <a:highlight>
                  <a:srgbClr val="FFFFFF"/>
                </a:highlight>
              </a:rPr>
              <a:t>)</a:t>
            </a:r>
            <a:endParaRPr lang="en-US" sz="1400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pt-BR" sz="1400" b="0" dirty="0">
                <a:solidFill>
                  <a:srgbClr val="000000"/>
                </a:solidFill>
                <a:highlight>
                  <a:srgbClr val="FFFFFF"/>
                </a:highlight>
              </a:rPr>
              <a:t>visualize</a:t>
            </a:r>
            <a:r>
              <a:rPr lang="pt-BR" sz="1400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pt-BR" sz="1400" b="0" dirty="0" err="1">
                <a:solidFill>
                  <a:srgbClr val="000000"/>
                </a:solidFill>
                <a:highlight>
                  <a:srgbClr val="FFFFFF"/>
                </a:highlight>
              </a:rPr>
              <a:t>image</a:t>
            </a:r>
            <a:r>
              <a:rPr lang="pt-BR" sz="1400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pt-BR" sz="1400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sz="1400" b="0" dirty="0" err="1">
                <a:solidFill>
                  <a:srgbClr val="000000"/>
                </a:solidFill>
                <a:highlight>
                  <a:srgbClr val="FFFFFF"/>
                </a:highlight>
              </a:rPr>
              <a:t>bright</a:t>
            </a:r>
            <a:r>
              <a:rPr lang="pt-BR" sz="1400" b="1" dirty="0">
                <a:solidFill>
                  <a:srgbClr val="000080"/>
                </a:solidFill>
                <a:highlight>
                  <a:srgbClr val="FFFFFF"/>
                </a:highlight>
              </a:rPr>
              <a:t>)</a:t>
            </a:r>
            <a:endParaRPr lang="pt-BR" sz="1400" dirty="0"/>
          </a:p>
        </p:txBody>
      </p:sp>
      <p:pic>
        <p:nvPicPr>
          <p:cNvPr id="3076" name="Picture 4" descr="png">
            <a:extLst>
              <a:ext uri="{FF2B5EF4-FFF2-40B4-BE49-F238E27FC236}">
                <a16:creationId xmlns:a16="http://schemas.microsoft.com/office/drawing/2014/main" id="{4C4D1D85-8669-9771-6467-CBB9B7C9E3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7682" y="4751404"/>
            <a:ext cx="4753264" cy="18599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CaixaDeTexto 10">
            <a:extLst>
              <a:ext uri="{FF2B5EF4-FFF2-40B4-BE49-F238E27FC236}">
                <a16:creationId xmlns:a16="http://schemas.microsoft.com/office/drawing/2014/main" id="{3C899D25-2A06-8FD6-11F7-D9F302FDAFE6}"/>
              </a:ext>
            </a:extLst>
          </p:cNvPr>
          <p:cNvSpPr txBox="1"/>
          <p:nvPr/>
        </p:nvSpPr>
        <p:spPr>
          <a:xfrm>
            <a:off x="6605155" y="1747346"/>
            <a:ext cx="4862945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rgbClr val="0000FF"/>
                </a:solidFill>
                <a:highlight>
                  <a:srgbClr val="FFFFFF"/>
                </a:highlight>
              </a:rPr>
              <a:t>for</a:t>
            </a:r>
            <a:r>
              <a:rPr lang="en-US" sz="1400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sz="1400" b="0" dirty="0" err="1">
                <a:solidFill>
                  <a:srgbClr val="000000"/>
                </a:solidFill>
                <a:highlight>
                  <a:srgbClr val="FFFFFF"/>
                </a:highlight>
              </a:rPr>
              <a:t>i</a:t>
            </a:r>
            <a:r>
              <a:rPr lang="en-US" sz="1400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sz="1400" b="1" dirty="0">
                <a:solidFill>
                  <a:srgbClr val="0000FF"/>
                </a:solidFill>
                <a:highlight>
                  <a:srgbClr val="FFFFFF"/>
                </a:highlight>
              </a:rPr>
              <a:t>in</a:t>
            </a:r>
            <a:r>
              <a:rPr lang="en-US" sz="1400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sz="1400" b="1" dirty="0">
                <a:solidFill>
                  <a:srgbClr val="880088"/>
                </a:solidFill>
                <a:highlight>
                  <a:srgbClr val="FFFFFF"/>
                </a:highlight>
              </a:rPr>
              <a:t>range</a:t>
            </a:r>
            <a:r>
              <a:rPr lang="en-US" sz="1400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en-US" sz="1400" b="0" dirty="0">
                <a:solidFill>
                  <a:srgbClr val="FF0000"/>
                </a:solidFill>
                <a:highlight>
                  <a:srgbClr val="FFFFFF"/>
                </a:highlight>
              </a:rPr>
              <a:t>3</a:t>
            </a:r>
            <a:r>
              <a:rPr lang="en-US" sz="1400" b="1" dirty="0">
                <a:solidFill>
                  <a:srgbClr val="000080"/>
                </a:solidFill>
                <a:highlight>
                  <a:srgbClr val="FFFFFF"/>
                </a:highlight>
              </a:rPr>
              <a:t>):</a:t>
            </a:r>
            <a:endParaRPr lang="en-US" sz="1400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en-US" sz="1400" b="0" dirty="0">
                <a:solidFill>
                  <a:srgbClr val="000000"/>
                </a:solidFill>
                <a:highlight>
                  <a:srgbClr val="FFFFFF"/>
                </a:highlight>
              </a:rPr>
              <a:t>  seed </a:t>
            </a:r>
            <a:r>
              <a:rPr lang="en-US" sz="1400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en-US" sz="1400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sz="1400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en-US" sz="1400" b="0" dirty="0" err="1">
                <a:solidFill>
                  <a:srgbClr val="000000"/>
                </a:solidFill>
                <a:highlight>
                  <a:srgbClr val="FFFFFF"/>
                </a:highlight>
              </a:rPr>
              <a:t>i</a:t>
            </a:r>
            <a:r>
              <a:rPr lang="en-US" sz="1400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sz="1400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sz="1400" b="0" dirty="0">
                <a:solidFill>
                  <a:srgbClr val="FF0000"/>
                </a:solidFill>
                <a:highlight>
                  <a:srgbClr val="FFFFFF"/>
                </a:highlight>
              </a:rPr>
              <a:t>0</a:t>
            </a:r>
            <a:r>
              <a:rPr lang="en-US" sz="1400" b="1" dirty="0">
                <a:solidFill>
                  <a:srgbClr val="000080"/>
                </a:solidFill>
                <a:highlight>
                  <a:srgbClr val="FFFFFF"/>
                </a:highlight>
              </a:rPr>
              <a:t>)</a:t>
            </a:r>
            <a:r>
              <a:rPr lang="en-US" sz="1400" b="0" dirty="0">
                <a:solidFill>
                  <a:srgbClr val="000000"/>
                </a:solidFill>
                <a:highlight>
                  <a:srgbClr val="FFFFFF"/>
                </a:highlight>
              </a:rPr>
              <a:t>  </a:t>
            </a:r>
            <a:r>
              <a:rPr lang="en-US" sz="1400" b="0" dirty="0">
                <a:solidFill>
                  <a:srgbClr val="008000"/>
                </a:solidFill>
                <a:highlight>
                  <a:srgbClr val="FFFFFF"/>
                </a:highlight>
              </a:rPr>
              <a:t># tuple of size (2,)</a:t>
            </a:r>
            <a:endParaRPr lang="en-US" sz="1400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en-US" sz="1400" b="0" dirty="0">
                <a:solidFill>
                  <a:srgbClr val="000000"/>
                </a:solidFill>
                <a:highlight>
                  <a:srgbClr val="FFFFFF"/>
                </a:highlight>
              </a:rPr>
              <a:t>  </a:t>
            </a:r>
            <a:r>
              <a:rPr lang="en-US" sz="1400" b="0" dirty="0" err="1">
                <a:solidFill>
                  <a:srgbClr val="000000"/>
                </a:solidFill>
                <a:highlight>
                  <a:srgbClr val="FFFFFF"/>
                </a:highlight>
              </a:rPr>
              <a:t>stateless_random_crop</a:t>
            </a:r>
            <a:r>
              <a:rPr lang="en-US" sz="1400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sz="1400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en-US" sz="1400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sz="1400" b="0" dirty="0" err="1">
                <a:solidFill>
                  <a:srgbClr val="000000"/>
                </a:solidFill>
                <a:highlight>
                  <a:srgbClr val="FFFFFF"/>
                </a:highlight>
              </a:rPr>
              <a:t>tf</a:t>
            </a:r>
            <a:r>
              <a:rPr lang="en-US" sz="1400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en-US" sz="1400" b="0" dirty="0" err="1">
                <a:solidFill>
                  <a:srgbClr val="000000"/>
                </a:solidFill>
                <a:highlight>
                  <a:srgbClr val="FFFFFF"/>
                </a:highlight>
              </a:rPr>
              <a:t>image</a:t>
            </a:r>
            <a:r>
              <a:rPr lang="en-US" sz="1400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en-US" sz="1400" b="0" dirty="0" err="1">
                <a:solidFill>
                  <a:srgbClr val="000000"/>
                </a:solidFill>
                <a:highlight>
                  <a:srgbClr val="FFFFFF"/>
                </a:highlight>
              </a:rPr>
              <a:t>stateless_random_crop</a:t>
            </a:r>
            <a:r>
              <a:rPr lang="en-US" sz="1400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endParaRPr lang="en-US" sz="1400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en-US" sz="1400" b="0" dirty="0">
                <a:solidFill>
                  <a:srgbClr val="000000"/>
                </a:solidFill>
                <a:highlight>
                  <a:srgbClr val="FFFFFF"/>
                </a:highlight>
              </a:rPr>
              <a:t>      image</a:t>
            </a:r>
            <a:r>
              <a:rPr lang="en-US" sz="1400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sz="1400" b="0" dirty="0">
                <a:solidFill>
                  <a:srgbClr val="000000"/>
                </a:solidFill>
                <a:highlight>
                  <a:srgbClr val="FFFFFF"/>
                </a:highlight>
              </a:rPr>
              <a:t> size</a:t>
            </a:r>
            <a:r>
              <a:rPr lang="en-US" sz="1400" b="1" dirty="0">
                <a:solidFill>
                  <a:srgbClr val="000080"/>
                </a:solidFill>
                <a:highlight>
                  <a:srgbClr val="FFFFFF"/>
                </a:highlight>
              </a:rPr>
              <a:t>=[</a:t>
            </a:r>
            <a:r>
              <a:rPr lang="en-US" sz="1400" b="0" dirty="0">
                <a:solidFill>
                  <a:srgbClr val="FF0000"/>
                </a:solidFill>
                <a:highlight>
                  <a:srgbClr val="FFFFFF"/>
                </a:highlight>
              </a:rPr>
              <a:t>210</a:t>
            </a:r>
            <a:r>
              <a:rPr lang="en-US" sz="1400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sz="1400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sz="1400" b="0" dirty="0">
                <a:solidFill>
                  <a:srgbClr val="FF0000"/>
                </a:solidFill>
                <a:highlight>
                  <a:srgbClr val="FFFFFF"/>
                </a:highlight>
              </a:rPr>
              <a:t>300</a:t>
            </a:r>
            <a:r>
              <a:rPr lang="en-US" sz="1400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sz="1400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sz="1400" b="0" dirty="0">
                <a:solidFill>
                  <a:srgbClr val="FF0000"/>
                </a:solidFill>
                <a:highlight>
                  <a:srgbClr val="FFFFFF"/>
                </a:highlight>
              </a:rPr>
              <a:t>3</a:t>
            </a:r>
            <a:r>
              <a:rPr lang="en-US" sz="1400" b="1" dirty="0">
                <a:solidFill>
                  <a:srgbClr val="000080"/>
                </a:solidFill>
                <a:highlight>
                  <a:srgbClr val="FFFFFF"/>
                </a:highlight>
              </a:rPr>
              <a:t>],</a:t>
            </a:r>
            <a:r>
              <a:rPr lang="en-US" sz="1400" b="0" dirty="0">
                <a:solidFill>
                  <a:srgbClr val="000000"/>
                </a:solidFill>
                <a:highlight>
                  <a:srgbClr val="FFFFFF"/>
                </a:highlight>
              </a:rPr>
              <a:t> seed</a:t>
            </a:r>
            <a:r>
              <a:rPr lang="en-US" sz="1400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en-US" sz="1400" b="0" dirty="0">
                <a:solidFill>
                  <a:srgbClr val="000000"/>
                </a:solidFill>
                <a:highlight>
                  <a:srgbClr val="FFFFFF"/>
                </a:highlight>
              </a:rPr>
              <a:t>seed</a:t>
            </a:r>
            <a:r>
              <a:rPr lang="en-US" sz="1400" b="1" dirty="0">
                <a:solidFill>
                  <a:srgbClr val="000080"/>
                </a:solidFill>
                <a:highlight>
                  <a:srgbClr val="FFFFFF"/>
                </a:highlight>
              </a:rPr>
              <a:t>)</a:t>
            </a:r>
            <a:endParaRPr lang="en-US" sz="1400" b="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en-US" sz="1400" b="0" dirty="0">
                <a:solidFill>
                  <a:srgbClr val="000000"/>
                </a:solidFill>
                <a:highlight>
                  <a:srgbClr val="FFFFFF"/>
                </a:highlight>
              </a:rPr>
              <a:t>  visualize</a:t>
            </a:r>
            <a:r>
              <a:rPr lang="en-US" sz="1400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en-US" sz="1400" b="0" dirty="0">
                <a:solidFill>
                  <a:srgbClr val="000000"/>
                </a:solidFill>
                <a:highlight>
                  <a:srgbClr val="FFFFFF"/>
                </a:highlight>
              </a:rPr>
              <a:t>image</a:t>
            </a:r>
            <a:r>
              <a:rPr lang="en-US" sz="1400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en-US" sz="1400" b="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en-US" sz="1400" b="0" dirty="0" err="1">
                <a:solidFill>
                  <a:srgbClr val="000000"/>
                </a:solidFill>
                <a:highlight>
                  <a:srgbClr val="FFFFFF"/>
                </a:highlight>
              </a:rPr>
              <a:t>stateless_random_crop</a:t>
            </a:r>
            <a:r>
              <a:rPr lang="en-US" sz="1400" b="1" dirty="0">
                <a:solidFill>
                  <a:srgbClr val="000080"/>
                </a:solidFill>
                <a:highlight>
                  <a:srgbClr val="FFFFFF"/>
                </a:highlight>
              </a:rPr>
              <a:t>)</a:t>
            </a:r>
            <a:endParaRPr lang="pt-BR" sz="1400" dirty="0"/>
          </a:p>
        </p:txBody>
      </p:sp>
      <p:grpSp>
        <p:nvGrpSpPr>
          <p:cNvPr id="12" name="Agrupar 11">
            <a:extLst>
              <a:ext uri="{FF2B5EF4-FFF2-40B4-BE49-F238E27FC236}">
                <a16:creationId xmlns:a16="http://schemas.microsoft.com/office/drawing/2014/main" id="{6B395245-CB74-E4E9-769F-4C87CFB92D24}"/>
              </a:ext>
            </a:extLst>
          </p:cNvPr>
          <p:cNvGrpSpPr/>
          <p:nvPr/>
        </p:nvGrpSpPr>
        <p:grpSpPr>
          <a:xfrm>
            <a:off x="7207829" y="2878269"/>
            <a:ext cx="3225685" cy="3930305"/>
            <a:chOff x="7423264" y="2916897"/>
            <a:chExt cx="3225685" cy="3930305"/>
          </a:xfrm>
        </p:grpSpPr>
        <p:pic>
          <p:nvPicPr>
            <p:cNvPr id="3082" name="Picture 10" descr="png">
              <a:extLst>
                <a:ext uri="{FF2B5EF4-FFF2-40B4-BE49-F238E27FC236}">
                  <a16:creationId xmlns:a16="http://schemas.microsoft.com/office/drawing/2014/main" id="{74911A61-241F-E975-8D00-94B9314142D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423264" y="2916897"/>
              <a:ext cx="3225685" cy="130313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084" name="Picture 12" descr="png">
              <a:extLst>
                <a:ext uri="{FF2B5EF4-FFF2-40B4-BE49-F238E27FC236}">
                  <a16:creationId xmlns:a16="http://schemas.microsoft.com/office/drawing/2014/main" id="{CD62BDC1-600E-20F9-80B1-E62D1316471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423264" y="4240942"/>
              <a:ext cx="3225685" cy="130313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086" name="Picture 14" descr="png">
              <a:extLst>
                <a:ext uri="{FF2B5EF4-FFF2-40B4-BE49-F238E27FC236}">
                  <a16:creationId xmlns:a16="http://schemas.microsoft.com/office/drawing/2014/main" id="{D4ABFA9C-260A-B673-4E41-F2435F0F3BB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423264" y="5544072"/>
              <a:ext cx="3225685" cy="130313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3" name="CaixaDeTexto 2">
            <a:extLst>
              <a:ext uri="{FF2B5EF4-FFF2-40B4-BE49-F238E27FC236}">
                <a16:creationId xmlns:a16="http://schemas.microsoft.com/office/drawing/2014/main" id="{3EB1AC7A-4E46-7C13-408C-0029CB2D216F}"/>
              </a:ext>
            </a:extLst>
          </p:cNvPr>
          <p:cNvSpPr txBox="1"/>
          <p:nvPr/>
        </p:nvSpPr>
        <p:spPr>
          <a:xfrm>
            <a:off x="0" y="6611377"/>
            <a:ext cx="240809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200" dirty="0">
                <a:hlinkClick r:id="rId7"/>
              </a:rPr>
              <a:t>Exemplo: </a:t>
            </a:r>
            <a:r>
              <a:rPr lang="pt-BR" sz="1200" dirty="0" err="1">
                <a:hlinkClick r:id="rId7"/>
              </a:rPr>
              <a:t>data_augmentation.ipynb</a:t>
            </a:r>
            <a:endParaRPr lang="pt-BR" sz="1200" dirty="0"/>
          </a:p>
        </p:txBody>
      </p:sp>
    </p:spTree>
    <p:extLst>
      <p:ext uri="{BB962C8B-B14F-4D97-AF65-F5344CB8AC3E}">
        <p14:creationId xmlns:p14="http://schemas.microsoft.com/office/powerpoint/2010/main" val="344552231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CD2EEC3-9F93-F0C7-00C7-2A8406F8F1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evitar o sobreajuste?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1DAE270-373C-955C-8C3A-BAE8D668DE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95635" y="1825624"/>
            <a:ext cx="6514855" cy="5032375"/>
          </a:xfrm>
        </p:spPr>
        <p:txBody>
          <a:bodyPr>
            <a:normAutofit lnSpcReduction="10000"/>
          </a:bodyPr>
          <a:lstStyle/>
          <a:p>
            <a:r>
              <a:rPr lang="pt-BR" dirty="0"/>
              <a:t>Um </a:t>
            </a:r>
            <a:r>
              <a:rPr lang="pt-BR" b="1" i="1" dirty="0">
                <a:solidFill>
                  <a:srgbClr val="00B050"/>
                </a:solidFill>
              </a:rPr>
              <a:t>modelo excessivamente complexo</a:t>
            </a:r>
            <a:r>
              <a:rPr lang="pt-BR" dirty="0"/>
              <a:t> tem grandes chances de se </a:t>
            </a:r>
            <a:r>
              <a:rPr lang="pt-BR" b="1" i="1" dirty="0">
                <a:solidFill>
                  <a:srgbClr val="00B050"/>
                </a:solidFill>
              </a:rPr>
              <a:t>sobreajustar</a:t>
            </a:r>
            <a:r>
              <a:rPr lang="pt-BR" dirty="0"/>
              <a:t>. </a:t>
            </a:r>
          </a:p>
          <a:p>
            <a:r>
              <a:rPr lang="pt-BR" dirty="0"/>
              <a:t>Portanto, </a:t>
            </a:r>
            <a:r>
              <a:rPr lang="pt-BR" b="1" i="1" dirty="0">
                <a:solidFill>
                  <a:srgbClr val="00B050"/>
                </a:solidFill>
                <a:effectLst/>
              </a:rPr>
              <a:t>modelos menos complexos</a:t>
            </a:r>
            <a:r>
              <a:rPr lang="pt-BR" b="0" i="0" dirty="0">
                <a:effectLst/>
              </a:rPr>
              <a:t> (i.e., mais simples), com menos parâmetros, por exemplo, </a:t>
            </a:r>
            <a:r>
              <a:rPr lang="pt-BR" b="1" i="1" dirty="0">
                <a:solidFill>
                  <a:srgbClr val="00B050"/>
                </a:solidFill>
                <a:effectLst/>
              </a:rPr>
              <a:t>tendem a não se sobreajustar e a generalizar melhor</a:t>
            </a:r>
            <a:r>
              <a:rPr lang="pt-BR" b="0" i="0" dirty="0">
                <a:effectLst/>
              </a:rPr>
              <a:t>.</a:t>
            </a:r>
            <a:endParaRPr lang="pt-BR" dirty="0"/>
          </a:p>
          <a:p>
            <a:r>
              <a:rPr lang="pt-BR" dirty="0"/>
              <a:t>O objetivo é encontrar um modelo com </a:t>
            </a:r>
            <a:r>
              <a:rPr lang="pt-BR" b="1" i="1" dirty="0">
                <a:solidFill>
                  <a:srgbClr val="00B050"/>
                </a:solidFill>
              </a:rPr>
              <a:t>complexidade suficiente para capturar o padrão geral por trás dos dados</a:t>
            </a:r>
            <a:r>
              <a:rPr lang="pt-BR" dirty="0"/>
              <a:t>.</a:t>
            </a:r>
          </a:p>
          <a:p>
            <a:r>
              <a:rPr lang="pt-BR" b="1" i="1" dirty="0">
                <a:solidFill>
                  <a:srgbClr val="7030A0"/>
                </a:solidFill>
                <a:effectLst/>
              </a:rPr>
              <a:t>Otimização hiperparamétrica</a:t>
            </a:r>
            <a:r>
              <a:rPr lang="pt-BR" b="0" i="0" dirty="0">
                <a:solidFill>
                  <a:srgbClr val="7030A0"/>
                </a:solidFill>
                <a:effectLst/>
              </a:rPr>
              <a:t> </a:t>
            </a:r>
            <a:r>
              <a:rPr lang="pt-BR" b="0" i="0" dirty="0">
                <a:effectLst/>
              </a:rPr>
              <a:t>pode ajustar a complexidade do modelo e </a:t>
            </a:r>
            <a:r>
              <a:rPr lang="pt-BR" b="1" i="1" dirty="0">
                <a:solidFill>
                  <a:srgbClr val="00B050"/>
                </a:solidFill>
                <a:effectLst/>
              </a:rPr>
              <a:t>encontrar a configuração que oferece um bom equilíbrio entre viés e variância</a:t>
            </a:r>
            <a:r>
              <a:rPr lang="pt-BR" b="0" i="0" dirty="0">
                <a:effectLst/>
              </a:rPr>
              <a:t>.</a:t>
            </a:r>
            <a:endParaRPr lang="pt-BR" dirty="0"/>
          </a:p>
        </p:txBody>
      </p:sp>
      <p:grpSp>
        <p:nvGrpSpPr>
          <p:cNvPr id="6" name="Agrupar 5">
            <a:extLst>
              <a:ext uri="{FF2B5EF4-FFF2-40B4-BE49-F238E27FC236}">
                <a16:creationId xmlns:a16="http://schemas.microsoft.com/office/drawing/2014/main" id="{4841B13E-FED9-6E46-EAA1-61799CADD711}"/>
              </a:ext>
            </a:extLst>
          </p:cNvPr>
          <p:cNvGrpSpPr/>
          <p:nvPr/>
        </p:nvGrpSpPr>
        <p:grpSpPr>
          <a:xfrm>
            <a:off x="442529" y="2411125"/>
            <a:ext cx="4554343" cy="3158402"/>
            <a:chOff x="599548" y="2475780"/>
            <a:chExt cx="4199268" cy="2853458"/>
          </a:xfrm>
        </p:grpSpPr>
        <p:pic>
          <p:nvPicPr>
            <p:cNvPr id="1026" name="Picture 2" descr="SigOpt Optimization Loop">
              <a:extLst>
                <a:ext uri="{FF2B5EF4-FFF2-40B4-BE49-F238E27FC236}">
                  <a16:creationId xmlns:a16="http://schemas.microsoft.com/office/drawing/2014/main" id="{07C54C8B-DDE1-6B00-356B-55239B5B5BB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99548" y="2475780"/>
              <a:ext cx="4199268" cy="285345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" name="Picture 2" descr="SigOpt Optimization Loop">
              <a:extLst>
                <a:ext uri="{FF2B5EF4-FFF2-40B4-BE49-F238E27FC236}">
                  <a16:creationId xmlns:a16="http://schemas.microsoft.com/office/drawing/2014/main" id="{F6B84B57-0B8A-E0EC-7058-C1C7157B99F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8609" t="67008" r="30655" b="27873"/>
            <a:stretch/>
          </p:blipFill>
          <p:spPr bwMode="auto">
            <a:xfrm>
              <a:off x="3489325" y="4371975"/>
              <a:ext cx="450850" cy="16827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" name="Picture 2" descr="SigOpt Optimization Loop">
              <a:extLst>
                <a:ext uri="{FF2B5EF4-FFF2-40B4-BE49-F238E27FC236}">
                  <a16:creationId xmlns:a16="http://schemas.microsoft.com/office/drawing/2014/main" id="{0F8FFFA5-3D52-DAB1-9F66-8FCC9E469AEE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8609" t="67008" r="30655" b="27873"/>
            <a:stretch/>
          </p:blipFill>
          <p:spPr bwMode="auto">
            <a:xfrm>
              <a:off x="3837734" y="4371974"/>
              <a:ext cx="450850" cy="16827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7" name="CaixaDeTexto 6">
            <a:extLst>
              <a:ext uri="{FF2B5EF4-FFF2-40B4-BE49-F238E27FC236}">
                <a16:creationId xmlns:a16="http://schemas.microsoft.com/office/drawing/2014/main" id="{956C1FA0-AFA6-13F2-6F4C-13D985815E31}"/>
              </a:ext>
            </a:extLst>
          </p:cNvPr>
          <p:cNvSpPr txBox="1"/>
          <p:nvPr/>
        </p:nvSpPr>
        <p:spPr>
          <a:xfrm>
            <a:off x="0" y="6581000"/>
            <a:ext cx="40640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dirty="0">
                <a:hlinkClick r:id="rId4"/>
              </a:rPr>
              <a:t>Exemplo: </a:t>
            </a:r>
            <a:r>
              <a:rPr lang="pt-BR" sz="1200" dirty="0" err="1">
                <a:hlinkClick r:id="rId4"/>
              </a:rPr>
              <a:t>Sobreajuste_e_otimização_hiperparamétrica.ipynb</a:t>
            </a:r>
            <a:r>
              <a:rPr lang="pt-BR" sz="1200" dirty="0">
                <a:hlinkClick r:id="rId4"/>
              </a:rPr>
              <a:t> </a:t>
            </a:r>
            <a:endParaRPr lang="pt-BR" sz="1200" dirty="0"/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8DAC72E8-D592-FC38-EC35-D1AE0D9E4304}"/>
              </a:ext>
            </a:extLst>
          </p:cNvPr>
          <p:cNvSpPr txBox="1"/>
          <p:nvPr/>
        </p:nvSpPr>
        <p:spPr>
          <a:xfrm>
            <a:off x="442529" y="1886372"/>
            <a:ext cx="45543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2400" b="1" dirty="0">
                <a:solidFill>
                  <a:srgbClr val="0070C0"/>
                </a:solidFill>
                <a:effectLst/>
              </a:rPr>
              <a:t>Otimização hiperparamétrica</a:t>
            </a:r>
            <a:endParaRPr lang="pt-BR" sz="2400" dirty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6244447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74DDB77-2ADD-1183-CAAA-7C3763BFBA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evitar o sobreajuste?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F005E55-CF79-10BA-EFE2-7E4460C2F6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75564" y="1825624"/>
            <a:ext cx="6677890" cy="5032375"/>
          </a:xfrm>
        </p:spPr>
        <p:txBody>
          <a:bodyPr>
            <a:normAutofit/>
          </a:bodyPr>
          <a:lstStyle/>
          <a:p>
            <a:r>
              <a:rPr lang="pt-BR" b="1" i="1" dirty="0">
                <a:solidFill>
                  <a:srgbClr val="7030A0"/>
                </a:solidFill>
              </a:rPr>
              <a:t>T</a:t>
            </a:r>
            <a:r>
              <a:rPr lang="pt-BR" b="1" i="1" dirty="0">
                <a:solidFill>
                  <a:srgbClr val="7030A0"/>
                </a:solidFill>
                <a:effectLst/>
              </a:rPr>
              <a:t>ransfer learning</a:t>
            </a:r>
            <a:r>
              <a:rPr lang="pt-BR" dirty="0">
                <a:solidFill>
                  <a:srgbClr val="7030A0"/>
                </a:solidFill>
                <a:effectLst/>
              </a:rPr>
              <a:t> </a:t>
            </a:r>
            <a:r>
              <a:rPr lang="pt-BR" dirty="0">
                <a:effectLst/>
              </a:rPr>
              <a:t>ou </a:t>
            </a:r>
            <a:r>
              <a:rPr lang="pt-BR" b="1" i="1" dirty="0">
                <a:solidFill>
                  <a:srgbClr val="7030A0"/>
                </a:solidFill>
              </a:rPr>
              <a:t>transferência de aprendizado</a:t>
            </a:r>
            <a:r>
              <a:rPr lang="pt-BR" dirty="0"/>
              <a:t> é</a:t>
            </a:r>
            <a:r>
              <a:rPr lang="pt-BR" b="0" i="0" dirty="0">
                <a:effectLst/>
              </a:rPr>
              <a:t> uma abordagem que envolve o uso de um </a:t>
            </a:r>
            <a:r>
              <a:rPr lang="pt-BR" b="1" i="1" dirty="0">
                <a:solidFill>
                  <a:srgbClr val="00B050"/>
                </a:solidFill>
                <a:effectLst/>
              </a:rPr>
              <a:t>modelo </a:t>
            </a:r>
            <a:r>
              <a:rPr lang="pt-BR" b="1" i="1" dirty="0">
                <a:solidFill>
                  <a:srgbClr val="0070C0"/>
                </a:solidFill>
                <a:effectLst/>
              </a:rPr>
              <a:t>pré-treinado</a:t>
            </a:r>
            <a:r>
              <a:rPr lang="pt-BR" b="1" i="1" dirty="0">
                <a:solidFill>
                  <a:srgbClr val="00B050"/>
                </a:solidFill>
                <a:effectLst/>
              </a:rPr>
              <a:t> em uma tarefa </a:t>
            </a:r>
            <a:r>
              <a:rPr lang="pt-BR" b="0" i="0" dirty="0">
                <a:effectLst/>
              </a:rPr>
              <a:t>(ou domínio) relacionada </a:t>
            </a:r>
            <a:r>
              <a:rPr lang="pt-BR" b="1" i="1" dirty="0">
                <a:solidFill>
                  <a:srgbClr val="00B050"/>
                </a:solidFill>
                <a:effectLst/>
              </a:rPr>
              <a:t>como ponto de partida para uma nova tarefa</a:t>
            </a:r>
            <a:r>
              <a:rPr lang="pt-BR" b="0" i="0" dirty="0">
                <a:effectLst/>
              </a:rPr>
              <a:t>.</a:t>
            </a:r>
          </a:p>
        </p:txBody>
      </p:sp>
      <p:pic>
        <p:nvPicPr>
          <p:cNvPr id="2052" name="Picture 4" descr="Transfer Learning">
            <a:extLst>
              <a:ext uri="{FF2B5EF4-FFF2-40B4-BE49-F238E27FC236}">
                <a16:creationId xmlns:a16="http://schemas.microsoft.com/office/drawing/2014/main" id="{3B6B0EBE-D06E-6F94-33ED-085555A9B1D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848" t="15906" b="27976"/>
          <a:stretch/>
        </p:blipFill>
        <p:spPr bwMode="auto">
          <a:xfrm>
            <a:off x="1289139" y="2483695"/>
            <a:ext cx="3116941" cy="25561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3713572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74DDB77-2ADD-1183-CAAA-7C3763BFBA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evitar o sobreajuste?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F005E55-CF79-10BA-EFE2-7E4460C2F6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327374"/>
            <a:ext cx="11258550" cy="1530625"/>
          </a:xfrm>
        </p:spPr>
        <p:txBody>
          <a:bodyPr>
            <a:normAutofit lnSpcReduction="10000"/>
          </a:bodyPr>
          <a:lstStyle/>
          <a:p>
            <a:r>
              <a:rPr lang="pt-BR" b="0" i="0" dirty="0">
                <a:effectLst/>
              </a:rPr>
              <a:t>Usamos o </a:t>
            </a:r>
            <a:r>
              <a:rPr lang="pt-BR" b="1" i="1" dirty="0">
                <a:solidFill>
                  <a:srgbClr val="7030A0"/>
                </a:solidFill>
                <a:effectLst/>
              </a:rPr>
              <a:t>conhecimento adquirido </a:t>
            </a:r>
            <a:r>
              <a:rPr lang="pt-BR" b="0" i="0" dirty="0">
                <a:effectLst/>
              </a:rPr>
              <a:t>por um </a:t>
            </a:r>
            <a:r>
              <a:rPr lang="pt-BR" b="1" i="1" dirty="0">
                <a:solidFill>
                  <a:srgbClr val="7030A0"/>
                </a:solidFill>
                <a:effectLst/>
              </a:rPr>
              <a:t>modelo treinando em uma grande base de dados </a:t>
            </a:r>
            <a:r>
              <a:rPr lang="pt-BR" b="0" i="0" dirty="0">
                <a:effectLst/>
              </a:rPr>
              <a:t>como </a:t>
            </a:r>
            <a:r>
              <a:rPr lang="pt-BR" b="1" i="1" dirty="0">
                <a:solidFill>
                  <a:srgbClr val="00B050"/>
                </a:solidFill>
                <a:effectLst/>
              </a:rPr>
              <a:t>ponto de partida </a:t>
            </a:r>
            <a:r>
              <a:rPr lang="pt-BR" b="0" i="0" dirty="0">
                <a:effectLst/>
              </a:rPr>
              <a:t>para treinar um modelo com uma </a:t>
            </a:r>
            <a:r>
              <a:rPr lang="pt-BR" b="1" i="1" dirty="0">
                <a:solidFill>
                  <a:srgbClr val="00B050"/>
                </a:solidFill>
                <a:effectLst/>
              </a:rPr>
              <a:t>base de treinamento menor</a:t>
            </a:r>
            <a:r>
              <a:rPr lang="pt-BR" b="0" i="0" dirty="0">
                <a:effectLst/>
              </a:rPr>
              <a:t>, </a:t>
            </a:r>
            <a:r>
              <a:rPr lang="pt-BR" b="1" i="1" dirty="0">
                <a:solidFill>
                  <a:srgbClr val="00B050"/>
                </a:solidFill>
                <a:effectLst/>
              </a:rPr>
              <a:t>mas que seja </a:t>
            </a:r>
            <a:r>
              <a:rPr lang="pt-BR" b="1" i="1" dirty="0">
                <a:solidFill>
                  <a:srgbClr val="0070C0"/>
                </a:solidFill>
                <a:effectLst/>
              </a:rPr>
              <a:t>relacionada</a:t>
            </a:r>
            <a:r>
              <a:rPr lang="pt-BR" b="1" i="1" dirty="0">
                <a:solidFill>
                  <a:srgbClr val="00B050"/>
                </a:solidFill>
                <a:effectLst/>
              </a:rPr>
              <a:t> à primeira</a:t>
            </a:r>
            <a:r>
              <a:rPr lang="pt-BR" b="0" i="0" dirty="0">
                <a:effectLst/>
              </a:rPr>
              <a:t>.</a:t>
            </a:r>
          </a:p>
        </p:txBody>
      </p:sp>
      <p:pic>
        <p:nvPicPr>
          <p:cNvPr id="2054" name="Picture 6" descr="Transfer Learning in Deep Learning - Introduction to Deep Learning - YouTube">
            <a:extLst>
              <a:ext uri="{FF2B5EF4-FFF2-40B4-BE49-F238E27FC236}">
                <a16:creationId xmlns:a16="http://schemas.microsoft.com/office/drawing/2014/main" id="{A6F8E130-AB12-AC2A-89D6-74C318B4BA2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970" t="40674" r="16894" b="5323"/>
          <a:stretch/>
        </p:blipFill>
        <p:spPr bwMode="auto">
          <a:xfrm>
            <a:off x="3055905" y="1848679"/>
            <a:ext cx="6080189" cy="27926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3647388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74DDB77-2ADD-1183-CAAA-7C3763BFBA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/>
              <a:t>T</a:t>
            </a:r>
            <a:r>
              <a:rPr lang="pt-BR" b="0" i="1" dirty="0">
                <a:effectLst/>
              </a:rPr>
              <a:t>ransfer learning</a:t>
            </a: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F005E55-CF79-10BA-EFE2-7E4460C2F6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54758" y="1825624"/>
            <a:ext cx="6298696" cy="5032375"/>
          </a:xfrm>
        </p:spPr>
        <p:txBody>
          <a:bodyPr>
            <a:normAutofit/>
          </a:bodyPr>
          <a:lstStyle/>
          <a:p>
            <a:r>
              <a:rPr lang="pt-BR" b="0" i="0" dirty="0">
                <a:effectLst/>
              </a:rPr>
              <a:t>Suponham que temos uma </a:t>
            </a:r>
            <a:r>
              <a:rPr lang="pt-BR" b="1" i="1" dirty="0">
                <a:solidFill>
                  <a:srgbClr val="00B050"/>
                </a:solidFill>
                <a:effectLst/>
              </a:rPr>
              <a:t>rede </a:t>
            </a:r>
            <a:r>
              <a:rPr lang="pt-BR" b="1" i="1" dirty="0" err="1">
                <a:solidFill>
                  <a:srgbClr val="00B050"/>
                </a:solidFill>
                <a:effectLst/>
              </a:rPr>
              <a:t>pré</a:t>
            </a:r>
            <a:r>
              <a:rPr lang="pt-BR" b="1" i="1" dirty="0">
                <a:solidFill>
                  <a:srgbClr val="00B050"/>
                </a:solidFill>
                <a:effectLst/>
              </a:rPr>
              <a:t>-treinada</a:t>
            </a:r>
            <a:r>
              <a:rPr lang="pt-BR" b="0" i="0" dirty="0">
                <a:effectLst/>
              </a:rPr>
              <a:t> para classificar imagens em 100 categorias diferentes, incluindo </a:t>
            </a:r>
            <a:r>
              <a:rPr lang="pt-BR" b="1" i="1" dirty="0">
                <a:solidFill>
                  <a:srgbClr val="00B050"/>
                </a:solidFill>
                <a:effectLst/>
              </a:rPr>
              <a:t>animais</a:t>
            </a:r>
            <a:r>
              <a:rPr lang="pt-BR" b="0" i="0" dirty="0">
                <a:effectLst/>
              </a:rPr>
              <a:t>, </a:t>
            </a:r>
            <a:r>
              <a:rPr lang="pt-BR" b="1" i="1" dirty="0">
                <a:solidFill>
                  <a:srgbClr val="00B050"/>
                </a:solidFill>
                <a:effectLst/>
              </a:rPr>
              <a:t>plantas</a:t>
            </a:r>
            <a:r>
              <a:rPr lang="pt-BR" b="0" i="0" dirty="0">
                <a:effectLst/>
              </a:rPr>
              <a:t>, </a:t>
            </a:r>
            <a:r>
              <a:rPr lang="pt-BR" b="1" i="1" dirty="0">
                <a:solidFill>
                  <a:srgbClr val="00B050"/>
                </a:solidFill>
                <a:effectLst/>
              </a:rPr>
              <a:t>veículos</a:t>
            </a:r>
            <a:r>
              <a:rPr lang="pt-BR" dirty="0"/>
              <a:t>, etc. e </a:t>
            </a:r>
            <a:r>
              <a:rPr lang="pt-BR" b="0" i="0" dirty="0">
                <a:effectLst/>
              </a:rPr>
              <a:t>queremos treinar uma </a:t>
            </a:r>
            <a:r>
              <a:rPr lang="pt-BR" b="1" i="1" dirty="0">
                <a:solidFill>
                  <a:srgbClr val="7030A0"/>
                </a:solidFill>
                <a:effectLst/>
              </a:rPr>
              <a:t>nova rede para classificar </a:t>
            </a:r>
            <a:r>
              <a:rPr lang="pt-BR" b="1" i="1" dirty="0">
                <a:solidFill>
                  <a:srgbClr val="0070C0"/>
                </a:solidFill>
                <a:effectLst/>
              </a:rPr>
              <a:t>tipos específicos de veículos</a:t>
            </a:r>
            <a:r>
              <a:rPr lang="pt-BR" b="0" i="0" dirty="0">
                <a:effectLst/>
              </a:rPr>
              <a:t>. </a:t>
            </a:r>
          </a:p>
          <a:p>
            <a:r>
              <a:rPr lang="pt-BR" dirty="0"/>
              <a:t>Por e</a:t>
            </a:r>
            <a:r>
              <a:rPr lang="pt-BR" b="0" i="0" dirty="0">
                <a:effectLst/>
              </a:rPr>
              <a:t>ssas tarefas serem semelhantes, </a:t>
            </a:r>
            <a:r>
              <a:rPr lang="pt-BR" b="1" i="1" dirty="0">
                <a:solidFill>
                  <a:srgbClr val="00B050"/>
                </a:solidFill>
                <a:effectLst/>
              </a:rPr>
              <a:t>podemos reutilizar partes da primeira rede</a:t>
            </a:r>
            <a:r>
              <a:rPr lang="pt-BR" b="0" i="0" dirty="0">
                <a:effectLst/>
              </a:rPr>
              <a:t>.</a:t>
            </a:r>
          </a:p>
        </p:txBody>
      </p:sp>
      <p:pic>
        <p:nvPicPr>
          <p:cNvPr id="2052" name="Picture 4" descr="Transfer Learning">
            <a:extLst>
              <a:ext uri="{FF2B5EF4-FFF2-40B4-BE49-F238E27FC236}">
                <a16:creationId xmlns:a16="http://schemas.microsoft.com/office/drawing/2014/main" id="{3B6B0EBE-D06E-6F94-33ED-085555A9B1D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848" t="15906" b="27976"/>
          <a:stretch/>
        </p:blipFill>
        <p:spPr bwMode="auto">
          <a:xfrm>
            <a:off x="1249382" y="1787956"/>
            <a:ext cx="3116941" cy="25561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Transfer Learning in Deep Learning - Introduction to Deep Learning - YouTube">
            <a:extLst>
              <a:ext uri="{FF2B5EF4-FFF2-40B4-BE49-F238E27FC236}">
                <a16:creationId xmlns:a16="http://schemas.microsoft.com/office/drawing/2014/main" id="{A6F8E130-AB12-AC2A-89D6-74C318B4BA2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970" t="40674" r="16894" b="5323"/>
          <a:stretch/>
        </p:blipFill>
        <p:spPr bwMode="auto">
          <a:xfrm>
            <a:off x="765379" y="4721652"/>
            <a:ext cx="4137891" cy="19005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3899571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74DDB77-2ADD-1183-CAAA-7C3763BFBA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evitar o sobreajuste?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F005E55-CF79-10BA-EFE2-7E4460C2F6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1825624"/>
            <a:ext cx="5957454" cy="5032375"/>
          </a:xfrm>
        </p:spPr>
        <p:txBody>
          <a:bodyPr>
            <a:normAutofit/>
          </a:bodyPr>
          <a:lstStyle/>
          <a:p>
            <a:r>
              <a:rPr lang="pt-BR" b="0" i="0" dirty="0">
                <a:effectLst/>
              </a:rPr>
              <a:t>Modelos pré-treinados em grandes conjuntos de dados </a:t>
            </a:r>
            <a:r>
              <a:rPr lang="pt-BR" b="1" i="1" dirty="0">
                <a:solidFill>
                  <a:srgbClr val="00B050"/>
                </a:solidFill>
                <a:effectLst/>
              </a:rPr>
              <a:t>extraem características relevantes dos dados</a:t>
            </a:r>
            <a:r>
              <a:rPr lang="pt-BR" b="0" i="0" dirty="0">
                <a:effectLst/>
              </a:rPr>
              <a:t>. </a:t>
            </a:r>
          </a:p>
          <a:p>
            <a:r>
              <a:rPr lang="pt-BR" b="0" i="0" dirty="0">
                <a:effectLst/>
              </a:rPr>
              <a:t>Essas </a:t>
            </a:r>
            <a:r>
              <a:rPr lang="pt-BR" b="1" i="1" dirty="0">
                <a:solidFill>
                  <a:srgbClr val="00B050"/>
                </a:solidFill>
                <a:effectLst/>
              </a:rPr>
              <a:t>características são transferidas para o novo modelo</a:t>
            </a:r>
            <a:r>
              <a:rPr lang="pt-BR" b="0" i="0" dirty="0">
                <a:effectLst/>
              </a:rPr>
              <a:t>, que pode se beneficiar de uma </a:t>
            </a:r>
            <a:r>
              <a:rPr lang="pt-BR" b="1" i="1" dirty="0">
                <a:solidFill>
                  <a:srgbClr val="7030A0"/>
                </a:solidFill>
                <a:effectLst/>
              </a:rPr>
              <a:t>inicialização mais informada</a:t>
            </a:r>
            <a:r>
              <a:rPr lang="pt-BR" b="0" i="0" dirty="0">
                <a:effectLst/>
              </a:rPr>
              <a:t>.</a:t>
            </a:r>
          </a:p>
        </p:txBody>
      </p:sp>
      <p:pic>
        <p:nvPicPr>
          <p:cNvPr id="2052" name="Picture 4" descr="Transfer Learning">
            <a:extLst>
              <a:ext uri="{FF2B5EF4-FFF2-40B4-BE49-F238E27FC236}">
                <a16:creationId xmlns:a16="http://schemas.microsoft.com/office/drawing/2014/main" id="{3B6B0EBE-D06E-6F94-33ED-085555A9B1D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848" t="15906" b="27976"/>
          <a:stretch/>
        </p:blipFill>
        <p:spPr bwMode="auto">
          <a:xfrm>
            <a:off x="1249382" y="1787956"/>
            <a:ext cx="3116941" cy="25561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Transfer Learning in Deep Learning - Introduction to Deep Learning - YouTube">
            <a:extLst>
              <a:ext uri="{FF2B5EF4-FFF2-40B4-BE49-F238E27FC236}">
                <a16:creationId xmlns:a16="http://schemas.microsoft.com/office/drawing/2014/main" id="{A6F8E130-AB12-AC2A-89D6-74C318B4BA2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970" t="40674" r="16894" b="5323"/>
          <a:stretch/>
        </p:blipFill>
        <p:spPr bwMode="auto">
          <a:xfrm>
            <a:off x="765379" y="4721652"/>
            <a:ext cx="4137891" cy="19005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3329907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74DDB77-2ADD-1183-CAAA-7C3763BFBA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/>
              <a:t>T</a:t>
            </a:r>
            <a:r>
              <a:rPr lang="pt-BR" b="0" i="1" dirty="0">
                <a:effectLst/>
              </a:rPr>
              <a:t>ransfer learning</a:t>
            </a: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F005E55-CF79-10BA-EFE2-7E4460C2F6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1825624"/>
            <a:ext cx="5991226" cy="5032375"/>
          </a:xfrm>
        </p:spPr>
        <p:txBody>
          <a:bodyPr>
            <a:normAutofit/>
          </a:bodyPr>
          <a:lstStyle/>
          <a:p>
            <a:r>
              <a:rPr lang="pt-BR" b="0" i="0" dirty="0">
                <a:effectLst/>
              </a:rPr>
              <a:t>O </a:t>
            </a:r>
            <a:r>
              <a:rPr lang="pt-BR" b="0" i="1" dirty="0" err="1">
                <a:effectLst/>
              </a:rPr>
              <a:t>transfer</a:t>
            </a:r>
            <a:r>
              <a:rPr lang="pt-BR" b="0" i="1" dirty="0">
                <a:effectLst/>
              </a:rPr>
              <a:t> learning </a:t>
            </a:r>
            <a:r>
              <a:rPr lang="pt-BR" b="1" i="1" dirty="0">
                <a:solidFill>
                  <a:srgbClr val="00B050"/>
                </a:solidFill>
                <a:effectLst/>
              </a:rPr>
              <a:t>pode evitar </a:t>
            </a:r>
            <a:r>
              <a:rPr lang="pt-BR" b="0" i="0" dirty="0">
                <a:effectLst/>
              </a:rPr>
              <a:t>que o </a:t>
            </a:r>
            <a:r>
              <a:rPr lang="pt-BR" b="1" i="1" dirty="0">
                <a:solidFill>
                  <a:srgbClr val="00B050"/>
                </a:solidFill>
                <a:effectLst/>
              </a:rPr>
              <a:t>novo modelo sobreajuste</a:t>
            </a:r>
            <a:r>
              <a:rPr lang="pt-BR" b="0" i="0" dirty="0">
                <a:effectLst/>
              </a:rPr>
              <a:t>, pois ele </a:t>
            </a:r>
            <a:r>
              <a:rPr lang="pt-BR" b="1" i="1" dirty="0">
                <a:solidFill>
                  <a:srgbClr val="7030A0"/>
                </a:solidFill>
                <a:effectLst/>
              </a:rPr>
              <a:t>já começa com características relevantes</a:t>
            </a:r>
            <a:r>
              <a:rPr lang="pt-BR" b="0" i="0" dirty="0">
                <a:effectLst/>
              </a:rPr>
              <a:t>.</a:t>
            </a:r>
          </a:p>
          <a:p>
            <a:r>
              <a:rPr lang="pt-BR" b="0" i="0" dirty="0">
                <a:effectLst/>
              </a:rPr>
              <a:t>Como o </a:t>
            </a:r>
            <a:r>
              <a:rPr lang="pt-BR" b="1" i="1" dirty="0">
                <a:solidFill>
                  <a:srgbClr val="00B050"/>
                </a:solidFill>
                <a:effectLst/>
              </a:rPr>
              <a:t>modelo pré-treinado já adquiriu um bom entendimento de características genéricas </a:t>
            </a:r>
            <a:r>
              <a:rPr lang="pt-BR" b="0" i="0" dirty="0">
                <a:effectLst/>
              </a:rPr>
              <a:t>em uma tarefa relacionada, o </a:t>
            </a:r>
            <a:r>
              <a:rPr lang="pt-BR" b="1" i="1" dirty="0">
                <a:solidFill>
                  <a:srgbClr val="7030A0"/>
                </a:solidFill>
                <a:effectLst/>
              </a:rPr>
              <a:t>treinamento do novo modelo pode exigir menos dados </a:t>
            </a:r>
            <a:r>
              <a:rPr lang="pt-BR" b="0" i="0" dirty="0">
                <a:effectLst/>
              </a:rPr>
              <a:t>para alcançar um bom desempenho.</a:t>
            </a:r>
          </a:p>
        </p:txBody>
      </p:sp>
      <p:pic>
        <p:nvPicPr>
          <p:cNvPr id="2052" name="Picture 4" descr="Transfer Learning">
            <a:extLst>
              <a:ext uri="{FF2B5EF4-FFF2-40B4-BE49-F238E27FC236}">
                <a16:creationId xmlns:a16="http://schemas.microsoft.com/office/drawing/2014/main" id="{3B6B0EBE-D06E-6F94-33ED-085555A9B1D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848" t="15906" b="27976"/>
          <a:stretch/>
        </p:blipFill>
        <p:spPr bwMode="auto">
          <a:xfrm>
            <a:off x="1249382" y="1787956"/>
            <a:ext cx="3116941" cy="25561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Transfer Learning in Deep Learning - Introduction to Deep Learning - YouTube">
            <a:extLst>
              <a:ext uri="{FF2B5EF4-FFF2-40B4-BE49-F238E27FC236}">
                <a16:creationId xmlns:a16="http://schemas.microsoft.com/office/drawing/2014/main" id="{A6F8E130-AB12-AC2A-89D6-74C318B4BA2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970" t="40674" r="16894" b="5323"/>
          <a:stretch/>
        </p:blipFill>
        <p:spPr bwMode="auto">
          <a:xfrm>
            <a:off x="765379" y="4721652"/>
            <a:ext cx="4137891" cy="19005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3223433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74DDB77-2ADD-1183-CAAA-7C3763BFBA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/>
              <a:t>T</a:t>
            </a:r>
            <a:r>
              <a:rPr lang="pt-BR" b="0" i="1" dirty="0">
                <a:effectLst/>
              </a:rPr>
              <a:t>ransfer learning</a:t>
            </a: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F005E55-CF79-10BA-EFE2-7E4460C2F6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76925" y="1825624"/>
            <a:ext cx="6210301" cy="5032375"/>
          </a:xfrm>
        </p:spPr>
        <p:txBody>
          <a:bodyPr>
            <a:normAutofit/>
          </a:bodyPr>
          <a:lstStyle/>
          <a:p>
            <a:r>
              <a:rPr lang="pt-BR" b="0" i="0" dirty="0">
                <a:effectLst/>
              </a:rPr>
              <a:t>O </a:t>
            </a:r>
            <a:r>
              <a:rPr lang="pt-BR" b="0" i="1" dirty="0" err="1">
                <a:effectLst/>
              </a:rPr>
              <a:t>transfer</a:t>
            </a:r>
            <a:r>
              <a:rPr lang="pt-BR" b="0" i="1" dirty="0">
                <a:effectLst/>
              </a:rPr>
              <a:t> learning </a:t>
            </a:r>
            <a:r>
              <a:rPr lang="pt-BR" b="0" i="0" dirty="0">
                <a:effectLst/>
              </a:rPr>
              <a:t>é particularmente </a:t>
            </a:r>
            <a:r>
              <a:rPr lang="pt-BR" b="1" i="1" dirty="0">
                <a:solidFill>
                  <a:srgbClr val="00B050"/>
                </a:solidFill>
                <a:effectLst/>
              </a:rPr>
              <a:t>útil</a:t>
            </a:r>
            <a:r>
              <a:rPr lang="pt-BR" b="0" i="0" dirty="0">
                <a:effectLst/>
              </a:rPr>
              <a:t> </a:t>
            </a:r>
            <a:r>
              <a:rPr lang="pt-BR" b="1" i="1" dirty="0">
                <a:solidFill>
                  <a:srgbClr val="00B050"/>
                </a:solidFill>
                <a:effectLst/>
              </a:rPr>
              <a:t>quando os dados de treinamento são escassos</a:t>
            </a:r>
            <a:r>
              <a:rPr lang="pt-BR" b="0" i="0" dirty="0">
                <a:effectLst/>
              </a:rPr>
              <a:t>, o que é uma situação </a:t>
            </a:r>
            <a:r>
              <a:rPr lang="pt-BR" b="1" i="1" dirty="0">
                <a:solidFill>
                  <a:srgbClr val="7030A0"/>
                </a:solidFill>
                <a:effectLst/>
              </a:rPr>
              <a:t>propensa ao sobreajuste</a:t>
            </a:r>
            <a:r>
              <a:rPr lang="pt-BR" b="0" i="0" dirty="0">
                <a:effectLst/>
              </a:rPr>
              <a:t>.</a:t>
            </a:r>
          </a:p>
          <a:p>
            <a:r>
              <a:rPr lang="pt-BR" b="0" i="0" dirty="0">
                <a:effectLst/>
              </a:rPr>
              <a:t>Além de requerer menos dados, o </a:t>
            </a:r>
            <a:r>
              <a:rPr lang="pt-BR" b="0" i="1" dirty="0" err="1">
                <a:effectLst/>
              </a:rPr>
              <a:t>transfer</a:t>
            </a:r>
            <a:r>
              <a:rPr lang="pt-BR" b="0" i="1" dirty="0">
                <a:effectLst/>
              </a:rPr>
              <a:t> learning</a:t>
            </a:r>
            <a:r>
              <a:rPr lang="pt-BR" b="0" i="0" dirty="0">
                <a:effectLst/>
              </a:rPr>
              <a:t> </a:t>
            </a:r>
            <a:r>
              <a:rPr lang="pt-BR" b="1" i="1" dirty="0">
                <a:solidFill>
                  <a:srgbClr val="00B050"/>
                </a:solidFill>
                <a:effectLst/>
              </a:rPr>
              <a:t>acelera consideravelmente o treinamento</a:t>
            </a:r>
            <a:r>
              <a:rPr lang="pt-BR" b="0" i="0" dirty="0">
                <a:effectLst/>
              </a:rPr>
              <a:t>.</a:t>
            </a:r>
          </a:p>
        </p:txBody>
      </p:sp>
      <p:pic>
        <p:nvPicPr>
          <p:cNvPr id="2052" name="Picture 4" descr="Transfer Learning">
            <a:extLst>
              <a:ext uri="{FF2B5EF4-FFF2-40B4-BE49-F238E27FC236}">
                <a16:creationId xmlns:a16="http://schemas.microsoft.com/office/drawing/2014/main" id="{3B6B0EBE-D06E-6F94-33ED-085555A9B1D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848" t="15906" b="27976"/>
          <a:stretch/>
        </p:blipFill>
        <p:spPr bwMode="auto">
          <a:xfrm>
            <a:off x="1249382" y="1787956"/>
            <a:ext cx="3116941" cy="25561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Transfer Learning in Deep Learning - Introduction to Deep Learning - YouTube">
            <a:extLst>
              <a:ext uri="{FF2B5EF4-FFF2-40B4-BE49-F238E27FC236}">
                <a16:creationId xmlns:a16="http://schemas.microsoft.com/office/drawing/2014/main" id="{A6F8E130-AB12-AC2A-89D6-74C318B4BA2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970" t="40674" r="16894" b="5323"/>
          <a:stretch/>
        </p:blipFill>
        <p:spPr bwMode="auto">
          <a:xfrm>
            <a:off x="765379" y="4721652"/>
            <a:ext cx="4137891" cy="19005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9603843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198613D-EEB0-2E1D-E882-07048E05E9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/>
              <a:t>Transfer learning</a:t>
            </a:r>
            <a:r>
              <a:rPr lang="pt-BR" dirty="0"/>
              <a:t> em uma rede convolucional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876A543-15C7-D702-9568-ACA8B58B8F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00725" y="1810384"/>
            <a:ext cx="6210299" cy="5047615"/>
          </a:xfrm>
        </p:spPr>
        <p:txBody>
          <a:bodyPr/>
          <a:lstStyle/>
          <a:p>
            <a:r>
              <a:rPr lang="pt-BR" dirty="0"/>
              <a:t>Para entender como o </a:t>
            </a:r>
            <a:r>
              <a:rPr lang="pt-BR" i="1" dirty="0" err="1"/>
              <a:t>transfer</a:t>
            </a:r>
            <a:r>
              <a:rPr lang="pt-BR" i="1" dirty="0"/>
              <a:t> learning</a:t>
            </a:r>
            <a:r>
              <a:rPr lang="pt-BR" dirty="0"/>
              <a:t>, funciona, vamos usar uma </a:t>
            </a:r>
            <a:r>
              <a:rPr lang="pt-BR" b="1" i="1" dirty="0">
                <a:solidFill>
                  <a:srgbClr val="00B050"/>
                </a:solidFill>
              </a:rPr>
              <a:t>rede convolucional</a:t>
            </a:r>
            <a:r>
              <a:rPr lang="pt-BR" dirty="0"/>
              <a:t> como exemplo.</a:t>
            </a:r>
          </a:p>
          <a:p>
            <a:r>
              <a:rPr lang="pt-BR" dirty="0"/>
              <a:t>Nestas redes, as </a:t>
            </a:r>
            <a:r>
              <a:rPr lang="pt-BR" b="1" i="1" dirty="0">
                <a:solidFill>
                  <a:srgbClr val="00B050"/>
                </a:solidFill>
              </a:rPr>
              <a:t>camadas convolucionais iniciais</a:t>
            </a:r>
            <a:r>
              <a:rPr lang="pt-BR" dirty="0"/>
              <a:t>, </a:t>
            </a:r>
            <a:r>
              <a:rPr lang="pt-BR" b="1" i="1" dirty="0">
                <a:solidFill>
                  <a:srgbClr val="00B050"/>
                </a:solidFill>
              </a:rPr>
              <a:t>aprendem</a:t>
            </a:r>
            <a:r>
              <a:rPr lang="pt-BR" dirty="0"/>
              <a:t> a </a:t>
            </a:r>
            <a:r>
              <a:rPr lang="pt-BR" b="1" i="1" dirty="0">
                <a:solidFill>
                  <a:srgbClr val="00B050"/>
                </a:solidFill>
              </a:rPr>
              <a:t>detectar</a:t>
            </a:r>
            <a:r>
              <a:rPr lang="pt-BR" dirty="0"/>
              <a:t> </a:t>
            </a:r>
            <a:r>
              <a:rPr lang="pt-BR" b="1" i="1" dirty="0">
                <a:solidFill>
                  <a:srgbClr val="00B050"/>
                </a:solidFill>
              </a:rPr>
              <a:t>características simples</a:t>
            </a:r>
            <a:r>
              <a:rPr lang="pt-BR" dirty="0"/>
              <a:t> (i.e., de baixo nível)</a:t>
            </a:r>
            <a:r>
              <a:rPr lang="pt-BR" b="0" i="0" dirty="0">
                <a:effectLst/>
              </a:rPr>
              <a:t>, como bordas (verticais e horizontais), linhas, cantos e texturas.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Características gerais, </a:t>
            </a:r>
            <a:r>
              <a:rPr lang="pt-BR" b="1" i="1" dirty="0">
                <a:solidFill>
                  <a:srgbClr val="7030A0"/>
                </a:solidFill>
              </a:rPr>
              <a:t>independentes da tarefa</a:t>
            </a:r>
            <a:r>
              <a:rPr lang="pt-BR" dirty="0"/>
              <a:t>.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0D0E0769-CEF4-89F7-AB72-E97783467BC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80961" y="1510093"/>
            <a:ext cx="3219828" cy="53479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917262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198613D-EEB0-2E1D-E882-07048E05E9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/>
              <a:t>Transfer learning</a:t>
            </a:r>
            <a:r>
              <a:rPr lang="pt-BR" dirty="0"/>
              <a:t> em uma rede convolucional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876A543-15C7-D702-9568-ACA8B58B8F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48300" y="1810384"/>
            <a:ext cx="6614391" cy="5047615"/>
          </a:xfrm>
        </p:spPr>
        <p:txBody>
          <a:bodyPr>
            <a:normAutofit/>
          </a:bodyPr>
          <a:lstStyle/>
          <a:p>
            <a:r>
              <a:rPr lang="pt-BR" dirty="0"/>
              <a:t>As </a:t>
            </a:r>
            <a:r>
              <a:rPr lang="pt-BR" b="1" i="1" dirty="0">
                <a:solidFill>
                  <a:srgbClr val="00B050"/>
                </a:solidFill>
              </a:rPr>
              <a:t>c</a:t>
            </a:r>
            <a:r>
              <a:rPr lang="pt-BR" b="1" i="1" dirty="0">
                <a:solidFill>
                  <a:srgbClr val="00B050"/>
                </a:solidFill>
                <a:effectLst/>
              </a:rPr>
              <a:t>amadas </a:t>
            </a:r>
            <a:r>
              <a:rPr lang="pt-BR" b="1" i="1" dirty="0">
                <a:solidFill>
                  <a:schemeClr val="accent1"/>
                </a:solidFill>
                <a:effectLst/>
              </a:rPr>
              <a:t>intermediárias</a:t>
            </a:r>
            <a:r>
              <a:rPr lang="pt-BR" b="0" i="0" dirty="0">
                <a:effectLst/>
              </a:rPr>
              <a:t>, </a:t>
            </a:r>
            <a:r>
              <a:rPr lang="pt-BR" b="1" i="1" dirty="0">
                <a:solidFill>
                  <a:srgbClr val="00B050"/>
                </a:solidFill>
                <a:effectLst/>
              </a:rPr>
              <a:t>baseando-se nas características aprendidas pelas camadas anteriores</a:t>
            </a:r>
            <a:r>
              <a:rPr lang="pt-BR" b="0" i="0" dirty="0">
                <a:effectLst/>
              </a:rPr>
              <a:t>, </a:t>
            </a:r>
            <a:r>
              <a:rPr lang="pt-BR" b="1" i="1" dirty="0">
                <a:solidFill>
                  <a:srgbClr val="7030A0"/>
                </a:solidFill>
                <a:effectLst/>
              </a:rPr>
              <a:t>aprendem a detectar características mais complexas</a:t>
            </a:r>
            <a:r>
              <a:rPr lang="pt-BR" b="0" i="0" dirty="0">
                <a:effectLst/>
              </a:rPr>
              <a:t>, como formas geométricas mais elaboradas, partes de objetos e texturas mais abstratas. </a:t>
            </a:r>
          </a:p>
          <a:p>
            <a:r>
              <a:rPr lang="pt-BR" b="0" i="0" dirty="0">
                <a:effectLst/>
              </a:rPr>
              <a:t>Estas camadas </a:t>
            </a:r>
            <a:r>
              <a:rPr lang="pt-BR" b="1" i="1" dirty="0">
                <a:solidFill>
                  <a:schemeClr val="accent1"/>
                </a:solidFill>
                <a:effectLst/>
              </a:rPr>
              <a:t>capturaram características parciais de objetos</a:t>
            </a:r>
            <a:r>
              <a:rPr lang="pt-BR" b="0" i="0" dirty="0">
                <a:effectLst/>
              </a:rPr>
              <a:t>, como, por exemplo, olhos, narizes e partes do corpo.</a:t>
            </a:r>
          </a:p>
          <a:p>
            <a:r>
              <a:rPr lang="pt-BR" dirty="0"/>
              <a:t>No caso de carros, lanternas, retrovisores, para-choques, vidros, pneus, etc.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B9C37BD2-3622-B871-A1EE-5CF9069A644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7617" y="1510093"/>
            <a:ext cx="3006466" cy="53479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627357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198613D-EEB0-2E1D-E882-07048E05E9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/>
              <a:t>Transfer learning</a:t>
            </a:r>
            <a:r>
              <a:rPr lang="pt-BR" dirty="0"/>
              <a:t> em uma rede convolucional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876A543-15C7-D702-9568-ACA8B58B8F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00725" y="1810384"/>
            <a:ext cx="6210299" cy="5047615"/>
          </a:xfrm>
        </p:spPr>
        <p:txBody>
          <a:bodyPr/>
          <a:lstStyle/>
          <a:p>
            <a:r>
              <a:rPr lang="pt-BR" b="0" i="0" dirty="0">
                <a:effectLst/>
              </a:rPr>
              <a:t>Nas </a:t>
            </a:r>
            <a:r>
              <a:rPr lang="pt-BR" b="1" i="1" dirty="0">
                <a:solidFill>
                  <a:srgbClr val="00B050"/>
                </a:solidFill>
                <a:effectLst/>
              </a:rPr>
              <a:t>camadas mais profundas, combinando as </a:t>
            </a:r>
            <a:r>
              <a:rPr lang="pt-BR" b="1" i="1" dirty="0">
                <a:solidFill>
                  <a:srgbClr val="00B050"/>
                </a:solidFill>
                <a:effectLst/>
                <a:latin typeface="Google Sans"/>
              </a:rPr>
              <a:t>características detectadas pelas camadas anteriores</a:t>
            </a:r>
            <a:r>
              <a:rPr lang="pt-BR" b="0" i="0" dirty="0">
                <a:solidFill>
                  <a:srgbClr val="1F1F1F"/>
                </a:solidFill>
                <a:effectLst/>
                <a:latin typeface="Google Sans"/>
              </a:rPr>
              <a:t>, </a:t>
            </a:r>
            <a:r>
              <a:rPr lang="pt-BR" b="0" i="0" dirty="0">
                <a:effectLst/>
              </a:rPr>
              <a:t>a </a:t>
            </a:r>
            <a:r>
              <a:rPr lang="pt-BR" b="1" i="1" dirty="0">
                <a:solidFill>
                  <a:srgbClr val="7030A0"/>
                </a:solidFill>
                <a:effectLst/>
              </a:rPr>
              <a:t>rede convolucional tende a aprender características de alto nível</a:t>
            </a:r>
            <a:r>
              <a:rPr lang="pt-BR" b="0" i="0" dirty="0">
                <a:effectLst/>
              </a:rPr>
              <a:t>, como partes completas de objetos, objetos inteiros e até mesmo conceitos semânticos mais abstratos, como "rosto humano" ou "carro".</a:t>
            </a:r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82034E66-99F7-EAA2-E86D-87FCD578976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18667" y="1510094"/>
            <a:ext cx="2887315" cy="53479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455671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198613D-EEB0-2E1D-E882-07048E05E9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/>
              <a:t>Transfer learning</a:t>
            </a:r>
            <a:r>
              <a:rPr lang="pt-BR" dirty="0"/>
              <a:t> em uma rede convolucional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876A543-15C7-D702-9568-ACA8B58B8F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00725" y="1810384"/>
            <a:ext cx="6210299" cy="5047615"/>
          </a:xfrm>
        </p:spPr>
        <p:txBody>
          <a:bodyPr>
            <a:normAutofit/>
          </a:bodyPr>
          <a:lstStyle/>
          <a:p>
            <a:r>
              <a:rPr lang="pt-BR" b="0" i="0" dirty="0">
                <a:effectLst/>
              </a:rPr>
              <a:t>As </a:t>
            </a:r>
            <a:r>
              <a:rPr lang="pt-BR" b="1" i="1" dirty="0">
                <a:solidFill>
                  <a:srgbClr val="00B050"/>
                </a:solidFill>
                <a:effectLst/>
              </a:rPr>
              <a:t>camadas densas</a:t>
            </a:r>
            <a:r>
              <a:rPr lang="pt-BR" b="0" i="0" dirty="0">
                <a:effectLst/>
              </a:rPr>
              <a:t> </a:t>
            </a:r>
            <a:r>
              <a:rPr lang="pt-BR" b="1" i="1" dirty="0">
                <a:solidFill>
                  <a:srgbClr val="00B050"/>
                </a:solidFill>
                <a:effectLst/>
              </a:rPr>
              <a:t>recebem as características extraídas</a:t>
            </a:r>
            <a:r>
              <a:rPr lang="pt-BR" b="0" i="0" dirty="0">
                <a:effectLst/>
              </a:rPr>
              <a:t> pelas camadas convolucionais e </a:t>
            </a:r>
            <a:r>
              <a:rPr lang="pt-BR" b="1" i="1" dirty="0">
                <a:solidFill>
                  <a:srgbClr val="00B050"/>
                </a:solidFill>
                <a:effectLst/>
              </a:rPr>
              <a:t>combinam essas informações</a:t>
            </a:r>
            <a:r>
              <a:rPr lang="pt-BR" b="0" i="0" dirty="0">
                <a:effectLst/>
              </a:rPr>
              <a:t> para </a:t>
            </a:r>
            <a:r>
              <a:rPr lang="pt-BR" b="1" i="1" dirty="0">
                <a:solidFill>
                  <a:srgbClr val="00B050"/>
                </a:solidFill>
                <a:effectLst/>
              </a:rPr>
              <a:t>aprender padrões complexos</a:t>
            </a:r>
            <a:r>
              <a:rPr lang="pt-BR" b="0" i="0" dirty="0">
                <a:effectLst/>
              </a:rPr>
              <a:t> e realizar a tarefa de </a:t>
            </a:r>
            <a:r>
              <a:rPr lang="pt-BR" b="1" i="1" dirty="0">
                <a:solidFill>
                  <a:srgbClr val="00B050"/>
                </a:solidFill>
                <a:effectLst/>
              </a:rPr>
              <a:t>classificação</a:t>
            </a:r>
            <a:r>
              <a:rPr lang="pt-BR" b="0" i="0" dirty="0">
                <a:effectLst/>
              </a:rPr>
              <a:t> ou </a:t>
            </a:r>
            <a:r>
              <a:rPr lang="pt-BR" b="1" i="1" dirty="0">
                <a:solidFill>
                  <a:srgbClr val="00B050"/>
                </a:solidFill>
                <a:effectLst/>
              </a:rPr>
              <a:t>regressão</a:t>
            </a:r>
            <a:r>
              <a:rPr lang="pt-BR" b="0" i="0" dirty="0">
                <a:effectLst/>
              </a:rPr>
              <a:t>.</a:t>
            </a:r>
          </a:p>
          <a:p>
            <a:r>
              <a:rPr lang="pt-BR" b="0" i="0" dirty="0">
                <a:effectLst/>
              </a:rPr>
              <a:t>Em tarefas de classificação, elas mapeiam as características para as classes alvo, enquanto em tarefas de regressão, produzem uma saída contínua.</a:t>
            </a:r>
            <a:endParaRPr lang="en-US" b="0" i="0" dirty="0">
              <a:effectLst/>
            </a:endParaRP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0AE7B5E7-DC56-C2A1-C7F5-689109FE344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27327" y="1507322"/>
            <a:ext cx="2679495" cy="53506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665024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EA5F541-861D-90DA-6914-F9F192AF26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/>
              <a:t>Transfer learning</a:t>
            </a:r>
            <a:r>
              <a:rPr lang="pt-BR" dirty="0"/>
              <a:t> em uma rede convolucional</a:t>
            </a:r>
          </a:p>
        </p:txBody>
      </p:sp>
      <p:sp>
        <p:nvSpPr>
          <p:cNvPr id="5" name="Espaço Reservado para Conteúdo 2">
            <a:extLst>
              <a:ext uri="{FF2B5EF4-FFF2-40B4-BE49-F238E27FC236}">
                <a16:creationId xmlns:a16="http://schemas.microsoft.com/office/drawing/2014/main" id="{AC5A6706-D53F-396B-6CC2-8EF58B39E3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48425" y="1825624"/>
            <a:ext cx="5614267" cy="5032375"/>
          </a:xfrm>
        </p:spPr>
        <p:txBody>
          <a:bodyPr/>
          <a:lstStyle/>
          <a:p>
            <a:r>
              <a:rPr lang="pt-BR" b="1" i="1" dirty="0">
                <a:solidFill>
                  <a:srgbClr val="00B050"/>
                </a:solidFill>
              </a:rPr>
              <a:t>Combinando conceitos simples</a:t>
            </a:r>
            <a:r>
              <a:rPr lang="pt-BR" dirty="0"/>
              <a:t>, como cantos e contornos, </a:t>
            </a:r>
            <a:r>
              <a:rPr lang="pt-BR" b="1" i="1" dirty="0">
                <a:solidFill>
                  <a:srgbClr val="00B050"/>
                </a:solidFill>
              </a:rPr>
              <a:t>com conceitos mais complexos</a:t>
            </a:r>
            <a:r>
              <a:rPr lang="pt-BR" dirty="0"/>
              <a:t>, como partes de um objeto, </a:t>
            </a:r>
            <a:r>
              <a:rPr lang="pt-BR" b="1" i="1" dirty="0">
                <a:solidFill>
                  <a:srgbClr val="00B050"/>
                </a:solidFill>
              </a:rPr>
              <a:t>uma rede convolucional aprende a detectar gatos</a:t>
            </a:r>
            <a:r>
              <a:rPr lang="pt-BR" dirty="0"/>
              <a:t>, por exemplo.</a:t>
            </a:r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ABFB8992-991C-82EC-48A1-622A8AB2801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8225" y="1475148"/>
            <a:ext cx="4829175" cy="53542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908419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EA5F541-861D-90DA-6914-F9F192AF26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/>
              <a:t>Transfer learning</a:t>
            </a:r>
            <a:r>
              <a:rPr lang="pt-BR" dirty="0"/>
              <a:t> em uma rede convolucional</a:t>
            </a: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45D52B30-A556-0AAB-8548-F32B83EE8D3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536700"/>
            <a:ext cx="8255356" cy="5321300"/>
          </a:xfrm>
          <a:prstGeom prst="rect">
            <a:avLst/>
          </a:prstGeom>
        </p:spPr>
      </p:pic>
      <p:sp>
        <p:nvSpPr>
          <p:cNvPr id="9" name="Espaço Reservado para Conteúdo 2">
            <a:extLst>
              <a:ext uri="{FF2B5EF4-FFF2-40B4-BE49-F238E27FC236}">
                <a16:creationId xmlns:a16="http://schemas.microsoft.com/office/drawing/2014/main" id="{D2709E77-8BB0-BEBE-5FA7-7669E9BF53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255356" y="1825624"/>
            <a:ext cx="3807336" cy="5032375"/>
          </a:xfrm>
        </p:spPr>
        <p:txBody>
          <a:bodyPr/>
          <a:lstStyle/>
          <a:p>
            <a:r>
              <a:rPr lang="pt-BR" dirty="0"/>
              <a:t>Usando </a:t>
            </a:r>
            <a:r>
              <a:rPr lang="pt-BR" i="1" dirty="0" err="1"/>
              <a:t>transfer</a:t>
            </a:r>
            <a:r>
              <a:rPr lang="pt-BR" i="1" dirty="0"/>
              <a:t> </a:t>
            </a:r>
            <a:r>
              <a:rPr lang="pt-BR" i="1" dirty="0" err="1"/>
              <a:t>learning</a:t>
            </a:r>
            <a:r>
              <a:rPr lang="pt-BR" i="1" dirty="0"/>
              <a:t>, </a:t>
            </a:r>
            <a:r>
              <a:rPr lang="pt-BR" dirty="0"/>
              <a:t>podemos usar as características aprendidas sobre gatos e usá-las para identificar tigres, por exemplo.</a:t>
            </a:r>
          </a:p>
        </p:txBody>
      </p:sp>
    </p:spTree>
    <p:extLst>
      <p:ext uri="{BB962C8B-B14F-4D97-AF65-F5344CB8AC3E}">
        <p14:creationId xmlns:p14="http://schemas.microsoft.com/office/powerpoint/2010/main" val="114729747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74DDB77-2ADD-1183-CAAA-7C3763BFBA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/>
              <a:t>Transfer learning</a:t>
            </a:r>
            <a:r>
              <a:rPr lang="pt-BR" dirty="0"/>
              <a:t> em uma rede convolucional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F005E55-CF79-10BA-EFE2-7E4460C2F6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1825624"/>
            <a:ext cx="5957454" cy="5032375"/>
          </a:xfrm>
        </p:spPr>
        <p:txBody>
          <a:bodyPr>
            <a:normAutofit/>
          </a:bodyPr>
          <a:lstStyle/>
          <a:p>
            <a:r>
              <a:rPr lang="pt-BR" dirty="0"/>
              <a:t>Portanto, o que nós fazemos no </a:t>
            </a:r>
            <a:r>
              <a:rPr lang="pt-BR" i="1" dirty="0" err="1"/>
              <a:t>transfer</a:t>
            </a:r>
            <a:r>
              <a:rPr lang="pt-BR" i="1" dirty="0"/>
              <a:t> learning</a:t>
            </a:r>
            <a:r>
              <a:rPr lang="pt-BR" dirty="0"/>
              <a:t> é </a:t>
            </a:r>
            <a:r>
              <a:rPr lang="pt-BR" b="1" i="1" dirty="0">
                <a:solidFill>
                  <a:srgbClr val="00B050"/>
                </a:solidFill>
              </a:rPr>
              <a:t>congelar</a:t>
            </a:r>
            <a:r>
              <a:rPr lang="pt-BR" dirty="0"/>
              <a:t> os pesos das camadas iniciais (i.e., </a:t>
            </a:r>
            <a:r>
              <a:rPr lang="pt-BR" b="1" i="1" dirty="0">
                <a:solidFill>
                  <a:srgbClr val="7030A0"/>
                </a:solidFill>
              </a:rPr>
              <a:t>características gerais, independentes da tarefa</a:t>
            </a:r>
            <a:r>
              <a:rPr lang="pt-BR" dirty="0"/>
              <a:t>) e apenas aplicar </a:t>
            </a:r>
            <a:r>
              <a:rPr lang="pt-BR" b="1" i="1" dirty="0">
                <a:solidFill>
                  <a:srgbClr val="00B050"/>
                </a:solidFill>
              </a:rPr>
              <a:t>atualizações</a:t>
            </a:r>
            <a:r>
              <a:rPr lang="pt-BR" dirty="0"/>
              <a:t> (i.e., gradiente descendente) </a:t>
            </a:r>
            <a:r>
              <a:rPr lang="pt-BR" b="1" i="1" dirty="0">
                <a:solidFill>
                  <a:srgbClr val="00B050"/>
                </a:solidFill>
              </a:rPr>
              <a:t>aos pesos das camadas finais</a:t>
            </a:r>
            <a:r>
              <a:rPr lang="pt-BR" dirty="0"/>
              <a:t>.</a:t>
            </a:r>
          </a:p>
          <a:p>
            <a:r>
              <a:rPr lang="pt-BR" dirty="0"/>
              <a:t>Se a tarefa da rede neural pré-treinada for </a:t>
            </a:r>
            <a:r>
              <a:rPr lang="pt-BR" b="1" i="1" dirty="0">
                <a:solidFill>
                  <a:srgbClr val="00B050"/>
                </a:solidFill>
              </a:rPr>
              <a:t>muito similar à nova tarefa</a:t>
            </a:r>
            <a:r>
              <a:rPr lang="pt-BR" dirty="0"/>
              <a:t>, pode-se </a:t>
            </a:r>
            <a:r>
              <a:rPr lang="pt-BR" b="1" i="1" dirty="0">
                <a:solidFill>
                  <a:srgbClr val="7030A0"/>
                </a:solidFill>
              </a:rPr>
              <a:t>treinar apenas as camadas densas</a:t>
            </a:r>
            <a:r>
              <a:rPr lang="pt-BR" dirty="0"/>
              <a:t>.</a:t>
            </a:r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7A011B31-91B1-DEC6-AAFB-E8B32226C60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3821" y="1690688"/>
            <a:ext cx="5191164" cy="5032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585783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74DDB77-2ADD-1183-CAAA-7C3763BFBA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810875" cy="1325563"/>
          </a:xfrm>
        </p:spPr>
        <p:txBody>
          <a:bodyPr/>
          <a:lstStyle/>
          <a:p>
            <a:r>
              <a:rPr lang="pt-BR" dirty="0"/>
              <a:t>Procedimento para aplicar o </a:t>
            </a:r>
            <a:r>
              <a:rPr lang="pt-BR" i="1" dirty="0"/>
              <a:t>T</a:t>
            </a:r>
            <a:r>
              <a:rPr lang="pt-BR" b="0" i="1" dirty="0">
                <a:effectLst/>
              </a:rPr>
              <a:t>ransfer learning</a:t>
            </a: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F005E55-CF79-10BA-EFE2-7E4460C2F6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215254" cy="5032376"/>
          </a:xfrm>
        </p:spPr>
        <p:txBody>
          <a:bodyPr>
            <a:normAutofit lnSpcReduction="10000"/>
          </a:bodyPr>
          <a:lstStyle/>
          <a:p>
            <a:r>
              <a:rPr lang="pt-BR" dirty="0"/>
              <a:t>Em geral, </a:t>
            </a:r>
            <a:r>
              <a:rPr lang="pt-BR" b="1" i="1" dirty="0">
                <a:solidFill>
                  <a:srgbClr val="00B050"/>
                </a:solidFill>
              </a:rPr>
              <a:t>começamos com todas as camadas congeladas</a:t>
            </a:r>
            <a:r>
              <a:rPr lang="pt-BR" dirty="0"/>
              <a:t>, com </a:t>
            </a:r>
            <a:r>
              <a:rPr lang="pt-BR" b="1" i="1" dirty="0">
                <a:solidFill>
                  <a:srgbClr val="00B050"/>
                </a:solidFill>
              </a:rPr>
              <a:t>exceção da camada densa de saída</a:t>
            </a:r>
            <a:r>
              <a:rPr lang="pt-BR" dirty="0"/>
              <a:t> (i.e., a camada com função de ativação </a:t>
            </a:r>
            <a:r>
              <a:rPr lang="pt-BR" i="1" dirty="0"/>
              <a:t>softmax</a:t>
            </a:r>
            <a:r>
              <a:rPr lang="pt-BR" dirty="0"/>
              <a:t>).</a:t>
            </a:r>
          </a:p>
          <a:p>
            <a:r>
              <a:rPr lang="pt-BR" b="1" i="1" dirty="0">
                <a:solidFill>
                  <a:srgbClr val="00B050"/>
                </a:solidFill>
              </a:rPr>
              <a:t>Treinamos</a:t>
            </a:r>
            <a:r>
              <a:rPr lang="pt-BR" dirty="0"/>
              <a:t> o modelo por um número de épocas pequeno e </a:t>
            </a:r>
            <a:r>
              <a:rPr lang="pt-BR" b="1" i="1" dirty="0">
                <a:solidFill>
                  <a:srgbClr val="00B050"/>
                </a:solidFill>
              </a:rPr>
              <a:t>verificamos seu desempenho</a:t>
            </a:r>
            <a:r>
              <a:rPr lang="pt-BR" dirty="0"/>
              <a:t>.</a:t>
            </a:r>
          </a:p>
          <a:p>
            <a:r>
              <a:rPr lang="pt-BR" dirty="0"/>
              <a:t>Na sequência, </a:t>
            </a:r>
            <a:r>
              <a:rPr lang="pt-BR" b="1" i="1" dirty="0">
                <a:solidFill>
                  <a:srgbClr val="00B050"/>
                </a:solidFill>
              </a:rPr>
              <a:t>descongelamos uma ou duas camadas </a:t>
            </a:r>
            <a:r>
              <a:rPr lang="pt-BR" dirty="0"/>
              <a:t>ocultas do topo da rede e </a:t>
            </a:r>
            <a:r>
              <a:rPr lang="pt-BR" b="1" i="1" dirty="0">
                <a:solidFill>
                  <a:srgbClr val="00B050"/>
                </a:solidFill>
              </a:rPr>
              <a:t>treinamos</a:t>
            </a:r>
            <a:r>
              <a:rPr lang="pt-BR" dirty="0"/>
              <a:t> o modelo para ver se seu </a:t>
            </a:r>
            <a:r>
              <a:rPr lang="pt-BR" b="1" i="1" dirty="0">
                <a:solidFill>
                  <a:srgbClr val="00B050"/>
                </a:solidFill>
              </a:rPr>
              <a:t>desempenho melhora</a:t>
            </a:r>
            <a:r>
              <a:rPr lang="pt-BR" dirty="0"/>
              <a:t>.</a:t>
            </a:r>
          </a:p>
          <a:p>
            <a:r>
              <a:rPr lang="pt-BR" dirty="0"/>
              <a:t>Esse </a:t>
            </a:r>
            <a:r>
              <a:rPr lang="pt-BR" b="1" i="1" dirty="0">
                <a:solidFill>
                  <a:srgbClr val="00B050"/>
                </a:solidFill>
              </a:rPr>
              <a:t>processo</a:t>
            </a:r>
            <a:r>
              <a:rPr lang="pt-BR" dirty="0"/>
              <a:t> pode ser </a:t>
            </a:r>
            <a:r>
              <a:rPr lang="pt-BR" b="1" i="1" dirty="0">
                <a:solidFill>
                  <a:srgbClr val="00B050"/>
                </a:solidFill>
              </a:rPr>
              <a:t>repetido até que não se obtenha mais melhorias </a:t>
            </a:r>
            <a:r>
              <a:rPr lang="pt-BR" dirty="0"/>
              <a:t>no desempenho.</a:t>
            </a:r>
          </a:p>
          <a:p>
            <a:r>
              <a:rPr lang="pt-BR" b="1" i="1" dirty="0">
                <a:solidFill>
                  <a:srgbClr val="00B050"/>
                </a:solidFill>
              </a:rPr>
              <a:t>Quanto mais dados de treinamento </a:t>
            </a:r>
            <a:r>
              <a:rPr lang="pt-BR" dirty="0"/>
              <a:t>tivermos, </a:t>
            </a:r>
            <a:r>
              <a:rPr lang="pt-BR" b="1" i="1" dirty="0">
                <a:solidFill>
                  <a:srgbClr val="00B050"/>
                </a:solidFill>
              </a:rPr>
              <a:t>mais camadas podemos descongelar</a:t>
            </a:r>
            <a:r>
              <a:rPr lang="pt-BR" dirty="0"/>
              <a:t>.</a:t>
            </a:r>
          </a:p>
          <a:p>
            <a:r>
              <a:rPr lang="pt-BR" dirty="0"/>
              <a:t>Também é útil </a:t>
            </a:r>
            <a:r>
              <a:rPr lang="pt-BR" b="1" i="1" dirty="0">
                <a:solidFill>
                  <a:srgbClr val="00B050"/>
                </a:solidFill>
              </a:rPr>
              <a:t>reduzir a taxa de aprendizado ao descongelar camadas</a:t>
            </a:r>
            <a:r>
              <a:rPr lang="pt-BR" dirty="0"/>
              <a:t>, pois isso evitará destruir os pesos já ajustados.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FDE28649-7E97-000A-0205-D57160E6B828}"/>
              </a:ext>
            </a:extLst>
          </p:cNvPr>
          <p:cNvSpPr txBox="1"/>
          <p:nvPr/>
        </p:nvSpPr>
        <p:spPr>
          <a:xfrm>
            <a:off x="10058399" y="6596390"/>
            <a:ext cx="213360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100" dirty="0">
                <a:hlinkClick r:id="rId3"/>
              </a:rPr>
              <a:t>Exemplo: </a:t>
            </a:r>
            <a:r>
              <a:rPr lang="pt-BR" sz="1100" dirty="0" err="1">
                <a:hlinkClick r:id="rId3"/>
              </a:rPr>
              <a:t>transfer_learning.ipynb</a:t>
            </a:r>
            <a:endParaRPr lang="pt-BR" sz="1100" dirty="0"/>
          </a:p>
        </p:txBody>
      </p:sp>
    </p:spTree>
    <p:extLst>
      <p:ext uri="{BB962C8B-B14F-4D97-AF65-F5344CB8AC3E}">
        <p14:creationId xmlns:p14="http://schemas.microsoft.com/office/powerpoint/2010/main" val="150624440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9BDB820-ABFF-2261-5366-6654CE55A1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Exemplo: </a:t>
            </a:r>
            <a:r>
              <a:rPr lang="pt-BR" i="1" dirty="0" err="1"/>
              <a:t>transfer</a:t>
            </a:r>
            <a:r>
              <a:rPr lang="pt-BR" i="1" dirty="0"/>
              <a:t> </a:t>
            </a:r>
            <a:r>
              <a:rPr lang="pt-BR" i="1" dirty="0" err="1"/>
              <a:t>learning</a:t>
            </a:r>
            <a:r>
              <a:rPr lang="pt-BR" dirty="0"/>
              <a:t> com </a:t>
            </a:r>
            <a:r>
              <a:rPr lang="pt-BR" i="1" dirty="0"/>
              <a:t>Edge Impulse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61C4E1B-47A9-2660-93E5-C1E6429795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81650" y="1825624"/>
            <a:ext cx="6410325" cy="5032376"/>
          </a:xfrm>
        </p:spPr>
        <p:txBody>
          <a:bodyPr>
            <a:normAutofit/>
          </a:bodyPr>
          <a:lstStyle/>
          <a:p>
            <a:r>
              <a:rPr lang="pt-BR" dirty="0"/>
              <a:t>Criaremos um projeto no </a:t>
            </a:r>
            <a:r>
              <a:rPr lang="pt-BR" i="1" dirty="0"/>
              <a:t>Edge Impulse</a:t>
            </a:r>
            <a:r>
              <a:rPr lang="pt-BR" dirty="0"/>
              <a:t> onde usaremos um modelo </a:t>
            </a:r>
            <a:r>
              <a:rPr lang="pt-BR" dirty="0" err="1"/>
              <a:t>pré</a:t>
            </a:r>
            <a:r>
              <a:rPr lang="pt-BR" dirty="0"/>
              <a:t>-treinado para treinar um modelo que diferencie entre folhas saudáveis e doentes de feijão. </a:t>
            </a:r>
          </a:p>
          <a:p>
            <a:r>
              <a:rPr lang="pt-BR" dirty="0"/>
              <a:t>Para esta tarefa, </a:t>
            </a:r>
            <a:r>
              <a:rPr lang="pt-BR" b="1" i="1" dirty="0">
                <a:solidFill>
                  <a:schemeClr val="accent1"/>
                </a:solidFill>
              </a:rPr>
              <a:t>temos apenas </a:t>
            </a:r>
            <a:r>
              <a:rPr lang="pt-BR" dirty="0"/>
              <a:t>1296 imagens com 224x224 </a:t>
            </a:r>
            <a:r>
              <a:rPr lang="pt-BR" i="1" dirty="0"/>
              <a:t>pixels</a:t>
            </a:r>
            <a:r>
              <a:rPr lang="pt-BR" dirty="0"/>
              <a:t> dividas em três classes: </a:t>
            </a:r>
            <a:r>
              <a:rPr lang="pt-BR" i="1" dirty="0" err="1"/>
              <a:t>healthy</a:t>
            </a:r>
            <a:r>
              <a:rPr lang="pt-BR" dirty="0"/>
              <a:t>, </a:t>
            </a:r>
            <a:r>
              <a:rPr lang="pt-BR" i="1" dirty="0"/>
              <a:t>angular</a:t>
            </a:r>
            <a:r>
              <a:rPr lang="pt-BR" dirty="0"/>
              <a:t> </a:t>
            </a:r>
            <a:r>
              <a:rPr lang="pt-BR" i="1" dirty="0"/>
              <a:t>spot</a:t>
            </a:r>
            <a:r>
              <a:rPr lang="pt-BR" dirty="0"/>
              <a:t> e </a:t>
            </a:r>
            <a:r>
              <a:rPr lang="pt-BR" i="1" dirty="0" err="1"/>
              <a:t>rust</a:t>
            </a:r>
            <a:r>
              <a:rPr lang="pt-BR" dirty="0"/>
              <a:t>.</a:t>
            </a:r>
          </a:p>
          <a:p>
            <a:pPr marL="0" indent="0">
              <a:buNone/>
            </a:pPr>
            <a:endParaRPr lang="pt-BR" dirty="0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14518F32-26AA-FE29-8B25-4FACDD333D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9221" y="2057398"/>
            <a:ext cx="4772836" cy="4187825"/>
          </a:xfrm>
          <a:prstGeom prst="rect">
            <a:avLst/>
          </a:prstGeom>
        </p:spPr>
      </p:pic>
      <p:graphicFrame>
        <p:nvGraphicFramePr>
          <p:cNvPr id="6" name="Tabela 5">
            <a:extLst>
              <a:ext uri="{FF2B5EF4-FFF2-40B4-BE49-F238E27FC236}">
                <a16:creationId xmlns:a16="http://schemas.microsoft.com/office/drawing/2014/main" id="{C1256586-BDA1-5E99-AF48-8E1EE9E59DF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8703637"/>
              </p:ext>
            </p:extLst>
          </p:nvPr>
        </p:nvGraphicFramePr>
        <p:xfrm>
          <a:off x="6948485" y="5196416"/>
          <a:ext cx="4005265" cy="14833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651066">
                  <a:extLst>
                    <a:ext uri="{9D8B030D-6E8A-4147-A177-3AD203B41FA5}">
                      <a16:colId xmlns:a16="http://schemas.microsoft.com/office/drawing/2014/main" val="3405270314"/>
                    </a:ext>
                  </a:extLst>
                </a:gridCol>
                <a:gridCol w="2354199">
                  <a:extLst>
                    <a:ext uri="{9D8B030D-6E8A-4147-A177-3AD203B41FA5}">
                      <a16:colId xmlns:a16="http://schemas.microsoft.com/office/drawing/2014/main" val="69399244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Classe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Número de exemplos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040833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i="1" dirty="0" err="1"/>
                        <a:t>Healthy</a:t>
                      </a:r>
                      <a:endParaRPr lang="pt-BR" i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428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522944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i="1" dirty="0"/>
                        <a:t>Angular</a:t>
                      </a:r>
                      <a:r>
                        <a:rPr lang="pt-BR" dirty="0"/>
                        <a:t> </a:t>
                      </a:r>
                      <a:r>
                        <a:rPr lang="pt-BR" i="1" dirty="0"/>
                        <a:t>spot</a:t>
                      </a:r>
                      <a:endParaRPr lang="pt-BR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432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09227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i="1" dirty="0" err="1"/>
                        <a:t>Rust</a:t>
                      </a:r>
                      <a:endParaRPr lang="pt-BR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436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4928243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4154318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9BDB820-ABFF-2261-5366-6654CE55A1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Exemplo: </a:t>
            </a:r>
            <a:r>
              <a:rPr lang="pt-BR" i="1" dirty="0" err="1"/>
              <a:t>transfer</a:t>
            </a:r>
            <a:r>
              <a:rPr lang="pt-BR" i="1" dirty="0"/>
              <a:t> </a:t>
            </a:r>
            <a:r>
              <a:rPr lang="pt-BR" i="1" dirty="0" err="1"/>
              <a:t>learning</a:t>
            </a:r>
            <a:r>
              <a:rPr lang="pt-BR" dirty="0"/>
              <a:t> com </a:t>
            </a:r>
            <a:r>
              <a:rPr lang="pt-BR" i="1" dirty="0"/>
              <a:t>Edge Impulse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61C4E1B-47A9-2660-93E5-C1E6429795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81650" y="1825624"/>
            <a:ext cx="6410325" cy="5032376"/>
          </a:xfrm>
        </p:spPr>
        <p:txBody>
          <a:bodyPr>
            <a:normAutofit/>
          </a:bodyPr>
          <a:lstStyle/>
          <a:p>
            <a:r>
              <a:rPr lang="pt-BR" dirty="0"/>
              <a:t>Edge Impulse: </a:t>
            </a:r>
            <a:r>
              <a:rPr lang="pt-BR" dirty="0">
                <a:hlinkClick r:id="rId3"/>
              </a:rPr>
              <a:t>https://studio.edgeimpulse.com/login</a:t>
            </a:r>
            <a:endParaRPr lang="pt-BR" dirty="0"/>
          </a:p>
          <a:p>
            <a:r>
              <a:rPr lang="pt-BR" dirty="0"/>
              <a:t>Base de dados</a:t>
            </a:r>
            <a:r>
              <a:rPr lang="pt-BR"/>
              <a:t>: </a:t>
            </a:r>
            <a:r>
              <a:rPr lang="pt-BR">
                <a:hlinkClick r:id="rId4"/>
              </a:rPr>
              <a:t>https://github.com/AI-Lab-Makerere/ibean/?tab=readme-ov-file</a:t>
            </a:r>
            <a:endParaRPr lang="pt-BR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14518F32-26AA-FE29-8B25-4FACDD333D6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3971" y="2019298"/>
            <a:ext cx="4772836" cy="4187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11054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755BD9F-A5F9-C006-2D60-3988AFB742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Atividades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E398648-3AD3-9986-3010-6210876DC9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849304" cy="4351338"/>
          </a:xfrm>
        </p:spPr>
        <p:txBody>
          <a:bodyPr/>
          <a:lstStyle/>
          <a:p>
            <a:r>
              <a:rPr lang="pt-BR" dirty="0"/>
              <a:t>Quiz: “</a:t>
            </a:r>
            <a:r>
              <a:rPr lang="pt-BR" b="1" i="1" dirty="0"/>
              <a:t>TP557 – Evitando o sobreajuste</a:t>
            </a:r>
            <a:r>
              <a:rPr lang="pt-BR" dirty="0"/>
              <a:t>”.</a:t>
            </a:r>
          </a:p>
          <a:p>
            <a:r>
              <a:rPr lang="pt-BR" dirty="0">
                <a:hlinkClick r:id="rId3"/>
              </a:rPr>
              <a:t>Exercício: Transfer learning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1852029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Perguntas?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197598151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59914587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Agrupar 36">
            <a:extLst>
              <a:ext uri="{FF2B5EF4-FFF2-40B4-BE49-F238E27FC236}">
                <a16:creationId xmlns:a16="http://schemas.microsoft.com/office/drawing/2014/main" id="{1C8D53DB-6B6B-ED4A-8F9E-ADA3546A2EE4}"/>
              </a:ext>
            </a:extLst>
          </p:cNvPr>
          <p:cNvGrpSpPr/>
          <p:nvPr/>
        </p:nvGrpSpPr>
        <p:grpSpPr>
          <a:xfrm>
            <a:off x="182390" y="1017061"/>
            <a:ext cx="3205480" cy="5281073"/>
            <a:chOff x="1155700" y="1034448"/>
            <a:chExt cx="3205480" cy="5281073"/>
          </a:xfrm>
        </p:grpSpPr>
        <p:sp>
          <p:nvSpPr>
            <p:cNvPr id="34" name="Retângulo 33">
              <a:extLst>
                <a:ext uri="{FF2B5EF4-FFF2-40B4-BE49-F238E27FC236}">
                  <a16:creationId xmlns:a16="http://schemas.microsoft.com/office/drawing/2014/main" id="{A9F595B1-2923-A20A-91C6-99C9322422CC}"/>
                </a:ext>
              </a:extLst>
            </p:cNvPr>
            <p:cNvSpPr/>
            <p:nvPr/>
          </p:nvSpPr>
          <p:spPr>
            <a:xfrm>
              <a:off x="1155700" y="1371602"/>
              <a:ext cx="1470025" cy="992904"/>
            </a:xfrm>
            <a:prstGeom prst="rect">
              <a:avLst/>
            </a:prstGeom>
            <a:noFill/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31" name="Seta: para Baixo 30">
              <a:extLst>
                <a:ext uri="{FF2B5EF4-FFF2-40B4-BE49-F238E27FC236}">
                  <a16:creationId xmlns:a16="http://schemas.microsoft.com/office/drawing/2014/main" id="{83F61D44-C2E7-172B-756F-F623D07F2358}"/>
                </a:ext>
              </a:extLst>
            </p:cNvPr>
            <p:cNvSpPr/>
            <p:nvPr/>
          </p:nvSpPr>
          <p:spPr>
            <a:xfrm>
              <a:off x="1779587" y="5841995"/>
              <a:ext cx="200026" cy="165749"/>
            </a:xfrm>
            <a:prstGeom prst="downArrow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" name="Retângulo 3">
              <a:extLst>
                <a:ext uri="{FF2B5EF4-FFF2-40B4-BE49-F238E27FC236}">
                  <a16:creationId xmlns:a16="http://schemas.microsoft.com/office/drawing/2014/main" id="{3F4BBA20-FDCE-A285-D6AF-122CD56243CA}"/>
                </a:ext>
              </a:extLst>
            </p:cNvPr>
            <p:cNvSpPr/>
            <p:nvPr/>
          </p:nvSpPr>
          <p:spPr>
            <a:xfrm>
              <a:off x="1209964" y="1477818"/>
              <a:ext cx="1339272" cy="332509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Conv2D</a:t>
              </a:r>
            </a:p>
          </p:txBody>
        </p:sp>
        <p:sp>
          <p:nvSpPr>
            <p:cNvPr id="6" name="Retângulo 5">
              <a:extLst>
                <a:ext uri="{FF2B5EF4-FFF2-40B4-BE49-F238E27FC236}">
                  <a16:creationId xmlns:a16="http://schemas.microsoft.com/office/drawing/2014/main" id="{44A5667B-3EF1-57FA-B6A5-5A884413EF06}"/>
                </a:ext>
              </a:extLst>
            </p:cNvPr>
            <p:cNvSpPr/>
            <p:nvPr/>
          </p:nvSpPr>
          <p:spPr>
            <a:xfrm>
              <a:off x="1209964" y="1990436"/>
              <a:ext cx="1339272" cy="332509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Conv2D</a:t>
              </a:r>
            </a:p>
          </p:txBody>
        </p:sp>
        <p:sp>
          <p:nvSpPr>
            <p:cNvPr id="7" name="Retângulo 6">
              <a:extLst>
                <a:ext uri="{FF2B5EF4-FFF2-40B4-BE49-F238E27FC236}">
                  <a16:creationId xmlns:a16="http://schemas.microsoft.com/office/drawing/2014/main" id="{8693378F-E1EE-7220-2E6F-08923B6265E8}"/>
                </a:ext>
              </a:extLst>
            </p:cNvPr>
            <p:cNvSpPr/>
            <p:nvPr/>
          </p:nvSpPr>
          <p:spPr>
            <a:xfrm>
              <a:off x="1209964" y="2503054"/>
              <a:ext cx="1339272" cy="332509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Conv2D</a:t>
              </a:r>
            </a:p>
          </p:txBody>
        </p:sp>
        <p:sp>
          <p:nvSpPr>
            <p:cNvPr id="8" name="Retângulo 7">
              <a:extLst>
                <a:ext uri="{FF2B5EF4-FFF2-40B4-BE49-F238E27FC236}">
                  <a16:creationId xmlns:a16="http://schemas.microsoft.com/office/drawing/2014/main" id="{4BF1D4E3-BB11-26BA-6BA2-48CF0CE675B3}"/>
                </a:ext>
              </a:extLst>
            </p:cNvPr>
            <p:cNvSpPr/>
            <p:nvPr/>
          </p:nvSpPr>
          <p:spPr>
            <a:xfrm>
              <a:off x="1209964" y="2997199"/>
              <a:ext cx="1339272" cy="332509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Conv2D</a:t>
              </a:r>
            </a:p>
          </p:txBody>
        </p:sp>
        <p:sp>
          <p:nvSpPr>
            <p:cNvPr id="9" name="Retângulo 8">
              <a:extLst>
                <a:ext uri="{FF2B5EF4-FFF2-40B4-BE49-F238E27FC236}">
                  <a16:creationId xmlns:a16="http://schemas.microsoft.com/office/drawing/2014/main" id="{FA452BFC-A4D0-4A81-67EF-51C195876831}"/>
                </a:ext>
              </a:extLst>
            </p:cNvPr>
            <p:cNvSpPr/>
            <p:nvPr/>
          </p:nvSpPr>
          <p:spPr>
            <a:xfrm>
              <a:off x="1209964" y="3491344"/>
              <a:ext cx="1339272" cy="332509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Conv2D</a:t>
              </a:r>
            </a:p>
          </p:txBody>
        </p:sp>
        <p:sp>
          <p:nvSpPr>
            <p:cNvPr id="10" name="Retângulo 9">
              <a:extLst>
                <a:ext uri="{FF2B5EF4-FFF2-40B4-BE49-F238E27FC236}">
                  <a16:creationId xmlns:a16="http://schemas.microsoft.com/office/drawing/2014/main" id="{499A7AED-B38A-6DDE-0B30-D5C44B5322C1}"/>
                </a:ext>
              </a:extLst>
            </p:cNvPr>
            <p:cNvSpPr/>
            <p:nvPr/>
          </p:nvSpPr>
          <p:spPr>
            <a:xfrm>
              <a:off x="1209964" y="3985489"/>
              <a:ext cx="1339272" cy="332509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Conv2D</a:t>
              </a:r>
            </a:p>
          </p:txBody>
        </p:sp>
        <p:sp>
          <p:nvSpPr>
            <p:cNvPr id="11" name="Retângulo 10">
              <a:extLst>
                <a:ext uri="{FF2B5EF4-FFF2-40B4-BE49-F238E27FC236}">
                  <a16:creationId xmlns:a16="http://schemas.microsoft.com/office/drawing/2014/main" id="{CB68E9C5-78FF-D7C2-DDB8-6764EFA6EBD4}"/>
                </a:ext>
              </a:extLst>
            </p:cNvPr>
            <p:cNvSpPr/>
            <p:nvPr/>
          </p:nvSpPr>
          <p:spPr>
            <a:xfrm>
              <a:off x="1209964" y="4493494"/>
              <a:ext cx="1339272" cy="332509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/>
                <a:t>Dense</a:t>
              </a:r>
              <a:endParaRPr lang="pt-BR" dirty="0"/>
            </a:p>
          </p:txBody>
        </p:sp>
        <p:sp>
          <p:nvSpPr>
            <p:cNvPr id="12" name="Retângulo 11">
              <a:extLst>
                <a:ext uri="{FF2B5EF4-FFF2-40B4-BE49-F238E27FC236}">
                  <a16:creationId xmlns:a16="http://schemas.microsoft.com/office/drawing/2014/main" id="{1320F408-787C-9CC3-FBFE-E3F11077F061}"/>
                </a:ext>
              </a:extLst>
            </p:cNvPr>
            <p:cNvSpPr/>
            <p:nvPr/>
          </p:nvSpPr>
          <p:spPr>
            <a:xfrm>
              <a:off x="1209964" y="5001490"/>
              <a:ext cx="1339272" cy="332509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/>
                <a:t>Dense</a:t>
              </a:r>
              <a:endParaRPr lang="pt-BR" dirty="0"/>
            </a:p>
          </p:txBody>
        </p:sp>
        <p:sp>
          <p:nvSpPr>
            <p:cNvPr id="13" name="Retângulo 12">
              <a:extLst>
                <a:ext uri="{FF2B5EF4-FFF2-40B4-BE49-F238E27FC236}">
                  <a16:creationId xmlns:a16="http://schemas.microsoft.com/office/drawing/2014/main" id="{A861824F-7010-AA2B-A449-DEF35E091444}"/>
                </a:ext>
              </a:extLst>
            </p:cNvPr>
            <p:cNvSpPr/>
            <p:nvPr/>
          </p:nvSpPr>
          <p:spPr>
            <a:xfrm>
              <a:off x="1209964" y="5509486"/>
              <a:ext cx="1339272" cy="332509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/>
                <a:t>Dense</a:t>
              </a:r>
              <a:endParaRPr lang="pt-BR" dirty="0"/>
            </a:p>
          </p:txBody>
        </p:sp>
        <p:cxnSp>
          <p:nvCxnSpPr>
            <p:cNvPr id="15" name="Conector de Seta Reta 14">
              <a:extLst>
                <a:ext uri="{FF2B5EF4-FFF2-40B4-BE49-F238E27FC236}">
                  <a16:creationId xmlns:a16="http://schemas.microsoft.com/office/drawing/2014/main" id="{C7481ABB-B77F-A1DB-9E72-D8B2FF6A57DB}"/>
                </a:ext>
              </a:extLst>
            </p:cNvPr>
            <p:cNvCxnSpPr>
              <a:stCxn id="4" idx="2"/>
              <a:endCxn id="6" idx="0"/>
            </p:cNvCxnSpPr>
            <p:nvPr/>
          </p:nvCxnSpPr>
          <p:spPr>
            <a:xfrm>
              <a:off x="1879600" y="1810327"/>
              <a:ext cx="0" cy="18010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ector de Seta Reta 16">
              <a:extLst>
                <a:ext uri="{FF2B5EF4-FFF2-40B4-BE49-F238E27FC236}">
                  <a16:creationId xmlns:a16="http://schemas.microsoft.com/office/drawing/2014/main" id="{BC98EC12-A8C8-2F39-C21A-D6DDF0E0927D}"/>
                </a:ext>
              </a:extLst>
            </p:cNvPr>
            <p:cNvCxnSpPr>
              <a:stCxn id="6" idx="2"/>
              <a:endCxn id="7" idx="0"/>
            </p:cNvCxnSpPr>
            <p:nvPr/>
          </p:nvCxnSpPr>
          <p:spPr>
            <a:xfrm>
              <a:off x="1879600" y="2322945"/>
              <a:ext cx="0" cy="18010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ector de Seta Reta 18">
              <a:extLst>
                <a:ext uri="{FF2B5EF4-FFF2-40B4-BE49-F238E27FC236}">
                  <a16:creationId xmlns:a16="http://schemas.microsoft.com/office/drawing/2014/main" id="{829567E9-2121-1679-B163-1BFF4F0761DF}"/>
                </a:ext>
              </a:extLst>
            </p:cNvPr>
            <p:cNvCxnSpPr>
              <a:stCxn id="7" idx="2"/>
              <a:endCxn id="8" idx="0"/>
            </p:cNvCxnSpPr>
            <p:nvPr/>
          </p:nvCxnSpPr>
          <p:spPr>
            <a:xfrm>
              <a:off x="1879600" y="2835563"/>
              <a:ext cx="0" cy="16163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ector de Seta Reta 20">
              <a:extLst>
                <a:ext uri="{FF2B5EF4-FFF2-40B4-BE49-F238E27FC236}">
                  <a16:creationId xmlns:a16="http://schemas.microsoft.com/office/drawing/2014/main" id="{5A21C8D0-9621-C4EA-F17B-FF3263695DE4}"/>
                </a:ext>
              </a:extLst>
            </p:cNvPr>
            <p:cNvCxnSpPr>
              <a:stCxn id="8" idx="2"/>
              <a:endCxn id="9" idx="0"/>
            </p:cNvCxnSpPr>
            <p:nvPr/>
          </p:nvCxnSpPr>
          <p:spPr>
            <a:xfrm>
              <a:off x="1879600" y="3329708"/>
              <a:ext cx="0" cy="16163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ector de Seta Reta 22">
              <a:extLst>
                <a:ext uri="{FF2B5EF4-FFF2-40B4-BE49-F238E27FC236}">
                  <a16:creationId xmlns:a16="http://schemas.microsoft.com/office/drawing/2014/main" id="{5720E2E9-A16E-0716-5933-81547E972BA1}"/>
                </a:ext>
              </a:extLst>
            </p:cNvPr>
            <p:cNvCxnSpPr>
              <a:stCxn id="9" idx="2"/>
              <a:endCxn id="10" idx="0"/>
            </p:cNvCxnSpPr>
            <p:nvPr/>
          </p:nvCxnSpPr>
          <p:spPr>
            <a:xfrm>
              <a:off x="1879600" y="3823853"/>
              <a:ext cx="0" cy="16163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ector de Seta Reta 24">
              <a:extLst>
                <a:ext uri="{FF2B5EF4-FFF2-40B4-BE49-F238E27FC236}">
                  <a16:creationId xmlns:a16="http://schemas.microsoft.com/office/drawing/2014/main" id="{030CBBB8-B30F-C2E3-A1EF-652AE0309718}"/>
                </a:ext>
              </a:extLst>
            </p:cNvPr>
            <p:cNvCxnSpPr>
              <a:stCxn id="10" idx="2"/>
              <a:endCxn id="11" idx="0"/>
            </p:cNvCxnSpPr>
            <p:nvPr/>
          </p:nvCxnSpPr>
          <p:spPr>
            <a:xfrm>
              <a:off x="1879600" y="4317998"/>
              <a:ext cx="0" cy="17549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onector de Seta Reta 26">
              <a:extLst>
                <a:ext uri="{FF2B5EF4-FFF2-40B4-BE49-F238E27FC236}">
                  <a16:creationId xmlns:a16="http://schemas.microsoft.com/office/drawing/2014/main" id="{C36D3441-047C-9311-5399-596C270AEDC9}"/>
                </a:ext>
              </a:extLst>
            </p:cNvPr>
            <p:cNvCxnSpPr>
              <a:stCxn id="11" idx="2"/>
              <a:endCxn id="12" idx="0"/>
            </p:cNvCxnSpPr>
            <p:nvPr/>
          </p:nvCxnSpPr>
          <p:spPr>
            <a:xfrm>
              <a:off x="1879600" y="4826003"/>
              <a:ext cx="0" cy="17548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Conector de Seta Reta 28">
              <a:extLst>
                <a:ext uri="{FF2B5EF4-FFF2-40B4-BE49-F238E27FC236}">
                  <a16:creationId xmlns:a16="http://schemas.microsoft.com/office/drawing/2014/main" id="{C1C3F53D-24D0-B51B-48E1-3C11F6507BF9}"/>
                </a:ext>
              </a:extLst>
            </p:cNvPr>
            <p:cNvCxnSpPr>
              <a:stCxn id="12" idx="2"/>
              <a:endCxn id="13" idx="0"/>
            </p:cNvCxnSpPr>
            <p:nvPr/>
          </p:nvCxnSpPr>
          <p:spPr>
            <a:xfrm>
              <a:off x="1879600" y="5333999"/>
              <a:ext cx="0" cy="17548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Seta: para Baixo 29">
              <a:extLst>
                <a:ext uri="{FF2B5EF4-FFF2-40B4-BE49-F238E27FC236}">
                  <a16:creationId xmlns:a16="http://schemas.microsoft.com/office/drawing/2014/main" id="{89F9AE03-BBD8-FD8B-C41A-F6DDD2482786}"/>
                </a:ext>
              </a:extLst>
            </p:cNvPr>
            <p:cNvSpPr/>
            <p:nvPr/>
          </p:nvSpPr>
          <p:spPr>
            <a:xfrm>
              <a:off x="1779587" y="1312069"/>
              <a:ext cx="200026" cy="165749"/>
            </a:xfrm>
            <a:prstGeom prst="downArrow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2" name="CaixaDeTexto 31">
              <a:extLst>
                <a:ext uri="{FF2B5EF4-FFF2-40B4-BE49-F238E27FC236}">
                  <a16:creationId xmlns:a16="http://schemas.microsoft.com/office/drawing/2014/main" id="{07B0358C-41A3-EBCC-E424-567B3251FC51}"/>
                </a:ext>
              </a:extLst>
            </p:cNvPr>
            <p:cNvSpPr txBox="1"/>
            <p:nvPr/>
          </p:nvSpPr>
          <p:spPr>
            <a:xfrm>
              <a:off x="1209964" y="1034448"/>
              <a:ext cx="133927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Entrada</a:t>
              </a:r>
            </a:p>
          </p:txBody>
        </p:sp>
        <p:sp>
          <p:nvSpPr>
            <p:cNvPr id="33" name="CaixaDeTexto 32">
              <a:extLst>
                <a:ext uri="{FF2B5EF4-FFF2-40B4-BE49-F238E27FC236}">
                  <a16:creationId xmlns:a16="http://schemas.microsoft.com/office/drawing/2014/main" id="{C790BCF6-7D8C-EE0B-6A28-7425C6916F4C}"/>
                </a:ext>
              </a:extLst>
            </p:cNvPr>
            <p:cNvSpPr txBox="1"/>
            <p:nvPr/>
          </p:nvSpPr>
          <p:spPr>
            <a:xfrm>
              <a:off x="1209964" y="6007744"/>
              <a:ext cx="133927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Saída</a:t>
              </a:r>
            </a:p>
          </p:txBody>
        </p:sp>
        <p:sp>
          <p:nvSpPr>
            <p:cNvPr id="35" name="Chave Direita 34">
              <a:extLst>
                <a:ext uri="{FF2B5EF4-FFF2-40B4-BE49-F238E27FC236}">
                  <a16:creationId xmlns:a16="http://schemas.microsoft.com/office/drawing/2014/main" id="{F144167C-54A2-BB10-9FF6-9DB5274B6E7F}"/>
                </a:ext>
              </a:extLst>
            </p:cNvPr>
            <p:cNvSpPr/>
            <p:nvPr/>
          </p:nvSpPr>
          <p:spPr>
            <a:xfrm>
              <a:off x="2689860" y="1477818"/>
              <a:ext cx="167640" cy="886688"/>
            </a:xfrm>
            <a:prstGeom prst="rightBrac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6" name="CaixaDeTexto 35">
              <a:extLst>
                <a:ext uri="{FF2B5EF4-FFF2-40B4-BE49-F238E27FC236}">
                  <a16:creationId xmlns:a16="http://schemas.microsoft.com/office/drawing/2014/main" id="{14E1BED6-598F-1F97-0D3C-5805C0F28572}"/>
                </a:ext>
              </a:extLst>
            </p:cNvPr>
            <p:cNvSpPr txBox="1"/>
            <p:nvPr/>
          </p:nvSpPr>
          <p:spPr>
            <a:xfrm>
              <a:off x="2806701" y="1505663"/>
              <a:ext cx="1554479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Extraem características gerais, independentemente da tarefa.</a:t>
              </a:r>
            </a:p>
          </p:txBody>
        </p:sp>
      </p:grpSp>
      <p:grpSp>
        <p:nvGrpSpPr>
          <p:cNvPr id="63" name="Agrupar 62">
            <a:extLst>
              <a:ext uri="{FF2B5EF4-FFF2-40B4-BE49-F238E27FC236}">
                <a16:creationId xmlns:a16="http://schemas.microsoft.com/office/drawing/2014/main" id="{AA68691D-6B4D-03F1-B0D5-6EAAC3E17ED7}"/>
              </a:ext>
            </a:extLst>
          </p:cNvPr>
          <p:cNvGrpSpPr/>
          <p:nvPr/>
        </p:nvGrpSpPr>
        <p:grpSpPr>
          <a:xfrm>
            <a:off x="6527414" y="1092012"/>
            <a:ext cx="2882898" cy="5281073"/>
            <a:chOff x="6336031" y="1188336"/>
            <a:chExt cx="2882898" cy="5281073"/>
          </a:xfrm>
        </p:grpSpPr>
        <p:sp>
          <p:nvSpPr>
            <p:cNvPr id="39" name="Retângulo 38">
              <a:extLst>
                <a:ext uri="{FF2B5EF4-FFF2-40B4-BE49-F238E27FC236}">
                  <a16:creationId xmlns:a16="http://schemas.microsoft.com/office/drawing/2014/main" id="{80BED1C4-8203-FC9F-CD5E-F1DA85834CDA}"/>
                </a:ext>
              </a:extLst>
            </p:cNvPr>
            <p:cNvSpPr/>
            <p:nvPr/>
          </p:nvSpPr>
          <p:spPr>
            <a:xfrm>
              <a:off x="6336031" y="3529550"/>
              <a:ext cx="1470025" cy="990063"/>
            </a:xfrm>
            <a:prstGeom prst="rect">
              <a:avLst/>
            </a:prstGeom>
            <a:noFill/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0" name="Seta: para Baixo 39">
              <a:extLst>
                <a:ext uri="{FF2B5EF4-FFF2-40B4-BE49-F238E27FC236}">
                  <a16:creationId xmlns:a16="http://schemas.microsoft.com/office/drawing/2014/main" id="{C7539526-B2D6-A6F1-648F-2C98BE3015BB}"/>
                </a:ext>
              </a:extLst>
            </p:cNvPr>
            <p:cNvSpPr/>
            <p:nvPr/>
          </p:nvSpPr>
          <p:spPr>
            <a:xfrm>
              <a:off x="6959918" y="5995883"/>
              <a:ext cx="200026" cy="165749"/>
            </a:xfrm>
            <a:prstGeom prst="downArrow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1" name="Retângulo 40">
              <a:extLst>
                <a:ext uri="{FF2B5EF4-FFF2-40B4-BE49-F238E27FC236}">
                  <a16:creationId xmlns:a16="http://schemas.microsoft.com/office/drawing/2014/main" id="{073A68B5-C88C-C54A-2798-8953B99A5677}"/>
                </a:ext>
              </a:extLst>
            </p:cNvPr>
            <p:cNvSpPr/>
            <p:nvPr/>
          </p:nvSpPr>
          <p:spPr>
            <a:xfrm>
              <a:off x="6390295" y="1631706"/>
              <a:ext cx="1339272" cy="332509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Conv2D</a:t>
              </a:r>
            </a:p>
          </p:txBody>
        </p:sp>
        <p:sp>
          <p:nvSpPr>
            <p:cNvPr id="42" name="Retângulo 41">
              <a:extLst>
                <a:ext uri="{FF2B5EF4-FFF2-40B4-BE49-F238E27FC236}">
                  <a16:creationId xmlns:a16="http://schemas.microsoft.com/office/drawing/2014/main" id="{3E58977B-10DF-E318-3D27-D9BB950B9A8A}"/>
                </a:ext>
              </a:extLst>
            </p:cNvPr>
            <p:cNvSpPr/>
            <p:nvPr/>
          </p:nvSpPr>
          <p:spPr>
            <a:xfrm>
              <a:off x="6390295" y="2144324"/>
              <a:ext cx="1339272" cy="332509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Conv2D</a:t>
              </a:r>
            </a:p>
          </p:txBody>
        </p:sp>
        <p:sp>
          <p:nvSpPr>
            <p:cNvPr id="43" name="Retângulo 42">
              <a:extLst>
                <a:ext uri="{FF2B5EF4-FFF2-40B4-BE49-F238E27FC236}">
                  <a16:creationId xmlns:a16="http://schemas.microsoft.com/office/drawing/2014/main" id="{830CB3B1-56E4-A187-9A76-C96EB7E409B1}"/>
                </a:ext>
              </a:extLst>
            </p:cNvPr>
            <p:cNvSpPr/>
            <p:nvPr/>
          </p:nvSpPr>
          <p:spPr>
            <a:xfrm>
              <a:off x="6390295" y="2656942"/>
              <a:ext cx="1339272" cy="332509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Conv2D</a:t>
              </a:r>
            </a:p>
          </p:txBody>
        </p:sp>
        <p:sp>
          <p:nvSpPr>
            <p:cNvPr id="44" name="Retângulo 43">
              <a:extLst>
                <a:ext uri="{FF2B5EF4-FFF2-40B4-BE49-F238E27FC236}">
                  <a16:creationId xmlns:a16="http://schemas.microsoft.com/office/drawing/2014/main" id="{6B31E094-8073-A8D2-F909-D19BE8E022B3}"/>
                </a:ext>
              </a:extLst>
            </p:cNvPr>
            <p:cNvSpPr/>
            <p:nvPr/>
          </p:nvSpPr>
          <p:spPr>
            <a:xfrm>
              <a:off x="6390295" y="3151087"/>
              <a:ext cx="1339272" cy="332509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Conv2D</a:t>
              </a:r>
            </a:p>
          </p:txBody>
        </p:sp>
        <p:sp>
          <p:nvSpPr>
            <p:cNvPr id="45" name="Retângulo 44">
              <a:extLst>
                <a:ext uri="{FF2B5EF4-FFF2-40B4-BE49-F238E27FC236}">
                  <a16:creationId xmlns:a16="http://schemas.microsoft.com/office/drawing/2014/main" id="{9A8C0692-A6F3-7109-10D8-6C39F27844CD}"/>
                </a:ext>
              </a:extLst>
            </p:cNvPr>
            <p:cNvSpPr/>
            <p:nvPr/>
          </p:nvSpPr>
          <p:spPr>
            <a:xfrm>
              <a:off x="6390295" y="3645232"/>
              <a:ext cx="1339272" cy="332509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Conv2D</a:t>
              </a:r>
            </a:p>
          </p:txBody>
        </p:sp>
        <p:sp>
          <p:nvSpPr>
            <p:cNvPr id="46" name="Retângulo 45">
              <a:extLst>
                <a:ext uri="{FF2B5EF4-FFF2-40B4-BE49-F238E27FC236}">
                  <a16:creationId xmlns:a16="http://schemas.microsoft.com/office/drawing/2014/main" id="{3E5ECEF5-74AE-7FB0-B496-D2B75E4D2A60}"/>
                </a:ext>
              </a:extLst>
            </p:cNvPr>
            <p:cNvSpPr/>
            <p:nvPr/>
          </p:nvSpPr>
          <p:spPr>
            <a:xfrm>
              <a:off x="6390295" y="4139377"/>
              <a:ext cx="1339272" cy="332509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Conv2D</a:t>
              </a:r>
            </a:p>
          </p:txBody>
        </p:sp>
        <p:sp>
          <p:nvSpPr>
            <p:cNvPr id="47" name="Retângulo 46">
              <a:extLst>
                <a:ext uri="{FF2B5EF4-FFF2-40B4-BE49-F238E27FC236}">
                  <a16:creationId xmlns:a16="http://schemas.microsoft.com/office/drawing/2014/main" id="{E405DF88-0506-B2DC-67F6-352BC6B627D7}"/>
                </a:ext>
              </a:extLst>
            </p:cNvPr>
            <p:cNvSpPr/>
            <p:nvPr/>
          </p:nvSpPr>
          <p:spPr>
            <a:xfrm>
              <a:off x="6390295" y="4647382"/>
              <a:ext cx="1339272" cy="332509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/>
                <a:t>Dense</a:t>
              </a:r>
              <a:endParaRPr lang="pt-BR" dirty="0"/>
            </a:p>
          </p:txBody>
        </p:sp>
        <p:sp>
          <p:nvSpPr>
            <p:cNvPr id="48" name="Retângulo 47">
              <a:extLst>
                <a:ext uri="{FF2B5EF4-FFF2-40B4-BE49-F238E27FC236}">
                  <a16:creationId xmlns:a16="http://schemas.microsoft.com/office/drawing/2014/main" id="{8D9D21D9-DA7B-325B-BDDE-BDE377ADECC6}"/>
                </a:ext>
              </a:extLst>
            </p:cNvPr>
            <p:cNvSpPr/>
            <p:nvPr/>
          </p:nvSpPr>
          <p:spPr>
            <a:xfrm>
              <a:off x="6390295" y="5155378"/>
              <a:ext cx="1339272" cy="332509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/>
                <a:t>Dense</a:t>
              </a:r>
              <a:endParaRPr lang="pt-BR" dirty="0"/>
            </a:p>
          </p:txBody>
        </p:sp>
        <p:sp>
          <p:nvSpPr>
            <p:cNvPr id="49" name="Retângulo 48">
              <a:extLst>
                <a:ext uri="{FF2B5EF4-FFF2-40B4-BE49-F238E27FC236}">
                  <a16:creationId xmlns:a16="http://schemas.microsoft.com/office/drawing/2014/main" id="{438F3E04-B7F1-3AFF-E9FF-34229F878367}"/>
                </a:ext>
              </a:extLst>
            </p:cNvPr>
            <p:cNvSpPr/>
            <p:nvPr/>
          </p:nvSpPr>
          <p:spPr>
            <a:xfrm>
              <a:off x="6390295" y="5663374"/>
              <a:ext cx="1339272" cy="332509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/>
                <a:t>Dense</a:t>
              </a:r>
              <a:endParaRPr lang="pt-BR" dirty="0"/>
            </a:p>
          </p:txBody>
        </p:sp>
        <p:cxnSp>
          <p:nvCxnSpPr>
            <p:cNvPr id="50" name="Conector de Seta Reta 49">
              <a:extLst>
                <a:ext uri="{FF2B5EF4-FFF2-40B4-BE49-F238E27FC236}">
                  <a16:creationId xmlns:a16="http://schemas.microsoft.com/office/drawing/2014/main" id="{66540963-3A22-3C89-F842-156B897DF04E}"/>
                </a:ext>
              </a:extLst>
            </p:cNvPr>
            <p:cNvCxnSpPr>
              <a:stCxn id="41" idx="2"/>
              <a:endCxn id="42" idx="0"/>
            </p:cNvCxnSpPr>
            <p:nvPr/>
          </p:nvCxnSpPr>
          <p:spPr>
            <a:xfrm>
              <a:off x="7059931" y="1964215"/>
              <a:ext cx="0" cy="18010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Conector de Seta Reta 50">
              <a:extLst>
                <a:ext uri="{FF2B5EF4-FFF2-40B4-BE49-F238E27FC236}">
                  <a16:creationId xmlns:a16="http://schemas.microsoft.com/office/drawing/2014/main" id="{012572EC-23A5-F095-87FF-D412DC186C76}"/>
                </a:ext>
              </a:extLst>
            </p:cNvPr>
            <p:cNvCxnSpPr>
              <a:stCxn id="42" idx="2"/>
              <a:endCxn id="43" idx="0"/>
            </p:cNvCxnSpPr>
            <p:nvPr/>
          </p:nvCxnSpPr>
          <p:spPr>
            <a:xfrm>
              <a:off x="7059931" y="2476833"/>
              <a:ext cx="0" cy="18010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Conector de Seta Reta 51">
              <a:extLst>
                <a:ext uri="{FF2B5EF4-FFF2-40B4-BE49-F238E27FC236}">
                  <a16:creationId xmlns:a16="http://schemas.microsoft.com/office/drawing/2014/main" id="{60F7441F-A8AF-19B1-5A06-D9686FBD5C63}"/>
                </a:ext>
              </a:extLst>
            </p:cNvPr>
            <p:cNvCxnSpPr>
              <a:stCxn id="43" idx="2"/>
              <a:endCxn id="44" idx="0"/>
            </p:cNvCxnSpPr>
            <p:nvPr/>
          </p:nvCxnSpPr>
          <p:spPr>
            <a:xfrm>
              <a:off x="7059931" y="2989451"/>
              <a:ext cx="0" cy="16163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Conector de Seta Reta 52">
              <a:extLst>
                <a:ext uri="{FF2B5EF4-FFF2-40B4-BE49-F238E27FC236}">
                  <a16:creationId xmlns:a16="http://schemas.microsoft.com/office/drawing/2014/main" id="{389C79ED-9916-9A01-94BA-1BA7A1E93AF8}"/>
                </a:ext>
              </a:extLst>
            </p:cNvPr>
            <p:cNvCxnSpPr>
              <a:stCxn id="44" idx="2"/>
              <a:endCxn id="45" idx="0"/>
            </p:cNvCxnSpPr>
            <p:nvPr/>
          </p:nvCxnSpPr>
          <p:spPr>
            <a:xfrm>
              <a:off x="7059931" y="3483596"/>
              <a:ext cx="0" cy="16163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Conector de Seta Reta 53">
              <a:extLst>
                <a:ext uri="{FF2B5EF4-FFF2-40B4-BE49-F238E27FC236}">
                  <a16:creationId xmlns:a16="http://schemas.microsoft.com/office/drawing/2014/main" id="{FF559693-45DD-43F3-4948-52A1861B157F}"/>
                </a:ext>
              </a:extLst>
            </p:cNvPr>
            <p:cNvCxnSpPr>
              <a:stCxn id="45" idx="2"/>
              <a:endCxn id="46" idx="0"/>
            </p:cNvCxnSpPr>
            <p:nvPr/>
          </p:nvCxnSpPr>
          <p:spPr>
            <a:xfrm>
              <a:off x="7059931" y="3977741"/>
              <a:ext cx="0" cy="16163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Conector de Seta Reta 54">
              <a:extLst>
                <a:ext uri="{FF2B5EF4-FFF2-40B4-BE49-F238E27FC236}">
                  <a16:creationId xmlns:a16="http://schemas.microsoft.com/office/drawing/2014/main" id="{D12FE958-61F3-8EE3-046D-380897599785}"/>
                </a:ext>
              </a:extLst>
            </p:cNvPr>
            <p:cNvCxnSpPr>
              <a:stCxn id="46" idx="2"/>
              <a:endCxn id="47" idx="0"/>
            </p:cNvCxnSpPr>
            <p:nvPr/>
          </p:nvCxnSpPr>
          <p:spPr>
            <a:xfrm>
              <a:off x="7059931" y="4471886"/>
              <a:ext cx="0" cy="17549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Conector de Seta Reta 55">
              <a:extLst>
                <a:ext uri="{FF2B5EF4-FFF2-40B4-BE49-F238E27FC236}">
                  <a16:creationId xmlns:a16="http://schemas.microsoft.com/office/drawing/2014/main" id="{9B75C011-8D4B-272E-45D4-D5C5E1EEAE3F}"/>
                </a:ext>
              </a:extLst>
            </p:cNvPr>
            <p:cNvCxnSpPr>
              <a:stCxn id="47" idx="2"/>
              <a:endCxn id="48" idx="0"/>
            </p:cNvCxnSpPr>
            <p:nvPr/>
          </p:nvCxnSpPr>
          <p:spPr>
            <a:xfrm>
              <a:off x="7059931" y="4979891"/>
              <a:ext cx="0" cy="17548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Conector de Seta Reta 56">
              <a:extLst>
                <a:ext uri="{FF2B5EF4-FFF2-40B4-BE49-F238E27FC236}">
                  <a16:creationId xmlns:a16="http://schemas.microsoft.com/office/drawing/2014/main" id="{C598FBFD-FAF5-A26E-B7AA-D20E454EE68F}"/>
                </a:ext>
              </a:extLst>
            </p:cNvPr>
            <p:cNvCxnSpPr>
              <a:stCxn id="48" idx="2"/>
              <a:endCxn id="49" idx="0"/>
            </p:cNvCxnSpPr>
            <p:nvPr/>
          </p:nvCxnSpPr>
          <p:spPr>
            <a:xfrm>
              <a:off x="7059931" y="5487887"/>
              <a:ext cx="0" cy="17548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8" name="Seta: para Baixo 57">
              <a:extLst>
                <a:ext uri="{FF2B5EF4-FFF2-40B4-BE49-F238E27FC236}">
                  <a16:creationId xmlns:a16="http://schemas.microsoft.com/office/drawing/2014/main" id="{C2C51BD9-2186-E49E-A0AB-17825BF20B6E}"/>
                </a:ext>
              </a:extLst>
            </p:cNvPr>
            <p:cNvSpPr/>
            <p:nvPr/>
          </p:nvSpPr>
          <p:spPr>
            <a:xfrm>
              <a:off x="6959918" y="1465957"/>
              <a:ext cx="200026" cy="165749"/>
            </a:xfrm>
            <a:prstGeom prst="downArrow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9" name="CaixaDeTexto 58">
              <a:extLst>
                <a:ext uri="{FF2B5EF4-FFF2-40B4-BE49-F238E27FC236}">
                  <a16:creationId xmlns:a16="http://schemas.microsoft.com/office/drawing/2014/main" id="{208AAE48-F192-7686-8B53-A229B538B4AC}"/>
                </a:ext>
              </a:extLst>
            </p:cNvPr>
            <p:cNvSpPr txBox="1"/>
            <p:nvPr/>
          </p:nvSpPr>
          <p:spPr>
            <a:xfrm>
              <a:off x="6390295" y="1188336"/>
              <a:ext cx="133927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Entrada</a:t>
              </a:r>
            </a:p>
          </p:txBody>
        </p:sp>
        <p:sp>
          <p:nvSpPr>
            <p:cNvPr id="60" name="CaixaDeTexto 59">
              <a:extLst>
                <a:ext uri="{FF2B5EF4-FFF2-40B4-BE49-F238E27FC236}">
                  <a16:creationId xmlns:a16="http://schemas.microsoft.com/office/drawing/2014/main" id="{59D0C515-326E-5559-5736-0FA8083344B7}"/>
                </a:ext>
              </a:extLst>
            </p:cNvPr>
            <p:cNvSpPr txBox="1"/>
            <p:nvPr/>
          </p:nvSpPr>
          <p:spPr>
            <a:xfrm>
              <a:off x="6390295" y="6161632"/>
              <a:ext cx="133927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Saída</a:t>
              </a:r>
            </a:p>
          </p:txBody>
        </p:sp>
        <p:sp>
          <p:nvSpPr>
            <p:cNvPr id="61" name="Chave Direita 60">
              <a:extLst>
                <a:ext uri="{FF2B5EF4-FFF2-40B4-BE49-F238E27FC236}">
                  <a16:creationId xmlns:a16="http://schemas.microsoft.com/office/drawing/2014/main" id="{1222614C-B0A9-C5F6-511F-1664DEE222C7}"/>
                </a:ext>
              </a:extLst>
            </p:cNvPr>
            <p:cNvSpPr/>
            <p:nvPr/>
          </p:nvSpPr>
          <p:spPr>
            <a:xfrm>
              <a:off x="7870191" y="3529550"/>
              <a:ext cx="167640" cy="990063"/>
            </a:xfrm>
            <a:prstGeom prst="rightBrac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2" name="CaixaDeTexto 61">
              <a:extLst>
                <a:ext uri="{FF2B5EF4-FFF2-40B4-BE49-F238E27FC236}">
                  <a16:creationId xmlns:a16="http://schemas.microsoft.com/office/drawing/2014/main" id="{BC42D5D7-691C-CE6E-D061-BAC083D14CB0}"/>
                </a:ext>
              </a:extLst>
            </p:cNvPr>
            <p:cNvSpPr txBox="1"/>
            <p:nvPr/>
          </p:nvSpPr>
          <p:spPr>
            <a:xfrm>
              <a:off x="7954011" y="3657598"/>
              <a:ext cx="1264918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Extraem características específicas da tarefa.</a:t>
              </a:r>
            </a:p>
          </p:txBody>
        </p:sp>
      </p:grpSp>
      <p:grpSp>
        <p:nvGrpSpPr>
          <p:cNvPr id="77" name="Agrupar 76">
            <a:extLst>
              <a:ext uri="{FF2B5EF4-FFF2-40B4-BE49-F238E27FC236}">
                <a16:creationId xmlns:a16="http://schemas.microsoft.com/office/drawing/2014/main" id="{08F208CC-770A-C0BD-BAD8-611689EEA5FB}"/>
              </a:ext>
            </a:extLst>
          </p:cNvPr>
          <p:cNvGrpSpPr/>
          <p:nvPr/>
        </p:nvGrpSpPr>
        <p:grpSpPr>
          <a:xfrm>
            <a:off x="9518566" y="943144"/>
            <a:ext cx="2673434" cy="5281073"/>
            <a:chOff x="8437911" y="943144"/>
            <a:chExt cx="2673434" cy="5281073"/>
          </a:xfrm>
        </p:grpSpPr>
        <p:sp>
          <p:nvSpPr>
            <p:cNvPr id="3" name="Retângulo 2">
              <a:extLst>
                <a:ext uri="{FF2B5EF4-FFF2-40B4-BE49-F238E27FC236}">
                  <a16:creationId xmlns:a16="http://schemas.microsoft.com/office/drawing/2014/main" id="{240920F2-5980-2F9F-B0F1-3758EA2C72C1}"/>
                </a:ext>
              </a:extLst>
            </p:cNvPr>
            <p:cNvSpPr/>
            <p:nvPr/>
          </p:nvSpPr>
          <p:spPr>
            <a:xfrm>
              <a:off x="8437911" y="4291127"/>
              <a:ext cx="1451419" cy="1507217"/>
            </a:xfrm>
            <a:prstGeom prst="rect">
              <a:avLst/>
            </a:prstGeom>
            <a:noFill/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" name="Seta: para Baixo 4">
              <a:extLst>
                <a:ext uri="{FF2B5EF4-FFF2-40B4-BE49-F238E27FC236}">
                  <a16:creationId xmlns:a16="http://schemas.microsoft.com/office/drawing/2014/main" id="{A3005B4E-941E-55F1-1C24-1119CFDCD12E}"/>
                </a:ext>
              </a:extLst>
            </p:cNvPr>
            <p:cNvSpPr/>
            <p:nvPr/>
          </p:nvSpPr>
          <p:spPr>
            <a:xfrm>
              <a:off x="9061798" y="5750691"/>
              <a:ext cx="200026" cy="165749"/>
            </a:xfrm>
            <a:prstGeom prst="downArrow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4" name="Retângulo 13">
              <a:extLst>
                <a:ext uri="{FF2B5EF4-FFF2-40B4-BE49-F238E27FC236}">
                  <a16:creationId xmlns:a16="http://schemas.microsoft.com/office/drawing/2014/main" id="{7561A55D-DBEF-08DE-9053-D0D1B8208595}"/>
                </a:ext>
              </a:extLst>
            </p:cNvPr>
            <p:cNvSpPr/>
            <p:nvPr/>
          </p:nvSpPr>
          <p:spPr>
            <a:xfrm>
              <a:off x="8492175" y="1386514"/>
              <a:ext cx="1339272" cy="332509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Conv2D</a:t>
              </a:r>
            </a:p>
          </p:txBody>
        </p:sp>
        <p:sp>
          <p:nvSpPr>
            <p:cNvPr id="16" name="Retângulo 15">
              <a:extLst>
                <a:ext uri="{FF2B5EF4-FFF2-40B4-BE49-F238E27FC236}">
                  <a16:creationId xmlns:a16="http://schemas.microsoft.com/office/drawing/2014/main" id="{83260A36-A2EF-CE49-B21D-7247ED51E48D}"/>
                </a:ext>
              </a:extLst>
            </p:cNvPr>
            <p:cNvSpPr/>
            <p:nvPr/>
          </p:nvSpPr>
          <p:spPr>
            <a:xfrm>
              <a:off x="8492175" y="1899132"/>
              <a:ext cx="1339272" cy="332509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Conv2D</a:t>
              </a:r>
            </a:p>
          </p:txBody>
        </p:sp>
        <p:sp>
          <p:nvSpPr>
            <p:cNvPr id="18" name="Retângulo 17">
              <a:extLst>
                <a:ext uri="{FF2B5EF4-FFF2-40B4-BE49-F238E27FC236}">
                  <a16:creationId xmlns:a16="http://schemas.microsoft.com/office/drawing/2014/main" id="{CC55F477-D248-5394-5105-BA3FB5F70C00}"/>
                </a:ext>
              </a:extLst>
            </p:cNvPr>
            <p:cNvSpPr/>
            <p:nvPr/>
          </p:nvSpPr>
          <p:spPr>
            <a:xfrm>
              <a:off x="8492175" y="2411750"/>
              <a:ext cx="1339272" cy="332509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Conv2D</a:t>
              </a:r>
            </a:p>
          </p:txBody>
        </p:sp>
        <p:sp>
          <p:nvSpPr>
            <p:cNvPr id="20" name="Retângulo 19">
              <a:extLst>
                <a:ext uri="{FF2B5EF4-FFF2-40B4-BE49-F238E27FC236}">
                  <a16:creationId xmlns:a16="http://schemas.microsoft.com/office/drawing/2014/main" id="{2DA6AEB0-F806-E948-DBC7-5C843748703E}"/>
                </a:ext>
              </a:extLst>
            </p:cNvPr>
            <p:cNvSpPr/>
            <p:nvPr/>
          </p:nvSpPr>
          <p:spPr>
            <a:xfrm>
              <a:off x="8492175" y="2905895"/>
              <a:ext cx="1339272" cy="332509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Conv2D</a:t>
              </a:r>
            </a:p>
          </p:txBody>
        </p:sp>
        <p:sp>
          <p:nvSpPr>
            <p:cNvPr id="22" name="Retângulo 21">
              <a:extLst>
                <a:ext uri="{FF2B5EF4-FFF2-40B4-BE49-F238E27FC236}">
                  <a16:creationId xmlns:a16="http://schemas.microsoft.com/office/drawing/2014/main" id="{DE44D94D-EBB8-78FB-8AB4-B97E3D4B77A2}"/>
                </a:ext>
              </a:extLst>
            </p:cNvPr>
            <p:cNvSpPr/>
            <p:nvPr/>
          </p:nvSpPr>
          <p:spPr>
            <a:xfrm>
              <a:off x="8492175" y="3400040"/>
              <a:ext cx="1339272" cy="332509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Conv2D</a:t>
              </a:r>
            </a:p>
          </p:txBody>
        </p:sp>
        <p:sp>
          <p:nvSpPr>
            <p:cNvPr id="24" name="Retângulo 23">
              <a:extLst>
                <a:ext uri="{FF2B5EF4-FFF2-40B4-BE49-F238E27FC236}">
                  <a16:creationId xmlns:a16="http://schemas.microsoft.com/office/drawing/2014/main" id="{70E78103-B09E-AAC5-7C34-6A76A5F92445}"/>
                </a:ext>
              </a:extLst>
            </p:cNvPr>
            <p:cNvSpPr/>
            <p:nvPr/>
          </p:nvSpPr>
          <p:spPr>
            <a:xfrm>
              <a:off x="8492175" y="3894185"/>
              <a:ext cx="1339272" cy="332509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Conv2D</a:t>
              </a:r>
            </a:p>
          </p:txBody>
        </p:sp>
        <p:sp>
          <p:nvSpPr>
            <p:cNvPr id="26" name="Retângulo 25">
              <a:extLst>
                <a:ext uri="{FF2B5EF4-FFF2-40B4-BE49-F238E27FC236}">
                  <a16:creationId xmlns:a16="http://schemas.microsoft.com/office/drawing/2014/main" id="{05FA87FA-6046-13D5-F8B3-4E411A37A546}"/>
                </a:ext>
              </a:extLst>
            </p:cNvPr>
            <p:cNvSpPr/>
            <p:nvPr/>
          </p:nvSpPr>
          <p:spPr>
            <a:xfrm>
              <a:off x="8492175" y="4402190"/>
              <a:ext cx="1339272" cy="332509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/>
                <a:t>Dense</a:t>
              </a:r>
              <a:endParaRPr lang="pt-BR" dirty="0"/>
            </a:p>
          </p:txBody>
        </p:sp>
        <p:sp>
          <p:nvSpPr>
            <p:cNvPr id="28" name="Retângulo 27">
              <a:extLst>
                <a:ext uri="{FF2B5EF4-FFF2-40B4-BE49-F238E27FC236}">
                  <a16:creationId xmlns:a16="http://schemas.microsoft.com/office/drawing/2014/main" id="{C11F95FF-64C6-90A2-EF9A-826651FE65CE}"/>
                </a:ext>
              </a:extLst>
            </p:cNvPr>
            <p:cNvSpPr/>
            <p:nvPr/>
          </p:nvSpPr>
          <p:spPr>
            <a:xfrm>
              <a:off x="8492175" y="4910186"/>
              <a:ext cx="1339272" cy="332509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/>
                <a:t>Dense</a:t>
              </a:r>
              <a:endParaRPr lang="pt-BR" dirty="0"/>
            </a:p>
          </p:txBody>
        </p:sp>
        <p:sp>
          <p:nvSpPr>
            <p:cNvPr id="38" name="Retângulo 37">
              <a:extLst>
                <a:ext uri="{FF2B5EF4-FFF2-40B4-BE49-F238E27FC236}">
                  <a16:creationId xmlns:a16="http://schemas.microsoft.com/office/drawing/2014/main" id="{5B758978-54FC-17B7-B198-A986B704C90D}"/>
                </a:ext>
              </a:extLst>
            </p:cNvPr>
            <p:cNvSpPr/>
            <p:nvPr/>
          </p:nvSpPr>
          <p:spPr>
            <a:xfrm>
              <a:off x="8492175" y="5418182"/>
              <a:ext cx="1339272" cy="332509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/>
                <a:t>Dense</a:t>
              </a:r>
              <a:endParaRPr lang="pt-BR" dirty="0"/>
            </a:p>
          </p:txBody>
        </p:sp>
        <p:cxnSp>
          <p:nvCxnSpPr>
            <p:cNvPr id="64" name="Conector de Seta Reta 63">
              <a:extLst>
                <a:ext uri="{FF2B5EF4-FFF2-40B4-BE49-F238E27FC236}">
                  <a16:creationId xmlns:a16="http://schemas.microsoft.com/office/drawing/2014/main" id="{E3720D25-CA97-8160-C80B-D703D6F020D1}"/>
                </a:ext>
              </a:extLst>
            </p:cNvPr>
            <p:cNvCxnSpPr>
              <a:stCxn id="14" idx="2"/>
              <a:endCxn id="16" idx="0"/>
            </p:cNvCxnSpPr>
            <p:nvPr/>
          </p:nvCxnSpPr>
          <p:spPr>
            <a:xfrm>
              <a:off x="9161811" y="1719023"/>
              <a:ext cx="0" cy="18010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Conector de Seta Reta 64">
              <a:extLst>
                <a:ext uri="{FF2B5EF4-FFF2-40B4-BE49-F238E27FC236}">
                  <a16:creationId xmlns:a16="http://schemas.microsoft.com/office/drawing/2014/main" id="{631E755F-380D-4F9B-3850-DB72A0C8A6F5}"/>
                </a:ext>
              </a:extLst>
            </p:cNvPr>
            <p:cNvCxnSpPr>
              <a:stCxn id="16" idx="2"/>
              <a:endCxn id="18" idx="0"/>
            </p:cNvCxnSpPr>
            <p:nvPr/>
          </p:nvCxnSpPr>
          <p:spPr>
            <a:xfrm>
              <a:off x="9161811" y="2231641"/>
              <a:ext cx="0" cy="18010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Conector de Seta Reta 65">
              <a:extLst>
                <a:ext uri="{FF2B5EF4-FFF2-40B4-BE49-F238E27FC236}">
                  <a16:creationId xmlns:a16="http://schemas.microsoft.com/office/drawing/2014/main" id="{17E7082D-2861-14E2-5D00-37A290B77425}"/>
                </a:ext>
              </a:extLst>
            </p:cNvPr>
            <p:cNvCxnSpPr>
              <a:stCxn id="18" idx="2"/>
              <a:endCxn id="20" idx="0"/>
            </p:cNvCxnSpPr>
            <p:nvPr/>
          </p:nvCxnSpPr>
          <p:spPr>
            <a:xfrm>
              <a:off x="9161811" y="2744259"/>
              <a:ext cx="0" cy="16163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Conector de Seta Reta 66">
              <a:extLst>
                <a:ext uri="{FF2B5EF4-FFF2-40B4-BE49-F238E27FC236}">
                  <a16:creationId xmlns:a16="http://schemas.microsoft.com/office/drawing/2014/main" id="{DE6CD969-BD22-2A52-1C59-135AA7B1537B}"/>
                </a:ext>
              </a:extLst>
            </p:cNvPr>
            <p:cNvCxnSpPr>
              <a:stCxn id="20" idx="2"/>
              <a:endCxn id="22" idx="0"/>
            </p:cNvCxnSpPr>
            <p:nvPr/>
          </p:nvCxnSpPr>
          <p:spPr>
            <a:xfrm>
              <a:off x="9161811" y="3238404"/>
              <a:ext cx="0" cy="16163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Conector de Seta Reta 67">
              <a:extLst>
                <a:ext uri="{FF2B5EF4-FFF2-40B4-BE49-F238E27FC236}">
                  <a16:creationId xmlns:a16="http://schemas.microsoft.com/office/drawing/2014/main" id="{9CEAF57A-4080-3C02-9BB8-19F3E5DA5ED3}"/>
                </a:ext>
              </a:extLst>
            </p:cNvPr>
            <p:cNvCxnSpPr>
              <a:stCxn id="22" idx="2"/>
              <a:endCxn id="24" idx="0"/>
            </p:cNvCxnSpPr>
            <p:nvPr/>
          </p:nvCxnSpPr>
          <p:spPr>
            <a:xfrm>
              <a:off x="9161811" y="3732549"/>
              <a:ext cx="0" cy="16163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Conector de Seta Reta 68">
              <a:extLst>
                <a:ext uri="{FF2B5EF4-FFF2-40B4-BE49-F238E27FC236}">
                  <a16:creationId xmlns:a16="http://schemas.microsoft.com/office/drawing/2014/main" id="{51959DD3-765D-74B6-20A4-26BD297A4CD5}"/>
                </a:ext>
              </a:extLst>
            </p:cNvPr>
            <p:cNvCxnSpPr>
              <a:stCxn id="24" idx="2"/>
              <a:endCxn id="26" idx="0"/>
            </p:cNvCxnSpPr>
            <p:nvPr/>
          </p:nvCxnSpPr>
          <p:spPr>
            <a:xfrm>
              <a:off x="9161811" y="4226694"/>
              <a:ext cx="0" cy="17549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Conector de Seta Reta 69">
              <a:extLst>
                <a:ext uri="{FF2B5EF4-FFF2-40B4-BE49-F238E27FC236}">
                  <a16:creationId xmlns:a16="http://schemas.microsoft.com/office/drawing/2014/main" id="{8815EAC2-8272-7A1B-5018-ED6CDC8ACC27}"/>
                </a:ext>
              </a:extLst>
            </p:cNvPr>
            <p:cNvCxnSpPr>
              <a:stCxn id="26" idx="2"/>
              <a:endCxn id="28" idx="0"/>
            </p:cNvCxnSpPr>
            <p:nvPr/>
          </p:nvCxnSpPr>
          <p:spPr>
            <a:xfrm>
              <a:off x="9161811" y="4734699"/>
              <a:ext cx="0" cy="17548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Conector de Seta Reta 70">
              <a:extLst>
                <a:ext uri="{FF2B5EF4-FFF2-40B4-BE49-F238E27FC236}">
                  <a16:creationId xmlns:a16="http://schemas.microsoft.com/office/drawing/2014/main" id="{D1815A9D-2418-6F54-7F4B-B47D1F955D5C}"/>
                </a:ext>
              </a:extLst>
            </p:cNvPr>
            <p:cNvCxnSpPr>
              <a:stCxn id="28" idx="2"/>
              <a:endCxn id="38" idx="0"/>
            </p:cNvCxnSpPr>
            <p:nvPr/>
          </p:nvCxnSpPr>
          <p:spPr>
            <a:xfrm>
              <a:off x="9161811" y="5242695"/>
              <a:ext cx="0" cy="17548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2" name="Seta: para Baixo 71">
              <a:extLst>
                <a:ext uri="{FF2B5EF4-FFF2-40B4-BE49-F238E27FC236}">
                  <a16:creationId xmlns:a16="http://schemas.microsoft.com/office/drawing/2014/main" id="{C14161EC-2E86-D7C2-14DA-A773B9CA3FF3}"/>
                </a:ext>
              </a:extLst>
            </p:cNvPr>
            <p:cNvSpPr/>
            <p:nvPr/>
          </p:nvSpPr>
          <p:spPr>
            <a:xfrm>
              <a:off x="9061798" y="1220765"/>
              <a:ext cx="200026" cy="165749"/>
            </a:xfrm>
            <a:prstGeom prst="downArrow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3" name="CaixaDeTexto 72">
              <a:extLst>
                <a:ext uri="{FF2B5EF4-FFF2-40B4-BE49-F238E27FC236}">
                  <a16:creationId xmlns:a16="http://schemas.microsoft.com/office/drawing/2014/main" id="{76F0D932-47AF-7A56-51FA-4D1DE8770D5E}"/>
                </a:ext>
              </a:extLst>
            </p:cNvPr>
            <p:cNvSpPr txBox="1"/>
            <p:nvPr/>
          </p:nvSpPr>
          <p:spPr>
            <a:xfrm>
              <a:off x="8492175" y="943144"/>
              <a:ext cx="133927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Entrada</a:t>
              </a:r>
            </a:p>
          </p:txBody>
        </p:sp>
        <p:sp>
          <p:nvSpPr>
            <p:cNvPr id="74" name="CaixaDeTexto 73">
              <a:extLst>
                <a:ext uri="{FF2B5EF4-FFF2-40B4-BE49-F238E27FC236}">
                  <a16:creationId xmlns:a16="http://schemas.microsoft.com/office/drawing/2014/main" id="{F0151195-620C-0771-AD7B-463629D428FC}"/>
                </a:ext>
              </a:extLst>
            </p:cNvPr>
            <p:cNvSpPr txBox="1"/>
            <p:nvPr/>
          </p:nvSpPr>
          <p:spPr>
            <a:xfrm>
              <a:off x="8492175" y="5916440"/>
              <a:ext cx="133927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Saída</a:t>
              </a:r>
            </a:p>
          </p:txBody>
        </p:sp>
        <p:sp>
          <p:nvSpPr>
            <p:cNvPr id="75" name="Chave Direita 74">
              <a:extLst>
                <a:ext uri="{FF2B5EF4-FFF2-40B4-BE49-F238E27FC236}">
                  <a16:creationId xmlns:a16="http://schemas.microsoft.com/office/drawing/2014/main" id="{D3A5B122-0DAA-39A4-138A-0A3DFF45A1D7}"/>
                </a:ext>
              </a:extLst>
            </p:cNvPr>
            <p:cNvSpPr/>
            <p:nvPr/>
          </p:nvSpPr>
          <p:spPr>
            <a:xfrm>
              <a:off x="9972071" y="4402189"/>
              <a:ext cx="167640" cy="1348501"/>
            </a:xfrm>
            <a:prstGeom prst="rightBrac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6" name="CaixaDeTexto 75">
              <a:extLst>
                <a:ext uri="{FF2B5EF4-FFF2-40B4-BE49-F238E27FC236}">
                  <a16:creationId xmlns:a16="http://schemas.microsoft.com/office/drawing/2014/main" id="{083DD98A-06F0-7A31-3C7F-CDAAFACDF0FF}"/>
                </a:ext>
              </a:extLst>
            </p:cNvPr>
            <p:cNvSpPr txBox="1"/>
            <p:nvPr/>
          </p:nvSpPr>
          <p:spPr>
            <a:xfrm>
              <a:off x="10055891" y="4854947"/>
              <a:ext cx="105545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Classificação dos objetos</a:t>
              </a:r>
            </a:p>
          </p:txBody>
        </p:sp>
      </p:grpSp>
      <p:grpSp>
        <p:nvGrpSpPr>
          <p:cNvPr id="2" name="Agrupar 1">
            <a:extLst>
              <a:ext uri="{FF2B5EF4-FFF2-40B4-BE49-F238E27FC236}">
                <a16:creationId xmlns:a16="http://schemas.microsoft.com/office/drawing/2014/main" id="{04C114A8-4C21-3EC1-2144-66E8CF5DF204}"/>
              </a:ext>
            </a:extLst>
          </p:cNvPr>
          <p:cNvGrpSpPr/>
          <p:nvPr/>
        </p:nvGrpSpPr>
        <p:grpSpPr>
          <a:xfrm>
            <a:off x="3402455" y="1092012"/>
            <a:ext cx="3002401" cy="5281073"/>
            <a:chOff x="1155700" y="1034448"/>
            <a:chExt cx="3002401" cy="5281073"/>
          </a:xfrm>
        </p:grpSpPr>
        <p:sp>
          <p:nvSpPr>
            <p:cNvPr id="78" name="Retângulo 77">
              <a:extLst>
                <a:ext uri="{FF2B5EF4-FFF2-40B4-BE49-F238E27FC236}">
                  <a16:creationId xmlns:a16="http://schemas.microsoft.com/office/drawing/2014/main" id="{58A1CBF5-0AA3-9056-AB7F-77DC6B832A48}"/>
                </a:ext>
              </a:extLst>
            </p:cNvPr>
            <p:cNvSpPr/>
            <p:nvPr/>
          </p:nvSpPr>
          <p:spPr>
            <a:xfrm>
              <a:off x="1155700" y="2381372"/>
              <a:ext cx="1470025" cy="990063"/>
            </a:xfrm>
            <a:prstGeom prst="rect">
              <a:avLst/>
            </a:prstGeom>
            <a:noFill/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79" name="Seta: para Baixo 78">
              <a:extLst>
                <a:ext uri="{FF2B5EF4-FFF2-40B4-BE49-F238E27FC236}">
                  <a16:creationId xmlns:a16="http://schemas.microsoft.com/office/drawing/2014/main" id="{585FEE41-673D-0D6F-40B3-3EE59BD08F1D}"/>
                </a:ext>
              </a:extLst>
            </p:cNvPr>
            <p:cNvSpPr/>
            <p:nvPr/>
          </p:nvSpPr>
          <p:spPr>
            <a:xfrm>
              <a:off x="1779587" y="5841995"/>
              <a:ext cx="200026" cy="165749"/>
            </a:xfrm>
            <a:prstGeom prst="downArrow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0" name="Retângulo 79">
              <a:extLst>
                <a:ext uri="{FF2B5EF4-FFF2-40B4-BE49-F238E27FC236}">
                  <a16:creationId xmlns:a16="http://schemas.microsoft.com/office/drawing/2014/main" id="{74F01FAC-DC6A-0592-12CA-3B73E59FAB8C}"/>
                </a:ext>
              </a:extLst>
            </p:cNvPr>
            <p:cNvSpPr/>
            <p:nvPr/>
          </p:nvSpPr>
          <p:spPr>
            <a:xfrm>
              <a:off x="1209964" y="1477818"/>
              <a:ext cx="1339272" cy="332509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Conv2D</a:t>
              </a:r>
            </a:p>
          </p:txBody>
        </p:sp>
        <p:sp>
          <p:nvSpPr>
            <p:cNvPr id="81" name="Retângulo 80">
              <a:extLst>
                <a:ext uri="{FF2B5EF4-FFF2-40B4-BE49-F238E27FC236}">
                  <a16:creationId xmlns:a16="http://schemas.microsoft.com/office/drawing/2014/main" id="{6FBA5EF1-A1EB-C6EE-E4F9-C078442F7CEA}"/>
                </a:ext>
              </a:extLst>
            </p:cNvPr>
            <p:cNvSpPr/>
            <p:nvPr/>
          </p:nvSpPr>
          <p:spPr>
            <a:xfrm>
              <a:off x="1209964" y="1990436"/>
              <a:ext cx="1339272" cy="332509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Conv2D</a:t>
              </a:r>
            </a:p>
          </p:txBody>
        </p:sp>
        <p:sp>
          <p:nvSpPr>
            <p:cNvPr id="82" name="Retângulo 81">
              <a:extLst>
                <a:ext uri="{FF2B5EF4-FFF2-40B4-BE49-F238E27FC236}">
                  <a16:creationId xmlns:a16="http://schemas.microsoft.com/office/drawing/2014/main" id="{6CE90D6F-838C-D55A-D732-40D88FC5F032}"/>
                </a:ext>
              </a:extLst>
            </p:cNvPr>
            <p:cNvSpPr/>
            <p:nvPr/>
          </p:nvSpPr>
          <p:spPr>
            <a:xfrm>
              <a:off x="1209964" y="2503054"/>
              <a:ext cx="1339272" cy="332509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Conv2D</a:t>
              </a:r>
            </a:p>
          </p:txBody>
        </p:sp>
        <p:sp>
          <p:nvSpPr>
            <p:cNvPr id="83" name="Retângulo 82">
              <a:extLst>
                <a:ext uri="{FF2B5EF4-FFF2-40B4-BE49-F238E27FC236}">
                  <a16:creationId xmlns:a16="http://schemas.microsoft.com/office/drawing/2014/main" id="{A0E5E508-2A2F-378C-A2B1-162F292D0064}"/>
                </a:ext>
              </a:extLst>
            </p:cNvPr>
            <p:cNvSpPr/>
            <p:nvPr/>
          </p:nvSpPr>
          <p:spPr>
            <a:xfrm>
              <a:off x="1209964" y="2997199"/>
              <a:ext cx="1339272" cy="332509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Conv2D</a:t>
              </a:r>
            </a:p>
          </p:txBody>
        </p:sp>
        <p:sp>
          <p:nvSpPr>
            <p:cNvPr id="84" name="Retângulo 83">
              <a:extLst>
                <a:ext uri="{FF2B5EF4-FFF2-40B4-BE49-F238E27FC236}">
                  <a16:creationId xmlns:a16="http://schemas.microsoft.com/office/drawing/2014/main" id="{85F92FD3-8229-2945-9A3E-47D668EF293F}"/>
                </a:ext>
              </a:extLst>
            </p:cNvPr>
            <p:cNvSpPr/>
            <p:nvPr/>
          </p:nvSpPr>
          <p:spPr>
            <a:xfrm>
              <a:off x="1209964" y="3491344"/>
              <a:ext cx="1339272" cy="332509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Conv2D</a:t>
              </a:r>
            </a:p>
          </p:txBody>
        </p:sp>
        <p:sp>
          <p:nvSpPr>
            <p:cNvPr id="85" name="Retângulo 84">
              <a:extLst>
                <a:ext uri="{FF2B5EF4-FFF2-40B4-BE49-F238E27FC236}">
                  <a16:creationId xmlns:a16="http://schemas.microsoft.com/office/drawing/2014/main" id="{80CFCAD8-47F3-577B-2449-E2932FB12B3B}"/>
                </a:ext>
              </a:extLst>
            </p:cNvPr>
            <p:cNvSpPr/>
            <p:nvPr/>
          </p:nvSpPr>
          <p:spPr>
            <a:xfrm>
              <a:off x="1209964" y="3985489"/>
              <a:ext cx="1339272" cy="332509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Conv2D</a:t>
              </a:r>
            </a:p>
          </p:txBody>
        </p:sp>
        <p:sp>
          <p:nvSpPr>
            <p:cNvPr id="86" name="Retângulo 85">
              <a:extLst>
                <a:ext uri="{FF2B5EF4-FFF2-40B4-BE49-F238E27FC236}">
                  <a16:creationId xmlns:a16="http://schemas.microsoft.com/office/drawing/2014/main" id="{1B73072A-3F86-CC40-F6C2-33B0838717A6}"/>
                </a:ext>
              </a:extLst>
            </p:cNvPr>
            <p:cNvSpPr/>
            <p:nvPr/>
          </p:nvSpPr>
          <p:spPr>
            <a:xfrm>
              <a:off x="1209964" y="4493494"/>
              <a:ext cx="1339272" cy="332509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/>
                <a:t>Dense</a:t>
              </a:r>
              <a:endParaRPr lang="pt-BR" dirty="0"/>
            </a:p>
          </p:txBody>
        </p:sp>
        <p:sp>
          <p:nvSpPr>
            <p:cNvPr id="87" name="Retângulo 86">
              <a:extLst>
                <a:ext uri="{FF2B5EF4-FFF2-40B4-BE49-F238E27FC236}">
                  <a16:creationId xmlns:a16="http://schemas.microsoft.com/office/drawing/2014/main" id="{817A6F96-C2A1-BBBA-4A55-8B795A17CD08}"/>
                </a:ext>
              </a:extLst>
            </p:cNvPr>
            <p:cNvSpPr/>
            <p:nvPr/>
          </p:nvSpPr>
          <p:spPr>
            <a:xfrm>
              <a:off x="1209964" y="5001490"/>
              <a:ext cx="1339272" cy="332509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/>
                <a:t>Dense</a:t>
              </a:r>
              <a:endParaRPr lang="pt-BR" dirty="0"/>
            </a:p>
          </p:txBody>
        </p:sp>
        <p:sp>
          <p:nvSpPr>
            <p:cNvPr id="88" name="Retângulo 87">
              <a:extLst>
                <a:ext uri="{FF2B5EF4-FFF2-40B4-BE49-F238E27FC236}">
                  <a16:creationId xmlns:a16="http://schemas.microsoft.com/office/drawing/2014/main" id="{BDAFB990-E7BE-4235-5A85-5B457D72F7FF}"/>
                </a:ext>
              </a:extLst>
            </p:cNvPr>
            <p:cNvSpPr/>
            <p:nvPr/>
          </p:nvSpPr>
          <p:spPr>
            <a:xfrm>
              <a:off x="1209964" y="5509486"/>
              <a:ext cx="1339272" cy="332509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/>
                <a:t>Dense</a:t>
              </a:r>
              <a:endParaRPr lang="pt-BR" dirty="0"/>
            </a:p>
          </p:txBody>
        </p:sp>
        <p:cxnSp>
          <p:nvCxnSpPr>
            <p:cNvPr id="89" name="Conector de Seta Reta 88">
              <a:extLst>
                <a:ext uri="{FF2B5EF4-FFF2-40B4-BE49-F238E27FC236}">
                  <a16:creationId xmlns:a16="http://schemas.microsoft.com/office/drawing/2014/main" id="{D222F808-9340-D860-A1CA-2FA94D461AFC}"/>
                </a:ext>
              </a:extLst>
            </p:cNvPr>
            <p:cNvCxnSpPr>
              <a:stCxn id="80" idx="2"/>
              <a:endCxn id="81" idx="0"/>
            </p:cNvCxnSpPr>
            <p:nvPr/>
          </p:nvCxnSpPr>
          <p:spPr>
            <a:xfrm>
              <a:off x="1879600" y="1810327"/>
              <a:ext cx="0" cy="18010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Conector de Seta Reta 89">
              <a:extLst>
                <a:ext uri="{FF2B5EF4-FFF2-40B4-BE49-F238E27FC236}">
                  <a16:creationId xmlns:a16="http://schemas.microsoft.com/office/drawing/2014/main" id="{5143E229-D3ED-7DE4-87DD-94824ECADC01}"/>
                </a:ext>
              </a:extLst>
            </p:cNvPr>
            <p:cNvCxnSpPr>
              <a:stCxn id="81" idx="2"/>
              <a:endCxn id="82" idx="0"/>
            </p:cNvCxnSpPr>
            <p:nvPr/>
          </p:nvCxnSpPr>
          <p:spPr>
            <a:xfrm>
              <a:off x="1879600" y="2322945"/>
              <a:ext cx="0" cy="18010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Conector de Seta Reta 90">
              <a:extLst>
                <a:ext uri="{FF2B5EF4-FFF2-40B4-BE49-F238E27FC236}">
                  <a16:creationId xmlns:a16="http://schemas.microsoft.com/office/drawing/2014/main" id="{0D427FD0-CB3E-1A48-87B4-A96E714E31ED}"/>
                </a:ext>
              </a:extLst>
            </p:cNvPr>
            <p:cNvCxnSpPr>
              <a:stCxn id="82" idx="2"/>
              <a:endCxn id="83" idx="0"/>
            </p:cNvCxnSpPr>
            <p:nvPr/>
          </p:nvCxnSpPr>
          <p:spPr>
            <a:xfrm>
              <a:off x="1879600" y="2835563"/>
              <a:ext cx="0" cy="16163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Conector de Seta Reta 91">
              <a:extLst>
                <a:ext uri="{FF2B5EF4-FFF2-40B4-BE49-F238E27FC236}">
                  <a16:creationId xmlns:a16="http://schemas.microsoft.com/office/drawing/2014/main" id="{7896316C-163D-9EE8-2E11-42B9A06AB6C3}"/>
                </a:ext>
              </a:extLst>
            </p:cNvPr>
            <p:cNvCxnSpPr>
              <a:stCxn id="83" idx="2"/>
              <a:endCxn id="84" idx="0"/>
            </p:cNvCxnSpPr>
            <p:nvPr/>
          </p:nvCxnSpPr>
          <p:spPr>
            <a:xfrm>
              <a:off x="1879600" y="3329708"/>
              <a:ext cx="0" cy="16163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Conector de Seta Reta 92">
              <a:extLst>
                <a:ext uri="{FF2B5EF4-FFF2-40B4-BE49-F238E27FC236}">
                  <a16:creationId xmlns:a16="http://schemas.microsoft.com/office/drawing/2014/main" id="{24094D37-9AC3-56DE-79FB-A8BEB6D99362}"/>
                </a:ext>
              </a:extLst>
            </p:cNvPr>
            <p:cNvCxnSpPr>
              <a:stCxn id="84" idx="2"/>
              <a:endCxn id="85" idx="0"/>
            </p:cNvCxnSpPr>
            <p:nvPr/>
          </p:nvCxnSpPr>
          <p:spPr>
            <a:xfrm>
              <a:off x="1879600" y="3823853"/>
              <a:ext cx="0" cy="16163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Conector de Seta Reta 93">
              <a:extLst>
                <a:ext uri="{FF2B5EF4-FFF2-40B4-BE49-F238E27FC236}">
                  <a16:creationId xmlns:a16="http://schemas.microsoft.com/office/drawing/2014/main" id="{83242CFC-829A-2620-25C2-3361CAAEE4D4}"/>
                </a:ext>
              </a:extLst>
            </p:cNvPr>
            <p:cNvCxnSpPr>
              <a:stCxn id="85" idx="2"/>
              <a:endCxn id="86" idx="0"/>
            </p:cNvCxnSpPr>
            <p:nvPr/>
          </p:nvCxnSpPr>
          <p:spPr>
            <a:xfrm>
              <a:off x="1879600" y="4317998"/>
              <a:ext cx="0" cy="17549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Conector de Seta Reta 94">
              <a:extLst>
                <a:ext uri="{FF2B5EF4-FFF2-40B4-BE49-F238E27FC236}">
                  <a16:creationId xmlns:a16="http://schemas.microsoft.com/office/drawing/2014/main" id="{A2F02A43-2D9E-27CF-3649-A2721482063F}"/>
                </a:ext>
              </a:extLst>
            </p:cNvPr>
            <p:cNvCxnSpPr>
              <a:stCxn id="86" idx="2"/>
              <a:endCxn id="87" idx="0"/>
            </p:cNvCxnSpPr>
            <p:nvPr/>
          </p:nvCxnSpPr>
          <p:spPr>
            <a:xfrm>
              <a:off x="1879600" y="4826003"/>
              <a:ext cx="0" cy="17548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Conector de Seta Reta 95">
              <a:extLst>
                <a:ext uri="{FF2B5EF4-FFF2-40B4-BE49-F238E27FC236}">
                  <a16:creationId xmlns:a16="http://schemas.microsoft.com/office/drawing/2014/main" id="{2904E9DE-33A5-214E-5F12-8CB24056A5D4}"/>
                </a:ext>
              </a:extLst>
            </p:cNvPr>
            <p:cNvCxnSpPr>
              <a:stCxn id="87" idx="2"/>
              <a:endCxn id="88" idx="0"/>
            </p:cNvCxnSpPr>
            <p:nvPr/>
          </p:nvCxnSpPr>
          <p:spPr>
            <a:xfrm>
              <a:off x="1879600" y="5333999"/>
              <a:ext cx="0" cy="17548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7" name="Seta: para Baixo 96">
              <a:extLst>
                <a:ext uri="{FF2B5EF4-FFF2-40B4-BE49-F238E27FC236}">
                  <a16:creationId xmlns:a16="http://schemas.microsoft.com/office/drawing/2014/main" id="{CD6BC0A6-5BDA-6996-BA80-A1AEFFCACC05}"/>
                </a:ext>
              </a:extLst>
            </p:cNvPr>
            <p:cNvSpPr/>
            <p:nvPr/>
          </p:nvSpPr>
          <p:spPr>
            <a:xfrm>
              <a:off x="1779587" y="1312069"/>
              <a:ext cx="200026" cy="165749"/>
            </a:xfrm>
            <a:prstGeom prst="downArrow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8" name="CaixaDeTexto 97">
              <a:extLst>
                <a:ext uri="{FF2B5EF4-FFF2-40B4-BE49-F238E27FC236}">
                  <a16:creationId xmlns:a16="http://schemas.microsoft.com/office/drawing/2014/main" id="{6008051E-CF3C-24F6-6F5F-F432FE3DBD9D}"/>
                </a:ext>
              </a:extLst>
            </p:cNvPr>
            <p:cNvSpPr txBox="1"/>
            <p:nvPr/>
          </p:nvSpPr>
          <p:spPr>
            <a:xfrm>
              <a:off x="1209964" y="1034448"/>
              <a:ext cx="133927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Entrada</a:t>
              </a:r>
            </a:p>
          </p:txBody>
        </p:sp>
        <p:sp>
          <p:nvSpPr>
            <p:cNvPr id="99" name="CaixaDeTexto 98">
              <a:extLst>
                <a:ext uri="{FF2B5EF4-FFF2-40B4-BE49-F238E27FC236}">
                  <a16:creationId xmlns:a16="http://schemas.microsoft.com/office/drawing/2014/main" id="{682E3978-BA69-A5A9-9149-099B52FF5834}"/>
                </a:ext>
              </a:extLst>
            </p:cNvPr>
            <p:cNvSpPr txBox="1"/>
            <p:nvPr/>
          </p:nvSpPr>
          <p:spPr>
            <a:xfrm>
              <a:off x="1209964" y="6007744"/>
              <a:ext cx="133927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Saída</a:t>
              </a:r>
            </a:p>
          </p:txBody>
        </p:sp>
        <p:sp>
          <p:nvSpPr>
            <p:cNvPr id="100" name="Chave Direita 99">
              <a:extLst>
                <a:ext uri="{FF2B5EF4-FFF2-40B4-BE49-F238E27FC236}">
                  <a16:creationId xmlns:a16="http://schemas.microsoft.com/office/drawing/2014/main" id="{95AA611C-A7B0-B4BC-518C-500FAA011C2A}"/>
                </a:ext>
              </a:extLst>
            </p:cNvPr>
            <p:cNvSpPr/>
            <p:nvPr/>
          </p:nvSpPr>
          <p:spPr>
            <a:xfrm>
              <a:off x="2671402" y="2508368"/>
              <a:ext cx="167640" cy="886688"/>
            </a:xfrm>
            <a:prstGeom prst="rightBrac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1" name="CaixaDeTexto 100">
              <a:extLst>
                <a:ext uri="{FF2B5EF4-FFF2-40B4-BE49-F238E27FC236}">
                  <a16:creationId xmlns:a16="http://schemas.microsoft.com/office/drawing/2014/main" id="{5F8B26B8-A0C6-DF8F-CDCF-949BE22AFE90}"/>
                </a:ext>
              </a:extLst>
            </p:cNvPr>
            <p:cNvSpPr txBox="1"/>
            <p:nvPr/>
          </p:nvSpPr>
          <p:spPr>
            <a:xfrm>
              <a:off x="2745228" y="2613311"/>
              <a:ext cx="1412873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Extraem características parciais dos objetos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66979388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50" name="Agrupar 1049">
            <a:extLst>
              <a:ext uri="{FF2B5EF4-FFF2-40B4-BE49-F238E27FC236}">
                <a16:creationId xmlns:a16="http://schemas.microsoft.com/office/drawing/2014/main" id="{EDBBA3A2-A6CD-BCA6-1889-C494B04A77E7}"/>
              </a:ext>
            </a:extLst>
          </p:cNvPr>
          <p:cNvGrpSpPr/>
          <p:nvPr/>
        </p:nvGrpSpPr>
        <p:grpSpPr>
          <a:xfrm>
            <a:off x="1360604" y="14827"/>
            <a:ext cx="6083586" cy="6744532"/>
            <a:chOff x="1360604" y="14827"/>
            <a:chExt cx="6083586" cy="6744532"/>
          </a:xfrm>
        </p:grpSpPr>
        <p:grpSp>
          <p:nvGrpSpPr>
            <p:cNvPr id="1032" name="Agrupar 1031">
              <a:extLst>
                <a:ext uri="{FF2B5EF4-FFF2-40B4-BE49-F238E27FC236}">
                  <a16:creationId xmlns:a16="http://schemas.microsoft.com/office/drawing/2014/main" id="{EE3502EF-10E9-6D3D-7021-BEE3A181E1DD}"/>
                </a:ext>
              </a:extLst>
            </p:cNvPr>
            <p:cNvGrpSpPr/>
            <p:nvPr/>
          </p:nvGrpSpPr>
          <p:grpSpPr>
            <a:xfrm>
              <a:off x="4472168" y="4747348"/>
              <a:ext cx="1679289" cy="2012011"/>
              <a:chOff x="1360603" y="5377901"/>
              <a:chExt cx="1096687" cy="1480099"/>
            </a:xfrm>
          </p:grpSpPr>
          <p:pic>
            <p:nvPicPr>
              <p:cNvPr id="1030" name="Imagem 1029">
                <a:extLst>
                  <a:ext uri="{FF2B5EF4-FFF2-40B4-BE49-F238E27FC236}">
                    <a16:creationId xmlns:a16="http://schemas.microsoft.com/office/drawing/2014/main" id="{7A24FE3A-F58F-B53B-E4B4-6F150DD94423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4412" t="1529" r="24134" b="1666"/>
              <a:stretch/>
            </p:blipFill>
            <p:spPr>
              <a:xfrm>
                <a:off x="1403163" y="5569451"/>
                <a:ext cx="1054127" cy="1288549"/>
              </a:xfrm>
              <a:prstGeom prst="rect">
                <a:avLst/>
              </a:prstGeom>
            </p:spPr>
          </p:pic>
          <p:pic>
            <p:nvPicPr>
              <p:cNvPr id="1031" name="Imagem 1030">
                <a:extLst>
                  <a:ext uri="{FF2B5EF4-FFF2-40B4-BE49-F238E27FC236}">
                    <a16:creationId xmlns:a16="http://schemas.microsoft.com/office/drawing/2014/main" id="{FCA2CDE2-8B4D-C3B4-49FB-582D6C93DD11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8527" t="8135" r="42723" b="64443"/>
              <a:stretch/>
            </p:blipFill>
            <p:spPr>
              <a:xfrm rot="5400000">
                <a:off x="1400536" y="5337968"/>
                <a:ext cx="328310" cy="408175"/>
              </a:xfrm>
              <a:prstGeom prst="rect">
                <a:avLst/>
              </a:prstGeom>
            </p:spPr>
          </p:pic>
        </p:grpSp>
        <p:sp>
          <p:nvSpPr>
            <p:cNvPr id="6" name="Seta: para Baixo 5">
              <a:extLst>
                <a:ext uri="{FF2B5EF4-FFF2-40B4-BE49-F238E27FC236}">
                  <a16:creationId xmlns:a16="http://schemas.microsoft.com/office/drawing/2014/main" id="{1F6D7681-307D-7125-8AA2-B3D494B82747}"/>
                </a:ext>
              </a:extLst>
            </p:cNvPr>
            <p:cNvSpPr/>
            <p:nvPr/>
          </p:nvSpPr>
          <p:spPr>
            <a:xfrm>
              <a:off x="1930227" y="4822374"/>
              <a:ext cx="200026" cy="165749"/>
            </a:xfrm>
            <a:prstGeom prst="downArrow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" name="Retângulo 6">
              <a:extLst>
                <a:ext uri="{FF2B5EF4-FFF2-40B4-BE49-F238E27FC236}">
                  <a16:creationId xmlns:a16="http://schemas.microsoft.com/office/drawing/2014/main" id="{C029EC4A-827A-3839-41C5-443986AC9113}"/>
                </a:ext>
              </a:extLst>
            </p:cNvPr>
            <p:cNvSpPr/>
            <p:nvPr/>
          </p:nvSpPr>
          <p:spPr>
            <a:xfrm>
              <a:off x="1360604" y="458197"/>
              <a:ext cx="1339272" cy="332509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Conv2D</a:t>
              </a:r>
            </a:p>
          </p:txBody>
        </p:sp>
        <p:sp>
          <p:nvSpPr>
            <p:cNvPr id="8" name="Retângulo 7">
              <a:extLst>
                <a:ext uri="{FF2B5EF4-FFF2-40B4-BE49-F238E27FC236}">
                  <a16:creationId xmlns:a16="http://schemas.microsoft.com/office/drawing/2014/main" id="{F39B89A7-A08B-1E47-17EA-B6394412C3CA}"/>
                </a:ext>
              </a:extLst>
            </p:cNvPr>
            <p:cNvSpPr/>
            <p:nvPr/>
          </p:nvSpPr>
          <p:spPr>
            <a:xfrm>
              <a:off x="1360604" y="970815"/>
              <a:ext cx="1339272" cy="332509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Conv2D</a:t>
              </a:r>
            </a:p>
          </p:txBody>
        </p:sp>
        <p:sp>
          <p:nvSpPr>
            <p:cNvPr id="9" name="Retângulo 8">
              <a:extLst>
                <a:ext uri="{FF2B5EF4-FFF2-40B4-BE49-F238E27FC236}">
                  <a16:creationId xmlns:a16="http://schemas.microsoft.com/office/drawing/2014/main" id="{73323CF7-0203-C18B-E1B8-8BE0983BFE0C}"/>
                </a:ext>
              </a:extLst>
            </p:cNvPr>
            <p:cNvSpPr/>
            <p:nvPr/>
          </p:nvSpPr>
          <p:spPr>
            <a:xfrm>
              <a:off x="1360604" y="1483433"/>
              <a:ext cx="1339272" cy="332509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Conv2D</a:t>
              </a:r>
            </a:p>
          </p:txBody>
        </p:sp>
        <p:sp>
          <p:nvSpPr>
            <p:cNvPr id="10" name="Retângulo 9">
              <a:extLst>
                <a:ext uri="{FF2B5EF4-FFF2-40B4-BE49-F238E27FC236}">
                  <a16:creationId xmlns:a16="http://schemas.microsoft.com/office/drawing/2014/main" id="{A78A0A05-007B-D08D-ED10-D3D00175EF2C}"/>
                </a:ext>
              </a:extLst>
            </p:cNvPr>
            <p:cNvSpPr/>
            <p:nvPr/>
          </p:nvSpPr>
          <p:spPr>
            <a:xfrm>
              <a:off x="1360604" y="1977578"/>
              <a:ext cx="1339272" cy="332509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Conv2D</a:t>
              </a:r>
            </a:p>
          </p:txBody>
        </p:sp>
        <p:sp>
          <p:nvSpPr>
            <p:cNvPr id="11" name="Retângulo 10">
              <a:extLst>
                <a:ext uri="{FF2B5EF4-FFF2-40B4-BE49-F238E27FC236}">
                  <a16:creationId xmlns:a16="http://schemas.microsoft.com/office/drawing/2014/main" id="{E9A99E68-799F-C16B-30E0-C3986E9CF2AB}"/>
                </a:ext>
              </a:extLst>
            </p:cNvPr>
            <p:cNvSpPr/>
            <p:nvPr/>
          </p:nvSpPr>
          <p:spPr>
            <a:xfrm>
              <a:off x="1360604" y="2471723"/>
              <a:ext cx="1339272" cy="332509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Conv2D</a:t>
              </a:r>
            </a:p>
          </p:txBody>
        </p:sp>
        <p:sp>
          <p:nvSpPr>
            <p:cNvPr id="12" name="Retângulo 11">
              <a:extLst>
                <a:ext uri="{FF2B5EF4-FFF2-40B4-BE49-F238E27FC236}">
                  <a16:creationId xmlns:a16="http://schemas.microsoft.com/office/drawing/2014/main" id="{5609D4E8-F1E6-FA81-86A5-BA1F95A8D611}"/>
                </a:ext>
              </a:extLst>
            </p:cNvPr>
            <p:cNvSpPr/>
            <p:nvPr/>
          </p:nvSpPr>
          <p:spPr>
            <a:xfrm>
              <a:off x="1360604" y="2965868"/>
              <a:ext cx="1339272" cy="332509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Conv2D</a:t>
              </a:r>
            </a:p>
          </p:txBody>
        </p:sp>
        <p:sp>
          <p:nvSpPr>
            <p:cNvPr id="13" name="Retângulo 12">
              <a:extLst>
                <a:ext uri="{FF2B5EF4-FFF2-40B4-BE49-F238E27FC236}">
                  <a16:creationId xmlns:a16="http://schemas.microsoft.com/office/drawing/2014/main" id="{AACAA598-CF4E-B658-E15E-B217D7CF1AD4}"/>
                </a:ext>
              </a:extLst>
            </p:cNvPr>
            <p:cNvSpPr/>
            <p:nvPr/>
          </p:nvSpPr>
          <p:spPr>
            <a:xfrm>
              <a:off x="1360604" y="3473873"/>
              <a:ext cx="1339272" cy="332509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/>
                <a:t>Dense</a:t>
              </a:r>
              <a:endParaRPr lang="pt-BR" dirty="0"/>
            </a:p>
          </p:txBody>
        </p:sp>
        <p:sp>
          <p:nvSpPr>
            <p:cNvPr id="14" name="Retângulo 13">
              <a:extLst>
                <a:ext uri="{FF2B5EF4-FFF2-40B4-BE49-F238E27FC236}">
                  <a16:creationId xmlns:a16="http://schemas.microsoft.com/office/drawing/2014/main" id="{EABC406B-B102-FB4F-817C-E5F32B8EB558}"/>
                </a:ext>
              </a:extLst>
            </p:cNvPr>
            <p:cNvSpPr/>
            <p:nvPr/>
          </p:nvSpPr>
          <p:spPr>
            <a:xfrm>
              <a:off x="1360604" y="3981869"/>
              <a:ext cx="1339272" cy="332509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/>
                <a:t>Dense</a:t>
              </a:r>
              <a:endParaRPr lang="pt-BR" dirty="0"/>
            </a:p>
          </p:txBody>
        </p:sp>
        <p:sp>
          <p:nvSpPr>
            <p:cNvPr id="15" name="Retângulo 14">
              <a:extLst>
                <a:ext uri="{FF2B5EF4-FFF2-40B4-BE49-F238E27FC236}">
                  <a16:creationId xmlns:a16="http://schemas.microsoft.com/office/drawing/2014/main" id="{02840DC0-33A1-B83E-61C1-88EECCFD0031}"/>
                </a:ext>
              </a:extLst>
            </p:cNvPr>
            <p:cNvSpPr/>
            <p:nvPr/>
          </p:nvSpPr>
          <p:spPr>
            <a:xfrm>
              <a:off x="1360604" y="4489865"/>
              <a:ext cx="1339272" cy="332509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/>
                <a:t>Dense</a:t>
              </a:r>
              <a:endParaRPr lang="pt-BR" dirty="0"/>
            </a:p>
          </p:txBody>
        </p:sp>
        <p:cxnSp>
          <p:nvCxnSpPr>
            <p:cNvPr id="16" name="Conector de Seta Reta 15">
              <a:extLst>
                <a:ext uri="{FF2B5EF4-FFF2-40B4-BE49-F238E27FC236}">
                  <a16:creationId xmlns:a16="http://schemas.microsoft.com/office/drawing/2014/main" id="{C89C77C6-7F38-28F9-1602-F09B8B7DD745}"/>
                </a:ext>
              </a:extLst>
            </p:cNvPr>
            <p:cNvCxnSpPr>
              <a:cxnSpLocks/>
              <a:stCxn id="7" idx="2"/>
              <a:endCxn id="8" idx="0"/>
            </p:cNvCxnSpPr>
            <p:nvPr/>
          </p:nvCxnSpPr>
          <p:spPr>
            <a:xfrm>
              <a:off x="2030240" y="790706"/>
              <a:ext cx="0" cy="18010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ector de Seta Reta 16">
              <a:extLst>
                <a:ext uri="{FF2B5EF4-FFF2-40B4-BE49-F238E27FC236}">
                  <a16:creationId xmlns:a16="http://schemas.microsoft.com/office/drawing/2014/main" id="{58F77DB2-7798-8291-A6BA-A6FC1863313E}"/>
                </a:ext>
              </a:extLst>
            </p:cNvPr>
            <p:cNvCxnSpPr>
              <a:cxnSpLocks/>
              <a:stCxn id="8" idx="2"/>
              <a:endCxn id="9" idx="0"/>
            </p:cNvCxnSpPr>
            <p:nvPr/>
          </p:nvCxnSpPr>
          <p:spPr>
            <a:xfrm>
              <a:off x="2030240" y="1303324"/>
              <a:ext cx="0" cy="18010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ector de Seta Reta 17">
              <a:extLst>
                <a:ext uri="{FF2B5EF4-FFF2-40B4-BE49-F238E27FC236}">
                  <a16:creationId xmlns:a16="http://schemas.microsoft.com/office/drawing/2014/main" id="{B0BD958A-B837-8581-3B56-7ED7403F19B0}"/>
                </a:ext>
              </a:extLst>
            </p:cNvPr>
            <p:cNvCxnSpPr>
              <a:cxnSpLocks/>
              <a:stCxn id="9" idx="2"/>
              <a:endCxn id="10" idx="0"/>
            </p:cNvCxnSpPr>
            <p:nvPr/>
          </p:nvCxnSpPr>
          <p:spPr>
            <a:xfrm>
              <a:off x="2030240" y="1815942"/>
              <a:ext cx="0" cy="16163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ector de Seta Reta 18">
              <a:extLst>
                <a:ext uri="{FF2B5EF4-FFF2-40B4-BE49-F238E27FC236}">
                  <a16:creationId xmlns:a16="http://schemas.microsoft.com/office/drawing/2014/main" id="{7A6BA8B2-9384-73C8-E528-07EF481F359E}"/>
                </a:ext>
              </a:extLst>
            </p:cNvPr>
            <p:cNvCxnSpPr>
              <a:cxnSpLocks/>
              <a:stCxn id="10" idx="2"/>
              <a:endCxn id="11" idx="0"/>
            </p:cNvCxnSpPr>
            <p:nvPr/>
          </p:nvCxnSpPr>
          <p:spPr>
            <a:xfrm>
              <a:off x="2030240" y="2310087"/>
              <a:ext cx="0" cy="16163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ector de Seta Reta 19">
              <a:extLst>
                <a:ext uri="{FF2B5EF4-FFF2-40B4-BE49-F238E27FC236}">
                  <a16:creationId xmlns:a16="http://schemas.microsoft.com/office/drawing/2014/main" id="{A25B384B-199C-47F5-30D6-94E0EDB19E20}"/>
                </a:ext>
              </a:extLst>
            </p:cNvPr>
            <p:cNvCxnSpPr>
              <a:cxnSpLocks/>
              <a:stCxn id="11" idx="2"/>
              <a:endCxn id="12" idx="0"/>
            </p:cNvCxnSpPr>
            <p:nvPr/>
          </p:nvCxnSpPr>
          <p:spPr>
            <a:xfrm>
              <a:off x="2030240" y="2804232"/>
              <a:ext cx="0" cy="16163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ector de Seta Reta 20">
              <a:extLst>
                <a:ext uri="{FF2B5EF4-FFF2-40B4-BE49-F238E27FC236}">
                  <a16:creationId xmlns:a16="http://schemas.microsoft.com/office/drawing/2014/main" id="{4EA29D5E-E3C1-CDDF-6ADD-DAFD3FE0BFB2}"/>
                </a:ext>
              </a:extLst>
            </p:cNvPr>
            <p:cNvCxnSpPr>
              <a:cxnSpLocks/>
              <a:stCxn id="12" idx="2"/>
              <a:endCxn id="13" idx="0"/>
            </p:cNvCxnSpPr>
            <p:nvPr/>
          </p:nvCxnSpPr>
          <p:spPr>
            <a:xfrm>
              <a:off x="2030240" y="3298377"/>
              <a:ext cx="0" cy="17549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ector de Seta Reta 21">
              <a:extLst>
                <a:ext uri="{FF2B5EF4-FFF2-40B4-BE49-F238E27FC236}">
                  <a16:creationId xmlns:a16="http://schemas.microsoft.com/office/drawing/2014/main" id="{DB5520F9-E488-EB17-2AC4-A0765163E0A7}"/>
                </a:ext>
              </a:extLst>
            </p:cNvPr>
            <p:cNvCxnSpPr>
              <a:cxnSpLocks/>
              <a:stCxn id="13" idx="2"/>
              <a:endCxn id="14" idx="0"/>
            </p:cNvCxnSpPr>
            <p:nvPr/>
          </p:nvCxnSpPr>
          <p:spPr>
            <a:xfrm>
              <a:off x="2030240" y="3806382"/>
              <a:ext cx="0" cy="17548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ector de Seta Reta 22">
              <a:extLst>
                <a:ext uri="{FF2B5EF4-FFF2-40B4-BE49-F238E27FC236}">
                  <a16:creationId xmlns:a16="http://schemas.microsoft.com/office/drawing/2014/main" id="{C2C3AADE-69B7-74B4-BED2-F75B338AF70E}"/>
                </a:ext>
              </a:extLst>
            </p:cNvPr>
            <p:cNvCxnSpPr>
              <a:cxnSpLocks/>
              <a:stCxn id="14" idx="2"/>
              <a:endCxn id="15" idx="0"/>
            </p:cNvCxnSpPr>
            <p:nvPr/>
          </p:nvCxnSpPr>
          <p:spPr>
            <a:xfrm>
              <a:off x="2030240" y="4314378"/>
              <a:ext cx="0" cy="17548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Seta: para Baixo 23">
              <a:extLst>
                <a:ext uri="{FF2B5EF4-FFF2-40B4-BE49-F238E27FC236}">
                  <a16:creationId xmlns:a16="http://schemas.microsoft.com/office/drawing/2014/main" id="{D4D923E0-5624-5AEC-D223-E4F4D9B2CAA4}"/>
                </a:ext>
              </a:extLst>
            </p:cNvPr>
            <p:cNvSpPr/>
            <p:nvPr/>
          </p:nvSpPr>
          <p:spPr>
            <a:xfrm>
              <a:off x="1930227" y="292448"/>
              <a:ext cx="200026" cy="165749"/>
            </a:xfrm>
            <a:prstGeom prst="downArrow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" name="CaixaDeTexto 24">
              <a:extLst>
                <a:ext uri="{FF2B5EF4-FFF2-40B4-BE49-F238E27FC236}">
                  <a16:creationId xmlns:a16="http://schemas.microsoft.com/office/drawing/2014/main" id="{6812690A-3E4D-E967-FCF5-674828E7CD83}"/>
                </a:ext>
              </a:extLst>
            </p:cNvPr>
            <p:cNvSpPr txBox="1"/>
            <p:nvPr/>
          </p:nvSpPr>
          <p:spPr>
            <a:xfrm>
              <a:off x="1360604" y="14827"/>
              <a:ext cx="133927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Entrada</a:t>
              </a:r>
            </a:p>
          </p:txBody>
        </p:sp>
        <p:sp>
          <p:nvSpPr>
            <p:cNvPr id="26" name="CaixaDeTexto 25">
              <a:extLst>
                <a:ext uri="{FF2B5EF4-FFF2-40B4-BE49-F238E27FC236}">
                  <a16:creationId xmlns:a16="http://schemas.microsoft.com/office/drawing/2014/main" id="{7583F178-D974-B4CC-10E2-E12C651D7276}"/>
                </a:ext>
              </a:extLst>
            </p:cNvPr>
            <p:cNvSpPr txBox="1"/>
            <p:nvPr/>
          </p:nvSpPr>
          <p:spPr>
            <a:xfrm>
              <a:off x="1360604" y="4988123"/>
              <a:ext cx="133927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Saída</a:t>
              </a:r>
            </a:p>
          </p:txBody>
        </p:sp>
        <p:pic>
          <p:nvPicPr>
            <p:cNvPr id="41" name="Imagem 40">
              <a:extLst>
                <a:ext uri="{FF2B5EF4-FFF2-40B4-BE49-F238E27FC236}">
                  <a16:creationId xmlns:a16="http://schemas.microsoft.com/office/drawing/2014/main" id="{C2C87538-12FE-41A7-E847-AB7DCC24D81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t="52469" b="36752"/>
            <a:stretch/>
          </p:blipFill>
          <p:spPr>
            <a:xfrm>
              <a:off x="3034230" y="683116"/>
              <a:ext cx="4351151" cy="395287"/>
            </a:xfrm>
            <a:prstGeom prst="rect">
              <a:avLst/>
            </a:prstGeom>
          </p:spPr>
        </p:pic>
        <p:sp>
          <p:nvSpPr>
            <p:cNvPr id="42" name="Chave Direita 41">
              <a:extLst>
                <a:ext uri="{FF2B5EF4-FFF2-40B4-BE49-F238E27FC236}">
                  <a16:creationId xmlns:a16="http://schemas.microsoft.com/office/drawing/2014/main" id="{D60EBABD-FCE3-C532-1333-5365B1BCEC97}"/>
                </a:ext>
              </a:extLst>
            </p:cNvPr>
            <p:cNvSpPr/>
            <p:nvPr/>
          </p:nvSpPr>
          <p:spPr>
            <a:xfrm>
              <a:off x="2783233" y="443606"/>
              <a:ext cx="167640" cy="886688"/>
            </a:xfrm>
            <a:prstGeom prst="rightBrac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pic>
          <p:nvPicPr>
            <p:cNvPr id="43" name="Imagem 42">
              <a:extLst>
                <a:ext uri="{FF2B5EF4-FFF2-40B4-BE49-F238E27FC236}">
                  <a16:creationId xmlns:a16="http://schemas.microsoft.com/office/drawing/2014/main" id="{2EFFFF70-6281-9288-6F4C-DD7CDF8BCD70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l="22009" t="18507" r="21367" b="68182"/>
            <a:stretch/>
          </p:blipFill>
          <p:spPr>
            <a:xfrm>
              <a:off x="3977905" y="1652681"/>
              <a:ext cx="2463800" cy="488157"/>
            </a:xfrm>
            <a:prstGeom prst="rect">
              <a:avLst/>
            </a:prstGeom>
          </p:spPr>
        </p:pic>
        <p:sp>
          <p:nvSpPr>
            <p:cNvPr id="44" name="Chave Direita 43">
              <a:extLst>
                <a:ext uri="{FF2B5EF4-FFF2-40B4-BE49-F238E27FC236}">
                  <a16:creationId xmlns:a16="http://schemas.microsoft.com/office/drawing/2014/main" id="{51BAC5BD-2B9C-7708-BC7F-472A7F7DE4F4}"/>
                </a:ext>
              </a:extLst>
            </p:cNvPr>
            <p:cNvSpPr/>
            <p:nvPr/>
          </p:nvSpPr>
          <p:spPr>
            <a:xfrm>
              <a:off x="2783233" y="1483433"/>
              <a:ext cx="167640" cy="886688"/>
            </a:xfrm>
            <a:prstGeom prst="rightBrac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2" name="Chave Direita 51">
              <a:extLst>
                <a:ext uri="{FF2B5EF4-FFF2-40B4-BE49-F238E27FC236}">
                  <a16:creationId xmlns:a16="http://schemas.microsoft.com/office/drawing/2014/main" id="{E1C47834-9F39-94D8-DDC7-E8F80749DB1A}"/>
                </a:ext>
              </a:extLst>
            </p:cNvPr>
            <p:cNvSpPr/>
            <p:nvPr/>
          </p:nvSpPr>
          <p:spPr>
            <a:xfrm>
              <a:off x="2783233" y="2471723"/>
              <a:ext cx="167640" cy="886688"/>
            </a:xfrm>
            <a:prstGeom prst="rightBrac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pic>
          <p:nvPicPr>
            <p:cNvPr id="58" name="Imagem 57">
              <a:extLst>
                <a:ext uri="{FF2B5EF4-FFF2-40B4-BE49-F238E27FC236}">
                  <a16:creationId xmlns:a16="http://schemas.microsoft.com/office/drawing/2014/main" id="{8790D598-F58E-EB46-CD9C-354D0A1EA080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4345" t="4656" r="17660"/>
            <a:stretch/>
          </p:blipFill>
          <p:spPr>
            <a:xfrm>
              <a:off x="4560506" y="2607093"/>
              <a:ext cx="477492" cy="717550"/>
            </a:xfrm>
            <a:prstGeom prst="rect">
              <a:avLst/>
            </a:prstGeom>
          </p:spPr>
        </p:pic>
        <p:pic>
          <p:nvPicPr>
            <p:cNvPr id="61" name="Imagem 60">
              <a:extLst>
                <a:ext uri="{FF2B5EF4-FFF2-40B4-BE49-F238E27FC236}">
                  <a16:creationId xmlns:a16="http://schemas.microsoft.com/office/drawing/2014/main" id="{E9E3F6AA-41E7-665B-2036-BBBA73093B0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7114" t="1250" r="24456" b="62707"/>
            <a:stretch/>
          </p:blipFill>
          <p:spPr>
            <a:xfrm>
              <a:off x="5391833" y="2573733"/>
              <a:ext cx="477493" cy="724644"/>
            </a:xfrm>
            <a:prstGeom prst="rect">
              <a:avLst/>
            </a:prstGeom>
          </p:spPr>
        </p:pic>
        <p:grpSp>
          <p:nvGrpSpPr>
            <p:cNvPr id="1025" name="Agrupar 1024">
              <a:extLst>
                <a:ext uri="{FF2B5EF4-FFF2-40B4-BE49-F238E27FC236}">
                  <a16:creationId xmlns:a16="http://schemas.microsoft.com/office/drawing/2014/main" id="{9E20F078-943C-C1D9-25AE-EF7ED6CFFB23}"/>
                </a:ext>
              </a:extLst>
            </p:cNvPr>
            <p:cNvGrpSpPr/>
            <p:nvPr/>
          </p:nvGrpSpPr>
          <p:grpSpPr>
            <a:xfrm>
              <a:off x="6063705" y="2411186"/>
              <a:ext cx="1119058" cy="786092"/>
              <a:chOff x="7494758" y="3967455"/>
              <a:chExt cx="1655780" cy="1061745"/>
            </a:xfrm>
          </p:grpSpPr>
          <p:pic>
            <p:nvPicPr>
              <p:cNvPr id="62" name="Imagem 61">
                <a:extLst>
                  <a:ext uri="{FF2B5EF4-FFF2-40B4-BE49-F238E27FC236}">
                    <a16:creationId xmlns:a16="http://schemas.microsoft.com/office/drawing/2014/main" id="{A1D796E8-BCBF-F385-467F-3CA836AB4BA9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1689" t="37767" r="24456" b="25990"/>
              <a:stretch/>
            </p:blipFill>
            <p:spPr>
              <a:xfrm>
                <a:off x="7496175" y="4300538"/>
                <a:ext cx="1654363" cy="728662"/>
              </a:xfrm>
              <a:prstGeom prst="rect">
                <a:avLst/>
              </a:prstGeom>
            </p:spPr>
          </p:pic>
          <p:pic>
            <p:nvPicPr>
              <p:cNvPr id="63" name="Imagem 62">
                <a:extLst>
                  <a:ext uri="{FF2B5EF4-FFF2-40B4-BE49-F238E27FC236}">
                    <a16:creationId xmlns:a16="http://schemas.microsoft.com/office/drawing/2014/main" id="{9A38561E-7FF9-FFAA-9FBC-1D400660EF62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8527" t="8135" r="42723" b="64443"/>
              <a:stretch/>
            </p:blipFill>
            <p:spPr>
              <a:xfrm>
                <a:off x="7747172" y="3967455"/>
                <a:ext cx="485774" cy="551306"/>
              </a:xfrm>
              <a:prstGeom prst="rect">
                <a:avLst/>
              </a:prstGeom>
            </p:spPr>
          </p:pic>
          <p:pic>
            <p:nvPicPr>
              <p:cNvPr id="1024" name="Imagem 1023">
                <a:extLst>
                  <a:ext uri="{FF2B5EF4-FFF2-40B4-BE49-F238E27FC236}">
                    <a16:creationId xmlns:a16="http://schemas.microsoft.com/office/drawing/2014/main" id="{CE741F57-4180-A952-12CB-E1F099517682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8527" t="8135" r="42723" b="64443"/>
              <a:stretch/>
            </p:blipFill>
            <p:spPr>
              <a:xfrm>
                <a:off x="7494758" y="3974228"/>
                <a:ext cx="485774" cy="551306"/>
              </a:xfrm>
              <a:prstGeom prst="rect">
                <a:avLst/>
              </a:prstGeom>
            </p:spPr>
          </p:pic>
        </p:grpSp>
        <p:pic>
          <p:nvPicPr>
            <p:cNvPr id="1034" name="Imagem 1033">
              <a:extLst>
                <a:ext uri="{FF2B5EF4-FFF2-40B4-BE49-F238E27FC236}">
                  <a16:creationId xmlns:a16="http://schemas.microsoft.com/office/drawing/2014/main" id="{EA6D4C88-B4BE-23EB-A902-A5A581A53FD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4222" t="18226" r="61041" b="52395"/>
            <a:stretch/>
          </p:blipFill>
          <p:spPr>
            <a:xfrm>
              <a:off x="3322509" y="2501303"/>
              <a:ext cx="755887" cy="763194"/>
            </a:xfrm>
            <a:prstGeom prst="rect">
              <a:avLst/>
            </a:prstGeom>
          </p:spPr>
        </p:pic>
        <p:sp>
          <p:nvSpPr>
            <p:cNvPr id="1038" name="Sinal de Adição 1037">
              <a:extLst>
                <a:ext uri="{FF2B5EF4-FFF2-40B4-BE49-F238E27FC236}">
                  <a16:creationId xmlns:a16="http://schemas.microsoft.com/office/drawing/2014/main" id="{8C915C0E-21B6-0562-345C-0FE455A61F1F}"/>
                </a:ext>
              </a:extLst>
            </p:cNvPr>
            <p:cNvSpPr/>
            <p:nvPr/>
          </p:nvSpPr>
          <p:spPr>
            <a:xfrm>
              <a:off x="4078396" y="4022704"/>
              <a:ext cx="369778" cy="332509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39" name="Chave Direita 1038">
              <a:extLst>
                <a:ext uri="{FF2B5EF4-FFF2-40B4-BE49-F238E27FC236}">
                  <a16:creationId xmlns:a16="http://schemas.microsoft.com/office/drawing/2014/main" id="{D3EA2E2E-D191-A9C6-FCB5-1FAB5097F247}"/>
                </a:ext>
              </a:extLst>
            </p:cNvPr>
            <p:cNvSpPr/>
            <p:nvPr/>
          </p:nvSpPr>
          <p:spPr>
            <a:xfrm>
              <a:off x="2802858" y="3515432"/>
              <a:ext cx="148004" cy="1306941"/>
            </a:xfrm>
            <a:prstGeom prst="rightBrac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40" name="Sinal de Adição 1039">
              <a:extLst>
                <a:ext uri="{FF2B5EF4-FFF2-40B4-BE49-F238E27FC236}">
                  <a16:creationId xmlns:a16="http://schemas.microsoft.com/office/drawing/2014/main" id="{284BD13B-92C1-5962-7859-074370731F24}"/>
                </a:ext>
              </a:extLst>
            </p:cNvPr>
            <p:cNvSpPr/>
            <p:nvPr/>
          </p:nvSpPr>
          <p:spPr>
            <a:xfrm>
              <a:off x="5022055" y="4022704"/>
              <a:ext cx="369778" cy="332509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41" name="Sinal de Adição 1040">
              <a:extLst>
                <a:ext uri="{FF2B5EF4-FFF2-40B4-BE49-F238E27FC236}">
                  <a16:creationId xmlns:a16="http://schemas.microsoft.com/office/drawing/2014/main" id="{F0EBEC0D-599F-0526-2180-502B14EB62C0}"/>
                </a:ext>
              </a:extLst>
            </p:cNvPr>
            <p:cNvSpPr/>
            <p:nvPr/>
          </p:nvSpPr>
          <p:spPr>
            <a:xfrm>
              <a:off x="6012711" y="4028240"/>
              <a:ext cx="369778" cy="332509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pic>
          <p:nvPicPr>
            <p:cNvPr id="1042" name="Imagem 1041">
              <a:extLst>
                <a:ext uri="{FF2B5EF4-FFF2-40B4-BE49-F238E27FC236}">
                  <a16:creationId xmlns:a16="http://schemas.microsoft.com/office/drawing/2014/main" id="{60F5FD88-A600-7767-36BC-F9157D920EE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4345" t="4656" r="17660"/>
            <a:stretch/>
          </p:blipFill>
          <p:spPr>
            <a:xfrm>
              <a:off x="4544563" y="3878422"/>
              <a:ext cx="477492" cy="717550"/>
            </a:xfrm>
            <a:prstGeom prst="rect">
              <a:avLst/>
            </a:prstGeom>
          </p:spPr>
        </p:pic>
        <p:pic>
          <p:nvPicPr>
            <p:cNvPr id="1043" name="Imagem 1042">
              <a:extLst>
                <a:ext uri="{FF2B5EF4-FFF2-40B4-BE49-F238E27FC236}">
                  <a16:creationId xmlns:a16="http://schemas.microsoft.com/office/drawing/2014/main" id="{73F73987-9D45-A1FB-1C35-4412DD14E38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7114" t="1250" r="24456" b="62707"/>
            <a:stretch/>
          </p:blipFill>
          <p:spPr>
            <a:xfrm>
              <a:off x="5375890" y="3845062"/>
              <a:ext cx="477493" cy="724644"/>
            </a:xfrm>
            <a:prstGeom prst="rect">
              <a:avLst/>
            </a:prstGeom>
          </p:spPr>
        </p:pic>
        <p:pic>
          <p:nvPicPr>
            <p:cNvPr id="1044" name="Imagem 1043">
              <a:extLst>
                <a:ext uri="{FF2B5EF4-FFF2-40B4-BE49-F238E27FC236}">
                  <a16:creationId xmlns:a16="http://schemas.microsoft.com/office/drawing/2014/main" id="{FC73AE49-6300-72A2-31F2-D110A9F591F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4222" t="18226" r="61041" b="52395"/>
            <a:stretch/>
          </p:blipFill>
          <p:spPr>
            <a:xfrm>
              <a:off x="3306566" y="3772632"/>
              <a:ext cx="755887" cy="763194"/>
            </a:xfrm>
            <a:prstGeom prst="rect">
              <a:avLst/>
            </a:prstGeom>
          </p:spPr>
        </p:pic>
        <p:grpSp>
          <p:nvGrpSpPr>
            <p:cNvPr id="1045" name="Agrupar 1044">
              <a:extLst>
                <a:ext uri="{FF2B5EF4-FFF2-40B4-BE49-F238E27FC236}">
                  <a16:creationId xmlns:a16="http://schemas.microsoft.com/office/drawing/2014/main" id="{B0652097-AD8B-8079-4F32-29FABBDD5280}"/>
                </a:ext>
              </a:extLst>
            </p:cNvPr>
            <p:cNvGrpSpPr/>
            <p:nvPr/>
          </p:nvGrpSpPr>
          <p:grpSpPr>
            <a:xfrm>
              <a:off x="6325132" y="3653261"/>
              <a:ext cx="1119058" cy="786092"/>
              <a:chOff x="7494758" y="3967455"/>
              <a:chExt cx="1655780" cy="1061745"/>
            </a:xfrm>
          </p:grpSpPr>
          <p:pic>
            <p:nvPicPr>
              <p:cNvPr id="1046" name="Imagem 1045">
                <a:extLst>
                  <a:ext uri="{FF2B5EF4-FFF2-40B4-BE49-F238E27FC236}">
                    <a16:creationId xmlns:a16="http://schemas.microsoft.com/office/drawing/2014/main" id="{82C19FDB-3451-697C-6267-7D2C65502001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1689" t="37767" r="24456" b="25990"/>
              <a:stretch/>
            </p:blipFill>
            <p:spPr>
              <a:xfrm>
                <a:off x="7496175" y="4300538"/>
                <a:ext cx="1654363" cy="728662"/>
              </a:xfrm>
              <a:prstGeom prst="rect">
                <a:avLst/>
              </a:prstGeom>
            </p:spPr>
          </p:pic>
          <p:pic>
            <p:nvPicPr>
              <p:cNvPr id="1047" name="Imagem 1046">
                <a:extLst>
                  <a:ext uri="{FF2B5EF4-FFF2-40B4-BE49-F238E27FC236}">
                    <a16:creationId xmlns:a16="http://schemas.microsoft.com/office/drawing/2014/main" id="{7709C969-42F3-8E86-4720-844B4B292282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8527" t="8135" r="42723" b="64443"/>
              <a:stretch/>
            </p:blipFill>
            <p:spPr>
              <a:xfrm>
                <a:off x="7747172" y="3967455"/>
                <a:ext cx="485774" cy="551306"/>
              </a:xfrm>
              <a:prstGeom prst="rect">
                <a:avLst/>
              </a:prstGeom>
            </p:spPr>
          </p:pic>
          <p:pic>
            <p:nvPicPr>
              <p:cNvPr id="1048" name="Imagem 1047">
                <a:extLst>
                  <a:ext uri="{FF2B5EF4-FFF2-40B4-BE49-F238E27FC236}">
                    <a16:creationId xmlns:a16="http://schemas.microsoft.com/office/drawing/2014/main" id="{A030C843-E50E-163D-616A-74FB9629DF3E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8527" t="8135" r="42723" b="64443"/>
              <a:stretch/>
            </p:blipFill>
            <p:spPr>
              <a:xfrm>
                <a:off x="7494758" y="3974228"/>
                <a:ext cx="485774" cy="551306"/>
              </a:xfrm>
              <a:prstGeom prst="rect">
                <a:avLst/>
              </a:prstGeom>
            </p:spPr>
          </p:pic>
        </p:grpSp>
        <p:sp>
          <p:nvSpPr>
            <p:cNvPr id="1049" name="Seta: para Baixo 1048">
              <a:extLst>
                <a:ext uri="{FF2B5EF4-FFF2-40B4-BE49-F238E27FC236}">
                  <a16:creationId xmlns:a16="http://schemas.microsoft.com/office/drawing/2014/main" id="{A431296F-0560-14A7-37CB-60468D562B1B}"/>
                </a:ext>
              </a:extLst>
            </p:cNvPr>
            <p:cNvSpPr/>
            <p:nvPr/>
          </p:nvSpPr>
          <p:spPr>
            <a:xfrm>
              <a:off x="4893679" y="4758405"/>
              <a:ext cx="794922" cy="357986"/>
            </a:xfrm>
            <a:prstGeom prst="downArrow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336648154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52" name="Agrupar 1051">
            <a:extLst>
              <a:ext uri="{FF2B5EF4-FFF2-40B4-BE49-F238E27FC236}">
                <a16:creationId xmlns:a16="http://schemas.microsoft.com/office/drawing/2014/main" id="{D642B983-E6B7-C3C5-1142-532F9B3A21A6}"/>
              </a:ext>
            </a:extLst>
          </p:cNvPr>
          <p:cNvGrpSpPr/>
          <p:nvPr/>
        </p:nvGrpSpPr>
        <p:grpSpPr>
          <a:xfrm>
            <a:off x="26815" y="-58174"/>
            <a:ext cx="10750882" cy="6904297"/>
            <a:chOff x="26815" y="-58174"/>
            <a:chExt cx="10750882" cy="6904297"/>
          </a:xfrm>
        </p:grpSpPr>
        <p:grpSp>
          <p:nvGrpSpPr>
            <p:cNvPr id="1026" name="Agrupar 1025">
              <a:extLst>
                <a:ext uri="{FF2B5EF4-FFF2-40B4-BE49-F238E27FC236}">
                  <a16:creationId xmlns:a16="http://schemas.microsoft.com/office/drawing/2014/main" id="{285DFC92-2D7B-5FF1-B701-D215AE2911F3}"/>
                </a:ext>
              </a:extLst>
            </p:cNvPr>
            <p:cNvGrpSpPr/>
            <p:nvPr/>
          </p:nvGrpSpPr>
          <p:grpSpPr>
            <a:xfrm>
              <a:off x="26815" y="-58174"/>
              <a:ext cx="10750882" cy="6904297"/>
              <a:chOff x="26815" y="-58174"/>
              <a:chExt cx="10750882" cy="6904297"/>
            </a:xfrm>
          </p:grpSpPr>
          <p:sp>
            <p:nvSpPr>
              <p:cNvPr id="6" name="Seta: para Baixo 5">
                <a:extLst>
                  <a:ext uri="{FF2B5EF4-FFF2-40B4-BE49-F238E27FC236}">
                    <a16:creationId xmlns:a16="http://schemas.microsoft.com/office/drawing/2014/main" id="{1F6D7681-307D-7125-8AA2-B3D494B82747}"/>
                  </a:ext>
                </a:extLst>
              </p:cNvPr>
              <p:cNvSpPr/>
              <p:nvPr/>
            </p:nvSpPr>
            <p:spPr>
              <a:xfrm>
                <a:off x="1298402" y="5038274"/>
                <a:ext cx="200026" cy="165749"/>
              </a:xfrm>
              <a:prstGeom prst="downArrow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7" name="Retângulo 6">
                <a:extLst>
                  <a:ext uri="{FF2B5EF4-FFF2-40B4-BE49-F238E27FC236}">
                    <a16:creationId xmlns:a16="http://schemas.microsoft.com/office/drawing/2014/main" id="{C029EC4A-827A-3839-41C5-443986AC9113}"/>
                  </a:ext>
                </a:extLst>
              </p:cNvPr>
              <p:cNvSpPr/>
              <p:nvPr/>
            </p:nvSpPr>
            <p:spPr>
              <a:xfrm>
                <a:off x="728779" y="674097"/>
                <a:ext cx="1339272" cy="332509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pt-BR" dirty="0"/>
                  <a:t>Conv2D</a:t>
                </a:r>
              </a:p>
            </p:txBody>
          </p:sp>
          <p:sp>
            <p:nvSpPr>
              <p:cNvPr id="8" name="Retângulo 7">
                <a:extLst>
                  <a:ext uri="{FF2B5EF4-FFF2-40B4-BE49-F238E27FC236}">
                    <a16:creationId xmlns:a16="http://schemas.microsoft.com/office/drawing/2014/main" id="{F39B89A7-A08B-1E47-17EA-B6394412C3CA}"/>
                  </a:ext>
                </a:extLst>
              </p:cNvPr>
              <p:cNvSpPr/>
              <p:nvPr/>
            </p:nvSpPr>
            <p:spPr>
              <a:xfrm>
                <a:off x="728779" y="1186715"/>
                <a:ext cx="1339272" cy="332509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pt-BR" dirty="0"/>
                  <a:t>Conv2D</a:t>
                </a:r>
              </a:p>
            </p:txBody>
          </p:sp>
          <p:sp>
            <p:nvSpPr>
              <p:cNvPr id="9" name="Retângulo 8">
                <a:extLst>
                  <a:ext uri="{FF2B5EF4-FFF2-40B4-BE49-F238E27FC236}">
                    <a16:creationId xmlns:a16="http://schemas.microsoft.com/office/drawing/2014/main" id="{73323CF7-0203-C18B-E1B8-8BE0983BFE0C}"/>
                  </a:ext>
                </a:extLst>
              </p:cNvPr>
              <p:cNvSpPr/>
              <p:nvPr/>
            </p:nvSpPr>
            <p:spPr>
              <a:xfrm>
                <a:off x="728779" y="1699333"/>
                <a:ext cx="1339272" cy="332509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pt-BR" dirty="0"/>
                  <a:t>Conv2D</a:t>
                </a:r>
              </a:p>
            </p:txBody>
          </p:sp>
          <p:sp>
            <p:nvSpPr>
              <p:cNvPr id="10" name="Retângulo 9">
                <a:extLst>
                  <a:ext uri="{FF2B5EF4-FFF2-40B4-BE49-F238E27FC236}">
                    <a16:creationId xmlns:a16="http://schemas.microsoft.com/office/drawing/2014/main" id="{A78A0A05-007B-D08D-ED10-D3D00175EF2C}"/>
                  </a:ext>
                </a:extLst>
              </p:cNvPr>
              <p:cNvSpPr/>
              <p:nvPr/>
            </p:nvSpPr>
            <p:spPr>
              <a:xfrm>
                <a:off x="728779" y="2193478"/>
                <a:ext cx="1339272" cy="332509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pt-BR" dirty="0"/>
                  <a:t>Conv2D</a:t>
                </a:r>
              </a:p>
            </p:txBody>
          </p:sp>
          <p:sp>
            <p:nvSpPr>
              <p:cNvPr id="11" name="Retângulo 10">
                <a:extLst>
                  <a:ext uri="{FF2B5EF4-FFF2-40B4-BE49-F238E27FC236}">
                    <a16:creationId xmlns:a16="http://schemas.microsoft.com/office/drawing/2014/main" id="{E9A99E68-799F-C16B-30E0-C3986E9CF2AB}"/>
                  </a:ext>
                </a:extLst>
              </p:cNvPr>
              <p:cNvSpPr/>
              <p:nvPr/>
            </p:nvSpPr>
            <p:spPr>
              <a:xfrm>
                <a:off x="728779" y="2687623"/>
                <a:ext cx="1339272" cy="332509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pt-BR" dirty="0"/>
                  <a:t>Conv2D</a:t>
                </a:r>
              </a:p>
            </p:txBody>
          </p:sp>
          <p:sp>
            <p:nvSpPr>
              <p:cNvPr id="12" name="Retângulo 11">
                <a:extLst>
                  <a:ext uri="{FF2B5EF4-FFF2-40B4-BE49-F238E27FC236}">
                    <a16:creationId xmlns:a16="http://schemas.microsoft.com/office/drawing/2014/main" id="{5609D4E8-F1E6-FA81-86A5-BA1F95A8D611}"/>
                  </a:ext>
                </a:extLst>
              </p:cNvPr>
              <p:cNvSpPr/>
              <p:nvPr/>
            </p:nvSpPr>
            <p:spPr>
              <a:xfrm>
                <a:off x="728779" y="3181768"/>
                <a:ext cx="1339272" cy="332509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pt-BR" dirty="0"/>
                  <a:t>Conv2D</a:t>
                </a:r>
              </a:p>
            </p:txBody>
          </p:sp>
          <p:sp>
            <p:nvSpPr>
              <p:cNvPr id="13" name="Retângulo 12">
                <a:extLst>
                  <a:ext uri="{FF2B5EF4-FFF2-40B4-BE49-F238E27FC236}">
                    <a16:creationId xmlns:a16="http://schemas.microsoft.com/office/drawing/2014/main" id="{AACAA598-CF4E-B658-E15E-B217D7CF1AD4}"/>
                  </a:ext>
                </a:extLst>
              </p:cNvPr>
              <p:cNvSpPr/>
              <p:nvPr/>
            </p:nvSpPr>
            <p:spPr>
              <a:xfrm>
                <a:off x="728779" y="3689773"/>
                <a:ext cx="1339272" cy="332509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pt-BR" dirty="0" err="1"/>
                  <a:t>Dense</a:t>
                </a:r>
                <a:endParaRPr lang="pt-BR" dirty="0"/>
              </a:p>
            </p:txBody>
          </p:sp>
          <p:sp>
            <p:nvSpPr>
              <p:cNvPr id="14" name="Retângulo 13">
                <a:extLst>
                  <a:ext uri="{FF2B5EF4-FFF2-40B4-BE49-F238E27FC236}">
                    <a16:creationId xmlns:a16="http://schemas.microsoft.com/office/drawing/2014/main" id="{EABC406B-B102-FB4F-817C-E5F32B8EB558}"/>
                  </a:ext>
                </a:extLst>
              </p:cNvPr>
              <p:cNvSpPr/>
              <p:nvPr/>
            </p:nvSpPr>
            <p:spPr>
              <a:xfrm>
                <a:off x="728779" y="4197769"/>
                <a:ext cx="1339272" cy="332509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pt-BR" dirty="0" err="1"/>
                  <a:t>Dense</a:t>
                </a:r>
                <a:endParaRPr lang="pt-BR" dirty="0"/>
              </a:p>
            </p:txBody>
          </p:sp>
          <p:sp>
            <p:nvSpPr>
              <p:cNvPr id="15" name="Retângulo 14">
                <a:extLst>
                  <a:ext uri="{FF2B5EF4-FFF2-40B4-BE49-F238E27FC236}">
                    <a16:creationId xmlns:a16="http://schemas.microsoft.com/office/drawing/2014/main" id="{02840DC0-33A1-B83E-61C1-88EECCFD0031}"/>
                  </a:ext>
                </a:extLst>
              </p:cNvPr>
              <p:cNvSpPr/>
              <p:nvPr/>
            </p:nvSpPr>
            <p:spPr>
              <a:xfrm>
                <a:off x="728779" y="4705765"/>
                <a:ext cx="1339272" cy="332509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pt-BR" dirty="0" err="1"/>
                  <a:t>Dense</a:t>
                </a:r>
                <a:endParaRPr lang="pt-BR" dirty="0"/>
              </a:p>
            </p:txBody>
          </p:sp>
          <p:cxnSp>
            <p:nvCxnSpPr>
              <p:cNvPr id="16" name="Conector de Seta Reta 15">
                <a:extLst>
                  <a:ext uri="{FF2B5EF4-FFF2-40B4-BE49-F238E27FC236}">
                    <a16:creationId xmlns:a16="http://schemas.microsoft.com/office/drawing/2014/main" id="{C89C77C6-7F38-28F9-1602-F09B8B7DD745}"/>
                  </a:ext>
                </a:extLst>
              </p:cNvPr>
              <p:cNvCxnSpPr>
                <a:cxnSpLocks/>
                <a:stCxn id="7" idx="2"/>
                <a:endCxn id="8" idx="0"/>
              </p:cNvCxnSpPr>
              <p:nvPr/>
            </p:nvCxnSpPr>
            <p:spPr>
              <a:xfrm>
                <a:off x="1398415" y="1006606"/>
                <a:ext cx="0" cy="18010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Conector de Seta Reta 16">
                <a:extLst>
                  <a:ext uri="{FF2B5EF4-FFF2-40B4-BE49-F238E27FC236}">
                    <a16:creationId xmlns:a16="http://schemas.microsoft.com/office/drawing/2014/main" id="{58F77DB2-7798-8291-A6BA-A6FC1863313E}"/>
                  </a:ext>
                </a:extLst>
              </p:cNvPr>
              <p:cNvCxnSpPr>
                <a:cxnSpLocks/>
                <a:stCxn id="8" idx="2"/>
                <a:endCxn id="9" idx="0"/>
              </p:cNvCxnSpPr>
              <p:nvPr/>
            </p:nvCxnSpPr>
            <p:spPr>
              <a:xfrm>
                <a:off x="1398415" y="1519224"/>
                <a:ext cx="0" cy="18010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Conector de Seta Reta 17">
                <a:extLst>
                  <a:ext uri="{FF2B5EF4-FFF2-40B4-BE49-F238E27FC236}">
                    <a16:creationId xmlns:a16="http://schemas.microsoft.com/office/drawing/2014/main" id="{B0BD958A-B837-8581-3B56-7ED7403F19B0}"/>
                  </a:ext>
                </a:extLst>
              </p:cNvPr>
              <p:cNvCxnSpPr>
                <a:cxnSpLocks/>
                <a:stCxn id="9" idx="2"/>
                <a:endCxn id="10" idx="0"/>
              </p:cNvCxnSpPr>
              <p:nvPr/>
            </p:nvCxnSpPr>
            <p:spPr>
              <a:xfrm>
                <a:off x="1398415" y="2031842"/>
                <a:ext cx="0" cy="161636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Conector de Seta Reta 18">
                <a:extLst>
                  <a:ext uri="{FF2B5EF4-FFF2-40B4-BE49-F238E27FC236}">
                    <a16:creationId xmlns:a16="http://schemas.microsoft.com/office/drawing/2014/main" id="{7A6BA8B2-9384-73C8-E528-07EF481F359E}"/>
                  </a:ext>
                </a:extLst>
              </p:cNvPr>
              <p:cNvCxnSpPr>
                <a:cxnSpLocks/>
                <a:stCxn id="10" idx="2"/>
                <a:endCxn id="11" idx="0"/>
              </p:cNvCxnSpPr>
              <p:nvPr/>
            </p:nvCxnSpPr>
            <p:spPr>
              <a:xfrm>
                <a:off x="1398415" y="2525987"/>
                <a:ext cx="0" cy="161636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Conector de Seta Reta 19">
                <a:extLst>
                  <a:ext uri="{FF2B5EF4-FFF2-40B4-BE49-F238E27FC236}">
                    <a16:creationId xmlns:a16="http://schemas.microsoft.com/office/drawing/2014/main" id="{A25B384B-199C-47F5-30D6-94E0EDB19E20}"/>
                  </a:ext>
                </a:extLst>
              </p:cNvPr>
              <p:cNvCxnSpPr>
                <a:cxnSpLocks/>
                <a:stCxn id="11" idx="2"/>
                <a:endCxn id="12" idx="0"/>
              </p:cNvCxnSpPr>
              <p:nvPr/>
            </p:nvCxnSpPr>
            <p:spPr>
              <a:xfrm>
                <a:off x="1398415" y="3020132"/>
                <a:ext cx="0" cy="161636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Conector de Seta Reta 20">
                <a:extLst>
                  <a:ext uri="{FF2B5EF4-FFF2-40B4-BE49-F238E27FC236}">
                    <a16:creationId xmlns:a16="http://schemas.microsoft.com/office/drawing/2014/main" id="{4EA29D5E-E3C1-CDDF-6ADD-DAFD3FE0BFB2}"/>
                  </a:ext>
                </a:extLst>
              </p:cNvPr>
              <p:cNvCxnSpPr>
                <a:cxnSpLocks/>
                <a:stCxn id="12" idx="2"/>
                <a:endCxn id="13" idx="0"/>
              </p:cNvCxnSpPr>
              <p:nvPr/>
            </p:nvCxnSpPr>
            <p:spPr>
              <a:xfrm>
                <a:off x="1398415" y="3514277"/>
                <a:ext cx="0" cy="175496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Conector de Seta Reta 21">
                <a:extLst>
                  <a:ext uri="{FF2B5EF4-FFF2-40B4-BE49-F238E27FC236}">
                    <a16:creationId xmlns:a16="http://schemas.microsoft.com/office/drawing/2014/main" id="{DB5520F9-E488-EB17-2AC4-A0765163E0A7}"/>
                  </a:ext>
                </a:extLst>
              </p:cNvPr>
              <p:cNvCxnSpPr>
                <a:cxnSpLocks/>
                <a:stCxn id="13" idx="2"/>
                <a:endCxn id="14" idx="0"/>
              </p:cNvCxnSpPr>
              <p:nvPr/>
            </p:nvCxnSpPr>
            <p:spPr>
              <a:xfrm>
                <a:off x="1398415" y="4022282"/>
                <a:ext cx="0" cy="175487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Conector de Seta Reta 22">
                <a:extLst>
                  <a:ext uri="{FF2B5EF4-FFF2-40B4-BE49-F238E27FC236}">
                    <a16:creationId xmlns:a16="http://schemas.microsoft.com/office/drawing/2014/main" id="{C2C3AADE-69B7-74B4-BED2-F75B338AF70E}"/>
                  </a:ext>
                </a:extLst>
              </p:cNvPr>
              <p:cNvCxnSpPr>
                <a:cxnSpLocks/>
                <a:stCxn id="14" idx="2"/>
                <a:endCxn id="15" idx="0"/>
              </p:cNvCxnSpPr>
              <p:nvPr/>
            </p:nvCxnSpPr>
            <p:spPr>
              <a:xfrm>
                <a:off x="1398415" y="4530278"/>
                <a:ext cx="0" cy="175487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4" name="Seta: para Baixo 23">
                <a:extLst>
                  <a:ext uri="{FF2B5EF4-FFF2-40B4-BE49-F238E27FC236}">
                    <a16:creationId xmlns:a16="http://schemas.microsoft.com/office/drawing/2014/main" id="{D4D923E0-5624-5AEC-D223-E4F4D9B2CAA4}"/>
                  </a:ext>
                </a:extLst>
              </p:cNvPr>
              <p:cNvSpPr/>
              <p:nvPr/>
            </p:nvSpPr>
            <p:spPr>
              <a:xfrm>
                <a:off x="1298402" y="508348"/>
                <a:ext cx="200026" cy="165749"/>
              </a:xfrm>
              <a:prstGeom prst="downArrow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25" name="CaixaDeTexto 24">
                <a:extLst>
                  <a:ext uri="{FF2B5EF4-FFF2-40B4-BE49-F238E27FC236}">
                    <a16:creationId xmlns:a16="http://schemas.microsoft.com/office/drawing/2014/main" id="{6812690A-3E4D-E967-FCF5-674828E7CD83}"/>
                  </a:ext>
                </a:extLst>
              </p:cNvPr>
              <p:cNvSpPr txBox="1"/>
              <p:nvPr/>
            </p:nvSpPr>
            <p:spPr>
              <a:xfrm>
                <a:off x="728779" y="230727"/>
                <a:ext cx="1339272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400" dirty="0"/>
                  <a:t>Entrada</a:t>
                </a:r>
              </a:p>
            </p:txBody>
          </p:sp>
          <p:sp>
            <p:nvSpPr>
              <p:cNvPr id="26" name="CaixaDeTexto 25">
                <a:extLst>
                  <a:ext uri="{FF2B5EF4-FFF2-40B4-BE49-F238E27FC236}">
                    <a16:creationId xmlns:a16="http://schemas.microsoft.com/office/drawing/2014/main" id="{7583F178-D974-B4CC-10E2-E12C651D7276}"/>
                  </a:ext>
                </a:extLst>
              </p:cNvPr>
              <p:cNvSpPr txBox="1"/>
              <p:nvPr/>
            </p:nvSpPr>
            <p:spPr>
              <a:xfrm>
                <a:off x="728779" y="5204023"/>
                <a:ext cx="1339272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400" dirty="0"/>
                  <a:t>Saída</a:t>
                </a:r>
              </a:p>
            </p:txBody>
          </p:sp>
          <p:pic>
            <p:nvPicPr>
              <p:cNvPr id="41" name="Imagem 40">
                <a:extLst>
                  <a:ext uri="{FF2B5EF4-FFF2-40B4-BE49-F238E27FC236}">
                    <a16:creationId xmlns:a16="http://schemas.microsoft.com/office/drawing/2014/main" id="{C2C87538-12FE-41A7-E847-AB7DCC24D812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/>
              <a:srcRect t="52469" b="36752"/>
              <a:stretch/>
            </p:blipFill>
            <p:spPr>
              <a:xfrm>
                <a:off x="2402405" y="899016"/>
                <a:ext cx="4351151" cy="395287"/>
              </a:xfrm>
              <a:prstGeom prst="rect">
                <a:avLst/>
              </a:prstGeom>
            </p:spPr>
          </p:pic>
          <p:sp>
            <p:nvSpPr>
              <p:cNvPr id="42" name="Chave Direita 41">
                <a:extLst>
                  <a:ext uri="{FF2B5EF4-FFF2-40B4-BE49-F238E27FC236}">
                    <a16:creationId xmlns:a16="http://schemas.microsoft.com/office/drawing/2014/main" id="{D60EBABD-FCE3-C532-1333-5365B1BCEC97}"/>
                  </a:ext>
                </a:extLst>
              </p:cNvPr>
              <p:cNvSpPr/>
              <p:nvPr/>
            </p:nvSpPr>
            <p:spPr>
              <a:xfrm>
                <a:off x="2151408" y="659506"/>
                <a:ext cx="167640" cy="886688"/>
              </a:xfrm>
              <a:prstGeom prst="rightBrac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pic>
            <p:nvPicPr>
              <p:cNvPr id="43" name="Imagem 42">
                <a:extLst>
                  <a:ext uri="{FF2B5EF4-FFF2-40B4-BE49-F238E27FC236}">
                    <a16:creationId xmlns:a16="http://schemas.microsoft.com/office/drawing/2014/main" id="{2EFFFF70-6281-9288-6F4C-DD7CDF8BCD70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/>
              <a:srcRect l="22009" t="18507" r="21367" b="68182"/>
              <a:stretch/>
            </p:blipFill>
            <p:spPr>
              <a:xfrm>
                <a:off x="3346080" y="1868581"/>
                <a:ext cx="2463800" cy="488157"/>
              </a:xfrm>
              <a:prstGeom prst="rect">
                <a:avLst/>
              </a:prstGeom>
            </p:spPr>
          </p:pic>
          <p:sp>
            <p:nvSpPr>
              <p:cNvPr id="44" name="Chave Direita 43">
                <a:extLst>
                  <a:ext uri="{FF2B5EF4-FFF2-40B4-BE49-F238E27FC236}">
                    <a16:creationId xmlns:a16="http://schemas.microsoft.com/office/drawing/2014/main" id="{51BAC5BD-2B9C-7708-BC7F-472A7F7DE4F4}"/>
                  </a:ext>
                </a:extLst>
              </p:cNvPr>
              <p:cNvSpPr/>
              <p:nvPr/>
            </p:nvSpPr>
            <p:spPr>
              <a:xfrm>
                <a:off x="2151408" y="1699333"/>
                <a:ext cx="167640" cy="886688"/>
              </a:xfrm>
              <a:prstGeom prst="rightBrac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52" name="Chave Direita 51">
                <a:extLst>
                  <a:ext uri="{FF2B5EF4-FFF2-40B4-BE49-F238E27FC236}">
                    <a16:creationId xmlns:a16="http://schemas.microsoft.com/office/drawing/2014/main" id="{E1C47834-9F39-94D8-DDC7-E8F80749DB1A}"/>
                  </a:ext>
                </a:extLst>
              </p:cNvPr>
              <p:cNvSpPr/>
              <p:nvPr/>
            </p:nvSpPr>
            <p:spPr>
              <a:xfrm>
                <a:off x="2151408" y="2687623"/>
                <a:ext cx="167640" cy="886688"/>
              </a:xfrm>
              <a:prstGeom prst="rightBrac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pic>
            <p:nvPicPr>
              <p:cNvPr id="58" name="Imagem 57">
                <a:extLst>
                  <a:ext uri="{FF2B5EF4-FFF2-40B4-BE49-F238E27FC236}">
                    <a16:creationId xmlns:a16="http://schemas.microsoft.com/office/drawing/2014/main" id="{8790D598-F58E-EB46-CD9C-354D0A1EA080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4345" t="4656" r="17660"/>
              <a:stretch/>
            </p:blipFill>
            <p:spPr>
              <a:xfrm>
                <a:off x="3928681" y="2822993"/>
                <a:ext cx="477492" cy="717550"/>
              </a:xfrm>
              <a:prstGeom prst="rect">
                <a:avLst/>
              </a:prstGeom>
            </p:spPr>
          </p:pic>
          <p:pic>
            <p:nvPicPr>
              <p:cNvPr id="61" name="Imagem 60">
                <a:extLst>
                  <a:ext uri="{FF2B5EF4-FFF2-40B4-BE49-F238E27FC236}">
                    <a16:creationId xmlns:a16="http://schemas.microsoft.com/office/drawing/2014/main" id="{E9E3F6AA-41E7-665B-2036-BBBA73093B0F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57114" t="1250" r="24456" b="62707"/>
              <a:stretch/>
            </p:blipFill>
            <p:spPr>
              <a:xfrm>
                <a:off x="4760008" y="2789633"/>
                <a:ext cx="477493" cy="724644"/>
              </a:xfrm>
              <a:prstGeom prst="rect">
                <a:avLst/>
              </a:prstGeom>
            </p:spPr>
          </p:pic>
          <p:grpSp>
            <p:nvGrpSpPr>
              <p:cNvPr id="1025" name="Agrupar 1024">
                <a:extLst>
                  <a:ext uri="{FF2B5EF4-FFF2-40B4-BE49-F238E27FC236}">
                    <a16:creationId xmlns:a16="http://schemas.microsoft.com/office/drawing/2014/main" id="{9E20F078-943C-C1D9-25AE-EF7ED6CFFB23}"/>
                  </a:ext>
                </a:extLst>
              </p:cNvPr>
              <p:cNvGrpSpPr/>
              <p:nvPr/>
            </p:nvGrpSpPr>
            <p:grpSpPr>
              <a:xfrm>
                <a:off x="5431880" y="2627086"/>
                <a:ext cx="1119058" cy="786092"/>
                <a:chOff x="7494758" y="3967455"/>
                <a:chExt cx="1655780" cy="1061745"/>
              </a:xfrm>
            </p:grpSpPr>
            <p:pic>
              <p:nvPicPr>
                <p:cNvPr id="62" name="Imagem 61">
                  <a:extLst>
                    <a:ext uri="{FF2B5EF4-FFF2-40B4-BE49-F238E27FC236}">
                      <a16:creationId xmlns:a16="http://schemas.microsoft.com/office/drawing/2014/main" id="{A1D796E8-BCBF-F385-467F-3CA836AB4BA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5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11689" t="37767" r="24456" b="25990"/>
                <a:stretch/>
              </p:blipFill>
              <p:spPr>
                <a:xfrm>
                  <a:off x="7496175" y="4300538"/>
                  <a:ext cx="1654363" cy="728662"/>
                </a:xfrm>
                <a:prstGeom prst="rect">
                  <a:avLst/>
                </a:prstGeom>
              </p:spPr>
            </p:pic>
            <p:pic>
              <p:nvPicPr>
                <p:cNvPr id="63" name="Imagem 62">
                  <a:extLst>
                    <a:ext uri="{FF2B5EF4-FFF2-40B4-BE49-F238E27FC236}">
                      <a16:creationId xmlns:a16="http://schemas.microsoft.com/office/drawing/2014/main" id="{9A38561E-7FF9-FFAA-9FBC-1D400660EF6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5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38527" t="8135" r="42723" b="64443"/>
                <a:stretch/>
              </p:blipFill>
              <p:spPr>
                <a:xfrm>
                  <a:off x="7747172" y="3967455"/>
                  <a:ext cx="485774" cy="551306"/>
                </a:xfrm>
                <a:prstGeom prst="rect">
                  <a:avLst/>
                </a:prstGeom>
              </p:spPr>
            </p:pic>
            <p:pic>
              <p:nvPicPr>
                <p:cNvPr id="1024" name="Imagem 1023">
                  <a:extLst>
                    <a:ext uri="{FF2B5EF4-FFF2-40B4-BE49-F238E27FC236}">
                      <a16:creationId xmlns:a16="http://schemas.microsoft.com/office/drawing/2014/main" id="{CE741F57-4180-A952-12CB-E1F09951768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5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38527" t="8135" r="42723" b="64443"/>
                <a:stretch/>
              </p:blipFill>
              <p:spPr>
                <a:xfrm>
                  <a:off x="7494758" y="3974228"/>
                  <a:ext cx="485774" cy="551306"/>
                </a:xfrm>
                <a:prstGeom prst="rect">
                  <a:avLst/>
                </a:prstGeom>
              </p:spPr>
            </p:pic>
          </p:grpSp>
          <p:pic>
            <p:nvPicPr>
              <p:cNvPr id="1034" name="Imagem 1033">
                <a:extLst>
                  <a:ext uri="{FF2B5EF4-FFF2-40B4-BE49-F238E27FC236}">
                    <a16:creationId xmlns:a16="http://schemas.microsoft.com/office/drawing/2014/main" id="{EA6D4C88-B4BE-23EB-A902-A5A581A53FD4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4222" t="18226" r="61041" b="52395"/>
              <a:stretch/>
            </p:blipFill>
            <p:spPr>
              <a:xfrm>
                <a:off x="2690684" y="2717203"/>
                <a:ext cx="755887" cy="763194"/>
              </a:xfrm>
              <a:prstGeom prst="rect">
                <a:avLst/>
              </a:prstGeom>
            </p:spPr>
          </p:pic>
          <p:grpSp>
            <p:nvGrpSpPr>
              <p:cNvPr id="48" name="Agrupar 47">
                <a:extLst>
                  <a:ext uri="{FF2B5EF4-FFF2-40B4-BE49-F238E27FC236}">
                    <a16:creationId xmlns:a16="http://schemas.microsoft.com/office/drawing/2014/main" id="{729E7FE2-024F-B354-9281-B9B78DB367A3}"/>
                  </a:ext>
                </a:extLst>
              </p:cNvPr>
              <p:cNvGrpSpPr/>
              <p:nvPr/>
            </p:nvGrpSpPr>
            <p:grpSpPr>
              <a:xfrm>
                <a:off x="8087082" y="230726"/>
                <a:ext cx="1339272" cy="5281073"/>
                <a:chOff x="7614007" y="14826"/>
                <a:chExt cx="1339272" cy="5281073"/>
              </a:xfrm>
            </p:grpSpPr>
            <p:sp>
              <p:nvSpPr>
                <p:cNvPr id="2" name="Seta: para Baixo 1">
                  <a:extLst>
                    <a:ext uri="{FF2B5EF4-FFF2-40B4-BE49-F238E27FC236}">
                      <a16:creationId xmlns:a16="http://schemas.microsoft.com/office/drawing/2014/main" id="{94DC5802-40FA-AF3C-9B1A-FCA83EB3C0AA}"/>
                    </a:ext>
                  </a:extLst>
                </p:cNvPr>
                <p:cNvSpPr/>
                <p:nvPr/>
              </p:nvSpPr>
              <p:spPr>
                <a:xfrm>
                  <a:off x="8183630" y="4822373"/>
                  <a:ext cx="200026" cy="165749"/>
                </a:xfrm>
                <a:prstGeom prst="downArrow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3" name="Retângulo 2">
                  <a:extLst>
                    <a:ext uri="{FF2B5EF4-FFF2-40B4-BE49-F238E27FC236}">
                      <a16:creationId xmlns:a16="http://schemas.microsoft.com/office/drawing/2014/main" id="{DA566561-9EF9-B7B1-295C-385A5CCDD571}"/>
                    </a:ext>
                  </a:extLst>
                </p:cNvPr>
                <p:cNvSpPr/>
                <p:nvPr/>
              </p:nvSpPr>
              <p:spPr>
                <a:xfrm>
                  <a:off x="7614007" y="458196"/>
                  <a:ext cx="1339272" cy="332509"/>
                </a:xfrm>
                <a:prstGeom prst="rect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pt-BR" dirty="0"/>
                    <a:t>Conv2D</a:t>
                  </a:r>
                </a:p>
              </p:txBody>
            </p:sp>
            <p:sp>
              <p:nvSpPr>
                <p:cNvPr id="4" name="Retângulo 3">
                  <a:extLst>
                    <a:ext uri="{FF2B5EF4-FFF2-40B4-BE49-F238E27FC236}">
                      <a16:creationId xmlns:a16="http://schemas.microsoft.com/office/drawing/2014/main" id="{B71A0791-04B5-A730-FC12-35819799B03A}"/>
                    </a:ext>
                  </a:extLst>
                </p:cNvPr>
                <p:cNvSpPr/>
                <p:nvPr/>
              </p:nvSpPr>
              <p:spPr>
                <a:xfrm>
                  <a:off x="7614007" y="970814"/>
                  <a:ext cx="1339272" cy="332509"/>
                </a:xfrm>
                <a:prstGeom prst="rect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pt-BR" dirty="0"/>
                    <a:t>Conv2D</a:t>
                  </a:r>
                </a:p>
              </p:txBody>
            </p:sp>
            <p:sp>
              <p:nvSpPr>
                <p:cNvPr id="5" name="Retângulo 4">
                  <a:extLst>
                    <a:ext uri="{FF2B5EF4-FFF2-40B4-BE49-F238E27FC236}">
                      <a16:creationId xmlns:a16="http://schemas.microsoft.com/office/drawing/2014/main" id="{F1C8AD7E-FD85-F204-F428-E3A6C1BC18EF}"/>
                    </a:ext>
                  </a:extLst>
                </p:cNvPr>
                <p:cNvSpPr/>
                <p:nvPr/>
              </p:nvSpPr>
              <p:spPr>
                <a:xfrm>
                  <a:off x="7614007" y="1483432"/>
                  <a:ext cx="1339272" cy="332509"/>
                </a:xfrm>
                <a:prstGeom prst="rect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pt-BR" dirty="0"/>
                    <a:t>Conv2D</a:t>
                  </a:r>
                </a:p>
              </p:txBody>
            </p:sp>
            <p:sp>
              <p:nvSpPr>
                <p:cNvPr id="27" name="Retângulo 26">
                  <a:extLst>
                    <a:ext uri="{FF2B5EF4-FFF2-40B4-BE49-F238E27FC236}">
                      <a16:creationId xmlns:a16="http://schemas.microsoft.com/office/drawing/2014/main" id="{E0803717-18FC-BC9F-6B84-52B73E585393}"/>
                    </a:ext>
                  </a:extLst>
                </p:cNvPr>
                <p:cNvSpPr/>
                <p:nvPr/>
              </p:nvSpPr>
              <p:spPr>
                <a:xfrm>
                  <a:off x="7614007" y="1977577"/>
                  <a:ext cx="1339272" cy="332509"/>
                </a:xfrm>
                <a:prstGeom prst="rect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pt-BR" dirty="0"/>
                    <a:t>Conv2D</a:t>
                  </a:r>
                </a:p>
              </p:txBody>
            </p:sp>
            <p:sp>
              <p:nvSpPr>
                <p:cNvPr id="28" name="Retângulo 27">
                  <a:extLst>
                    <a:ext uri="{FF2B5EF4-FFF2-40B4-BE49-F238E27FC236}">
                      <a16:creationId xmlns:a16="http://schemas.microsoft.com/office/drawing/2014/main" id="{5A81132C-A152-E7D9-4D47-37E87DD7AEAF}"/>
                    </a:ext>
                  </a:extLst>
                </p:cNvPr>
                <p:cNvSpPr/>
                <p:nvPr/>
              </p:nvSpPr>
              <p:spPr>
                <a:xfrm>
                  <a:off x="7614007" y="2471722"/>
                  <a:ext cx="1339272" cy="332509"/>
                </a:xfrm>
                <a:prstGeom prst="rect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pt-BR" dirty="0"/>
                    <a:t>Conv2D</a:t>
                  </a:r>
                </a:p>
              </p:txBody>
            </p:sp>
            <p:sp>
              <p:nvSpPr>
                <p:cNvPr id="29" name="Retângulo 28">
                  <a:extLst>
                    <a:ext uri="{FF2B5EF4-FFF2-40B4-BE49-F238E27FC236}">
                      <a16:creationId xmlns:a16="http://schemas.microsoft.com/office/drawing/2014/main" id="{014FF861-F24E-CCB2-10D5-7996F813E004}"/>
                    </a:ext>
                  </a:extLst>
                </p:cNvPr>
                <p:cNvSpPr/>
                <p:nvPr/>
              </p:nvSpPr>
              <p:spPr>
                <a:xfrm>
                  <a:off x="7614007" y="2965867"/>
                  <a:ext cx="1339272" cy="332509"/>
                </a:xfrm>
                <a:prstGeom prst="rect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pt-BR" dirty="0"/>
                    <a:t>Conv2D</a:t>
                  </a:r>
                </a:p>
              </p:txBody>
            </p:sp>
            <p:sp>
              <p:nvSpPr>
                <p:cNvPr id="30" name="Retângulo 29">
                  <a:extLst>
                    <a:ext uri="{FF2B5EF4-FFF2-40B4-BE49-F238E27FC236}">
                      <a16:creationId xmlns:a16="http://schemas.microsoft.com/office/drawing/2014/main" id="{D749A5D5-B0F0-DE42-06F7-CF39FB934544}"/>
                    </a:ext>
                  </a:extLst>
                </p:cNvPr>
                <p:cNvSpPr/>
                <p:nvPr/>
              </p:nvSpPr>
              <p:spPr>
                <a:xfrm>
                  <a:off x="7614007" y="3473872"/>
                  <a:ext cx="1339272" cy="332509"/>
                </a:xfrm>
                <a:prstGeom prst="rect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pt-BR" dirty="0" err="1"/>
                    <a:t>Dense</a:t>
                  </a:r>
                  <a:endParaRPr lang="pt-BR" dirty="0"/>
                </a:p>
              </p:txBody>
            </p:sp>
            <p:sp>
              <p:nvSpPr>
                <p:cNvPr id="31" name="Retângulo 30">
                  <a:extLst>
                    <a:ext uri="{FF2B5EF4-FFF2-40B4-BE49-F238E27FC236}">
                      <a16:creationId xmlns:a16="http://schemas.microsoft.com/office/drawing/2014/main" id="{B38571A8-6F87-C538-0EEB-F407D46CCE2F}"/>
                    </a:ext>
                  </a:extLst>
                </p:cNvPr>
                <p:cNvSpPr/>
                <p:nvPr/>
              </p:nvSpPr>
              <p:spPr>
                <a:xfrm>
                  <a:off x="7614007" y="3981868"/>
                  <a:ext cx="1339272" cy="332509"/>
                </a:xfrm>
                <a:prstGeom prst="rect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pt-BR" dirty="0" err="1"/>
                    <a:t>Dense</a:t>
                  </a:r>
                  <a:endParaRPr lang="pt-BR" dirty="0"/>
                </a:p>
              </p:txBody>
            </p:sp>
            <p:sp>
              <p:nvSpPr>
                <p:cNvPr id="32" name="Retângulo 31">
                  <a:extLst>
                    <a:ext uri="{FF2B5EF4-FFF2-40B4-BE49-F238E27FC236}">
                      <a16:creationId xmlns:a16="http://schemas.microsoft.com/office/drawing/2014/main" id="{D88D5B1D-DD19-2867-7D61-98C5A9D1391A}"/>
                    </a:ext>
                  </a:extLst>
                </p:cNvPr>
                <p:cNvSpPr/>
                <p:nvPr/>
              </p:nvSpPr>
              <p:spPr>
                <a:xfrm>
                  <a:off x="7614007" y="4489864"/>
                  <a:ext cx="1339272" cy="332509"/>
                </a:xfrm>
                <a:prstGeom prst="rect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pt-BR" dirty="0" err="1"/>
                    <a:t>Dense</a:t>
                  </a:r>
                  <a:endParaRPr lang="pt-BR" dirty="0"/>
                </a:p>
              </p:txBody>
            </p:sp>
            <p:cxnSp>
              <p:nvCxnSpPr>
                <p:cNvPr id="33" name="Conector de Seta Reta 32">
                  <a:extLst>
                    <a:ext uri="{FF2B5EF4-FFF2-40B4-BE49-F238E27FC236}">
                      <a16:creationId xmlns:a16="http://schemas.microsoft.com/office/drawing/2014/main" id="{A0FCFAF3-44E0-6055-0633-020920419BD9}"/>
                    </a:ext>
                  </a:extLst>
                </p:cNvPr>
                <p:cNvCxnSpPr>
                  <a:cxnSpLocks/>
                  <a:stCxn id="3" idx="2"/>
                  <a:endCxn id="4" idx="0"/>
                </p:cNvCxnSpPr>
                <p:nvPr/>
              </p:nvCxnSpPr>
              <p:spPr>
                <a:xfrm>
                  <a:off x="8283643" y="790705"/>
                  <a:ext cx="0" cy="180109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4" name="Conector de Seta Reta 33">
                  <a:extLst>
                    <a:ext uri="{FF2B5EF4-FFF2-40B4-BE49-F238E27FC236}">
                      <a16:creationId xmlns:a16="http://schemas.microsoft.com/office/drawing/2014/main" id="{10C18831-E5D7-3D61-B0B8-2F3E7B27F030}"/>
                    </a:ext>
                  </a:extLst>
                </p:cNvPr>
                <p:cNvCxnSpPr>
                  <a:cxnSpLocks/>
                  <a:stCxn id="4" idx="2"/>
                  <a:endCxn id="5" idx="0"/>
                </p:cNvCxnSpPr>
                <p:nvPr/>
              </p:nvCxnSpPr>
              <p:spPr>
                <a:xfrm>
                  <a:off x="8283643" y="1303323"/>
                  <a:ext cx="0" cy="180109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5" name="Conector de Seta Reta 34">
                  <a:extLst>
                    <a:ext uri="{FF2B5EF4-FFF2-40B4-BE49-F238E27FC236}">
                      <a16:creationId xmlns:a16="http://schemas.microsoft.com/office/drawing/2014/main" id="{B883B7AF-7699-144C-34D7-BEC53CEA7FC6}"/>
                    </a:ext>
                  </a:extLst>
                </p:cNvPr>
                <p:cNvCxnSpPr>
                  <a:cxnSpLocks/>
                  <a:stCxn id="5" idx="2"/>
                  <a:endCxn id="27" idx="0"/>
                </p:cNvCxnSpPr>
                <p:nvPr/>
              </p:nvCxnSpPr>
              <p:spPr>
                <a:xfrm>
                  <a:off x="8283643" y="1815941"/>
                  <a:ext cx="0" cy="161636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6" name="Conector de Seta Reta 35">
                  <a:extLst>
                    <a:ext uri="{FF2B5EF4-FFF2-40B4-BE49-F238E27FC236}">
                      <a16:creationId xmlns:a16="http://schemas.microsoft.com/office/drawing/2014/main" id="{A3ADA32A-C3C1-7FBC-5DEF-6712CF18538E}"/>
                    </a:ext>
                  </a:extLst>
                </p:cNvPr>
                <p:cNvCxnSpPr>
                  <a:cxnSpLocks/>
                  <a:stCxn id="27" idx="2"/>
                  <a:endCxn id="28" idx="0"/>
                </p:cNvCxnSpPr>
                <p:nvPr/>
              </p:nvCxnSpPr>
              <p:spPr>
                <a:xfrm>
                  <a:off x="8283643" y="2310086"/>
                  <a:ext cx="0" cy="161636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7" name="Conector de Seta Reta 36">
                  <a:extLst>
                    <a:ext uri="{FF2B5EF4-FFF2-40B4-BE49-F238E27FC236}">
                      <a16:creationId xmlns:a16="http://schemas.microsoft.com/office/drawing/2014/main" id="{95B8D73B-BDDF-692E-E391-00808E9484C1}"/>
                    </a:ext>
                  </a:extLst>
                </p:cNvPr>
                <p:cNvCxnSpPr>
                  <a:cxnSpLocks/>
                  <a:stCxn id="28" idx="2"/>
                  <a:endCxn id="29" idx="0"/>
                </p:cNvCxnSpPr>
                <p:nvPr/>
              </p:nvCxnSpPr>
              <p:spPr>
                <a:xfrm>
                  <a:off x="8283643" y="2804231"/>
                  <a:ext cx="0" cy="161636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8" name="Conector de Seta Reta 37">
                  <a:extLst>
                    <a:ext uri="{FF2B5EF4-FFF2-40B4-BE49-F238E27FC236}">
                      <a16:creationId xmlns:a16="http://schemas.microsoft.com/office/drawing/2014/main" id="{BCADB39B-4274-C2B4-5C99-F96D2DB3F3BD}"/>
                    </a:ext>
                  </a:extLst>
                </p:cNvPr>
                <p:cNvCxnSpPr>
                  <a:cxnSpLocks/>
                  <a:stCxn id="29" idx="2"/>
                  <a:endCxn id="30" idx="0"/>
                </p:cNvCxnSpPr>
                <p:nvPr/>
              </p:nvCxnSpPr>
              <p:spPr>
                <a:xfrm>
                  <a:off x="8283643" y="3298376"/>
                  <a:ext cx="0" cy="175496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9" name="Conector de Seta Reta 38">
                  <a:extLst>
                    <a:ext uri="{FF2B5EF4-FFF2-40B4-BE49-F238E27FC236}">
                      <a16:creationId xmlns:a16="http://schemas.microsoft.com/office/drawing/2014/main" id="{047F0A1E-0DCE-457A-C847-643F1C4E1989}"/>
                    </a:ext>
                  </a:extLst>
                </p:cNvPr>
                <p:cNvCxnSpPr>
                  <a:cxnSpLocks/>
                  <a:stCxn id="30" idx="2"/>
                  <a:endCxn id="31" idx="0"/>
                </p:cNvCxnSpPr>
                <p:nvPr/>
              </p:nvCxnSpPr>
              <p:spPr>
                <a:xfrm>
                  <a:off x="8283643" y="3806381"/>
                  <a:ext cx="0" cy="175487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0" name="Conector de Seta Reta 39">
                  <a:extLst>
                    <a:ext uri="{FF2B5EF4-FFF2-40B4-BE49-F238E27FC236}">
                      <a16:creationId xmlns:a16="http://schemas.microsoft.com/office/drawing/2014/main" id="{AFAAC785-EF29-C9CF-C394-7F7A7A13ECFE}"/>
                    </a:ext>
                  </a:extLst>
                </p:cNvPr>
                <p:cNvCxnSpPr>
                  <a:cxnSpLocks/>
                  <a:stCxn id="31" idx="2"/>
                  <a:endCxn id="32" idx="0"/>
                </p:cNvCxnSpPr>
                <p:nvPr/>
              </p:nvCxnSpPr>
              <p:spPr>
                <a:xfrm>
                  <a:off x="8283643" y="4314377"/>
                  <a:ext cx="0" cy="175487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45" name="Seta: para Baixo 44">
                  <a:extLst>
                    <a:ext uri="{FF2B5EF4-FFF2-40B4-BE49-F238E27FC236}">
                      <a16:creationId xmlns:a16="http://schemas.microsoft.com/office/drawing/2014/main" id="{212232F9-E4B7-DF03-4D86-0DDA70B0C93F}"/>
                    </a:ext>
                  </a:extLst>
                </p:cNvPr>
                <p:cNvSpPr/>
                <p:nvPr/>
              </p:nvSpPr>
              <p:spPr>
                <a:xfrm>
                  <a:off x="8183630" y="292447"/>
                  <a:ext cx="200026" cy="165749"/>
                </a:xfrm>
                <a:prstGeom prst="downArrow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46" name="CaixaDeTexto 45">
                  <a:extLst>
                    <a:ext uri="{FF2B5EF4-FFF2-40B4-BE49-F238E27FC236}">
                      <a16:creationId xmlns:a16="http://schemas.microsoft.com/office/drawing/2014/main" id="{BDA5595B-E2FB-E052-7EFC-02FBCFC8AF45}"/>
                    </a:ext>
                  </a:extLst>
                </p:cNvPr>
                <p:cNvSpPr txBox="1"/>
                <p:nvPr/>
              </p:nvSpPr>
              <p:spPr>
                <a:xfrm>
                  <a:off x="7614007" y="14826"/>
                  <a:ext cx="1339272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pt-BR" sz="1400" dirty="0"/>
                    <a:t>Entrada</a:t>
                  </a:r>
                </a:p>
              </p:txBody>
            </p:sp>
            <p:sp>
              <p:nvSpPr>
                <p:cNvPr id="47" name="CaixaDeTexto 46">
                  <a:extLst>
                    <a:ext uri="{FF2B5EF4-FFF2-40B4-BE49-F238E27FC236}">
                      <a16:creationId xmlns:a16="http://schemas.microsoft.com/office/drawing/2014/main" id="{CF505342-07C7-B3DB-1C7B-5695E84AFD7A}"/>
                    </a:ext>
                  </a:extLst>
                </p:cNvPr>
                <p:cNvSpPr txBox="1"/>
                <p:nvPr/>
              </p:nvSpPr>
              <p:spPr>
                <a:xfrm>
                  <a:off x="7614007" y="4988122"/>
                  <a:ext cx="1339272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pt-BR" sz="1400" dirty="0"/>
                    <a:t>Saída</a:t>
                  </a:r>
                </a:p>
              </p:txBody>
            </p:sp>
          </p:grpSp>
          <p:pic>
            <p:nvPicPr>
              <p:cNvPr id="3074" name="Picture 2" descr="How to Draw a Tiger | Envato Tuts+">
                <a:extLst>
                  <a:ext uri="{FF2B5EF4-FFF2-40B4-BE49-F238E27FC236}">
                    <a16:creationId xmlns:a16="http://schemas.microsoft.com/office/drawing/2014/main" id="{7CF47C5F-C4CA-97D4-90FC-8C8439E6883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3101" t="9119" r="16270" b="6974"/>
              <a:stretch/>
            </p:blipFill>
            <p:spPr bwMode="auto">
              <a:xfrm>
                <a:off x="8016150" y="5590468"/>
                <a:ext cx="1681162" cy="12556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49" name="CaixaDeTexto 48">
                <a:extLst>
                  <a:ext uri="{FF2B5EF4-FFF2-40B4-BE49-F238E27FC236}">
                    <a16:creationId xmlns:a16="http://schemas.microsoft.com/office/drawing/2014/main" id="{77C14DB2-8E9D-2894-18AE-62C63368C633}"/>
                  </a:ext>
                </a:extLst>
              </p:cNvPr>
              <p:cNvSpPr txBox="1"/>
              <p:nvPr/>
            </p:nvSpPr>
            <p:spPr>
              <a:xfrm>
                <a:off x="6693619" y="2310483"/>
                <a:ext cx="1339272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200" dirty="0"/>
                  <a:t>Cópia dos pesos (</a:t>
                </a:r>
                <a:r>
                  <a:rPr lang="pt-BR" sz="1200" dirty="0" err="1"/>
                  <a:t>i.e</a:t>
                </a:r>
                <a:r>
                  <a:rPr lang="pt-BR" sz="1200" dirty="0"/>
                  <a:t>, transferência do aprendizado)</a:t>
                </a:r>
              </a:p>
            </p:txBody>
          </p:sp>
          <p:sp>
            <p:nvSpPr>
              <p:cNvPr id="50" name="Seta: para a Direita 49">
                <a:extLst>
                  <a:ext uri="{FF2B5EF4-FFF2-40B4-BE49-F238E27FC236}">
                    <a16:creationId xmlns:a16="http://schemas.microsoft.com/office/drawing/2014/main" id="{3713AE8B-B50B-4F8D-8A2B-30D6E78790B3}"/>
                  </a:ext>
                </a:extLst>
              </p:cNvPr>
              <p:cNvSpPr/>
              <p:nvPr/>
            </p:nvSpPr>
            <p:spPr>
              <a:xfrm>
                <a:off x="6855248" y="1897156"/>
                <a:ext cx="929019" cy="413327"/>
              </a:xfrm>
              <a:prstGeom prst="rightArrow">
                <a:avLst/>
              </a:prstGeom>
              <a:ln>
                <a:noFill/>
              </a:ln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51" name="Retângulo 50">
                <a:extLst>
                  <a:ext uri="{FF2B5EF4-FFF2-40B4-BE49-F238E27FC236}">
                    <a16:creationId xmlns:a16="http://schemas.microsoft.com/office/drawing/2014/main" id="{EAFFF8C2-DF46-75B8-6823-778E324F1C43}"/>
                  </a:ext>
                </a:extLst>
              </p:cNvPr>
              <p:cNvSpPr/>
              <p:nvPr/>
            </p:nvSpPr>
            <p:spPr>
              <a:xfrm>
                <a:off x="8009634" y="563550"/>
                <a:ext cx="1470025" cy="2994893"/>
              </a:xfrm>
              <a:prstGeom prst="rect">
                <a:avLst/>
              </a:prstGeom>
              <a:solidFill>
                <a:schemeClr val="accent2">
                  <a:lumMod val="40000"/>
                  <a:lumOff val="60000"/>
                  <a:alpha val="60000"/>
                </a:schemeClr>
              </a:solidFill>
              <a:ln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  <p:pic>
            <p:nvPicPr>
              <p:cNvPr id="53" name="Picture 4" descr="Open and closed padlock vector 9652847 Vector Art at Vecteezy">
                <a:extLst>
                  <a:ext uri="{FF2B5EF4-FFF2-40B4-BE49-F238E27FC236}">
                    <a16:creationId xmlns:a16="http://schemas.microsoft.com/office/drawing/2014/main" id="{8B870143-5E6B-F461-1194-3B1EB51D057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524" t="22509" r="54037" b="21178"/>
              <a:stretch/>
            </p:blipFill>
            <p:spPr bwMode="auto">
              <a:xfrm>
                <a:off x="9752557" y="1448296"/>
                <a:ext cx="541483" cy="78331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54" name="CaixaDeTexto 53">
                <a:extLst>
                  <a:ext uri="{FF2B5EF4-FFF2-40B4-BE49-F238E27FC236}">
                    <a16:creationId xmlns:a16="http://schemas.microsoft.com/office/drawing/2014/main" id="{57E070AF-EC79-0C5D-D750-0878E3542B9A}"/>
                  </a:ext>
                </a:extLst>
              </p:cNvPr>
              <p:cNvSpPr txBox="1"/>
              <p:nvPr/>
            </p:nvSpPr>
            <p:spPr>
              <a:xfrm>
                <a:off x="9559027" y="2306450"/>
                <a:ext cx="971662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200" dirty="0"/>
                  <a:t>Pesos congelados</a:t>
                </a:r>
              </a:p>
            </p:txBody>
          </p:sp>
          <p:pic>
            <p:nvPicPr>
              <p:cNvPr id="55" name="Picture 4" descr="Open and closed padlock vector 9652847 Vector Art at Vecteezy">
                <a:extLst>
                  <a:ext uri="{FF2B5EF4-FFF2-40B4-BE49-F238E27FC236}">
                    <a16:creationId xmlns:a16="http://schemas.microsoft.com/office/drawing/2014/main" id="{BBFE67AE-4202-613D-ACD5-DFABFB90F48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53553" t="22509" r="13350" b="21178"/>
              <a:stretch/>
            </p:blipFill>
            <p:spPr bwMode="auto">
              <a:xfrm>
                <a:off x="9785127" y="3689772"/>
                <a:ext cx="552451" cy="78331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56" name="CaixaDeTexto 55">
                <a:extLst>
                  <a:ext uri="{FF2B5EF4-FFF2-40B4-BE49-F238E27FC236}">
                    <a16:creationId xmlns:a16="http://schemas.microsoft.com/office/drawing/2014/main" id="{92657F67-93E8-812B-A7AC-554A54607E1B}"/>
                  </a:ext>
                </a:extLst>
              </p:cNvPr>
              <p:cNvSpPr txBox="1"/>
              <p:nvPr/>
            </p:nvSpPr>
            <p:spPr>
              <a:xfrm>
                <a:off x="9438425" y="4445571"/>
                <a:ext cx="1339272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200" dirty="0"/>
                  <a:t>Ajuste dos pesos</a:t>
                </a:r>
              </a:p>
              <a:p>
                <a:pPr algn="ctr"/>
                <a:r>
                  <a:rPr lang="pt-BR" sz="1200" dirty="0"/>
                  <a:t>(aprende a combinar as características)</a:t>
                </a:r>
              </a:p>
            </p:txBody>
          </p:sp>
          <p:sp>
            <p:nvSpPr>
              <p:cNvPr id="57" name="Retângulo 56">
                <a:extLst>
                  <a:ext uri="{FF2B5EF4-FFF2-40B4-BE49-F238E27FC236}">
                    <a16:creationId xmlns:a16="http://schemas.microsoft.com/office/drawing/2014/main" id="{DD89BECE-1BEE-458B-4801-955952D90304}"/>
                  </a:ext>
                </a:extLst>
              </p:cNvPr>
              <p:cNvSpPr/>
              <p:nvPr/>
            </p:nvSpPr>
            <p:spPr>
              <a:xfrm>
                <a:off x="8009634" y="3583490"/>
                <a:ext cx="1470025" cy="1512596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  <a:alpha val="60000"/>
                </a:schemeClr>
              </a:solidFill>
              <a:ln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  <p:sp>
            <p:nvSpPr>
              <p:cNvPr id="59" name="CaixaDeTexto 58">
                <a:extLst>
                  <a:ext uri="{FF2B5EF4-FFF2-40B4-BE49-F238E27FC236}">
                    <a16:creationId xmlns:a16="http://schemas.microsoft.com/office/drawing/2014/main" id="{CE7CF314-18B1-A7C3-2015-F5500BD51DAD}"/>
                  </a:ext>
                </a:extLst>
              </p:cNvPr>
              <p:cNvSpPr txBox="1"/>
              <p:nvPr/>
            </p:nvSpPr>
            <p:spPr>
              <a:xfrm>
                <a:off x="26815" y="-46679"/>
                <a:ext cx="27432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b="1" dirty="0"/>
                  <a:t>Rede neural pré-treinada</a:t>
                </a:r>
              </a:p>
            </p:txBody>
          </p:sp>
          <p:sp>
            <p:nvSpPr>
              <p:cNvPr id="60" name="CaixaDeTexto 59">
                <a:extLst>
                  <a:ext uri="{FF2B5EF4-FFF2-40B4-BE49-F238E27FC236}">
                    <a16:creationId xmlns:a16="http://schemas.microsoft.com/office/drawing/2014/main" id="{8CFB16F3-05AA-C0DB-BDC9-DFB017C8BC9D}"/>
                  </a:ext>
                </a:extLst>
              </p:cNvPr>
              <p:cNvSpPr txBox="1"/>
              <p:nvPr/>
            </p:nvSpPr>
            <p:spPr>
              <a:xfrm>
                <a:off x="7284303" y="-58174"/>
                <a:ext cx="302952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b="1" dirty="0"/>
                  <a:t>Rede neural para nova tarefa</a:t>
                </a:r>
              </a:p>
            </p:txBody>
          </p:sp>
        </p:grpSp>
        <p:cxnSp>
          <p:nvCxnSpPr>
            <p:cNvPr id="1028" name="Conector reto 1027">
              <a:extLst>
                <a:ext uri="{FF2B5EF4-FFF2-40B4-BE49-F238E27FC236}">
                  <a16:creationId xmlns:a16="http://schemas.microsoft.com/office/drawing/2014/main" id="{256CC61E-489A-4709-387C-750A9AF32B8B}"/>
                </a:ext>
              </a:extLst>
            </p:cNvPr>
            <p:cNvCxnSpPr/>
            <p:nvPr/>
          </p:nvCxnSpPr>
          <p:spPr>
            <a:xfrm>
              <a:off x="457200" y="3540543"/>
              <a:ext cx="1778028" cy="1736025"/>
            </a:xfrm>
            <a:prstGeom prst="line">
              <a:avLst/>
            </a:prstGeom>
            <a:ln w="190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9" name="Conector reto 1028">
              <a:extLst>
                <a:ext uri="{FF2B5EF4-FFF2-40B4-BE49-F238E27FC236}">
                  <a16:creationId xmlns:a16="http://schemas.microsoft.com/office/drawing/2014/main" id="{B579341D-C323-3E78-6C2D-A43C54ACD68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57200" y="3642145"/>
              <a:ext cx="1778028" cy="1579415"/>
            </a:xfrm>
            <a:prstGeom prst="line">
              <a:avLst/>
            </a:prstGeom>
            <a:ln w="190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2528582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3" name="Agrupar 112">
            <a:extLst>
              <a:ext uri="{FF2B5EF4-FFF2-40B4-BE49-F238E27FC236}">
                <a16:creationId xmlns:a16="http://schemas.microsoft.com/office/drawing/2014/main" id="{F775E780-6DBE-78F6-20AF-B1BEF0147285}"/>
              </a:ext>
            </a:extLst>
          </p:cNvPr>
          <p:cNvGrpSpPr/>
          <p:nvPr/>
        </p:nvGrpSpPr>
        <p:grpSpPr>
          <a:xfrm>
            <a:off x="789279" y="588358"/>
            <a:ext cx="5889736" cy="5625563"/>
            <a:chOff x="789279" y="588358"/>
            <a:chExt cx="5889736" cy="5625563"/>
          </a:xfrm>
        </p:grpSpPr>
        <p:sp>
          <p:nvSpPr>
            <p:cNvPr id="31" name="Seta: para Baixo 30">
              <a:extLst>
                <a:ext uri="{FF2B5EF4-FFF2-40B4-BE49-F238E27FC236}">
                  <a16:creationId xmlns:a16="http://schemas.microsoft.com/office/drawing/2014/main" id="{83F61D44-C2E7-172B-756F-F623D07F2358}"/>
                </a:ext>
              </a:extLst>
            </p:cNvPr>
            <p:cNvSpPr/>
            <p:nvPr/>
          </p:nvSpPr>
          <p:spPr>
            <a:xfrm>
              <a:off x="4928750" y="5738086"/>
              <a:ext cx="200026" cy="165749"/>
            </a:xfrm>
            <a:prstGeom prst="downArrow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" name="Retângulo 3">
              <a:extLst>
                <a:ext uri="{FF2B5EF4-FFF2-40B4-BE49-F238E27FC236}">
                  <a16:creationId xmlns:a16="http://schemas.microsoft.com/office/drawing/2014/main" id="{3F4BBA20-FDCE-A285-D6AF-122CD56243CA}"/>
                </a:ext>
              </a:extLst>
            </p:cNvPr>
            <p:cNvSpPr/>
            <p:nvPr/>
          </p:nvSpPr>
          <p:spPr>
            <a:xfrm>
              <a:off x="4359127" y="1373909"/>
              <a:ext cx="1339272" cy="332509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Conv2D</a:t>
              </a:r>
            </a:p>
          </p:txBody>
        </p:sp>
        <p:sp>
          <p:nvSpPr>
            <p:cNvPr id="6" name="Retângulo 5">
              <a:extLst>
                <a:ext uri="{FF2B5EF4-FFF2-40B4-BE49-F238E27FC236}">
                  <a16:creationId xmlns:a16="http://schemas.microsoft.com/office/drawing/2014/main" id="{44A5667B-3EF1-57FA-B6A5-5A884413EF06}"/>
                </a:ext>
              </a:extLst>
            </p:cNvPr>
            <p:cNvSpPr/>
            <p:nvPr/>
          </p:nvSpPr>
          <p:spPr>
            <a:xfrm>
              <a:off x="4359127" y="1886527"/>
              <a:ext cx="1339272" cy="332509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Conv2D</a:t>
              </a:r>
            </a:p>
          </p:txBody>
        </p:sp>
        <p:sp>
          <p:nvSpPr>
            <p:cNvPr id="7" name="Retângulo 6">
              <a:extLst>
                <a:ext uri="{FF2B5EF4-FFF2-40B4-BE49-F238E27FC236}">
                  <a16:creationId xmlns:a16="http://schemas.microsoft.com/office/drawing/2014/main" id="{8693378F-E1EE-7220-2E6F-08923B6265E8}"/>
                </a:ext>
              </a:extLst>
            </p:cNvPr>
            <p:cNvSpPr/>
            <p:nvPr/>
          </p:nvSpPr>
          <p:spPr>
            <a:xfrm>
              <a:off x="4359127" y="2399145"/>
              <a:ext cx="1339272" cy="332509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Conv2D</a:t>
              </a:r>
            </a:p>
          </p:txBody>
        </p:sp>
        <p:sp>
          <p:nvSpPr>
            <p:cNvPr id="8" name="Retângulo 7">
              <a:extLst>
                <a:ext uri="{FF2B5EF4-FFF2-40B4-BE49-F238E27FC236}">
                  <a16:creationId xmlns:a16="http://schemas.microsoft.com/office/drawing/2014/main" id="{4BF1D4E3-BB11-26BA-6BA2-48CF0CE675B3}"/>
                </a:ext>
              </a:extLst>
            </p:cNvPr>
            <p:cNvSpPr/>
            <p:nvPr/>
          </p:nvSpPr>
          <p:spPr>
            <a:xfrm>
              <a:off x="4359127" y="2893290"/>
              <a:ext cx="1339272" cy="332509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Conv2D</a:t>
              </a:r>
            </a:p>
          </p:txBody>
        </p:sp>
        <p:sp>
          <p:nvSpPr>
            <p:cNvPr id="9" name="Retângulo 8">
              <a:extLst>
                <a:ext uri="{FF2B5EF4-FFF2-40B4-BE49-F238E27FC236}">
                  <a16:creationId xmlns:a16="http://schemas.microsoft.com/office/drawing/2014/main" id="{FA452BFC-A4D0-4A81-67EF-51C195876831}"/>
                </a:ext>
              </a:extLst>
            </p:cNvPr>
            <p:cNvSpPr/>
            <p:nvPr/>
          </p:nvSpPr>
          <p:spPr>
            <a:xfrm>
              <a:off x="4359127" y="3387435"/>
              <a:ext cx="1339272" cy="332509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Conv2D</a:t>
              </a:r>
            </a:p>
          </p:txBody>
        </p:sp>
        <p:sp>
          <p:nvSpPr>
            <p:cNvPr id="10" name="Retângulo 9">
              <a:extLst>
                <a:ext uri="{FF2B5EF4-FFF2-40B4-BE49-F238E27FC236}">
                  <a16:creationId xmlns:a16="http://schemas.microsoft.com/office/drawing/2014/main" id="{499A7AED-B38A-6DDE-0B30-D5C44B5322C1}"/>
                </a:ext>
              </a:extLst>
            </p:cNvPr>
            <p:cNvSpPr/>
            <p:nvPr/>
          </p:nvSpPr>
          <p:spPr>
            <a:xfrm>
              <a:off x="4359127" y="3881580"/>
              <a:ext cx="1339272" cy="332509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Conv2D</a:t>
              </a:r>
            </a:p>
          </p:txBody>
        </p:sp>
        <p:sp>
          <p:nvSpPr>
            <p:cNvPr id="11" name="Retângulo 10">
              <a:extLst>
                <a:ext uri="{FF2B5EF4-FFF2-40B4-BE49-F238E27FC236}">
                  <a16:creationId xmlns:a16="http://schemas.microsoft.com/office/drawing/2014/main" id="{CB68E9C5-78FF-D7C2-DDB8-6764EFA6EBD4}"/>
                </a:ext>
              </a:extLst>
            </p:cNvPr>
            <p:cNvSpPr/>
            <p:nvPr/>
          </p:nvSpPr>
          <p:spPr>
            <a:xfrm>
              <a:off x="4359127" y="4389585"/>
              <a:ext cx="1339272" cy="332509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/>
                <a:t>Dense</a:t>
              </a:r>
              <a:endParaRPr lang="pt-BR" dirty="0"/>
            </a:p>
          </p:txBody>
        </p:sp>
        <p:sp>
          <p:nvSpPr>
            <p:cNvPr id="12" name="Retângulo 11">
              <a:extLst>
                <a:ext uri="{FF2B5EF4-FFF2-40B4-BE49-F238E27FC236}">
                  <a16:creationId xmlns:a16="http://schemas.microsoft.com/office/drawing/2014/main" id="{1320F408-787C-9CC3-FBFE-E3F11077F061}"/>
                </a:ext>
              </a:extLst>
            </p:cNvPr>
            <p:cNvSpPr/>
            <p:nvPr/>
          </p:nvSpPr>
          <p:spPr>
            <a:xfrm>
              <a:off x="4359127" y="4897581"/>
              <a:ext cx="1339272" cy="332509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/>
                <a:t>Dense</a:t>
              </a:r>
              <a:endParaRPr lang="pt-BR" dirty="0"/>
            </a:p>
          </p:txBody>
        </p:sp>
        <p:sp>
          <p:nvSpPr>
            <p:cNvPr id="13" name="Retângulo 12">
              <a:extLst>
                <a:ext uri="{FF2B5EF4-FFF2-40B4-BE49-F238E27FC236}">
                  <a16:creationId xmlns:a16="http://schemas.microsoft.com/office/drawing/2014/main" id="{A861824F-7010-AA2B-A449-DEF35E091444}"/>
                </a:ext>
              </a:extLst>
            </p:cNvPr>
            <p:cNvSpPr/>
            <p:nvPr/>
          </p:nvSpPr>
          <p:spPr>
            <a:xfrm>
              <a:off x="4359127" y="5405577"/>
              <a:ext cx="1339272" cy="332509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/>
                <a:t>Dense</a:t>
              </a:r>
              <a:endParaRPr lang="pt-BR" dirty="0"/>
            </a:p>
          </p:txBody>
        </p:sp>
        <p:cxnSp>
          <p:nvCxnSpPr>
            <p:cNvPr id="15" name="Conector de Seta Reta 14">
              <a:extLst>
                <a:ext uri="{FF2B5EF4-FFF2-40B4-BE49-F238E27FC236}">
                  <a16:creationId xmlns:a16="http://schemas.microsoft.com/office/drawing/2014/main" id="{C7481ABB-B77F-A1DB-9E72-D8B2FF6A57DB}"/>
                </a:ext>
              </a:extLst>
            </p:cNvPr>
            <p:cNvCxnSpPr>
              <a:stCxn id="4" idx="2"/>
              <a:endCxn id="6" idx="0"/>
            </p:cNvCxnSpPr>
            <p:nvPr/>
          </p:nvCxnSpPr>
          <p:spPr>
            <a:xfrm>
              <a:off x="5028763" y="1706418"/>
              <a:ext cx="0" cy="18010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ector de Seta Reta 16">
              <a:extLst>
                <a:ext uri="{FF2B5EF4-FFF2-40B4-BE49-F238E27FC236}">
                  <a16:creationId xmlns:a16="http://schemas.microsoft.com/office/drawing/2014/main" id="{BC98EC12-A8C8-2F39-C21A-D6DDF0E0927D}"/>
                </a:ext>
              </a:extLst>
            </p:cNvPr>
            <p:cNvCxnSpPr>
              <a:stCxn id="6" idx="2"/>
              <a:endCxn id="7" idx="0"/>
            </p:cNvCxnSpPr>
            <p:nvPr/>
          </p:nvCxnSpPr>
          <p:spPr>
            <a:xfrm>
              <a:off x="5028763" y="2219036"/>
              <a:ext cx="0" cy="18010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ector de Seta Reta 18">
              <a:extLst>
                <a:ext uri="{FF2B5EF4-FFF2-40B4-BE49-F238E27FC236}">
                  <a16:creationId xmlns:a16="http://schemas.microsoft.com/office/drawing/2014/main" id="{829567E9-2121-1679-B163-1BFF4F0761DF}"/>
                </a:ext>
              </a:extLst>
            </p:cNvPr>
            <p:cNvCxnSpPr>
              <a:stCxn id="7" idx="2"/>
              <a:endCxn id="8" idx="0"/>
            </p:cNvCxnSpPr>
            <p:nvPr/>
          </p:nvCxnSpPr>
          <p:spPr>
            <a:xfrm>
              <a:off x="5028763" y="2731654"/>
              <a:ext cx="0" cy="16163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ector de Seta Reta 20">
              <a:extLst>
                <a:ext uri="{FF2B5EF4-FFF2-40B4-BE49-F238E27FC236}">
                  <a16:creationId xmlns:a16="http://schemas.microsoft.com/office/drawing/2014/main" id="{5A21C8D0-9621-C4EA-F17B-FF3263695DE4}"/>
                </a:ext>
              </a:extLst>
            </p:cNvPr>
            <p:cNvCxnSpPr>
              <a:stCxn id="8" idx="2"/>
              <a:endCxn id="9" idx="0"/>
            </p:cNvCxnSpPr>
            <p:nvPr/>
          </p:nvCxnSpPr>
          <p:spPr>
            <a:xfrm>
              <a:off x="5028763" y="3225799"/>
              <a:ext cx="0" cy="16163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ector de Seta Reta 22">
              <a:extLst>
                <a:ext uri="{FF2B5EF4-FFF2-40B4-BE49-F238E27FC236}">
                  <a16:creationId xmlns:a16="http://schemas.microsoft.com/office/drawing/2014/main" id="{5720E2E9-A16E-0716-5933-81547E972BA1}"/>
                </a:ext>
              </a:extLst>
            </p:cNvPr>
            <p:cNvCxnSpPr>
              <a:stCxn id="9" idx="2"/>
              <a:endCxn id="10" idx="0"/>
            </p:cNvCxnSpPr>
            <p:nvPr/>
          </p:nvCxnSpPr>
          <p:spPr>
            <a:xfrm>
              <a:off x="5028763" y="3719944"/>
              <a:ext cx="0" cy="16163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ector de Seta Reta 24">
              <a:extLst>
                <a:ext uri="{FF2B5EF4-FFF2-40B4-BE49-F238E27FC236}">
                  <a16:creationId xmlns:a16="http://schemas.microsoft.com/office/drawing/2014/main" id="{030CBBB8-B30F-C2E3-A1EF-652AE0309718}"/>
                </a:ext>
              </a:extLst>
            </p:cNvPr>
            <p:cNvCxnSpPr>
              <a:stCxn id="10" idx="2"/>
              <a:endCxn id="11" idx="0"/>
            </p:cNvCxnSpPr>
            <p:nvPr/>
          </p:nvCxnSpPr>
          <p:spPr>
            <a:xfrm>
              <a:off x="5028763" y="4214089"/>
              <a:ext cx="0" cy="17549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onector de Seta Reta 26">
              <a:extLst>
                <a:ext uri="{FF2B5EF4-FFF2-40B4-BE49-F238E27FC236}">
                  <a16:creationId xmlns:a16="http://schemas.microsoft.com/office/drawing/2014/main" id="{C36D3441-047C-9311-5399-596C270AEDC9}"/>
                </a:ext>
              </a:extLst>
            </p:cNvPr>
            <p:cNvCxnSpPr>
              <a:stCxn id="11" idx="2"/>
              <a:endCxn id="12" idx="0"/>
            </p:cNvCxnSpPr>
            <p:nvPr/>
          </p:nvCxnSpPr>
          <p:spPr>
            <a:xfrm>
              <a:off x="5028763" y="4722094"/>
              <a:ext cx="0" cy="17548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Conector de Seta Reta 28">
              <a:extLst>
                <a:ext uri="{FF2B5EF4-FFF2-40B4-BE49-F238E27FC236}">
                  <a16:creationId xmlns:a16="http://schemas.microsoft.com/office/drawing/2014/main" id="{C1C3F53D-24D0-B51B-48E1-3C11F6507BF9}"/>
                </a:ext>
              </a:extLst>
            </p:cNvPr>
            <p:cNvCxnSpPr>
              <a:stCxn id="12" idx="2"/>
              <a:endCxn id="13" idx="0"/>
            </p:cNvCxnSpPr>
            <p:nvPr/>
          </p:nvCxnSpPr>
          <p:spPr>
            <a:xfrm>
              <a:off x="5028763" y="5230090"/>
              <a:ext cx="0" cy="17548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Seta: para Baixo 29">
              <a:extLst>
                <a:ext uri="{FF2B5EF4-FFF2-40B4-BE49-F238E27FC236}">
                  <a16:creationId xmlns:a16="http://schemas.microsoft.com/office/drawing/2014/main" id="{89F9AE03-BBD8-FD8B-C41A-F6DDD2482786}"/>
                </a:ext>
              </a:extLst>
            </p:cNvPr>
            <p:cNvSpPr/>
            <p:nvPr/>
          </p:nvSpPr>
          <p:spPr>
            <a:xfrm>
              <a:off x="4928750" y="1208160"/>
              <a:ext cx="200026" cy="165749"/>
            </a:xfrm>
            <a:prstGeom prst="downArrow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2" name="CaixaDeTexto 31">
              <a:extLst>
                <a:ext uri="{FF2B5EF4-FFF2-40B4-BE49-F238E27FC236}">
                  <a16:creationId xmlns:a16="http://schemas.microsoft.com/office/drawing/2014/main" id="{07B0358C-41A3-EBCC-E424-567B3251FC51}"/>
                </a:ext>
              </a:extLst>
            </p:cNvPr>
            <p:cNvSpPr txBox="1"/>
            <p:nvPr/>
          </p:nvSpPr>
          <p:spPr>
            <a:xfrm>
              <a:off x="4359127" y="930539"/>
              <a:ext cx="133927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Entrada</a:t>
              </a:r>
            </a:p>
          </p:txBody>
        </p:sp>
        <p:sp>
          <p:nvSpPr>
            <p:cNvPr id="33" name="CaixaDeTexto 32">
              <a:extLst>
                <a:ext uri="{FF2B5EF4-FFF2-40B4-BE49-F238E27FC236}">
                  <a16:creationId xmlns:a16="http://schemas.microsoft.com/office/drawing/2014/main" id="{C790BCF6-7D8C-EE0B-6A28-7425C6916F4C}"/>
                </a:ext>
              </a:extLst>
            </p:cNvPr>
            <p:cNvSpPr txBox="1"/>
            <p:nvPr/>
          </p:nvSpPr>
          <p:spPr>
            <a:xfrm>
              <a:off x="4359127" y="5903835"/>
              <a:ext cx="133927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Saída</a:t>
              </a:r>
            </a:p>
          </p:txBody>
        </p:sp>
        <p:sp>
          <p:nvSpPr>
            <p:cNvPr id="78" name="Seta: para Baixo 77">
              <a:extLst>
                <a:ext uri="{FF2B5EF4-FFF2-40B4-BE49-F238E27FC236}">
                  <a16:creationId xmlns:a16="http://schemas.microsoft.com/office/drawing/2014/main" id="{63D7D293-426F-F988-EF85-B8D4F907F930}"/>
                </a:ext>
              </a:extLst>
            </p:cNvPr>
            <p:cNvSpPr/>
            <p:nvPr/>
          </p:nvSpPr>
          <p:spPr>
            <a:xfrm>
              <a:off x="1960853" y="5740395"/>
              <a:ext cx="200026" cy="165749"/>
            </a:xfrm>
            <a:prstGeom prst="downArrow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9" name="Retângulo 78">
              <a:extLst>
                <a:ext uri="{FF2B5EF4-FFF2-40B4-BE49-F238E27FC236}">
                  <a16:creationId xmlns:a16="http://schemas.microsoft.com/office/drawing/2014/main" id="{B32A7399-0970-3E36-0FC5-7A81B7DC13C5}"/>
                </a:ext>
              </a:extLst>
            </p:cNvPr>
            <p:cNvSpPr/>
            <p:nvPr/>
          </p:nvSpPr>
          <p:spPr>
            <a:xfrm>
              <a:off x="1391230" y="1376218"/>
              <a:ext cx="1339272" cy="332509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Conv2D</a:t>
              </a:r>
            </a:p>
          </p:txBody>
        </p:sp>
        <p:sp>
          <p:nvSpPr>
            <p:cNvPr id="80" name="Retângulo 79">
              <a:extLst>
                <a:ext uri="{FF2B5EF4-FFF2-40B4-BE49-F238E27FC236}">
                  <a16:creationId xmlns:a16="http://schemas.microsoft.com/office/drawing/2014/main" id="{7B18C975-0B0A-CFB8-53AA-C557066844FE}"/>
                </a:ext>
              </a:extLst>
            </p:cNvPr>
            <p:cNvSpPr/>
            <p:nvPr/>
          </p:nvSpPr>
          <p:spPr>
            <a:xfrm>
              <a:off x="1391230" y="1888836"/>
              <a:ext cx="1339272" cy="332509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Conv2D</a:t>
              </a:r>
            </a:p>
          </p:txBody>
        </p:sp>
        <p:sp>
          <p:nvSpPr>
            <p:cNvPr id="81" name="Retângulo 80">
              <a:extLst>
                <a:ext uri="{FF2B5EF4-FFF2-40B4-BE49-F238E27FC236}">
                  <a16:creationId xmlns:a16="http://schemas.microsoft.com/office/drawing/2014/main" id="{F514ED41-A159-4741-7A3B-B8E0109BD909}"/>
                </a:ext>
              </a:extLst>
            </p:cNvPr>
            <p:cNvSpPr/>
            <p:nvPr/>
          </p:nvSpPr>
          <p:spPr>
            <a:xfrm>
              <a:off x="1391230" y="2401454"/>
              <a:ext cx="1339272" cy="332509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Conv2D</a:t>
              </a:r>
            </a:p>
          </p:txBody>
        </p:sp>
        <p:sp>
          <p:nvSpPr>
            <p:cNvPr id="82" name="Retângulo 81">
              <a:extLst>
                <a:ext uri="{FF2B5EF4-FFF2-40B4-BE49-F238E27FC236}">
                  <a16:creationId xmlns:a16="http://schemas.microsoft.com/office/drawing/2014/main" id="{CDFAF7CC-B659-3701-C40F-E3FD41B26F38}"/>
                </a:ext>
              </a:extLst>
            </p:cNvPr>
            <p:cNvSpPr/>
            <p:nvPr/>
          </p:nvSpPr>
          <p:spPr>
            <a:xfrm>
              <a:off x="1391230" y="2895599"/>
              <a:ext cx="1339272" cy="332509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Conv2D</a:t>
              </a:r>
            </a:p>
          </p:txBody>
        </p:sp>
        <p:sp>
          <p:nvSpPr>
            <p:cNvPr id="83" name="Retângulo 82">
              <a:extLst>
                <a:ext uri="{FF2B5EF4-FFF2-40B4-BE49-F238E27FC236}">
                  <a16:creationId xmlns:a16="http://schemas.microsoft.com/office/drawing/2014/main" id="{8FB541C8-15FE-E42E-B76E-60A0B3629D03}"/>
                </a:ext>
              </a:extLst>
            </p:cNvPr>
            <p:cNvSpPr/>
            <p:nvPr/>
          </p:nvSpPr>
          <p:spPr>
            <a:xfrm>
              <a:off x="1391230" y="3389744"/>
              <a:ext cx="1339272" cy="332509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Conv2D</a:t>
              </a:r>
            </a:p>
          </p:txBody>
        </p:sp>
        <p:sp>
          <p:nvSpPr>
            <p:cNvPr id="84" name="Retângulo 83">
              <a:extLst>
                <a:ext uri="{FF2B5EF4-FFF2-40B4-BE49-F238E27FC236}">
                  <a16:creationId xmlns:a16="http://schemas.microsoft.com/office/drawing/2014/main" id="{014D1BA9-671B-BF10-9810-1C67CEAFAA29}"/>
                </a:ext>
              </a:extLst>
            </p:cNvPr>
            <p:cNvSpPr/>
            <p:nvPr/>
          </p:nvSpPr>
          <p:spPr>
            <a:xfrm>
              <a:off x="1391230" y="3883889"/>
              <a:ext cx="1339272" cy="332509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Conv2D</a:t>
              </a:r>
            </a:p>
          </p:txBody>
        </p:sp>
        <p:sp>
          <p:nvSpPr>
            <p:cNvPr id="85" name="Retângulo 84">
              <a:extLst>
                <a:ext uri="{FF2B5EF4-FFF2-40B4-BE49-F238E27FC236}">
                  <a16:creationId xmlns:a16="http://schemas.microsoft.com/office/drawing/2014/main" id="{408C8A79-09A3-E9F5-91DB-F169E24FE090}"/>
                </a:ext>
              </a:extLst>
            </p:cNvPr>
            <p:cNvSpPr/>
            <p:nvPr/>
          </p:nvSpPr>
          <p:spPr>
            <a:xfrm>
              <a:off x="1391230" y="4391894"/>
              <a:ext cx="1339272" cy="332509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/>
                <a:t>Dense</a:t>
              </a:r>
              <a:endParaRPr lang="pt-BR" dirty="0"/>
            </a:p>
          </p:txBody>
        </p:sp>
        <p:sp>
          <p:nvSpPr>
            <p:cNvPr id="86" name="Retângulo 85">
              <a:extLst>
                <a:ext uri="{FF2B5EF4-FFF2-40B4-BE49-F238E27FC236}">
                  <a16:creationId xmlns:a16="http://schemas.microsoft.com/office/drawing/2014/main" id="{091A0ADC-5ABA-0279-CD84-CDB7C1B0B5C2}"/>
                </a:ext>
              </a:extLst>
            </p:cNvPr>
            <p:cNvSpPr/>
            <p:nvPr/>
          </p:nvSpPr>
          <p:spPr>
            <a:xfrm>
              <a:off x="1391230" y="4899890"/>
              <a:ext cx="1339272" cy="332509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/>
                <a:t>Dense</a:t>
              </a:r>
              <a:endParaRPr lang="pt-BR" dirty="0"/>
            </a:p>
          </p:txBody>
        </p:sp>
        <p:sp>
          <p:nvSpPr>
            <p:cNvPr id="87" name="Retângulo 86">
              <a:extLst>
                <a:ext uri="{FF2B5EF4-FFF2-40B4-BE49-F238E27FC236}">
                  <a16:creationId xmlns:a16="http://schemas.microsoft.com/office/drawing/2014/main" id="{CDA40689-F4DB-B8D2-4DD6-E25A7FCA9D5F}"/>
                </a:ext>
              </a:extLst>
            </p:cNvPr>
            <p:cNvSpPr/>
            <p:nvPr/>
          </p:nvSpPr>
          <p:spPr>
            <a:xfrm>
              <a:off x="1391230" y="5407886"/>
              <a:ext cx="1339272" cy="332509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/>
                <a:t>Dense</a:t>
              </a:r>
              <a:endParaRPr lang="pt-BR" dirty="0"/>
            </a:p>
          </p:txBody>
        </p:sp>
        <p:cxnSp>
          <p:nvCxnSpPr>
            <p:cNvPr id="88" name="Conector de Seta Reta 87">
              <a:extLst>
                <a:ext uri="{FF2B5EF4-FFF2-40B4-BE49-F238E27FC236}">
                  <a16:creationId xmlns:a16="http://schemas.microsoft.com/office/drawing/2014/main" id="{D19B9FB1-3622-C0AD-4849-B6E472B31E39}"/>
                </a:ext>
              </a:extLst>
            </p:cNvPr>
            <p:cNvCxnSpPr>
              <a:stCxn id="79" idx="2"/>
              <a:endCxn id="80" idx="0"/>
            </p:cNvCxnSpPr>
            <p:nvPr/>
          </p:nvCxnSpPr>
          <p:spPr>
            <a:xfrm>
              <a:off x="2060866" y="1708727"/>
              <a:ext cx="0" cy="18010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Conector de Seta Reta 88">
              <a:extLst>
                <a:ext uri="{FF2B5EF4-FFF2-40B4-BE49-F238E27FC236}">
                  <a16:creationId xmlns:a16="http://schemas.microsoft.com/office/drawing/2014/main" id="{0078A81D-C424-F267-8A72-11C5E85F7024}"/>
                </a:ext>
              </a:extLst>
            </p:cNvPr>
            <p:cNvCxnSpPr>
              <a:stCxn id="80" idx="2"/>
              <a:endCxn id="81" idx="0"/>
            </p:cNvCxnSpPr>
            <p:nvPr/>
          </p:nvCxnSpPr>
          <p:spPr>
            <a:xfrm>
              <a:off x="2060866" y="2221345"/>
              <a:ext cx="0" cy="18010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Conector de Seta Reta 89">
              <a:extLst>
                <a:ext uri="{FF2B5EF4-FFF2-40B4-BE49-F238E27FC236}">
                  <a16:creationId xmlns:a16="http://schemas.microsoft.com/office/drawing/2014/main" id="{17F36F0A-A0E5-7E4E-EC7B-EE2BF0C6D1D8}"/>
                </a:ext>
              </a:extLst>
            </p:cNvPr>
            <p:cNvCxnSpPr>
              <a:stCxn id="81" idx="2"/>
              <a:endCxn id="82" idx="0"/>
            </p:cNvCxnSpPr>
            <p:nvPr/>
          </p:nvCxnSpPr>
          <p:spPr>
            <a:xfrm>
              <a:off x="2060866" y="2733963"/>
              <a:ext cx="0" cy="16163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Conector de Seta Reta 90">
              <a:extLst>
                <a:ext uri="{FF2B5EF4-FFF2-40B4-BE49-F238E27FC236}">
                  <a16:creationId xmlns:a16="http://schemas.microsoft.com/office/drawing/2014/main" id="{233D915D-80F7-D272-16AF-2AAD99B4C834}"/>
                </a:ext>
              </a:extLst>
            </p:cNvPr>
            <p:cNvCxnSpPr>
              <a:stCxn id="82" idx="2"/>
              <a:endCxn id="83" idx="0"/>
            </p:cNvCxnSpPr>
            <p:nvPr/>
          </p:nvCxnSpPr>
          <p:spPr>
            <a:xfrm>
              <a:off x="2060866" y="3228108"/>
              <a:ext cx="0" cy="16163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Conector de Seta Reta 91">
              <a:extLst>
                <a:ext uri="{FF2B5EF4-FFF2-40B4-BE49-F238E27FC236}">
                  <a16:creationId xmlns:a16="http://schemas.microsoft.com/office/drawing/2014/main" id="{83992D1C-6AE7-2FF3-DCBC-CC3C83F977FF}"/>
                </a:ext>
              </a:extLst>
            </p:cNvPr>
            <p:cNvCxnSpPr>
              <a:stCxn id="83" idx="2"/>
              <a:endCxn id="84" idx="0"/>
            </p:cNvCxnSpPr>
            <p:nvPr/>
          </p:nvCxnSpPr>
          <p:spPr>
            <a:xfrm>
              <a:off x="2060866" y="3722253"/>
              <a:ext cx="0" cy="16163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Conector de Seta Reta 92">
              <a:extLst>
                <a:ext uri="{FF2B5EF4-FFF2-40B4-BE49-F238E27FC236}">
                  <a16:creationId xmlns:a16="http://schemas.microsoft.com/office/drawing/2014/main" id="{5430FAD8-804A-9F9F-A823-5E1F5892DA2A}"/>
                </a:ext>
              </a:extLst>
            </p:cNvPr>
            <p:cNvCxnSpPr>
              <a:stCxn id="84" idx="2"/>
              <a:endCxn id="85" idx="0"/>
            </p:cNvCxnSpPr>
            <p:nvPr/>
          </p:nvCxnSpPr>
          <p:spPr>
            <a:xfrm>
              <a:off x="2060866" y="4216398"/>
              <a:ext cx="0" cy="17549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Conector de Seta Reta 93">
              <a:extLst>
                <a:ext uri="{FF2B5EF4-FFF2-40B4-BE49-F238E27FC236}">
                  <a16:creationId xmlns:a16="http://schemas.microsoft.com/office/drawing/2014/main" id="{212F522B-D7EA-35A0-6803-398BF5DC4F62}"/>
                </a:ext>
              </a:extLst>
            </p:cNvPr>
            <p:cNvCxnSpPr>
              <a:stCxn id="85" idx="2"/>
              <a:endCxn id="86" idx="0"/>
            </p:cNvCxnSpPr>
            <p:nvPr/>
          </p:nvCxnSpPr>
          <p:spPr>
            <a:xfrm>
              <a:off x="2060866" y="4724403"/>
              <a:ext cx="0" cy="17548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Conector de Seta Reta 94">
              <a:extLst>
                <a:ext uri="{FF2B5EF4-FFF2-40B4-BE49-F238E27FC236}">
                  <a16:creationId xmlns:a16="http://schemas.microsoft.com/office/drawing/2014/main" id="{CFE8AC50-0F82-0DFC-4774-988710FA4F45}"/>
                </a:ext>
              </a:extLst>
            </p:cNvPr>
            <p:cNvCxnSpPr>
              <a:stCxn id="86" idx="2"/>
              <a:endCxn id="87" idx="0"/>
            </p:cNvCxnSpPr>
            <p:nvPr/>
          </p:nvCxnSpPr>
          <p:spPr>
            <a:xfrm>
              <a:off x="2060866" y="5232399"/>
              <a:ext cx="0" cy="17548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6" name="Seta: para Baixo 95">
              <a:extLst>
                <a:ext uri="{FF2B5EF4-FFF2-40B4-BE49-F238E27FC236}">
                  <a16:creationId xmlns:a16="http://schemas.microsoft.com/office/drawing/2014/main" id="{AF194720-DC82-733E-F5BF-A08D1F44C0E3}"/>
                </a:ext>
              </a:extLst>
            </p:cNvPr>
            <p:cNvSpPr/>
            <p:nvPr/>
          </p:nvSpPr>
          <p:spPr>
            <a:xfrm>
              <a:off x="1960853" y="1210469"/>
              <a:ext cx="200026" cy="165749"/>
            </a:xfrm>
            <a:prstGeom prst="downArrow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7" name="CaixaDeTexto 96">
              <a:extLst>
                <a:ext uri="{FF2B5EF4-FFF2-40B4-BE49-F238E27FC236}">
                  <a16:creationId xmlns:a16="http://schemas.microsoft.com/office/drawing/2014/main" id="{E77B5766-8447-171B-A175-11ACABC8061A}"/>
                </a:ext>
              </a:extLst>
            </p:cNvPr>
            <p:cNvSpPr txBox="1"/>
            <p:nvPr/>
          </p:nvSpPr>
          <p:spPr>
            <a:xfrm>
              <a:off x="1391230" y="932848"/>
              <a:ext cx="133927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Entrada</a:t>
              </a:r>
            </a:p>
          </p:txBody>
        </p:sp>
        <p:sp>
          <p:nvSpPr>
            <p:cNvPr id="98" name="CaixaDeTexto 97">
              <a:extLst>
                <a:ext uri="{FF2B5EF4-FFF2-40B4-BE49-F238E27FC236}">
                  <a16:creationId xmlns:a16="http://schemas.microsoft.com/office/drawing/2014/main" id="{A6289E6C-AC61-3D9E-6C27-23959BD696B6}"/>
                </a:ext>
              </a:extLst>
            </p:cNvPr>
            <p:cNvSpPr txBox="1"/>
            <p:nvPr/>
          </p:nvSpPr>
          <p:spPr>
            <a:xfrm>
              <a:off x="1391230" y="5906144"/>
              <a:ext cx="133927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Saída</a:t>
              </a:r>
            </a:p>
          </p:txBody>
        </p:sp>
        <p:sp>
          <p:nvSpPr>
            <p:cNvPr id="101" name="CaixaDeTexto 100">
              <a:extLst>
                <a:ext uri="{FF2B5EF4-FFF2-40B4-BE49-F238E27FC236}">
                  <a16:creationId xmlns:a16="http://schemas.microsoft.com/office/drawing/2014/main" id="{60E68C4C-84EE-C2C7-754A-C4B1C11E0050}"/>
                </a:ext>
              </a:extLst>
            </p:cNvPr>
            <p:cNvSpPr txBox="1"/>
            <p:nvPr/>
          </p:nvSpPr>
          <p:spPr>
            <a:xfrm>
              <a:off x="789279" y="600339"/>
              <a:ext cx="27432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b="1" dirty="0"/>
                <a:t>Rede neural pré-treinada</a:t>
              </a:r>
            </a:p>
          </p:txBody>
        </p:sp>
        <p:sp>
          <p:nvSpPr>
            <p:cNvPr id="102" name="Chave Direita 101">
              <a:extLst>
                <a:ext uri="{FF2B5EF4-FFF2-40B4-BE49-F238E27FC236}">
                  <a16:creationId xmlns:a16="http://schemas.microsoft.com/office/drawing/2014/main" id="{6344683D-9076-CAF7-6465-25FB2764AFBB}"/>
                </a:ext>
              </a:extLst>
            </p:cNvPr>
            <p:cNvSpPr/>
            <p:nvPr/>
          </p:nvSpPr>
          <p:spPr>
            <a:xfrm>
              <a:off x="3855802" y="1373909"/>
              <a:ext cx="395649" cy="4364177"/>
            </a:xfrm>
            <a:prstGeom prst="rightBrac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3" name="CaixaDeTexto 102">
              <a:extLst>
                <a:ext uri="{FF2B5EF4-FFF2-40B4-BE49-F238E27FC236}">
                  <a16:creationId xmlns:a16="http://schemas.microsoft.com/office/drawing/2014/main" id="{52E069D0-EAA2-F466-C21B-6EAFFA53A7F7}"/>
                </a:ext>
              </a:extLst>
            </p:cNvPr>
            <p:cNvSpPr txBox="1"/>
            <p:nvPr/>
          </p:nvSpPr>
          <p:spPr>
            <a:xfrm>
              <a:off x="2765154" y="3512339"/>
              <a:ext cx="133927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Cópia dos pesos (</a:t>
              </a:r>
              <a:r>
                <a:rPr lang="pt-BR" sz="1200" dirty="0" err="1"/>
                <a:t>i.e</a:t>
              </a:r>
              <a:r>
                <a:rPr lang="pt-BR" sz="1200" dirty="0"/>
                <a:t>, transferência do aprendizado)</a:t>
              </a:r>
            </a:p>
          </p:txBody>
        </p:sp>
        <p:sp>
          <p:nvSpPr>
            <p:cNvPr id="104" name="Seta: para a Direita 103">
              <a:extLst>
                <a:ext uri="{FF2B5EF4-FFF2-40B4-BE49-F238E27FC236}">
                  <a16:creationId xmlns:a16="http://schemas.microsoft.com/office/drawing/2014/main" id="{DFAC9BE0-573F-E975-6022-7C1DC5F95803}"/>
                </a:ext>
              </a:extLst>
            </p:cNvPr>
            <p:cNvSpPr/>
            <p:nvPr/>
          </p:nvSpPr>
          <p:spPr>
            <a:xfrm>
              <a:off x="2926783" y="3099012"/>
              <a:ext cx="929019" cy="413327"/>
            </a:xfrm>
            <a:prstGeom prst="rightArrow">
              <a:avLst/>
            </a:prstGeom>
            <a:ln>
              <a:noFill/>
            </a:ln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5" name="CaixaDeTexto 104">
              <a:extLst>
                <a:ext uri="{FF2B5EF4-FFF2-40B4-BE49-F238E27FC236}">
                  <a16:creationId xmlns:a16="http://schemas.microsoft.com/office/drawing/2014/main" id="{9D929414-7BEB-2D73-376A-D34EAE96AA4D}"/>
                </a:ext>
              </a:extLst>
            </p:cNvPr>
            <p:cNvSpPr txBox="1"/>
            <p:nvPr/>
          </p:nvSpPr>
          <p:spPr>
            <a:xfrm>
              <a:off x="3614012" y="588358"/>
              <a:ext cx="302952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b="1" dirty="0"/>
                <a:t>Rede neural para nova tarefa</a:t>
              </a:r>
            </a:p>
          </p:txBody>
        </p:sp>
        <p:sp>
          <p:nvSpPr>
            <p:cNvPr id="108" name="Retângulo 107">
              <a:extLst>
                <a:ext uri="{FF2B5EF4-FFF2-40B4-BE49-F238E27FC236}">
                  <a16:creationId xmlns:a16="http://schemas.microsoft.com/office/drawing/2014/main" id="{2FD0010D-E763-1F75-B40E-8AB0D5F78A6D}"/>
                </a:ext>
              </a:extLst>
            </p:cNvPr>
            <p:cNvSpPr/>
            <p:nvPr/>
          </p:nvSpPr>
          <p:spPr>
            <a:xfrm>
              <a:off x="4293750" y="1263071"/>
              <a:ext cx="1470025" cy="2994893"/>
            </a:xfrm>
            <a:prstGeom prst="rect">
              <a:avLst/>
            </a:prstGeom>
            <a:solidFill>
              <a:schemeClr val="accent2">
                <a:lumMod val="40000"/>
                <a:lumOff val="60000"/>
                <a:alpha val="60000"/>
              </a:schemeClr>
            </a:solidFill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pic>
          <p:nvPicPr>
            <p:cNvPr id="1028" name="Picture 4" descr="Open and closed padlock vector 9652847 Vector Art at Vecteezy">
              <a:extLst>
                <a:ext uri="{FF2B5EF4-FFF2-40B4-BE49-F238E27FC236}">
                  <a16:creationId xmlns:a16="http://schemas.microsoft.com/office/drawing/2014/main" id="{FF88873A-7DDE-25F9-FEC9-9637961DFE5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524" t="22509" r="54037" b="21178"/>
            <a:stretch/>
          </p:blipFill>
          <p:spPr bwMode="auto">
            <a:xfrm>
              <a:off x="5900883" y="1886527"/>
              <a:ext cx="541483" cy="78331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9" name="CaixaDeTexto 108">
              <a:extLst>
                <a:ext uri="{FF2B5EF4-FFF2-40B4-BE49-F238E27FC236}">
                  <a16:creationId xmlns:a16="http://schemas.microsoft.com/office/drawing/2014/main" id="{1533EB01-D363-1C77-7D11-F872CF3E279F}"/>
                </a:ext>
              </a:extLst>
            </p:cNvPr>
            <p:cNvSpPr txBox="1"/>
            <p:nvPr/>
          </p:nvSpPr>
          <p:spPr>
            <a:xfrm>
              <a:off x="5707353" y="2744681"/>
              <a:ext cx="97166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Pesos congelados</a:t>
              </a:r>
            </a:p>
          </p:txBody>
        </p:sp>
        <p:pic>
          <p:nvPicPr>
            <p:cNvPr id="110" name="Picture 4" descr="Open and closed padlock vector 9652847 Vector Art at Vecteezy">
              <a:extLst>
                <a:ext uri="{FF2B5EF4-FFF2-40B4-BE49-F238E27FC236}">
                  <a16:creationId xmlns:a16="http://schemas.microsoft.com/office/drawing/2014/main" id="{4CFE8804-2405-3523-0C04-7BE6DFAC43DE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3553" t="22509" r="13350" b="21178"/>
            <a:stretch/>
          </p:blipFill>
          <p:spPr bwMode="auto">
            <a:xfrm>
              <a:off x="5889915" y="4389585"/>
              <a:ext cx="552451" cy="78331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11" name="CaixaDeTexto 110">
              <a:extLst>
                <a:ext uri="{FF2B5EF4-FFF2-40B4-BE49-F238E27FC236}">
                  <a16:creationId xmlns:a16="http://schemas.microsoft.com/office/drawing/2014/main" id="{34652589-47ED-3849-070F-F77E3AF69994}"/>
                </a:ext>
              </a:extLst>
            </p:cNvPr>
            <p:cNvSpPr txBox="1"/>
            <p:nvPr/>
          </p:nvSpPr>
          <p:spPr>
            <a:xfrm>
              <a:off x="5663156" y="5144801"/>
              <a:ext cx="97166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Ajuste dos pesos</a:t>
              </a:r>
            </a:p>
          </p:txBody>
        </p:sp>
        <p:sp>
          <p:nvSpPr>
            <p:cNvPr id="112" name="Retângulo 111">
              <a:extLst>
                <a:ext uri="{FF2B5EF4-FFF2-40B4-BE49-F238E27FC236}">
                  <a16:creationId xmlns:a16="http://schemas.microsoft.com/office/drawing/2014/main" id="{4D2E29F2-EC0E-4C6A-15F9-130AE2FEEE55}"/>
                </a:ext>
              </a:extLst>
            </p:cNvPr>
            <p:cNvSpPr/>
            <p:nvPr/>
          </p:nvSpPr>
          <p:spPr>
            <a:xfrm>
              <a:off x="4288138" y="4282720"/>
              <a:ext cx="1470025" cy="1512596"/>
            </a:xfrm>
            <a:prstGeom prst="rect">
              <a:avLst/>
            </a:prstGeom>
            <a:solidFill>
              <a:schemeClr val="accent4">
                <a:lumMod val="20000"/>
                <a:lumOff val="80000"/>
                <a:alpha val="60000"/>
              </a:schemeClr>
            </a:solidFill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</p:grpSp>
    </p:spTree>
    <p:extLst>
      <p:ext uri="{BB962C8B-B14F-4D97-AF65-F5344CB8AC3E}">
        <p14:creationId xmlns:p14="http://schemas.microsoft.com/office/powerpoint/2010/main" val="303716113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3" name="Agrupar 112">
            <a:extLst>
              <a:ext uri="{FF2B5EF4-FFF2-40B4-BE49-F238E27FC236}">
                <a16:creationId xmlns:a16="http://schemas.microsoft.com/office/drawing/2014/main" id="{F775E780-6DBE-78F6-20AF-B1BEF0147285}"/>
              </a:ext>
            </a:extLst>
          </p:cNvPr>
          <p:cNvGrpSpPr/>
          <p:nvPr/>
        </p:nvGrpSpPr>
        <p:grpSpPr>
          <a:xfrm>
            <a:off x="789279" y="588358"/>
            <a:ext cx="5889736" cy="5625563"/>
            <a:chOff x="789279" y="588358"/>
            <a:chExt cx="5889736" cy="5625563"/>
          </a:xfrm>
        </p:grpSpPr>
        <p:sp>
          <p:nvSpPr>
            <p:cNvPr id="31" name="Seta: para Baixo 30">
              <a:extLst>
                <a:ext uri="{FF2B5EF4-FFF2-40B4-BE49-F238E27FC236}">
                  <a16:creationId xmlns:a16="http://schemas.microsoft.com/office/drawing/2014/main" id="{83F61D44-C2E7-172B-756F-F623D07F2358}"/>
                </a:ext>
              </a:extLst>
            </p:cNvPr>
            <p:cNvSpPr/>
            <p:nvPr/>
          </p:nvSpPr>
          <p:spPr>
            <a:xfrm>
              <a:off x="4928750" y="5738086"/>
              <a:ext cx="200026" cy="165749"/>
            </a:xfrm>
            <a:prstGeom prst="downArrow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" name="Retângulo 3">
              <a:extLst>
                <a:ext uri="{FF2B5EF4-FFF2-40B4-BE49-F238E27FC236}">
                  <a16:creationId xmlns:a16="http://schemas.microsoft.com/office/drawing/2014/main" id="{3F4BBA20-FDCE-A285-D6AF-122CD56243CA}"/>
                </a:ext>
              </a:extLst>
            </p:cNvPr>
            <p:cNvSpPr/>
            <p:nvPr/>
          </p:nvSpPr>
          <p:spPr>
            <a:xfrm>
              <a:off x="4359127" y="1373909"/>
              <a:ext cx="1339272" cy="332509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Conv2D</a:t>
              </a:r>
            </a:p>
          </p:txBody>
        </p:sp>
        <p:sp>
          <p:nvSpPr>
            <p:cNvPr id="6" name="Retângulo 5">
              <a:extLst>
                <a:ext uri="{FF2B5EF4-FFF2-40B4-BE49-F238E27FC236}">
                  <a16:creationId xmlns:a16="http://schemas.microsoft.com/office/drawing/2014/main" id="{44A5667B-3EF1-57FA-B6A5-5A884413EF06}"/>
                </a:ext>
              </a:extLst>
            </p:cNvPr>
            <p:cNvSpPr/>
            <p:nvPr/>
          </p:nvSpPr>
          <p:spPr>
            <a:xfrm>
              <a:off x="4359127" y="1886527"/>
              <a:ext cx="1339272" cy="332509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Conv2D</a:t>
              </a:r>
            </a:p>
          </p:txBody>
        </p:sp>
        <p:sp>
          <p:nvSpPr>
            <p:cNvPr id="7" name="Retângulo 6">
              <a:extLst>
                <a:ext uri="{FF2B5EF4-FFF2-40B4-BE49-F238E27FC236}">
                  <a16:creationId xmlns:a16="http://schemas.microsoft.com/office/drawing/2014/main" id="{8693378F-E1EE-7220-2E6F-08923B6265E8}"/>
                </a:ext>
              </a:extLst>
            </p:cNvPr>
            <p:cNvSpPr/>
            <p:nvPr/>
          </p:nvSpPr>
          <p:spPr>
            <a:xfrm>
              <a:off x="4359127" y="2399145"/>
              <a:ext cx="1339272" cy="332509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Conv2D</a:t>
              </a:r>
            </a:p>
          </p:txBody>
        </p:sp>
        <p:sp>
          <p:nvSpPr>
            <p:cNvPr id="8" name="Retângulo 7">
              <a:extLst>
                <a:ext uri="{FF2B5EF4-FFF2-40B4-BE49-F238E27FC236}">
                  <a16:creationId xmlns:a16="http://schemas.microsoft.com/office/drawing/2014/main" id="{4BF1D4E3-BB11-26BA-6BA2-48CF0CE675B3}"/>
                </a:ext>
              </a:extLst>
            </p:cNvPr>
            <p:cNvSpPr/>
            <p:nvPr/>
          </p:nvSpPr>
          <p:spPr>
            <a:xfrm>
              <a:off x="4359127" y="2893290"/>
              <a:ext cx="1339272" cy="332509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Conv2D</a:t>
              </a:r>
            </a:p>
          </p:txBody>
        </p:sp>
        <p:sp>
          <p:nvSpPr>
            <p:cNvPr id="9" name="Retângulo 8">
              <a:extLst>
                <a:ext uri="{FF2B5EF4-FFF2-40B4-BE49-F238E27FC236}">
                  <a16:creationId xmlns:a16="http://schemas.microsoft.com/office/drawing/2014/main" id="{FA452BFC-A4D0-4A81-67EF-51C195876831}"/>
                </a:ext>
              </a:extLst>
            </p:cNvPr>
            <p:cNvSpPr/>
            <p:nvPr/>
          </p:nvSpPr>
          <p:spPr>
            <a:xfrm>
              <a:off x="4359127" y="3387435"/>
              <a:ext cx="1339272" cy="332509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Conv2D</a:t>
              </a:r>
            </a:p>
          </p:txBody>
        </p:sp>
        <p:sp>
          <p:nvSpPr>
            <p:cNvPr id="10" name="Retângulo 9">
              <a:extLst>
                <a:ext uri="{FF2B5EF4-FFF2-40B4-BE49-F238E27FC236}">
                  <a16:creationId xmlns:a16="http://schemas.microsoft.com/office/drawing/2014/main" id="{499A7AED-B38A-6DDE-0B30-D5C44B5322C1}"/>
                </a:ext>
              </a:extLst>
            </p:cNvPr>
            <p:cNvSpPr/>
            <p:nvPr/>
          </p:nvSpPr>
          <p:spPr>
            <a:xfrm>
              <a:off x="4359127" y="3881580"/>
              <a:ext cx="1339272" cy="332509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Conv2D</a:t>
              </a:r>
            </a:p>
          </p:txBody>
        </p:sp>
        <p:sp>
          <p:nvSpPr>
            <p:cNvPr id="11" name="Retângulo 10">
              <a:extLst>
                <a:ext uri="{FF2B5EF4-FFF2-40B4-BE49-F238E27FC236}">
                  <a16:creationId xmlns:a16="http://schemas.microsoft.com/office/drawing/2014/main" id="{CB68E9C5-78FF-D7C2-DDB8-6764EFA6EBD4}"/>
                </a:ext>
              </a:extLst>
            </p:cNvPr>
            <p:cNvSpPr/>
            <p:nvPr/>
          </p:nvSpPr>
          <p:spPr>
            <a:xfrm>
              <a:off x="4359127" y="4389585"/>
              <a:ext cx="1339272" cy="332509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/>
                <a:t>Dense</a:t>
              </a:r>
              <a:endParaRPr lang="pt-BR" dirty="0"/>
            </a:p>
          </p:txBody>
        </p:sp>
        <p:sp>
          <p:nvSpPr>
            <p:cNvPr id="12" name="Retângulo 11">
              <a:extLst>
                <a:ext uri="{FF2B5EF4-FFF2-40B4-BE49-F238E27FC236}">
                  <a16:creationId xmlns:a16="http://schemas.microsoft.com/office/drawing/2014/main" id="{1320F408-787C-9CC3-FBFE-E3F11077F061}"/>
                </a:ext>
              </a:extLst>
            </p:cNvPr>
            <p:cNvSpPr/>
            <p:nvPr/>
          </p:nvSpPr>
          <p:spPr>
            <a:xfrm>
              <a:off x="4359127" y="4897581"/>
              <a:ext cx="1339272" cy="332509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/>
                <a:t>Dense</a:t>
              </a:r>
              <a:endParaRPr lang="pt-BR" dirty="0"/>
            </a:p>
          </p:txBody>
        </p:sp>
        <p:sp>
          <p:nvSpPr>
            <p:cNvPr id="13" name="Retângulo 12">
              <a:extLst>
                <a:ext uri="{FF2B5EF4-FFF2-40B4-BE49-F238E27FC236}">
                  <a16:creationId xmlns:a16="http://schemas.microsoft.com/office/drawing/2014/main" id="{A861824F-7010-AA2B-A449-DEF35E091444}"/>
                </a:ext>
              </a:extLst>
            </p:cNvPr>
            <p:cNvSpPr/>
            <p:nvPr/>
          </p:nvSpPr>
          <p:spPr>
            <a:xfrm>
              <a:off x="4359127" y="5405577"/>
              <a:ext cx="1339272" cy="332509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/>
                <a:t>Dense</a:t>
              </a:r>
              <a:endParaRPr lang="pt-BR" dirty="0"/>
            </a:p>
          </p:txBody>
        </p:sp>
        <p:cxnSp>
          <p:nvCxnSpPr>
            <p:cNvPr id="15" name="Conector de Seta Reta 14">
              <a:extLst>
                <a:ext uri="{FF2B5EF4-FFF2-40B4-BE49-F238E27FC236}">
                  <a16:creationId xmlns:a16="http://schemas.microsoft.com/office/drawing/2014/main" id="{C7481ABB-B77F-A1DB-9E72-D8B2FF6A57DB}"/>
                </a:ext>
              </a:extLst>
            </p:cNvPr>
            <p:cNvCxnSpPr>
              <a:stCxn id="4" idx="2"/>
              <a:endCxn id="6" idx="0"/>
            </p:cNvCxnSpPr>
            <p:nvPr/>
          </p:nvCxnSpPr>
          <p:spPr>
            <a:xfrm>
              <a:off x="5028763" y="1706418"/>
              <a:ext cx="0" cy="18010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ector de Seta Reta 16">
              <a:extLst>
                <a:ext uri="{FF2B5EF4-FFF2-40B4-BE49-F238E27FC236}">
                  <a16:creationId xmlns:a16="http://schemas.microsoft.com/office/drawing/2014/main" id="{BC98EC12-A8C8-2F39-C21A-D6DDF0E0927D}"/>
                </a:ext>
              </a:extLst>
            </p:cNvPr>
            <p:cNvCxnSpPr>
              <a:stCxn id="6" idx="2"/>
              <a:endCxn id="7" idx="0"/>
            </p:cNvCxnSpPr>
            <p:nvPr/>
          </p:nvCxnSpPr>
          <p:spPr>
            <a:xfrm>
              <a:off x="5028763" y="2219036"/>
              <a:ext cx="0" cy="18010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ector de Seta Reta 18">
              <a:extLst>
                <a:ext uri="{FF2B5EF4-FFF2-40B4-BE49-F238E27FC236}">
                  <a16:creationId xmlns:a16="http://schemas.microsoft.com/office/drawing/2014/main" id="{829567E9-2121-1679-B163-1BFF4F0761DF}"/>
                </a:ext>
              </a:extLst>
            </p:cNvPr>
            <p:cNvCxnSpPr>
              <a:stCxn id="7" idx="2"/>
              <a:endCxn id="8" idx="0"/>
            </p:cNvCxnSpPr>
            <p:nvPr/>
          </p:nvCxnSpPr>
          <p:spPr>
            <a:xfrm>
              <a:off x="5028763" y="2731654"/>
              <a:ext cx="0" cy="16163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ector de Seta Reta 20">
              <a:extLst>
                <a:ext uri="{FF2B5EF4-FFF2-40B4-BE49-F238E27FC236}">
                  <a16:creationId xmlns:a16="http://schemas.microsoft.com/office/drawing/2014/main" id="{5A21C8D0-9621-C4EA-F17B-FF3263695DE4}"/>
                </a:ext>
              </a:extLst>
            </p:cNvPr>
            <p:cNvCxnSpPr>
              <a:stCxn id="8" idx="2"/>
              <a:endCxn id="9" idx="0"/>
            </p:cNvCxnSpPr>
            <p:nvPr/>
          </p:nvCxnSpPr>
          <p:spPr>
            <a:xfrm>
              <a:off x="5028763" y="3225799"/>
              <a:ext cx="0" cy="16163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ector de Seta Reta 22">
              <a:extLst>
                <a:ext uri="{FF2B5EF4-FFF2-40B4-BE49-F238E27FC236}">
                  <a16:creationId xmlns:a16="http://schemas.microsoft.com/office/drawing/2014/main" id="{5720E2E9-A16E-0716-5933-81547E972BA1}"/>
                </a:ext>
              </a:extLst>
            </p:cNvPr>
            <p:cNvCxnSpPr>
              <a:stCxn id="9" idx="2"/>
              <a:endCxn id="10" idx="0"/>
            </p:cNvCxnSpPr>
            <p:nvPr/>
          </p:nvCxnSpPr>
          <p:spPr>
            <a:xfrm>
              <a:off x="5028763" y="3719944"/>
              <a:ext cx="0" cy="16163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ector de Seta Reta 24">
              <a:extLst>
                <a:ext uri="{FF2B5EF4-FFF2-40B4-BE49-F238E27FC236}">
                  <a16:creationId xmlns:a16="http://schemas.microsoft.com/office/drawing/2014/main" id="{030CBBB8-B30F-C2E3-A1EF-652AE0309718}"/>
                </a:ext>
              </a:extLst>
            </p:cNvPr>
            <p:cNvCxnSpPr>
              <a:stCxn id="10" idx="2"/>
              <a:endCxn id="11" idx="0"/>
            </p:cNvCxnSpPr>
            <p:nvPr/>
          </p:nvCxnSpPr>
          <p:spPr>
            <a:xfrm>
              <a:off x="5028763" y="4214089"/>
              <a:ext cx="0" cy="17549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onector de Seta Reta 26">
              <a:extLst>
                <a:ext uri="{FF2B5EF4-FFF2-40B4-BE49-F238E27FC236}">
                  <a16:creationId xmlns:a16="http://schemas.microsoft.com/office/drawing/2014/main" id="{C36D3441-047C-9311-5399-596C270AEDC9}"/>
                </a:ext>
              </a:extLst>
            </p:cNvPr>
            <p:cNvCxnSpPr>
              <a:stCxn id="11" idx="2"/>
              <a:endCxn id="12" idx="0"/>
            </p:cNvCxnSpPr>
            <p:nvPr/>
          </p:nvCxnSpPr>
          <p:spPr>
            <a:xfrm>
              <a:off x="5028763" y="4722094"/>
              <a:ext cx="0" cy="17548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Conector de Seta Reta 28">
              <a:extLst>
                <a:ext uri="{FF2B5EF4-FFF2-40B4-BE49-F238E27FC236}">
                  <a16:creationId xmlns:a16="http://schemas.microsoft.com/office/drawing/2014/main" id="{C1C3F53D-24D0-B51B-48E1-3C11F6507BF9}"/>
                </a:ext>
              </a:extLst>
            </p:cNvPr>
            <p:cNvCxnSpPr>
              <a:stCxn id="12" idx="2"/>
              <a:endCxn id="13" idx="0"/>
            </p:cNvCxnSpPr>
            <p:nvPr/>
          </p:nvCxnSpPr>
          <p:spPr>
            <a:xfrm>
              <a:off x="5028763" y="5230090"/>
              <a:ext cx="0" cy="17548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Seta: para Baixo 29">
              <a:extLst>
                <a:ext uri="{FF2B5EF4-FFF2-40B4-BE49-F238E27FC236}">
                  <a16:creationId xmlns:a16="http://schemas.microsoft.com/office/drawing/2014/main" id="{89F9AE03-BBD8-FD8B-C41A-F6DDD2482786}"/>
                </a:ext>
              </a:extLst>
            </p:cNvPr>
            <p:cNvSpPr/>
            <p:nvPr/>
          </p:nvSpPr>
          <p:spPr>
            <a:xfrm>
              <a:off x="4928750" y="1208160"/>
              <a:ext cx="200026" cy="165749"/>
            </a:xfrm>
            <a:prstGeom prst="downArrow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2" name="CaixaDeTexto 31">
              <a:extLst>
                <a:ext uri="{FF2B5EF4-FFF2-40B4-BE49-F238E27FC236}">
                  <a16:creationId xmlns:a16="http://schemas.microsoft.com/office/drawing/2014/main" id="{07B0358C-41A3-EBCC-E424-567B3251FC51}"/>
                </a:ext>
              </a:extLst>
            </p:cNvPr>
            <p:cNvSpPr txBox="1"/>
            <p:nvPr/>
          </p:nvSpPr>
          <p:spPr>
            <a:xfrm>
              <a:off x="4359127" y="930539"/>
              <a:ext cx="133927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Entrada</a:t>
              </a:r>
            </a:p>
          </p:txBody>
        </p:sp>
        <p:sp>
          <p:nvSpPr>
            <p:cNvPr id="33" name="CaixaDeTexto 32">
              <a:extLst>
                <a:ext uri="{FF2B5EF4-FFF2-40B4-BE49-F238E27FC236}">
                  <a16:creationId xmlns:a16="http://schemas.microsoft.com/office/drawing/2014/main" id="{C790BCF6-7D8C-EE0B-6A28-7425C6916F4C}"/>
                </a:ext>
              </a:extLst>
            </p:cNvPr>
            <p:cNvSpPr txBox="1"/>
            <p:nvPr/>
          </p:nvSpPr>
          <p:spPr>
            <a:xfrm>
              <a:off x="4359127" y="5903835"/>
              <a:ext cx="133927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Saída</a:t>
              </a:r>
            </a:p>
          </p:txBody>
        </p:sp>
        <p:sp>
          <p:nvSpPr>
            <p:cNvPr id="78" name="Seta: para Baixo 77">
              <a:extLst>
                <a:ext uri="{FF2B5EF4-FFF2-40B4-BE49-F238E27FC236}">
                  <a16:creationId xmlns:a16="http://schemas.microsoft.com/office/drawing/2014/main" id="{63D7D293-426F-F988-EF85-B8D4F907F930}"/>
                </a:ext>
              </a:extLst>
            </p:cNvPr>
            <p:cNvSpPr/>
            <p:nvPr/>
          </p:nvSpPr>
          <p:spPr>
            <a:xfrm>
              <a:off x="1960853" y="5740395"/>
              <a:ext cx="200026" cy="165749"/>
            </a:xfrm>
            <a:prstGeom prst="downArrow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9" name="Retângulo 78">
              <a:extLst>
                <a:ext uri="{FF2B5EF4-FFF2-40B4-BE49-F238E27FC236}">
                  <a16:creationId xmlns:a16="http://schemas.microsoft.com/office/drawing/2014/main" id="{B32A7399-0970-3E36-0FC5-7A81B7DC13C5}"/>
                </a:ext>
              </a:extLst>
            </p:cNvPr>
            <p:cNvSpPr/>
            <p:nvPr/>
          </p:nvSpPr>
          <p:spPr>
            <a:xfrm>
              <a:off x="1391230" y="1376218"/>
              <a:ext cx="1339272" cy="332509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Conv2D</a:t>
              </a:r>
            </a:p>
          </p:txBody>
        </p:sp>
        <p:sp>
          <p:nvSpPr>
            <p:cNvPr id="80" name="Retângulo 79">
              <a:extLst>
                <a:ext uri="{FF2B5EF4-FFF2-40B4-BE49-F238E27FC236}">
                  <a16:creationId xmlns:a16="http://schemas.microsoft.com/office/drawing/2014/main" id="{7B18C975-0B0A-CFB8-53AA-C557066844FE}"/>
                </a:ext>
              </a:extLst>
            </p:cNvPr>
            <p:cNvSpPr/>
            <p:nvPr/>
          </p:nvSpPr>
          <p:spPr>
            <a:xfrm>
              <a:off x="1391230" y="1888836"/>
              <a:ext cx="1339272" cy="332509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Conv2D</a:t>
              </a:r>
            </a:p>
          </p:txBody>
        </p:sp>
        <p:sp>
          <p:nvSpPr>
            <p:cNvPr id="81" name="Retângulo 80">
              <a:extLst>
                <a:ext uri="{FF2B5EF4-FFF2-40B4-BE49-F238E27FC236}">
                  <a16:creationId xmlns:a16="http://schemas.microsoft.com/office/drawing/2014/main" id="{F514ED41-A159-4741-7A3B-B8E0109BD909}"/>
                </a:ext>
              </a:extLst>
            </p:cNvPr>
            <p:cNvSpPr/>
            <p:nvPr/>
          </p:nvSpPr>
          <p:spPr>
            <a:xfrm>
              <a:off x="1391230" y="2401454"/>
              <a:ext cx="1339272" cy="332509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Conv2D</a:t>
              </a:r>
            </a:p>
          </p:txBody>
        </p:sp>
        <p:sp>
          <p:nvSpPr>
            <p:cNvPr id="82" name="Retângulo 81">
              <a:extLst>
                <a:ext uri="{FF2B5EF4-FFF2-40B4-BE49-F238E27FC236}">
                  <a16:creationId xmlns:a16="http://schemas.microsoft.com/office/drawing/2014/main" id="{CDFAF7CC-B659-3701-C40F-E3FD41B26F38}"/>
                </a:ext>
              </a:extLst>
            </p:cNvPr>
            <p:cNvSpPr/>
            <p:nvPr/>
          </p:nvSpPr>
          <p:spPr>
            <a:xfrm>
              <a:off x="1391230" y="2895599"/>
              <a:ext cx="1339272" cy="332509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Conv2D</a:t>
              </a:r>
            </a:p>
          </p:txBody>
        </p:sp>
        <p:sp>
          <p:nvSpPr>
            <p:cNvPr id="83" name="Retângulo 82">
              <a:extLst>
                <a:ext uri="{FF2B5EF4-FFF2-40B4-BE49-F238E27FC236}">
                  <a16:creationId xmlns:a16="http://schemas.microsoft.com/office/drawing/2014/main" id="{8FB541C8-15FE-E42E-B76E-60A0B3629D03}"/>
                </a:ext>
              </a:extLst>
            </p:cNvPr>
            <p:cNvSpPr/>
            <p:nvPr/>
          </p:nvSpPr>
          <p:spPr>
            <a:xfrm>
              <a:off x="1391230" y="3389744"/>
              <a:ext cx="1339272" cy="332509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Conv2D</a:t>
              </a:r>
            </a:p>
          </p:txBody>
        </p:sp>
        <p:sp>
          <p:nvSpPr>
            <p:cNvPr id="84" name="Retângulo 83">
              <a:extLst>
                <a:ext uri="{FF2B5EF4-FFF2-40B4-BE49-F238E27FC236}">
                  <a16:creationId xmlns:a16="http://schemas.microsoft.com/office/drawing/2014/main" id="{014D1BA9-671B-BF10-9810-1C67CEAFAA29}"/>
                </a:ext>
              </a:extLst>
            </p:cNvPr>
            <p:cNvSpPr/>
            <p:nvPr/>
          </p:nvSpPr>
          <p:spPr>
            <a:xfrm>
              <a:off x="1391230" y="3883889"/>
              <a:ext cx="1339272" cy="332509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Conv2D</a:t>
              </a:r>
            </a:p>
          </p:txBody>
        </p:sp>
        <p:sp>
          <p:nvSpPr>
            <p:cNvPr id="85" name="Retângulo 84">
              <a:extLst>
                <a:ext uri="{FF2B5EF4-FFF2-40B4-BE49-F238E27FC236}">
                  <a16:creationId xmlns:a16="http://schemas.microsoft.com/office/drawing/2014/main" id="{408C8A79-09A3-E9F5-91DB-F169E24FE090}"/>
                </a:ext>
              </a:extLst>
            </p:cNvPr>
            <p:cNvSpPr/>
            <p:nvPr/>
          </p:nvSpPr>
          <p:spPr>
            <a:xfrm>
              <a:off x="1391230" y="4391894"/>
              <a:ext cx="1339272" cy="332509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/>
                <a:t>Dense</a:t>
              </a:r>
              <a:endParaRPr lang="pt-BR" dirty="0"/>
            </a:p>
          </p:txBody>
        </p:sp>
        <p:sp>
          <p:nvSpPr>
            <p:cNvPr id="86" name="Retângulo 85">
              <a:extLst>
                <a:ext uri="{FF2B5EF4-FFF2-40B4-BE49-F238E27FC236}">
                  <a16:creationId xmlns:a16="http://schemas.microsoft.com/office/drawing/2014/main" id="{091A0ADC-5ABA-0279-CD84-CDB7C1B0B5C2}"/>
                </a:ext>
              </a:extLst>
            </p:cNvPr>
            <p:cNvSpPr/>
            <p:nvPr/>
          </p:nvSpPr>
          <p:spPr>
            <a:xfrm>
              <a:off x="1391230" y="4899890"/>
              <a:ext cx="1339272" cy="332509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/>
                <a:t>Dense</a:t>
              </a:r>
              <a:endParaRPr lang="pt-BR" dirty="0"/>
            </a:p>
          </p:txBody>
        </p:sp>
        <p:sp>
          <p:nvSpPr>
            <p:cNvPr id="87" name="Retângulo 86">
              <a:extLst>
                <a:ext uri="{FF2B5EF4-FFF2-40B4-BE49-F238E27FC236}">
                  <a16:creationId xmlns:a16="http://schemas.microsoft.com/office/drawing/2014/main" id="{CDA40689-F4DB-B8D2-4DD6-E25A7FCA9D5F}"/>
                </a:ext>
              </a:extLst>
            </p:cNvPr>
            <p:cNvSpPr/>
            <p:nvPr/>
          </p:nvSpPr>
          <p:spPr>
            <a:xfrm>
              <a:off x="1391230" y="5407886"/>
              <a:ext cx="1339272" cy="332509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/>
                <a:t>Dense</a:t>
              </a:r>
              <a:endParaRPr lang="pt-BR" dirty="0"/>
            </a:p>
          </p:txBody>
        </p:sp>
        <p:cxnSp>
          <p:nvCxnSpPr>
            <p:cNvPr id="88" name="Conector de Seta Reta 87">
              <a:extLst>
                <a:ext uri="{FF2B5EF4-FFF2-40B4-BE49-F238E27FC236}">
                  <a16:creationId xmlns:a16="http://schemas.microsoft.com/office/drawing/2014/main" id="{D19B9FB1-3622-C0AD-4849-B6E472B31E39}"/>
                </a:ext>
              </a:extLst>
            </p:cNvPr>
            <p:cNvCxnSpPr>
              <a:stCxn id="79" idx="2"/>
              <a:endCxn id="80" idx="0"/>
            </p:cNvCxnSpPr>
            <p:nvPr/>
          </p:nvCxnSpPr>
          <p:spPr>
            <a:xfrm>
              <a:off x="2060866" y="1708727"/>
              <a:ext cx="0" cy="18010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Conector de Seta Reta 88">
              <a:extLst>
                <a:ext uri="{FF2B5EF4-FFF2-40B4-BE49-F238E27FC236}">
                  <a16:creationId xmlns:a16="http://schemas.microsoft.com/office/drawing/2014/main" id="{0078A81D-C424-F267-8A72-11C5E85F7024}"/>
                </a:ext>
              </a:extLst>
            </p:cNvPr>
            <p:cNvCxnSpPr>
              <a:stCxn id="80" idx="2"/>
              <a:endCxn id="81" idx="0"/>
            </p:cNvCxnSpPr>
            <p:nvPr/>
          </p:nvCxnSpPr>
          <p:spPr>
            <a:xfrm>
              <a:off x="2060866" y="2221345"/>
              <a:ext cx="0" cy="18010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Conector de Seta Reta 89">
              <a:extLst>
                <a:ext uri="{FF2B5EF4-FFF2-40B4-BE49-F238E27FC236}">
                  <a16:creationId xmlns:a16="http://schemas.microsoft.com/office/drawing/2014/main" id="{17F36F0A-A0E5-7E4E-EC7B-EE2BF0C6D1D8}"/>
                </a:ext>
              </a:extLst>
            </p:cNvPr>
            <p:cNvCxnSpPr>
              <a:stCxn id="81" idx="2"/>
              <a:endCxn id="82" idx="0"/>
            </p:cNvCxnSpPr>
            <p:nvPr/>
          </p:nvCxnSpPr>
          <p:spPr>
            <a:xfrm>
              <a:off x="2060866" y="2733963"/>
              <a:ext cx="0" cy="16163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Conector de Seta Reta 90">
              <a:extLst>
                <a:ext uri="{FF2B5EF4-FFF2-40B4-BE49-F238E27FC236}">
                  <a16:creationId xmlns:a16="http://schemas.microsoft.com/office/drawing/2014/main" id="{233D915D-80F7-D272-16AF-2AAD99B4C834}"/>
                </a:ext>
              </a:extLst>
            </p:cNvPr>
            <p:cNvCxnSpPr>
              <a:stCxn id="82" idx="2"/>
              <a:endCxn id="83" idx="0"/>
            </p:cNvCxnSpPr>
            <p:nvPr/>
          </p:nvCxnSpPr>
          <p:spPr>
            <a:xfrm>
              <a:off x="2060866" y="3228108"/>
              <a:ext cx="0" cy="16163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Conector de Seta Reta 91">
              <a:extLst>
                <a:ext uri="{FF2B5EF4-FFF2-40B4-BE49-F238E27FC236}">
                  <a16:creationId xmlns:a16="http://schemas.microsoft.com/office/drawing/2014/main" id="{83992D1C-6AE7-2FF3-DCBC-CC3C83F977FF}"/>
                </a:ext>
              </a:extLst>
            </p:cNvPr>
            <p:cNvCxnSpPr>
              <a:stCxn id="83" idx="2"/>
              <a:endCxn id="84" idx="0"/>
            </p:cNvCxnSpPr>
            <p:nvPr/>
          </p:nvCxnSpPr>
          <p:spPr>
            <a:xfrm>
              <a:off x="2060866" y="3722253"/>
              <a:ext cx="0" cy="16163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Conector de Seta Reta 92">
              <a:extLst>
                <a:ext uri="{FF2B5EF4-FFF2-40B4-BE49-F238E27FC236}">
                  <a16:creationId xmlns:a16="http://schemas.microsoft.com/office/drawing/2014/main" id="{5430FAD8-804A-9F9F-A823-5E1F5892DA2A}"/>
                </a:ext>
              </a:extLst>
            </p:cNvPr>
            <p:cNvCxnSpPr>
              <a:stCxn id="84" idx="2"/>
              <a:endCxn id="85" idx="0"/>
            </p:cNvCxnSpPr>
            <p:nvPr/>
          </p:nvCxnSpPr>
          <p:spPr>
            <a:xfrm>
              <a:off x="2060866" y="4216398"/>
              <a:ext cx="0" cy="17549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Conector de Seta Reta 93">
              <a:extLst>
                <a:ext uri="{FF2B5EF4-FFF2-40B4-BE49-F238E27FC236}">
                  <a16:creationId xmlns:a16="http://schemas.microsoft.com/office/drawing/2014/main" id="{212F522B-D7EA-35A0-6803-398BF5DC4F62}"/>
                </a:ext>
              </a:extLst>
            </p:cNvPr>
            <p:cNvCxnSpPr>
              <a:stCxn id="85" idx="2"/>
              <a:endCxn id="86" idx="0"/>
            </p:cNvCxnSpPr>
            <p:nvPr/>
          </p:nvCxnSpPr>
          <p:spPr>
            <a:xfrm>
              <a:off x="2060866" y="4724403"/>
              <a:ext cx="0" cy="17548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Conector de Seta Reta 94">
              <a:extLst>
                <a:ext uri="{FF2B5EF4-FFF2-40B4-BE49-F238E27FC236}">
                  <a16:creationId xmlns:a16="http://schemas.microsoft.com/office/drawing/2014/main" id="{CFE8AC50-0F82-0DFC-4774-988710FA4F45}"/>
                </a:ext>
              </a:extLst>
            </p:cNvPr>
            <p:cNvCxnSpPr>
              <a:stCxn id="86" idx="2"/>
              <a:endCxn id="87" idx="0"/>
            </p:cNvCxnSpPr>
            <p:nvPr/>
          </p:nvCxnSpPr>
          <p:spPr>
            <a:xfrm>
              <a:off x="2060866" y="5232399"/>
              <a:ext cx="0" cy="17548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6" name="Seta: para Baixo 95">
              <a:extLst>
                <a:ext uri="{FF2B5EF4-FFF2-40B4-BE49-F238E27FC236}">
                  <a16:creationId xmlns:a16="http://schemas.microsoft.com/office/drawing/2014/main" id="{AF194720-DC82-733E-F5BF-A08D1F44C0E3}"/>
                </a:ext>
              </a:extLst>
            </p:cNvPr>
            <p:cNvSpPr/>
            <p:nvPr/>
          </p:nvSpPr>
          <p:spPr>
            <a:xfrm>
              <a:off x="1960853" y="1210469"/>
              <a:ext cx="200026" cy="165749"/>
            </a:xfrm>
            <a:prstGeom prst="downArrow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7" name="CaixaDeTexto 96">
              <a:extLst>
                <a:ext uri="{FF2B5EF4-FFF2-40B4-BE49-F238E27FC236}">
                  <a16:creationId xmlns:a16="http://schemas.microsoft.com/office/drawing/2014/main" id="{E77B5766-8447-171B-A175-11ACABC8061A}"/>
                </a:ext>
              </a:extLst>
            </p:cNvPr>
            <p:cNvSpPr txBox="1"/>
            <p:nvPr/>
          </p:nvSpPr>
          <p:spPr>
            <a:xfrm>
              <a:off x="1391230" y="932848"/>
              <a:ext cx="133927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Entrada</a:t>
              </a:r>
            </a:p>
          </p:txBody>
        </p:sp>
        <p:sp>
          <p:nvSpPr>
            <p:cNvPr id="98" name="CaixaDeTexto 97">
              <a:extLst>
                <a:ext uri="{FF2B5EF4-FFF2-40B4-BE49-F238E27FC236}">
                  <a16:creationId xmlns:a16="http://schemas.microsoft.com/office/drawing/2014/main" id="{A6289E6C-AC61-3D9E-6C27-23959BD696B6}"/>
                </a:ext>
              </a:extLst>
            </p:cNvPr>
            <p:cNvSpPr txBox="1"/>
            <p:nvPr/>
          </p:nvSpPr>
          <p:spPr>
            <a:xfrm>
              <a:off x="1391230" y="5906144"/>
              <a:ext cx="133927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Saída</a:t>
              </a:r>
            </a:p>
          </p:txBody>
        </p:sp>
        <p:sp>
          <p:nvSpPr>
            <p:cNvPr id="101" name="CaixaDeTexto 100">
              <a:extLst>
                <a:ext uri="{FF2B5EF4-FFF2-40B4-BE49-F238E27FC236}">
                  <a16:creationId xmlns:a16="http://schemas.microsoft.com/office/drawing/2014/main" id="{60E68C4C-84EE-C2C7-754A-C4B1C11E0050}"/>
                </a:ext>
              </a:extLst>
            </p:cNvPr>
            <p:cNvSpPr txBox="1"/>
            <p:nvPr/>
          </p:nvSpPr>
          <p:spPr>
            <a:xfrm>
              <a:off x="789279" y="600339"/>
              <a:ext cx="27432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b="1" dirty="0"/>
                <a:t>Rede neural pré-treinada</a:t>
              </a:r>
            </a:p>
          </p:txBody>
        </p:sp>
        <p:sp>
          <p:nvSpPr>
            <p:cNvPr id="102" name="Chave Direita 101">
              <a:extLst>
                <a:ext uri="{FF2B5EF4-FFF2-40B4-BE49-F238E27FC236}">
                  <a16:creationId xmlns:a16="http://schemas.microsoft.com/office/drawing/2014/main" id="{6344683D-9076-CAF7-6465-25FB2764AFBB}"/>
                </a:ext>
              </a:extLst>
            </p:cNvPr>
            <p:cNvSpPr/>
            <p:nvPr/>
          </p:nvSpPr>
          <p:spPr>
            <a:xfrm>
              <a:off x="3855802" y="1373909"/>
              <a:ext cx="395649" cy="4364177"/>
            </a:xfrm>
            <a:prstGeom prst="rightBrac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3" name="CaixaDeTexto 102">
              <a:extLst>
                <a:ext uri="{FF2B5EF4-FFF2-40B4-BE49-F238E27FC236}">
                  <a16:creationId xmlns:a16="http://schemas.microsoft.com/office/drawing/2014/main" id="{52E069D0-EAA2-F466-C21B-6EAFFA53A7F7}"/>
                </a:ext>
              </a:extLst>
            </p:cNvPr>
            <p:cNvSpPr txBox="1"/>
            <p:nvPr/>
          </p:nvSpPr>
          <p:spPr>
            <a:xfrm>
              <a:off x="2765154" y="3512339"/>
              <a:ext cx="133927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Cópia dos pesos (</a:t>
              </a:r>
              <a:r>
                <a:rPr lang="pt-BR" sz="1200" dirty="0" err="1"/>
                <a:t>i.e</a:t>
              </a:r>
              <a:r>
                <a:rPr lang="pt-BR" sz="1200" dirty="0"/>
                <a:t>, transferência do aprendizado)</a:t>
              </a:r>
            </a:p>
          </p:txBody>
        </p:sp>
        <p:sp>
          <p:nvSpPr>
            <p:cNvPr id="104" name="Seta: para a Direita 103">
              <a:extLst>
                <a:ext uri="{FF2B5EF4-FFF2-40B4-BE49-F238E27FC236}">
                  <a16:creationId xmlns:a16="http://schemas.microsoft.com/office/drawing/2014/main" id="{DFAC9BE0-573F-E975-6022-7C1DC5F95803}"/>
                </a:ext>
              </a:extLst>
            </p:cNvPr>
            <p:cNvSpPr/>
            <p:nvPr/>
          </p:nvSpPr>
          <p:spPr>
            <a:xfrm>
              <a:off x="2926783" y="3099012"/>
              <a:ext cx="929019" cy="413327"/>
            </a:xfrm>
            <a:prstGeom prst="rightArrow">
              <a:avLst/>
            </a:prstGeom>
            <a:ln>
              <a:noFill/>
            </a:ln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5" name="CaixaDeTexto 104">
              <a:extLst>
                <a:ext uri="{FF2B5EF4-FFF2-40B4-BE49-F238E27FC236}">
                  <a16:creationId xmlns:a16="http://schemas.microsoft.com/office/drawing/2014/main" id="{9D929414-7BEB-2D73-376A-D34EAE96AA4D}"/>
                </a:ext>
              </a:extLst>
            </p:cNvPr>
            <p:cNvSpPr txBox="1"/>
            <p:nvPr/>
          </p:nvSpPr>
          <p:spPr>
            <a:xfrm>
              <a:off x="3614012" y="588358"/>
              <a:ext cx="302952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b="1" dirty="0"/>
                <a:t>Rede neural para nova tarefa</a:t>
              </a:r>
            </a:p>
          </p:txBody>
        </p:sp>
        <p:sp>
          <p:nvSpPr>
            <p:cNvPr id="108" name="Retângulo 107">
              <a:extLst>
                <a:ext uri="{FF2B5EF4-FFF2-40B4-BE49-F238E27FC236}">
                  <a16:creationId xmlns:a16="http://schemas.microsoft.com/office/drawing/2014/main" id="{2FD0010D-E763-1F75-B40E-8AB0D5F78A6D}"/>
                </a:ext>
              </a:extLst>
            </p:cNvPr>
            <p:cNvSpPr/>
            <p:nvPr/>
          </p:nvSpPr>
          <p:spPr>
            <a:xfrm>
              <a:off x="4293750" y="1263072"/>
              <a:ext cx="1470025" cy="2515178"/>
            </a:xfrm>
            <a:prstGeom prst="rect">
              <a:avLst/>
            </a:prstGeom>
            <a:solidFill>
              <a:schemeClr val="accent2">
                <a:lumMod val="40000"/>
                <a:lumOff val="60000"/>
                <a:alpha val="60000"/>
              </a:schemeClr>
            </a:solidFill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pic>
          <p:nvPicPr>
            <p:cNvPr id="1028" name="Picture 4" descr="Open and closed padlock vector 9652847 Vector Art at Vecteezy">
              <a:extLst>
                <a:ext uri="{FF2B5EF4-FFF2-40B4-BE49-F238E27FC236}">
                  <a16:creationId xmlns:a16="http://schemas.microsoft.com/office/drawing/2014/main" id="{FF88873A-7DDE-25F9-FEC9-9637961DFE5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524" t="22509" r="54037" b="21178"/>
            <a:stretch/>
          </p:blipFill>
          <p:spPr bwMode="auto">
            <a:xfrm>
              <a:off x="5900883" y="1886527"/>
              <a:ext cx="541483" cy="78331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9" name="CaixaDeTexto 108">
              <a:extLst>
                <a:ext uri="{FF2B5EF4-FFF2-40B4-BE49-F238E27FC236}">
                  <a16:creationId xmlns:a16="http://schemas.microsoft.com/office/drawing/2014/main" id="{1533EB01-D363-1C77-7D11-F872CF3E279F}"/>
                </a:ext>
              </a:extLst>
            </p:cNvPr>
            <p:cNvSpPr txBox="1"/>
            <p:nvPr/>
          </p:nvSpPr>
          <p:spPr>
            <a:xfrm>
              <a:off x="5707353" y="2744681"/>
              <a:ext cx="97166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Pesos congelados</a:t>
              </a:r>
            </a:p>
          </p:txBody>
        </p:sp>
        <p:pic>
          <p:nvPicPr>
            <p:cNvPr id="110" name="Picture 4" descr="Open and closed padlock vector 9652847 Vector Art at Vecteezy">
              <a:extLst>
                <a:ext uri="{FF2B5EF4-FFF2-40B4-BE49-F238E27FC236}">
                  <a16:creationId xmlns:a16="http://schemas.microsoft.com/office/drawing/2014/main" id="{4CFE8804-2405-3523-0C04-7BE6DFAC43DE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3553" t="22509" r="13350" b="21178"/>
            <a:stretch/>
          </p:blipFill>
          <p:spPr bwMode="auto">
            <a:xfrm>
              <a:off x="5889915" y="4389585"/>
              <a:ext cx="552451" cy="78331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11" name="CaixaDeTexto 110">
              <a:extLst>
                <a:ext uri="{FF2B5EF4-FFF2-40B4-BE49-F238E27FC236}">
                  <a16:creationId xmlns:a16="http://schemas.microsoft.com/office/drawing/2014/main" id="{34652589-47ED-3849-070F-F77E3AF69994}"/>
                </a:ext>
              </a:extLst>
            </p:cNvPr>
            <p:cNvSpPr txBox="1"/>
            <p:nvPr/>
          </p:nvSpPr>
          <p:spPr>
            <a:xfrm>
              <a:off x="5663156" y="5144801"/>
              <a:ext cx="97166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Ajuste fino dos pesos</a:t>
              </a:r>
            </a:p>
          </p:txBody>
        </p:sp>
        <p:sp>
          <p:nvSpPr>
            <p:cNvPr id="112" name="Retângulo 111">
              <a:extLst>
                <a:ext uri="{FF2B5EF4-FFF2-40B4-BE49-F238E27FC236}">
                  <a16:creationId xmlns:a16="http://schemas.microsoft.com/office/drawing/2014/main" id="{4D2E29F2-EC0E-4C6A-15F9-130AE2FEEE55}"/>
                </a:ext>
              </a:extLst>
            </p:cNvPr>
            <p:cNvSpPr/>
            <p:nvPr/>
          </p:nvSpPr>
          <p:spPr>
            <a:xfrm>
              <a:off x="4288138" y="3803006"/>
              <a:ext cx="1470025" cy="1992310"/>
            </a:xfrm>
            <a:prstGeom prst="rect">
              <a:avLst/>
            </a:prstGeom>
            <a:solidFill>
              <a:schemeClr val="accent4">
                <a:lumMod val="20000"/>
                <a:lumOff val="80000"/>
                <a:alpha val="60000"/>
              </a:schemeClr>
            </a:solidFill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</p:grpSp>
    </p:spTree>
    <p:extLst>
      <p:ext uri="{BB962C8B-B14F-4D97-AF65-F5344CB8AC3E}">
        <p14:creationId xmlns:p14="http://schemas.microsoft.com/office/powerpoint/2010/main" val="127626833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1" name="Agrupar 170">
            <a:extLst>
              <a:ext uri="{FF2B5EF4-FFF2-40B4-BE49-F238E27FC236}">
                <a16:creationId xmlns:a16="http://schemas.microsoft.com/office/drawing/2014/main" id="{39495C9F-10F4-5151-CC62-C58925FE8054}"/>
              </a:ext>
            </a:extLst>
          </p:cNvPr>
          <p:cNvGrpSpPr/>
          <p:nvPr/>
        </p:nvGrpSpPr>
        <p:grpSpPr>
          <a:xfrm>
            <a:off x="889000" y="1500990"/>
            <a:ext cx="10695283" cy="4850739"/>
            <a:chOff x="889000" y="1500990"/>
            <a:chExt cx="10695283" cy="4850739"/>
          </a:xfrm>
        </p:grpSpPr>
        <p:sp>
          <p:nvSpPr>
            <p:cNvPr id="4" name="Elipse 3">
              <a:extLst>
                <a:ext uri="{FF2B5EF4-FFF2-40B4-BE49-F238E27FC236}">
                  <a16:creationId xmlns:a16="http://schemas.microsoft.com/office/drawing/2014/main" id="{3CC2AD3C-5109-EAF7-B113-EE79136C4F4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348948" y="3028122"/>
              <a:ext cx="468000" cy="468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" name="Elipse 4">
              <a:extLst>
                <a:ext uri="{FF2B5EF4-FFF2-40B4-BE49-F238E27FC236}">
                  <a16:creationId xmlns:a16="http://schemas.microsoft.com/office/drawing/2014/main" id="{6790AF7C-5EFE-12F2-A670-61E2AB90F18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348948" y="3821531"/>
              <a:ext cx="468000" cy="468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" name="Elipse 6">
              <a:extLst>
                <a:ext uri="{FF2B5EF4-FFF2-40B4-BE49-F238E27FC236}">
                  <a16:creationId xmlns:a16="http://schemas.microsoft.com/office/drawing/2014/main" id="{CCA025DF-B6B7-748F-59E2-AD71D0DBE80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707296" y="3821531"/>
              <a:ext cx="468000" cy="468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" name="Elipse 8">
              <a:extLst>
                <a:ext uri="{FF2B5EF4-FFF2-40B4-BE49-F238E27FC236}">
                  <a16:creationId xmlns:a16="http://schemas.microsoft.com/office/drawing/2014/main" id="{47AFCD59-5350-44C4-04DA-23C96F5A0A1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90600" y="3821531"/>
              <a:ext cx="468000" cy="468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" name="Elipse 10">
              <a:extLst>
                <a:ext uri="{FF2B5EF4-FFF2-40B4-BE49-F238E27FC236}">
                  <a16:creationId xmlns:a16="http://schemas.microsoft.com/office/drawing/2014/main" id="{5ACE6149-2CEA-97EC-5A9A-5CCEBFF47EC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028122" y="4614940"/>
              <a:ext cx="468000" cy="468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4" name="Elipse 13">
              <a:extLst>
                <a:ext uri="{FF2B5EF4-FFF2-40B4-BE49-F238E27FC236}">
                  <a16:creationId xmlns:a16="http://schemas.microsoft.com/office/drawing/2014/main" id="{EA551C41-2D3E-9253-4FA3-17B184187F4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90600" y="4614940"/>
              <a:ext cx="468000" cy="468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5" name="Elipse 14">
              <a:extLst>
                <a:ext uri="{FF2B5EF4-FFF2-40B4-BE49-F238E27FC236}">
                  <a16:creationId xmlns:a16="http://schemas.microsoft.com/office/drawing/2014/main" id="{6DB04CC9-3792-FBA2-F507-91EFDEEC1EF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348948" y="5408349"/>
              <a:ext cx="468000" cy="468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Elipse 16">
              <a:extLst>
                <a:ext uri="{FF2B5EF4-FFF2-40B4-BE49-F238E27FC236}">
                  <a16:creationId xmlns:a16="http://schemas.microsoft.com/office/drawing/2014/main" id="{FCC2B3D8-98CF-DCD9-F12B-9FFCBF38B74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707296" y="5408349"/>
              <a:ext cx="468000" cy="468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9" name="Elipse 18">
              <a:extLst>
                <a:ext uri="{FF2B5EF4-FFF2-40B4-BE49-F238E27FC236}">
                  <a16:creationId xmlns:a16="http://schemas.microsoft.com/office/drawing/2014/main" id="{2C041BEA-18A6-A325-0C77-245E6C58CF2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90600" y="5408349"/>
              <a:ext cx="468000" cy="468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22" name="Conector de Seta Reta 21">
              <a:extLst>
                <a:ext uri="{FF2B5EF4-FFF2-40B4-BE49-F238E27FC236}">
                  <a16:creationId xmlns:a16="http://schemas.microsoft.com/office/drawing/2014/main" id="{7EFFB4F5-3E7E-FCF2-1FB6-071CCD6D9A11}"/>
                </a:ext>
              </a:extLst>
            </p:cNvPr>
            <p:cNvCxnSpPr>
              <a:stCxn id="9" idx="0"/>
              <a:endCxn id="4" idx="4"/>
            </p:cNvCxnSpPr>
            <p:nvPr/>
          </p:nvCxnSpPr>
          <p:spPr>
            <a:xfrm flipV="1">
              <a:off x="1224600" y="3496122"/>
              <a:ext cx="1358348" cy="32540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onector de Seta Reta 25">
              <a:extLst>
                <a:ext uri="{FF2B5EF4-FFF2-40B4-BE49-F238E27FC236}">
                  <a16:creationId xmlns:a16="http://schemas.microsoft.com/office/drawing/2014/main" id="{37F93FD8-9116-0BE4-07AF-371F040CE90D}"/>
                </a:ext>
              </a:extLst>
            </p:cNvPr>
            <p:cNvCxnSpPr>
              <a:stCxn id="5" idx="0"/>
              <a:endCxn id="4" idx="4"/>
            </p:cNvCxnSpPr>
            <p:nvPr/>
          </p:nvCxnSpPr>
          <p:spPr>
            <a:xfrm flipV="1">
              <a:off x="2582948" y="3496122"/>
              <a:ext cx="0" cy="32540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ector de Seta Reta 29">
              <a:extLst>
                <a:ext uri="{FF2B5EF4-FFF2-40B4-BE49-F238E27FC236}">
                  <a16:creationId xmlns:a16="http://schemas.microsoft.com/office/drawing/2014/main" id="{D8BCF74D-0E61-2793-048A-0070BFEB7834}"/>
                </a:ext>
              </a:extLst>
            </p:cNvPr>
            <p:cNvCxnSpPr>
              <a:stCxn id="7" idx="0"/>
              <a:endCxn id="4" idx="4"/>
            </p:cNvCxnSpPr>
            <p:nvPr/>
          </p:nvCxnSpPr>
          <p:spPr>
            <a:xfrm flipH="1" flipV="1">
              <a:off x="2582948" y="3496122"/>
              <a:ext cx="1358348" cy="32540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Elipse 30">
              <a:extLst>
                <a:ext uri="{FF2B5EF4-FFF2-40B4-BE49-F238E27FC236}">
                  <a16:creationId xmlns:a16="http://schemas.microsoft.com/office/drawing/2014/main" id="{800565D8-8E98-BF9B-234B-E01A463B945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327406" y="3028122"/>
              <a:ext cx="468000" cy="468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2" name="Elipse 31">
              <a:extLst>
                <a:ext uri="{FF2B5EF4-FFF2-40B4-BE49-F238E27FC236}">
                  <a16:creationId xmlns:a16="http://schemas.microsoft.com/office/drawing/2014/main" id="{5814F227-C384-E5C7-636D-3B120A19307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327406" y="3821531"/>
              <a:ext cx="468000" cy="468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3" name="Elipse 32">
              <a:extLst>
                <a:ext uri="{FF2B5EF4-FFF2-40B4-BE49-F238E27FC236}">
                  <a16:creationId xmlns:a16="http://schemas.microsoft.com/office/drawing/2014/main" id="{3327BCB1-221B-3691-2E88-F62DEDBB63E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006580" y="3821531"/>
              <a:ext cx="468000" cy="468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5" name="Elipse 34">
              <a:extLst>
                <a:ext uri="{FF2B5EF4-FFF2-40B4-BE49-F238E27FC236}">
                  <a16:creationId xmlns:a16="http://schemas.microsoft.com/office/drawing/2014/main" id="{C8CB6B76-EC59-6394-0200-AC8684A8E00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648232" y="3821531"/>
              <a:ext cx="468000" cy="468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7" name="Elipse 36">
              <a:extLst>
                <a:ext uri="{FF2B5EF4-FFF2-40B4-BE49-F238E27FC236}">
                  <a16:creationId xmlns:a16="http://schemas.microsoft.com/office/drawing/2014/main" id="{503E792A-02EB-E2DB-5438-23A24B28EAE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327406" y="4614940"/>
              <a:ext cx="468000" cy="468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8" name="Elipse 37">
              <a:extLst>
                <a:ext uri="{FF2B5EF4-FFF2-40B4-BE49-F238E27FC236}">
                  <a16:creationId xmlns:a16="http://schemas.microsoft.com/office/drawing/2014/main" id="{A045EEE3-E5E8-34DF-6414-2C3A5A70900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006580" y="4614940"/>
              <a:ext cx="468000" cy="468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0" name="Elipse 39">
              <a:extLst>
                <a:ext uri="{FF2B5EF4-FFF2-40B4-BE49-F238E27FC236}">
                  <a16:creationId xmlns:a16="http://schemas.microsoft.com/office/drawing/2014/main" id="{B9386D83-9489-041C-1C8B-2F78AD6EBDC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648232" y="4614940"/>
              <a:ext cx="468000" cy="468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3" name="Elipse 42">
              <a:extLst>
                <a:ext uri="{FF2B5EF4-FFF2-40B4-BE49-F238E27FC236}">
                  <a16:creationId xmlns:a16="http://schemas.microsoft.com/office/drawing/2014/main" id="{D5A9411D-C6B6-4731-1280-B83FC0BB507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006580" y="5408349"/>
              <a:ext cx="468000" cy="468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5" name="Elipse 44">
              <a:extLst>
                <a:ext uri="{FF2B5EF4-FFF2-40B4-BE49-F238E27FC236}">
                  <a16:creationId xmlns:a16="http://schemas.microsoft.com/office/drawing/2014/main" id="{EEE394F0-B7AE-C57E-7AAC-C48CEC182A6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648232" y="5408349"/>
              <a:ext cx="468000" cy="468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6" name="Elipse 45">
              <a:extLst>
                <a:ext uri="{FF2B5EF4-FFF2-40B4-BE49-F238E27FC236}">
                  <a16:creationId xmlns:a16="http://schemas.microsoft.com/office/drawing/2014/main" id="{2DA439C3-0F45-5253-9459-4F2FAB8D0F1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969058" y="5408349"/>
              <a:ext cx="468000" cy="468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48" name="Conector de Seta Reta 47">
              <a:extLst>
                <a:ext uri="{FF2B5EF4-FFF2-40B4-BE49-F238E27FC236}">
                  <a16:creationId xmlns:a16="http://schemas.microsoft.com/office/drawing/2014/main" id="{20EF2998-1F08-A1E4-312C-5002463C33BD}"/>
                </a:ext>
              </a:extLst>
            </p:cNvPr>
            <p:cNvCxnSpPr>
              <a:stCxn id="35" idx="0"/>
              <a:endCxn id="31" idx="4"/>
            </p:cNvCxnSpPr>
            <p:nvPr/>
          </p:nvCxnSpPr>
          <p:spPr>
            <a:xfrm flipV="1">
              <a:off x="5882232" y="3496122"/>
              <a:ext cx="679174" cy="32540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Conector de Seta Reta 48">
              <a:extLst>
                <a:ext uri="{FF2B5EF4-FFF2-40B4-BE49-F238E27FC236}">
                  <a16:creationId xmlns:a16="http://schemas.microsoft.com/office/drawing/2014/main" id="{9974CA39-25EF-D2B9-E8EB-D702DFA54444}"/>
                </a:ext>
              </a:extLst>
            </p:cNvPr>
            <p:cNvCxnSpPr>
              <a:stCxn id="32" idx="0"/>
              <a:endCxn id="31" idx="4"/>
            </p:cNvCxnSpPr>
            <p:nvPr/>
          </p:nvCxnSpPr>
          <p:spPr>
            <a:xfrm flipV="1">
              <a:off x="6561406" y="3496122"/>
              <a:ext cx="0" cy="32540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Conector de Seta Reta 49">
              <a:extLst>
                <a:ext uri="{FF2B5EF4-FFF2-40B4-BE49-F238E27FC236}">
                  <a16:creationId xmlns:a16="http://schemas.microsoft.com/office/drawing/2014/main" id="{2F758995-4AC8-E5F1-2450-F9B4751CC744}"/>
                </a:ext>
              </a:extLst>
            </p:cNvPr>
            <p:cNvCxnSpPr>
              <a:stCxn id="33" idx="0"/>
              <a:endCxn id="31" idx="4"/>
            </p:cNvCxnSpPr>
            <p:nvPr/>
          </p:nvCxnSpPr>
          <p:spPr>
            <a:xfrm flipH="1" flipV="1">
              <a:off x="6561406" y="3496122"/>
              <a:ext cx="679174" cy="32540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2" name="Elipse 51">
              <a:extLst>
                <a:ext uri="{FF2B5EF4-FFF2-40B4-BE49-F238E27FC236}">
                  <a16:creationId xmlns:a16="http://schemas.microsoft.com/office/drawing/2014/main" id="{4EFFAC1A-A88F-19F4-6467-37334EAE569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37018" y="3028122"/>
              <a:ext cx="468000" cy="468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4" name="Elipse 53">
              <a:extLst>
                <a:ext uri="{FF2B5EF4-FFF2-40B4-BE49-F238E27FC236}">
                  <a16:creationId xmlns:a16="http://schemas.microsoft.com/office/drawing/2014/main" id="{F91B14F0-B7AE-7893-6ADD-760734EFB73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316192" y="3821531"/>
              <a:ext cx="468000" cy="468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6" name="Elipse 55">
              <a:extLst>
                <a:ext uri="{FF2B5EF4-FFF2-40B4-BE49-F238E27FC236}">
                  <a16:creationId xmlns:a16="http://schemas.microsoft.com/office/drawing/2014/main" id="{1F038DE7-9C62-1062-EC52-FF4D09D4BAC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957844" y="3821531"/>
              <a:ext cx="468000" cy="468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0" name="Elipse 59">
              <a:extLst>
                <a:ext uri="{FF2B5EF4-FFF2-40B4-BE49-F238E27FC236}">
                  <a16:creationId xmlns:a16="http://schemas.microsoft.com/office/drawing/2014/main" id="{61CA499F-F517-4857-724C-1CF1D966201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995366" y="4614940"/>
              <a:ext cx="468000" cy="468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2" name="Elipse 61">
              <a:extLst>
                <a:ext uri="{FF2B5EF4-FFF2-40B4-BE49-F238E27FC236}">
                  <a16:creationId xmlns:a16="http://schemas.microsoft.com/office/drawing/2014/main" id="{4E4FFE0E-8159-9554-BDFE-55980FEF8DF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278670" y="4614940"/>
              <a:ext cx="468000" cy="468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4" name="Elipse 63">
              <a:extLst>
                <a:ext uri="{FF2B5EF4-FFF2-40B4-BE49-F238E27FC236}">
                  <a16:creationId xmlns:a16="http://schemas.microsoft.com/office/drawing/2014/main" id="{0CDCE280-F157-58D5-249F-F2CA9B06AB1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316192" y="5408349"/>
              <a:ext cx="468000" cy="468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5" name="Elipse 64">
              <a:extLst>
                <a:ext uri="{FF2B5EF4-FFF2-40B4-BE49-F238E27FC236}">
                  <a16:creationId xmlns:a16="http://schemas.microsoft.com/office/drawing/2014/main" id="{E88A1087-CC42-0A89-5DB1-C8F681F3B4B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995366" y="5408349"/>
              <a:ext cx="468000" cy="468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6" name="Elipse 65">
              <a:extLst>
                <a:ext uri="{FF2B5EF4-FFF2-40B4-BE49-F238E27FC236}">
                  <a16:creationId xmlns:a16="http://schemas.microsoft.com/office/drawing/2014/main" id="{DAAFF9B1-1490-6181-A00D-29FE802DF7F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957844" y="5408349"/>
              <a:ext cx="468000" cy="468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69" name="Conector de Seta Reta 68">
              <a:extLst>
                <a:ext uri="{FF2B5EF4-FFF2-40B4-BE49-F238E27FC236}">
                  <a16:creationId xmlns:a16="http://schemas.microsoft.com/office/drawing/2014/main" id="{779A7903-A5C8-31EE-0AD1-7B61D996BCF2}"/>
                </a:ext>
              </a:extLst>
            </p:cNvPr>
            <p:cNvCxnSpPr>
              <a:stCxn id="56" idx="0"/>
              <a:endCxn id="52" idx="4"/>
            </p:cNvCxnSpPr>
            <p:nvPr/>
          </p:nvCxnSpPr>
          <p:spPr>
            <a:xfrm flipV="1">
              <a:off x="9191844" y="3496122"/>
              <a:ext cx="679174" cy="32540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Conector de Seta Reta 70">
              <a:extLst>
                <a:ext uri="{FF2B5EF4-FFF2-40B4-BE49-F238E27FC236}">
                  <a16:creationId xmlns:a16="http://schemas.microsoft.com/office/drawing/2014/main" id="{27059B76-D4E9-46D8-4878-3503DE196C39}"/>
                </a:ext>
              </a:extLst>
            </p:cNvPr>
            <p:cNvCxnSpPr>
              <a:stCxn id="54" idx="0"/>
              <a:endCxn id="52" idx="4"/>
            </p:cNvCxnSpPr>
            <p:nvPr/>
          </p:nvCxnSpPr>
          <p:spPr>
            <a:xfrm flipH="1" flipV="1">
              <a:off x="9871018" y="3496122"/>
              <a:ext cx="679174" cy="32540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Conector de Seta Reta 73">
              <a:extLst>
                <a:ext uri="{FF2B5EF4-FFF2-40B4-BE49-F238E27FC236}">
                  <a16:creationId xmlns:a16="http://schemas.microsoft.com/office/drawing/2014/main" id="{A1B12BB4-FFF5-D507-D410-EA56E2CE2FD3}"/>
                </a:ext>
              </a:extLst>
            </p:cNvPr>
            <p:cNvCxnSpPr>
              <a:stCxn id="62" idx="0"/>
              <a:endCxn id="56" idx="4"/>
            </p:cNvCxnSpPr>
            <p:nvPr/>
          </p:nvCxnSpPr>
          <p:spPr>
            <a:xfrm flipV="1">
              <a:off x="8512670" y="4289531"/>
              <a:ext cx="679174" cy="32540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Conector de Seta Reta 75">
              <a:extLst>
                <a:ext uri="{FF2B5EF4-FFF2-40B4-BE49-F238E27FC236}">
                  <a16:creationId xmlns:a16="http://schemas.microsoft.com/office/drawing/2014/main" id="{823C2D81-0609-736C-A04E-1A94C94FF386}"/>
                </a:ext>
              </a:extLst>
            </p:cNvPr>
            <p:cNvCxnSpPr>
              <a:stCxn id="62" idx="0"/>
              <a:endCxn id="54" idx="4"/>
            </p:cNvCxnSpPr>
            <p:nvPr/>
          </p:nvCxnSpPr>
          <p:spPr>
            <a:xfrm flipV="1">
              <a:off x="8512670" y="4289531"/>
              <a:ext cx="2037522" cy="32540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Conector de Seta Reta 77">
              <a:extLst>
                <a:ext uri="{FF2B5EF4-FFF2-40B4-BE49-F238E27FC236}">
                  <a16:creationId xmlns:a16="http://schemas.microsoft.com/office/drawing/2014/main" id="{3384D60A-7C35-1D84-84CF-F4A4A03ED684}"/>
                </a:ext>
              </a:extLst>
            </p:cNvPr>
            <p:cNvCxnSpPr>
              <a:stCxn id="60" idx="0"/>
              <a:endCxn id="54" idx="4"/>
            </p:cNvCxnSpPr>
            <p:nvPr/>
          </p:nvCxnSpPr>
          <p:spPr>
            <a:xfrm flipH="1" flipV="1">
              <a:off x="10550192" y="4289531"/>
              <a:ext cx="679174" cy="32540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Conector de Seta Reta 79">
              <a:extLst>
                <a:ext uri="{FF2B5EF4-FFF2-40B4-BE49-F238E27FC236}">
                  <a16:creationId xmlns:a16="http://schemas.microsoft.com/office/drawing/2014/main" id="{12159D3B-8F70-D92B-28C0-C7817BF2D01A}"/>
                </a:ext>
              </a:extLst>
            </p:cNvPr>
            <p:cNvCxnSpPr>
              <a:stCxn id="60" idx="0"/>
              <a:endCxn id="56" idx="4"/>
            </p:cNvCxnSpPr>
            <p:nvPr/>
          </p:nvCxnSpPr>
          <p:spPr>
            <a:xfrm flipH="1" flipV="1">
              <a:off x="9191844" y="4289531"/>
              <a:ext cx="2037522" cy="32540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Conector de Seta Reta 81">
              <a:extLst>
                <a:ext uri="{FF2B5EF4-FFF2-40B4-BE49-F238E27FC236}">
                  <a16:creationId xmlns:a16="http://schemas.microsoft.com/office/drawing/2014/main" id="{7979FBA4-3FB3-011B-5589-363A801534A9}"/>
                </a:ext>
              </a:extLst>
            </p:cNvPr>
            <p:cNvCxnSpPr>
              <a:stCxn id="66" idx="0"/>
              <a:endCxn id="62" idx="4"/>
            </p:cNvCxnSpPr>
            <p:nvPr/>
          </p:nvCxnSpPr>
          <p:spPr>
            <a:xfrm flipH="1" flipV="1">
              <a:off x="8512670" y="5082940"/>
              <a:ext cx="679174" cy="32540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Conector de Seta Reta 83">
              <a:extLst>
                <a:ext uri="{FF2B5EF4-FFF2-40B4-BE49-F238E27FC236}">
                  <a16:creationId xmlns:a16="http://schemas.microsoft.com/office/drawing/2014/main" id="{9FC733C0-A2AB-0A37-75F8-7660C6C67E2D}"/>
                </a:ext>
              </a:extLst>
            </p:cNvPr>
            <p:cNvCxnSpPr>
              <a:stCxn id="66" idx="0"/>
              <a:endCxn id="60" idx="4"/>
            </p:cNvCxnSpPr>
            <p:nvPr/>
          </p:nvCxnSpPr>
          <p:spPr>
            <a:xfrm flipV="1">
              <a:off x="9191844" y="5082940"/>
              <a:ext cx="2037522" cy="32540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Conector de Seta Reta 85">
              <a:extLst>
                <a:ext uri="{FF2B5EF4-FFF2-40B4-BE49-F238E27FC236}">
                  <a16:creationId xmlns:a16="http://schemas.microsoft.com/office/drawing/2014/main" id="{9DEE774C-4B21-AAB2-DCE6-2C5CC690ADC5}"/>
                </a:ext>
              </a:extLst>
            </p:cNvPr>
            <p:cNvCxnSpPr>
              <a:stCxn id="64" idx="0"/>
              <a:endCxn id="62" idx="4"/>
            </p:cNvCxnSpPr>
            <p:nvPr/>
          </p:nvCxnSpPr>
          <p:spPr>
            <a:xfrm flipH="1" flipV="1">
              <a:off x="8512670" y="5082940"/>
              <a:ext cx="2037522" cy="32540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Conector de Seta Reta 87">
              <a:extLst>
                <a:ext uri="{FF2B5EF4-FFF2-40B4-BE49-F238E27FC236}">
                  <a16:creationId xmlns:a16="http://schemas.microsoft.com/office/drawing/2014/main" id="{5938E2E1-6128-2611-E93E-36AE1204B299}"/>
                </a:ext>
              </a:extLst>
            </p:cNvPr>
            <p:cNvCxnSpPr>
              <a:stCxn id="65" idx="0"/>
              <a:endCxn id="62" idx="4"/>
            </p:cNvCxnSpPr>
            <p:nvPr/>
          </p:nvCxnSpPr>
          <p:spPr>
            <a:xfrm flipH="1" flipV="1">
              <a:off x="8512670" y="5082940"/>
              <a:ext cx="2716696" cy="32540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Conector de Seta Reta 89">
              <a:extLst>
                <a:ext uri="{FF2B5EF4-FFF2-40B4-BE49-F238E27FC236}">
                  <a16:creationId xmlns:a16="http://schemas.microsoft.com/office/drawing/2014/main" id="{9F38DDED-B129-BB29-0D37-0082A285EF84}"/>
                </a:ext>
              </a:extLst>
            </p:cNvPr>
            <p:cNvCxnSpPr>
              <a:stCxn id="64" idx="0"/>
              <a:endCxn id="60" idx="4"/>
            </p:cNvCxnSpPr>
            <p:nvPr/>
          </p:nvCxnSpPr>
          <p:spPr>
            <a:xfrm flipV="1">
              <a:off x="10550192" y="5082940"/>
              <a:ext cx="679174" cy="32540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Conector de Seta Reta 91">
              <a:extLst>
                <a:ext uri="{FF2B5EF4-FFF2-40B4-BE49-F238E27FC236}">
                  <a16:creationId xmlns:a16="http://schemas.microsoft.com/office/drawing/2014/main" id="{81F04F96-1DD3-232B-AC6A-6F00C1E49F79}"/>
                </a:ext>
              </a:extLst>
            </p:cNvPr>
            <p:cNvCxnSpPr>
              <a:stCxn id="65" idx="0"/>
              <a:endCxn id="60" idx="4"/>
            </p:cNvCxnSpPr>
            <p:nvPr/>
          </p:nvCxnSpPr>
          <p:spPr>
            <a:xfrm flipV="1">
              <a:off x="11229366" y="5082940"/>
              <a:ext cx="0" cy="32540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Conector de Seta Reta 93">
              <a:extLst>
                <a:ext uri="{FF2B5EF4-FFF2-40B4-BE49-F238E27FC236}">
                  <a16:creationId xmlns:a16="http://schemas.microsoft.com/office/drawing/2014/main" id="{2E09FD3C-9589-7D34-46F1-414CF96E76A8}"/>
                </a:ext>
              </a:extLst>
            </p:cNvPr>
            <p:cNvCxnSpPr>
              <a:stCxn id="38" idx="0"/>
              <a:endCxn id="33" idx="4"/>
            </p:cNvCxnSpPr>
            <p:nvPr/>
          </p:nvCxnSpPr>
          <p:spPr>
            <a:xfrm flipV="1">
              <a:off x="7240580" y="4289531"/>
              <a:ext cx="0" cy="32540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Conector de Seta Reta 95">
              <a:extLst>
                <a:ext uri="{FF2B5EF4-FFF2-40B4-BE49-F238E27FC236}">
                  <a16:creationId xmlns:a16="http://schemas.microsoft.com/office/drawing/2014/main" id="{C82A9315-37FF-D6D1-F12F-E7B4DF1746F9}"/>
                </a:ext>
              </a:extLst>
            </p:cNvPr>
            <p:cNvCxnSpPr>
              <a:stCxn id="38" idx="0"/>
              <a:endCxn id="32" idx="4"/>
            </p:cNvCxnSpPr>
            <p:nvPr/>
          </p:nvCxnSpPr>
          <p:spPr>
            <a:xfrm flipH="1" flipV="1">
              <a:off x="6561406" y="4289531"/>
              <a:ext cx="679174" cy="32540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Conector de Seta Reta 97">
              <a:extLst>
                <a:ext uri="{FF2B5EF4-FFF2-40B4-BE49-F238E27FC236}">
                  <a16:creationId xmlns:a16="http://schemas.microsoft.com/office/drawing/2014/main" id="{6A04CDFB-AE62-076A-346A-C80140911823}"/>
                </a:ext>
              </a:extLst>
            </p:cNvPr>
            <p:cNvCxnSpPr>
              <a:stCxn id="38" idx="0"/>
              <a:endCxn id="35" idx="4"/>
            </p:cNvCxnSpPr>
            <p:nvPr/>
          </p:nvCxnSpPr>
          <p:spPr>
            <a:xfrm flipH="1" flipV="1">
              <a:off x="5882232" y="4289531"/>
              <a:ext cx="1358348" cy="32540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Conector de Seta Reta 99">
              <a:extLst>
                <a:ext uri="{FF2B5EF4-FFF2-40B4-BE49-F238E27FC236}">
                  <a16:creationId xmlns:a16="http://schemas.microsoft.com/office/drawing/2014/main" id="{65439BA2-E0D6-EF52-05E9-53213A036D9D}"/>
                </a:ext>
              </a:extLst>
            </p:cNvPr>
            <p:cNvCxnSpPr>
              <a:stCxn id="37" idx="0"/>
              <a:endCxn id="32" idx="4"/>
            </p:cNvCxnSpPr>
            <p:nvPr/>
          </p:nvCxnSpPr>
          <p:spPr>
            <a:xfrm flipV="1">
              <a:off x="6561406" y="4289531"/>
              <a:ext cx="0" cy="32540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Conector de Seta Reta 101">
              <a:extLst>
                <a:ext uri="{FF2B5EF4-FFF2-40B4-BE49-F238E27FC236}">
                  <a16:creationId xmlns:a16="http://schemas.microsoft.com/office/drawing/2014/main" id="{57A492CA-0B9F-E9C2-B7F9-9D25171C66AC}"/>
                </a:ext>
              </a:extLst>
            </p:cNvPr>
            <p:cNvCxnSpPr>
              <a:stCxn id="40" idx="0"/>
              <a:endCxn id="35" idx="4"/>
            </p:cNvCxnSpPr>
            <p:nvPr/>
          </p:nvCxnSpPr>
          <p:spPr>
            <a:xfrm flipV="1">
              <a:off x="5882232" y="4289531"/>
              <a:ext cx="0" cy="32540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Conector de Seta Reta 103">
              <a:extLst>
                <a:ext uri="{FF2B5EF4-FFF2-40B4-BE49-F238E27FC236}">
                  <a16:creationId xmlns:a16="http://schemas.microsoft.com/office/drawing/2014/main" id="{8F26BF93-C9C7-475E-9052-22B3865E22C5}"/>
                </a:ext>
              </a:extLst>
            </p:cNvPr>
            <p:cNvCxnSpPr>
              <a:stCxn id="40" idx="0"/>
              <a:endCxn id="32" idx="4"/>
            </p:cNvCxnSpPr>
            <p:nvPr/>
          </p:nvCxnSpPr>
          <p:spPr>
            <a:xfrm flipV="1">
              <a:off x="5882232" y="4289531"/>
              <a:ext cx="679174" cy="32540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Conector de Seta Reta 105">
              <a:extLst>
                <a:ext uri="{FF2B5EF4-FFF2-40B4-BE49-F238E27FC236}">
                  <a16:creationId xmlns:a16="http://schemas.microsoft.com/office/drawing/2014/main" id="{633B6AB4-26F0-BD04-BB4B-453F295F722D}"/>
                </a:ext>
              </a:extLst>
            </p:cNvPr>
            <p:cNvCxnSpPr>
              <a:stCxn id="37" idx="0"/>
              <a:endCxn id="33" idx="4"/>
            </p:cNvCxnSpPr>
            <p:nvPr/>
          </p:nvCxnSpPr>
          <p:spPr>
            <a:xfrm flipV="1">
              <a:off x="6561406" y="4289531"/>
              <a:ext cx="679174" cy="32540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Conector de Seta Reta 107">
              <a:extLst>
                <a:ext uri="{FF2B5EF4-FFF2-40B4-BE49-F238E27FC236}">
                  <a16:creationId xmlns:a16="http://schemas.microsoft.com/office/drawing/2014/main" id="{9E200312-574D-5283-0BE1-8D915F6F97BF}"/>
                </a:ext>
              </a:extLst>
            </p:cNvPr>
            <p:cNvCxnSpPr>
              <a:stCxn id="40" idx="0"/>
              <a:endCxn id="33" idx="4"/>
            </p:cNvCxnSpPr>
            <p:nvPr/>
          </p:nvCxnSpPr>
          <p:spPr>
            <a:xfrm flipV="1">
              <a:off x="5882232" y="4289531"/>
              <a:ext cx="1358348" cy="32540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Conector de Seta Reta 109">
              <a:extLst>
                <a:ext uri="{FF2B5EF4-FFF2-40B4-BE49-F238E27FC236}">
                  <a16:creationId xmlns:a16="http://schemas.microsoft.com/office/drawing/2014/main" id="{2B50AC90-93AA-5ABE-3157-6DC0DDF06A46}"/>
                </a:ext>
              </a:extLst>
            </p:cNvPr>
            <p:cNvCxnSpPr>
              <a:stCxn id="37" idx="0"/>
              <a:endCxn id="35" idx="4"/>
            </p:cNvCxnSpPr>
            <p:nvPr/>
          </p:nvCxnSpPr>
          <p:spPr>
            <a:xfrm flipH="1" flipV="1">
              <a:off x="5882232" y="4289531"/>
              <a:ext cx="679174" cy="32540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Conector de Seta Reta 111">
              <a:extLst>
                <a:ext uri="{FF2B5EF4-FFF2-40B4-BE49-F238E27FC236}">
                  <a16:creationId xmlns:a16="http://schemas.microsoft.com/office/drawing/2014/main" id="{48725744-A929-ACE8-AB39-7C140F9E8B81}"/>
                </a:ext>
              </a:extLst>
            </p:cNvPr>
            <p:cNvCxnSpPr>
              <a:stCxn id="45" idx="0"/>
              <a:endCxn id="40" idx="4"/>
            </p:cNvCxnSpPr>
            <p:nvPr/>
          </p:nvCxnSpPr>
          <p:spPr>
            <a:xfrm flipV="1">
              <a:off x="5882232" y="5082940"/>
              <a:ext cx="0" cy="32540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Conector de Seta Reta 113">
              <a:extLst>
                <a:ext uri="{FF2B5EF4-FFF2-40B4-BE49-F238E27FC236}">
                  <a16:creationId xmlns:a16="http://schemas.microsoft.com/office/drawing/2014/main" id="{2A90340C-7332-D857-4B7D-8173567379E4}"/>
                </a:ext>
              </a:extLst>
            </p:cNvPr>
            <p:cNvCxnSpPr>
              <a:stCxn id="45" idx="0"/>
              <a:endCxn id="37" idx="4"/>
            </p:cNvCxnSpPr>
            <p:nvPr/>
          </p:nvCxnSpPr>
          <p:spPr>
            <a:xfrm flipV="1">
              <a:off x="5882232" y="5082940"/>
              <a:ext cx="679174" cy="32540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6" name="Conector de Seta Reta 115">
              <a:extLst>
                <a:ext uri="{FF2B5EF4-FFF2-40B4-BE49-F238E27FC236}">
                  <a16:creationId xmlns:a16="http://schemas.microsoft.com/office/drawing/2014/main" id="{9A0434B2-F955-0087-541E-4E51BB6538A9}"/>
                </a:ext>
              </a:extLst>
            </p:cNvPr>
            <p:cNvCxnSpPr>
              <a:stCxn id="45" idx="0"/>
              <a:endCxn id="38" idx="4"/>
            </p:cNvCxnSpPr>
            <p:nvPr/>
          </p:nvCxnSpPr>
          <p:spPr>
            <a:xfrm flipV="1">
              <a:off x="5882232" y="5082940"/>
              <a:ext cx="1358348" cy="32540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" name="Conector de Seta Reta 117">
              <a:extLst>
                <a:ext uri="{FF2B5EF4-FFF2-40B4-BE49-F238E27FC236}">
                  <a16:creationId xmlns:a16="http://schemas.microsoft.com/office/drawing/2014/main" id="{D041AFA2-E2E6-4E2B-F5EF-92F119C8D247}"/>
                </a:ext>
              </a:extLst>
            </p:cNvPr>
            <p:cNvCxnSpPr>
              <a:stCxn id="43" idx="0"/>
              <a:endCxn id="38" idx="4"/>
            </p:cNvCxnSpPr>
            <p:nvPr/>
          </p:nvCxnSpPr>
          <p:spPr>
            <a:xfrm flipV="1">
              <a:off x="7240580" y="5082940"/>
              <a:ext cx="0" cy="32540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0" name="Conector de Seta Reta 119">
              <a:extLst>
                <a:ext uri="{FF2B5EF4-FFF2-40B4-BE49-F238E27FC236}">
                  <a16:creationId xmlns:a16="http://schemas.microsoft.com/office/drawing/2014/main" id="{FE9F6DB3-F9C9-91FD-9B49-1DE6AB4ADFAE}"/>
                </a:ext>
              </a:extLst>
            </p:cNvPr>
            <p:cNvCxnSpPr>
              <a:stCxn id="43" idx="0"/>
              <a:endCxn id="37" idx="4"/>
            </p:cNvCxnSpPr>
            <p:nvPr/>
          </p:nvCxnSpPr>
          <p:spPr>
            <a:xfrm flipH="1" flipV="1">
              <a:off x="6561406" y="5082940"/>
              <a:ext cx="679174" cy="32540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2" name="Conector de Seta Reta 121">
              <a:extLst>
                <a:ext uri="{FF2B5EF4-FFF2-40B4-BE49-F238E27FC236}">
                  <a16:creationId xmlns:a16="http://schemas.microsoft.com/office/drawing/2014/main" id="{F83E00F1-A4F1-E55A-5E09-FE3B54FE1E0A}"/>
                </a:ext>
              </a:extLst>
            </p:cNvPr>
            <p:cNvCxnSpPr>
              <a:stCxn id="43" idx="0"/>
              <a:endCxn id="40" idx="4"/>
            </p:cNvCxnSpPr>
            <p:nvPr/>
          </p:nvCxnSpPr>
          <p:spPr>
            <a:xfrm flipH="1" flipV="1">
              <a:off x="5882232" y="5082940"/>
              <a:ext cx="1358348" cy="32540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" name="Conector de Seta Reta 123">
              <a:extLst>
                <a:ext uri="{FF2B5EF4-FFF2-40B4-BE49-F238E27FC236}">
                  <a16:creationId xmlns:a16="http://schemas.microsoft.com/office/drawing/2014/main" id="{13ACDAF3-D8D5-5CA3-A6F7-3E41A193C048}"/>
                </a:ext>
              </a:extLst>
            </p:cNvPr>
            <p:cNvCxnSpPr>
              <a:stCxn id="46" idx="0"/>
              <a:endCxn id="40" idx="4"/>
            </p:cNvCxnSpPr>
            <p:nvPr/>
          </p:nvCxnSpPr>
          <p:spPr>
            <a:xfrm flipV="1">
              <a:off x="5203058" y="5082940"/>
              <a:ext cx="679174" cy="32540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" name="Conector de Seta Reta 125">
              <a:extLst>
                <a:ext uri="{FF2B5EF4-FFF2-40B4-BE49-F238E27FC236}">
                  <a16:creationId xmlns:a16="http://schemas.microsoft.com/office/drawing/2014/main" id="{2DFB416D-3AA0-F7B7-5B0D-E38802BE1639}"/>
                </a:ext>
              </a:extLst>
            </p:cNvPr>
            <p:cNvCxnSpPr>
              <a:stCxn id="46" idx="0"/>
              <a:endCxn id="37" idx="4"/>
            </p:cNvCxnSpPr>
            <p:nvPr/>
          </p:nvCxnSpPr>
          <p:spPr>
            <a:xfrm flipV="1">
              <a:off x="5203058" y="5082940"/>
              <a:ext cx="1358348" cy="32540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Conector de Seta Reta 127">
              <a:extLst>
                <a:ext uri="{FF2B5EF4-FFF2-40B4-BE49-F238E27FC236}">
                  <a16:creationId xmlns:a16="http://schemas.microsoft.com/office/drawing/2014/main" id="{59CC8EC1-A270-FBC1-D5CC-2290FEFCACC7}"/>
                </a:ext>
              </a:extLst>
            </p:cNvPr>
            <p:cNvCxnSpPr>
              <a:stCxn id="46" idx="0"/>
              <a:endCxn id="38" idx="4"/>
            </p:cNvCxnSpPr>
            <p:nvPr/>
          </p:nvCxnSpPr>
          <p:spPr>
            <a:xfrm flipV="1">
              <a:off x="5203058" y="5082940"/>
              <a:ext cx="2037522" cy="32540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0" name="Conector de Seta Reta 129">
              <a:extLst>
                <a:ext uri="{FF2B5EF4-FFF2-40B4-BE49-F238E27FC236}">
                  <a16:creationId xmlns:a16="http://schemas.microsoft.com/office/drawing/2014/main" id="{A3D07F7B-2731-294E-9709-928D94ADAF16}"/>
                </a:ext>
              </a:extLst>
            </p:cNvPr>
            <p:cNvCxnSpPr>
              <a:stCxn id="14" idx="0"/>
              <a:endCxn id="9" idx="4"/>
            </p:cNvCxnSpPr>
            <p:nvPr/>
          </p:nvCxnSpPr>
          <p:spPr>
            <a:xfrm flipV="1">
              <a:off x="1224600" y="4289531"/>
              <a:ext cx="0" cy="32540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Conector de Seta Reta 131">
              <a:extLst>
                <a:ext uri="{FF2B5EF4-FFF2-40B4-BE49-F238E27FC236}">
                  <a16:creationId xmlns:a16="http://schemas.microsoft.com/office/drawing/2014/main" id="{493466DE-524C-7579-A2A4-12B3944916D9}"/>
                </a:ext>
              </a:extLst>
            </p:cNvPr>
            <p:cNvCxnSpPr>
              <a:stCxn id="14" idx="0"/>
              <a:endCxn id="5" idx="4"/>
            </p:cNvCxnSpPr>
            <p:nvPr/>
          </p:nvCxnSpPr>
          <p:spPr>
            <a:xfrm flipV="1">
              <a:off x="1224600" y="4289531"/>
              <a:ext cx="1358348" cy="32540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4" name="Conector de Seta Reta 133">
              <a:extLst>
                <a:ext uri="{FF2B5EF4-FFF2-40B4-BE49-F238E27FC236}">
                  <a16:creationId xmlns:a16="http://schemas.microsoft.com/office/drawing/2014/main" id="{CFD2E61F-A0A1-8536-BC0A-B665144BCAF9}"/>
                </a:ext>
              </a:extLst>
            </p:cNvPr>
            <p:cNvCxnSpPr>
              <a:stCxn id="14" idx="0"/>
              <a:endCxn id="7" idx="4"/>
            </p:cNvCxnSpPr>
            <p:nvPr/>
          </p:nvCxnSpPr>
          <p:spPr>
            <a:xfrm flipV="1">
              <a:off x="1224600" y="4289531"/>
              <a:ext cx="2716696" cy="32540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6" name="Conector de Seta Reta 135">
              <a:extLst>
                <a:ext uri="{FF2B5EF4-FFF2-40B4-BE49-F238E27FC236}">
                  <a16:creationId xmlns:a16="http://schemas.microsoft.com/office/drawing/2014/main" id="{DEE2D568-A267-A171-25DF-3EA2187AA3F5}"/>
                </a:ext>
              </a:extLst>
            </p:cNvPr>
            <p:cNvCxnSpPr>
              <a:stCxn id="11" idx="0"/>
              <a:endCxn id="7" idx="4"/>
            </p:cNvCxnSpPr>
            <p:nvPr/>
          </p:nvCxnSpPr>
          <p:spPr>
            <a:xfrm flipV="1">
              <a:off x="3262122" y="4289531"/>
              <a:ext cx="679174" cy="32540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Conector de Seta Reta 137">
              <a:extLst>
                <a:ext uri="{FF2B5EF4-FFF2-40B4-BE49-F238E27FC236}">
                  <a16:creationId xmlns:a16="http://schemas.microsoft.com/office/drawing/2014/main" id="{9692D7FF-2EC9-D7C9-60E2-9366C15444B1}"/>
                </a:ext>
              </a:extLst>
            </p:cNvPr>
            <p:cNvCxnSpPr>
              <a:stCxn id="11" idx="0"/>
              <a:endCxn id="5" idx="4"/>
            </p:cNvCxnSpPr>
            <p:nvPr/>
          </p:nvCxnSpPr>
          <p:spPr>
            <a:xfrm flipH="1" flipV="1">
              <a:off x="2582948" y="4289531"/>
              <a:ext cx="679174" cy="32540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Conector de Seta Reta 139">
              <a:extLst>
                <a:ext uri="{FF2B5EF4-FFF2-40B4-BE49-F238E27FC236}">
                  <a16:creationId xmlns:a16="http://schemas.microsoft.com/office/drawing/2014/main" id="{5E02C6A9-3C75-60BC-AB46-47C77557BD68}"/>
                </a:ext>
              </a:extLst>
            </p:cNvPr>
            <p:cNvCxnSpPr>
              <a:stCxn id="11" idx="0"/>
              <a:endCxn id="9" idx="4"/>
            </p:cNvCxnSpPr>
            <p:nvPr/>
          </p:nvCxnSpPr>
          <p:spPr>
            <a:xfrm flipH="1" flipV="1">
              <a:off x="1224600" y="4289531"/>
              <a:ext cx="2037522" cy="32540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2" name="Conector de Seta Reta 141">
              <a:extLst>
                <a:ext uri="{FF2B5EF4-FFF2-40B4-BE49-F238E27FC236}">
                  <a16:creationId xmlns:a16="http://schemas.microsoft.com/office/drawing/2014/main" id="{DCCB342D-10C1-7883-27B9-534E3841293B}"/>
                </a:ext>
              </a:extLst>
            </p:cNvPr>
            <p:cNvCxnSpPr>
              <a:stCxn id="19" idx="0"/>
              <a:endCxn id="14" idx="4"/>
            </p:cNvCxnSpPr>
            <p:nvPr/>
          </p:nvCxnSpPr>
          <p:spPr>
            <a:xfrm flipV="1">
              <a:off x="1224600" y="5082940"/>
              <a:ext cx="0" cy="32540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4" name="Conector de Seta Reta 143">
              <a:extLst>
                <a:ext uri="{FF2B5EF4-FFF2-40B4-BE49-F238E27FC236}">
                  <a16:creationId xmlns:a16="http://schemas.microsoft.com/office/drawing/2014/main" id="{FD362A28-70DE-1D6E-6331-BE9047A9EC69}"/>
                </a:ext>
              </a:extLst>
            </p:cNvPr>
            <p:cNvCxnSpPr>
              <a:stCxn id="19" idx="0"/>
              <a:endCxn id="11" idx="5"/>
            </p:cNvCxnSpPr>
            <p:nvPr/>
          </p:nvCxnSpPr>
          <p:spPr>
            <a:xfrm flipV="1">
              <a:off x="1224600" y="5082940"/>
              <a:ext cx="2037522" cy="32540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6" name="Conector de Seta Reta 145">
              <a:extLst>
                <a:ext uri="{FF2B5EF4-FFF2-40B4-BE49-F238E27FC236}">
                  <a16:creationId xmlns:a16="http://schemas.microsoft.com/office/drawing/2014/main" id="{237A5702-8867-BD51-9C6A-AF28D7766E1A}"/>
                </a:ext>
              </a:extLst>
            </p:cNvPr>
            <p:cNvCxnSpPr>
              <a:stCxn id="15" idx="0"/>
              <a:endCxn id="14" idx="4"/>
            </p:cNvCxnSpPr>
            <p:nvPr/>
          </p:nvCxnSpPr>
          <p:spPr>
            <a:xfrm flipH="1" flipV="1">
              <a:off x="1224600" y="5082940"/>
              <a:ext cx="1358348" cy="32540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8" name="Conector de Seta Reta 147">
              <a:extLst>
                <a:ext uri="{FF2B5EF4-FFF2-40B4-BE49-F238E27FC236}">
                  <a16:creationId xmlns:a16="http://schemas.microsoft.com/office/drawing/2014/main" id="{C3FAEDA7-3E5D-0C5D-39ED-3E3269A26732}"/>
                </a:ext>
              </a:extLst>
            </p:cNvPr>
            <p:cNvCxnSpPr>
              <a:stCxn id="15" idx="0"/>
              <a:endCxn id="11" idx="4"/>
            </p:cNvCxnSpPr>
            <p:nvPr/>
          </p:nvCxnSpPr>
          <p:spPr>
            <a:xfrm flipV="1">
              <a:off x="2582948" y="5082940"/>
              <a:ext cx="679174" cy="32540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0" name="Conector de Seta Reta 149">
              <a:extLst>
                <a:ext uri="{FF2B5EF4-FFF2-40B4-BE49-F238E27FC236}">
                  <a16:creationId xmlns:a16="http://schemas.microsoft.com/office/drawing/2014/main" id="{49A4BE0E-35F6-93ED-F52F-823D406DA987}"/>
                </a:ext>
              </a:extLst>
            </p:cNvPr>
            <p:cNvCxnSpPr>
              <a:stCxn id="17" idx="0"/>
              <a:endCxn id="11" idx="4"/>
            </p:cNvCxnSpPr>
            <p:nvPr/>
          </p:nvCxnSpPr>
          <p:spPr>
            <a:xfrm flipH="1" flipV="1">
              <a:off x="3262122" y="5082940"/>
              <a:ext cx="679174" cy="32540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2" name="Conector de Seta Reta 151">
              <a:extLst>
                <a:ext uri="{FF2B5EF4-FFF2-40B4-BE49-F238E27FC236}">
                  <a16:creationId xmlns:a16="http://schemas.microsoft.com/office/drawing/2014/main" id="{13C3874B-574A-F778-F8BF-83C284634E42}"/>
                </a:ext>
              </a:extLst>
            </p:cNvPr>
            <p:cNvCxnSpPr>
              <a:stCxn id="17" idx="0"/>
              <a:endCxn id="14" idx="4"/>
            </p:cNvCxnSpPr>
            <p:nvPr/>
          </p:nvCxnSpPr>
          <p:spPr>
            <a:xfrm flipH="1" flipV="1">
              <a:off x="1224600" y="5082940"/>
              <a:ext cx="2716696" cy="32540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3" name="Retângulo 152">
              <a:extLst>
                <a:ext uri="{FF2B5EF4-FFF2-40B4-BE49-F238E27FC236}">
                  <a16:creationId xmlns:a16="http://schemas.microsoft.com/office/drawing/2014/main" id="{4D30F145-6832-6A26-72C0-C04F0445808B}"/>
                </a:ext>
              </a:extLst>
            </p:cNvPr>
            <p:cNvSpPr/>
            <p:nvPr/>
          </p:nvSpPr>
          <p:spPr>
            <a:xfrm>
              <a:off x="4995993" y="1879182"/>
              <a:ext cx="3130826" cy="619661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Ponderação</a:t>
              </a:r>
            </a:p>
            <a:p>
              <a:pPr algn="ctr"/>
              <a:r>
                <a:rPr lang="pt-BR" sz="1400" dirty="0"/>
                <a:t>(voto majoritário, média, etc.)</a:t>
              </a:r>
              <a:endParaRPr lang="pt-BR" dirty="0"/>
            </a:p>
          </p:txBody>
        </p:sp>
        <p:cxnSp>
          <p:nvCxnSpPr>
            <p:cNvPr id="155" name="Conector de Seta Reta 154">
              <a:extLst>
                <a:ext uri="{FF2B5EF4-FFF2-40B4-BE49-F238E27FC236}">
                  <a16:creationId xmlns:a16="http://schemas.microsoft.com/office/drawing/2014/main" id="{104D7F60-DA84-0E59-C324-355F5502CEA9}"/>
                </a:ext>
              </a:extLst>
            </p:cNvPr>
            <p:cNvCxnSpPr>
              <a:stCxn id="31" idx="0"/>
              <a:endCxn id="153" idx="2"/>
            </p:cNvCxnSpPr>
            <p:nvPr/>
          </p:nvCxnSpPr>
          <p:spPr>
            <a:xfrm flipV="1">
              <a:off x="6561406" y="2498843"/>
              <a:ext cx="0" cy="52927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8" name="Conector de Seta Reta 157">
              <a:extLst>
                <a:ext uri="{FF2B5EF4-FFF2-40B4-BE49-F238E27FC236}">
                  <a16:creationId xmlns:a16="http://schemas.microsoft.com/office/drawing/2014/main" id="{EB8000C1-13E6-25E8-786C-5B9520FC2F8A}"/>
                </a:ext>
              </a:extLst>
            </p:cNvPr>
            <p:cNvCxnSpPr>
              <a:stCxn id="52" idx="0"/>
              <a:endCxn id="153" idx="2"/>
            </p:cNvCxnSpPr>
            <p:nvPr/>
          </p:nvCxnSpPr>
          <p:spPr>
            <a:xfrm flipH="1" flipV="1">
              <a:off x="6561406" y="2498843"/>
              <a:ext cx="3309612" cy="52927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0" name="Conector de Seta Reta 159">
              <a:extLst>
                <a:ext uri="{FF2B5EF4-FFF2-40B4-BE49-F238E27FC236}">
                  <a16:creationId xmlns:a16="http://schemas.microsoft.com/office/drawing/2014/main" id="{08E4EADD-BCCA-8FE1-6850-5044D0770F22}"/>
                </a:ext>
              </a:extLst>
            </p:cNvPr>
            <p:cNvCxnSpPr>
              <a:stCxn id="4" idx="0"/>
              <a:endCxn id="153" idx="2"/>
            </p:cNvCxnSpPr>
            <p:nvPr/>
          </p:nvCxnSpPr>
          <p:spPr>
            <a:xfrm flipV="1">
              <a:off x="2582948" y="2498843"/>
              <a:ext cx="3978458" cy="52927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1" name="Conector de Seta Reta 160">
              <a:extLst>
                <a:ext uri="{FF2B5EF4-FFF2-40B4-BE49-F238E27FC236}">
                  <a16:creationId xmlns:a16="http://schemas.microsoft.com/office/drawing/2014/main" id="{1201605E-DCB7-9F32-1AB0-F6CE6C9B85F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561406" y="1562100"/>
              <a:ext cx="0" cy="31708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3" name="CaixaDeTexto 162">
              <a:extLst>
                <a:ext uri="{FF2B5EF4-FFF2-40B4-BE49-F238E27FC236}">
                  <a16:creationId xmlns:a16="http://schemas.microsoft.com/office/drawing/2014/main" id="{F7577701-F6AC-3B96-38AC-795366668ED2}"/>
                </a:ext>
              </a:extLst>
            </p:cNvPr>
            <p:cNvSpPr txBox="1"/>
            <p:nvPr/>
          </p:nvSpPr>
          <p:spPr>
            <a:xfrm>
              <a:off x="6561406" y="1500990"/>
              <a:ext cx="121828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Resultado final</a:t>
              </a:r>
            </a:p>
          </p:txBody>
        </p:sp>
        <p:sp>
          <p:nvSpPr>
            <p:cNvPr id="164" name="Retângulo 163">
              <a:extLst>
                <a:ext uri="{FF2B5EF4-FFF2-40B4-BE49-F238E27FC236}">
                  <a16:creationId xmlns:a16="http://schemas.microsoft.com/office/drawing/2014/main" id="{5F388A5D-4EFF-F172-9EF2-A74090DF1E4D}"/>
                </a:ext>
              </a:extLst>
            </p:cNvPr>
            <p:cNvSpPr/>
            <p:nvPr/>
          </p:nvSpPr>
          <p:spPr>
            <a:xfrm>
              <a:off x="889000" y="2857500"/>
              <a:ext cx="3400883" cy="3149600"/>
            </a:xfrm>
            <a:prstGeom prst="rect">
              <a:avLst/>
            </a:prstGeom>
            <a:noFill/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66" name="Retângulo 165">
              <a:extLst>
                <a:ext uri="{FF2B5EF4-FFF2-40B4-BE49-F238E27FC236}">
                  <a16:creationId xmlns:a16="http://schemas.microsoft.com/office/drawing/2014/main" id="{C0898C22-E57B-0764-848B-AAA575F0B8EF}"/>
                </a:ext>
              </a:extLst>
            </p:cNvPr>
            <p:cNvSpPr/>
            <p:nvPr/>
          </p:nvSpPr>
          <p:spPr>
            <a:xfrm>
              <a:off x="4571343" y="2857500"/>
              <a:ext cx="3400883" cy="3149600"/>
            </a:xfrm>
            <a:prstGeom prst="rect">
              <a:avLst/>
            </a:prstGeom>
            <a:noFill/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67" name="Retângulo 166">
              <a:extLst>
                <a:ext uri="{FF2B5EF4-FFF2-40B4-BE49-F238E27FC236}">
                  <a16:creationId xmlns:a16="http://schemas.microsoft.com/office/drawing/2014/main" id="{13255979-D5F1-9AED-E032-703C8C54CC96}"/>
                </a:ext>
              </a:extLst>
            </p:cNvPr>
            <p:cNvSpPr/>
            <p:nvPr/>
          </p:nvSpPr>
          <p:spPr>
            <a:xfrm>
              <a:off x="8183400" y="2857500"/>
              <a:ext cx="3400883" cy="3149600"/>
            </a:xfrm>
            <a:prstGeom prst="rect">
              <a:avLst/>
            </a:prstGeom>
            <a:noFill/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68" name="CaixaDeTexto 167">
              <a:extLst>
                <a:ext uri="{FF2B5EF4-FFF2-40B4-BE49-F238E27FC236}">
                  <a16:creationId xmlns:a16="http://schemas.microsoft.com/office/drawing/2014/main" id="{1F3A7A23-B898-D2AB-D071-5525D2F08835}"/>
                </a:ext>
              </a:extLst>
            </p:cNvPr>
            <p:cNvSpPr txBox="1"/>
            <p:nvPr/>
          </p:nvSpPr>
          <p:spPr>
            <a:xfrm>
              <a:off x="889001" y="6013175"/>
              <a:ext cx="3400882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600" dirty="0"/>
                <a:t>Rede treinamento #1</a:t>
              </a:r>
            </a:p>
          </p:txBody>
        </p:sp>
        <p:sp>
          <p:nvSpPr>
            <p:cNvPr id="169" name="CaixaDeTexto 168">
              <a:extLst>
                <a:ext uri="{FF2B5EF4-FFF2-40B4-BE49-F238E27FC236}">
                  <a16:creationId xmlns:a16="http://schemas.microsoft.com/office/drawing/2014/main" id="{3927B2ED-777D-3988-391E-806B8B26E5E1}"/>
                </a:ext>
              </a:extLst>
            </p:cNvPr>
            <p:cNvSpPr txBox="1"/>
            <p:nvPr/>
          </p:nvSpPr>
          <p:spPr>
            <a:xfrm>
              <a:off x="4588770" y="6013175"/>
              <a:ext cx="3400882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600" dirty="0"/>
                <a:t>Rede treinamento #2</a:t>
              </a:r>
            </a:p>
          </p:txBody>
        </p:sp>
        <p:sp>
          <p:nvSpPr>
            <p:cNvPr id="170" name="CaixaDeTexto 169">
              <a:extLst>
                <a:ext uri="{FF2B5EF4-FFF2-40B4-BE49-F238E27FC236}">
                  <a16:creationId xmlns:a16="http://schemas.microsoft.com/office/drawing/2014/main" id="{DC156082-98FE-BAAE-57BC-98D4C346CFF7}"/>
                </a:ext>
              </a:extLst>
            </p:cNvPr>
            <p:cNvSpPr txBox="1"/>
            <p:nvPr/>
          </p:nvSpPr>
          <p:spPr>
            <a:xfrm>
              <a:off x="8165974" y="6007100"/>
              <a:ext cx="3400882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600" dirty="0"/>
                <a:t>Rede treinamento #N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17080755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m 5">
            <a:extLst>
              <a:ext uri="{FF2B5EF4-FFF2-40B4-BE49-F238E27FC236}">
                <a16:creationId xmlns:a16="http://schemas.microsoft.com/office/drawing/2014/main" id="{14259EAB-83E8-5CF6-C6E5-492591A1348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62480" y="447599"/>
            <a:ext cx="7579329" cy="59628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977741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16826</TotalTime>
  <Words>9141</Words>
  <Application>Microsoft Office PowerPoint</Application>
  <PresentationFormat>Widescreen</PresentationFormat>
  <Paragraphs>673</Paragraphs>
  <Slides>52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52</vt:i4>
      </vt:variant>
    </vt:vector>
  </HeadingPairs>
  <TitlesOfParts>
    <vt:vector size="63" baseType="lpstr">
      <vt:lpstr>Arial</vt:lpstr>
      <vt:lpstr>Calibri</vt:lpstr>
      <vt:lpstr>Calibri Light</vt:lpstr>
      <vt:lpstr>Cambria Math</vt:lpstr>
      <vt:lpstr>georgia</vt:lpstr>
      <vt:lpstr>Google Sans</vt:lpstr>
      <vt:lpstr>Helvetica Neue</vt:lpstr>
      <vt:lpstr>roboto</vt:lpstr>
      <vt:lpstr>source-serif-pro</vt:lpstr>
      <vt:lpstr>Wingdings</vt:lpstr>
      <vt:lpstr>Tema do Office</vt:lpstr>
      <vt:lpstr>TP557 - Tópicos avançados em IoT e Machine Learning: Prevenindo o sobreajuste</vt:lpstr>
      <vt:lpstr>O que vamos ver?</vt:lpstr>
      <vt:lpstr>Sobreajuste</vt:lpstr>
      <vt:lpstr>Sensibilidade aos dados de treinamento</vt:lpstr>
      <vt:lpstr>Sensibilidade aos dados de treinamento</vt:lpstr>
      <vt:lpstr>Complexidade (ou flexibilidade) ideal</vt:lpstr>
      <vt:lpstr>Causas do sobreajuste</vt:lpstr>
      <vt:lpstr>Como detectar o sobreajuste</vt:lpstr>
      <vt:lpstr>Como detectar o sobreajuste</vt:lpstr>
      <vt:lpstr>Como detectar o sobreajuste</vt:lpstr>
      <vt:lpstr>Como detectar o sobreajuste: k-fold</vt:lpstr>
      <vt:lpstr>Como evitar o sobreajuste?</vt:lpstr>
      <vt:lpstr>Como evitar o sobreajuste?</vt:lpstr>
      <vt:lpstr>Como evitar o sobreajuste?</vt:lpstr>
      <vt:lpstr>Como evitar o sobreajuste?</vt:lpstr>
      <vt:lpstr>Como evitar o sobreajuste?</vt:lpstr>
      <vt:lpstr>Como evitar o sobreajuste?</vt:lpstr>
      <vt:lpstr>Como evitar o sobreajuste?</vt:lpstr>
      <vt:lpstr>Como evitar o sobreajuste?</vt:lpstr>
      <vt:lpstr>Como evitar o sobreajuste?</vt:lpstr>
      <vt:lpstr>Como evitar o sobreajuste?</vt:lpstr>
      <vt:lpstr>Como evitar o sobreajuste?</vt:lpstr>
      <vt:lpstr>Data augmentation com Tensorflow</vt:lpstr>
      <vt:lpstr>Data augmentation com Tensorflow</vt:lpstr>
      <vt:lpstr>Data augmentation com Tensorflow</vt:lpstr>
      <vt:lpstr>Como evitar o sobreajuste?</vt:lpstr>
      <vt:lpstr>Como evitar o sobreajuste?</vt:lpstr>
      <vt:lpstr>Como evitar o sobreajuste?</vt:lpstr>
      <vt:lpstr>Transfer learning</vt:lpstr>
      <vt:lpstr>Como evitar o sobreajuste?</vt:lpstr>
      <vt:lpstr>Transfer learning</vt:lpstr>
      <vt:lpstr>Transfer learning</vt:lpstr>
      <vt:lpstr>Transfer learning em uma rede convolucional</vt:lpstr>
      <vt:lpstr>Transfer learning em uma rede convolucional</vt:lpstr>
      <vt:lpstr>Transfer learning em uma rede convolucional</vt:lpstr>
      <vt:lpstr>Transfer learning em uma rede convolucional</vt:lpstr>
      <vt:lpstr>Transfer learning em uma rede convolucional</vt:lpstr>
      <vt:lpstr>Transfer learning em uma rede convolucional</vt:lpstr>
      <vt:lpstr>Transfer learning em uma rede convolucional</vt:lpstr>
      <vt:lpstr>Procedimento para aplicar o Transfer learning</vt:lpstr>
      <vt:lpstr>Exemplo: transfer learning com Edge Impulse</vt:lpstr>
      <vt:lpstr>Exemplo: transfer learning com Edge Impulse</vt:lpstr>
      <vt:lpstr>Atividades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2669</cp:revision>
  <dcterms:created xsi:type="dcterms:W3CDTF">2020-01-20T13:50:05Z</dcterms:created>
  <dcterms:modified xsi:type="dcterms:W3CDTF">2025-05-15T17:41:53Z</dcterms:modified>
</cp:coreProperties>
</file>